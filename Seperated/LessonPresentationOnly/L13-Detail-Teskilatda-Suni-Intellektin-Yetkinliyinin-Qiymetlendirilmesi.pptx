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2.svg" ContentType="image/svg"/>
  <Override PartName="/ppt/media/image8.svg" ContentType="image/svg"/>
  <Override PartName="/ppt/media/image13.png" ContentType="image/png"/>
  <Override PartName="/ppt/media/image10.svg" ContentType="image/svg"/>
  <Override PartName="/ppt/media/image9.png" ContentType="image/png"/>
  <Override PartName="/ppt/media/image6.svg" ContentType="image/svg"/>
  <Override PartName="/ppt/media/image5.png" ContentType="image/png"/>
  <Override PartName="/ppt/media/image11.png" ContentType="image/png"/>
  <Override PartName="/ppt/media/image2.png" ContentType="image/png"/>
  <Override PartName="/ppt/media/image22.svg" ContentType="image/svg"/>
  <Override PartName="/ppt/media/image7.png" ContentType="image/png"/>
  <Override PartName="/ppt/media/image4.svg" ContentType="image/svg"/>
  <Override PartName="/ppt/media/image3.png" ContentType="image/png"/>
  <Override PartName="/ppt/media/image1.png" ContentType="image/png"/>
  <Override PartName="/ppt/media/image14.svg" ContentType="image/svg"/>
  <Override PartName="/ppt/media/image15.png" ContentType="image/png"/>
  <Override PartName="/ppt/media/image29.png" ContentType="image/png"/>
  <Override PartName="/ppt/media/image17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1.png" ContentType="image/png"/>
  <Override PartName="/ppt/media/image19.png" ContentType="image/png"/>
  <Override PartName="/ppt/media/image16.svg" ContentType="image/svg"/>
  <Override PartName="/ppt/media/image20.svg" ContentType="image/svg"/>
  <Override PartName="/ppt/media/image18.svg" ContentType="image/sv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move the slide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69D40B4-BBE7-4709-98F6-A3B6FC441DB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543AA69-F08E-49C2-A11C-AFA97E6D172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C48D1E4-C875-4AC2-B75D-60C5B334BD6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35A61-9811-48DF-9545-146C1FE8E66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71EB779-770E-41D5-9EDF-0ED6991DAAA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FB97889-F0BD-4010-B9D5-965178C3369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4003A82-5307-4542-A5D2-2B47D648712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9E7BA1E-0D7B-4127-8F21-711F3625686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2238DFD-7CE6-458C-B517-E55F6AEE940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C8BD01-7F15-475D-AE2D-248F45C349C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37490FD-3197-4866-AFF6-906AF1C1E38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E11730B-6138-4D99-A7DC-06FDB25A9D1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li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h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x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li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h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x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81a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svg"/><Relationship Id="rId3" Type="http://schemas.openxmlformats.org/officeDocument/2006/relationships/image" Target="../media/image13.png"/><Relationship Id="rId4" Type="http://schemas.openxmlformats.org/officeDocument/2006/relationships/image" Target="../media/image14.svg"/><Relationship Id="rId5" Type="http://schemas.openxmlformats.org/officeDocument/2006/relationships/image" Target="../media/image15.png"/><Relationship Id="rId6" Type="http://schemas.openxmlformats.org/officeDocument/2006/relationships/image" Target="../media/image16.svg"/><Relationship Id="rId7" Type="http://schemas.openxmlformats.org/officeDocument/2006/relationships/image" Target="../media/image17.png"/><Relationship Id="rId8" Type="http://schemas.openxmlformats.org/officeDocument/2006/relationships/image" Target="../media/image18.svg"/><Relationship Id="rId9" Type="http://schemas.openxmlformats.org/officeDocument/2006/relationships/image" Target="../media/image19.png"/><Relationship Id="rId10" Type="http://schemas.openxmlformats.org/officeDocument/2006/relationships/image" Target="../media/image20.svg"/><Relationship Id="rId11" Type="http://schemas.openxmlformats.org/officeDocument/2006/relationships/slideLayout" Target="../slideLayouts/slideLayout10.xml"/><Relationship Id="rId1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svg"/><Relationship Id="rId3" Type="http://schemas.openxmlformats.org/officeDocument/2006/relationships/image" Target="../media/image21.png"/><Relationship Id="rId4" Type="http://schemas.openxmlformats.org/officeDocument/2006/relationships/image" Target="../media/image22.svg"/><Relationship Id="rId5" Type="http://schemas.openxmlformats.org/officeDocument/2006/relationships/image" Target="../media/image21.png"/><Relationship Id="rId6" Type="http://schemas.openxmlformats.org/officeDocument/2006/relationships/image" Target="../media/image22.svg"/><Relationship Id="rId7" Type="http://schemas.openxmlformats.org/officeDocument/2006/relationships/slideLayout" Target="../slideLayouts/slideLayout11.xml"/><Relationship Id="rId8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51" name="Text 0"/>
          <p:cNvSpPr/>
          <p:nvPr/>
        </p:nvSpPr>
        <p:spPr>
          <a:xfrm>
            <a:off x="6350040" y="2547360"/>
            <a:ext cx="7416000" cy="184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Təşkilatda Süni İntellektin Yetkinliyinin Qiymətləndirilməsi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6350040" y="4711680"/>
            <a:ext cx="74160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Süni İntellektin Yetkinlik Modelləri — 13-cü Sessiya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6350040" y="5278680"/>
            <a:ext cx="1457280" cy="403560"/>
          </a:xfrm>
          <a:prstGeom prst="roundRect">
            <a:avLst>
              <a:gd name="adj" fmla="val 6417"/>
            </a:avLst>
          </a:prstGeom>
          <a:noFill/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6487200" y="5351040"/>
            <a:ext cx="118296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AI STRATEGIYASI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4"/>
          <p:cNvSpPr/>
          <p:nvPr/>
        </p:nvSpPr>
        <p:spPr>
          <a:xfrm>
            <a:off x="7915680" y="5278680"/>
            <a:ext cx="1627200" cy="403560"/>
          </a:xfrm>
          <a:prstGeom prst="roundRect">
            <a:avLst>
              <a:gd name="adj" fmla="val 6417"/>
            </a:avLst>
          </a:prstGeom>
          <a:noFill/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8052840" y="5351040"/>
            <a:ext cx="135288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YETKINLIK MODELI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6"/>
          <p:cNvSpPr/>
          <p:nvPr/>
        </p:nvSpPr>
        <p:spPr>
          <a:xfrm>
            <a:off x="9651240" y="5278680"/>
            <a:ext cx="1630800" cy="403560"/>
          </a:xfrm>
          <a:prstGeom prst="roundRect">
            <a:avLst>
              <a:gd name="adj" fmla="val 6417"/>
            </a:avLst>
          </a:prstGeom>
          <a:noFill/>
          <a:ln w="76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9788400" y="5351040"/>
            <a:ext cx="135648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fffff"/>
                </a:solidFill>
                <a:latin typeface="Source Sans 3"/>
                <a:ea typeface="Source Sans 3"/>
              </a:rPr>
              <a:t>TƏŞKILATI İNKIŞAF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863640" y="844560"/>
            <a:ext cx="641196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Bu Gün Nə Öyrənəcəyik?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"/>
          <p:cNvSpPr/>
          <p:nvPr/>
        </p:nvSpPr>
        <p:spPr>
          <a:xfrm>
            <a:off x="863640" y="1890000"/>
            <a:ext cx="129024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Bu sessiyada yalnız süni intellektdən necə istifadə edəcəyimizi deyil, həm də təşkilatı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"ağıllı" bir müəssisə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kimi sistematik şəkildə necə inkişaf etdirəcəyimizi öyrənəcəyik. Məqsəd konkret, ölçülə bilən və strateji bir yol xəritəsi qurmaqdan ibarətdir.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2"/>
          <p:cNvSpPr/>
          <p:nvPr/>
        </p:nvSpPr>
        <p:spPr>
          <a:xfrm>
            <a:off x="863640" y="3104640"/>
            <a:ext cx="6343200" cy="1869840"/>
          </a:xfrm>
          <a:prstGeom prst="roundRect">
            <a:avLst>
              <a:gd name="adj" fmla="val 7822"/>
            </a:avLst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3"/>
          <p:cNvSpPr/>
          <p:nvPr/>
        </p:nvSpPr>
        <p:spPr>
          <a:xfrm>
            <a:off x="863640" y="3074040"/>
            <a:ext cx="6343200" cy="12168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4"/>
          <p:cNvSpPr/>
          <p:nvPr/>
        </p:nvSpPr>
        <p:spPr>
          <a:xfrm>
            <a:off x="3711600" y="2780640"/>
            <a:ext cx="647280" cy="647280"/>
          </a:xfrm>
          <a:prstGeom prst="roundRect">
            <a:avLst>
              <a:gd name="adj" fmla="val 141151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3906000" y="2942640"/>
            <a:ext cx="258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05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1110240" y="364428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Yetkinliyi Anlamaq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7"/>
          <p:cNvSpPr/>
          <p:nvPr/>
        </p:nvSpPr>
        <p:spPr>
          <a:xfrm>
            <a:off x="1110240" y="4080600"/>
            <a:ext cx="585036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Süni intellekt yetkinliyinin nə olduğunu və niyə vacib olduğunu müəyyənləşdirmək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8"/>
          <p:cNvSpPr/>
          <p:nvPr/>
        </p:nvSpPr>
        <p:spPr>
          <a:xfrm>
            <a:off x="7423200" y="3104640"/>
            <a:ext cx="6343200" cy="1869840"/>
          </a:xfrm>
          <a:prstGeom prst="roundRect">
            <a:avLst>
              <a:gd name="adj" fmla="val 7822"/>
            </a:avLst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9"/>
          <p:cNvSpPr/>
          <p:nvPr/>
        </p:nvSpPr>
        <p:spPr>
          <a:xfrm>
            <a:off x="7423200" y="3074040"/>
            <a:ext cx="6343200" cy="12168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0"/>
          <p:cNvSpPr/>
          <p:nvPr/>
        </p:nvSpPr>
        <p:spPr>
          <a:xfrm>
            <a:off x="10270800" y="2780640"/>
            <a:ext cx="647280" cy="647280"/>
          </a:xfrm>
          <a:prstGeom prst="roundRect">
            <a:avLst>
              <a:gd name="adj" fmla="val 141151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1"/>
          <p:cNvSpPr/>
          <p:nvPr/>
        </p:nvSpPr>
        <p:spPr>
          <a:xfrm>
            <a:off x="10465200" y="2942640"/>
            <a:ext cx="258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05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2"/>
          <p:cNvSpPr/>
          <p:nvPr/>
        </p:nvSpPr>
        <p:spPr>
          <a:xfrm>
            <a:off x="7669440" y="3644280"/>
            <a:ext cx="27381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Modelləri Kəşf Etmək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3"/>
          <p:cNvSpPr/>
          <p:nvPr/>
        </p:nvSpPr>
        <p:spPr>
          <a:xfrm>
            <a:off x="7669440" y="4080600"/>
            <a:ext cx="585036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Gartner və Microsoft kimi aparıcı çərçivələri ətraflı nəzərdən keçirmək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4"/>
          <p:cNvSpPr/>
          <p:nvPr/>
        </p:nvSpPr>
        <p:spPr>
          <a:xfrm>
            <a:off x="863640" y="5514480"/>
            <a:ext cx="6343200" cy="1869840"/>
          </a:xfrm>
          <a:prstGeom prst="roundRect">
            <a:avLst>
              <a:gd name="adj" fmla="val 7822"/>
            </a:avLst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15"/>
          <p:cNvSpPr/>
          <p:nvPr/>
        </p:nvSpPr>
        <p:spPr>
          <a:xfrm>
            <a:off x="863640" y="5484240"/>
            <a:ext cx="6343200" cy="12168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6"/>
          <p:cNvSpPr/>
          <p:nvPr/>
        </p:nvSpPr>
        <p:spPr>
          <a:xfrm>
            <a:off x="3711600" y="5190840"/>
            <a:ext cx="647280" cy="647280"/>
          </a:xfrm>
          <a:prstGeom prst="roundRect">
            <a:avLst>
              <a:gd name="adj" fmla="val 141151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7"/>
          <p:cNvSpPr/>
          <p:nvPr/>
        </p:nvSpPr>
        <p:spPr>
          <a:xfrm>
            <a:off x="3906000" y="5352840"/>
            <a:ext cx="258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05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8"/>
          <p:cNvSpPr/>
          <p:nvPr/>
        </p:nvSpPr>
        <p:spPr>
          <a:xfrm>
            <a:off x="1110240" y="605448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Qiymətləndirmək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19"/>
          <p:cNvSpPr/>
          <p:nvPr/>
        </p:nvSpPr>
        <p:spPr>
          <a:xfrm>
            <a:off x="1110240" y="6490800"/>
            <a:ext cx="585036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Öz təşkilatınızın indiki yetkinlik səviyyəsini praktik alətlərlə ölçmək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0"/>
          <p:cNvSpPr/>
          <p:nvPr/>
        </p:nvSpPr>
        <p:spPr>
          <a:xfrm>
            <a:off x="7423200" y="5514480"/>
            <a:ext cx="6343200" cy="1869840"/>
          </a:xfrm>
          <a:prstGeom prst="roundRect">
            <a:avLst>
              <a:gd name="adj" fmla="val 7822"/>
            </a:avLst>
          </a:prstGeom>
          <a:solidFill>
            <a:srgbClr val="11121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Shape 21"/>
          <p:cNvSpPr/>
          <p:nvPr/>
        </p:nvSpPr>
        <p:spPr>
          <a:xfrm>
            <a:off x="7423200" y="5484240"/>
            <a:ext cx="6343200" cy="12168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2"/>
          <p:cNvSpPr/>
          <p:nvPr/>
        </p:nvSpPr>
        <p:spPr>
          <a:xfrm>
            <a:off x="10270800" y="5190840"/>
            <a:ext cx="647280" cy="647280"/>
          </a:xfrm>
          <a:prstGeom prst="roundRect">
            <a:avLst>
              <a:gd name="adj" fmla="val 141151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23"/>
          <p:cNvSpPr/>
          <p:nvPr/>
        </p:nvSpPr>
        <p:spPr>
          <a:xfrm>
            <a:off x="10465200" y="5352840"/>
            <a:ext cx="258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05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24"/>
          <p:cNvSpPr/>
          <p:nvPr/>
        </p:nvSpPr>
        <p:spPr>
          <a:xfrm>
            <a:off x="7669440" y="605448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Hərəkət Etmək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25"/>
          <p:cNvSpPr/>
          <p:nvPr/>
        </p:nvSpPr>
        <p:spPr>
          <a:xfrm>
            <a:off x="7669440" y="6490800"/>
            <a:ext cx="585036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Növbəti səviyyəyə keçmək üçün konkret addımlar müəyyən etmək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86" name="Text 0"/>
          <p:cNvSpPr/>
          <p:nvPr/>
        </p:nvSpPr>
        <p:spPr>
          <a:xfrm>
            <a:off x="6350040" y="1479960"/>
            <a:ext cx="7416000" cy="12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Süni İntellekt Yetkinliyi Nədir?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1"/>
          <p:cNvSpPr/>
          <p:nvPr/>
        </p:nvSpPr>
        <p:spPr>
          <a:xfrm>
            <a:off x="6194520" y="3030840"/>
            <a:ext cx="3755520" cy="3718440"/>
          </a:xfrm>
          <a:prstGeom prst="roundRect">
            <a:avLst>
              <a:gd name="adj" fmla="val 871"/>
            </a:avLst>
          </a:prstGeom>
          <a:solidFill>
            <a:srgbClr val="1d1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6410520" y="324684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Tərif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3"/>
          <p:cNvSpPr/>
          <p:nvPr/>
        </p:nvSpPr>
        <p:spPr>
          <a:xfrm>
            <a:off x="6410520" y="3769200"/>
            <a:ext cx="3323880" cy="16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Süni intellekt yetkinliyi — bir təşkilatın süni intellekt həllərini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effektiv şəkildə inkişaf etdirə, tətbiq edə və miqyaslandıra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biləcəyi dərəcəsidir.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6410520" y="5583600"/>
            <a:ext cx="332388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Bu, yalnız bir texnologiyanın mövcudluğu deyil —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sistemli bir qabiliyyətdir.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10329480" y="324684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Nəyi Əhatə Edir?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10329480" y="3769200"/>
            <a:ext cx="3444480" cy="19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Məlumat idarəetmə yetkinliyi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Texniki infrastruktur hazırlığı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İnsan kapitalı və bacarıqlar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Proseslərin standartlaşdırılması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Mədəniyyət və liderlik dəstəyi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863640" y="821160"/>
            <a:ext cx="975132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Niyə Yetkinliyi Qiymətləndirməlisiniz?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863640" y="1866600"/>
            <a:ext cx="129024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Yetkinlik qiymətləndirməsi olmadan, təşkilatlar resurslara düzgün istiqamət verə bilmir, risk hesablamadan investisiya edir və nəticələri ölçə bilmir. Strateji bir başlanğıc nöqtəsi yaratmaq üçün bu mərhələ vacibdir.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2"/>
          <p:cNvSpPr/>
          <p:nvPr/>
        </p:nvSpPr>
        <p:spPr>
          <a:xfrm>
            <a:off x="863640" y="2757240"/>
            <a:ext cx="6343200" cy="2379240"/>
          </a:xfrm>
          <a:prstGeom prst="roundRect">
            <a:avLst>
              <a:gd name="adj" fmla="val 1361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3"/>
          <p:cNvSpPr/>
          <p:nvPr/>
        </p:nvSpPr>
        <p:spPr>
          <a:xfrm>
            <a:off x="1079640" y="2973240"/>
            <a:ext cx="647280" cy="647280"/>
          </a:xfrm>
          <a:prstGeom prst="roundRect">
            <a:avLst>
              <a:gd name="adj" fmla="val 1411364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257840" y="3151440"/>
            <a:ext cx="291240" cy="291240"/>
          </a:xfrm>
          <a:prstGeom prst="rect">
            <a:avLst/>
          </a:prstGeom>
          <a:ln w="0">
            <a:noFill/>
          </a:ln>
        </p:spPr>
      </p:pic>
      <p:sp>
        <p:nvSpPr>
          <p:cNvPr id="98" name="Text 4"/>
          <p:cNvSpPr/>
          <p:nvPr/>
        </p:nvSpPr>
        <p:spPr>
          <a:xfrm>
            <a:off x="1079640" y="3836880"/>
            <a:ext cx="459612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"Naməluma Tullanmaqdan" Çəkinin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1079640" y="4273200"/>
            <a:ext cx="59112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Hazırlıq səviyyənizi bilmədən böyük süni intellekt investisiyaları iflasla nəticələnə bilər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7423200" y="2757240"/>
            <a:ext cx="6343200" cy="2379240"/>
          </a:xfrm>
          <a:prstGeom prst="roundRect">
            <a:avLst>
              <a:gd name="adj" fmla="val 1361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7"/>
          <p:cNvSpPr/>
          <p:nvPr/>
        </p:nvSpPr>
        <p:spPr>
          <a:xfrm>
            <a:off x="7638840" y="2973240"/>
            <a:ext cx="647280" cy="647280"/>
          </a:xfrm>
          <a:prstGeom prst="roundRect">
            <a:avLst>
              <a:gd name="adj" fmla="val 1411364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817040" y="3151440"/>
            <a:ext cx="291240" cy="291240"/>
          </a:xfrm>
          <a:prstGeom prst="rect">
            <a:avLst/>
          </a:prstGeom>
          <a:ln w="0">
            <a:noFill/>
          </a:ln>
        </p:spPr>
      </p:pic>
      <p:sp>
        <p:nvSpPr>
          <p:cNvPr id="103" name="Text 8"/>
          <p:cNvSpPr/>
          <p:nvPr/>
        </p:nvSpPr>
        <p:spPr>
          <a:xfrm>
            <a:off x="7638840" y="3836880"/>
            <a:ext cx="38073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İnvestisiyalara Üstünlük Verin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7638840" y="4273200"/>
            <a:ext cx="591156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Hansı sahələrə investisiya etməyin daha böyük gəlir gətirəcəyini müəyyənləşdirin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10"/>
          <p:cNvSpPr/>
          <p:nvPr/>
        </p:nvSpPr>
        <p:spPr>
          <a:xfrm>
            <a:off x="863640" y="5352840"/>
            <a:ext cx="6343200" cy="2055240"/>
          </a:xfrm>
          <a:prstGeom prst="roundRect">
            <a:avLst>
              <a:gd name="adj" fmla="val 1576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11"/>
          <p:cNvSpPr/>
          <p:nvPr/>
        </p:nvSpPr>
        <p:spPr>
          <a:xfrm>
            <a:off x="1079640" y="5568840"/>
            <a:ext cx="647280" cy="647280"/>
          </a:xfrm>
          <a:prstGeom prst="roundRect">
            <a:avLst>
              <a:gd name="adj" fmla="val 1411364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7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257840" y="5746680"/>
            <a:ext cx="291240" cy="291240"/>
          </a:xfrm>
          <a:prstGeom prst="rect">
            <a:avLst/>
          </a:prstGeom>
          <a:ln w="0">
            <a:noFill/>
          </a:ln>
        </p:spPr>
      </p:pic>
      <p:sp>
        <p:nvSpPr>
          <p:cNvPr id="108" name="Text 12"/>
          <p:cNvSpPr/>
          <p:nvPr/>
        </p:nvSpPr>
        <p:spPr>
          <a:xfrm>
            <a:off x="1079640" y="6432480"/>
            <a:ext cx="315468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Liderlərlə Müqayisə Edin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3"/>
          <p:cNvSpPr/>
          <p:nvPr/>
        </p:nvSpPr>
        <p:spPr>
          <a:xfrm>
            <a:off x="1079640" y="6868440"/>
            <a:ext cx="59112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Sənayedəki aparıcı rəqiblərlə mövqeyinizi obyektiv şəkildə ölçün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14"/>
          <p:cNvSpPr/>
          <p:nvPr/>
        </p:nvSpPr>
        <p:spPr>
          <a:xfrm>
            <a:off x="7423200" y="5352840"/>
            <a:ext cx="6343200" cy="2055240"/>
          </a:xfrm>
          <a:prstGeom prst="roundRect">
            <a:avLst>
              <a:gd name="adj" fmla="val 1576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15"/>
          <p:cNvSpPr/>
          <p:nvPr/>
        </p:nvSpPr>
        <p:spPr>
          <a:xfrm>
            <a:off x="7638840" y="5568840"/>
            <a:ext cx="647280" cy="647280"/>
          </a:xfrm>
          <a:prstGeom prst="roundRect">
            <a:avLst>
              <a:gd name="adj" fmla="val 14113642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817040" y="5746680"/>
            <a:ext cx="291240" cy="291240"/>
          </a:xfrm>
          <a:prstGeom prst="rect">
            <a:avLst/>
          </a:prstGeom>
          <a:ln w="0">
            <a:noFill/>
          </a:ln>
        </p:spPr>
      </p:pic>
      <p:sp>
        <p:nvSpPr>
          <p:cNvPr id="113" name="Text 16"/>
          <p:cNvSpPr/>
          <p:nvPr/>
        </p:nvSpPr>
        <p:spPr>
          <a:xfrm>
            <a:off x="7638840" y="6432480"/>
            <a:ext cx="36972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Realist Yol Xəritəsi Hazırlayın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7"/>
          <p:cNvSpPr/>
          <p:nvPr/>
        </p:nvSpPr>
        <p:spPr>
          <a:xfrm>
            <a:off x="7638840" y="6868440"/>
            <a:ext cx="59115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Gerçəkçi, addım-addım bir inkişaf planı ilə mənalı nəticələrə çatın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838800" y="799560"/>
            <a:ext cx="740988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Ümumi Yetkinlik Şkalası: 5 Səviyyə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838800" y="1614960"/>
            <a:ext cx="1295208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Aşağıdakı beşpilləli model, bir təşkilatın süni intellekt sahəsindəki inkişaf yolunu </a:t>
            </a:r>
            <a:r>
              <a:rPr b="1" lang="en-US" sz="14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məlumatlılıqdan tam transformasiyaya</a:t>
            </a:r>
            <a:r>
              <a:rPr b="0" lang="en-US" sz="14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qədər izləyir. Hər səviyyə, əvvəlki üzərində qurulur.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2"/>
          <p:cNvSpPr/>
          <p:nvPr/>
        </p:nvSpPr>
        <p:spPr>
          <a:xfrm>
            <a:off x="838800" y="2282760"/>
            <a:ext cx="1294920" cy="956880"/>
          </a:xfrm>
          <a:prstGeom prst="roundRect">
            <a:avLst>
              <a:gd name="adj" fmla="val 2831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3"/>
          <p:cNvSpPr/>
          <p:nvPr/>
        </p:nvSpPr>
        <p:spPr>
          <a:xfrm>
            <a:off x="1359360" y="2602440"/>
            <a:ext cx="2534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75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2314800" y="2463120"/>
            <a:ext cx="240948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Səviyyə 1: Məlumatlılıq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2314800" y="2810520"/>
            <a:ext cx="51076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Süni intellekt müzakirə olunur, lakin heç bir konkret tədbir görülmür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6"/>
          <p:cNvSpPr/>
          <p:nvPr/>
        </p:nvSpPr>
        <p:spPr>
          <a:xfrm>
            <a:off x="2224440" y="3230280"/>
            <a:ext cx="11476440" cy="11160"/>
          </a:xfrm>
          <a:prstGeom prst="roundRect">
            <a:avLst>
              <a:gd name="adj" fmla="val 237111"/>
            </a:avLst>
          </a:prstGeom>
          <a:solidFill>
            <a:srgbClr val="494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720" bIns="-36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7"/>
          <p:cNvSpPr/>
          <p:nvPr/>
        </p:nvSpPr>
        <p:spPr>
          <a:xfrm>
            <a:off x="838800" y="3330000"/>
            <a:ext cx="2590200" cy="956880"/>
          </a:xfrm>
          <a:prstGeom prst="roundRect">
            <a:avLst>
              <a:gd name="adj" fmla="val 2831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2007000" y="3650040"/>
            <a:ext cx="2534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75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9"/>
          <p:cNvSpPr/>
          <p:nvPr/>
        </p:nvSpPr>
        <p:spPr>
          <a:xfrm>
            <a:off x="3610080" y="3510720"/>
            <a:ext cx="224856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Səviyyə 2: Təcrübələr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0"/>
          <p:cNvSpPr/>
          <p:nvPr/>
        </p:nvSpPr>
        <p:spPr>
          <a:xfrm>
            <a:off x="3610080" y="3858120"/>
            <a:ext cx="419616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Pilot layihələr və PoC (Konsepsiyanın Sübutu) mərhələsi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11"/>
          <p:cNvSpPr/>
          <p:nvPr/>
        </p:nvSpPr>
        <p:spPr>
          <a:xfrm>
            <a:off x="3519720" y="4277880"/>
            <a:ext cx="10181160" cy="11160"/>
          </a:xfrm>
          <a:prstGeom prst="roundRect">
            <a:avLst>
              <a:gd name="adj" fmla="val 237111"/>
            </a:avLst>
          </a:prstGeom>
          <a:solidFill>
            <a:srgbClr val="494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720" bIns="-36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12"/>
          <p:cNvSpPr/>
          <p:nvPr/>
        </p:nvSpPr>
        <p:spPr>
          <a:xfrm>
            <a:off x="838800" y="4377600"/>
            <a:ext cx="3885480" cy="956880"/>
          </a:xfrm>
          <a:prstGeom prst="roundRect">
            <a:avLst>
              <a:gd name="adj" fmla="val 2831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13"/>
          <p:cNvSpPr/>
          <p:nvPr/>
        </p:nvSpPr>
        <p:spPr>
          <a:xfrm>
            <a:off x="2654640" y="4697640"/>
            <a:ext cx="2534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75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4"/>
          <p:cNvSpPr/>
          <p:nvPr/>
        </p:nvSpPr>
        <p:spPr>
          <a:xfrm>
            <a:off x="4905360" y="4558320"/>
            <a:ext cx="283248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Səviyyə 3: Əməliyyatlaşma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15"/>
          <p:cNvSpPr/>
          <p:nvPr/>
        </p:nvSpPr>
        <p:spPr>
          <a:xfrm>
            <a:off x="4905360" y="4905360"/>
            <a:ext cx="378180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Süni intellekt aktiv iş axınlarına inteqrasiya olunub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6"/>
          <p:cNvSpPr/>
          <p:nvPr/>
        </p:nvSpPr>
        <p:spPr>
          <a:xfrm>
            <a:off x="4815000" y="5325480"/>
            <a:ext cx="8885880" cy="11160"/>
          </a:xfrm>
          <a:prstGeom prst="roundRect">
            <a:avLst>
              <a:gd name="adj" fmla="val 237111"/>
            </a:avLst>
          </a:prstGeom>
          <a:solidFill>
            <a:srgbClr val="494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720" bIns="-36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17"/>
          <p:cNvSpPr/>
          <p:nvPr/>
        </p:nvSpPr>
        <p:spPr>
          <a:xfrm>
            <a:off x="838800" y="5425200"/>
            <a:ext cx="5180400" cy="956880"/>
          </a:xfrm>
          <a:prstGeom prst="roundRect">
            <a:avLst>
              <a:gd name="adj" fmla="val 2831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18"/>
          <p:cNvSpPr/>
          <p:nvPr/>
        </p:nvSpPr>
        <p:spPr>
          <a:xfrm>
            <a:off x="3302280" y="5744880"/>
            <a:ext cx="2534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75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9"/>
          <p:cNvSpPr/>
          <p:nvPr/>
        </p:nvSpPr>
        <p:spPr>
          <a:xfrm>
            <a:off x="6200280" y="5605920"/>
            <a:ext cx="251640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Səviyyə 4: Miqyaslaşma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20"/>
          <p:cNvSpPr/>
          <p:nvPr/>
        </p:nvSpPr>
        <p:spPr>
          <a:xfrm>
            <a:off x="6200280" y="5952960"/>
            <a:ext cx="423828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Bir çox şöbədə paralel süni intellekt həlləri fəaliyyətdədir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21"/>
          <p:cNvSpPr/>
          <p:nvPr/>
        </p:nvSpPr>
        <p:spPr>
          <a:xfrm>
            <a:off x="6109920" y="6373080"/>
            <a:ext cx="7590600" cy="11160"/>
          </a:xfrm>
          <a:prstGeom prst="roundRect">
            <a:avLst>
              <a:gd name="adj" fmla="val 237111"/>
            </a:avLst>
          </a:prstGeom>
          <a:solidFill>
            <a:srgbClr val="494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720" bIns="-3672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Shape 22"/>
          <p:cNvSpPr/>
          <p:nvPr/>
        </p:nvSpPr>
        <p:spPr>
          <a:xfrm>
            <a:off x="838800" y="6472800"/>
            <a:ext cx="6475680" cy="956880"/>
          </a:xfrm>
          <a:prstGeom prst="roundRect">
            <a:avLst>
              <a:gd name="adj" fmla="val 2831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23"/>
          <p:cNvSpPr/>
          <p:nvPr/>
        </p:nvSpPr>
        <p:spPr>
          <a:xfrm>
            <a:off x="3949920" y="6792480"/>
            <a:ext cx="2534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75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24"/>
          <p:cNvSpPr/>
          <p:nvPr/>
        </p:nvSpPr>
        <p:spPr>
          <a:xfrm>
            <a:off x="7495560" y="6653160"/>
            <a:ext cx="2742840" cy="25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Səviyyə 5: Transformasiya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25"/>
          <p:cNvSpPr/>
          <p:nvPr/>
        </p:nvSpPr>
        <p:spPr>
          <a:xfrm>
            <a:off x="7495560" y="7000560"/>
            <a:ext cx="5727600" cy="2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95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Süni intellekt əsas biznes modeli və rəqabət üstünlüyü kimi fəaliyyət göstərir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/>
          <p:nvPr/>
        </p:nvSpPr>
        <p:spPr>
          <a:xfrm>
            <a:off x="863640" y="874800"/>
            <a:ext cx="621576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Yetkinliyin Əsas Ölçüləri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863640" y="1920240"/>
            <a:ext cx="129024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Süni intellekt yetkinliyi yalnız texnologiya ilə ölçülmür. Hərtərəfli qiymətləndirmə üçün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beş əsas ölçü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birlikdə nəzərə alınmalıdır.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3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63640" y="2487240"/>
            <a:ext cx="539640" cy="539640"/>
          </a:xfrm>
          <a:prstGeom prst="rect">
            <a:avLst/>
          </a:prstGeom>
          <a:ln w="0">
            <a:noFill/>
          </a:ln>
        </p:spPr>
      </p:pic>
      <p:sp>
        <p:nvSpPr>
          <p:cNvPr id="144" name="Text 2"/>
          <p:cNvSpPr/>
          <p:nvPr/>
        </p:nvSpPr>
        <p:spPr>
          <a:xfrm>
            <a:off x="863640" y="329688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Məlumatlar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3"/>
          <p:cNvSpPr/>
          <p:nvPr/>
        </p:nvSpPr>
        <p:spPr>
          <a:xfrm>
            <a:off x="863640" y="3733200"/>
            <a:ext cx="412056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Keyfiyyət, mövcudluq və idarəetmə. Süni intellektin "yanacağı" məlumatlardır.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254560" y="2487240"/>
            <a:ext cx="539640" cy="539640"/>
          </a:xfrm>
          <a:prstGeom prst="rect">
            <a:avLst/>
          </a:prstGeom>
          <a:ln w="0">
            <a:noFill/>
          </a:ln>
        </p:spPr>
      </p:pic>
      <p:sp>
        <p:nvSpPr>
          <p:cNvPr id="147" name="Text 4"/>
          <p:cNvSpPr/>
          <p:nvPr/>
        </p:nvSpPr>
        <p:spPr>
          <a:xfrm>
            <a:off x="5254560" y="329688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Texnologiya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5"/>
          <p:cNvSpPr/>
          <p:nvPr/>
        </p:nvSpPr>
        <p:spPr>
          <a:xfrm>
            <a:off x="5254560" y="3733200"/>
            <a:ext cx="412056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İnfrastruktur, alətlər, platforma uyğunluğu və kibertəhlükəsizlik hazırlığı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9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645480" y="2487240"/>
            <a:ext cx="539640" cy="539640"/>
          </a:xfrm>
          <a:prstGeom prst="rect">
            <a:avLst/>
          </a:prstGeom>
          <a:ln w="0">
            <a:noFill/>
          </a:ln>
        </p:spPr>
      </p:pic>
      <p:sp>
        <p:nvSpPr>
          <p:cNvPr id="150" name="Text 6"/>
          <p:cNvSpPr/>
          <p:nvPr/>
        </p:nvSpPr>
        <p:spPr>
          <a:xfrm>
            <a:off x="9645480" y="329688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İnsanlar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7"/>
          <p:cNvSpPr/>
          <p:nvPr/>
        </p:nvSpPr>
        <p:spPr>
          <a:xfrm>
            <a:off x="9645480" y="3733200"/>
            <a:ext cx="412056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Məlumat alimləri, süni intellekt mühəndisləri, biznes analitikləri — komandanın bacarıq çərçivəsi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2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63640" y="5136840"/>
            <a:ext cx="539640" cy="539640"/>
          </a:xfrm>
          <a:prstGeom prst="rect">
            <a:avLst/>
          </a:prstGeom>
          <a:ln w="0">
            <a:noFill/>
          </a:ln>
        </p:spPr>
      </p:pic>
      <p:sp>
        <p:nvSpPr>
          <p:cNvPr id="153" name="Text 8"/>
          <p:cNvSpPr/>
          <p:nvPr/>
        </p:nvSpPr>
        <p:spPr>
          <a:xfrm>
            <a:off x="863640" y="594648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Proseslər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9"/>
          <p:cNvSpPr/>
          <p:nvPr/>
        </p:nvSpPr>
        <p:spPr>
          <a:xfrm>
            <a:off x="863640" y="6382800"/>
            <a:ext cx="412056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Süni intellekt layihələrinin həyat dövrü idarəetməsi və standartlaşdırılmış metodologiya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5254560" y="5136840"/>
            <a:ext cx="539640" cy="539640"/>
          </a:xfrm>
          <a:prstGeom prst="rect">
            <a:avLst/>
          </a:prstGeom>
          <a:ln w="0">
            <a:noFill/>
          </a:ln>
        </p:spPr>
      </p:pic>
      <p:sp>
        <p:nvSpPr>
          <p:cNvPr id="156" name="Text 10"/>
          <p:cNvSpPr/>
          <p:nvPr/>
        </p:nvSpPr>
        <p:spPr>
          <a:xfrm>
            <a:off x="5254560" y="594648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Mədəniyyət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1"/>
          <p:cNvSpPr/>
          <p:nvPr/>
        </p:nvSpPr>
        <p:spPr>
          <a:xfrm>
            <a:off x="5254560" y="6382800"/>
            <a:ext cx="412056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Təcrübə aparmaq istəyi, etik çərçivə, şəffaflıq və liderlik dəstəyi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0"/>
          <p:cNvSpPr/>
          <p:nvPr/>
        </p:nvSpPr>
        <p:spPr>
          <a:xfrm>
            <a:off x="863640" y="1440360"/>
            <a:ext cx="994752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Gartner Modeli: Biznes Dəyərinə Fokus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"/>
          <p:cNvSpPr/>
          <p:nvPr/>
        </p:nvSpPr>
        <p:spPr>
          <a:xfrm>
            <a:off x="708120" y="2377800"/>
            <a:ext cx="5827320" cy="4411440"/>
          </a:xfrm>
          <a:prstGeom prst="roundRect">
            <a:avLst>
              <a:gd name="adj" fmla="val 734"/>
            </a:avLst>
          </a:prstGeom>
          <a:solidFill>
            <a:srgbClr val="1d1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2"/>
          <p:cNvSpPr/>
          <p:nvPr/>
        </p:nvSpPr>
        <p:spPr>
          <a:xfrm>
            <a:off x="924120" y="259344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Gartner Yanaşması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3"/>
          <p:cNvSpPr/>
          <p:nvPr/>
        </p:nvSpPr>
        <p:spPr>
          <a:xfrm>
            <a:off x="924120" y="3116160"/>
            <a:ext cx="539568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Gartner modeli texniki yetkinliyi deyil,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biznes dəyəri yaratma qabiliyyətini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mərkəzə alır. Sual sadədir: süni intellekt nə qədər strateji fayda gətirir?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4"/>
          <p:cNvSpPr/>
          <p:nvPr/>
        </p:nvSpPr>
        <p:spPr>
          <a:xfrm>
            <a:off x="924120" y="4282200"/>
            <a:ext cx="539568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Model reaktiv istismardan — gündəlik problemlərin həllindən — yeni imkanların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proaktiv yaradılmasına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qədər olan yolu xəritələşdirir.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5"/>
          <p:cNvSpPr/>
          <p:nvPr/>
        </p:nvSpPr>
        <p:spPr>
          <a:xfrm>
            <a:off x="6914880" y="2593440"/>
            <a:ext cx="352872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Gartner-in Əsas Mərhələləri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4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995880" y="3150000"/>
            <a:ext cx="323640" cy="323640"/>
          </a:xfrm>
          <a:prstGeom prst="rect">
            <a:avLst/>
          </a:prstGeom>
          <a:ln w="0">
            <a:noFill/>
          </a:ln>
        </p:spPr>
      </p:pic>
      <p:sp>
        <p:nvSpPr>
          <p:cNvPr id="165" name="Text 6"/>
          <p:cNvSpPr/>
          <p:nvPr/>
        </p:nvSpPr>
        <p:spPr>
          <a:xfrm>
            <a:off x="7616520" y="314316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Reaktiv İstifadə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7"/>
          <p:cNvSpPr/>
          <p:nvPr/>
        </p:nvSpPr>
        <p:spPr>
          <a:xfrm>
            <a:off x="7616520" y="3665520"/>
            <a:ext cx="6157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Süni intellekt mövcud problemləri həll etmək üçün istifadə olunur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995880" y="4428360"/>
            <a:ext cx="323640" cy="323640"/>
          </a:xfrm>
          <a:prstGeom prst="rect">
            <a:avLst/>
          </a:prstGeom>
          <a:ln w="0">
            <a:noFill/>
          </a:ln>
        </p:spPr>
      </p:pic>
      <p:sp>
        <p:nvSpPr>
          <p:cNvPr id="168" name="Text 8"/>
          <p:cNvSpPr/>
          <p:nvPr/>
        </p:nvSpPr>
        <p:spPr>
          <a:xfrm>
            <a:off x="7616520" y="4421520"/>
            <a:ext cx="281628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Proaktiv Optimizasiya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9"/>
          <p:cNvSpPr/>
          <p:nvPr/>
        </p:nvSpPr>
        <p:spPr>
          <a:xfrm>
            <a:off x="7616520" y="4944240"/>
            <a:ext cx="6157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Proseslər süni intellekt vasitəsilə sistemli şəkildə yaxşılaşdırılır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0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995880" y="5706720"/>
            <a:ext cx="323640" cy="323640"/>
          </a:xfrm>
          <a:prstGeom prst="rect">
            <a:avLst/>
          </a:prstGeom>
          <a:ln w="0">
            <a:noFill/>
          </a:ln>
        </p:spPr>
      </p:pic>
      <p:sp>
        <p:nvSpPr>
          <p:cNvPr id="171" name="Text 10"/>
          <p:cNvSpPr/>
          <p:nvPr/>
        </p:nvSpPr>
        <p:spPr>
          <a:xfrm>
            <a:off x="7616520" y="5699880"/>
            <a:ext cx="250884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Yeni Dəyər Yaratma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1"/>
          <p:cNvSpPr/>
          <p:nvPr/>
        </p:nvSpPr>
        <p:spPr>
          <a:xfrm>
            <a:off x="7616520" y="6222600"/>
            <a:ext cx="6157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Süni intellekt tamamilə yeni biznes imkanları açır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0"/>
          <p:cNvSpPr/>
          <p:nvPr/>
        </p:nvSpPr>
        <p:spPr>
          <a:xfrm>
            <a:off x="863640" y="767160"/>
            <a:ext cx="1253844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Microsoft Modeli: Dörd Transformasiya Mərhələsi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1"/>
          <p:cNvSpPr/>
          <p:nvPr/>
        </p:nvSpPr>
        <p:spPr>
          <a:xfrm>
            <a:off x="863640" y="1812240"/>
            <a:ext cx="129024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Microsoft-un yetkinlik çərçivəsi,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gündəlik qərarlara süni intellektin tam inteqrasiyasını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hədəf alır. Hər mərhələ bir əvvəlki üzərində qurulur və konkret nəticələrə yönəlir.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5" name="Image 0" descr="preencoded.png"/>
          <p:cNvPicPr/>
          <p:nvPr/>
        </p:nvPicPr>
        <p:blipFill>
          <a:blip r:embed="rId1"/>
          <a:stretch/>
        </p:blipFill>
        <p:spPr>
          <a:xfrm>
            <a:off x="863640" y="2703240"/>
            <a:ext cx="6451200" cy="863280"/>
          </a:xfrm>
          <a:prstGeom prst="rect">
            <a:avLst/>
          </a:prstGeom>
          <a:ln w="0">
            <a:noFill/>
          </a:ln>
        </p:spPr>
      </p:pic>
      <p:sp>
        <p:nvSpPr>
          <p:cNvPr id="176" name="Text 2"/>
          <p:cNvSpPr/>
          <p:nvPr/>
        </p:nvSpPr>
        <p:spPr>
          <a:xfrm>
            <a:off x="1079640" y="378288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Xəbərdarlıq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3"/>
          <p:cNvSpPr/>
          <p:nvPr/>
        </p:nvSpPr>
        <p:spPr>
          <a:xfrm>
            <a:off x="1079640" y="4219200"/>
            <a:ext cx="60192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Süni intellekt imkanları haqqında fəaliyyət başlayır, maariflənmə gedir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Image 1" descr="preencoded.png"/>
          <p:cNvPicPr/>
          <p:nvPr/>
        </p:nvPicPr>
        <p:blipFill>
          <a:blip r:embed="rId2"/>
          <a:stretch/>
        </p:blipFill>
        <p:spPr>
          <a:xfrm>
            <a:off x="7315200" y="2703240"/>
            <a:ext cx="6451200" cy="863280"/>
          </a:xfrm>
          <a:prstGeom prst="rect">
            <a:avLst/>
          </a:prstGeom>
          <a:ln w="0">
            <a:noFill/>
          </a:ln>
        </p:spPr>
      </p:pic>
      <p:sp>
        <p:nvSpPr>
          <p:cNvPr id="179" name="Text 4"/>
          <p:cNvSpPr/>
          <p:nvPr/>
        </p:nvSpPr>
        <p:spPr>
          <a:xfrm>
            <a:off x="7531200" y="378288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Aktiv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5"/>
          <p:cNvSpPr/>
          <p:nvPr/>
        </p:nvSpPr>
        <p:spPr>
          <a:xfrm>
            <a:off x="7531200" y="4219200"/>
            <a:ext cx="60192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Pilot layihələr uğurla başladılır, komandalar süni intellektlə tanış olur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" name="Image 2" descr="preencoded.png"/>
          <p:cNvPicPr/>
          <p:nvPr/>
        </p:nvPicPr>
        <p:blipFill>
          <a:blip r:embed="rId3"/>
          <a:stretch/>
        </p:blipFill>
        <p:spPr>
          <a:xfrm>
            <a:off x="863640" y="5082840"/>
            <a:ext cx="6451200" cy="863280"/>
          </a:xfrm>
          <a:prstGeom prst="rect">
            <a:avLst/>
          </a:prstGeom>
          <a:ln w="0">
            <a:noFill/>
          </a:ln>
        </p:spPr>
      </p:pic>
      <p:sp>
        <p:nvSpPr>
          <p:cNvPr id="182" name="Text 6"/>
          <p:cNvSpPr/>
          <p:nvPr/>
        </p:nvSpPr>
        <p:spPr>
          <a:xfrm>
            <a:off x="1079640" y="616248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Tətbiqi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7"/>
          <p:cNvSpPr/>
          <p:nvPr/>
        </p:nvSpPr>
        <p:spPr>
          <a:xfrm>
            <a:off x="1079640" y="6598800"/>
            <a:ext cx="601920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Süni intellekt həlləri geniş miqyasda istehsala çıxarılır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Image 3" descr="preencoded.png"/>
          <p:cNvPicPr/>
          <p:nvPr/>
        </p:nvPicPr>
        <p:blipFill>
          <a:blip r:embed="rId4"/>
          <a:stretch/>
        </p:blipFill>
        <p:spPr>
          <a:xfrm>
            <a:off x="7315200" y="5082840"/>
            <a:ext cx="6451200" cy="863280"/>
          </a:xfrm>
          <a:prstGeom prst="rect">
            <a:avLst/>
          </a:prstGeom>
          <a:ln w="0">
            <a:noFill/>
          </a:ln>
        </p:spPr>
      </p:pic>
      <p:sp>
        <p:nvSpPr>
          <p:cNvPr id="185" name="Text 8"/>
          <p:cNvSpPr/>
          <p:nvPr/>
        </p:nvSpPr>
        <p:spPr>
          <a:xfrm>
            <a:off x="7531200" y="616248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Sürətləndirilmiş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9"/>
          <p:cNvSpPr/>
          <p:nvPr/>
        </p:nvSpPr>
        <p:spPr>
          <a:xfrm>
            <a:off x="7531200" y="6598800"/>
            <a:ext cx="601920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Süni intellekt hər gündəlik qərar prosesinin ayrılmaz hissəsinə çevrilir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188" name="Text 0"/>
          <p:cNvSpPr/>
          <p:nvPr/>
        </p:nvSpPr>
        <p:spPr>
          <a:xfrm>
            <a:off x="6179040" y="1088640"/>
            <a:ext cx="7758360" cy="98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3849"/>
              </a:lnSpc>
              <a:tabLst>
                <a:tab algn="l" pos="0"/>
              </a:tabLst>
            </a:pPr>
            <a:r>
              <a:rPr b="1" lang="en-US" sz="30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Praktik Vasitə: Yetkinlik Yoxlama Siyahısı</a:t>
            </a:r>
            <a:endParaRPr b="0" lang="en-US" sz="3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1"/>
          <p:cNvSpPr/>
          <p:nvPr/>
        </p:nvSpPr>
        <p:spPr>
          <a:xfrm>
            <a:off x="6179040" y="2280600"/>
            <a:ext cx="7758360" cy="46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Bu siyahı, bir neçə dəqiqə ərzində təşkilatınızın cari vəziyyətini sürətlə qiymətləndirməyə kömək edir. Hər sual kritik bir ölçüyə işarə edir.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2"/>
          <p:cNvSpPr/>
          <p:nvPr/>
        </p:nvSpPr>
        <p:spPr>
          <a:xfrm>
            <a:off x="6179040" y="2904480"/>
            <a:ext cx="7758360" cy="954720"/>
          </a:xfrm>
          <a:prstGeom prst="roundRect">
            <a:avLst>
              <a:gd name="adj" fmla="val 11490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3"/>
          <p:cNvSpPr/>
          <p:nvPr/>
        </p:nvSpPr>
        <p:spPr>
          <a:xfrm>
            <a:off x="6156000" y="2904480"/>
            <a:ext cx="91080" cy="954720"/>
          </a:xfrm>
          <a:prstGeom prst="roundRect">
            <a:avLst>
              <a:gd name="adj" fmla="val 2840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4"/>
          <p:cNvSpPr/>
          <p:nvPr/>
        </p:nvSpPr>
        <p:spPr>
          <a:xfrm>
            <a:off x="6443640" y="3100680"/>
            <a:ext cx="250920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📊</a:t>
            </a:r>
            <a:r>
              <a:rPr b="1" lang="en-US" sz="15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5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Məlumat İdarəetməsi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5"/>
          <p:cNvSpPr/>
          <p:nvPr/>
        </p:nvSpPr>
        <p:spPr>
          <a:xfrm>
            <a:off x="6443640" y="3429720"/>
            <a:ext cx="729792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Vahid məlumat kataloqumuz varmı? Məlumatlar müxtəlif sistemlər arasında uyğunlaşdırılıbmı?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6"/>
          <p:cNvSpPr/>
          <p:nvPr/>
        </p:nvSpPr>
        <p:spPr>
          <a:xfrm>
            <a:off x="6179040" y="3998520"/>
            <a:ext cx="7758360" cy="954720"/>
          </a:xfrm>
          <a:prstGeom prst="roundRect">
            <a:avLst>
              <a:gd name="adj" fmla="val 11490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7"/>
          <p:cNvSpPr/>
          <p:nvPr/>
        </p:nvSpPr>
        <p:spPr>
          <a:xfrm>
            <a:off x="6156000" y="3998520"/>
            <a:ext cx="91080" cy="954720"/>
          </a:xfrm>
          <a:prstGeom prst="roundRect">
            <a:avLst>
              <a:gd name="adj" fmla="val 2840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8"/>
          <p:cNvSpPr/>
          <p:nvPr/>
        </p:nvSpPr>
        <p:spPr>
          <a:xfrm>
            <a:off x="6443640" y="4194360"/>
            <a:ext cx="248400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👤</a:t>
            </a:r>
            <a:r>
              <a:rPr b="1" lang="en-US" sz="15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5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İstifadəçi Müstəqilliyi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9"/>
          <p:cNvSpPr/>
          <p:nvPr/>
        </p:nvSpPr>
        <p:spPr>
          <a:xfrm>
            <a:off x="6443640" y="4523400"/>
            <a:ext cx="729792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Biznes istifadəçiləri İT dəstəyi olmadan süni intellekt analitikasını idarə edə bilərlərmi?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0"/>
          <p:cNvSpPr/>
          <p:nvPr/>
        </p:nvSpPr>
        <p:spPr>
          <a:xfrm>
            <a:off x="6179040" y="5092200"/>
            <a:ext cx="7758360" cy="954720"/>
          </a:xfrm>
          <a:prstGeom prst="roundRect">
            <a:avLst>
              <a:gd name="adj" fmla="val 11490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11"/>
          <p:cNvSpPr/>
          <p:nvPr/>
        </p:nvSpPr>
        <p:spPr>
          <a:xfrm>
            <a:off x="6156000" y="5092200"/>
            <a:ext cx="91080" cy="954720"/>
          </a:xfrm>
          <a:prstGeom prst="roundRect">
            <a:avLst>
              <a:gd name="adj" fmla="val 2840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12"/>
          <p:cNvSpPr/>
          <p:nvPr/>
        </p:nvSpPr>
        <p:spPr>
          <a:xfrm>
            <a:off x="6443640" y="5288040"/>
            <a:ext cx="196740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⚖️</a:t>
            </a:r>
            <a:r>
              <a:rPr b="1" lang="en-US" sz="15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5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Etika və Siyasət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13"/>
          <p:cNvSpPr/>
          <p:nvPr/>
        </p:nvSpPr>
        <p:spPr>
          <a:xfrm>
            <a:off x="6443640" y="5617440"/>
            <a:ext cx="729792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Təsdiq edilmiş süni intellekt etikası siyasəti varmı? Qərarlarda şəffaflıq təmin olunurmu?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14"/>
          <p:cNvSpPr/>
          <p:nvPr/>
        </p:nvSpPr>
        <p:spPr>
          <a:xfrm>
            <a:off x="6179040" y="6185880"/>
            <a:ext cx="7758360" cy="954720"/>
          </a:xfrm>
          <a:prstGeom prst="roundRect">
            <a:avLst>
              <a:gd name="adj" fmla="val 11490"/>
            </a:avLst>
          </a:prstGeom>
          <a:solidFill>
            <a:srgbClr val="111213"/>
          </a:solidFill>
          <a:ln w="22860">
            <a:solidFill>
              <a:srgbClr val="494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15"/>
          <p:cNvSpPr/>
          <p:nvPr/>
        </p:nvSpPr>
        <p:spPr>
          <a:xfrm>
            <a:off x="6156000" y="6185880"/>
            <a:ext cx="91080" cy="954720"/>
          </a:xfrm>
          <a:prstGeom prst="roundRect">
            <a:avLst>
              <a:gd name="adj" fmla="val 2840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6"/>
          <p:cNvSpPr/>
          <p:nvPr/>
        </p:nvSpPr>
        <p:spPr>
          <a:xfrm>
            <a:off x="6443640" y="6382080"/>
            <a:ext cx="209844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99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0000"/>
                </a:solidFill>
                <a:latin typeface="Montserrat Bold"/>
                <a:ea typeface="Montserrat Bold"/>
              </a:rPr>
              <a:t>🎯</a:t>
            </a:r>
            <a:r>
              <a:rPr b="1" lang="en-US" sz="15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 </a:t>
            </a:r>
            <a:r>
              <a:rPr b="1" lang="en-US" sz="15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Strateji Uyğunluq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17"/>
          <p:cNvSpPr/>
          <p:nvPr/>
        </p:nvSpPr>
        <p:spPr>
          <a:xfrm>
            <a:off x="6443640" y="6711120"/>
            <a:ext cx="7297920" cy="2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Süni intellekt layihələri ümumi biznes strategiyası ilə uyğunlaşdırılıbmı?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0"/>
          <p:cNvSpPr/>
          <p:nvPr/>
        </p:nvSpPr>
        <p:spPr>
          <a:xfrm>
            <a:off x="1239120" y="927360"/>
            <a:ext cx="774648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75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Növbəti Səviyyəyə Necə Keçmək Olar?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1"/>
          <p:cNvSpPr/>
          <p:nvPr/>
        </p:nvSpPr>
        <p:spPr>
          <a:xfrm>
            <a:off x="1239120" y="1674720"/>
            <a:ext cx="121521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74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Hər səviyyə keçidi </a:t>
            </a:r>
            <a:r>
              <a:rPr b="1" lang="en-US" sz="13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xüsusi strategiya tələb edir</a:t>
            </a:r>
            <a:r>
              <a:rPr b="0" lang="en-US" sz="13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. Addımları atlamamaq, əsas qaydadır — hər mərhələdə möhkəm zəmin qurmaq gələcək inkişafı asanlaşdırır.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2"/>
          <p:cNvSpPr/>
          <p:nvPr/>
        </p:nvSpPr>
        <p:spPr>
          <a:xfrm>
            <a:off x="7303680" y="2051280"/>
            <a:ext cx="22680" cy="5250600"/>
          </a:xfrm>
          <a:prstGeom prst="roundRect">
            <a:avLst>
              <a:gd name="adj" fmla="val 111232"/>
            </a:avLst>
          </a:prstGeom>
          <a:solidFill>
            <a:srgbClr val="494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hape 3"/>
          <p:cNvSpPr/>
          <p:nvPr/>
        </p:nvSpPr>
        <p:spPr>
          <a:xfrm>
            <a:off x="1216080" y="2051280"/>
            <a:ext cx="6075720" cy="1112760"/>
          </a:xfrm>
          <a:prstGeom prst="roundRect">
            <a:avLst>
              <a:gd name="adj" fmla="val 2284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4"/>
          <p:cNvSpPr/>
          <p:nvPr/>
        </p:nvSpPr>
        <p:spPr>
          <a:xfrm>
            <a:off x="5196600" y="2220840"/>
            <a:ext cx="192600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851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1 → 2: Pilot Layihə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5"/>
          <p:cNvSpPr/>
          <p:nvPr/>
        </p:nvSpPr>
        <p:spPr>
          <a:xfrm>
            <a:off x="1385640" y="2541240"/>
            <a:ext cx="573696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ts val="174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Aydın KPI-larla kiçik ölçülü, sübut edici bir pilot layihə həyata keçirin. Uğur hekayəsi yaradın.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6"/>
          <p:cNvSpPr/>
          <p:nvPr/>
        </p:nvSpPr>
        <p:spPr>
          <a:xfrm>
            <a:off x="7337880" y="3430800"/>
            <a:ext cx="6075720" cy="1112760"/>
          </a:xfrm>
          <a:prstGeom prst="rect">
            <a:avLst/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7"/>
          <p:cNvSpPr/>
          <p:nvPr/>
        </p:nvSpPr>
        <p:spPr>
          <a:xfrm>
            <a:off x="7507440" y="3600000"/>
            <a:ext cx="230724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51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2 → 3: Standartlaşdırma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8"/>
          <p:cNvSpPr/>
          <p:nvPr/>
        </p:nvSpPr>
        <p:spPr>
          <a:xfrm>
            <a:off x="7507440" y="3920760"/>
            <a:ext cx="573696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4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Prosesləri və məlumat arxitekturasını standartlaşdırın. Süni intellekti əsas iş axınlarına inteqrasiya edin.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9"/>
          <p:cNvSpPr/>
          <p:nvPr/>
        </p:nvSpPr>
        <p:spPr>
          <a:xfrm>
            <a:off x="1216080" y="4809960"/>
            <a:ext cx="6075720" cy="1112760"/>
          </a:xfrm>
          <a:prstGeom prst="roundRect">
            <a:avLst>
              <a:gd name="adj" fmla="val 2284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10"/>
          <p:cNvSpPr/>
          <p:nvPr/>
        </p:nvSpPr>
        <p:spPr>
          <a:xfrm>
            <a:off x="4051800" y="4979160"/>
            <a:ext cx="307044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1851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3 → 4: Mükəmməllik Mərkəzləri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11"/>
          <p:cNvSpPr/>
          <p:nvPr/>
        </p:nvSpPr>
        <p:spPr>
          <a:xfrm>
            <a:off x="1385640" y="5299920"/>
            <a:ext cx="573696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>
              <a:lnSpc>
                <a:spcPts val="174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Mərkəzləşdirilmiş AI Center of Excellence (CoE) qurun. Bilik paylaşımı üçün platforma yaradın.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12"/>
          <p:cNvSpPr/>
          <p:nvPr/>
        </p:nvSpPr>
        <p:spPr>
          <a:xfrm>
            <a:off x="7337880" y="6189120"/>
            <a:ext cx="6075720" cy="1112760"/>
          </a:xfrm>
          <a:prstGeom prst="rect">
            <a:avLst/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13"/>
          <p:cNvSpPr/>
          <p:nvPr/>
        </p:nvSpPr>
        <p:spPr>
          <a:xfrm>
            <a:off x="7507440" y="6358680"/>
            <a:ext cx="246420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51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4 → 5: Strateji İnteqrasiya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14"/>
          <p:cNvSpPr/>
          <p:nvPr/>
        </p:nvSpPr>
        <p:spPr>
          <a:xfrm>
            <a:off x="7507440" y="6679080"/>
            <a:ext cx="573696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749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Süni intellekti korporativ strategiyaya, məhsul inkişafına və biznes modelinə tam inteqrasiya edin.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 0"/>
          <p:cNvSpPr/>
          <p:nvPr/>
        </p:nvSpPr>
        <p:spPr>
          <a:xfrm>
            <a:off x="863640" y="1112040"/>
            <a:ext cx="1060992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Praktik Tapşırıq: Özünüzü Qiymətləndirin</a:t>
            </a:r>
            <a:endParaRPr b="0" lang="en-US" sz="3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1"/>
          <p:cNvSpPr/>
          <p:nvPr/>
        </p:nvSpPr>
        <p:spPr>
          <a:xfrm>
            <a:off x="708120" y="2049480"/>
            <a:ext cx="6498720" cy="3929040"/>
          </a:xfrm>
          <a:prstGeom prst="roundRect">
            <a:avLst>
              <a:gd name="adj" fmla="val 824"/>
            </a:avLst>
          </a:prstGeom>
          <a:solidFill>
            <a:srgbClr val="1d1f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2"/>
          <p:cNvSpPr/>
          <p:nvPr/>
        </p:nvSpPr>
        <p:spPr>
          <a:xfrm>
            <a:off x="924120" y="226512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Tapşırıq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3"/>
          <p:cNvSpPr/>
          <p:nvPr/>
        </p:nvSpPr>
        <p:spPr>
          <a:xfrm>
            <a:off x="924120" y="2787840"/>
            <a:ext cx="60670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Təşkilatınızın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5 əsas ölçüdə özünüqiymətləndirməsini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aparın: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4"/>
          <p:cNvSpPr/>
          <p:nvPr/>
        </p:nvSpPr>
        <p:spPr>
          <a:xfrm>
            <a:off x="924120" y="3305880"/>
            <a:ext cx="6067080" cy="192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Məlumatlar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Texnologiya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İnsanlar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Proseslər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ts val="2551"/>
              </a:lnSpc>
              <a:buClr>
                <a:srgbClr val="e2e6e9"/>
              </a:buClr>
              <a:buFont typeface="Symbol" charset="2"/>
              <a:buChar char=""/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Mədəniyyət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5"/>
          <p:cNvSpPr/>
          <p:nvPr/>
        </p:nvSpPr>
        <p:spPr>
          <a:xfrm>
            <a:off x="7586280" y="2265120"/>
            <a:ext cx="2453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Cavab Verin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6"/>
          <p:cNvSpPr/>
          <p:nvPr/>
        </p:nvSpPr>
        <p:spPr>
          <a:xfrm>
            <a:off x="7586280" y="2814840"/>
            <a:ext cx="485640" cy="485640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7"/>
          <p:cNvSpPr/>
          <p:nvPr/>
        </p:nvSpPr>
        <p:spPr>
          <a:xfrm>
            <a:off x="7682040" y="2873520"/>
            <a:ext cx="2941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299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1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8"/>
          <p:cNvSpPr/>
          <p:nvPr/>
        </p:nvSpPr>
        <p:spPr>
          <a:xfrm>
            <a:off x="8287920" y="2889000"/>
            <a:ext cx="43794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Hansı Yetkinlik Səviyyəsindəsiniz?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9"/>
          <p:cNvSpPr/>
          <p:nvPr/>
        </p:nvSpPr>
        <p:spPr>
          <a:xfrm>
            <a:off x="8287920" y="3411360"/>
            <a:ext cx="548568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1-dən 5-ə qədər olan şkala üzrə hər ölçü üçün özünüzü qiymətləndirin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0"/>
          <p:cNvSpPr/>
          <p:nvPr/>
        </p:nvSpPr>
        <p:spPr>
          <a:xfrm>
            <a:off x="7586280" y="4491360"/>
            <a:ext cx="485640" cy="485640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11"/>
          <p:cNvSpPr/>
          <p:nvPr/>
        </p:nvSpPr>
        <p:spPr>
          <a:xfrm>
            <a:off x="7682040" y="4550040"/>
            <a:ext cx="2941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299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2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12"/>
          <p:cNvSpPr/>
          <p:nvPr/>
        </p:nvSpPr>
        <p:spPr>
          <a:xfrm>
            <a:off x="8287920" y="4565520"/>
            <a:ext cx="285192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2e6e9"/>
                </a:solidFill>
                <a:latin typeface="Montserrat Bold"/>
                <a:ea typeface="Montserrat Bold"/>
              </a:rPr>
              <a:t>Növbəti Addım Nədir?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13"/>
          <p:cNvSpPr/>
          <p:nvPr/>
        </p:nvSpPr>
        <p:spPr>
          <a:xfrm>
            <a:off x="8287920" y="5087880"/>
            <a:ext cx="548568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Bir sonrakı səviyyəyə keçmək üçün </a:t>
            </a:r>
            <a:r>
              <a:rPr b="1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ən kritik bir addımı</a:t>
            </a:r>
            <a:r>
              <a:rPr b="0" lang="en-US" sz="1700" spc="-1" strike="noStrike">
                <a:solidFill>
                  <a:srgbClr val="e2e6e9"/>
                </a:solidFill>
                <a:latin typeface="Source Sans 3"/>
                <a:ea typeface="Source Sans 3"/>
              </a:rPr>
              <a:t> müəyyənləşdirin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14"/>
          <p:cNvSpPr/>
          <p:nvPr/>
        </p:nvSpPr>
        <p:spPr>
          <a:xfrm>
            <a:off x="863640" y="6221880"/>
            <a:ext cx="12902400" cy="895680"/>
          </a:xfrm>
          <a:prstGeom prst="roundRect">
            <a:avLst>
              <a:gd name="adj" fmla="val 3616"/>
            </a:avLst>
          </a:prstGeom>
          <a:solidFill>
            <a:srgbClr val="2626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6" name="Image 0" descr="preencoded.png"/>
          <p:cNvPicPr/>
          <p:nvPr/>
        </p:nvPicPr>
        <p:blipFill>
          <a:blip r:embed="rId1"/>
          <a:stretch/>
        </p:blipFill>
        <p:spPr>
          <a:xfrm>
            <a:off x="1079640" y="6531120"/>
            <a:ext cx="269640" cy="215640"/>
          </a:xfrm>
          <a:prstGeom prst="rect">
            <a:avLst/>
          </a:prstGeom>
          <a:ln w="0">
            <a:noFill/>
          </a:ln>
        </p:spPr>
      </p:pic>
      <p:sp>
        <p:nvSpPr>
          <p:cNvPr id="237" name="Text 15"/>
          <p:cNvSpPr/>
          <p:nvPr/>
        </p:nvSpPr>
        <p:spPr>
          <a:xfrm>
            <a:off x="1565280" y="6491520"/>
            <a:ext cx="1198512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551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Source Sans 3"/>
                <a:ea typeface="Source Sans 3"/>
              </a:rPr>
              <a:t>💡</a:t>
            </a:r>
            <a:r>
              <a:rPr b="0" lang="en-US" sz="17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 </a:t>
            </a:r>
            <a:r>
              <a:rPr b="1" lang="en-US" sz="17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Məsləhət:</a:t>
            </a:r>
            <a:r>
              <a:rPr b="0" lang="en-US" sz="1700" spc="-1" strike="noStrike">
                <a:solidFill>
                  <a:srgbClr val="ffffff"/>
                </a:solidFill>
                <a:latin typeface="Source Sans 3"/>
                <a:ea typeface="Source Sans 3"/>
              </a:rPr>
              <a:t> Qiymətləndirməni tək deyil, komanda ilə birlikdə aparın. Müxtəlif perspektivlər daha dürüst bir mənzərə yaradır.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"/>
          <p:cNvSpPr/>
          <p:nvPr/>
        </p:nvSpPr>
        <p:spPr>
          <a:xfrm>
            <a:off x="5029200" y="84600"/>
            <a:ext cx="3429000" cy="60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950" spc="-1" strike="noStrike">
                <a:solidFill>
                  <a:srgbClr val="ffffff"/>
                </a:solidFill>
                <a:latin typeface="Montserrat Bold"/>
                <a:ea typeface="Montserrat Bold"/>
              </a:rPr>
              <a:t>Test Tapşırığı L13</a:t>
            </a:r>
            <a:endParaRPr b="0" lang="en-US" sz="2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9" name="" descr=""/>
          <p:cNvPicPr/>
          <p:nvPr/>
        </p:nvPicPr>
        <p:blipFill>
          <a:blip r:embed="rId1"/>
          <a:stretch/>
        </p:blipFill>
        <p:spPr>
          <a:xfrm>
            <a:off x="2971800" y="725040"/>
            <a:ext cx="7315200" cy="7315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2026-03-27T15:15:07Z</dcterms:created>
  <dc:creator/>
  <dc:description/>
  <dc:language>en-US</dc:language>
  <cp:lastModifiedBy/>
  <dcterms:modified xsi:type="dcterms:W3CDTF">2026-03-27T19:25:43Z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