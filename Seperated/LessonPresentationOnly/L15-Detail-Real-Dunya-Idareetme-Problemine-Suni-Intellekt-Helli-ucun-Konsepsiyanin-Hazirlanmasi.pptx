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5.png" ContentType="image/png"/>
  <Override PartName="/ppt/media/image14.png" ContentType="image/png"/>
  <Override PartName="/ppt/media/image19.svg" ContentType="image/svg"/>
  <Override PartName="/ppt/media/image1.png" ContentType="image/png"/>
  <Override PartName="/ppt/media/image10.png" ContentType="image/png"/>
  <Override PartName="/ppt/media/image6.png" ContentType="image/png"/>
  <Override PartName="/ppt/media/image3.png" ContentType="image/png"/>
  <Override PartName="/ppt/media/image12.png" ContentType="image/png"/>
  <Override PartName="/ppt/media/image7.svg" ContentType="image/svg"/>
  <Override PartName="/ppt/media/image8.png" ContentType="image/png"/>
  <Override PartName="/ppt/media/image9.svg" ContentType="image/svg"/>
  <Override PartName="/ppt/media/image30.png" ContentType="image/png"/>
  <Override PartName="/ppt/media/image23.svg" ContentType="image/svg"/>
  <Override PartName="/ppt/media/image4.png" ContentType="image/png"/>
  <Override PartName="/ppt/media/image21.svg" ContentType="image/svg"/>
  <Override PartName="/ppt/media/image2.png" ContentType="image/png"/>
  <Override PartName="/ppt/media/image16.png" ContentType="image/png"/>
  <Override PartName="/ppt/media/image17.svg" ContentType="image/svg"/>
  <Override PartName="/ppt/media/image18.png" ContentType="image/png"/>
  <Override PartName="/ppt/media/image20.png" ContentType="image/png"/>
  <Override PartName="/ppt/media/image22.png" ContentType="image/png"/>
  <Override PartName="/ppt/media/image11.svg" ContentType="image/svg"/>
  <Override PartName="/ppt/media/image24.png" ContentType="image/png"/>
  <Override PartName="/ppt/media/image25.png" ContentType="image/png"/>
  <Override PartName="/ppt/media/image13.svg" ContentType="image/svg"/>
  <Override PartName="/ppt/media/image26.png" ContentType="image/png"/>
  <Override PartName="/ppt/media/image27.png" ContentType="image/png"/>
  <Override PartName="/ppt/media/image28.png" ContentType="image/png"/>
  <Override PartName="/ppt/media/image15.svg" ContentType="image/sv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D0F3055-D2C4-4285-A651-FCF31512B29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680B1A-6266-46DD-9A28-5E556DC4E1D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ABC9F4-7BC5-403D-A3A7-B773B30638C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07DAFF-AD2D-4A82-868B-348B6F1EFF2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88D1DC-F546-4739-A37B-30B66514BF8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3362BA-1CC1-434E-9B9D-FDD42E179BB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BC2810-4DA8-4918-8EC9-247A61AA238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1DA083-9F14-4D40-9000-9EC23875A0A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AAC175-175D-49C5-A553-7908CDB6557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DB7CF0-F758-490D-823A-7433C450143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6E01B7-4300-42B1-9B31-0D8A7585D8C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48AE3A-1EC8-4B88-BAD6-092B41983D8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edit the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image" Target="../media/image20.png"/><Relationship Id="rId8" Type="http://schemas.openxmlformats.org/officeDocument/2006/relationships/image" Target="../media/image21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image" Target="../media/image22.png"/><Relationship Id="rId4" Type="http://schemas.openxmlformats.org/officeDocument/2006/relationships/image" Target="../media/image23.sv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image" Target="../media/image22.png"/><Relationship Id="rId8" Type="http://schemas.openxmlformats.org/officeDocument/2006/relationships/image" Target="../media/image23.svg"/><Relationship Id="rId9" Type="http://schemas.openxmlformats.org/officeDocument/2006/relationships/image" Target="../media/image24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6350040" y="782280"/>
            <a:ext cx="68284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15-ci Sessiya: Yekun Layihə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350040" y="1719720"/>
            <a:ext cx="7416000" cy="50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6650"/>
              </a:lnSpc>
              <a:tabLst>
                <a:tab algn="l" pos="0"/>
              </a:tabLst>
            </a:pPr>
            <a:r>
              <a:rPr b="1" lang="en-US" sz="53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Real Dünya İdarəetmə Probleminə Süni İntellekt Həlli üçün Konsepsiyanın Hazırlanması</a:t>
            </a:r>
            <a:endParaRPr b="0" lang="en-US" sz="5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6350040" y="7123320"/>
            <a:ext cx="7416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İdarəetmə və texnologiya sahəsinin gələcək liderləri üçün praktik layihə təqdimatı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5" name="Text 0"/>
          <p:cNvSpPr/>
          <p:nvPr/>
        </p:nvSpPr>
        <p:spPr>
          <a:xfrm>
            <a:off x="863640" y="740880"/>
            <a:ext cx="49082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Dərsin Məqsədləri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863640" y="1678320"/>
            <a:ext cx="7416000" cy="190044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833400" y="1678320"/>
            <a:ext cx="121680" cy="1900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1201680" y="192456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🎯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Əsas Hədəf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1201680" y="2360880"/>
            <a:ext cx="68320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gün ilk tam hüquqlu süni intellekt layihənizi –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problemdən yol xəritəsinə qədər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– yaradacaqsınız. Bu, sadə bir tapşırıq deyil, peşəkar səviyyəli bir iş sənədidir.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863640" y="3795120"/>
            <a:ext cx="7416000" cy="1900440"/>
          </a:xfrm>
          <a:prstGeom prst="roundRect">
            <a:avLst>
              <a:gd name="adj" fmla="val 7697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833400" y="3795120"/>
            <a:ext cx="121680" cy="1900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7"/>
          <p:cNvSpPr/>
          <p:nvPr/>
        </p:nvSpPr>
        <p:spPr>
          <a:xfrm>
            <a:off x="1201680" y="4041360"/>
            <a:ext cx="31302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💡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Nəyi Öyrənəcəksiniz?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1201680" y="4477680"/>
            <a:ext cx="68320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Real idarəetmə problemlərini müəyyənləşdirməyi, süni intellekt həllərini planlaşdırmağı, etik riskləri qiymətləndirməyi və ölçülə bilən nəticələr təyin etməyi praktik olaraq mənimsəyəcəksiniz.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863640" y="5911560"/>
            <a:ext cx="7416000" cy="1576440"/>
          </a:xfrm>
          <a:prstGeom prst="roundRect">
            <a:avLst>
              <a:gd name="adj" fmla="val 9278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833400" y="5911560"/>
            <a:ext cx="121680" cy="157644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1201680" y="6158160"/>
            <a:ext cx="32821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🚀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Nəyə Nail Olacaqsınız?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1201680" y="6594120"/>
            <a:ext cx="68320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Sessiya sonunda rəhbərliyə və ya investorlara təqdim edilməyə hazır, strukturlu bir süni intellekt layihə konsepsiyasına sahib olacaqsınız.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708120" y="2388240"/>
            <a:ext cx="5827320" cy="3452400"/>
          </a:xfrm>
          <a:prstGeom prst="roundRect">
            <a:avLst>
              <a:gd name="adj" fmla="val 938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924120" y="2604240"/>
            <a:ext cx="4214880" cy="49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849"/>
              </a:lnSpc>
              <a:tabLst>
                <a:tab algn="l" pos="0"/>
              </a:tabLst>
            </a:pPr>
            <a:r>
              <a:rPr b="1" lang="en-US" sz="30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Yekun Layihə Nədir?</a:t>
            </a:r>
            <a:endParaRPr b="0" lang="en-US" sz="3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924120" y="3310920"/>
            <a:ext cx="53956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Bu, nəzəri esse deyil. Bu,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rəhbərliyə və ya investorlara təqdim edilə bilən praktik bir konsepsiyadır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real problem, real həll, real nəticə.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924120" y="4476960"/>
            <a:ext cx="53956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Layihəniz kağız üzərindəki fikirdən peşəkar sənədə çevrilməlidir.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6914880" y="260424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Fərq nədir?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5"/>
          <p:cNvSpPr/>
          <p:nvPr/>
        </p:nvSpPr>
        <p:spPr>
          <a:xfrm>
            <a:off x="6914880" y="3153960"/>
            <a:ext cx="6859080" cy="1602000"/>
          </a:xfrm>
          <a:prstGeom prst="roundRect">
            <a:avLst>
              <a:gd name="adj" fmla="val 2022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6914880" y="3153960"/>
            <a:ext cx="3429360" cy="1602000"/>
          </a:xfrm>
          <a:prstGeom prst="roundRect">
            <a:avLst>
              <a:gd name="adj" fmla="val 2022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7130520" y="336960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❌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Nəzəri Esse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7130520" y="3892320"/>
            <a:ext cx="29973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Ümumi fikirlər, mücərrəd anlayışlar, ölçülməz nəticələr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10344240" y="3153960"/>
            <a:ext cx="3429360" cy="160200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10"/>
          <p:cNvSpPr/>
          <p:nvPr/>
        </p:nvSpPr>
        <p:spPr>
          <a:xfrm>
            <a:off x="10344240" y="3153960"/>
            <a:ext cx="30240" cy="160200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10560240" y="3369600"/>
            <a:ext cx="28274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✅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Praktik Konsepsiya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10560240" y="3892320"/>
            <a:ext cx="299772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Konkret problem, texniki plan, etik analiz, ROI hesablaması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6914880" y="4998960"/>
            <a:ext cx="68590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Həqiqi iş dünyasında istifadə edilə bilən bir sənəd yaradırsınız. Bu sizin peşəkar portfelinizin bir hissəsi olacaq.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1195920" y="469440"/>
            <a:ext cx="40701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801"/>
              </a:lnSpc>
              <a:tabLst>
                <a:tab algn="l" pos="0"/>
              </a:tabLst>
            </a:pPr>
            <a:r>
              <a:rPr b="1" lang="en-US" sz="30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Layihənin Strukturu</a:t>
            </a:r>
            <a:endParaRPr b="0" lang="en-US" sz="3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1195920" y="1224360"/>
            <a:ext cx="12238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Yekun layihəniz aşağıdakı </a:t>
            </a:r>
            <a:r>
              <a:rPr b="1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7 əsas bölmədən</a:t>
            </a: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ibarət olmalıdır. Hər bölmə bir-birini tamamlayaraq bütöv bir konsepsiya sənədi yaradır.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0" descr="preencoded.png"/>
          <p:cNvPicPr/>
          <p:nvPr/>
        </p:nvPicPr>
        <p:blipFill>
          <a:blip r:embed="rId1"/>
          <a:stretch/>
        </p:blipFill>
        <p:spPr>
          <a:xfrm>
            <a:off x="1195920" y="1605240"/>
            <a:ext cx="10484640" cy="5851800"/>
          </a:xfrm>
          <a:prstGeom prst="rect">
            <a:avLst/>
          </a:prstGeom>
          <a:ln w="0">
            <a:noFill/>
          </a:ln>
        </p:spPr>
      </p:pic>
      <p:pic>
        <p:nvPicPr>
          <p:cNvPr id="85" name="Image 1" descr="preencoded.png"/>
          <p:cNvPicPr/>
          <p:nvPr/>
        </p:nvPicPr>
        <p:blipFill>
          <a:blip r:embed="rId2"/>
          <a:stretch/>
        </p:blipFill>
        <p:spPr>
          <a:xfrm>
            <a:off x="1195920" y="1605240"/>
            <a:ext cx="10484640" cy="5851800"/>
          </a:xfrm>
          <a:prstGeom prst="rect">
            <a:avLst/>
          </a:prstGeom>
          <a:ln w="0">
            <a:noFill/>
          </a:ln>
        </p:spPr>
      </p:pic>
      <p:sp>
        <p:nvSpPr>
          <p:cNvPr id="86" name="Text 2"/>
          <p:cNvSpPr/>
          <p:nvPr/>
        </p:nvSpPr>
        <p:spPr>
          <a:xfrm>
            <a:off x="1195920" y="7609320"/>
            <a:ext cx="12238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struktur, peşəkar süni intellekt layihə konsepsiyalarında beynəlxalq standartlara uyğundur və rəhbərlik üçün asan oxuna bilən formatı təmin edir.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88" name="Text 0"/>
          <p:cNvSpPr/>
          <p:nvPr/>
        </p:nvSpPr>
        <p:spPr>
          <a:xfrm>
            <a:off x="603360" y="1063440"/>
            <a:ext cx="342864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Problem Seçin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603360" y="1650240"/>
            <a:ext cx="793692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Layihənizin əsasını formalaşdıracaq idarəetmə problemini seçmək ən kritik addımdır. Aşağıdakı nümunələrdən ilhamlanın və ya özünüzün müəyyənləşdirdiyi problemi seçin: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3360" y="215280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91" name="Text 2"/>
          <p:cNvSpPr/>
          <p:nvPr/>
        </p:nvSpPr>
        <p:spPr>
          <a:xfrm>
            <a:off x="603360" y="2586240"/>
            <a:ext cx="30391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Büdcələşdirmənin Aşağı Dəqiqliyi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603360" y="2863800"/>
            <a:ext cx="793692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Maliyyə proqnozlarındakı səhvlər resursların yanlış bölüşdürülməsinə səbəb olur. Süni intellekt proqnozlaşdırma dəqiqliyini əhəmiyyətli dərəcədə artıra bilər.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03360" y="345888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94" name="Text 4"/>
          <p:cNvSpPr/>
          <p:nvPr/>
        </p:nvSpPr>
        <p:spPr>
          <a:xfrm>
            <a:off x="603360" y="3892320"/>
            <a:ext cx="24130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Yüksək İşdənçıxma Nisbəti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603360" y="4169880"/>
            <a:ext cx="793692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Əsas işçilərin işdən çıxması böyük xərclərə gətirib çıxarır. Süni intellekt erkən xəbərdarlıq sistemləri ilə bu riski azaltmaq mümkündür.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03360" y="476496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97" name="Text 6"/>
          <p:cNvSpPr/>
          <p:nvPr/>
        </p:nvSpPr>
        <p:spPr>
          <a:xfrm>
            <a:off x="603360" y="5198400"/>
            <a:ext cx="33912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İnventar İdarəetməsinin Səmərəsizliyi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603360" y="5475960"/>
            <a:ext cx="793692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Həddindən artıq və ya az stok saxlama maliyyə itkisinə yol açır. Prediktiv süni intellekt alətləri stok optimallaşdırmasını avtomatlaşdıra bilər.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Image 4" descr="preencoded.png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603360" y="607104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100" name="Text 8"/>
          <p:cNvSpPr/>
          <p:nvPr/>
        </p:nvSpPr>
        <p:spPr>
          <a:xfrm>
            <a:off x="603360" y="6504120"/>
            <a:ext cx="35402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Böhran Zamanı Yavaş Qərar Qəbuletmə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603360" y="6781680"/>
            <a:ext cx="793692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Kritik anlarda yavaş reaksiya böyük ziyana səbəb ola bilər. Süni intellekt dəstəyi ilə qərar qəbuletmə sürəti və keyfiyyəti artırıla bilər.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812880" y="639000"/>
            <a:ext cx="4617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501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Keyfiyyət Tələbləri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812880" y="1598400"/>
            <a:ext cx="1300464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Güclü bir layihə konsepsiyası yalnız texniki deyil, həm də realist, etik və ölçülə bilən olmalıdır. Layihənizi qiymətləndirərkən bu dörd əsas meyarı nəzərə alın: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812880" y="2404800"/>
            <a:ext cx="6406560" cy="2496960"/>
          </a:xfrm>
          <a:prstGeom prst="roundRect">
            <a:avLst>
              <a:gd name="adj" fmla="val 1220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1015920" y="2608200"/>
            <a:ext cx="609120" cy="609120"/>
          </a:xfrm>
          <a:prstGeom prst="roundRect">
            <a:avLst>
              <a:gd name="adj" fmla="val 1500142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183320" y="27756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7" name="Text 4"/>
          <p:cNvSpPr/>
          <p:nvPr/>
        </p:nvSpPr>
        <p:spPr>
          <a:xfrm>
            <a:off x="1015920" y="3408480"/>
            <a:ext cx="230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Realizm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1015920" y="3811680"/>
            <a:ext cx="6000120" cy="8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Resurslar, büdcə, vaxt və texniki imkanlar nəzərə alınmalıdır. Həyata keçirilə bilməyən ideal bir sistem deyil, mümkün olan bir həll təklif edin.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7410600" y="2404800"/>
            <a:ext cx="6406560" cy="2496960"/>
          </a:xfrm>
          <a:prstGeom prst="roundRect">
            <a:avLst>
              <a:gd name="adj" fmla="val 1220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7613640" y="2608200"/>
            <a:ext cx="609120" cy="609120"/>
          </a:xfrm>
          <a:prstGeom prst="roundRect">
            <a:avLst>
              <a:gd name="adj" fmla="val 1500142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781400" y="27756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2" name="Text 8"/>
          <p:cNvSpPr/>
          <p:nvPr/>
        </p:nvSpPr>
        <p:spPr>
          <a:xfrm>
            <a:off x="7613640" y="3408480"/>
            <a:ext cx="230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Kursla Əlaqə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7613640" y="3811680"/>
            <a:ext cx="600048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Layihəniz kurs boyunca öyrəndiyiniz süni intellekt konsepsiyalarını, metodologiyalarını və çərçivələrini aydın şəkildə tətbiq etməlidir.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812880" y="5093280"/>
            <a:ext cx="6406560" cy="2496960"/>
          </a:xfrm>
          <a:prstGeom prst="roundRect">
            <a:avLst>
              <a:gd name="adj" fmla="val 1220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1015920" y="5296320"/>
            <a:ext cx="609120" cy="609120"/>
          </a:xfrm>
          <a:prstGeom prst="roundRect">
            <a:avLst>
              <a:gd name="adj" fmla="val 1500142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83320" y="54640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7" name="Text 12"/>
          <p:cNvSpPr/>
          <p:nvPr/>
        </p:nvSpPr>
        <p:spPr>
          <a:xfrm>
            <a:off x="1015920" y="6096960"/>
            <a:ext cx="230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 Şüur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1015920" y="6500160"/>
            <a:ext cx="60001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Məxfilik, ayrı-seçkilik, şəffaflıq və hesabatlılıq kimi etik məsələlər layihənizin ayrılmaz hissəsi olmalıdır.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7410600" y="5093280"/>
            <a:ext cx="6406560" cy="2496960"/>
          </a:xfrm>
          <a:prstGeom prst="roundRect">
            <a:avLst>
              <a:gd name="adj" fmla="val 1220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7613640" y="5296320"/>
            <a:ext cx="609120" cy="609120"/>
          </a:xfrm>
          <a:prstGeom prst="roundRect">
            <a:avLst>
              <a:gd name="adj" fmla="val 1500142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781400" y="54640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2" name="Text 16"/>
          <p:cNvSpPr/>
          <p:nvPr/>
        </p:nvSpPr>
        <p:spPr>
          <a:xfrm>
            <a:off x="7613640" y="6096960"/>
            <a:ext cx="230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Ölçülə bilənlik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7613640" y="6500160"/>
            <a:ext cx="6000480" cy="8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Gözlənilən nəticələr konkret KPI-lar və ROI göstəriciləri ilə dəstəklənməlidir. "Daha yaxşı" deyil, "30% daha sürətli" kimi ölçülə bilən hədəflər qoyun.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788760" y="880560"/>
            <a:ext cx="1618560" cy="343800"/>
          </a:xfrm>
          <a:prstGeom prst="roundRect">
            <a:avLst>
              <a:gd name="adj" fmla="val 6872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906840" y="939600"/>
            <a:ext cx="13820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DƏRSDAXILI DƏSTƏK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788760" y="1296720"/>
            <a:ext cx="448092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399"/>
              </a:lnSpc>
              <a:tabLst>
                <a:tab algn="l" pos="0"/>
              </a:tabLst>
            </a:pPr>
            <a:r>
              <a:rPr b="1" lang="en-US" sz="35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Siz Tək Deyilsiniz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788760" y="2036880"/>
            <a:ext cx="6962400" cy="84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sessiya boyunca fərdi və ya kiçik qruplarda (2–3 nəfər) layihəniz üzərində işləyəcəksiniz.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Müəllim məsləhətçi kimi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çıxış edərək hər bir qrupla fərdi olaraq işləyəcək.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788760" y="3186000"/>
            <a:ext cx="6962400" cy="32040"/>
          </a:xfrm>
          <a:prstGeom prst="rect">
            <a:avLst/>
          </a:prstGeom>
          <a:solidFill>
            <a:srgbClr val="e2e6e9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600" bIns="-126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88760" y="3420720"/>
            <a:ext cx="22402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Dəstək Formatı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62560" y="3903120"/>
            <a:ext cx="295560" cy="295560"/>
          </a:xfrm>
          <a:prstGeom prst="rect">
            <a:avLst/>
          </a:prstGeom>
          <a:ln w="0">
            <a:noFill/>
          </a:ln>
        </p:spPr>
      </p:pic>
      <p:sp>
        <p:nvSpPr>
          <p:cNvPr id="131" name="Text 6"/>
          <p:cNvSpPr/>
          <p:nvPr/>
        </p:nvSpPr>
        <p:spPr>
          <a:xfrm>
            <a:off x="1429560" y="3903120"/>
            <a:ext cx="63216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Problem müəyyənləşdirmə: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Seçdiyiniz problemin əhatə dairəsini dəqiqləşdirin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62560" y="4854600"/>
            <a:ext cx="295560" cy="295560"/>
          </a:xfrm>
          <a:prstGeom prst="rect">
            <a:avLst/>
          </a:prstGeom>
          <a:ln w="0">
            <a:noFill/>
          </a:ln>
        </p:spPr>
      </p:pic>
      <p:sp>
        <p:nvSpPr>
          <p:cNvPr id="133" name="Text 7"/>
          <p:cNvSpPr/>
          <p:nvPr/>
        </p:nvSpPr>
        <p:spPr>
          <a:xfrm>
            <a:off x="1429560" y="4854600"/>
            <a:ext cx="632160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Texniki yanaşma: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Hansı süni intellekt növünün uyğun olduğunu birlikdə müəyyənləşdirin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2560" y="5806080"/>
            <a:ext cx="295560" cy="295560"/>
          </a:xfrm>
          <a:prstGeom prst="rect">
            <a:avLst/>
          </a:prstGeom>
          <a:ln w="0">
            <a:noFill/>
          </a:ln>
        </p:spPr>
      </p:pic>
      <p:sp>
        <p:nvSpPr>
          <p:cNvPr id="135" name="Text 8"/>
          <p:cNvSpPr/>
          <p:nvPr/>
        </p:nvSpPr>
        <p:spPr>
          <a:xfrm>
            <a:off x="1429560" y="5806080"/>
            <a:ext cx="632160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Etik analiz: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Potensial riskləri müəyyənləşdirmək üçün müzakirə aparın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62560" y="6757560"/>
            <a:ext cx="295560" cy="295560"/>
          </a:xfrm>
          <a:prstGeom prst="rect">
            <a:avLst/>
          </a:prstGeom>
          <a:ln w="0">
            <a:noFill/>
          </a:ln>
        </p:spPr>
      </p:pic>
      <p:sp>
        <p:nvSpPr>
          <p:cNvPr id="137" name="Text 9"/>
          <p:cNvSpPr/>
          <p:nvPr/>
        </p:nvSpPr>
        <p:spPr>
          <a:xfrm>
            <a:off x="1429560" y="6757560"/>
            <a:ext cx="632160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Yol xəritəsi: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12 aylıq real tətbiq planını formalaşdırın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8098200" y="678240"/>
            <a:ext cx="5892840" cy="6873120"/>
          </a:xfrm>
          <a:prstGeom prst="roundRect">
            <a:avLst>
              <a:gd name="adj" fmla="val 502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11"/>
          <p:cNvSpPr/>
          <p:nvPr/>
        </p:nvSpPr>
        <p:spPr>
          <a:xfrm>
            <a:off x="8295120" y="857880"/>
            <a:ext cx="331812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💬</a:t>
            </a: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 </a:t>
            </a: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Müəllim ilə Məsləhətləşin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8295120" y="1317960"/>
            <a:ext cx="549828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Hər qrupun müəllimlə ən azı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bir fərdi məsləhət sessiyası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keçirməsi tövsiyə olunur.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8295120" y="2045520"/>
            <a:ext cx="549828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Suallarınızı əvvəlcədən hazırlayın — nə qədər konkret olsanız, o qədər faydalı rəy alacaqsınız.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8295120" y="2813400"/>
            <a:ext cx="5498280" cy="1054800"/>
          </a:xfrm>
          <a:prstGeom prst="roundRect">
            <a:avLst>
              <a:gd name="adj" fmla="val 2803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Image 4" descr="preencoded.png"/>
          <p:cNvPicPr/>
          <p:nvPr/>
        </p:nvPicPr>
        <p:blipFill>
          <a:blip r:embed="rId9"/>
          <a:stretch/>
        </p:blipFill>
        <p:spPr>
          <a:xfrm>
            <a:off x="8492400" y="3085560"/>
            <a:ext cx="246240" cy="196920"/>
          </a:xfrm>
          <a:prstGeom prst="rect">
            <a:avLst/>
          </a:prstGeom>
          <a:ln w="0">
            <a:noFill/>
          </a:ln>
        </p:spPr>
      </p:pic>
      <p:sp>
        <p:nvSpPr>
          <p:cNvPr id="144" name="Text 15"/>
          <p:cNvSpPr/>
          <p:nvPr/>
        </p:nvSpPr>
        <p:spPr>
          <a:xfrm>
            <a:off x="8935920" y="3042360"/>
            <a:ext cx="4660560" cy="56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Qrup işi zamanı hər üzv layihənin bir bölməsinə cavabdeh olmalıdır ki, bilik bərabər şəkildə paylaşılsın.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1972800" y="901440"/>
            <a:ext cx="3386880" cy="4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00"/>
              </a:lnSpc>
              <a:tabLst>
                <a:tab algn="l" pos="0"/>
              </a:tabLst>
            </a:pPr>
            <a:r>
              <a:rPr b="1" lang="en-US" sz="2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Sənəd Şablonu</a:t>
            </a:r>
            <a:endParaRPr b="0" lang="en-U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1972800" y="1530360"/>
            <a:ext cx="106844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Layihənizi daha asan strukturlaşdırmaq üçün </a:t>
            </a:r>
            <a:r>
              <a:rPr b="1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Markdown və Word formatında</a:t>
            </a: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hazır şablon təqdim olunur. Bu şablon 4-cü slayddakı bütün bölmələri özündə birləşdirir.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1972800" y="1834920"/>
            <a:ext cx="10684440" cy="893880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524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1987920" y="1850400"/>
            <a:ext cx="595800" cy="863280"/>
          </a:xfrm>
          <a:prstGeom prst="roundRect">
            <a:avLst>
              <a:gd name="adj" fmla="val 68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2174400" y="2142360"/>
            <a:ext cx="2232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2687040" y="1999080"/>
            <a:ext cx="17762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İdarəetmə Problemi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2687040" y="2272680"/>
            <a:ext cx="9806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Problemin təsviri, təsir etdiyi sahə, mövcud həllin çatışmazlıqları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1972800" y="2831760"/>
            <a:ext cx="10684440" cy="893880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524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1987920" y="2847240"/>
            <a:ext cx="595800" cy="863280"/>
          </a:xfrm>
          <a:prstGeom prst="roundRect">
            <a:avLst>
              <a:gd name="adj" fmla="val 68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2174400" y="3139200"/>
            <a:ext cx="2232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2687040" y="2995920"/>
            <a:ext cx="1981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Süni İntellekt Məqsədi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2687040" y="3269520"/>
            <a:ext cx="9806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Həllin viziyası, əhatə dairəsi, uğur meyarları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2"/>
          <p:cNvSpPr/>
          <p:nvPr/>
        </p:nvSpPr>
        <p:spPr>
          <a:xfrm>
            <a:off x="1972800" y="3828960"/>
            <a:ext cx="10684440" cy="893880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524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1987920" y="3844080"/>
            <a:ext cx="595800" cy="863280"/>
          </a:xfrm>
          <a:prstGeom prst="roundRect">
            <a:avLst>
              <a:gd name="adj" fmla="val 68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2174400" y="4136040"/>
            <a:ext cx="2232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2687040" y="3993120"/>
            <a:ext cx="1693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Texniki Yanaşma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2687040" y="4266360"/>
            <a:ext cx="9806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növü, lazımi məlumatlar, alətlər və texnologiyalar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17"/>
          <p:cNvSpPr/>
          <p:nvPr/>
        </p:nvSpPr>
        <p:spPr>
          <a:xfrm>
            <a:off x="1972800" y="4825800"/>
            <a:ext cx="10684440" cy="893880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524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8"/>
          <p:cNvSpPr/>
          <p:nvPr/>
        </p:nvSpPr>
        <p:spPr>
          <a:xfrm>
            <a:off x="1987920" y="4840920"/>
            <a:ext cx="595800" cy="863280"/>
          </a:xfrm>
          <a:prstGeom prst="roundRect">
            <a:avLst>
              <a:gd name="adj" fmla="val 68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9"/>
          <p:cNvSpPr/>
          <p:nvPr/>
        </p:nvSpPr>
        <p:spPr>
          <a:xfrm>
            <a:off x="2174400" y="5132880"/>
            <a:ext cx="2232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0"/>
          <p:cNvSpPr/>
          <p:nvPr/>
        </p:nvSpPr>
        <p:spPr>
          <a:xfrm>
            <a:off x="2687040" y="4989960"/>
            <a:ext cx="19580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 və Hüquqi Risklər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1"/>
          <p:cNvSpPr/>
          <p:nvPr/>
        </p:nvSpPr>
        <p:spPr>
          <a:xfrm>
            <a:off x="2687040" y="5263200"/>
            <a:ext cx="9806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Məxfilik, ayrı-seçkilik, tənzimləmə uyğunluğu, azaldıcı tədbirlər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2"/>
          <p:cNvSpPr/>
          <p:nvPr/>
        </p:nvSpPr>
        <p:spPr>
          <a:xfrm>
            <a:off x="1972800" y="5822640"/>
            <a:ext cx="10684440" cy="893880"/>
          </a:xfrm>
          <a:prstGeom prst="roundRect">
            <a:avLst>
              <a:gd name="adj" fmla="val 2500"/>
            </a:avLst>
          </a:prstGeom>
          <a:solidFill>
            <a:srgbClr val="111213"/>
          </a:solidFill>
          <a:ln w="1524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3"/>
          <p:cNvSpPr/>
          <p:nvPr/>
        </p:nvSpPr>
        <p:spPr>
          <a:xfrm>
            <a:off x="1987920" y="5837760"/>
            <a:ext cx="595800" cy="863280"/>
          </a:xfrm>
          <a:prstGeom prst="roundRect">
            <a:avLst>
              <a:gd name="adj" fmla="val 68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24"/>
          <p:cNvSpPr/>
          <p:nvPr/>
        </p:nvSpPr>
        <p:spPr>
          <a:xfrm>
            <a:off x="2174400" y="6130080"/>
            <a:ext cx="22320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5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5"/>
          <p:cNvSpPr/>
          <p:nvPr/>
        </p:nvSpPr>
        <p:spPr>
          <a:xfrm>
            <a:off x="2687040" y="5986800"/>
            <a:ext cx="16956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Yol Xəritəsi və Təsir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6"/>
          <p:cNvSpPr/>
          <p:nvPr/>
        </p:nvSpPr>
        <p:spPr>
          <a:xfrm>
            <a:off x="2687040" y="6260040"/>
            <a:ext cx="9806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0–12 aylıq fəaliyyət planı, KPI-lar, gözlənilən ROI göstəriciləri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7"/>
          <p:cNvSpPr/>
          <p:nvPr/>
        </p:nvSpPr>
        <p:spPr>
          <a:xfrm>
            <a:off x="1972800" y="6832440"/>
            <a:ext cx="10684440" cy="495360"/>
          </a:xfrm>
          <a:prstGeom prst="roundRect">
            <a:avLst>
              <a:gd name="adj" fmla="val 4509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2121840" y="7025400"/>
            <a:ext cx="185760" cy="148680"/>
          </a:xfrm>
          <a:prstGeom prst="rect">
            <a:avLst/>
          </a:prstGeom>
          <a:ln w="0">
            <a:noFill/>
          </a:ln>
        </p:spPr>
      </p:pic>
      <p:sp>
        <p:nvSpPr>
          <p:cNvPr id="174" name="Text 28"/>
          <p:cNvSpPr/>
          <p:nvPr/>
        </p:nvSpPr>
        <p:spPr>
          <a:xfrm>
            <a:off x="2457000" y="6972480"/>
            <a:ext cx="100512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Şablon məcburi formatı deyil — lakin bütün bölmələrin əhatə olunduğuna əmin olmağı asanlaşdırır. Şablonu ehtiyaclarınıza uyğun uyğunlaşdıra bilərsiniz.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 0"/>
          <p:cNvSpPr/>
          <p:nvPr/>
        </p:nvSpPr>
        <p:spPr>
          <a:xfrm>
            <a:off x="863640" y="1198800"/>
            <a:ext cx="67370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Qiymətləndirmə Meyarları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863640" y="224424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Layihəniz aşağıdakı beş meyar əsasında qiymətləndiriləcək. Ən böyük çəkini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texniki və təşkilati etibarlılıq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tutur — bu, layihənizin həyata keçirilə bilən olmasının nə qədər əhəmiyyətli olduğunu göstərir.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2"/>
          <p:cNvSpPr/>
          <p:nvPr/>
        </p:nvSpPr>
        <p:spPr>
          <a:xfrm>
            <a:off x="863640" y="3242880"/>
            <a:ext cx="3379680" cy="269640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863640" y="3242880"/>
            <a:ext cx="675720" cy="269640"/>
          </a:xfrm>
          <a:prstGeom prst="roundRect">
            <a:avLst>
              <a:gd name="adj" fmla="val 120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4"/>
          <p:cNvSpPr/>
          <p:nvPr/>
        </p:nvSpPr>
        <p:spPr>
          <a:xfrm>
            <a:off x="4405680" y="3242880"/>
            <a:ext cx="5785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20%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863640" y="3782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Problemin Təhlili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863640" y="4218840"/>
            <a:ext cx="4120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Problemin dərinliyi, əhatə dairəsi və idarəetmə konteksti ilə əlaqəsi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5254560" y="3242880"/>
            <a:ext cx="3378960" cy="269640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5254560" y="3242880"/>
            <a:ext cx="1013400" cy="269640"/>
          </a:xfrm>
          <a:prstGeom prst="roundRect">
            <a:avLst>
              <a:gd name="adj" fmla="val 120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9"/>
          <p:cNvSpPr/>
          <p:nvPr/>
        </p:nvSpPr>
        <p:spPr>
          <a:xfrm>
            <a:off x="8796240" y="3242880"/>
            <a:ext cx="5792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30%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5254560" y="3782880"/>
            <a:ext cx="37126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Texniki və Təşkilati Etibarlılıq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5254560" y="4218840"/>
            <a:ext cx="4120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Həllin texniki reallığı, resurs uyğunluğu və təşkilati hazırlıq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2"/>
          <p:cNvSpPr/>
          <p:nvPr/>
        </p:nvSpPr>
        <p:spPr>
          <a:xfrm>
            <a:off x="9645480" y="3242880"/>
            <a:ext cx="3379680" cy="269640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9645480" y="3242880"/>
            <a:ext cx="675720" cy="269640"/>
          </a:xfrm>
          <a:prstGeom prst="roundRect">
            <a:avLst>
              <a:gd name="adj" fmla="val 120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13187520" y="3242880"/>
            <a:ext cx="5785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20%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9645480" y="3782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 Düşüncə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6"/>
          <p:cNvSpPr/>
          <p:nvPr/>
        </p:nvSpPr>
        <p:spPr>
          <a:xfrm>
            <a:off x="9645480" y="4218840"/>
            <a:ext cx="4120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Risklərin müəyyənləşdirilməsi, azaldılması strategiyası və etik çərçivənin tətbiqi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7"/>
          <p:cNvSpPr/>
          <p:nvPr/>
        </p:nvSpPr>
        <p:spPr>
          <a:xfrm>
            <a:off x="863640" y="5406480"/>
            <a:ext cx="3379680" cy="269640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18"/>
          <p:cNvSpPr/>
          <p:nvPr/>
        </p:nvSpPr>
        <p:spPr>
          <a:xfrm>
            <a:off x="863640" y="5406480"/>
            <a:ext cx="675720" cy="269640"/>
          </a:xfrm>
          <a:prstGeom prst="roundRect">
            <a:avLst>
              <a:gd name="adj" fmla="val 120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9"/>
          <p:cNvSpPr/>
          <p:nvPr/>
        </p:nvSpPr>
        <p:spPr>
          <a:xfrm>
            <a:off x="4405680" y="5406480"/>
            <a:ext cx="57852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20%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0"/>
          <p:cNvSpPr/>
          <p:nvPr/>
        </p:nvSpPr>
        <p:spPr>
          <a:xfrm>
            <a:off x="863640" y="5946480"/>
            <a:ext cx="25693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Aydınlıq və Struktur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1"/>
          <p:cNvSpPr/>
          <p:nvPr/>
        </p:nvSpPr>
        <p:spPr>
          <a:xfrm>
            <a:off x="863640" y="6382440"/>
            <a:ext cx="4120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Sənədin oxunuşu, məntiqli axışı və peşəkar təqdimatı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2"/>
          <p:cNvSpPr/>
          <p:nvPr/>
        </p:nvSpPr>
        <p:spPr>
          <a:xfrm>
            <a:off x="5254560" y="5406480"/>
            <a:ext cx="3432960" cy="269640"/>
          </a:xfrm>
          <a:prstGeom prst="roundRect">
            <a:avLst>
              <a:gd name="adj" fmla="val 12003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23"/>
          <p:cNvSpPr/>
          <p:nvPr/>
        </p:nvSpPr>
        <p:spPr>
          <a:xfrm>
            <a:off x="5254560" y="5406480"/>
            <a:ext cx="342720" cy="269640"/>
          </a:xfrm>
          <a:prstGeom prst="roundRect">
            <a:avLst>
              <a:gd name="adj" fmla="val 12003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4"/>
          <p:cNvSpPr/>
          <p:nvPr/>
        </p:nvSpPr>
        <p:spPr>
          <a:xfrm>
            <a:off x="8849880" y="5406480"/>
            <a:ext cx="5252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10%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5"/>
          <p:cNvSpPr/>
          <p:nvPr/>
        </p:nvSpPr>
        <p:spPr>
          <a:xfrm>
            <a:off x="5254560" y="5946480"/>
            <a:ext cx="37976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Texniki-İqtisadi Əsaslandırma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6"/>
          <p:cNvSpPr/>
          <p:nvPr/>
        </p:nvSpPr>
        <p:spPr>
          <a:xfrm>
            <a:off x="5254560" y="6382440"/>
            <a:ext cx="4120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ROI hesablaması, xərc-fayda analizi və maliyyə əsaslandırması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614880" y="716760"/>
            <a:ext cx="6606360" cy="6795720"/>
          </a:xfrm>
          <a:prstGeom prst="roundRect">
            <a:avLst>
              <a:gd name="adj" fmla="val 426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802440" y="900000"/>
            <a:ext cx="1323720" cy="337320"/>
          </a:xfrm>
          <a:prstGeom prst="roundRect">
            <a:avLst>
              <a:gd name="adj" fmla="val 6661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2"/>
          <p:cNvSpPr/>
          <p:nvPr/>
        </p:nvSpPr>
        <p:spPr>
          <a:xfrm>
            <a:off x="922320" y="963720"/>
            <a:ext cx="10836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65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TƏQDIMAT GÜNÜ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802440" y="1302840"/>
            <a:ext cx="340884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351"/>
              </a:lnSpc>
              <a:tabLst>
                <a:tab algn="l" pos="0"/>
              </a:tabLst>
            </a:pPr>
            <a:r>
              <a:rPr b="1" lang="en-US" sz="2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Layihə Təqdimatı</a:t>
            </a:r>
            <a:endParaRPr b="0" lang="en-US" sz="2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802440" y="1891440"/>
            <a:ext cx="62312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Hər bir iştirakçı öz layihəsini aşağıdakı formatda auditoriyaya təqdim edir: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5"/>
          <p:cNvSpPr/>
          <p:nvPr/>
        </p:nvSpPr>
        <p:spPr>
          <a:xfrm>
            <a:off x="802440" y="2337120"/>
            <a:ext cx="3034080" cy="1073880"/>
          </a:xfrm>
          <a:prstGeom prst="roundRect">
            <a:avLst>
              <a:gd name="adj" fmla="val 26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989640" y="2524680"/>
            <a:ext cx="2130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🎤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5 dəqiqə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7"/>
          <p:cNvSpPr/>
          <p:nvPr/>
        </p:nvSpPr>
        <p:spPr>
          <a:xfrm>
            <a:off x="989640" y="2961360"/>
            <a:ext cx="265932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Layihənizin strukturlu təqdimatı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8"/>
          <p:cNvSpPr/>
          <p:nvPr/>
        </p:nvSpPr>
        <p:spPr>
          <a:xfrm>
            <a:off x="3999600" y="2337120"/>
            <a:ext cx="3034080" cy="1073880"/>
          </a:xfrm>
          <a:prstGeom prst="roundRect">
            <a:avLst>
              <a:gd name="adj" fmla="val 26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4186800" y="2524680"/>
            <a:ext cx="2130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❓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6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 dəqiqə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4186800" y="2961360"/>
            <a:ext cx="265932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Sual-cavab və müzakirə sessiyası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11"/>
          <p:cNvSpPr/>
          <p:nvPr/>
        </p:nvSpPr>
        <p:spPr>
          <a:xfrm>
            <a:off x="7551360" y="879480"/>
            <a:ext cx="30816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Təqdimatınızda Əhatə Edin: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2"/>
          <p:cNvSpPr/>
          <p:nvPr/>
        </p:nvSpPr>
        <p:spPr>
          <a:xfrm>
            <a:off x="7551360" y="1329120"/>
            <a:ext cx="1872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13"/>
          <p:cNvSpPr/>
          <p:nvPr/>
        </p:nvSpPr>
        <p:spPr>
          <a:xfrm>
            <a:off x="7551360" y="1624680"/>
            <a:ext cx="6336000" cy="22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7551360" y="1764000"/>
            <a:ext cx="633600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Problem: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Nə problemi həll edirsiniz və bu niyə vacibdir?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5"/>
          <p:cNvSpPr/>
          <p:nvPr/>
        </p:nvSpPr>
        <p:spPr>
          <a:xfrm>
            <a:off x="7551360" y="2329920"/>
            <a:ext cx="1872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6"/>
          <p:cNvSpPr/>
          <p:nvPr/>
        </p:nvSpPr>
        <p:spPr>
          <a:xfrm>
            <a:off x="7551360" y="2625840"/>
            <a:ext cx="6336000" cy="22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7"/>
          <p:cNvSpPr/>
          <p:nvPr/>
        </p:nvSpPr>
        <p:spPr>
          <a:xfrm>
            <a:off x="7551360" y="2765160"/>
            <a:ext cx="633600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Həll: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Hansı süni intellekt yanaşmasını seçdiniz və niyə?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8"/>
          <p:cNvSpPr/>
          <p:nvPr/>
        </p:nvSpPr>
        <p:spPr>
          <a:xfrm>
            <a:off x="7551360" y="3331080"/>
            <a:ext cx="1872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9"/>
          <p:cNvSpPr/>
          <p:nvPr/>
        </p:nvSpPr>
        <p:spPr>
          <a:xfrm>
            <a:off x="7551360" y="3626640"/>
            <a:ext cx="6336000" cy="22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20"/>
          <p:cNvSpPr/>
          <p:nvPr/>
        </p:nvSpPr>
        <p:spPr>
          <a:xfrm>
            <a:off x="7551360" y="3766320"/>
            <a:ext cx="633600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Risklər: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Hansı etik və hüquqi riskləri müəyyənləşdirdiniz?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21"/>
          <p:cNvSpPr/>
          <p:nvPr/>
        </p:nvSpPr>
        <p:spPr>
          <a:xfrm>
            <a:off x="7551360" y="4332240"/>
            <a:ext cx="1872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04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22"/>
          <p:cNvSpPr/>
          <p:nvPr/>
        </p:nvSpPr>
        <p:spPr>
          <a:xfrm>
            <a:off x="7551360" y="4627800"/>
            <a:ext cx="6336000" cy="22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3"/>
          <p:cNvSpPr/>
          <p:nvPr/>
        </p:nvSpPr>
        <p:spPr>
          <a:xfrm>
            <a:off x="7551360" y="4767120"/>
            <a:ext cx="633600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Plan: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12 aylıq yol xəritəniz necə görünür?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24"/>
          <p:cNvSpPr/>
          <p:nvPr/>
        </p:nvSpPr>
        <p:spPr>
          <a:xfrm>
            <a:off x="7551360" y="5333400"/>
            <a:ext cx="187200" cy="2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05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5"/>
          <p:cNvSpPr/>
          <p:nvPr/>
        </p:nvSpPr>
        <p:spPr>
          <a:xfrm>
            <a:off x="7551360" y="5628960"/>
            <a:ext cx="6336000" cy="22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6"/>
          <p:cNvSpPr/>
          <p:nvPr/>
        </p:nvSpPr>
        <p:spPr>
          <a:xfrm>
            <a:off x="7551360" y="5768280"/>
            <a:ext cx="633600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Nəticə:</a:t>
            </a:r>
            <a:r>
              <a:rPr b="0" lang="en-US" sz="14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Gözlənilən KPI və ROI göstəriciləriniz nələrdir?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7"/>
          <p:cNvSpPr/>
          <p:nvPr/>
        </p:nvSpPr>
        <p:spPr>
          <a:xfrm>
            <a:off x="7551360" y="6354720"/>
            <a:ext cx="6336000" cy="974520"/>
          </a:xfrm>
          <a:prstGeom prst="roundRect">
            <a:avLst>
              <a:gd name="adj" fmla="val 2885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0" name="Image 0" descr="preencoded.png"/>
          <p:cNvPicPr/>
          <p:nvPr/>
        </p:nvPicPr>
        <p:blipFill>
          <a:blip r:embed="rId1"/>
          <a:stretch/>
        </p:blipFill>
        <p:spPr>
          <a:xfrm>
            <a:off x="7738920" y="6607800"/>
            <a:ext cx="234000" cy="187200"/>
          </a:xfrm>
          <a:prstGeom prst="rect">
            <a:avLst/>
          </a:prstGeom>
          <a:ln w="0">
            <a:noFill/>
          </a:ln>
        </p:spPr>
      </p:pic>
      <p:sp>
        <p:nvSpPr>
          <p:cNvPr id="231" name="Text 28"/>
          <p:cNvSpPr/>
          <p:nvPr/>
        </p:nvSpPr>
        <p:spPr>
          <a:xfrm>
            <a:off x="8160840" y="6564240"/>
            <a:ext cx="5539680" cy="5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Vizual materiallar (slaydlar, diaqramlar) təqdimatı gücləndirir — bunları hazırlamağı unutmayın.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 0"/>
          <p:cNvSpPr/>
          <p:nvPr/>
        </p:nvSpPr>
        <p:spPr>
          <a:xfrm>
            <a:off x="863640" y="1276920"/>
            <a:ext cx="49082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Növbəti Addımlar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"/>
          <p:cNvSpPr/>
          <p:nvPr/>
        </p:nvSpPr>
        <p:spPr>
          <a:xfrm>
            <a:off x="863640" y="2322360"/>
            <a:ext cx="1290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sessiya ilə kursun rəsmi hissəsi tamamlanır. Lakin ən yaxşı layihələr üçün yol buradan davam edir: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Image 0" descr="preencoded.png"/>
          <p:cNvPicPr/>
          <p:nvPr/>
        </p:nvPicPr>
        <p:blipFill>
          <a:blip r:embed="rId1"/>
          <a:stretch/>
        </p:blipFill>
        <p:spPr>
          <a:xfrm>
            <a:off x="863640" y="2889000"/>
            <a:ext cx="906120" cy="906120"/>
          </a:xfrm>
          <a:prstGeom prst="rect">
            <a:avLst/>
          </a:prstGeom>
          <a:ln w="0">
            <a:noFill/>
          </a:ln>
        </p:spPr>
      </p:pic>
      <p:sp>
        <p:nvSpPr>
          <p:cNvPr id="235" name="Text 2"/>
          <p:cNvSpPr/>
          <p:nvPr/>
        </p:nvSpPr>
        <p:spPr>
          <a:xfrm>
            <a:off x="2040120" y="2889000"/>
            <a:ext cx="294408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🚀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Pilot Tətbiq Tövsiyəsi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2040120" y="3632040"/>
            <a:ext cx="2944080" cy="22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Ən güclü layihələr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pilot tətbiq üçün tövsiyə edilə bilər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 Bu, layihənizin gerçəkliyə çevrilməsinin ilk addımıdır. Tərəfdaş təşkilatlarla əməkdaşlıq imkanları araşdırılacaq.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Image 1" descr="preencoded.png"/>
          <p:cNvPicPr/>
          <p:nvPr/>
        </p:nvPicPr>
        <p:blipFill>
          <a:blip r:embed="rId2"/>
          <a:stretch/>
        </p:blipFill>
        <p:spPr>
          <a:xfrm>
            <a:off x="5254560" y="2889000"/>
            <a:ext cx="906120" cy="906120"/>
          </a:xfrm>
          <a:prstGeom prst="rect">
            <a:avLst/>
          </a:prstGeom>
          <a:ln w="0">
            <a:noFill/>
          </a:ln>
        </p:spPr>
      </p:pic>
      <p:sp>
        <p:nvSpPr>
          <p:cNvPr id="238" name="Text 4"/>
          <p:cNvSpPr/>
          <p:nvPr/>
        </p:nvSpPr>
        <p:spPr>
          <a:xfrm>
            <a:off x="6431040" y="2889000"/>
            <a:ext cx="2944080" cy="91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📚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Magistr Dissertasiyası Üçün Əsas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5"/>
          <p:cNvSpPr/>
          <p:nvPr/>
        </p:nvSpPr>
        <p:spPr>
          <a:xfrm>
            <a:off x="6431040" y="3938760"/>
            <a:ext cx="2944080" cy="19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Layihəniz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magistr dissertasiyasının əsasına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çevrilə bilər. Kurs boyunca apardığınız araşdırma, texniki analiz və etik çərçivə akademik işin güclü bünövrəsini təşkil edir.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Image 2" descr="preencoded.png"/>
          <p:cNvPicPr/>
          <p:nvPr/>
        </p:nvPicPr>
        <p:blipFill>
          <a:blip r:embed="rId3"/>
          <a:stretch/>
        </p:blipFill>
        <p:spPr>
          <a:xfrm>
            <a:off x="9645480" y="2889000"/>
            <a:ext cx="906120" cy="906120"/>
          </a:xfrm>
          <a:prstGeom prst="rect">
            <a:avLst/>
          </a:prstGeom>
          <a:ln w="0">
            <a:noFill/>
          </a:ln>
        </p:spPr>
      </p:pic>
      <p:sp>
        <p:nvSpPr>
          <p:cNvPr id="241" name="Text 6"/>
          <p:cNvSpPr/>
          <p:nvPr/>
        </p:nvSpPr>
        <p:spPr>
          <a:xfrm>
            <a:off x="10821960" y="2889000"/>
            <a:ext cx="25916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💼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Peşəkar Portfolio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10821960" y="3325320"/>
            <a:ext cx="2944080" cy="22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konsepsiya sənədi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peşəkar portfelinizin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dəyərli bir hissəsinə çevrilir. İdarəetmə, texnologiya və süni intellekt sahəsində karyeranızda müsahibələrdə və layihə müzakirələrində istifadə edin.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1187640" y="6385680"/>
            <a:ext cx="12578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Uğurlar! Əldə etdiyiniz bilik, bacarıq və hazırladığınız konsepsiya — bu, real dünyanı dəyişdirə biləcəyinizin sübutudur.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863640" y="6142680"/>
            <a:ext cx="30240" cy="809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>
            <a:off x="5029200" y="84600"/>
            <a:ext cx="342900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Test Tapşırığı L15 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3200400" y="725040"/>
            <a:ext cx="7315200" cy="731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2026-03-27T15:15:59Z</dcterms:created>
  <dc:creator/>
  <dc:description/>
  <dc:language>en-US</dc:language>
  <cp:lastModifiedBy/>
  <dcterms:modified xsi:type="dcterms:W3CDTF">2026-03-27T19:27:06Z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