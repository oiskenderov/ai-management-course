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3.svg" ContentType="image/svg"/>
  <Override PartName="/ppt/media/image12.png" ContentType="image/png"/>
  <Override PartName="/ppt/media/image3.png" ContentType="image/png"/>
  <Override PartName="/ppt/media/image11.svg" ContentType="image/svg"/>
  <Override PartName="/ppt/media/image9.png" ContentType="image/png"/>
  <Override PartName="/ppt/media/image8.svg" ContentType="image/svg"/>
  <Override PartName="/ppt/media/image7.png" ContentType="image/png"/>
  <Override PartName="/ppt/media/image16.png" ContentType="image/png"/>
  <Override PartName="/ppt/media/image10.png" ContentType="image/png"/>
  <Override PartName="/ppt/media/image1.png" ContentType="image/png"/>
  <Override PartName="/ppt/media/image6.png" ContentType="image/png"/>
  <Override PartName="/ppt/media/image25.png" ContentType="image/png"/>
  <Override PartName="/ppt/media/image24.png" ContentType="image/png"/>
  <Override PartName="/ppt/media/image23.png" ContentType="image/png"/>
  <Override PartName="/ppt/media/image21.png" ContentType="image/png"/>
  <Override PartName="/ppt/media/image19.png" ContentType="image/png"/>
  <Override PartName="/ppt/media/image22.svg" ContentType="image/svg"/>
  <Override PartName="/ppt/media/image2.png" ContentType="image/png"/>
  <Override PartName="/ppt/media/image20.svg" ContentType="image/svg"/>
  <Override PartName="/ppt/media/image18.svg" ContentType="image/svg"/>
  <Override PartName="/ppt/media/image4.png" ContentType="image/png"/>
  <Override PartName="/ppt/media/image17.png" ContentType="image/png"/>
  <Override PartName="/ppt/media/image15.svg" ContentType="image/svg"/>
  <Override PartName="/ppt/media/image5.png" ContentType="image/png"/>
  <Override PartName="/ppt/media/image14.png" ContentType="image/png"/>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Lst>
  <p:notesMasterIdLst>
    <p:notesMasterId r:id="rId14"/>
  </p:notes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notesMaster" Target="notesMasters/notesMaster1.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45"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6"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47"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8"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9"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ADDCF383-B7A3-49A4-B3E3-D7A2D5902AF8}"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PlaceHolder 1"/>
          <p:cNvSpPr>
            <a:spLocks noGrp="1"/>
          </p:cNvSpPr>
          <p:nvPr>
            <p:ph type="sldImg"/>
          </p:nvPr>
        </p:nvSpPr>
        <p:spPr>
          <a:xfrm>
            <a:off x="0" y="0"/>
            <a:ext cx="0" cy="0"/>
          </a:xfrm>
          <a:prstGeom prst="rect">
            <a:avLst/>
          </a:prstGeom>
          <a:ln w="0">
            <a:noFill/>
          </a:ln>
        </p:spPr>
      </p:sp>
      <p:sp>
        <p:nvSpPr>
          <p:cNvPr id="32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329" name="PlaceHolder 3"/>
          <p:cNvSpPr>
            <a:spLocks noGrp="1"/>
          </p:cNvSpPr>
          <p:nvPr>
            <p:ph type="sldNum" idx="4"/>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pc="-1" strike="noStrike">
                <a:solidFill>
                  <a:schemeClr val="dk1"/>
                </a:solidFill>
                <a:latin typeface="+mn-lt"/>
                <a:ea typeface="+mn-ea"/>
              </a:defRPr>
            </a:lvl1pPr>
          </a:lstStyle>
          <a:p>
            <a:pPr indent="0" algn="r" defTabSz="914400">
              <a:lnSpc>
                <a:spcPct val="100000"/>
              </a:lnSpc>
              <a:buNone/>
              <a:tabLst>
                <a:tab algn="l" pos="0"/>
              </a:tabLst>
            </a:pPr>
            <a:fld id="{B9B543E4-850A-42EA-AF14-4955362CF31E}"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sldImg"/>
          </p:nvPr>
        </p:nvSpPr>
        <p:spPr>
          <a:xfrm>
            <a:off x="0" y="0"/>
            <a:ext cx="0" cy="0"/>
          </a:xfrm>
          <a:prstGeom prst="rect">
            <a:avLst/>
          </a:prstGeom>
          <a:ln w="0">
            <a:noFill/>
          </a:ln>
        </p:spPr>
      </p:sp>
      <p:sp>
        <p:nvSpPr>
          <p:cNvPr id="33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332" name="PlaceHolder 3"/>
          <p:cNvSpPr>
            <a:spLocks noGrp="1"/>
          </p:cNvSpPr>
          <p:nvPr>
            <p:ph type="sldNum" idx="5"/>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pc="-1" strike="noStrike">
                <a:solidFill>
                  <a:schemeClr val="dk1"/>
                </a:solidFill>
                <a:latin typeface="+mn-lt"/>
                <a:ea typeface="+mn-ea"/>
              </a:defRPr>
            </a:lvl1pPr>
          </a:lstStyle>
          <a:p>
            <a:pPr indent="0" algn="r" defTabSz="914400">
              <a:lnSpc>
                <a:spcPct val="100000"/>
              </a:lnSpc>
              <a:buNone/>
              <a:tabLst>
                <a:tab algn="l" pos="0"/>
              </a:tabLst>
            </a:pPr>
            <a:fld id="{A00EF454-7C78-46B8-8D5C-4948352E7B7D}"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PlaceHolder 1"/>
          <p:cNvSpPr>
            <a:spLocks noGrp="1"/>
          </p:cNvSpPr>
          <p:nvPr>
            <p:ph type="sldImg"/>
          </p:nvPr>
        </p:nvSpPr>
        <p:spPr>
          <a:xfrm>
            <a:off x="0" y="0"/>
            <a:ext cx="0" cy="0"/>
          </a:xfrm>
          <a:prstGeom prst="rect">
            <a:avLst/>
          </a:prstGeom>
          <a:ln w="0">
            <a:noFill/>
          </a:ln>
        </p:spPr>
      </p:sp>
      <p:sp>
        <p:nvSpPr>
          <p:cNvPr id="33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335" name="PlaceHolder 3"/>
          <p:cNvSpPr>
            <a:spLocks noGrp="1"/>
          </p:cNvSpPr>
          <p:nvPr>
            <p:ph type="sldNum" idx="6"/>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pc="-1" strike="noStrike">
                <a:solidFill>
                  <a:schemeClr val="dk1"/>
                </a:solidFill>
                <a:latin typeface="+mn-lt"/>
                <a:ea typeface="+mn-ea"/>
              </a:defRPr>
            </a:lvl1pPr>
          </a:lstStyle>
          <a:p>
            <a:pPr indent="0" algn="r" defTabSz="914400">
              <a:lnSpc>
                <a:spcPct val="100000"/>
              </a:lnSpc>
              <a:buNone/>
              <a:tabLst>
                <a:tab algn="l" pos="0"/>
              </a:tabLst>
            </a:pPr>
            <a:fld id="{316BF401-4582-4E16-8652-136E12067050}"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sldImg"/>
          </p:nvPr>
        </p:nvSpPr>
        <p:spPr>
          <a:xfrm>
            <a:off x="0" y="0"/>
            <a:ext cx="0" cy="0"/>
          </a:xfrm>
          <a:prstGeom prst="rect">
            <a:avLst/>
          </a:prstGeom>
          <a:ln w="0">
            <a:noFill/>
          </a:ln>
        </p:spPr>
      </p:sp>
      <p:sp>
        <p:nvSpPr>
          <p:cNvPr id="33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338" name="PlaceHolder 3"/>
          <p:cNvSpPr>
            <a:spLocks noGrp="1"/>
          </p:cNvSpPr>
          <p:nvPr>
            <p:ph type="sldNum" idx="7"/>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pc="-1" strike="noStrike">
                <a:solidFill>
                  <a:schemeClr val="dk1"/>
                </a:solidFill>
                <a:latin typeface="+mn-lt"/>
                <a:ea typeface="+mn-ea"/>
              </a:defRPr>
            </a:lvl1pPr>
          </a:lstStyle>
          <a:p>
            <a:pPr indent="0" algn="r" defTabSz="914400">
              <a:lnSpc>
                <a:spcPct val="100000"/>
              </a:lnSpc>
              <a:buNone/>
              <a:tabLst>
                <a:tab algn="l" pos="0"/>
              </a:tabLst>
            </a:pPr>
            <a:fld id="{EA1D8027-7C51-431C-BA25-51673137DAA6}"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sldImg"/>
          </p:nvPr>
        </p:nvSpPr>
        <p:spPr>
          <a:xfrm>
            <a:off x="0" y="0"/>
            <a:ext cx="0" cy="0"/>
          </a:xfrm>
          <a:prstGeom prst="rect">
            <a:avLst/>
          </a:prstGeom>
          <a:ln w="0">
            <a:noFill/>
          </a:ln>
        </p:spPr>
      </p:sp>
      <p:sp>
        <p:nvSpPr>
          <p:cNvPr id="34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341" name="PlaceHolder 3"/>
          <p:cNvSpPr>
            <a:spLocks noGrp="1"/>
          </p:cNvSpPr>
          <p:nvPr>
            <p:ph type="sldNum" idx="8"/>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pc="-1" strike="noStrike">
                <a:solidFill>
                  <a:schemeClr val="dk1"/>
                </a:solidFill>
                <a:latin typeface="+mn-lt"/>
                <a:ea typeface="+mn-ea"/>
              </a:defRPr>
            </a:lvl1pPr>
          </a:lstStyle>
          <a:p>
            <a:pPr indent="0" algn="r" defTabSz="914400">
              <a:lnSpc>
                <a:spcPct val="100000"/>
              </a:lnSpc>
              <a:buNone/>
              <a:tabLst>
                <a:tab algn="l" pos="0"/>
              </a:tabLst>
            </a:pPr>
            <a:fld id="{CE87EA02-B292-46BA-B9BC-A37327201984}"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sldImg"/>
          </p:nvPr>
        </p:nvSpPr>
        <p:spPr>
          <a:xfrm>
            <a:off x="0" y="0"/>
            <a:ext cx="0" cy="0"/>
          </a:xfrm>
          <a:prstGeom prst="rect">
            <a:avLst/>
          </a:prstGeom>
          <a:ln w="0">
            <a:noFill/>
          </a:ln>
        </p:spPr>
      </p:sp>
      <p:sp>
        <p:nvSpPr>
          <p:cNvPr id="34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344" name="PlaceHolder 3"/>
          <p:cNvSpPr>
            <a:spLocks noGrp="1"/>
          </p:cNvSpPr>
          <p:nvPr>
            <p:ph type="sldNum" idx="9"/>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pc="-1" strike="noStrike">
                <a:solidFill>
                  <a:schemeClr val="dk1"/>
                </a:solidFill>
                <a:latin typeface="+mn-lt"/>
                <a:ea typeface="+mn-ea"/>
              </a:defRPr>
            </a:lvl1pPr>
          </a:lstStyle>
          <a:p>
            <a:pPr indent="0" algn="r" defTabSz="914400">
              <a:lnSpc>
                <a:spcPct val="100000"/>
              </a:lnSpc>
              <a:buNone/>
              <a:tabLst>
                <a:tab algn="l" pos="0"/>
              </a:tabLst>
            </a:pPr>
            <a:fld id="{89020441-8F43-4FB9-AE00-7388029FED1F}"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PlaceHolder 1"/>
          <p:cNvSpPr>
            <a:spLocks noGrp="1"/>
          </p:cNvSpPr>
          <p:nvPr>
            <p:ph type="sldImg"/>
          </p:nvPr>
        </p:nvSpPr>
        <p:spPr>
          <a:xfrm>
            <a:off x="0" y="0"/>
            <a:ext cx="0" cy="0"/>
          </a:xfrm>
          <a:prstGeom prst="rect">
            <a:avLst/>
          </a:prstGeom>
          <a:ln w="0">
            <a:noFill/>
          </a:ln>
        </p:spPr>
      </p:sp>
      <p:sp>
        <p:nvSpPr>
          <p:cNvPr id="34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347" name="PlaceHolder 3"/>
          <p:cNvSpPr>
            <a:spLocks noGrp="1"/>
          </p:cNvSpPr>
          <p:nvPr>
            <p:ph type="sldNum" idx="10"/>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pc="-1" strike="noStrike">
                <a:solidFill>
                  <a:schemeClr val="dk1"/>
                </a:solidFill>
                <a:latin typeface="+mn-lt"/>
                <a:ea typeface="+mn-ea"/>
              </a:defRPr>
            </a:lvl1pPr>
          </a:lstStyle>
          <a:p>
            <a:pPr indent="0" algn="r" defTabSz="914400">
              <a:lnSpc>
                <a:spcPct val="100000"/>
              </a:lnSpc>
              <a:buNone/>
              <a:tabLst>
                <a:tab algn="l" pos="0"/>
              </a:tabLst>
            </a:pPr>
            <a:fld id="{CC70CBBD-7871-4D17-BE81-3AA59FDF1571}"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sldImg"/>
          </p:nvPr>
        </p:nvSpPr>
        <p:spPr>
          <a:xfrm>
            <a:off x="0" y="0"/>
            <a:ext cx="0" cy="0"/>
          </a:xfrm>
          <a:prstGeom prst="rect">
            <a:avLst/>
          </a:prstGeom>
          <a:ln w="0">
            <a:noFill/>
          </a:ln>
        </p:spPr>
      </p:sp>
      <p:sp>
        <p:nvSpPr>
          <p:cNvPr id="34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350" name="PlaceHolder 3"/>
          <p:cNvSpPr>
            <a:spLocks noGrp="1"/>
          </p:cNvSpPr>
          <p:nvPr>
            <p:ph type="sldNum" idx="11"/>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pc="-1" strike="noStrike">
                <a:solidFill>
                  <a:schemeClr val="dk1"/>
                </a:solidFill>
                <a:latin typeface="+mn-lt"/>
                <a:ea typeface="+mn-ea"/>
              </a:defRPr>
            </a:lvl1pPr>
          </a:lstStyle>
          <a:p>
            <a:pPr indent="0" algn="r" defTabSz="914400">
              <a:lnSpc>
                <a:spcPct val="100000"/>
              </a:lnSpc>
              <a:buNone/>
              <a:tabLst>
                <a:tab algn="l" pos="0"/>
              </a:tabLst>
            </a:pPr>
            <a:fld id="{47525CF6-2A36-4871-B126-BAF725EC7CAD}"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sldImg"/>
          </p:nvPr>
        </p:nvSpPr>
        <p:spPr>
          <a:xfrm>
            <a:off x="0" y="0"/>
            <a:ext cx="0" cy="0"/>
          </a:xfrm>
          <a:prstGeom prst="rect">
            <a:avLst/>
          </a:prstGeom>
          <a:ln w="0">
            <a:noFill/>
          </a:ln>
        </p:spPr>
      </p:sp>
      <p:sp>
        <p:nvSpPr>
          <p:cNvPr id="35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353" name="PlaceHolder 3"/>
          <p:cNvSpPr>
            <a:spLocks noGrp="1"/>
          </p:cNvSpPr>
          <p:nvPr>
            <p:ph type="sldNum" idx="12"/>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pc="-1" strike="noStrike">
                <a:solidFill>
                  <a:schemeClr val="dk1"/>
                </a:solidFill>
                <a:latin typeface="+mn-lt"/>
                <a:ea typeface="+mn-ea"/>
              </a:defRPr>
            </a:lvl1pPr>
          </a:lstStyle>
          <a:p>
            <a:pPr indent="0" algn="r" defTabSz="914400">
              <a:lnSpc>
                <a:spcPct val="100000"/>
              </a:lnSpc>
              <a:buNone/>
              <a:tabLst>
                <a:tab algn="l" pos="0"/>
              </a:tabLst>
            </a:pPr>
            <a:fld id="{58D749C5-B8C6-47C3-821D-7857710BF36D}"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sldImg"/>
          </p:nvPr>
        </p:nvSpPr>
        <p:spPr>
          <a:xfrm>
            <a:off x="0" y="0"/>
            <a:ext cx="0" cy="0"/>
          </a:xfrm>
          <a:prstGeom prst="rect">
            <a:avLst/>
          </a:prstGeom>
          <a:ln w="0">
            <a:noFill/>
          </a:ln>
        </p:spPr>
      </p:sp>
      <p:sp>
        <p:nvSpPr>
          <p:cNvPr id="35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356" name="PlaceHolder 3"/>
          <p:cNvSpPr>
            <a:spLocks noGrp="1"/>
          </p:cNvSpPr>
          <p:nvPr>
            <p:ph type="sldNum" idx="13"/>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pc="-1" strike="noStrike">
                <a:solidFill>
                  <a:schemeClr val="dk1"/>
                </a:solidFill>
                <a:latin typeface="+mn-lt"/>
                <a:ea typeface="+mn-ea"/>
              </a:defRPr>
            </a:lvl1pPr>
          </a:lstStyle>
          <a:p>
            <a:pPr indent="0" algn="r" defTabSz="914400">
              <a:lnSpc>
                <a:spcPct val="100000"/>
              </a:lnSpc>
              <a:buNone/>
              <a:tabLst>
                <a:tab algn="l" pos="0"/>
              </a:tabLst>
            </a:pPr>
            <a:fld id="{3DC85132-E60C-4A0B-9FBF-F255B7AB93D3}"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sldImg"/>
          </p:nvPr>
        </p:nvSpPr>
        <p:spPr>
          <a:xfrm>
            <a:off x="0" y="0"/>
            <a:ext cx="0" cy="0"/>
          </a:xfrm>
          <a:prstGeom prst="rect">
            <a:avLst/>
          </a:prstGeom>
          <a:ln w="0">
            <a:noFill/>
          </a:ln>
        </p:spPr>
      </p:sp>
      <p:sp>
        <p:nvSpPr>
          <p:cNvPr id="35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359" name="PlaceHolder 3"/>
          <p:cNvSpPr>
            <a:spLocks noGrp="1"/>
          </p:cNvSpPr>
          <p:nvPr>
            <p:ph type="sldNum" idx="14"/>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pc="-1" strike="noStrike">
                <a:solidFill>
                  <a:schemeClr val="dk1"/>
                </a:solidFill>
                <a:latin typeface="+mn-lt"/>
                <a:ea typeface="+mn-ea"/>
              </a:defRPr>
            </a:lvl1pPr>
          </a:lstStyle>
          <a:p>
            <a:pPr indent="0" algn="r" defTabSz="914400">
              <a:lnSpc>
                <a:spcPct val="100000"/>
              </a:lnSpc>
              <a:buNone/>
              <a:tabLst>
                <a:tab algn="l" pos="0"/>
              </a:tabLst>
            </a:pPr>
            <a:fld id="{52474238-7742-4F32-82B8-6B59A75EA0A3}"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9 mast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0 master">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1 master">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 master">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2 master">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3 master">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4 master">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5 master">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6 master">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7 master">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8 master">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Shape 0"/>
          <p:cNvSpPr/>
          <p:nvPr/>
        </p:nvSpPr>
        <p:spPr>
          <a:xfrm>
            <a:off x="0" y="0"/>
            <a:ext cx="14629680" cy="8228880"/>
          </a:xfrm>
          <a:prstGeom prst="rect">
            <a:avLst/>
          </a:prstGeom>
          <a:solidFill>
            <a:srgbClr val="181a1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 name="Shape 1"/>
          <p:cNvSpPr/>
          <p:nvPr/>
        </p:nvSpPr>
        <p:spPr>
          <a:xfrm>
            <a:off x="0" y="0"/>
            <a:ext cx="14629680" cy="8228880"/>
          </a:xfrm>
          <a:prstGeom prst="rect">
            <a:avLst/>
          </a:prstGeom>
          <a:solidFill>
            <a:srgbClr val="111213"/>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 name="Shape 0"/>
          <p:cNvSpPr/>
          <p:nvPr/>
        </p:nvSpPr>
        <p:spPr>
          <a:xfrm>
            <a:off x="0" y="0"/>
            <a:ext cx="14629680" cy="8228880"/>
          </a:xfrm>
          <a:prstGeom prst="rect">
            <a:avLst/>
          </a:prstGeom>
          <a:solidFill>
            <a:srgbClr val="181a1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5" name="Shape 1"/>
          <p:cNvSpPr/>
          <p:nvPr/>
        </p:nvSpPr>
        <p:spPr>
          <a:xfrm>
            <a:off x="0" y="0"/>
            <a:ext cx="14629680" cy="8228880"/>
          </a:xfrm>
          <a:prstGeom prst="rect">
            <a:avLst/>
          </a:prstGeom>
          <a:solidFill>
            <a:srgbClr val="111213"/>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7"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 name="Shape 0"/>
          <p:cNvSpPr/>
          <p:nvPr/>
        </p:nvSpPr>
        <p:spPr>
          <a:xfrm>
            <a:off x="0" y="0"/>
            <a:ext cx="14629680" cy="8228880"/>
          </a:xfrm>
          <a:prstGeom prst="rect">
            <a:avLst/>
          </a:prstGeom>
          <a:solidFill>
            <a:srgbClr val="181a1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9" name="Shape 1"/>
          <p:cNvSpPr/>
          <p:nvPr/>
        </p:nvSpPr>
        <p:spPr>
          <a:xfrm>
            <a:off x="0" y="0"/>
            <a:ext cx="14629680" cy="8228880"/>
          </a:xfrm>
          <a:prstGeom prst="rect">
            <a:avLst/>
          </a:prstGeom>
          <a:solidFill>
            <a:srgbClr val="111213"/>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0"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1"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Shape 0"/>
          <p:cNvSpPr/>
          <p:nvPr/>
        </p:nvSpPr>
        <p:spPr>
          <a:xfrm>
            <a:off x="0" y="0"/>
            <a:ext cx="14629680" cy="8228880"/>
          </a:xfrm>
          <a:prstGeom prst="rect">
            <a:avLst/>
          </a:prstGeom>
          <a:solidFill>
            <a:srgbClr val="181a1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3" name="Shape 1"/>
          <p:cNvSpPr/>
          <p:nvPr/>
        </p:nvSpPr>
        <p:spPr>
          <a:xfrm>
            <a:off x="0" y="0"/>
            <a:ext cx="14629680" cy="8228880"/>
          </a:xfrm>
          <a:prstGeom prst="rect">
            <a:avLst/>
          </a:prstGeom>
          <a:solidFill>
            <a:srgbClr val="111213"/>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5"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Shape 0"/>
          <p:cNvSpPr/>
          <p:nvPr/>
        </p:nvSpPr>
        <p:spPr>
          <a:xfrm>
            <a:off x="0" y="0"/>
            <a:ext cx="14629680" cy="8228880"/>
          </a:xfrm>
          <a:prstGeom prst="rect">
            <a:avLst/>
          </a:prstGeom>
          <a:solidFill>
            <a:srgbClr val="181a1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7" name="Shape 1"/>
          <p:cNvSpPr/>
          <p:nvPr/>
        </p:nvSpPr>
        <p:spPr>
          <a:xfrm>
            <a:off x="0" y="0"/>
            <a:ext cx="14629680" cy="8228880"/>
          </a:xfrm>
          <a:prstGeom prst="rect">
            <a:avLst/>
          </a:prstGeom>
          <a:solidFill>
            <a:srgbClr val="111213"/>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Shape 0"/>
          <p:cNvSpPr/>
          <p:nvPr/>
        </p:nvSpPr>
        <p:spPr>
          <a:xfrm>
            <a:off x="0" y="0"/>
            <a:ext cx="14629680" cy="8228880"/>
          </a:xfrm>
          <a:prstGeom prst="rect">
            <a:avLst/>
          </a:prstGeom>
          <a:solidFill>
            <a:srgbClr val="181a1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1" name="Shape 1"/>
          <p:cNvSpPr/>
          <p:nvPr/>
        </p:nvSpPr>
        <p:spPr>
          <a:xfrm>
            <a:off x="0" y="0"/>
            <a:ext cx="14629680" cy="8228880"/>
          </a:xfrm>
          <a:prstGeom prst="rect">
            <a:avLst/>
          </a:prstGeom>
          <a:solidFill>
            <a:srgbClr val="111213"/>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 name="Shape 0"/>
          <p:cNvSpPr/>
          <p:nvPr/>
        </p:nvSpPr>
        <p:spPr>
          <a:xfrm>
            <a:off x="0" y="0"/>
            <a:ext cx="14629680" cy="8228880"/>
          </a:xfrm>
          <a:prstGeom prst="rect">
            <a:avLst/>
          </a:prstGeom>
          <a:solidFill>
            <a:srgbClr val="181a1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5" name="Shape 1"/>
          <p:cNvSpPr/>
          <p:nvPr/>
        </p:nvSpPr>
        <p:spPr>
          <a:xfrm>
            <a:off x="0" y="0"/>
            <a:ext cx="14629680" cy="8228880"/>
          </a:xfrm>
          <a:prstGeom prst="rect">
            <a:avLst/>
          </a:prstGeom>
          <a:solidFill>
            <a:srgbClr val="111213"/>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7"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Shape 0"/>
          <p:cNvSpPr/>
          <p:nvPr/>
        </p:nvSpPr>
        <p:spPr>
          <a:xfrm>
            <a:off x="0" y="0"/>
            <a:ext cx="14629680" cy="8228880"/>
          </a:xfrm>
          <a:prstGeom prst="rect">
            <a:avLst/>
          </a:prstGeom>
          <a:solidFill>
            <a:srgbClr val="181a1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9" name="Shape 1"/>
          <p:cNvSpPr/>
          <p:nvPr/>
        </p:nvSpPr>
        <p:spPr>
          <a:xfrm>
            <a:off x="0" y="0"/>
            <a:ext cx="14629680" cy="8228880"/>
          </a:xfrm>
          <a:prstGeom prst="rect">
            <a:avLst/>
          </a:prstGeom>
          <a:solidFill>
            <a:srgbClr val="111213"/>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0"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1"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 name="Shape 0"/>
          <p:cNvSpPr/>
          <p:nvPr/>
        </p:nvSpPr>
        <p:spPr>
          <a:xfrm>
            <a:off x="0" y="0"/>
            <a:ext cx="14629680" cy="8228880"/>
          </a:xfrm>
          <a:prstGeom prst="rect">
            <a:avLst/>
          </a:prstGeom>
          <a:solidFill>
            <a:srgbClr val="181a1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3" name="Shape 1"/>
          <p:cNvSpPr/>
          <p:nvPr/>
        </p:nvSpPr>
        <p:spPr>
          <a:xfrm>
            <a:off x="0" y="0"/>
            <a:ext cx="14629680" cy="8228880"/>
          </a:xfrm>
          <a:prstGeom prst="rect">
            <a:avLst/>
          </a:prstGeom>
          <a:solidFill>
            <a:srgbClr val="111213"/>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5"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 name="Shape 0"/>
          <p:cNvSpPr/>
          <p:nvPr/>
        </p:nvSpPr>
        <p:spPr>
          <a:xfrm>
            <a:off x="0" y="0"/>
            <a:ext cx="14629680" cy="8228880"/>
          </a:xfrm>
          <a:prstGeom prst="rect">
            <a:avLst/>
          </a:prstGeom>
          <a:solidFill>
            <a:srgbClr val="181a1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7" name="Shape 1"/>
          <p:cNvSpPr/>
          <p:nvPr/>
        </p:nvSpPr>
        <p:spPr>
          <a:xfrm>
            <a:off x="0" y="0"/>
            <a:ext cx="14629680" cy="8228880"/>
          </a:xfrm>
          <a:prstGeom prst="rect">
            <a:avLst/>
          </a:prstGeom>
          <a:solidFill>
            <a:srgbClr val="111213"/>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Shape 0"/>
          <p:cNvSpPr/>
          <p:nvPr/>
        </p:nvSpPr>
        <p:spPr>
          <a:xfrm>
            <a:off x="0" y="0"/>
            <a:ext cx="14629680" cy="8228880"/>
          </a:xfrm>
          <a:prstGeom prst="rect">
            <a:avLst/>
          </a:prstGeom>
          <a:solidFill>
            <a:srgbClr val="181a1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1" name="Shape 1"/>
          <p:cNvSpPr/>
          <p:nvPr/>
        </p:nvSpPr>
        <p:spPr>
          <a:xfrm>
            <a:off x="0" y="0"/>
            <a:ext cx="14629680" cy="8228880"/>
          </a:xfrm>
          <a:prstGeom prst="rect">
            <a:avLst/>
          </a:prstGeom>
          <a:solidFill>
            <a:srgbClr val="111213"/>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6.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8.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9.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image" Target="../media/image7.png"/><Relationship Id="rId4" Type="http://schemas.openxmlformats.org/officeDocument/2006/relationships/image" Target="../media/image8.svg"/><Relationship Id="rId5" Type="http://schemas.openxmlformats.org/officeDocument/2006/relationships/slideLayout" Target="../slideLayouts/slideLayout10.xml"/><Relationship Id="rId6"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svg"/><Relationship Id="rId3" Type="http://schemas.openxmlformats.org/officeDocument/2006/relationships/image" Target="../media/image12.png"/><Relationship Id="rId4" Type="http://schemas.openxmlformats.org/officeDocument/2006/relationships/image" Target="../media/image13.svg"/><Relationship Id="rId5" Type="http://schemas.openxmlformats.org/officeDocument/2006/relationships/image" Target="../media/image14.png"/><Relationship Id="rId6" Type="http://schemas.openxmlformats.org/officeDocument/2006/relationships/image" Target="../media/image15.svg"/><Relationship Id="rId7" Type="http://schemas.openxmlformats.org/officeDocument/2006/relationships/slideLayout" Target="../slideLayouts/slideLayout12.xml"/><Relationship Id="rId8"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2.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svg"/><Relationship Id="rId3" Type="http://schemas.openxmlformats.org/officeDocument/2006/relationships/image" Target="../media/image19.png"/><Relationship Id="rId4" Type="http://schemas.openxmlformats.org/officeDocument/2006/relationships/image" Target="../media/image20.svg"/><Relationship Id="rId5" Type="http://schemas.openxmlformats.org/officeDocument/2006/relationships/image" Target="../media/image21.png"/><Relationship Id="rId6" Type="http://schemas.openxmlformats.org/officeDocument/2006/relationships/image" Target="../media/image22.svg"/><Relationship Id="rId7" Type="http://schemas.openxmlformats.org/officeDocument/2006/relationships/slideLayout" Target="../slideLayouts/slideLayout3.xml"/><Relationship Id="rId8"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slideLayout" Target="../slideLayouts/slideLayout4.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 name="Image 0" descr="preencoded.png"/>
          <p:cNvPicPr/>
          <p:nvPr/>
        </p:nvPicPr>
        <p:blipFill>
          <a:blip r:embed="rId1"/>
          <a:stretch/>
        </p:blipFill>
        <p:spPr>
          <a:xfrm>
            <a:off x="9144000" y="0"/>
            <a:ext cx="5485680" cy="8228880"/>
          </a:xfrm>
          <a:prstGeom prst="rect">
            <a:avLst/>
          </a:prstGeom>
          <a:ln w="0">
            <a:noFill/>
          </a:ln>
        </p:spPr>
      </p:pic>
      <p:grpSp>
        <p:nvGrpSpPr>
          <p:cNvPr id="51" name="Group 8"/>
          <p:cNvGrpSpPr/>
          <p:nvPr/>
        </p:nvGrpSpPr>
        <p:grpSpPr>
          <a:xfrm>
            <a:off x="120240" y="2394360"/>
            <a:ext cx="8938800" cy="4462920"/>
            <a:chOff x="120240" y="2394360"/>
            <a:chExt cx="8938800" cy="4462920"/>
          </a:xfrm>
        </p:grpSpPr>
        <p:sp>
          <p:nvSpPr>
            <p:cNvPr id="52" name="Text 0"/>
            <p:cNvSpPr/>
            <p:nvPr/>
          </p:nvSpPr>
          <p:spPr>
            <a:xfrm>
              <a:off x="120240" y="2394360"/>
              <a:ext cx="8938800" cy="1334880"/>
            </a:xfrm>
            <a:prstGeom prst="rect">
              <a:avLst/>
            </a:prstGeom>
            <a:noFill/>
            <a:ln w="0">
              <a:noFill/>
            </a:ln>
          </p:spPr>
          <p:style>
            <a:lnRef idx="0"/>
            <a:fillRef idx="0"/>
            <a:effectRef idx="0"/>
            <a:fontRef idx="minor"/>
          </p:style>
          <p:txBody>
            <a:bodyPr lIns="0" rIns="0" tIns="0" bIns="0" anchor="t">
              <a:noAutofit/>
            </a:bodyPr>
            <a:p>
              <a:pPr defTabSz="914400">
                <a:lnSpc>
                  <a:spcPts val="4799"/>
                </a:lnSpc>
                <a:tabLst>
                  <a:tab algn="l" pos="0"/>
                </a:tabLst>
              </a:pPr>
              <a:r>
                <a:rPr b="1" lang="en-US" sz="3850" spc="-1" strike="noStrike">
                  <a:solidFill>
                    <a:srgbClr val="ffffff"/>
                  </a:solidFill>
                  <a:latin typeface="Montserrat Bold"/>
                  <a:ea typeface="Montserrat Bold"/>
                </a:rPr>
                <a:t>Süni İntellekt və İnnovasiya Menecmenti</a:t>
              </a:r>
              <a:endParaRPr b="0" lang="en-US" sz="3850" spc="-1" strike="noStrike">
                <a:solidFill>
                  <a:srgbClr val="000000"/>
                </a:solidFill>
                <a:latin typeface="Arial"/>
              </a:endParaRPr>
            </a:p>
          </p:txBody>
        </p:sp>
        <p:sp>
          <p:nvSpPr>
            <p:cNvPr id="53" name="Text 1"/>
            <p:cNvSpPr/>
            <p:nvPr/>
          </p:nvSpPr>
          <p:spPr>
            <a:xfrm>
              <a:off x="120240" y="4068360"/>
              <a:ext cx="8938800" cy="1674360"/>
            </a:xfrm>
            <a:prstGeom prst="rect">
              <a:avLst/>
            </a:prstGeom>
            <a:noFill/>
            <a:ln w="0">
              <a:noFill/>
            </a:ln>
          </p:spPr>
          <p:style>
            <a:lnRef idx="0"/>
            <a:fillRef idx="0"/>
            <a:effectRef idx="0"/>
            <a:fontRef idx="minor"/>
          </p:style>
          <p:txBody>
            <a:bodyPr lIns="0" rIns="0" tIns="0" bIns="0" anchor="t">
              <a:noAutofit/>
            </a:bodyPr>
            <a:p>
              <a:pPr defTabSz="914400">
                <a:lnSpc>
                  <a:spcPts val="2551"/>
                </a:lnSpc>
                <a:tabLst>
                  <a:tab algn="l" pos="0"/>
                </a:tabLst>
              </a:pPr>
              <a:r>
                <a:rPr b="0" lang="en-US" sz="2000" spc="-1" strike="noStrike">
                  <a:solidFill>
                    <a:srgbClr val="e2e6e9"/>
                  </a:solidFill>
                  <a:latin typeface="Source Sans 3"/>
                  <a:ea typeface="Source Sans 3"/>
                </a:rPr>
                <a:t>Bu dərsdə süni intellektin müasir biznes mühitində innovasiya proseslərini necə sürətləndirdiyini, ideya generasiyasından kommersiyalaşdırmaya qədər olan bütün mərhələlərdə SI-nin rolunu ətraflı araşdıracağıq.</a:t>
              </a:r>
              <a:endParaRPr b="0" lang="en-US" sz="2000" spc="-1" strike="noStrike">
                <a:solidFill>
                  <a:srgbClr val="000000"/>
                </a:solidFill>
                <a:latin typeface="Arial"/>
              </a:endParaRPr>
            </a:p>
          </p:txBody>
        </p:sp>
        <p:sp>
          <p:nvSpPr>
            <p:cNvPr id="54" name="Shape 2"/>
            <p:cNvSpPr/>
            <p:nvPr/>
          </p:nvSpPr>
          <p:spPr>
            <a:xfrm>
              <a:off x="120240" y="6175080"/>
              <a:ext cx="1352520" cy="668880"/>
            </a:xfrm>
            <a:prstGeom prst="roundRect">
              <a:avLst>
                <a:gd name="adj" fmla="val 6669"/>
              </a:avLst>
            </a:prstGeom>
            <a:solidFill>
              <a:srgbClr val="262626"/>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55" name="Text 3"/>
            <p:cNvSpPr/>
            <p:nvPr/>
          </p:nvSpPr>
          <p:spPr>
            <a:xfrm>
              <a:off x="276480" y="6286680"/>
              <a:ext cx="1040040" cy="445680"/>
            </a:xfrm>
            <a:prstGeom prst="rect">
              <a:avLst/>
            </a:prstGeom>
            <a:noFill/>
            <a:ln w="0">
              <a:noFill/>
            </a:ln>
          </p:spPr>
          <p:style>
            <a:lnRef idx="0"/>
            <a:fillRef idx="0"/>
            <a:effectRef idx="0"/>
            <a:fontRef idx="minor"/>
          </p:style>
          <p:txBody>
            <a:bodyPr wrap="none" lIns="0" rIns="0" tIns="0" bIns="0" anchor="t">
              <a:noAutofit/>
            </a:bodyPr>
            <a:p>
              <a:pPr defTabSz="914400">
                <a:lnSpc>
                  <a:spcPts val="2001"/>
                </a:lnSpc>
                <a:tabLst>
                  <a:tab algn="l" pos="0"/>
                </a:tabLst>
              </a:pPr>
              <a:r>
                <a:rPr b="0" lang="en-US" sz="1350" spc="-1" strike="noStrike">
                  <a:solidFill>
                    <a:srgbClr val="e2e6e9"/>
                  </a:solidFill>
                  <a:latin typeface="Source Sans 3"/>
                  <a:ea typeface="Source Sans 3"/>
                </a:rPr>
                <a:t>MBA KURSU</a:t>
              </a:r>
              <a:endParaRPr b="0" lang="en-US" sz="1350" spc="-1" strike="noStrike">
                <a:solidFill>
                  <a:srgbClr val="000000"/>
                </a:solidFill>
                <a:latin typeface="Arial"/>
              </a:endParaRPr>
            </a:p>
          </p:txBody>
        </p:sp>
        <p:sp>
          <p:nvSpPr>
            <p:cNvPr id="56" name="Shape 4"/>
            <p:cNvSpPr/>
            <p:nvPr/>
          </p:nvSpPr>
          <p:spPr>
            <a:xfrm>
              <a:off x="1603440" y="6162120"/>
              <a:ext cx="3186720" cy="695160"/>
            </a:xfrm>
            <a:prstGeom prst="roundRect">
              <a:avLst>
                <a:gd name="adj" fmla="val 6417"/>
              </a:avLst>
            </a:prstGeom>
            <a:noFill/>
            <a:ln w="7620">
              <a:solidFill>
                <a:srgbClr val="ffffff"/>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57" name="Text 5"/>
            <p:cNvSpPr/>
            <p:nvPr/>
          </p:nvSpPr>
          <p:spPr>
            <a:xfrm>
              <a:off x="1768680" y="6286680"/>
              <a:ext cx="2855880" cy="445680"/>
            </a:xfrm>
            <a:prstGeom prst="rect">
              <a:avLst/>
            </a:prstGeom>
            <a:noFill/>
            <a:ln w="0">
              <a:noFill/>
            </a:ln>
          </p:spPr>
          <p:style>
            <a:lnRef idx="0"/>
            <a:fillRef idx="0"/>
            <a:effectRef idx="0"/>
            <a:fontRef idx="minor"/>
          </p:style>
          <p:txBody>
            <a:bodyPr wrap="none" lIns="0" rIns="0" tIns="0" bIns="0" anchor="t">
              <a:noAutofit/>
            </a:bodyPr>
            <a:p>
              <a:pPr defTabSz="914400">
                <a:lnSpc>
                  <a:spcPts val="2001"/>
                </a:lnSpc>
                <a:tabLst>
                  <a:tab algn="l" pos="0"/>
                </a:tabLst>
              </a:pPr>
              <a:r>
                <a:rPr b="0" lang="en-US" sz="1350" spc="-1" strike="noStrike">
                  <a:solidFill>
                    <a:srgbClr val="ffffff"/>
                  </a:solidFill>
                  <a:latin typeface="Source Sans 3"/>
                  <a:ea typeface="Source Sans 3"/>
                </a:rPr>
                <a:t>MÜƏLLIM: ORKHAN ISKANDAROV</a:t>
              </a:r>
              <a:endParaRPr b="0" lang="en-US" sz="135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58" name="Group 26"/>
          <p:cNvGrpSpPr/>
          <p:nvPr/>
        </p:nvGrpSpPr>
        <p:grpSpPr>
          <a:xfrm>
            <a:off x="268920" y="247320"/>
            <a:ext cx="14167080" cy="7820280"/>
            <a:chOff x="268920" y="247320"/>
            <a:chExt cx="14167080" cy="7820280"/>
          </a:xfrm>
        </p:grpSpPr>
        <p:sp>
          <p:nvSpPr>
            <p:cNvPr id="59" name="Text 0"/>
            <p:cNvSpPr/>
            <p:nvPr/>
          </p:nvSpPr>
          <p:spPr>
            <a:xfrm>
              <a:off x="268920" y="247320"/>
              <a:ext cx="6690240" cy="660240"/>
            </a:xfrm>
            <a:prstGeom prst="rect">
              <a:avLst/>
            </a:prstGeom>
            <a:noFill/>
            <a:ln w="0">
              <a:noFill/>
            </a:ln>
          </p:spPr>
          <p:style>
            <a:lnRef idx="0"/>
            <a:fillRef idx="0"/>
            <a:effectRef idx="0"/>
            <a:fontRef idx="minor"/>
          </p:style>
          <p:txBody>
            <a:bodyPr wrap="none" lIns="0" rIns="0" tIns="0" bIns="0" anchor="t">
              <a:noAutofit/>
            </a:bodyPr>
            <a:p>
              <a:pPr defTabSz="914400">
                <a:lnSpc>
                  <a:spcPts val="4150"/>
                </a:lnSpc>
                <a:tabLst>
                  <a:tab algn="l" pos="0"/>
                </a:tabLst>
              </a:pPr>
              <a:r>
                <a:rPr b="1" lang="en-US" sz="3300" spc="-1" strike="noStrike">
                  <a:solidFill>
                    <a:srgbClr val="ffffff"/>
                  </a:solidFill>
                  <a:latin typeface="Montserrat Bold"/>
                  <a:ea typeface="Montserrat Bold"/>
                </a:rPr>
                <a:t>Bu Gün Nələri Öyrənəcəyik?</a:t>
              </a:r>
              <a:endParaRPr b="0" lang="en-US" sz="3300" spc="-1" strike="noStrike">
                <a:solidFill>
                  <a:srgbClr val="000000"/>
                </a:solidFill>
                <a:latin typeface="Arial"/>
              </a:endParaRPr>
            </a:p>
          </p:txBody>
        </p:sp>
        <p:sp>
          <p:nvSpPr>
            <p:cNvPr id="60" name="Text 1"/>
            <p:cNvSpPr/>
            <p:nvPr/>
          </p:nvSpPr>
          <p:spPr>
            <a:xfrm>
              <a:off x="268920" y="1308240"/>
              <a:ext cx="14167080" cy="648000"/>
            </a:xfrm>
            <a:prstGeom prst="rect">
              <a:avLst/>
            </a:prstGeom>
            <a:noFill/>
            <a:ln w="0">
              <a:noFill/>
            </a:ln>
          </p:spPr>
          <p:style>
            <a:lnRef idx="0"/>
            <a:fillRef idx="0"/>
            <a:effectRef idx="0"/>
            <a:fontRef idx="minor"/>
          </p:style>
          <p:txBody>
            <a:bodyPr lIns="0" rIns="0" tIns="0" bIns="0" anchor="t">
              <a:noAutofit/>
            </a:bodyPr>
            <a:p>
              <a:pPr defTabSz="914400">
                <a:lnSpc>
                  <a:spcPts val="2001"/>
                </a:lnSpc>
                <a:tabLst>
                  <a:tab algn="l" pos="0"/>
                </a:tabLst>
              </a:pPr>
              <a:r>
                <a:rPr b="0" lang="en-US" sz="1700" spc="-1" strike="noStrike">
                  <a:solidFill>
                    <a:srgbClr val="e2e6e9"/>
                  </a:solidFill>
                  <a:latin typeface="Source Sans 3"/>
                  <a:ea typeface="Source Sans 3"/>
                </a:rPr>
                <a:t>Dərsin sonunda siz innovasiyanın mahiyyətini, növlərini və SI-nin innovasiya prosesinin hər mərhələsindəki rolunu dərindən anlaya biləcəksiniz. Məqsədlərimiz aşağıda sıralanmışdır:</a:t>
              </a:r>
              <a:endParaRPr b="0" lang="en-US" sz="1700" spc="-1" strike="noStrike">
                <a:solidFill>
                  <a:srgbClr val="000000"/>
                </a:solidFill>
                <a:latin typeface="Arial"/>
              </a:endParaRPr>
            </a:p>
          </p:txBody>
        </p:sp>
        <p:sp>
          <p:nvSpPr>
            <p:cNvPr id="61" name="Shape 2"/>
            <p:cNvSpPr/>
            <p:nvPr/>
          </p:nvSpPr>
          <p:spPr>
            <a:xfrm>
              <a:off x="268920" y="2181600"/>
              <a:ext cx="6997320" cy="2286000"/>
            </a:xfrm>
            <a:prstGeom prst="roundRect">
              <a:avLst>
                <a:gd name="adj" fmla="val 1526"/>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62" name="Shape 3"/>
            <p:cNvSpPr/>
            <p:nvPr/>
          </p:nvSpPr>
          <p:spPr>
            <a:xfrm>
              <a:off x="293400" y="2210400"/>
              <a:ext cx="6948000" cy="697320"/>
            </a:xfrm>
            <a:prstGeom prst="roundRect">
              <a:avLst>
                <a:gd name="adj" fmla="val 72"/>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63" name="Text 4"/>
            <p:cNvSpPr/>
            <p:nvPr/>
          </p:nvSpPr>
          <p:spPr>
            <a:xfrm>
              <a:off x="3618000" y="2341080"/>
              <a:ext cx="299160" cy="435600"/>
            </a:xfrm>
            <a:prstGeom prst="rect">
              <a:avLst/>
            </a:prstGeom>
            <a:noFill/>
            <a:ln w="0">
              <a:noFill/>
            </a:ln>
          </p:spPr>
          <p:style>
            <a:lnRef idx="0"/>
            <a:fillRef idx="0"/>
            <a:effectRef idx="0"/>
            <a:fontRef idx="minor"/>
          </p:style>
          <p:txBody>
            <a:bodyPr wrap="none" lIns="0" rIns="0" tIns="0" bIns="0" anchor="t">
              <a:noAutofit/>
            </a:bodyPr>
            <a:p>
              <a:pPr defTabSz="914400">
                <a:lnSpc>
                  <a:spcPts val="2149"/>
                </a:lnSpc>
                <a:tabLst>
                  <a:tab algn="l" pos="0"/>
                </a:tabLst>
              </a:pPr>
              <a:r>
                <a:rPr b="1" lang="en-US" sz="2150" spc="-1" strike="noStrike">
                  <a:solidFill>
                    <a:srgbClr val="e2e6e9"/>
                  </a:solidFill>
                  <a:latin typeface="Montserrat Bold"/>
                  <a:ea typeface="Montserrat Bold"/>
                </a:rPr>
                <a:t>1</a:t>
              </a:r>
              <a:endParaRPr b="0" lang="en-US" sz="2150" spc="-1" strike="noStrike">
                <a:solidFill>
                  <a:srgbClr val="000000"/>
                </a:solidFill>
                <a:latin typeface="Arial"/>
              </a:endParaRPr>
            </a:p>
          </p:txBody>
        </p:sp>
        <p:sp>
          <p:nvSpPr>
            <p:cNvPr id="64" name="Text 5"/>
            <p:cNvSpPr/>
            <p:nvPr/>
          </p:nvSpPr>
          <p:spPr>
            <a:xfrm>
              <a:off x="493560" y="3108240"/>
              <a:ext cx="2629800" cy="329760"/>
            </a:xfrm>
            <a:prstGeom prst="rect">
              <a:avLst/>
            </a:prstGeom>
            <a:noFill/>
            <a:ln w="0">
              <a:noFill/>
            </a:ln>
          </p:spPr>
          <p:style>
            <a:lnRef idx="0"/>
            <a:fillRef idx="0"/>
            <a:effectRef idx="0"/>
            <a:fontRef idx="minor"/>
          </p:style>
          <p:txBody>
            <a:bodyPr wrap="none" lIns="0" rIns="0" tIns="0" bIns="0" anchor="t">
              <a:noAutofit/>
            </a:bodyPr>
            <a:p>
              <a:pPr defTabSz="914400">
                <a:lnSpc>
                  <a:spcPts val="2049"/>
                </a:lnSpc>
                <a:tabLst>
                  <a:tab algn="l" pos="0"/>
                </a:tabLst>
              </a:pPr>
              <a:r>
                <a:rPr b="1" lang="en-US" sz="1650" spc="-1" strike="noStrike">
                  <a:solidFill>
                    <a:srgbClr val="e2e6e9"/>
                  </a:solidFill>
                  <a:latin typeface="Montserrat Bold"/>
                  <a:ea typeface="Montserrat Bold"/>
                </a:rPr>
                <a:t>İnnovasiyanı Anlamaq</a:t>
              </a:r>
              <a:endParaRPr b="0" lang="en-US" sz="1650" spc="-1" strike="noStrike">
                <a:solidFill>
                  <a:srgbClr val="000000"/>
                </a:solidFill>
                <a:latin typeface="Arial"/>
              </a:endParaRPr>
            </a:p>
          </p:txBody>
        </p:sp>
        <p:sp>
          <p:nvSpPr>
            <p:cNvPr id="65" name="Text 6"/>
            <p:cNvSpPr/>
            <p:nvPr/>
          </p:nvSpPr>
          <p:spPr>
            <a:xfrm>
              <a:off x="493560" y="3558600"/>
              <a:ext cx="6548040" cy="648000"/>
            </a:xfrm>
            <a:prstGeom prst="rect">
              <a:avLst/>
            </a:prstGeom>
            <a:noFill/>
            <a:ln w="0">
              <a:noFill/>
            </a:ln>
          </p:spPr>
          <p:style>
            <a:lnRef idx="0"/>
            <a:fillRef idx="0"/>
            <a:effectRef idx="0"/>
            <a:fontRef idx="minor"/>
          </p:style>
          <p:txBody>
            <a:bodyPr lIns="0" rIns="0" tIns="0" bIns="0" anchor="t">
              <a:noAutofit/>
            </a:bodyPr>
            <a:p>
              <a:pPr defTabSz="914400">
                <a:lnSpc>
                  <a:spcPts val="2001"/>
                </a:lnSpc>
                <a:tabLst>
                  <a:tab algn="l" pos="0"/>
                </a:tabLst>
              </a:pPr>
              <a:r>
                <a:rPr b="0" lang="en-US" sz="1450" spc="-1" strike="noStrike">
                  <a:solidFill>
                    <a:srgbClr val="e2e6e9"/>
                  </a:solidFill>
                  <a:latin typeface="Source Sans 3"/>
                  <a:ea typeface="Source Sans 3"/>
                </a:rPr>
                <a:t>İnnovasiyanın nə olduğunu, necə yarandığını və biznes dəyəri ilə cəmiyyət üçün nə ifadə etdiyini izah edə biləcəksiniz.</a:t>
              </a:r>
              <a:endParaRPr b="0" lang="en-US" sz="1450" spc="-1" strike="noStrike">
                <a:solidFill>
                  <a:srgbClr val="000000"/>
                </a:solidFill>
                <a:latin typeface="Arial"/>
              </a:endParaRPr>
            </a:p>
          </p:txBody>
        </p:sp>
        <p:sp>
          <p:nvSpPr>
            <p:cNvPr id="66" name="Shape 7"/>
            <p:cNvSpPr/>
            <p:nvPr/>
          </p:nvSpPr>
          <p:spPr>
            <a:xfrm>
              <a:off x="7438680" y="2181600"/>
              <a:ext cx="6997320" cy="2286000"/>
            </a:xfrm>
            <a:prstGeom prst="roundRect">
              <a:avLst>
                <a:gd name="adj" fmla="val 1526"/>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67" name="Shape 8"/>
            <p:cNvSpPr/>
            <p:nvPr/>
          </p:nvSpPr>
          <p:spPr>
            <a:xfrm>
              <a:off x="7463160" y="2210400"/>
              <a:ext cx="6948000" cy="697320"/>
            </a:xfrm>
            <a:prstGeom prst="roundRect">
              <a:avLst>
                <a:gd name="adj" fmla="val 72"/>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68" name="Text 9"/>
            <p:cNvSpPr/>
            <p:nvPr/>
          </p:nvSpPr>
          <p:spPr>
            <a:xfrm>
              <a:off x="10787760" y="2341080"/>
              <a:ext cx="299160" cy="435600"/>
            </a:xfrm>
            <a:prstGeom prst="rect">
              <a:avLst/>
            </a:prstGeom>
            <a:noFill/>
            <a:ln w="0">
              <a:noFill/>
            </a:ln>
          </p:spPr>
          <p:style>
            <a:lnRef idx="0"/>
            <a:fillRef idx="0"/>
            <a:effectRef idx="0"/>
            <a:fontRef idx="minor"/>
          </p:style>
          <p:txBody>
            <a:bodyPr wrap="none" lIns="0" rIns="0" tIns="0" bIns="0" anchor="t">
              <a:noAutofit/>
            </a:bodyPr>
            <a:p>
              <a:pPr defTabSz="914400">
                <a:lnSpc>
                  <a:spcPts val="2149"/>
                </a:lnSpc>
                <a:tabLst>
                  <a:tab algn="l" pos="0"/>
                </a:tabLst>
              </a:pPr>
              <a:r>
                <a:rPr b="1" lang="en-US" sz="2150" spc="-1" strike="noStrike">
                  <a:solidFill>
                    <a:srgbClr val="e2e6e9"/>
                  </a:solidFill>
                  <a:latin typeface="Montserrat Bold"/>
                  <a:ea typeface="Montserrat Bold"/>
                </a:rPr>
                <a:t>2</a:t>
              </a:r>
              <a:endParaRPr b="0" lang="en-US" sz="2150" spc="-1" strike="noStrike">
                <a:solidFill>
                  <a:srgbClr val="000000"/>
                </a:solidFill>
                <a:latin typeface="Arial"/>
              </a:endParaRPr>
            </a:p>
          </p:txBody>
        </p:sp>
        <p:sp>
          <p:nvSpPr>
            <p:cNvPr id="69" name="Text 10"/>
            <p:cNvSpPr/>
            <p:nvPr/>
          </p:nvSpPr>
          <p:spPr>
            <a:xfrm>
              <a:off x="7663320" y="3108240"/>
              <a:ext cx="3367800" cy="329760"/>
            </a:xfrm>
            <a:prstGeom prst="rect">
              <a:avLst/>
            </a:prstGeom>
            <a:noFill/>
            <a:ln w="0">
              <a:noFill/>
            </a:ln>
          </p:spPr>
          <p:style>
            <a:lnRef idx="0"/>
            <a:fillRef idx="0"/>
            <a:effectRef idx="0"/>
            <a:fontRef idx="minor"/>
          </p:style>
          <p:txBody>
            <a:bodyPr wrap="none" lIns="0" rIns="0" tIns="0" bIns="0" anchor="t">
              <a:noAutofit/>
            </a:bodyPr>
            <a:p>
              <a:pPr defTabSz="914400">
                <a:lnSpc>
                  <a:spcPts val="2049"/>
                </a:lnSpc>
                <a:tabLst>
                  <a:tab algn="l" pos="0"/>
                </a:tabLst>
              </a:pPr>
              <a:r>
                <a:rPr b="1" lang="en-US" sz="1650" spc="-1" strike="noStrike">
                  <a:solidFill>
                    <a:srgbClr val="e2e6e9"/>
                  </a:solidFill>
                  <a:latin typeface="Montserrat Bold"/>
                  <a:ea typeface="Montserrat Bold"/>
                </a:rPr>
                <a:t>Növlərə Görə Fərqləndirmək</a:t>
              </a:r>
              <a:endParaRPr b="0" lang="en-US" sz="1650" spc="-1" strike="noStrike">
                <a:solidFill>
                  <a:srgbClr val="000000"/>
                </a:solidFill>
                <a:latin typeface="Arial"/>
              </a:endParaRPr>
            </a:p>
          </p:txBody>
        </p:sp>
        <p:sp>
          <p:nvSpPr>
            <p:cNvPr id="70" name="Text 11"/>
            <p:cNvSpPr/>
            <p:nvPr/>
          </p:nvSpPr>
          <p:spPr>
            <a:xfrm>
              <a:off x="7663320" y="3558600"/>
              <a:ext cx="6548400" cy="648000"/>
            </a:xfrm>
            <a:prstGeom prst="rect">
              <a:avLst/>
            </a:prstGeom>
            <a:noFill/>
            <a:ln w="0">
              <a:noFill/>
            </a:ln>
          </p:spPr>
          <p:style>
            <a:lnRef idx="0"/>
            <a:fillRef idx="0"/>
            <a:effectRef idx="0"/>
            <a:fontRef idx="minor"/>
          </p:style>
          <p:txBody>
            <a:bodyPr lIns="0" rIns="0" tIns="0" bIns="0" anchor="t">
              <a:noAutofit/>
            </a:bodyPr>
            <a:p>
              <a:pPr defTabSz="914400">
                <a:lnSpc>
                  <a:spcPts val="2001"/>
                </a:lnSpc>
                <a:tabLst>
                  <a:tab algn="l" pos="0"/>
                </a:tabLst>
              </a:pPr>
              <a:r>
                <a:rPr b="0" lang="en-US" sz="1450" spc="-1" strike="noStrike">
                  <a:solidFill>
                    <a:srgbClr val="e2e6e9"/>
                  </a:solidFill>
                  <a:latin typeface="Source Sans 3"/>
                  <a:ea typeface="Source Sans 3"/>
                </a:rPr>
                <a:t>İnkremental, radikal və disruptiv innovasiya növlərini real dünya nümunələri ilə müqayisə edə biləcəksiniz.</a:t>
              </a:r>
              <a:endParaRPr b="0" lang="en-US" sz="1450" spc="-1" strike="noStrike">
                <a:solidFill>
                  <a:srgbClr val="000000"/>
                </a:solidFill>
                <a:latin typeface="Arial"/>
              </a:endParaRPr>
            </a:p>
          </p:txBody>
        </p:sp>
        <p:sp>
          <p:nvSpPr>
            <p:cNvPr id="71" name="Shape 12"/>
            <p:cNvSpPr/>
            <p:nvPr/>
          </p:nvSpPr>
          <p:spPr>
            <a:xfrm>
              <a:off x="268920" y="4668480"/>
              <a:ext cx="6997320" cy="2286000"/>
            </a:xfrm>
            <a:prstGeom prst="roundRect">
              <a:avLst>
                <a:gd name="adj" fmla="val 1526"/>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72" name="Shape 13"/>
            <p:cNvSpPr/>
            <p:nvPr/>
          </p:nvSpPr>
          <p:spPr>
            <a:xfrm>
              <a:off x="293400" y="4697280"/>
              <a:ext cx="6948000" cy="697320"/>
            </a:xfrm>
            <a:prstGeom prst="roundRect">
              <a:avLst>
                <a:gd name="adj" fmla="val 72"/>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73" name="Text 14"/>
            <p:cNvSpPr/>
            <p:nvPr/>
          </p:nvSpPr>
          <p:spPr>
            <a:xfrm>
              <a:off x="3618000" y="4827960"/>
              <a:ext cx="299160" cy="435600"/>
            </a:xfrm>
            <a:prstGeom prst="rect">
              <a:avLst/>
            </a:prstGeom>
            <a:noFill/>
            <a:ln w="0">
              <a:noFill/>
            </a:ln>
          </p:spPr>
          <p:style>
            <a:lnRef idx="0"/>
            <a:fillRef idx="0"/>
            <a:effectRef idx="0"/>
            <a:fontRef idx="minor"/>
          </p:style>
          <p:txBody>
            <a:bodyPr wrap="none" lIns="0" rIns="0" tIns="0" bIns="0" anchor="t">
              <a:noAutofit/>
            </a:bodyPr>
            <a:p>
              <a:pPr defTabSz="914400">
                <a:lnSpc>
                  <a:spcPts val="2149"/>
                </a:lnSpc>
                <a:tabLst>
                  <a:tab algn="l" pos="0"/>
                </a:tabLst>
              </a:pPr>
              <a:r>
                <a:rPr b="1" lang="en-US" sz="2150" spc="-1" strike="noStrike">
                  <a:solidFill>
                    <a:srgbClr val="e2e6e9"/>
                  </a:solidFill>
                  <a:latin typeface="Montserrat Bold"/>
                  <a:ea typeface="Montserrat Bold"/>
                </a:rPr>
                <a:t>3</a:t>
              </a:r>
              <a:endParaRPr b="0" lang="en-US" sz="2150" spc="-1" strike="noStrike">
                <a:solidFill>
                  <a:srgbClr val="000000"/>
                </a:solidFill>
                <a:latin typeface="Arial"/>
              </a:endParaRPr>
            </a:p>
          </p:txBody>
        </p:sp>
        <p:sp>
          <p:nvSpPr>
            <p:cNvPr id="74" name="Text 15"/>
            <p:cNvSpPr/>
            <p:nvPr/>
          </p:nvSpPr>
          <p:spPr>
            <a:xfrm>
              <a:off x="493560" y="5595120"/>
              <a:ext cx="3030840" cy="329760"/>
            </a:xfrm>
            <a:prstGeom prst="rect">
              <a:avLst/>
            </a:prstGeom>
            <a:noFill/>
            <a:ln w="0">
              <a:noFill/>
            </a:ln>
          </p:spPr>
          <p:style>
            <a:lnRef idx="0"/>
            <a:fillRef idx="0"/>
            <a:effectRef idx="0"/>
            <a:fontRef idx="minor"/>
          </p:style>
          <p:txBody>
            <a:bodyPr wrap="none" lIns="0" rIns="0" tIns="0" bIns="0" anchor="t">
              <a:noAutofit/>
            </a:bodyPr>
            <a:p>
              <a:pPr defTabSz="914400">
                <a:lnSpc>
                  <a:spcPts val="2049"/>
                </a:lnSpc>
                <a:tabLst>
                  <a:tab algn="l" pos="0"/>
                </a:tabLst>
              </a:pPr>
              <a:r>
                <a:rPr b="1" lang="en-US" sz="1650" spc="-1" strike="noStrike">
                  <a:solidFill>
                    <a:srgbClr val="e2e6e9"/>
                  </a:solidFill>
                  <a:latin typeface="Montserrat Bold"/>
                  <a:ea typeface="Montserrat Bold"/>
                </a:rPr>
                <a:t>SI Alətlərini Tətbiq Etmək</a:t>
              </a:r>
              <a:endParaRPr b="0" lang="en-US" sz="1650" spc="-1" strike="noStrike">
                <a:solidFill>
                  <a:srgbClr val="000000"/>
                </a:solidFill>
                <a:latin typeface="Arial"/>
              </a:endParaRPr>
            </a:p>
          </p:txBody>
        </p:sp>
        <p:sp>
          <p:nvSpPr>
            <p:cNvPr id="75" name="Text 16"/>
            <p:cNvSpPr/>
            <p:nvPr/>
          </p:nvSpPr>
          <p:spPr>
            <a:xfrm>
              <a:off x="493560" y="6045120"/>
              <a:ext cx="6548040" cy="648000"/>
            </a:xfrm>
            <a:prstGeom prst="rect">
              <a:avLst/>
            </a:prstGeom>
            <a:noFill/>
            <a:ln w="0">
              <a:noFill/>
            </a:ln>
          </p:spPr>
          <p:style>
            <a:lnRef idx="0"/>
            <a:fillRef idx="0"/>
            <a:effectRef idx="0"/>
            <a:fontRef idx="minor"/>
          </p:style>
          <p:txBody>
            <a:bodyPr lIns="0" rIns="0" tIns="0" bIns="0" anchor="t">
              <a:noAutofit/>
            </a:bodyPr>
            <a:p>
              <a:pPr defTabSz="914400">
                <a:lnSpc>
                  <a:spcPts val="2001"/>
                </a:lnSpc>
                <a:tabLst>
                  <a:tab algn="l" pos="0"/>
                </a:tabLst>
              </a:pPr>
              <a:r>
                <a:rPr b="0" lang="en-US" sz="1450" spc="-1" strike="noStrike">
                  <a:solidFill>
                    <a:srgbClr val="e2e6e9"/>
                  </a:solidFill>
                  <a:latin typeface="Source Sans 3"/>
                  <a:ea typeface="Source Sans 3"/>
                </a:rPr>
                <a:t>Generativ SI, məlumat analitikası və maşın öyrənməsinin innovasiya portfelinə necə inteqrasiya olunduğunu praktik olaraq göstərə biləcəksiniz.</a:t>
              </a:r>
              <a:endParaRPr b="0" lang="en-US" sz="1450" spc="-1" strike="noStrike">
                <a:solidFill>
                  <a:srgbClr val="000000"/>
                </a:solidFill>
                <a:latin typeface="Arial"/>
              </a:endParaRPr>
            </a:p>
          </p:txBody>
        </p:sp>
        <p:sp>
          <p:nvSpPr>
            <p:cNvPr id="76" name="Shape 17"/>
            <p:cNvSpPr/>
            <p:nvPr/>
          </p:nvSpPr>
          <p:spPr>
            <a:xfrm>
              <a:off x="7438680" y="4668480"/>
              <a:ext cx="6997320" cy="2286000"/>
            </a:xfrm>
            <a:prstGeom prst="roundRect">
              <a:avLst>
                <a:gd name="adj" fmla="val 1526"/>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77" name="Shape 18"/>
            <p:cNvSpPr/>
            <p:nvPr/>
          </p:nvSpPr>
          <p:spPr>
            <a:xfrm>
              <a:off x="7463160" y="4697280"/>
              <a:ext cx="6948000" cy="697320"/>
            </a:xfrm>
            <a:prstGeom prst="roundRect">
              <a:avLst>
                <a:gd name="adj" fmla="val 72"/>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78" name="Text 19"/>
            <p:cNvSpPr/>
            <p:nvPr/>
          </p:nvSpPr>
          <p:spPr>
            <a:xfrm>
              <a:off x="10787760" y="4827960"/>
              <a:ext cx="299160" cy="435600"/>
            </a:xfrm>
            <a:prstGeom prst="rect">
              <a:avLst/>
            </a:prstGeom>
            <a:noFill/>
            <a:ln w="0">
              <a:noFill/>
            </a:ln>
          </p:spPr>
          <p:style>
            <a:lnRef idx="0"/>
            <a:fillRef idx="0"/>
            <a:effectRef idx="0"/>
            <a:fontRef idx="minor"/>
          </p:style>
          <p:txBody>
            <a:bodyPr wrap="none" lIns="0" rIns="0" tIns="0" bIns="0" anchor="t">
              <a:noAutofit/>
            </a:bodyPr>
            <a:p>
              <a:pPr defTabSz="914400">
                <a:lnSpc>
                  <a:spcPts val="2149"/>
                </a:lnSpc>
                <a:tabLst>
                  <a:tab algn="l" pos="0"/>
                </a:tabLst>
              </a:pPr>
              <a:r>
                <a:rPr b="1" lang="en-US" sz="2150" spc="-1" strike="noStrike">
                  <a:solidFill>
                    <a:srgbClr val="e2e6e9"/>
                  </a:solidFill>
                  <a:latin typeface="Montserrat Bold"/>
                  <a:ea typeface="Montserrat Bold"/>
                </a:rPr>
                <a:t>4</a:t>
              </a:r>
              <a:endParaRPr b="0" lang="en-US" sz="2150" spc="-1" strike="noStrike">
                <a:solidFill>
                  <a:srgbClr val="000000"/>
                </a:solidFill>
                <a:latin typeface="Arial"/>
              </a:endParaRPr>
            </a:p>
          </p:txBody>
        </p:sp>
        <p:sp>
          <p:nvSpPr>
            <p:cNvPr id="79" name="Text 20"/>
            <p:cNvSpPr/>
            <p:nvPr/>
          </p:nvSpPr>
          <p:spPr>
            <a:xfrm>
              <a:off x="7663320" y="5595120"/>
              <a:ext cx="3045960" cy="329760"/>
            </a:xfrm>
            <a:prstGeom prst="rect">
              <a:avLst/>
            </a:prstGeom>
            <a:noFill/>
            <a:ln w="0">
              <a:noFill/>
            </a:ln>
          </p:spPr>
          <p:style>
            <a:lnRef idx="0"/>
            <a:fillRef idx="0"/>
            <a:effectRef idx="0"/>
            <a:fontRef idx="minor"/>
          </p:style>
          <p:txBody>
            <a:bodyPr wrap="none" lIns="0" rIns="0" tIns="0" bIns="0" anchor="t">
              <a:noAutofit/>
            </a:bodyPr>
            <a:p>
              <a:pPr defTabSz="914400">
                <a:lnSpc>
                  <a:spcPts val="2049"/>
                </a:lnSpc>
                <a:tabLst>
                  <a:tab algn="l" pos="0"/>
                </a:tabLst>
              </a:pPr>
              <a:r>
                <a:rPr b="1" lang="en-US" sz="1650" spc="-1" strike="noStrike">
                  <a:solidFill>
                    <a:srgbClr val="e2e6e9"/>
                  </a:solidFill>
                  <a:latin typeface="Montserrat Bold"/>
                  <a:ea typeface="Montserrat Bold"/>
                </a:rPr>
                <a:t>Riskləri Qiymətləndirmək</a:t>
              </a:r>
              <a:endParaRPr b="0" lang="en-US" sz="1650" spc="-1" strike="noStrike">
                <a:solidFill>
                  <a:srgbClr val="000000"/>
                </a:solidFill>
                <a:latin typeface="Arial"/>
              </a:endParaRPr>
            </a:p>
          </p:txBody>
        </p:sp>
        <p:sp>
          <p:nvSpPr>
            <p:cNvPr id="80" name="Text 21"/>
            <p:cNvSpPr/>
            <p:nvPr/>
          </p:nvSpPr>
          <p:spPr>
            <a:xfrm>
              <a:off x="7663320" y="6045120"/>
              <a:ext cx="6548400" cy="648000"/>
            </a:xfrm>
            <a:prstGeom prst="rect">
              <a:avLst/>
            </a:prstGeom>
            <a:noFill/>
            <a:ln w="0">
              <a:noFill/>
            </a:ln>
          </p:spPr>
          <p:style>
            <a:lnRef idx="0"/>
            <a:fillRef idx="0"/>
            <a:effectRef idx="0"/>
            <a:fontRef idx="minor"/>
          </p:style>
          <p:txBody>
            <a:bodyPr lIns="0" rIns="0" tIns="0" bIns="0" anchor="t">
              <a:noAutofit/>
            </a:bodyPr>
            <a:p>
              <a:pPr defTabSz="914400">
                <a:lnSpc>
                  <a:spcPts val="2001"/>
                </a:lnSpc>
                <a:tabLst>
                  <a:tab algn="l" pos="0"/>
                </a:tabLst>
              </a:pPr>
              <a:r>
                <a:rPr b="0" lang="en-US" sz="1450" spc="-1" strike="noStrike">
                  <a:solidFill>
                    <a:srgbClr val="e2e6e9"/>
                  </a:solidFill>
                  <a:latin typeface="Source Sans 3"/>
                  <a:ea typeface="Source Sans 3"/>
                </a:rPr>
                <a:t>SI əsaslı innovasiyada etik məsələlər, məlumatların qorunması və alqoritmik qərəz kimi əsas risk amillərini analiz edə biləcəksiniz.</a:t>
              </a:r>
              <a:endParaRPr b="0" lang="en-US" sz="1450" spc="-1" strike="noStrike">
                <a:solidFill>
                  <a:srgbClr val="000000"/>
                </a:solidFill>
                <a:latin typeface="Arial"/>
              </a:endParaRPr>
            </a:p>
          </p:txBody>
        </p:sp>
        <p:sp>
          <p:nvSpPr>
            <p:cNvPr id="81" name="Shape 22"/>
            <p:cNvSpPr/>
            <p:nvPr/>
          </p:nvSpPr>
          <p:spPr>
            <a:xfrm>
              <a:off x="268920" y="7180200"/>
              <a:ext cx="14167080" cy="887400"/>
            </a:xfrm>
            <a:prstGeom prst="roundRect">
              <a:avLst>
                <a:gd name="adj" fmla="val 3930"/>
              </a:avLst>
            </a:prstGeom>
            <a:solidFill>
              <a:srgbClr val="262626"/>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82" name="Image 0" descr="preencoded.png"/>
            <p:cNvPicPr/>
            <p:nvPr/>
          </p:nvPicPr>
          <p:blipFill>
            <a:blip r:embed="rId1"/>
            <a:stretch/>
          </p:blipFill>
          <p:spPr>
            <a:xfrm>
              <a:off x="468720" y="7496280"/>
              <a:ext cx="249120" cy="231840"/>
            </a:xfrm>
            <a:prstGeom prst="rect">
              <a:avLst/>
            </a:prstGeom>
            <a:ln w="0">
              <a:noFill/>
            </a:ln>
          </p:spPr>
        </p:pic>
        <p:sp>
          <p:nvSpPr>
            <p:cNvPr id="83" name="Text 23"/>
            <p:cNvSpPr/>
            <p:nvPr/>
          </p:nvSpPr>
          <p:spPr>
            <a:xfrm>
              <a:off x="918720" y="7437960"/>
              <a:ext cx="13317480" cy="333360"/>
            </a:xfrm>
            <a:prstGeom prst="rect">
              <a:avLst/>
            </a:prstGeom>
            <a:noFill/>
            <a:ln w="0">
              <a:noFill/>
            </a:ln>
          </p:spPr>
          <p:style>
            <a:lnRef idx="0"/>
            <a:fillRef idx="0"/>
            <a:effectRef idx="0"/>
            <a:fontRef idx="minor"/>
          </p:style>
          <p:txBody>
            <a:bodyPr wrap="none" lIns="0" rIns="0" tIns="0" bIns="0" anchor="t">
              <a:noAutofit/>
            </a:bodyPr>
            <a:p>
              <a:pPr defTabSz="914400">
                <a:lnSpc>
                  <a:spcPts val="2001"/>
                </a:lnSpc>
                <a:tabLst>
                  <a:tab algn="l" pos="0"/>
                </a:tabLst>
              </a:pPr>
              <a:r>
                <a:rPr b="0" lang="en-US" sz="1450" spc="-1" strike="noStrike">
                  <a:solidFill>
                    <a:srgbClr val="000000"/>
                  </a:solidFill>
                  <a:latin typeface="Source Sans 3"/>
                  <a:ea typeface="Source Sans 3"/>
                </a:rPr>
                <a:t>🎯</a:t>
              </a:r>
              <a:r>
                <a:rPr b="0" lang="en-US" sz="1450" spc="-1" strike="noStrike">
                  <a:solidFill>
                    <a:srgbClr val="ffffff"/>
                  </a:solidFill>
                  <a:latin typeface="Source Sans 3"/>
                  <a:ea typeface="Source Sans 3"/>
                </a:rPr>
                <a:t> </a:t>
              </a:r>
              <a:r>
                <a:rPr b="1" lang="en-US" sz="1450" spc="-1" strike="noStrike">
                  <a:solidFill>
                    <a:srgbClr val="ffffff"/>
                  </a:solidFill>
                  <a:latin typeface="Source Sans 3"/>
                  <a:ea typeface="Source Sans 3"/>
                </a:rPr>
                <a:t>Əsas Sual:</a:t>
              </a:r>
              <a:r>
                <a:rPr b="0" lang="en-US" sz="1450" spc="-1" strike="noStrike">
                  <a:solidFill>
                    <a:srgbClr val="ffffff"/>
                  </a:solidFill>
                  <a:latin typeface="Source Sans 3"/>
                  <a:ea typeface="Source Sans 3"/>
                </a:rPr>
                <a:t> "Bu gün biz SI-nin innovasiyaların sürətləndirilməsinə necə kömək etdiyini araşdıracağıq — ideyanın doğulmasından bazara çıxışa qədər."</a:t>
              </a:r>
              <a:endParaRPr b="0" lang="en-US" sz="145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84" name="Group 21"/>
          <p:cNvGrpSpPr/>
          <p:nvPr/>
        </p:nvGrpSpPr>
        <p:grpSpPr>
          <a:xfrm>
            <a:off x="369720" y="359640"/>
            <a:ext cx="13858920" cy="7499520"/>
            <a:chOff x="369720" y="359640"/>
            <a:chExt cx="13858920" cy="7499520"/>
          </a:xfrm>
        </p:grpSpPr>
        <p:sp>
          <p:nvSpPr>
            <p:cNvPr id="85" name="Text 0"/>
            <p:cNvSpPr/>
            <p:nvPr/>
          </p:nvSpPr>
          <p:spPr>
            <a:xfrm>
              <a:off x="369720" y="359640"/>
              <a:ext cx="5205960" cy="686880"/>
            </a:xfrm>
            <a:prstGeom prst="rect">
              <a:avLst/>
            </a:prstGeom>
            <a:noFill/>
            <a:ln w="0">
              <a:noFill/>
            </a:ln>
          </p:spPr>
          <p:style>
            <a:lnRef idx="0"/>
            <a:fillRef idx="0"/>
            <a:effectRef idx="0"/>
            <a:fontRef idx="minor"/>
          </p:style>
          <p:txBody>
            <a:bodyPr wrap="none" lIns="0" rIns="0" tIns="0" bIns="0" anchor="t">
              <a:noAutofit/>
            </a:bodyPr>
            <a:p>
              <a:pPr defTabSz="914400">
                <a:lnSpc>
                  <a:spcPts val="4799"/>
                </a:lnSpc>
                <a:tabLst>
                  <a:tab algn="l" pos="0"/>
                </a:tabLst>
              </a:pPr>
              <a:r>
                <a:rPr b="1" lang="en-US" sz="3850" spc="-1" strike="noStrike">
                  <a:solidFill>
                    <a:srgbClr val="ffffff"/>
                  </a:solidFill>
                  <a:latin typeface="Montserrat Bold"/>
                  <a:ea typeface="Montserrat Bold"/>
                </a:rPr>
                <a:t>İnnovasiya Nədir?</a:t>
              </a:r>
              <a:endParaRPr b="0" lang="en-US" sz="3850" spc="-1" strike="noStrike">
                <a:solidFill>
                  <a:srgbClr val="000000"/>
                </a:solidFill>
                <a:latin typeface="Arial"/>
              </a:endParaRPr>
            </a:p>
          </p:txBody>
        </p:sp>
        <p:sp>
          <p:nvSpPr>
            <p:cNvPr id="86" name="Text 1"/>
            <p:cNvSpPr/>
            <p:nvPr/>
          </p:nvSpPr>
          <p:spPr>
            <a:xfrm>
              <a:off x="369720" y="1652400"/>
              <a:ext cx="2602800" cy="343080"/>
            </a:xfrm>
            <a:prstGeom prst="rect">
              <a:avLst/>
            </a:prstGeom>
            <a:noFill/>
            <a:ln w="0">
              <a:noFill/>
            </a:ln>
          </p:spPr>
          <p:style>
            <a:lnRef idx="0"/>
            <a:fillRef idx="0"/>
            <a:effectRef idx="0"/>
            <a:fontRef idx="minor"/>
          </p:style>
          <p:txBody>
            <a:bodyPr wrap="none" lIns="0" rIns="0" tIns="0" bIns="0" anchor="t">
              <a:noAutofit/>
            </a:bodyPr>
            <a:p>
              <a:pPr defTabSz="914400">
                <a:lnSpc>
                  <a:spcPts val="2401"/>
                </a:lnSpc>
                <a:tabLst>
                  <a:tab algn="l" pos="0"/>
                </a:tabLst>
              </a:pPr>
              <a:r>
                <a:rPr b="1" lang="en-US" sz="1900" spc="-1" strike="noStrike">
                  <a:solidFill>
                    <a:srgbClr val="ffffff"/>
                  </a:solidFill>
                  <a:latin typeface="Montserrat Bold"/>
                  <a:ea typeface="Montserrat Bold"/>
                </a:rPr>
                <a:t>Rəsmi Tərif</a:t>
              </a:r>
              <a:endParaRPr b="0" lang="en-US" sz="1900" spc="-1" strike="noStrike">
                <a:solidFill>
                  <a:srgbClr val="000000"/>
                </a:solidFill>
                <a:latin typeface="Arial"/>
              </a:endParaRPr>
            </a:p>
          </p:txBody>
        </p:sp>
        <p:sp>
          <p:nvSpPr>
            <p:cNvPr id="87" name="Text 2"/>
            <p:cNvSpPr/>
            <p:nvPr/>
          </p:nvSpPr>
          <p:spPr>
            <a:xfrm>
              <a:off x="369720" y="2238120"/>
              <a:ext cx="7275240" cy="1451880"/>
            </a:xfrm>
            <a:prstGeom prst="rect">
              <a:avLst/>
            </a:prstGeom>
            <a:noFill/>
            <a:ln w="0">
              <a:noFill/>
            </a:ln>
          </p:spPr>
          <p:style>
            <a:lnRef idx="0"/>
            <a:fillRef idx="0"/>
            <a:effectRef idx="0"/>
            <a:fontRef idx="minor"/>
          </p:style>
          <p:txBody>
            <a:bodyPr lIns="0" rIns="0" tIns="0" bIns="0" anchor="t">
              <a:noAutofit/>
            </a:bodyPr>
            <a:p>
              <a:pPr defTabSz="914400">
                <a:lnSpc>
                  <a:spcPts val="2551"/>
                </a:lnSpc>
                <a:tabLst>
                  <a:tab algn="l" pos="0"/>
                </a:tabLst>
              </a:pPr>
              <a:r>
                <a:rPr b="0" lang="en-US" sz="1700" spc="-1" strike="noStrike">
                  <a:solidFill>
                    <a:srgbClr val="e2e6e9"/>
                  </a:solidFill>
                  <a:latin typeface="Source Sans 3"/>
                  <a:ea typeface="Source Sans 3"/>
                </a:rPr>
                <a:t>İnnovasiya — </a:t>
              </a:r>
              <a:r>
                <a:rPr b="1" lang="en-US" sz="1700" spc="-1" strike="noStrike">
                  <a:solidFill>
                    <a:srgbClr val="e2e6e9"/>
                  </a:solidFill>
                  <a:latin typeface="Source Sans 3"/>
                  <a:ea typeface="Source Sans 3"/>
                </a:rPr>
                <a:t>dəyər yaradan və praktik tətbiqi olan yeni həll</a:t>
              </a:r>
              <a:r>
                <a:rPr b="0" lang="en-US" sz="1700" spc="-1" strike="noStrike">
                  <a:solidFill>
                    <a:srgbClr val="e2e6e9"/>
                  </a:solidFill>
                  <a:latin typeface="Source Sans 3"/>
                  <a:ea typeface="Source Sans 3"/>
                </a:rPr>
                <a:t>dir. Bu tərif üç mühüm elementi özündə birləşdirir: </a:t>
              </a:r>
              <a:r>
                <a:rPr b="1" lang="en-US" sz="1700" spc="-1" strike="noStrike">
                  <a:solidFill>
                    <a:srgbClr val="e2e6e9"/>
                  </a:solidFill>
                  <a:latin typeface="Source Sans 3"/>
                  <a:ea typeface="Source Sans 3"/>
                </a:rPr>
                <a:t>yenilik</a:t>
              </a:r>
              <a:r>
                <a:rPr b="0" lang="en-US" sz="1700" spc="-1" strike="noStrike">
                  <a:solidFill>
                    <a:srgbClr val="e2e6e9"/>
                  </a:solidFill>
                  <a:latin typeface="Source Sans 3"/>
                  <a:ea typeface="Source Sans 3"/>
                </a:rPr>
                <a:t> (mövcud olmayanın yaradılması və ya köklü dəyişdirilməsi), </a:t>
              </a:r>
              <a:r>
                <a:rPr b="1" lang="en-US" sz="1700" spc="-1" strike="noStrike">
                  <a:solidFill>
                    <a:srgbClr val="e2e6e9"/>
                  </a:solidFill>
                  <a:latin typeface="Source Sans 3"/>
                  <a:ea typeface="Source Sans 3"/>
                </a:rPr>
                <a:t>dəyər</a:t>
              </a:r>
              <a:r>
                <a:rPr b="0" lang="en-US" sz="1700" spc="-1" strike="noStrike">
                  <a:solidFill>
                    <a:srgbClr val="e2e6e9"/>
                  </a:solidFill>
                  <a:latin typeface="Source Sans 3"/>
                  <a:ea typeface="Source Sans 3"/>
                </a:rPr>
                <a:t> (müştəri, cəmiyyət və ya biznes üçün real fayda) və </a:t>
              </a:r>
              <a:r>
                <a:rPr b="1" lang="en-US" sz="1700" spc="-1" strike="noStrike">
                  <a:solidFill>
                    <a:srgbClr val="e2e6e9"/>
                  </a:solidFill>
                  <a:latin typeface="Source Sans 3"/>
                  <a:ea typeface="Source Sans 3"/>
                </a:rPr>
                <a:t>tətbiqolunma qabiliyyəti</a:t>
              </a:r>
              <a:r>
                <a:rPr b="0" lang="en-US" sz="1700" spc="-1" strike="noStrike">
                  <a:solidFill>
                    <a:srgbClr val="e2e6e9"/>
                  </a:solidFill>
                  <a:latin typeface="Source Sans 3"/>
                  <a:ea typeface="Source Sans 3"/>
                </a:rPr>
                <a:t> (ideyadan praktikaya keçid).</a:t>
              </a:r>
              <a:endParaRPr b="0" lang="en-US" sz="1700" spc="-1" strike="noStrike">
                <a:solidFill>
                  <a:srgbClr val="000000"/>
                </a:solidFill>
                <a:latin typeface="Arial"/>
              </a:endParaRPr>
            </a:p>
          </p:txBody>
        </p:sp>
        <p:sp>
          <p:nvSpPr>
            <p:cNvPr id="88" name="Text 3"/>
            <p:cNvSpPr/>
            <p:nvPr/>
          </p:nvSpPr>
          <p:spPr>
            <a:xfrm>
              <a:off x="369720" y="3908880"/>
              <a:ext cx="7275240" cy="1815120"/>
            </a:xfrm>
            <a:prstGeom prst="rect">
              <a:avLst/>
            </a:prstGeom>
            <a:noFill/>
            <a:ln w="0">
              <a:noFill/>
            </a:ln>
          </p:spPr>
          <p:style>
            <a:lnRef idx="0"/>
            <a:fillRef idx="0"/>
            <a:effectRef idx="0"/>
            <a:fontRef idx="minor"/>
          </p:style>
          <p:txBody>
            <a:bodyPr lIns="0" rIns="0" tIns="0" bIns="0" anchor="t">
              <a:noAutofit/>
            </a:bodyPr>
            <a:p>
              <a:pPr defTabSz="914400">
                <a:lnSpc>
                  <a:spcPts val="2551"/>
                </a:lnSpc>
                <a:tabLst>
                  <a:tab algn="l" pos="0"/>
                </a:tabLst>
              </a:pPr>
              <a:r>
                <a:rPr b="0" lang="en-US" sz="1700" spc="-1" strike="noStrike">
                  <a:solidFill>
                    <a:srgbClr val="e2e6e9"/>
                  </a:solidFill>
                  <a:latin typeface="Source Sans 3"/>
                  <a:ea typeface="Source Sans 3"/>
                </a:rPr>
                <a:t>Sadəcə yeni bir ideya düşünmək innovasiya deyil. İdeya bazara çatmadıqca, müştəri problemini həll etmədikçə və ya təşkilata iqtisadi/sosial dəyər gətirmədikçə, o, yalnız bir konsepsiya olaraq qalır. Schumpeter innovasiyanı "yaradıcı məhvetmə" adlandırırdı — köhnə strukturlar yenilərinin yolunu açmaq üçün dağılır.</a:t>
              </a:r>
              <a:endParaRPr b="0" lang="en-US" sz="1700" spc="-1" strike="noStrike">
                <a:solidFill>
                  <a:srgbClr val="000000"/>
                </a:solidFill>
                <a:latin typeface="Arial"/>
              </a:endParaRPr>
            </a:p>
          </p:txBody>
        </p:sp>
        <p:sp>
          <p:nvSpPr>
            <p:cNvPr id="89" name="Text 4"/>
            <p:cNvSpPr/>
            <p:nvPr/>
          </p:nvSpPr>
          <p:spPr>
            <a:xfrm>
              <a:off x="369720" y="5966640"/>
              <a:ext cx="2602800" cy="343080"/>
            </a:xfrm>
            <a:prstGeom prst="rect">
              <a:avLst/>
            </a:prstGeom>
            <a:noFill/>
            <a:ln w="0">
              <a:noFill/>
            </a:ln>
          </p:spPr>
          <p:style>
            <a:lnRef idx="0"/>
            <a:fillRef idx="0"/>
            <a:effectRef idx="0"/>
            <a:fontRef idx="minor"/>
          </p:style>
          <p:txBody>
            <a:bodyPr wrap="none" lIns="0" rIns="0" tIns="0" bIns="0" anchor="t">
              <a:noAutofit/>
            </a:bodyPr>
            <a:p>
              <a:pPr defTabSz="914400">
                <a:lnSpc>
                  <a:spcPts val="2401"/>
                </a:lnSpc>
                <a:tabLst>
                  <a:tab algn="l" pos="0"/>
                </a:tabLst>
              </a:pPr>
              <a:r>
                <a:rPr b="1" lang="en-US" sz="1900" spc="-1" strike="noStrike">
                  <a:solidFill>
                    <a:srgbClr val="ffffff"/>
                  </a:solidFill>
                  <a:latin typeface="Montserrat Bold"/>
                  <a:ea typeface="Montserrat Bold"/>
                </a:rPr>
                <a:t>İcad vs. İnnovasiya</a:t>
              </a:r>
              <a:endParaRPr b="0" lang="en-US" sz="1900" spc="-1" strike="noStrike">
                <a:solidFill>
                  <a:srgbClr val="000000"/>
                </a:solidFill>
                <a:latin typeface="Arial"/>
              </a:endParaRPr>
            </a:p>
          </p:txBody>
        </p:sp>
        <p:sp>
          <p:nvSpPr>
            <p:cNvPr id="90" name="Text 5"/>
            <p:cNvSpPr/>
            <p:nvPr/>
          </p:nvSpPr>
          <p:spPr>
            <a:xfrm>
              <a:off x="369720" y="6552360"/>
              <a:ext cx="7275240" cy="1088640"/>
            </a:xfrm>
            <a:prstGeom prst="rect">
              <a:avLst/>
            </a:prstGeom>
            <a:noFill/>
            <a:ln w="0">
              <a:noFill/>
            </a:ln>
          </p:spPr>
          <p:style>
            <a:lnRef idx="0"/>
            <a:fillRef idx="0"/>
            <a:effectRef idx="0"/>
            <a:fontRef idx="minor"/>
          </p:style>
          <p:txBody>
            <a:bodyPr lIns="0" rIns="0" tIns="0" bIns="0" anchor="t">
              <a:noAutofit/>
            </a:bodyPr>
            <a:p>
              <a:pPr defTabSz="914400">
                <a:lnSpc>
                  <a:spcPts val="2551"/>
                </a:lnSpc>
                <a:tabLst>
                  <a:tab algn="l" pos="0"/>
                </a:tabLst>
              </a:pPr>
              <a:r>
                <a:rPr b="0" lang="en-US" sz="1700" spc="-1" strike="noStrike">
                  <a:solidFill>
                    <a:srgbClr val="e2e6e9"/>
                  </a:solidFill>
                  <a:latin typeface="Source Sans 3"/>
                  <a:ea typeface="Source Sans 3"/>
                </a:rPr>
                <a:t>İcad texniki bir nailiyyətdir; innovasiya isə həmin nailiyyətin bazar dəyərinə çevrilməsidir. Elektrik mühərriki icad idi — elektrikli avtomobillər innovasiya oldu.</a:t>
              </a:r>
              <a:endParaRPr b="0" lang="en-US" sz="1700" spc="-1" strike="noStrike">
                <a:solidFill>
                  <a:srgbClr val="000000"/>
                </a:solidFill>
                <a:latin typeface="Arial"/>
              </a:endParaRPr>
            </a:p>
          </p:txBody>
        </p:sp>
        <p:sp>
          <p:nvSpPr>
            <p:cNvPr id="91" name="Shape 6"/>
            <p:cNvSpPr/>
            <p:nvPr/>
          </p:nvSpPr>
          <p:spPr>
            <a:xfrm>
              <a:off x="8047800" y="1410480"/>
              <a:ext cx="6180840" cy="6448680"/>
            </a:xfrm>
            <a:prstGeom prst="roundRect">
              <a:avLst>
                <a:gd name="adj" fmla="val 563"/>
              </a:avLst>
            </a:prstGeom>
            <a:solidFill>
              <a:srgbClr val="1d1f2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92" name="Text 7"/>
            <p:cNvSpPr/>
            <p:nvPr/>
          </p:nvSpPr>
          <p:spPr>
            <a:xfrm>
              <a:off x="8277120" y="1652400"/>
              <a:ext cx="2825640" cy="343080"/>
            </a:xfrm>
            <a:prstGeom prst="rect">
              <a:avLst/>
            </a:prstGeom>
            <a:noFill/>
            <a:ln w="0">
              <a:noFill/>
            </a:ln>
          </p:spPr>
          <p:style>
            <a:lnRef idx="0"/>
            <a:fillRef idx="0"/>
            <a:effectRef idx="0"/>
            <a:fontRef idx="minor"/>
          </p:style>
          <p:txBody>
            <a:bodyPr wrap="none" lIns="0" rIns="0" tIns="0" bIns="0" anchor="t">
              <a:noAutofit/>
            </a:bodyPr>
            <a:p>
              <a:pPr defTabSz="914400">
                <a:lnSpc>
                  <a:spcPts val="2401"/>
                </a:lnSpc>
                <a:tabLst>
                  <a:tab algn="l" pos="0"/>
                </a:tabLst>
              </a:pPr>
              <a:r>
                <a:rPr b="1" lang="en-US" sz="1900" spc="-1" strike="noStrike">
                  <a:solidFill>
                    <a:srgbClr val="ffffff"/>
                  </a:solidFill>
                  <a:latin typeface="Montserrat Bold"/>
                  <a:ea typeface="Montserrat Bold"/>
                </a:rPr>
                <a:t>İnnovasiyanın 3 Şərti</a:t>
              </a:r>
              <a:endParaRPr b="0" lang="en-US" sz="1900" spc="-1" strike="noStrike">
                <a:solidFill>
                  <a:srgbClr val="000000"/>
                </a:solidFill>
                <a:latin typeface="Arial"/>
              </a:endParaRPr>
            </a:p>
          </p:txBody>
        </p:sp>
        <p:sp>
          <p:nvSpPr>
            <p:cNvPr id="93" name="Shape 8"/>
            <p:cNvSpPr/>
            <p:nvPr/>
          </p:nvSpPr>
          <p:spPr>
            <a:xfrm>
              <a:off x="8277120" y="2268360"/>
              <a:ext cx="514800" cy="543960"/>
            </a:xfrm>
            <a:prstGeom prst="roundRect">
              <a:avLst>
                <a:gd name="adj" fmla="val 6667"/>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94" name="Text 9"/>
            <p:cNvSpPr/>
            <p:nvPr/>
          </p:nvSpPr>
          <p:spPr>
            <a:xfrm>
              <a:off x="8378280" y="2334600"/>
              <a:ext cx="311760" cy="411840"/>
            </a:xfrm>
            <a:prstGeom prst="rect">
              <a:avLst/>
            </a:prstGeom>
            <a:noFill/>
            <a:ln w="0">
              <a:noFill/>
            </a:ln>
          </p:spPr>
          <p:style>
            <a:lnRef idx="0"/>
            <a:fillRef idx="0"/>
            <a:effectRef idx="0"/>
            <a:fontRef idx="minor"/>
          </p:style>
          <p:txBody>
            <a:bodyPr wrap="none" lIns="0" rIns="0" tIns="0" bIns="0" anchor="t">
              <a:noAutofit/>
            </a:bodyPr>
            <a:p>
              <a:pPr algn="ctr" defTabSz="914400">
                <a:lnSpc>
                  <a:spcPts val="2299"/>
                </a:lnSpc>
                <a:tabLst>
                  <a:tab algn="l" pos="0"/>
                </a:tabLst>
              </a:pPr>
              <a:r>
                <a:rPr b="1" lang="en-US" sz="2300" spc="-1" strike="noStrike">
                  <a:solidFill>
                    <a:srgbClr val="e2e6e9"/>
                  </a:solidFill>
                  <a:latin typeface="Montserrat Bold"/>
                  <a:ea typeface="Montserrat Bold"/>
                </a:rPr>
                <a:t>1</a:t>
              </a:r>
              <a:endParaRPr b="0" lang="en-US" sz="2300" spc="-1" strike="noStrike">
                <a:solidFill>
                  <a:srgbClr val="000000"/>
                </a:solidFill>
                <a:latin typeface="Arial"/>
              </a:endParaRPr>
            </a:p>
          </p:txBody>
        </p:sp>
        <p:sp>
          <p:nvSpPr>
            <p:cNvPr id="95" name="Text 10"/>
            <p:cNvSpPr/>
            <p:nvPr/>
          </p:nvSpPr>
          <p:spPr>
            <a:xfrm>
              <a:off x="9021240" y="2351520"/>
              <a:ext cx="2602800" cy="343080"/>
            </a:xfrm>
            <a:prstGeom prst="rect">
              <a:avLst/>
            </a:prstGeom>
            <a:noFill/>
            <a:ln w="0">
              <a:noFill/>
            </a:ln>
          </p:spPr>
          <p:style>
            <a:lnRef idx="0"/>
            <a:fillRef idx="0"/>
            <a:effectRef idx="0"/>
            <a:fontRef idx="minor"/>
          </p:style>
          <p:txBody>
            <a:bodyPr wrap="none" lIns="0" rIns="0" tIns="0" bIns="0" anchor="t">
              <a:noAutofit/>
            </a:bodyPr>
            <a:p>
              <a:pPr defTabSz="914400">
                <a:lnSpc>
                  <a:spcPts val="2401"/>
                </a:lnSpc>
                <a:tabLst>
                  <a:tab algn="l" pos="0"/>
                </a:tabLst>
              </a:pPr>
              <a:r>
                <a:rPr b="1" lang="en-US" sz="1900" spc="-1" strike="noStrike">
                  <a:solidFill>
                    <a:srgbClr val="e2e6e9"/>
                  </a:solidFill>
                  <a:latin typeface="Montserrat Bold"/>
                  <a:ea typeface="Montserrat Bold"/>
                </a:rPr>
                <a:t>Yenilik</a:t>
              </a:r>
              <a:endParaRPr b="0" lang="en-US" sz="1900" spc="-1" strike="noStrike">
                <a:solidFill>
                  <a:srgbClr val="000000"/>
                </a:solidFill>
                <a:latin typeface="Arial"/>
              </a:endParaRPr>
            </a:p>
          </p:txBody>
        </p:sp>
        <p:sp>
          <p:nvSpPr>
            <p:cNvPr id="96" name="Text 11"/>
            <p:cNvSpPr/>
            <p:nvPr/>
          </p:nvSpPr>
          <p:spPr>
            <a:xfrm>
              <a:off x="9021240" y="2937600"/>
              <a:ext cx="4978800" cy="725760"/>
            </a:xfrm>
            <a:prstGeom prst="rect">
              <a:avLst/>
            </a:prstGeom>
            <a:noFill/>
            <a:ln w="0">
              <a:noFill/>
            </a:ln>
          </p:spPr>
          <p:style>
            <a:lnRef idx="0"/>
            <a:fillRef idx="0"/>
            <a:effectRef idx="0"/>
            <a:fontRef idx="minor"/>
          </p:style>
          <p:txBody>
            <a:bodyPr lIns="0" rIns="0" tIns="0" bIns="0" anchor="t">
              <a:noAutofit/>
            </a:bodyPr>
            <a:p>
              <a:pPr defTabSz="914400">
                <a:lnSpc>
                  <a:spcPts val="2551"/>
                </a:lnSpc>
                <a:tabLst>
                  <a:tab algn="l" pos="0"/>
                </a:tabLst>
              </a:pPr>
              <a:r>
                <a:rPr b="0" lang="en-US" sz="1700" spc="-1" strike="noStrike">
                  <a:solidFill>
                    <a:srgbClr val="e2e6e9"/>
                  </a:solidFill>
                  <a:latin typeface="Source Sans 3"/>
                  <a:ea typeface="Source Sans 3"/>
                </a:rPr>
                <a:t>Mövcud həlldən fərqlənən, orijinal bir yanaşma olmalıdır.</a:t>
              </a:r>
              <a:endParaRPr b="0" lang="en-US" sz="1700" spc="-1" strike="noStrike">
                <a:solidFill>
                  <a:srgbClr val="000000"/>
                </a:solidFill>
                <a:latin typeface="Arial"/>
              </a:endParaRPr>
            </a:p>
          </p:txBody>
        </p:sp>
        <p:sp>
          <p:nvSpPr>
            <p:cNvPr id="97" name="Shape 12"/>
            <p:cNvSpPr/>
            <p:nvPr/>
          </p:nvSpPr>
          <p:spPr>
            <a:xfrm>
              <a:off x="8277120" y="4147920"/>
              <a:ext cx="514800" cy="543960"/>
            </a:xfrm>
            <a:prstGeom prst="roundRect">
              <a:avLst>
                <a:gd name="adj" fmla="val 6667"/>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98" name="Text 13"/>
            <p:cNvSpPr/>
            <p:nvPr/>
          </p:nvSpPr>
          <p:spPr>
            <a:xfrm>
              <a:off x="8378280" y="4213800"/>
              <a:ext cx="311760" cy="411840"/>
            </a:xfrm>
            <a:prstGeom prst="rect">
              <a:avLst/>
            </a:prstGeom>
            <a:noFill/>
            <a:ln w="0">
              <a:noFill/>
            </a:ln>
          </p:spPr>
          <p:style>
            <a:lnRef idx="0"/>
            <a:fillRef idx="0"/>
            <a:effectRef idx="0"/>
            <a:fontRef idx="minor"/>
          </p:style>
          <p:txBody>
            <a:bodyPr wrap="none" lIns="0" rIns="0" tIns="0" bIns="0" anchor="t">
              <a:noAutofit/>
            </a:bodyPr>
            <a:p>
              <a:pPr algn="ctr" defTabSz="914400">
                <a:lnSpc>
                  <a:spcPts val="2299"/>
                </a:lnSpc>
                <a:tabLst>
                  <a:tab algn="l" pos="0"/>
                </a:tabLst>
              </a:pPr>
              <a:r>
                <a:rPr b="1" lang="en-US" sz="2300" spc="-1" strike="noStrike">
                  <a:solidFill>
                    <a:srgbClr val="e2e6e9"/>
                  </a:solidFill>
                  <a:latin typeface="Montserrat Bold"/>
                  <a:ea typeface="Montserrat Bold"/>
                </a:rPr>
                <a:t>2</a:t>
              </a:r>
              <a:endParaRPr b="0" lang="en-US" sz="2300" spc="-1" strike="noStrike">
                <a:solidFill>
                  <a:srgbClr val="000000"/>
                </a:solidFill>
                <a:latin typeface="Arial"/>
              </a:endParaRPr>
            </a:p>
          </p:txBody>
        </p:sp>
        <p:sp>
          <p:nvSpPr>
            <p:cNvPr id="99" name="Text 14"/>
            <p:cNvSpPr/>
            <p:nvPr/>
          </p:nvSpPr>
          <p:spPr>
            <a:xfrm>
              <a:off x="9021240" y="4231080"/>
              <a:ext cx="2602800" cy="343080"/>
            </a:xfrm>
            <a:prstGeom prst="rect">
              <a:avLst/>
            </a:prstGeom>
            <a:noFill/>
            <a:ln w="0">
              <a:noFill/>
            </a:ln>
          </p:spPr>
          <p:style>
            <a:lnRef idx="0"/>
            <a:fillRef idx="0"/>
            <a:effectRef idx="0"/>
            <a:fontRef idx="minor"/>
          </p:style>
          <p:txBody>
            <a:bodyPr wrap="none" lIns="0" rIns="0" tIns="0" bIns="0" anchor="t">
              <a:noAutofit/>
            </a:bodyPr>
            <a:p>
              <a:pPr defTabSz="914400">
                <a:lnSpc>
                  <a:spcPts val="2401"/>
                </a:lnSpc>
                <a:tabLst>
                  <a:tab algn="l" pos="0"/>
                </a:tabLst>
              </a:pPr>
              <a:r>
                <a:rPr b="1" lang="en-US" sz="1900" spc="-1" strike="noStrike">
                  <a:solidFill>
                    <a:srgbClr val="e2e6e9"/>
                  </a:solidFill>
                  <a:latin typeface="Montserrat Bold"/>
                  <a:ea typeface="Montserrat Bold"/>
                </a:rPr>
                <a:t>Dəyər</a:t>
              </a:r>
              <a:endParaRPr b="0" lang="en-US" sz="1900" spc="-1" strike="noStrike">
                <a:solidFill>
                  <a:srgbClr val="000000"/>
                </a:solidFill>
                <a:latin typeface="Arial"/>
              </a:endParaRPr>
            </a:p>
          </p:txBody>
        </p:sp>
        <p:sp>
          <p:nvSpPr>
            <p:cNvPr id="100" name="Text 15"/>
            <p:cNvSpPr/>
            <p:nvPr/>
          </p:nvSpPr>
          <p:spPr>
            <a:xfrm>
              <a:off x="9021240" y="4816800"/>
              <a:ext cx="4978800" cy="725760"/>
            </a:xfrm>
            <a:prstGeom prst="rect">
              <a:avLst/>
            </a:prstGeom>
            <a:noFill/>
            <a:ln w="0">
              <a:noFill/>
            </a:ln>
          </p:spPr>
          <p:style>
            <a:lnRef idx="0"/>
            <a:fillRef idx="0"/>
            <a:effectRef idx="0"/>
            <a:fontRef idx="minor"/>
          </p:style>
          <p:txBody>
            <a:bodyPr lIns="0" rIns="0" tIns="0" bIns="0" anchor="t">
              <a:noAutofit/>
            </a:bodyPr>
            <a:p>
              <a:pPr defTabSz="914400">
                <a:lnSpc>
                  <a:spcPts val="2551"/>
                </a:lnSpc>
                <a:tabLst>
                  <a:tab algn="l" pos="0"/>
                </a:tabLst>
              </a:pPr>
              <a:r>
                <a:rPr b="0" lang="en-US" sz="1700" spc="-1" strike="noStrike">
                  <a:solidFill>
                    <a:srgbClr val="e2e6e9"/>
                  </a:solidFill>
                  <a:latin typeface="Source Sans 3"/>
                  <a:ea typeface="Source Sans 3"/>
                </a:rPr>
                <a:t>İstifadəçi, bazara və ya cəmiyyətə ölçülə bilən fayda gətirməlidir.</a:t>
              </a:r>
              <a:endParaRPr b="0" lang="en-US" sz="1700" spc="-1" strike="noStrike">
                <a:solidFill>
                  <a:srgbClr val="000000"/>
                </a:solidFill>
                <a:latin typeface="Arial"/>
              </a:endParaRPr>
            </a:p>
          </p:txBody>
        </p:sp>
        <p:sp>
          <p:nvSpPr>
            <p:cNvPr id="101" name="Shape 16"/>
            <p:cNvSpPr/>
            <p:nvPr/>
          </p:nvSpPr>
          <p:spPr>
            <a:xfrm>
              <a:off x="8277120" y="6027480"/>
              <a:ext cx="514800" cy="543960"/>
            </a:xfrm>
            <a:prstGeom prst="roundRect">
              <a:avLst>
                <a:gd name="adj" fmla="val 6667"/>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02" name="Text 17"/>
            <p:cNvSpPr/>
            <p:nvPr/>
          </p:nvSpPr>
          <p:spPr>
            <a:xfrm>
              <a:off x="8378280" y="6093360"/>
              <a:ext cx="311760" cy="411840"/>
            </a:xfrm>
            <a:prstGeom prst="rect">
              <a:avLst/>
            </a:prstGeom>
            <a:noFill/>
            <a:ln w="0">
              <a:noFill/>
            </a:ln>
          </p:spPr>
          <p:style>
            <a:lnRef idx="0"/>
            <a:fillRef idx="0"/>
            <a:effectRef idx="0"/>
            <a:fontRef idx="minor"/>
          </p:style>
          <p:txBody>
            <a:bodyPr wrap="none" lIns="0" rIns="0" tIns="0" bIns="0" anchor="t">
              <a:noAutofit/>
            </a:bodyPr>
            <a:p>
              <a:pPr algn="ctr" defTabSz="914400">
                <a:lnSpc>
                  <a:spcPts val="2299"/>
                </a:lnSpc>
                <a:tabLst>
                  <a:tab algn="l" pos="0"/>
                </a:tabLst>
              </a:pPr>
              <a:r>
                <a:rPr b="1" lang="en-US" sz="2300" spc="-1" strike="noStrike">
                  <a:solidFill>
                    <a:srgbClr val="e2e6e9"/>
                  </a:solidFill>
                  <a:latin typeface="Montserrat Bold"/>
                  <a:ea typeface="Montserrat Bold"/>
                </a:rPr>
                <a:t>3</a:t>
              </a:r>
              <a:endParaRPr b="0" lang="en-US" sz="2300" spc="-1" strike="noStrike">
                <a:solidFill>
                  <a:srgbClr val="000000"/>
                </a:solidFill>
                <a:latin typeface="Arial"/>
              </a:endParaRPr>
            </a:p>
          </p:txBody>
        </p:sp>
        <p:sp>
          <p:nvSpPr>
            <p:cNvPr id="103" name="Text 18"/>
            <p:cNvSpPr/>
            <p:nvPr/>
          </p:nvSpPr>
          <p:spPr>
            <a:xfrm>
              <a:off x="9021240" y="6110280"/>
              <a:ext cx="2602800" cy="343080"/>
            </a:xfrm>
            <a:prstGeom prst="rect">
              <a:avLst/>
            </a:prstGeom>
            <a:noFill/>
            <a:ln w="0">
              <a:noFill/>
            </a:ln>
          </p:spPr>
          <p:style>
            <a:lnRef idx="0"/>
            <a:fillRef idx="0"/>
            <a:effectRef idx="0"/>
            <a:fontRef idx="minor"/>
          </p:style>
          <p:txBody>
            <a:bodyPr wrap="none" lIns="0" rIns="0" tIns="0" bIns="0" anchor="t">
              <a:noAutofit/>
            </a:bodyPr>
            <a:p>
              <a:pPr defTabSz="914400">
                <a:lnSpc>
                  <a:spcPts val="2401"/>
                </a:lnSpc>
                <a:tabLst>
                  <a:tab algn="l" pos="0"/>
                </a:tabLst>
              </a:pPr>
              <a:r>
                <a:rPr b="1" lang="en-US" sz="1900" spc="-1" strike="noStrike">
                  <a:solidFill>
                    <a:srgbClr val="e2e6e9"/>
                  </a:solidFill>
                  <a:latin typeface="Montserrat Bold"/>
                  <a:ea typeface="Montserrat Bold"/>
                </a:rPr>
                <a:t>Tətbiq</a:t>
              </a:r>
              <a:endParaRPr b="0" lang="en-US" sz="1900" spc="-1" strike="noStrike">
                <a:solidFill>
                  <a:srgbClr val="000000"/>
                </a:solidFill>
                <a:latin typeface="Arial"/>
              </a:endParaRPr>
            </a:p>
          </p:txBody>
        </p:sp>
        <p:sp>
          <p:nvSpPr>
            <p:cNvPr id="104" name="Text 19"/>
            <p:cNvSpPr/>
            <p:nvPr/>
          </p:nvSpPr>
          <p:spPr>
            <a:xfrm>
              <a:off x="9021240" y="6696360"/>
              <a:ext cx="4978800" cy="362520"/>
            </a:xfrm>
            <a:prstGeom prst="rect">
              <a:avLst/>
            </a:prstGeom>
            <a:noFill/>
            <a:ln w="0">
              <a:noFill/>
            </a:ln>
          </p:spPr>
          <p:style>
            <a:lnRef idx="0"/>
            <a:fillRef idx="0"/>
            <a:effectRef idx="0"/>
            <a:fontRef idx="minor"/>
          </p:style>
          <p:txBody>
            <a:bodyPr wrap="none" lIns="0" rIns="0" tIns="0" bIns="0" anchor="t">
              <a:noAutofit/>
            </a:bodyPr>
            <a:p>
              <a:pPr defTabSz="914400">
                <a:lnSpc>
                  <a:spcPts val="2551"/>
                </a:lnSpc>
                <a:tabLst>
                  <a:tab algn="l" pos="0"/>
                </a:tabLst>
              </a:pPr>
              <a:r>
                <a:rPr b="0" lang="en-US" sz="1700" spc="-1" strike="noStrike">
                  <a:solidFill>
                    <a:srgbClr val="e2e6e9"/>
                  </a:solidFill>
                  <a:latin typeface="Source Sans 3"/>
                  <a:ea typeface="Source Sans 3"/>
                </a:rPr>
                <a:t>Real dünyada həyata keçirilə bilən, praktik olmalıdır.</a:t>
              </a:r>
              <a:endParaRPr b="0" lang="en-US" sz="17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Text 0"/>
          <p:cNvSpPr/>
          <p:nvPr/>
        </p:nvSpPr>
        <p:spPr>
          <a:xfrm>
            <a:off x="139680" y="172080"/>
            <a:ext cx="5176440" cy="639360"/>
          </a:xfrm>
          <a:prstGeom prst="rect">
            <a:avLst/>
          </a:prstGeom>
          <a:noFill/>
          <a:ln w="0">
            <a:noFill/>
          </a:ln>
        </p:spPr>
        <p:style>
          <a:lnRef idx="0"/>
          <a:fillRef idx="0"/>
          <a:effectRef idx="0"/>
          <a:fontRef idx="minor"/>
        </p:style>
        <p:txBody>
          <a:bodyPr wrap="none" lIns="0" rIns="0" tIns="0" bIns="0" anchor="t">
            <a:noAutofit/>
          </a:bodyPr>
          <a:p>
            <a:pPr defTabSz="914400">
              <a:lnSpc>
                <a:spcPts val="4150"/>
              </a:lnSpc>
              <a:tabLst>
                <a:tab algn="l" pos="0"/>
              </a:tabLst>
            </a:pPr>
            <a:r>
              <a:rPr b="1" lang="en-US" sz="3350" spc="-1" strike="noStrike">
                <a:solidFill>
                  <a:srgbClr val="ffffff"/>
                </a:solidFill>
                <a:latin typeface="Montserrat Bold"/>
                <a:ea typeface="Montserrat Bold"/>
              </a:rPr>
              <a:t>İnnovasiyanın Növləri</a:t>
            </a:r>
            <a:endParaRPr b="0" lang="en-US" sz="3350" spc="-1" strike="noStrike">
              <a:solidFill>
                <a:srgbClr val="000000"/>
              </a:solidFill>
              <a:latin typeface="Arial"/>
            </a:endParaRPr>
          </a:p>
        </p:txBody>
      </p:sp>
      <p:sp>
        <p:nvSpPr>
          <p:cNvPr id="106" name="Text 1"/>
          <p:cNvSpPr/>
          <p:nvPr/>
        </p:nvSpPr>
        <p:spPr>
          <a:xfrm>
            <a:off x="139680" y="1203480"/>
            <a:ext cx="14177880" cy="630360"/>
          </a:xfrm>
          <a:prstGeom prst="rect">
            <a:avLst/>
          </a:prstGeom>
          <a:noFill/>
          <a:ln w="0">
            <a:noFill/>
          </a:ln>
        </p:spPr>
        <p:style>
          <a:lnRef idx="0"/>
          <a:fillRef idx="0"/>
          <a:effectRef idx="0"/>
          <a:fontRef idx="minor"/>
        </p:style>
        <p:txBody>
          <a:bodyPr lIns="0" rIns="0" tIns="0" bIns="0" anchor="t">
            <a:noAutofit/>
          </a:bodyPr>
          <a:p>
            <a:pPr defTabSz="914400">
              <a:lnSpc>
                <a:spcPts val="2049"/>
              </a:lnSpc>
              <a:tabLst>
                <a:tab algn="l" pos="0"/>
              </a:tabLst>
            </a:pPr>
            <a:r>
              <a:rPr b="0" lang="en-US" sz="1700" spc="-1" strike="noStrike">
                <a:solidFill>
                  <a:srgbClr val="e2e6e9"/>
                </a:solidFill>
                <a:latin typeface="Source Sans 3"/>
                <a:ea typeface="Source Sans 3"/>
              </a:rPr>
              <a:t>Bütün innovasiyalar eyni intensivlikdə dəyişiklik yaratmır. Müasir innovasiya nəzəriyyəsi üç əsas kateqoriya müəyyən edir. Şirkətlər adətən bu üç növü balanslaşdıraraq sağlam innovasiya portfeli qurur.</a:t>
            </a:r>
            <a:endParaRPr b="0" lang="en-US" sz="1700" spc="-1" strike="noStrike">
              <a:solidFill>
                <a:srgbClr val="000000"/>
              </a:solidFill>
              <a:latin typeface="Arial"/>
            </a:endParaRPr>
          </a:p>
        </p:txBody>
      </p:sp>
      <p:pic>
        <p:nvPicPr>
          <p:cNvPr id="107" name="Image 0" descr="preencoded.png"/>
          <p:cNvPicPr/>
          <p:nvPr/>
        </p:nvPicPr>
        <p:blipFill>
          <a:blip r:embed="rId1"/>
          <a:stretch/>
        </p:blipFill>
        <p:spPr>
          <a:xfrm>
            <a:off x="139680" y="2054520"/>
            <a:ext cx="2655360" cy="1824120"/>
          </a:xfrm>
          <a:prstGeom prst="rect">
            <a:avLst/>
          </a:prstGeom>
          <a:ln w="0">
            <a:noFill/>
          </a:ln>
        </p:spPr>
      </p:pic>
      <p:sp>
        <p:nvSpPr>
          <p:cNvPr id="108" name="Text 2"/>
          <p:cNvSpPr/>
          <p:nvPr/>
        </p:nvSpPr>
        <p:spPr>
          <a:xfrm>
            <a:off x="139680" y="4123800"/>
            <a:ext cx="2827440" cy="319320"/>
          </a:xfrm>
          <a:prstGeom prst="rect">
            <a:avLst/>
          </a:prstGeom>
          <a:noFill/>
          <a:ln w="0">
            <a:noFill/>
          </a:ln>
        </p:spPr>
        <p:style>
          <a:lnRef idx="0"/>
          <a:fillRef idx="0"/>
          <a:effectRef idx="0"/>
          <a:fontRef idx="minor"/>
        </p:style>
        <p:txBody>
          <a:bodyPr wrap="none" lIns="0" rIns="0" tIns="0" bIns="0" anchor="t">
            <a:noAutofit/>
          </a:bodyPr>
          <a:p>
            <a:pPr defTabSz="914400">
              <a:lnSpc>
                <a:spcPts val="2049"/>
              </a:lnSpc>
              <a:tabLst>
                <a:tab algn="l" pos="0"/>
              </a:tabLst>
            </a:pPr>
            <a:r>
              <a:rPr b="1" lang="en-US" sz="1650" spc="-1" strike="noStrike">
                <a:solidFill>
                  <a:srgbClr val="e2e6e9"/>
                </a:solidFill>
                <a:latin typeface="Montserrat Bold"/>
                <a:ea typeface="Montserrat Bold"/>
              </a:rPr>
              <a:t>İnkremental İnnovasiya</a:t>
            </a:r>
            <a:endParaRPr b="0" lang="en-US" sz="1650" spc="-1" strike="noStrike">
              <a:solidFill>
                <a:srgbClr val="000000"/>
              </a:solidFill>
              <a:latin typeface="Arial"/>
            </a:endParaRPr>
          </a:p>
        </p:txBody>
      </p:sp>
      <p:sp>
        <p:nvSpPr>
          <p:cNvPr id="109" name="Text 3"/>
          <p:cNvSpPr/>
          <p:nvPr/>
        </p:nvSpPr>
        <p:spPr>
          <a:xfrm>
            <a:off x="139680" y="4561200"/>
            <a:ext cx="4578840" cy="2208600"/>
          </a:xfrm>
          <a:prstGeom prst="rect">
            <a:avLst/>
          </a:prstGeom>
          <a:noFill/>
          <a:ln w="0">
            <a:noFill/>
          </a:ln>
        </p:spPr>
        <p:style>
          <a:lnRef idx="0"/>
          <a:fillRef idx="0"/>
          <a:effectRef idx="0"/>
          <a:fontRef idx="minor"/>
        </p:style>
        <p:txBody>
          <a:bodyPr lIns="0" rIns="0" tIns="0" bIns="0" anchor="t">
            <a:noAutofit/>
          </a:bodyPr>
          <a:p>
            <a:pPr defTabSz="914400">
              <a:lnSpc>
                <a:spcPts val="2049"/>
              </a:lnSpc>
              <a:tabLst>
                <a:tab algn="l" pos="0"/>
              </a:tabLst>
            </a:pPr>
            <a:r>
              <a:rPr b="1" lang="en-US" sz="1450" spc="-1" strike="noStrike">
                <a:solidFill>
                  <a:srgbClr val="e2e6e9"/>
                </a:solidFill>
                <a:latin typeface="Source Sans 3"/>
                <a:ea typeface="Source Sans 3"/>
              </a:rPr>
              <a:t>Mövcud məhsulun təkmilləşdirilməsi.</a:t>
            </a:r>
            <a:r>
              <a:rPr b="0" lang="en-US" sz="1450" spc="-1" strike="noStrike">
                <a:solidFill>
                  <a:srgbClr val="e2e6e9"/>
                </a:solidFill>
                <a:latin typeface="Source Sans 3"/>
                <a:ea typeface="Source Sans 3"/>
              </a:rPr>
              <a:t> Bu növ innovasiya, artıq mövcud olan bir məhsul, xidmət və ya prosesin tədricən yaxşılaşdırılmasını nəzərdə tutur. Risk aşağıdır, lakin bazar üstünlüyü yaratmaq çətindir. Nümunə: iPhone-un hər yeni versiyası kamera, batareya ömrü və prosessor gücü baxımından irəliləyiş edir.</a:t>
            </a:r>
            <a:endParaRPr b="0" lang="en-US" sz="1450" spc="-1" strike="noStrike">
              <a:solidFill>
                <a:srgbClr val="000000"/>
              </a:solidFill>
              <a:latin typeface="Arial"/>
            </a:endParaRPr>
          </a:p>
        </p:txBody>
      </p:sp>
      <p:sp>
        <p:nvSpPr>
          <p:cNvPr id="110" name="Text 4"/>
          <p:cNvSpPr/>
          <p:nvPr/>
        </p:nvSpPr>
        <p:spPr>
          <a:xfrm>
            <a:off x="139680" y="6518880"/>
            <a:ext cx="4578840" cy="1082880"/>
          </a:xfrm>
          <a:prstGeom prst="rect">
            <a:avLst/>
          </a:prstGeom>
          <a:noFill/>
          <a:ln w="0">
            <a:noFill/>
          </a:ln>
        </p:spPr>
        <p:style>
          <a:lnRef idx="0"/>
          <a:fillRef idx="0"/>
          <a:effectRef idx="0"/>
          <a:fontRef idx="minor"/>
        </p:style>
        <p:txBody>
          <a:bodyPr lIns="0" rIns="0" tIns="0" bIns="0" anchor="t">
            <a:noAutofit/>
          </a:bodyPr>
          <a:p>
            <a:pPr marL="343080" indent="-343080" defTabSz="914400">
              <a:lnSpc>
                <a:spcPts val="2049"/>
              </a:lnSpc>
              <a:buClr>
                <a:srgbClr val="e2e6e9"/>
              </a:buClr>
              <a:buFont typeface="Symbol" charset="2"/>
              <a:buChar char=""/>
            </a:pPr>
            <a:r>
              <a:rPr b="0" lang="en-US" sz="1450" spc="-1" strike="noStrike">
                <a:solidFill>
                  <a:srgbClr val="e2e6e9"/>
                </a:solidFill>
                <a:latin typeface="Source Sans 3"/>
                <a:ea typeface="Source Sans 3"/>
              </a:rPr>
              <a:t>Aşağı risk, sabit gəlir</a:t>
            </a:r>
            <a:endParaRPr b="0" lang="en-US" sz="1450" spc="-1" strike="noStrike">
              <a:solidFill>
                <a:srgbClr val="000000"/>
              </a:solidFill>
              <a:latin typeface="Arial"/>
            </a:endParaRPr>
          </a:p>
          <a:p>
            <a:pPr marL="343080" indent="-343080" defTabSz="914400">
              <a:lnSpc>
                <a:spcPts val="2049"/>
              </a:lnSpc>
              <a:buClr>
                <a:srgbClr val="e2e6e9"/>
              </a:buClr>
              <a:buFont typeface="Symbol" charset="2"/>
              <a:buChar char=""/>
            </a:pPr>
            <a:r>
              <a:rPr b="0" lang="en-US" sz="1450" spc="-1" strike="noStrike">
                <a:solidFill>
                  <a:srgbClr val="e2e6e9"/>
                </a:solidFill>
                <a:latin typeface="Source Sans 3"/>
                <a:ea typeface="Source Sans 3"/>
              </a:rPr>
              <a:t>Mövcud müştərilər üçün daha çox dəyər</a:t>
            </a:r>
            <a:endParaRPr b="0" lang="en-US" sz="1450" spc="-1" strike="noStrike">
              <a:solidFill>
                <a:srgbClr val="000000"/>
              </a:solidFill>
              <a:latin typeface="Arial"/>
            </a:endParaRPr>
          </a:p>
          <a:p>
            <a:pPr marL="343080" indent="-343080" defTabSz="914400">
              <a:lnSpc>
                <a:spcPts val="2049"/>
              </a:lnSpc>
              <a:buClr>
                <a:srgbClr val="e2e6e9"/>
              </a:buClr>
              <a:buFont typeface="Symbol" charset="2"/>
              <a:buChar char=""/>
            </a:pPr>
            <a:r>
              <a:rPr b="0" lang="en-US" sz="1450" spc="-1" strike="noStrike">
                <a:solidFill>
                  <a:srgbClr val="e2e6e9"/>
                </a:solidFill>
                <a:latin typeface="Source Sans 3"/>
                <a:ea typeface="Source Sans 3"/>
              </a:rPr>
              <a:t>Rəqabətin asanlıqla kopyalaya bildiyi həllər</a:t>
            </a:r>
            <a:endParaRPr b="0" lang="en-US" sz="1450" spc="-1" strike="noStrike">
              <a:solidFill>
                <a:srgbClr val="000000"/>
              </a:solidFill>
              <a:latin typeface="Arial"/>
            </a:endParaRPr>
          </a:p>
        </p:txBody>
      </p:sp>
      <p:pic>
        <p:nvPicPr>
          <p:cNvPr id="111" name="Image 1" descr="preencoded.png"/>
          <p:cNvPicPr/>
          <p:nvPr/>
        </p:nvPicPr>
        <p:blipFill>
          <a:blip r:embed="rId2"/>
          <a:stretch/>
        </p:blipFill>
        <p:spPr>
          <a:xfrm>
            <a:off x="4939200" y="2054520"/>
            <a:ext cx="2655360" cy="1824120"/>
          </a:xfrm>
          <a:prstGeom prst="rect">
            <a:avLst/>
          </a:prstGeom>
          <a:ln w="0">
            <a:noFill/>
          </a:ln>
        </p:spPr>
      </p:pic>
      <p:sp>
        <p:nvSpPr>
          <p:cNvPr id="112" name="Text 5"/>
          <p:cNvSpPr/>
          <p:nvPr/>
        </p:nvSpPr>
        <p:spPr>
          <a:xfrm>
            <a:off x="4939200" y="4123800"/>
            <a:ext cx="2302200" cy="319320"/>
          </a:xfrm>
          <a:prstGeom prst="rect">
            <a:avLst/>
          </a:prstGeom>
          <a:noFill/>
          <a:ln w="0">
            <a:noFill/>
          </a:ln>
        </p:spPr>
        <p:style>
          <a:lnRef idx="0"/>
          <a:fillRef idx="0"/>
          <a:effectRef idx="0"/>
          <a:fontRef idx="minor"/>
        </p:style>
        <p:txBody>
          <a:bodyPr wrap="none" lIns="0" rIns="0" tIns="0" bIns="0" anchor="t">
            <a:noAutofit/>
          </a:bodyPr>
          <a:p>
            <a:pPr defTabSz="914400">
              <a:lnSpc>
                <a:spcPts val="2049"/>
              </a:lnSpc>
              <a:tabLst>
                <a:tab algn="l" pos="0"/>
              </a:tabLst>
            </a:pPr>
            <a:r>
              <a:rPr b="1" lang="en-US" sz="1650" spc="-1" strike="noStrike">
                <a:solidFill>
                  <a:srgbClr val="e2e6e9"/>
                </a:solidFill>
                <a:latin typeface="Montserrat Bold"/>
                <a:ea typeface="Montserrat Bold"/>
              </a:rPr>
              <a:t>Radikal İnnovasiya</a:t>
            </a:r>
            <a:endParaRPr b="0" lang="en-US" sz="1650" spc="-1" strike="noStrike">
              <a:solidFill>
                <a:srgbClr val="000000"/>
              </a:solidFill>
              <a:latin typeface="Arial"/>
            </a:endParaRPr>
          </a:p>
        </p:txBody>
      </p:sp>
      <p:sp>
        <p:nvSpPr>
          <p:cNvPr id="113" name="Text 6"/>
          <p:cNvSpPr/>
          <p:nvPr/>
        </p:nvSpPr>
        <p:spPr>
          <a:xfrm>
            <a:off x="4939200" y="4561200"/>
            <a:ext cx="4578840" cy="1577160"/>
          </a:xfrm>
          <a:prstGeom prst="rect">
            <a:avLst/>
          </a:prstGeom>
          <a:noFill/>
          <a:ln w="0">
            <a:noFill/>
          </a:ln>
        </p:spPr>
        <p:style>
          <a:lnRef idx="0"/>
          <a:fillRef idx="0"/>
          <a:effectRef idx="0"/>
          <a:fontRef idx="minor"/>
        </p:style>
        <p:txBody>
          <a:bodyPr lIns="0" rIns="0" tIns="0" bIns="0" anchor="t">
            <a:noAutofit/>
          </a:bodyPr>
          <a:p>
            <a:pPr defTabSz="914400">
              <a:lnSpc>
                <a:spcPts val="2049"/>
              </a:lnSpc>
              <a:tabLst>
                <a:tab algn="l" pos="0"/>
              </a:tabLst>
            </a:pPr>
            <a:r>
              <a:rPr b="1" lang="en-US" sz="1450" spc="-1" strike="noStrike">
                <a:solidFill>
                  <a:srgbClr val="e2e6e9"/>
                </a:solidFill>
                <a:latin typeface="Source Sans 3"/>
                <a:ea typeface="Source Sans 3"/>
              </a:rPr>
              <a:t>Texnoloji irəliləyişi.</a:t>
            </a:r>
            <a:r>
              <a:rPr b="0" lang="en-US" sz="1450" spc="-1" strike="noStrike">
                <a:solidFill>
                  <a:srgbClr val="e2e6e9"/>
                </a:solidFill>
                <a:latin typeface="Source Sans 3"/>
                <a:ea typeface="Source Sans 3"/>
              </a:rPr>
              <a:t> Sənayeni kökündən dəyişdirən, yeni texnologiyalara əsaslanan innovasiyalardır. Yüksək risk, lakin əhəmiyyətli bazar üstünlüyü potensialı var. Nümunə: Biotexnologiyada CRISPR gen redaktəsi, energetikada nüvə sintezi texnologiyaları.</a:t>
            </a:r>
            <a:endParaRPr b="0" lang="en-US" sz="1450" spc="-1" strike="noStrike">
              <a:solidFill>
                <a:srgbClr val="000000"/>
              </a:solidFill>
              <a:latin typeface="Arial"/>
            </a:endParaRPr>
          </a:p>
        </p:txBody>
      </p:sp>
      <p:sp>
        <p:nvSpPr>
          <p:cNvPr id="114" name="Text 7"/>
          <p:cNvSpPr/>
          <p:nvPr/>
        </p:nvSpPr>
        <p:spPr>
          <a:xfrm>
            <a:off x="4917600" y="6504840"/>
            <a:ext cx="4578840" cy="1082880"/>
          </a:xfrm>
          <a:prstGeom prst="rect">
            <a:avLst/>
          </a:prstGeom>
          <a:noFill/>
          <a:ln w="0">
            <a:noFill/>
          </a:ln>
        </p:spPr>
        <p:style>
          <a:lnRef idx="0"/>
          <a:fillRef idx="0"/>
          <a:effectRef idx="0"/>
          <a:fontRef idx="minor"/>
        </p:style>
        <p:txBody>
          <a:bodyPr lIns="0" rIns="0" tIns="0" bIns="0" anchor="t">
            <a:noAutofit/>
          </a:bodyPr>
          <a:p>
            <a:pPr marL="343080" indent="-343080" defTabSz="914400">
              <a:lnSpc>
                <a:spcPts val="2049"/>
              </a:lnSpc>
              <a:buClr>
                <a:srgbClr val="e2e6e9"/>
              </a:buClr>
              <a:buFont typeface="Symbol" charset="2"/>
              <a:buChar char=""/>
            </a:pPr>
            <a:r>
              <a:rPr b="0" lang="en-US" sz="1450" spc="-1" strike="noStrike">
                <a:solidFill>
                  <a:srgbClr val="e2e6e9"/>
                </a:solidFill>
                <a:latin typeface="Source Sans 3"/>
                <a:ea typeface="Source Sans 3"/>
              </a:rPr>
              <a:t>Yüksək investisiyası tələb edir</a:t>
            </a:r>
            <a:endParaRPr b="0" lang="en-US" sz="1450" spc="-1" strike="noStrike">
              <a:solidFill>
                <a:srgbClr val="000000"/>
              </a:solidFill>
              <a:latin typeface="Arial"/>
            </a:endParaRPr>
          </a:p>
          <a:p>
            <a:pPr marL="343080" indent="-343080" defTabSz="914400">
              <a:lnSpc>
                <a:spcPts val="2049"/>
              </a:lnSpc>
              <a:buClr>
                <a:srgbClr val="e2e6e9"/>
              </a:buClr>
              <a:buFont typeface="Symbol" charset="2"/>
              <a:buChar char=""/>
            </a:pPr>
            <a:r>
              <a:rPr b="0" lang="en-US" sz="1450" spc="-1" strike="noStrike">
                <a:solidFill>
                  <a:srgbClr val="e2e6e9"/>
                </a:solidFill>
                <a:latin typeface="Source Sans 3"/>
                <a:ea typeface="Source Sans 3"/>
              </a:rPr>
              <a:t>Uzunmüddətli bazarda dominant mövqe</a:t>
            </a:r>
            <a:endParaRPr b="0" lang="en-US" sz="1450" spc="-1" strike="noStrike">
              <a:solidFill>
                <a:srgbClr val="000000"/>
              </a:solidFill>
              <a:latin typeface="Arial"/>
            </a:endParaRPr>
          </a:p>
          <a:p>
            <a:pPr marL="343080" indent="-343080" defTabSz="914400">
              <a:lnSpc>
                <a:spcPts val="2049"/>
              </a:lnSpc>
              <a:buClr>
                <a:srgbClr val="e2e6e9"/>
              </a:buClr>
              <a:buFont typeface="Symbol" charset="2"/>
              <a:buChar char=""/>
            </a:pPr>
            <a:r>
              <a:rPr b="0" lang="en-US" sz="1450" spc="-1" strike="noStrike">
                <a:solidFill>
                  <a:srgbClr val="e2e6e9"/>
                </a:solidFill>
                <a:latin typeface="Source Sans 3"/>
                <a:ea typeface="Source Sans 3"/>
              </a:rPr>
              <a:t>Patent qorunması ilə rəqabət üstünlüyü</a:t>
            </a:r>
            <a:endParaRPr b="0" lang="en-US" sz="1450" spc="-1" strike="noStrike">
              <a:solidFill>
                <a:srgbClr val="000000"/>
              </a:solidFill>
              <a:latin typeface="Arial"/>
            </a:endParaRPr>
          </a:p>
        </p:txBody>
      </p:sp>
      <p:pic>
        <p:nvPicPr>
          <p:cNvPr id="115" name="Image 2" descr="preencoded.png"/>
          <p:cNvPicPr/>
          <p:nvPr/>
        </p:nvPicPr>
        <p:blipFill>
          <a:blip r:embed="rId3"/>
          <a:stretch/>
        </p:blipFill>
        <p:spPr>
          <a:xfrm>
            <a:off x="9738720" y="2054520"/>
            <a:ext cx="2655360" cy="1824120"/>
          </a:xfrm>
          <a:prstGeom prst="rect">
            <a:avLst/>
          </a:prstGeom>
          <a:ln w="0">
            <a:noFill/>
          </a:ln>
        </p:spPr>
      </p:pic>
      <p:sp>
        <p:nvSpPr>
          <p:cNvPr id="116" name="Text 8"/>
          <p:cNvSpPr/>
          <p:nvPr/>
        </p:nvSpPr>
        <p:spPr>
          <a:xfrm>
            <a:off x="9738720" y="4123800"/>
            <a:ext cx="2451600" cy="319320"/>
          </a:xfrm>
          <a:prstGeom prst="rect">
            <a:avLst/>
          </a:prstGeom>
          <a:noFill/>
          <a:ln w="0">
            <a:noFill/>
          </a:ln>
        </p:spPr>
        <p:style>
          <a:lnRef idx="0"/>
          <a:fillRef idx="0"/>
          <a:effectRef idx="0"/>
          <a:fontRef idx="minor"/>
        </p:style>
        <p:txBody>
          <a:bodyPr wrap="none" lIns="0" rIns="0" tIns="0" bIns="0" anchor="t">
            <a:noAutofit/>
          </a:bodyPr>
          <a:p>
            <a:pPr defTabSz="914400">
              <a:lnSpc>
                <a:spcPts val="2049"/>
              </a:lnSpc>
              <a:tabLst>
                <a:tab algn="l" pos="0"/>
              </a:tabLst>
            </a:pPr>
            <a:r>
              <a:rPr b="1" lang="en-US" sz="1650" spc="-1" strike="noStrike">
                <a:solidFill>
                  <a:srgbClr val="e2e6e9"/>
                </a:solidFill>
                <a:latin typeface="Montserrat Bold"/>
                <a:ea typeface="Montserrat Bold"/>
              </a:rPr>
              <a:t>Disruptiv İnnovasiya</a:t>
            </a:r>
            <a:endParaRPr b="0" lang="en-US" sz="1650" spc="-1" strike="noStrike">
              <a:solidFill>
                <a:srgbClr val="000000"/>
              </a:solidFill>
              <a:latin typeface="Arial"/>
            </a:endParaRPr>
          </a:p>
        </p:txBody>
      </p:sp>
      <p:sp>
        <p:nvSpPr>
          <p:cNvPr id="117" name="Text 9"/>
          <p:cNvSpPr/>
          <p:nvPr/>
        </p:nvSpPr>
        <p:spPr>
          <a:xfrm>
            <a:off x="9738720" y="4561200"/>
            <a:ext cx="4578840" cy="1892880"/>
          </a:xfrm>
          <a:prstGeom prst="rect">
            <a:avLst/>
          </a:prstGeom>
          <a:noFill/>
          <a:ln w="0">
            <a:noFill/>
          </a:ln>
        </p:spPr>
        <p:style>
          <a:lnRef idx="0"/>
          <a:fillRef idx="0"/>
          <a:effectRef idx="0"/>
          <a:fontRef idx="minor"/>
        </p:style>
        <p:txBody>
          <a:bodyPr lIns="0" rIns="0" tIns="0" bIns="0" anchor="t">
            <a:noAutofit/>
          </a:bodyPr>
          <a:p>
            <a:pPr defTabSz="914400">
              <a:lnSpc>
                <a:spcPts val="2049"/>
              </a:lnSpc>
              <a:tabLst>
                <a:tab algn="l" pos="0"/>
              </a:tabLst>
            </a:pPr>
            <a:r>
              <a:rPr b="1" lang="en-US" sz="1450" spc="-1" strike="noStrike">
                <a:solidFill>
                  <a:srgbClr val="e2e6e9"/>
                </a:solidFill>
                <a:latin typeface="Source Sans 3"/>
                <a:ea typeface="Source Sans 3"/>
              </a:rPr>
              <a:t>Bazar strukturunun dəyişməsi.</a:t>
            </a:r>
            <a:r>
              <a:rPr b="0" lang="en-US" sz="1450" spc="-1" strike="noStrike">
                <a:solidFill>
                  <a:srgbClr val="e2e6e9"/>
                </a:solidFill>
                <a:latin typeface="Source Sans 3"/>
                <a:ea typeface="Source Sans 3"/>
              </a:rPr>
              <a:t> Clayton Christensen tərəfindən populyarlaşdırılan bu konsepsiya, bazarın alt seqmentlərini hədəf alan sadə həllərin tədricən dominant oyunçuları sıxışdırmasını izah edir. Nümunə: Netflix-in video icarəsi sənayesini, Airbnb-nin otel sənayesini dağıtması.</a:t>
            </a:r>
            <a:endParaRPr b="0" lang="en-US" sz="1450" spc="-1" strike="noStrike">
              <a:solidFill>
                <a:srgbClr val="000000"/>
              </a:solidFill>
              <a:latin typeface="Arial"/>
            </a:endParaRPr>
          </a:p>
        </p:txBody>
      </p:sp>
      <p:sp>
        <p:nvSpPr>
          <p:cNvPr id="118" name="Text 10"/>
          <p:cNvSpPr/>
          <p:nvPr/>
        </p:nvSpPr>
        <p:spPr>
          <a:xfrm>
            <a:off x="9746280" y="6519240"/>
            <a:ext cx="4578840" cy="1082880"/>
          </a:xfrm>
          <a:prstGeom prst="rect">
            <a:avLst/>
          </a:prstGeom>
          <a:noFill/>
          <a:ln w="0">
            <a:noFill/>
          </a:ln>
        </p:spPr>
        <p:style>
          <a:lnRef idx="0"/>
          <a:fillRef idx="0"/>
          <a:effectRef idx="0"/>
          <a:fontRef idx="minor"/>
        </p:style>
        <p:txBody>
          <a:bodyPr lIns="0" rIns="0" tIns="0" bIns="0" anchor="t">
            <a:noAutofit/>
          </a:bodyPr>
          <a:p>
            <a:pPr marL="343080" indent="-343080" defTabSz="914400">
              <a:lnSpc>
                <a:spcPts val="2049"/>
              </a:lnSpc>
              <a:buClr>
                <a:srgbClr val="e2e6e9"/>
              </a:buClr>
              <a:buFont typeface="Symbol" charset="2"/>
              <a:buChar char=""/>
            </a:pPr>
            <a:r>
              <a:rPr b="0" lang="en-US" sz="1450" spc="-1" strike="noStrike">
                <a:solidFill>
                  <a:srgbClr val="e2e6e9"/>
                </a:solidFill>
                <a:latin typeface="Source Sans 3"/>
                <a:ea typeface="Source Sans 3"/>
              </a:rPr>
              <a:t>Əvvəlcə kiçik seqmentlər hədəf alınır</a:t>
            </a:r>
            <a:endParaRPr b="0" lang="en-US" sz="1450" spc="-1" strike="noStrike">
              <a:solidFill>
                <a:srgbClr val="000000"/>
              </a:solidFill>
              <a:latin typeface="Arial"/>
            </a:endParaRPr>
          </a:p>
          <a:p>
            <a:pPr marL="343080" indent="-343080" defTabSz="914400">
              <a:lnSpc>
                <a:spcPts val="2049"/>
              </a:lnSpc>
              <a:buClr>
                <a:srgbClr val="e2e6e9"/>
              </a:buClr>
              <a:buFont typeface="Symbol" charset="2"/>
              <a:buChar char=""/>
            </a:pPr>
            <a:r>
              <a:rPr b="0" lang="en-US" sz="1450" spc="-1" strike="noStrike">
                <a:solidFill>
                  <a:srgbClr val="e2e6e9"/>
                </a:solidFill>
                <a:latin typeface="Source Sans 3"/>
                <a:ea typeface="Source Sans 3"/>
              </a:rPr>
              <a:t>Daha sərfəli, daha sadə həllər</a:t>
            </a:r>
            <a:endParaRPr b="0" lang="en-US" sz="1450" spc="-1" strike="noStrike">
              <a:solidFill>
                <a:srgbClr val="000000"/>
              </a:solidFill>
              <a:latin typeface="Arial"/>
            </a:endParaRPr>
          </a:p>
          <a:p>
            <a:pPr marL="343080" indent="-343080" defTabSz="914400">
              <a:lnSpc>
                <a:spcPts val="2049"/>
              </a:lnSpc>
              <a:buClr>
                <a:srgbClr val="e2e6e9"/>
              </a:buClr>
              <a:buFont typeface="Symbol" charset="2"/>
              <a:buChar char=""/>
            </a:pPr>
            <a:r>
              <a:rPr b="0" lang="en-US" sz="1450" spc="-1" strike="noStrike">
                <a:solidFill>
                  <a:srgbClr val="e2e6e9"/>
                </a:solidFill>
                <a:latin typeface="Source Sans 3"/>
                <a:ea typeface="Source Sans 3"/>
              </a:rPr>
              <a:t>Köhnə liderlərin cavab verməsi çətin olur</a:t>
            </a:r>
            <a:endParaRPr b="0" lang="en-US" sz="14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Text 0"/>
          <p:cNvSpPr/>
          <p:nvPr/>
        </p:nvSpPr>
        <p:spPr>
          <a:xfrm>
            <a:off x="333360" y="322560"/>
            <a:ext cx="8424720" cy="580680"/>
          </a:xfrm>
          <a:prstGeom prst="rect">
            <a:avLst/>
          </a:prstGeom>
          <a:noFill/>
          <a:ln w="0">
            <a:noFill/>
          </a:ln>
        </p:spPr>
        <p:style>
          <a:lnRef idx="0"/>
          <a:fillRef idx="0"/>
          <a:effectRef idx="0"/>
          <a:fontRef idx="minor"/>
        </p:style>
        <p:txBody>
          <a:bodyPr wrap="none" lIns="0" rIns="0" tIns="0" bIns="0" anchor="t">
            <a:noAutofit/>
          </a:bodyPr>
          <a:p>
            <a:pPr defTabSz="914400">
              <a:lnSpc>
                <a:spcPts val="3801"/>
              </a:lnSpc>
              <a:tabLst>
                <a:tab algn="l" pos="0"/>
              </a:tabLst>
            </a:pPr>
            <a:r>
              <a:rPr b="1" lang="en-US" sz="3050" spc="-1" strike="noStrike">
                <a:solidFill>
                  <a:srgbClr val="ffffff"/>
                </a:solidFill>
                <a:latin typeface="Montserrat Bold"/>
                <a:ea typeface="Montserrat Bold"/>
              </a:rPr>
              <a:t>İnnovasiya Prosesi: İdeyadən Bazara</a:t>
            </a:r>
            <a:endParaRPr b="0" lang="en-US" sz="3050" spc="-1" strike="noStrike">
              <a:solidFill>
                <a:srgbClr val="000000"/>
              </a:solidFill>
              <a:latin typeface="Arial"/>
            </a:endParaRPr>
          </a:p>
        </p:txBody>
      </p:sp>
      <p:sp>
        <p:nvSpPr>
          <p:cNvPr id="120" name="Text 1"/>
          <p:cNvSpPr/>
          <p:nvPr/>
        </p:nvSpPr>
        <p:spPr>
          <a:xfrm>
            <a:off x="333360" y="1229400"/>
            <a:ext cx="14070240" cy="274680"/>
          </a:xfrm>
          <a:prstGeom prst="rect">
            <a:avLst/>
          </a:prstGeom>
          <a:noFill/>
          <a:ln w="0">
            <a:noFill/>
          </a:ln>
        </p:spPr>
        <p:style>
          <a:lnRef idx="0"/>
          <a:fillRef idx="0"/>
          <a:effectRef idx="0"/>
          <a:fontRef idx="minor"/>
        </p:style>
        <p:txBody>
          <a:bodyPr wrap="none" lIns="0" rIns="0" tIns="0" bIns="0" anchor="t">
            <a:noAutofit/>
          </a:bodyPr>
          <a:p>
            <a:pPr defTabSz="914400">
              <a:lnSpc>
                <a:spcPts val="1800"/>
              </a:lnSpc>
              <a:tabLst>
                <a:tab algn="l" pos="0"/>
              </a:tabLst>
            </a:pPr>
            <a:r>
              <a:rPr b="0" lang="en-US" sz="1400" spc="-1" strike="noStrike">
                <a:solidFill>
                  <a:srgbClr val="e2e6e9"/>
                </a:solidFill>
                <a:latin typeface="Source Sans 3"/>
                <a:ea typeface="Source Sans 3"/>
              </a:rPr>
              <a:t>İnnovasiya heç vaxt ani bir hadisə deyil — o, struktura malik bir prosesdir. Bu prosesin hər mərhələsi özünəməxsus alətlər, resurslar və qərar nöqtələri tələb edir.</a:t>
            </a:r>
            <a:endParaRPr b="0" lang="en-US" sz="1400" spc="-1" strike="noStrike">
              <a:solidFill>
                <a:srgbClr val="000000"/>
              </a:solidFill>
              <a:latin typeface="Arial"/>
            </a:endParaRPr>
          </a:p>
        </p:txBody>
      </p:sp>
      <p:pic>
        <p:nvPicPr>
          <p:cNvPr id="121" name="Image 0" descr="preencoded.png"/>
          <p:cNvPicPr/>
          <p:nvPr/>
        </p:nvPicPr>
        <p:blipFill>
          <a:blip r:embed="rId1"/>
          <a:stretch/>
        </p:blipFill>
        <p:spPr>
          <a:xfrm>
            <a:off x="1506240" y="1687680"/>
            <a:ext cx="11980800" cy="3234240"/>
          </a:xfrm>
          <a:prstGeom prst="rect">
            <a:avLst/>
          </a:prstGeom>
          <a:ln w="0">
            <a:noFill/>
          </a:ln>
        </p:spPr>
      </p:pic>
      <p:sp>
        <p:nvSpPr>
          <p:cNvPr id="122" name="Text 2"/>
          <p:cNvSpPr/>
          <p:nvPr/>
        </p:nvSpPr>
        <p:spPr>
          <a:xfrm>
            <a:off x="2410560" y="2781360"/>
            <a:ext cx="1771920" cy="299880"/>
          </a:xfrm>
          <a:prstGeom prst="rect">
            <a:avLst/>
          </a:prstGeom>
          <a:noFill/>
          <a:ln w="0">
            <a:noFill/>
          </a:ln>
        </p:spPr>
        <p:style>
          <a:lnRef idx="0"/>
          <a:fillRef idx="0"/>
          <a:effectRef idx="0"/>
          <a:fontRef idx="minor"/>
        </p:style>
        <p:txBody>
          <a:bodyPr wrap="none" lIns="0" rIns="0" tIns="0" bIns="0" anchor="t">
            <a:noAutofit/>
          </a:bodyPr>
          <a:p>
            <a:pPr algn="ctr" defTabSz="914400">
              <a:lnSpc>
                <a:spcPts val="1950"/>
              </a:lnSpc>
              <a:tabLst>
                <a:tab algn="l" pos="0"/>
              </a:tabLst>
            </a:pPr>
            <a:r>
              <a:rPr b="1" lang="en-US" sz="1550" spc="-1" strike="noStrike">
                <a:solidFill>
                  <a:srgbClr val="ffffff"/>
                </a:solidFill>
                <a:latin typeface="Montserrat Bold"/>
                <a:ea typeface="Montserrat Bold"/>
              </a:rPr>
              <a:t>İdeya</a:t>
            </a:r>
            <a:endParaRPr b="0" lang="en-US" sz="1550" spc="-1" strike="noStrike">
              <a:solidFill>
                <a:srgbClr val="000000"/>
              </a:solidFill>
              <a:latin typeface="Arial"/>
            </a:endParaRPr>
          </a:p>
        </p:txBody>
      </p:sp>
      <p:sp>
        <p:nvSpPr>
          <p:cNvPr id="123" name="Text 3"/>
          <p:cNvSpPr/>
          <p:nvPr/>
        </p:nvSpPr>
        <p:spPr>
          <a:xfrm>
            <a:off x="2410560" y="3176280"/>
            <a:ext cx="1771920" cy="711720"/>
          </a:xfrm>
          <a:prstGeom prst="rect">
            <a:avLst/>
          </a:prstGeom>
          <a:noFill/>
          <a:ln w="0">
            <a:noFill/>
          </a:ln>
        </p:spPr>
        <p:style>
          <a:lnRef idx="0"/>
          <a:fillRef idx="0"/>
          <a:effectRef idx="0"/>
          <a:fontRef idx="minor"/>
        </p:style>
        <p:txBody>
          <a:bodyPr lIns="0" rIns="0" tIns="0" bIns="0" anchor="t">
            <a:noAutofit/>
          </a:bodyPr>
          <a:p>
            <a:pPr algn="ctr" defTabSz="914400">
              <a:lnSpc>
                <a:spcPts val="1551"/>
              </a:lnSpc>
              <a:tabLst>
                <a:tab algn="l" pos="0"/>
              </a:tabLst>
            </a:pPr>
            <a:r>
              <a:rPr b="0" lang="en-US" sz="1350" spc="-1" strike="noStrike">
                <a:solidFill>
                  <a:srgbClr val="e2e6e9"/>
                </a:solidFill>
                <a:latin typeface="Source Sans 3"/>
                <a:ea typeface="Source Sans 3"/>
              </a:rPr>
              <a:t>Problem müəyyənləşdirmə və beyin fırtınası</a:t>
            </a:r>
            <a:endParaRPr b="0" lang="en-US" sz="1350" spc="-1" strike="noStrike">
              <a:solidFill>
                <a:srgbClr val="000000"/>
              </a:solidFill>
              <a:latin typeface="Arial"/>
            </a:endParaRPr>
          </a:p>
        </p:txBody>
      </p:sp>
      <p:sp>
        <p:nvSpPr>
          <p:cNvPr id="124" name="Text 4"/>
          <p:cNvSpPr/>
          <p:nvPr/>
        </p:nvSpPr>
        <p:spPr>
          <a:xfrm>
            <a:off x="4441680" y="2958480"/>
            <a:ext cx="1771920" cy="299880"/>
          </a:xfrm>
          <a:prstGeom prst="rect">
            <a:avLst/>
          </a:prstGeom>
          <a:noFill/>
          <a:ln w="0">
            <a:noFill/>
          </a:ln>
        </p:spPr>
        <p:style>
          <a:lnRef idx="0"/>
          <a:fillRef idx="0"/>
          <a:effectRef idx="0"/>
          <a:fontRef idx="minor"/>
        </p:style>
        <p:txBody>
          <a:bodyPr wrap="none" lIns="0" rIns="0" tIns="0" bIns="0" anchor="t">
            <a:noAutofit/>
          </a:bodyPr>
          <a:p>
            <a:pPr algn="ctr" defTabSz="914400">
              <a:lnSpc>
                <a:spcPts val="1950"/>
              </a:lnSpc>
              <a:tabLst>
                <a:tab algn="l" pos="0"/>
              </a:tabLst>
            </a:pPr>
            <a:r>
              <a:rPr b="1" lang="en-US" sz="1550" spc="-1" strike="noStrike">
                <a:solidFill>
                  <a:srgbClr val="ffffff"/>
                </a:solidFill>
                <a:latin typeface="Montserrat Bold"/>
                <a:ea typeface="Montserrat Bold"/>
              </a:rPr>
              <a:t>Prototip</a:t>
            </a:r>
            <a:endParaRPr b="0" lang="en-US" sz="1550" spc="-1" strike="noStrike">
              <a:solidFill>
                <a:srgbClr val="000000"/>
              </a:solidFill>
              <a:latin typeface="Arial"/>
            </a:endParaRPr>
          </a:p>
        </p:txBody>
      </p:sp>
      <p:sp>
        <p:nvSpPr>
          <p:cNvPr id="125" name="Text 5"/>
          <p:cNvSpPr/>
          <p:nvPr/>
        </p:nvSpPr>
        <p:spPr>
          <a:xfrm>
            <a:off x="4441680" y="3353400"/>
            <a:ext cx="1771920" cy="474120"/>
          </a:xfrm>
          <a:prstGeom prst="rect">
            <a:avLst/>
          </a:prstGeom>
          <a:noFill/>
          <a:ln w="0">
            <a:noFill/>
          </a:ln>
        </p:spPr>
        <p:style>
          <a:lnRef idx="0"/>
          <a:fillRef idx="0"/>
          <a:effectRef idx="0"/>
          <a:fontRef idx="minor"/>
        </p:style>
        <p:txBody>
          <a:bodyPr lIns="0" rIns="0" tIns="0" bIns="0" anchor="t">
            <a:noAutofit/>
          </a:bodyPr>
          <a:p>
            <a:pPr algn="ctr" defTabSz="914400">
              <a:lnSpc>
                <a:spcPts val="1551"/>
              </a:lnSpc>
              <a:tabLst>
                <a:tab algn="l" pos="0"/>
              </a:tabLst>
            </a:pPr>
            <a:r>
              <a:rPr b="0" lang="en-US" sz="1350" spc="-1" strike="noStrike">
                <a:solidFill>
                  <a:srgbClr val="e2e6e9"/>
                </a:solidFill>
                <a:latin typeface="Source Sans 3"/>
                <a:ea typeface="Source Sans 3"/>
              </a:rPr>
              <a:t>MVP və sürətli prototipləşdirmə</a:t>
            </a:r>
            <a:endParaRPr b="0" lang="en-US" sz="1350" spc="-1" strike="noStrike">
              <a:solidFill>
                <a:srgbClr val="000000"/>
              </a:solidFill>
              <a:latin typeface="Arial"/>
            </a:endParaRPr>
          </a:p>
        </p:txBody>
      </p:sp>
      <p:sp>
        <p:nvSpPr>
          <p:cNvPr id="126" name="Text 6"/>
          <p:cNvSpPr/>
          <p:nvPr/>
        </p:nvSpPr>
        <p:spPr>
          <a:xfrm>
            <a:off x="6580800" y="2781360"/>
            <a:ext cx="1771920" cy="299880"/>
          </a:xfrm>
          <a:prstGeom prst="rect">
            <a:avLst/>
          </a:prstGeom>
          <a:noFill/>
          <a:ln w="0">
            <a:noFill/>
          </a:ln>
        </p:spPr>
        <p:style>
          <a:lnRef idx="0"/>
          <a:fillRef idx="0"/>
          <a:effectRef idx="0"/>
          <a:fontRef idx="minor"/>
        </p:style>
        <p:txBody>
          <a:bodyPr wrap="none" lIns="0" rIns="0" tIns="0" bIns="0" anchor="t">
            <a:noAutofit/>
          </a:bodyPr>
          <a:p>
            <a:pPr algn="ctr" defTabSz="914400">
              <a:lnSpc>
                <a:spcPts val="1950"/>
              </a:lnSpc>
              <a:tabLst>
                <a:tab algn="l" pos="0"/>
              </a:tabLst>
            </a:pPr>
            <a:r>
              <a:rPr b="1" lang="en-US" sz="1550" spc="-1" strike="noStrike">
                <a:solidFill>
                  <a:srgbClr val="ffffff"/>
                </a:solidFill>
                <a:latin typeface="Montserrat Bold"/>
                <a:ea typeface="Montserrat Bold"/>
              </a:rPr>
              <a:t>Test</a:t>
            </a:r>
            <a:endParaRPr b="0" lang="en-US" sz="1550" spc="-1" strike="noStrike">
              <a:solidFill>
                <a:srgbClr val="000000"/>
              </a:solidFill>
              <a:latin typeface="Arial"/>
            </a:endParaRPr>
          </a:p>
        </p:txBody>
      </p:sp>
      <p:sp>
        <p:nvSpPr>
          <p:cNvPr id="127" name="Text 7"/>
          <p:cNvSpPr/>
          <p:nvPr/>
        </p:nvSpPr>
        <p:spPr>
          <a:xfrm>
            <a:off x="6580800" y="3176280"/>
            <a:ext cx="1771920" cy="474120"/>
          </a:xfrm>
          <a:prstGeom prst="rect">
            <a:avLst/>
          </a:prstGeom>
          <a:noFill/>
          <a:ln w="0">
            <a:noFill/>
          </a:ln>
        </p:spPr>
        <p:style>
          <a:lnRef idx="0"/>
          <a:fillRef idx="0"/>
          <a:effectRef idx="0"/>
          <a:fontRef idx="minor"/>
        </p:style>
        <p:txBody>
          <a:bodyPr lIns="0" rIns="0" tIns="0" bIns="0" anchor="t">
            <a:noAutofit/>
          </a:bodyPr>
          <a:p>
            <a:pPr algn="ctr" defTabSz="914400">
              <a:lnSpc>
                <a:spcPts val="1551"/>
              </a:lnSpc>
              <a:tabLst>
                <a:tab algn="l" pos="0"/>
              </a:tabLst>
            </a:pPr>
            <a:r>
              <a:rPr b="0" lang="en-US" sz="1350" spc="-1" strike="noStrike">
                <a:solidFill>
                  <a:srgbClr val="e2e6e9"/>
                </a:solidFill>
                <a:latin typeface="Source Sans 3"/>
                <a:ea typeface="Source Sans 3"/>
              </a:rPr>
              <a:t>İstifadəçi rəyı və təkrarlama</a:t>
            </a:r>
            <a:endParaRPr b="0" lang="en-US" sz="1350" spc="-1" strike="noStrike">
              <a:solidFill>
                <a:srgbClr val="000000"/>
              </a:solidFill>
              <a:latin typeface="Arial"/>
            </a:endParaRPr>
          </a:p>
        </p:txBody>
      </p:sp>
      <p:sp>
        <p:nvSpPr>
          <p:cNvPr id="128" name="Text 8"/>
          <p:cNvSpPr/>
          <p:nvPr/>
        </p:nvSpPr>
        <p:spPr>
          <a:xfrm>
            <a:off x="8611920" y="2720880"/>
            <a:ext cx="1771920" cy="299880"/>
          </a:xfrm>
          <a:prstGeom prst="rect">
            <a:avLst/>
          </a:prstGeom>
          <a:noFill/>
          <a:ln w="0">
            <a:noFill/>
          </a:ln>
        </p:spPr>
        <p:style>
          <a:lnRef idx="0"/>
          <a:fillRef idx="0"/>
          <a:effectRef idx="0"/>
          <a:fontRef idx="minor"/>
        </p:style>
        <p:txBody>
          <a:bodyPr wrap="none" lIns="0" rIns="0" tIns="0" bIns="0" anchor="t">
            <a:noAutofit/>
          </a:bodyPr>
          <a:p>
            <a:pPr algn="ctr" defTabSz="914400">
              <a:lnSpc>
                <a:spcPts val="1950"/>
              </a:lnSpc>
              <a:tabLst>
                <a:tab algn="l" pos="0"/>
              </a:tabLst>
            </a:pPr>
            <a:r>
              <a:rPr b="1" lang="en-US" sz="1550" spc="-1" strike="noStrike">
                <a:solidFill>
                  <a:srgbClr val="ffffff"/>
                </a:solidFill>
                <a:latin typeface="Montserrat Bold"/>
                <a:ea typeface="Montserrat Bold"/>
              </a:rPr>
              <a:t>Miqyaslama</a:t>
            </a:r>
            <a:endParaRPr b="0" lang="en-US" sz="1550" spc="-1" strike="noStrike">
              <a:solidFill>
                <a:srgbClr val="000000"/>
              </a:solidFill>
              <a:latin typeface="Arial"/>
            </a:endParaRPr>
          </a:p>
        </p:txBody>
      </p:sp>
      <p:sp>
        <p:nvSpPr>
          <p:cNvPr id="129" name="Text 9"/>
          <p:cNvSpPr/>
          <p:nvPr/>
        </p:nvSpPr>
        <p:spPr>
          <a:xfrm>
            <a:off x="8647920" y="3115800"/>
            <a:ext cx="1771920" cy="711720"/>
          </a:xfrm>
          <a:prstGeom prst="rect">
            <a:avLst/>
          </a:prstGeom>
          <a:noFill/>
          <a:ln w="0">
            <a:noFill/>
          </a:ln>
        </p:spPr>
        <p:style>
          <a:lnRef idx="0"/>
          <a:fillRef idx="0"/>
          <a:effectRef idx="0"/>
          <a:fontRef idx="minor"/>
        </p:style>
        <p:txBody>
          <a:bodyPr lIns="0" rIns="0" tIns="0" bIns="0" anchor="t">
            <a:noAutofit/>
          </a:bodyPr>
          <a:p>
            <a:pPr algn="ctr" defTabSz="914400">
              <a:lnSpc>
                <a:spcPts val="1551"/>
              </a:lnSpc>
              <a:tabLst>
                <a:tab algn="l" pos="0"/>
              </a:tabLst>
            </a:pPr>
            <a:r>
              <a:rPr b="0" lang="en-US" sz="1350" spc="-1" strike="noStrike">
                <a:solidFill>
                  <a:srgbClr val="e2e6e9"/>
                </a:solidFill>
                <a:latin typeface="Source Sans 3"/>
                <a:ea typeface="Source Sans 3"/>
              </a:rPr>
              <a:t>Əməliyyatların genişləndirilməsi və bazar</a:t>
            </a:r>
            <a:endParaRPr b="0" lang="en-US" sz="1350" spc="-1" strike="noStrike">
              <a:solidFill>
                <a:srgbClr val="000000"/>
              </a:solidFill>
              <a:latin typeface="Arial"/>
            </a:endParaRPr>
          </a:p>
        </p:txBody>
      </p:sp>
      <p:sp>
        <p:nvSpPr>
          <p:cNvPr id="130" name="Text 10"/>
          <p:cNvSpPr/>
          <p:nvPr/>
        </p:nvSpPr>
        <p:spPr>
          <a:xfrm>
            <a:off x="10744200" y="2889360"/>
            <a:ext cx="1828440" cy="298080"/>
          </a:xfrm>
          <a:prstGeom prst="rect">
            <a:avLst/>
          </a:prstGeom>
          <a:noFill/>
          <a:ln w="0">
            <a:noFill/>
          </a:ln>
        </p:spPr>
        <p:style>
          <a:lnRef idx="0"/>
          <a:fillRef idx="0"/>
          <a:effectRef idx="0"/>
          <a:fontRef idx="minor"/>
        </p:style>
        <p:txBody>
          <a:bodyPr lIns="0" rIns="0" tIns="0" bIns="0" anchor="t">
            <a:noAutofit/>
          </a:bodyPr>
          <a:p>
            <a:pPr defTabSz="914400">
              <a:lnSpc>
                <a:spcPts val="1899"/>
              </a:lnSpc>
              <a:tabLst>
                <a:tab algn="l" pos="0"/>
              </a:tabLst>
            </a:pPr>
            <a:r>
              <a:rPr b="1" lang="en-US" sz="1300" spc="-1" strike="noStrike">
                <a:solidFill>
                  <a:srgbClr val="e2e6e9"/>
                </a:solidFill>
                <a:latin typeface="Montserrat Bold"/>
                <a:ea typeface="Montserrat Bold"/>
              </a:rPr>
              <a:t>Kommersiyalaşdırma</a:t>
            </a:r>
            <a:endParaRPr b="0" lang="en-US" sz="1300" spc="-1" strike="noStrike">
              <a:solidFill>
                <a:srgbClr val="000000"/>
              </a:solidFill>
              <a:latin typeface="Arial"/>
            </a:endParaRPr>
          </a:p>
        </p:txBody>
      </p:sp>
      <p:sp>
        <p:nvSpPr>
          <p:cNvPr id="131" name="Text 11"/>
          <p:cNvSpPr/>
          <p:nvPr/>
        </p:nvSpPr>
        <p:spPr>
          <a:xfrm>
            <a:off x="10762200" y="3404880"/>
            <a:ext cx="1771920" cy="474120"/>
          </a:xfrm>
          <a:prstGeom prst="rect">
            <a:avLst/>
          </a:prstGeom>
          <a:noFill/>
          <a:ln w="0">
            <a:noFill/>
          </a:ln>
        </p:spPr>
        <p:style>
          <a:lnRef idx="0"/>
          <a:fillRef idx="0"/>
          <a:effectRef idx="0"/>
          <a:fontRef idx="minor"/>
        </p:style>
        <p:txBody>
          <a:bodyPr lIns="0" rIns="0" tIns="0" bIns="0" anchor="t">
            <a:noAutofit/>
          </a:bodyPr>
          <a:p>
            <a:pPr algn="ctr" defTabSz="914400">
              <a:lnSpc>
                <a:spcPts val="1551"/>
              </a:lnSpc>
              <a:tabLst>
                <a:tab algn="l" pos="0"/>
              </a:tabLst>
            </a:pPr>
            <a:r>
              <a:rPr b="0" lang="en-US" sz="1350" spc="-1" strike="noStrike">
                <a:solidFill>
                  <a:srgbClr val="e2e6e9"/>
                </a:solidFill>
                <a:latin typeface="Source Sans 3"/>
                <a:ea typeface="Source Sans 3"/>
              </a:rPr>
              <a:t>Bazara çıxış strategiyası, və gəlir əldə etmə</a:t>
            </a:r>
            <a:endParaRPr b="0" lang="en-US" sz="1350" spc="-1" strike="noStrike">
              <a:solidFill>
                <a:srgbClr val="000000"/>
              </a:solidFill>
              <a:latin typeface="Arial"/>
            </a:endParaRPr>
          </a:p>
        </p:txBody>
      </p:sp>
      <p:sp>
        <p:nvSpPr>
          <p:cNvPr id="132" name="Shape 12"/>
          <p:cNvSpPr/>
          <p:nvPr/>
        </p:nvSpPr>
        <p:spPr>
          <a:xfrm>
            <a:off x="333360" y="5105520"/>
            <a:ext cx="3400200" cy="1631880"/>
          </a:xfrm>
          <a:prstGeom prst="roundRect">
            <a:avLst>
              <a:gd name="adj" fmla="val 1880"/>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33" name="Text 13"/>
          <p:cNvSpPr/>
          <p:nvPr/>
        </p:nvSpPr>
        <p:spPr>
          <a:xfrm>
            <a:off x="529560" y="5310000"/>
            <a:ext cx="2229840" cy="298800"/>
          </a:xfrm>
          <a:prstGeom prst="rect">
            <a:avLst/>
          </a:prstGeom>
          <a:noFill/>
          <a:ln w="0">
            <a:noFill/>
          </a:ln>
        </p:spPr>
        <p:style>
          <a:lnRef idx="0"/>
          <a:fillRef idx="0"/>
          <a:effectRef idx="0"/>
          <a:fontRef idx="minor"/>
        </p:style>
        <p:txBody>
          <a:bodyPr wrap="none" lIns="0" rIns="0" tIns="0" bIns="0" anchor="t">
            <a:noAutofit/>
          </a:bodyPr>
          <a:p>
            <a:pPr defTabSz="914400">
              <a:lnSpc>
                <a:spcPts val="1899"/>
              </a:lnSpc>
              <a:tabLst>
                <a:tab algn="l" pos="0"/>
              </a:tabLst>
            </a:pPr>
            <a:r>
              <a:rPr b="1" lang="en-US" sz="1500" spc="-1" strike="noStrike">
                <a:solidFill>
                  <a:srgbClr val="000000"/>
                </a:solidFill>
                <a:latin typeface="Montserrat Bold"/>
                <a:ea typeface="Montserrat Bold"/>
              </a:rPr>
              <a:t>💡</a:t>
            </a:r>
            <a:r>
              <a:rPr b="1" lang="en-US" sz="1500" spc="-1" strike="noStrike">
                <a:solidFill>
                  <a:srgbClr val="e2e6e9"/>
                </a:solidFill>
                <a:latin typeface="Montserrat Bold"/>
                <a:ea typeface="Montserrat Bold"/>
              </a:rPr>
              <a:t> </a:t>
            </a:r>
            <a:r>
              <a:rPr b="1" lang="en-US" sz="1500" spc="-1" strike="noStrike">
                <a:solidFill>
                  <a:srgbClr val="e2e6e9"/>
                </a:solidFill>
                <a:latin typeface="Montserrat Bold"/>
                <a:ea typeface="Montserrat Bold"/>
              </a:rPr>
              <a:t>İdeya</a:t>
            </a:r>
            <a:endParaRPr b="0" lang="en-US" sz="1500" spc="-1" strike="noStrike">
              <a:solidFill>
                <a:srgbClr val="000000"/>
              </a:solidFill>
              <a:latin typeface="Arial"/>
            </a:endParaRPr>
          </a:p>
        </p:txBody>
      </p:sp>
      <p:sp>
        <p:nvSpPr>
          <p:cNvPr id="134" name="Text 14"/>
          <p:cNvSpPr/>
          <p:nvPr/>
        </p:nvSpPr>
        <p:spPr>
          <a:xfrm>
            <a:off x="529560" y="5707080"/>
            <a:ext cx="3007800" cy="825480"/>
          </a:xfrm>
          <a:prstGeom prst="rect">
            <a:avLst/>
          </a:prstGeom>
          <a:noFill/>
          <a:ln w="0">
            <a:noFill/>
          </a:ln>
        </p:spPr>
        <p:style>
          <a:lnRef idx="0"/>
          <a:fillRef idx="0"/>
          <a:effectRef idx="0"/>
          <a:fontRef idx="minor"/>
        </p:style>
        <p:txBody>
          <a:bodyPr lIns="0" rIns="0" tIns="0" bIns="0" anchor="t">
            <a:noAutofit/>
          </a:bodyPr>
          <a:p>
            <a:pPr defTabSz="914400">
              <a:lnSpc>
                <a:spcPts val="1800"/>
              </a:lnSpc>
              <a:tabLst>
                <a:tab algn="l" pos="0"/>
              </a:tabLst>
            </a:pPr>
            <a:r>
              <a:rPr b="0" lang="en-US" sz="1350" spc="-1" strike="noStrike">
                <a:solidFill>
                  <a:srgbClr val="e2e6e9"/>
                </a:solidFill>
                <a:latin typeface="Source Sans 3"/>
                <a:ea typeface="Source Sans 3"/>
              </a:rPr>
              <a:t>Problem müəyyənləşdirilir, yaradıcı beyin həmləsi aparılır, SI ilə trendlər analiz olunur.</a:t>
            </a:r>
            <a:endParaRPr b="0" lang="en-US" sz="1350" spc="-1" strike="noStrike">
              <a:solidFill>
                <a:srgbClr val="000000"/>
              </a:solidFill>
              <a:latin typeface="Arial"/>
            </a:endParaRPr>
          </a:p>
        </p:txBody>
      </p:sp>
      <p:sp>
        <p:nvSpPr>
          <p:cNvPr id="135" name="Shape 15"/>
          <p:cNvSpPr/>
          <p:nvPr/>
        </p:nvSpPr>
        <p:spPr>
          <a:xfrm>
            <a:off x="3890160" y="5105520"/>
            <a:ext cx="3400200" cy="1631880"/>
          </a:xfrm>
          <a:prstGeom prst="roundRect">
            <a:avLst>
              <a:gd name="adj" fmla="val 1880"/>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36" name="Text 16"/>
          <p:cNvSpPr/>
          <p:nvPr/>
        </p:nvSpPr>
        <p:spPr>
          <a:xfrm>
            <a:off x="4086360" y="5310000"/>
            <a:ext cx="2229840" cy="298800"/>
          </a:xfrm>
          <a:prstGeom prst="rect">
            <a:avLst/>
          </a:prstGeom>
          <a:noFill/>
          <a:ln w="0">
            <a:noFill/>
          </a:ln>
        </p:spPr>
        <p:style>
          <a:lnRef idx="0"/>
          <a:fillRef idx="0"/>
          <a:effectRef idx="0"/>
          <a:fontRef idx="minor"/>
        </p:style>
        <p:txBody>
          <a:bodyPr wrap="none" lIns="0" rIns="0" tIns="0" bIns="0" anchor="t">
            <a:noAutofit/>
          </a:bodyPr>
          <a:p>
            <a:pPr defTabSz="914400">
              <a:lnSpc>
                <a:spcPts val="1899"/>
              </a:lnSpc>
              <a:tabLst>
                <a:tab algn="l" pos="0"/>
              </a:tabLst>
            </a:pPr>
            <a:r>
              <a:rPr b="1" lang="en-US" sz="1500" spc="-1" strike="noStrike">
                <a:solidFill>
                  <a:srgbClr val="000000"/>
                </a:solidFill>
                <a:latin typeface="Montserrat Bold"/>
                <a:ea typeface="Montserrat Bold"/>
              </a:rPr>
              <a:t>🔧</a:t>
            </a:r>
            <a:r>
              <a:rPr b="1" lang="en-US" sz="1500" spc="-1" strike="noStrike">
                <a:solidFill>
                  <a:srgbClr val="e2e6e9"/>
                </a:solidFill>
                <a:latin typeface="Montserrat Bold"/>
                <a:ea typeface="Montserrat Bold"/>
              </a:rPr>
              <a:t> </a:t>
            </a:r>
            <a:r>
              <a:rPr b="1" lang="en-US" sz="1500" spc="-1" strike="noStrike">
                <a:solidFill>
                  <a:srgbClr val="e2e6e9"/>
                </a:solidFill>
                <a:latin typeface="Montserrat Bold"/>
                <a:ea typeface="Montserrat Bold"/>
              </a:rPr>
              <a:t>Prototip</a:t>
            </a:r>
            <a:endParaRPr b="0" lang="en-US" sz="1500" spc="-1" strike="noStrike">
              <a:solidFill>
                <a:srgbClr val="000000"/>
              </a:solidFill>
              <a:latin typeface="Arial"/>
            </a:endParaRPr>
          </a:p>
        </p:txBody>
      </p:sp>
      <p:sp>
        <p:nvSpPr>
          <p:cNvPr id="137" name="Text 17"/>
          <p:cNvSpPr/>
          <p:nvPr/>
        </p:nvSpPr>
        <p:spPr>
          <a:xfrm>
            <a:off x="4086360" y="5707080"/>
            <a:ext cx="3007800" cy="825480"/>
          </a:xfrm>
          <a:prstGeom prst="rect">
            <a:avLst/>
          </a:prstGeom>
          <a:noFill/>
          <a:ln w="0">
            <a:noFill/>
          </a:ln>
        </p:spPr>
        <p:style>
          <a:lnRef idx="0"/>
          <a:fillRef idx="0"/>
          <a:effectRef idx="0"/>
          <a:fontRef idx="minor"/>
        </p:style>
        <p:txBody>
          <a:bodyPr lIns="0" rIns="0" tIns="0" bIns="0" anchor="t">
            <a:noAutofit/>
          </a:bodyPr>
          <a:p>
            <a:pPr defTabSz="914400">
              <a:lnSpc>
                <a:spcPts val="1800"/>
              </a:lnSpc>
              <a:tabLst>
                <a:tab algn="l" pos="0"/>
              </a:tabLst>
            </a:pPr>
            <a:r>
              <a:rPr b="0" lang="en-US" sz="1350" spc="-1" strike="noStrike">
                <a:solidFill>
                  <a:srgbClr val="e2e6e9"/>
                </a:solidFill>
                <a:latin typeface="Source Sans 3"/>
                <a:ea typeface="Source Sans 3"/>
              </a:rPr>
              <a:t>MVP (Minimum Viable Product) yaradılır, texniki həyata keçirilə bilənlik yoxlanır.</a:t>
            </a:r>
            <a:endParaRPr b="0" lang="en-US" sz="1350" spc="-1" strike="noStrike">
              <a:solidFill>
                <a:srgbClr val="000000"/>
              </a:solidFill>
              <a:latin typeface="Arial"/>
            </a:endParaRPr>
          </a:p>
        </p:txBody>
      </p:sp>
      <p:sp>
        <p:nvSpPr>
          <p:cNvPr id="138" name="Shape 18"/>
          <p:cNvSpPr/>
          <p:nvPr/>
        </p:nvSpPr>
        <p:spPr>
          <a:xfrm>
            <a:off x="7446960" y="5105520"/>
            <a:ext cx="3400200" cy="1631880"/>
          </a:xfrm>
          <a:prstGeom prst="roundRect">
            <a:avLst>
              <a:gd name="adj" fmla="val 1880"/>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39" name="Text 19"/>
          <p:cNvSpPr/>
          <p:nvPr/>
        </p:nvSpPr>
        <p:spPr>
          <a:xfrm>
            <a:off x="7643160" y="5310000"/>
            <a:ext cx="2229840" cy="298800"/>
          </a:xfrm>
          <a:prstGeom prst="rect">
            <a:avLst/>
          </a:prstGeom>
          <a:noFill/>
          <a:ln w="0">
            <a:noFill/>
          </a:ln>
        </p:spPr>
        <p:style>
          <a:lnRef idx="0"/>
          <a:fillRef idx="0"/>
          <a:effectRef idx="0"/>
          <a:fontRef idx="minor"/>
        </p:style>
        <p:txBody>
          <a:bodyPr wrap="none" lIns="0" rIns="0" tIns="0" bIns="0" anchor="t">
            <a:noAutofit/>
          </a:bodyPr>
          <a:p>
            <a:pPr defTabSz="914400">
              <a:lnSpc>
                <a:spcPts val="1899"/>
              </a:lnSpc>
              <a:tabLst>
                <a:tab algn="l" pos="0"/>
              </a:tabLst>
            </a:pPr>
            <a:r>
              <a:rPr b="1" lang="en-US" sz="1500" spc="-1" strike="noStrike">
                <a:solidFill>
                  <a:srgbClr val="000000"/>
                </a:solidFill>
                <a:latin typeface="Montserrat Bold"/>
                <a:ea typeface="Montserrat Bold"/>
              </a:rPr>
              <a:t>🧪</a:t>
            </a:r>
            <a:r>
              <a:rPr b="1" lang="en-US" sz="1500" spc="-1" strike="noStrike">
                <a:solidFill>
                  <a:srgbClr val="e2e6e9"/>
                </a:solidFill>
                <a:latin typeface="Montserrat Bold"/>
                <a:ea typeface="Montserrat Bold"/>
              </a:rPr>
              <a:t> </a:t>
            </a:r>
            <a:r>
              <a:rPr b="1" lang="en-US" sz="1500" spc="-1" strike="noStrike">
                <a:solidFill>
                  <a:srgbClr val="e2e6e9"/>
                </a:solidFill>
                <a:latin typeface="Montserrat Bold"/>
                <a:ea typeface="Montserrat Bold"/>
              </a:rPr>
              <a:t>Test</a:t>
            </a:r>
            <a:endParaRPr b="0" lang="en-US" sz="1500" spc="-1" strike="noStrike">
              <a:solidFill>
                <a:srgbClr val="000000"/>
              </a:solidFill>
              <a:latin typeface="Arial"/>
            </a:endParaRPr>
          </a:p>
        </p:txBody>
      </p:sp>
      <p:sp>
        <p:nvSpPr>
          <p:cNvPr id="140" name="Text 20"/>
          <p:cNvSpPr/>
          <p:nvPr/>
        </p:nvSpPr>
        <p:spPr>
          <a:xfrm>
            <a:off x="7643160" y="5707080"/>
            <a:ext cx="3007800" cy="550080"/>
          </a:xfrm>
          <a:prstGeom prst="rect">
            <a:avLst/>
          </a:prstGeom>
          <a:noFill/>
          <a:ln w="0">
            <a:noFill/>
          </a:ln>
        </p:spPr>
        <p:style>
          <a:lnRef idx="0"/>
          <a:fillRef idx="0"/>
          <a:effectRef idx="0"/>
          <a:fontRef idx="minor"/>
        </p:style>
        <p:txBody>
          <a:bodyPr lIns="0" rIns="0" tIns="0" bIns="0" anchor="t">
            <a:noAutofit/>
          </a:bodyPr>
          <a:p>
            <a:pPr defTabSz="914400">
              <a:lnSpc>
                <a:spcPts val="1800"/>
              </a:lnSpc>
              <a:tabLst>
                <a:tab algn="l" pos="0"/>
              </a:tabLst>
            </a:pPr>
            <a:r>
              <a:rPr b="0" lang="en-US" sz="1350" spc="-1" strike="noStrike">
                <a:solidFill>
                  <a:srgbClr val="e2e6e9"/>
                </a:solidFill>
                <a:latin typeface="Source Sans 3"/>
                <a:ea typeface="Source Sans 3"/>
              </a:rPr>
              <a:t>İstifadəçi rəyi toplanır, A/B testlər aparılır, iterasiya edilir.</a:t>
            </a:r>
            <a:endParaRPr b="0" lang="en-US" sz="1350" spc="-1" strike="noStrike">
              <a:solidFill>
                <a:srgbClr val="000000"/>
              </a:solidFill>
              <a:latin typeface="Arial"/>
            </a:endParaRPr>
          </a:p>
        </p:txBody>
      </p:sp>
      <p:sp>
        <p:nvSpPr>
          <p:cNvPr id="141" name="Shape 21"/>
          <p:cNvSpPr/>
          <p:nvPr/>
        </p:nvSpPr>
        <p:spPr>
          <a:xfrm>
            <a:off x="11003400" y="5105520"/>
            <a:ext cx="3400200" cy="1631880"/>
          </a:xfrm>
          <a:prstGeom prst="roundRect">
            <a:avLst>
              <a:gd name="adj" fmla="val 1880"/>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42" name="Text 22"/>
          <p:cNvSpPr/>
          <p:nvPr/>
        </p:nvSpPr>
        <p:spPr>
          <a:xfrm>
            <a:off x="11199600" y="5310000"/>
            <a:ext cx="2229840" cy="298800"/>
          </a:xfrm>
          <a:prstGeom prst="rect">
            <a:avLst/>
          </a:prstGeom>
          <a:noFill/>
          <a:ln w="0">
            <a:noFill/>
          </a:ln>
        </p:spPr>
        <p:style>
          <a:lnRef idx="0"/>
          <a:fillRef idx="0"/>
          <a:effectRef idx="0"/>
          <a:fontRef idx="minor"/>
        </p:style>
        <p:txBody>
          <a:bodyPr wrap="none" lIns="0" rIns="0" tIns="0" bIns="0" anchor="t">
            <a:noAutofit/>
          </a:bodyPr>
          <a:p>
            <a:pPr defTabSz="914400">
              <a:lnSpc>
                <a:spcPts val="1899"/>
              </a:lnSpc>
              <a:tabLst>
                <a:tab algn="l" pos="0"/>
              </a:tabLst>
            </a:pPr>
            <a:r>
              <a:rPr b="1" lang="en-US" sz="1500" spc="-1" strike="noStrike">
                <a:solidFill>
                  <a:srgbClr val="000000"/>
                </a:solidFill>
                <a:latin typeface="Montserrat Bold"/>
                <a:ea typeface="Montserrat Bold"/>
              </a:rPr>
              <a:t>📈</a:t>
            </a:r>
            <a:r>
              <a:rPr b="1" lang="en-US" sz="1500" spc="-1" strike="noStrike">
                <a:solidFill>
                  <a:srgbClr val="e2e6e9"/>
                </a:solidFill>
                <a:latin typeface="Montserrat Bold"/>
                <a:ea typeface="Montserrat Bold"/>
              </a:rPr>
              <a:t> </a:t>
            </a:r>
            <a:r>
              <a:rPr b="1" lang="en-US" sz="1500" spc="-1" strike="noStrike">
                <a:solidFill>
                  <a:srgbClr val="e2e6e9"/>
                </a:solidFill>
                <a:latin typeface="Montserrat Bold"/>
                <a:ea typeface="Montserrat Bold"/>
              </a:rPr>
              <a:t>Miqyaslama</a:t>
            </a:r>
            <a:endParaRPr b="0" lang="en-US" sz="1500" spc="-1" strike="noStrike">
              <a:solidFill>
                <a:srgbClr val="000000"/>
              </a:solidFill>
              <a:latin typeface="Arial"/>
            </a:endParaRPr>
          </a:p>
        </p:txBody>
      </p:sp>
      <p:sp>
        <p:nvSpPr>
          <p:cNvPr id="143" name="Text 23"/>
          <p:cNvSpPr/>
          <p:nvPr/>
        </p:nvSpPr>
        <p:spPr>
          <a:xfrm>
            <a:off x="11199600" y="5707080"/>
            <a:ext cx="3007800" cy="550080"/>
          </a:xfrm>
          <a:prstGeom prst="rect">
            <a:avLst/>
          </a:prstGeom>
          <a:noFill/>
          <a:ln w="0">
            <a:noFill/>
          </a:ln>
        </p:spPr>
        <p:style>
          <a:lnRef idx="0"/>
          <a:fillRef idx="0"/>
          <a:effectRef idx="0"/>
          <a:fontRef idx="minor"/>
        </p:style>
        <p:txBody>
          <a:bodyPr lIns="0" rIns="0" tIns="0" bIns="0" anchor="t">
            <a:noAutofit/>
          </a:bodyPr>
          <a:p>
            <a:pPr defTabSz="914400">
              <a:lnSpc>
                <a:spcPts val="1800"/>
              </a:lnSpc>
              <a:tabLst>
                <a:tab algn="l" pos="0"/>
              </a:tabLst>
            </a:pPr>
            <a:r>
              <a:rPr b="0" lang="en-US" sz="1350" spc="-1" strike="noStrike">
                <a:solidFill>
                  <a:srgbClr val="e2e6e9"/>
                </a:solidFill>
                <a:latin typeface="Source Sans 3"/>
                <a:ea typeface="Source Sans 3"/>
              </a:rPr>
              <a:t>Əməliyyat genişləndirilir, yeni bazarlara çıxış planlanır.</a:t>
            </a:r>
            <a:endParaRPr b="0" lang="en-US" sz="1350" spc="-1" strike="noStrike">
              <a:solidFill>
                <a:srgbClr val="000000"/>
              </a:solidFill>
              <a:latin typeface="Arial"/>
            </a:endParaRPr>
          </a:p>
        </p:txBody>
      </p:sp>
      <p:sp>
        <p:nvSpPr>
          <p:cNvPr id="144" name="Shape 24"/>
          <p:cNvSpPr/>
          <p:nvPr/>
        </p:nvSpPr>
        <p:spPr>
          <a:xfrm>
            <a:off x="333360" y="6900480"/>
            <a:ext cx="14070240" cy="1081080"/>
          </a:xfrm>
          <a:prstGeom prst="roundRect">
            <a:avLst>
              <a:gd name="adj" fmla="val 2838"/>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45" name="Text 25"/>
          <p:cNvSpPr/>
          <p:nvPr/>
        </p:nvSpPr>
        <p:spPr>
          <a:xfrm>
            <a:off x="529560" y="7104960"/>
            <a:ext cx="2813400" cy="298800"/>
          </a:xfrm>
          <a:prstGeom prst="rect">
            <a:avLst/>
          </a:prstGeom>
          <a:noFill/>
          <a:ln w="0">
            <a:noFill/>
          </a:ln>
        </p:spPr>
        <p:style>
          <a:lnRef idx="0"/>
          <a:fillRef idx="0"/>
          <a:effectRef idx="0"/>
          <a:fontRef idx="minor"/>
        </p:style>
        <p:txBody>
          <a:bodyPr wrap="none" lIns="0" rIns="0" tIns="0" bIns="0" anchor="t">
            <a:noAutofit/>
          </a:bodyPr>
          <a:p>
            <a:pPr defTabSz="914400">
              <a:lnSpc>
                <a:spcPts val="1899"/>
              </a:lnSpc>
              <a:tabLst>
                <a:tab algn="l" pos="0"/>
              </a:tabLst>
            </a:pPr>
            <a:r>
              <a:rPr b="1" lang="en-US" sz="1500" spc="-1" strike="noStrike">
                <a:solidFill>
                  <a:srgbClr val="000000"/>
                </a:solidFill>
                <a:latin typeface="Montserrat Bold"/>
                <a:ea typeface="Montserrat Bold"/>
              </a:rPr>
              <a:t>💰</a:t>
            </a:r>
            <a:r>
              <a:rPr b="1" lang="en-US" sz="1500" spc="-1" strike="noStrike">
                <a:solidFill>
                  <a:srgbClr val="e2e6e9"/>
                </a:solidFill>
                <a:latin typeface="Montserrat Bold"/>
                <a:ea typeface="Montserrat Bold"/>
              </a:rPr>
              <a:t> </a:t>
            </a:r>
            <a:r>
              <a:rPr b="1" lang="en-US" sz="1500" spc="-1" strike="noStrike">
                <a:solidFill>
                  <a:srgbClr val="e2e6e9"/>
                </a:solidFill>
                <a:latin typeface="Montserrat Bold"/>
                <a:ea typeface="Montserrat Bold"/>
              </a:rPr>
              <a:t>Kommersiyalaşdırma</a:t>
            </a:r>
            <a:endParaRPr b="0" lang="en-US" sz="1500" spc="-1" strike="noStrike">
              <a:solidFill>
                <a:srgbClr val="000000"/>
              </a:solidFill>
              <a:latin typeface="Arial"/>
            </a:endParaRPr>
          </a:p>
        </p:txBody>
      </p:sp>
      <p:sp>
        <p:nvSpPr>
          <p:cNvPr id="146" name="Text 26"/>
          <p:cNvSpPr/>
          <p:nvPr/>
        </p:nvSpPr>
        <p:spPr>
          <a:xfrm>
            <a:off x="529560" y="7502040"/>
            <a:ext cx="13677840" cy="274680"/>
          </a:xfrm>
          <a:prstGeom prst="rect">
            <a:avLst/>
          </a:prstGeom>
          <a:noFill/>
          <a:ln w="0">
            <a:noFill/>
          </a:ln>
        </p:spPr>
        <p:style>
          <a:lnRef idx="0"/>
          <a:fillRef idx="0"/>
          <a:effectRef idx="0"/>
          <a:fontRef idx="minor"/>
        </p:style>
        <p:txBody>
          <a:bodyPr wrap="none" lIns="0" rIns="0" tIns="0" bIns="0" anchor="t">
            <a:noAutofit/>
          </a:bodyPr>
          <a:p>
            <a:pPr defTabSz="914400">
              <a:lnSpc>
                <a:spcPts val="1800"/>
              </a:lnSpc>
              <a:tabLst>
                <a:tab algn="l" pos="0"/>
              </a:tabLst>
            </a:pPr>
            <a:r>
              <a:rPr b="0" lang="en-US" sz="1350" spc="-1" strike="noStrike">
                <a:solidFill>
                  <a:srgbClr val="e2e6e9"/>
                </a:solidFill>
                <a:latin typeface="Source Sans 3"/>
                <a:ea typeface="Source Sans 3"/>
              </a:rPr>
              <a:t>Bazara çıxış strategiyası, gəlir modeli və brend mövqeləndirməsi həyata keçirilir.</a:t>
            </a:r>
            <a:endParaRPr b="0" lang="en-US" sz="1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47" name="Group 22"/>
          <p:cNvGrpSpPr/>
          <p:nvPr/>
        </p:nvGrpSpPr>
        <p:grpSpPr>
          <a:xfrm>
            <a:off x="226080" y="312120"/>
            <a:ext cx="14188680" cy="7669440"/>
            <a:chOff x="226080" y="312120"/>
            <a:chExt cx="14188680" cy="7669440"/>
          </a:xfrm>
        </p:grpSpPr>
        <p:sp>
          <p:nvSpPr>
            <p:cNvPr id="148" name="Text 0"/>
            <p:cNvSpPr/>
            <p:nvPr/>
          </p:nvSpPr>
          <p:spPr>
            <a:xfrm>
              <a:off x="226080" y="312120"/>
              <a:ext cx="8713080" cy="645120"/>
            </a:xfrm>
            <a:prstGeom prst="rect">
              <a:avLst/>
            </a:prstGeom>
            <a:noFill/>
            <a:ln w="0">
              <a:noFill/>
            </a:ln>
          </p:spPr>
          <p:style>
            <a:lnRef idx="0"/>
            <a:fillRef idx="0"/>
            <a:effectRef idx="0"/>
            <a:fontRef idx="minor"/>
          </p:style>
          <p:txBody>
            <a:bodyPr wrap="none" lIns="0" rIns="0" tIns="0" bIns="0" anchor="t">
              <a:noAutofit/>
            </a:bodyPr>
            <a:p>
              <a:pPr defTabSz="914400">
                <a:lnSpc>
                  <a:spcPts val="3801"/>
                </a:lnSpc>
                <a:tabLst>
                  <a:tab algn="l" pos="0"/>
                </a:tabLst>
              </a:pPr>
              <a:r>
                <a:rPr b="1" lang="en-US" sz="3000" spc="-1" strike="noStrike">
                  <a:solidFill>
                    <a:srgbClr val="ffffff"/>
                  </a:solidFill>
                  <a:latin typeface="Montserrat Bold"/>
                  <a:ea typeface="Montserrat Bold"/>
                </a:rPr>
                <a:t>SI İdeya Generasiyasını Necə Dəyişir?</a:t>
              </a:r>
              <a:endParaRPr b="0" lang="en-US" sz="3000" spc="-1" strike="noStrike">
                <a:solidFill>
                  <a:srgbClr val="000000"/>
                </a:solidFill>
                <a:latin typeface="Arial"/>
              </a:endParaRPr>
            </a:p>
          </p:txBody>
        </p:sp>
        <p:sp>
          <p:nvSpPr>
            <p:cNvPr id="149" name="Text 1"/>
            <p:cNvSpPr/>
            <p:nvPr/>
          </p:nvSpPr>
          <p:spPr>
            <a:xfrm>
              <a:off x="226080" y="1315440"/>
              <a:ext cx="14179680" cy="608760"/>
            </a:xfrm>
            <a:prstGeom prst="rect">
              <a:avLst/>
            </a:prstGeom>
            <a:noFill/>
            <a:ln w="0">
              <a:noFill/>
            </a:ln>
          </p:spPr>
          <p:style>
            <a:lnRef idx="0"/>
            <a:fillRef idx="0"/>
            <a:effectRef idx="0"/>
            <a:fontRef idx="minor"/>
          </p:style>
          <p:txBody>
            <a:bodyPr lIns="0" rIns="0" tIns="0" bIns="0" anchor="t">
              <a:noAutofit/>
            </a:bodyPr>
            <a:p>
              <a:pPr defTabSz="914400">
                <a:lnSpc>
                  <a:spcPts val="1749"/>
                </a:lnSpc>
                <a:tabLst>
                  <a:tab algn="l" pos="0"/>
                </a:tabLst>
              </a:pPr>
              <a:r>
                <a:rPr b="0" lang="en-US" sz="1700" spc="-1" strike="noStrike">
                  <a:solidFill>
                    <a:srgbClr val="e2e6e9"/>
                  </a:solidFill>
                  <a:latin typeface="Source Sans 3"/>
                  <a:ea typeface="Source Sans 3"/>
                </a:rPr>
                <a:t>İnnovasiya prosesinin ən kritik mərhələsi — yeni ideyaların yaranması — artıq SI alətləri ilə əsaslı şəkildə transformasiya olunub. Generativ SI, istifadəçi davranışı analitikası və klasterləşdirmə alqoritmləri, insanların tək başına nail ola bilməyəcəyi sürət və miqyasda ideya generasiyasına imkan yaradır.</a:t>
              </a:r>
              <a:endParaRPr b="0" lang="en-US" sz="1700" spc="-1" strike="noStrike">
                <a:solidFill>
                  <a:srgbClr val="000000"/>
                </a:solidFill>
                <a:latin typeface="Arial"/>
              </a:endParaRPr>
            </a:p>
          </p:txBody>
        </p:sp>
        <p:sp>
          <p:nvSpPr>
            <p:cNvPr id="150" name="Text 2"/>
            <p:cNvSpPr/>
            <p:nvPr/>
          </p:nvSpPr>
          <p:spPr>
            <a:xfrm>
              <a:off x="226080" y="2305080"/>
              <a:ext cx="3513960" cy="322200"/>
            </a:xfrm>
            <a:prstGeom prst="rect">
              <a:avLst/>
            </a:prstGeom>
            <a:noFill/>
            <a:ln w="0">
              <a:noFill/>
            </a:ln>
          </p:spPr>
          <p:style>
            <a:lnRef idx="0"/>
            <a:fillRef idx="0"/>
            <a:effectRef idx="0"/>
            <a:fontRef idx="minor"/>
          </p:style>
          <p:txBody>
            <a:bodyPr wrap="none" lIns="0" rIns="0" tIns="0" bIns="0" anchor="t">
              <a:noAutofit/>
            </a:bodyPr>
            <a:p>
              <a:pPr defTabSz="914400">
                <a:lnSpc>
                  <a:spcPts val="1899"/>
                </a:lnSpc>
                <a:tabLst>
                  <a:tab algn="l" pos="0"/>
                </a:tabLst>
              </a:pPr>
              <a:r>
                <a:rPr b="1" lang="en-US" sz="1500" spc="-1" strike="noStrike">
                  <a:solidFill>
                    <a:srgbClr val="ffffff"/>
                  </a:solidFill>
                  <a:latin typeface="Montserrat Bold"/>
                  <a:ea typeface="Montserrat Bold"/>
                </a:rPr>
                <a:t>Generativ SI ilə Beyin Həmləsi</a:t>
              </a:r>
              <a:endParaRPr b="0" lang="en-US" sz="1500" spc="-1" strike="noStrike">
                <a:solidFill>
                  <a:srgbClr val="000000"/>
                </a:solidFill>
                <a:latin typeface="Arial"/>
              </a:endParaRPr>
            </a:p>
          </p:txBody>
        </p:sp>
        <p:sp>
          <p:nvSpPr>
            <p:cNvPr id="151" name="Text 3"/>
            <p:cNvSpPr/>
            <p:nvPr/>
          </p:nvSpPr>
          <p:spPr>
            <a:xfrm>
              <a:off x="226080" y="2806560"/>
              <a:ext cx="6848280" cy="1218240"/>
            </a:xfrm>
            <a:prstGeom prst="rect">
              <a:avLst/>
            </a:prstGeom>
            <a:noFill/>
            <a:ln w="0">
              <a:noFill/>
            </a:ln>
          </p:spPr>
          <p:style>
            <a:lnRef idx="0"/>
            <a:fillRef idx="0"/>
            <a:effectRef idx="0"/>
            <a:fontRef idx="minor"/>
          </p:style>
          <p:txBody>
            <a:bodyPr lIns="0" rIns="0" tIns="0" bIns="0" anchor="t">
              <a:noAutofit/>
            </a:bodyPr>
            <a:p>
              <a:pPr defTabSz="914400">
                <a:lnSpc>
                  <a:spcPts val="1749"/>
                </a:lnSpc>
                <a:tabLst>
                  <a:tab algn="l" pos="0"/>
                </a:tabLst>
              </a:pPr>
              <a:r>
                <a:rPr b="0" lang="en-US" sz="1300" spc="-1" strike="noStrike">
                  <a:solidFill>
                    <a:srgbClr val="e2e6e9"/>
                  </a:solidFill>
                  <a:latin typeface="Source Sans 3"/>
                  <a:ea typeface="Source Sans 3"/>
                </a:rPr>
                <a:t>ChatGPT, Claude, Gemini kimi böyük dil modelləri sonsuz sayda variant, analогия və ssenari generasiya edə bilir. İnsan kreativliyi ilə birləşdikdə, bu alətlər ideya funnel-ini xətti şəkildə genişləndirir. SI bir problem üçün yüzlərlə potensial həll sıralayır, insan isə ən perspektivlilərini seçir.</a:t>
              </a:r>
              <a:endParaRPr b="0" lang="en-US" sz="1300" spc="-1" strike="noStrike">
                <a:solidFill>
                  <a:srgbClr val="000000"/>
                </a:solidFill>
                <a:latin typeface="Arial"/>
              </a:endParaRPr>
            </a:p>
          </p:txBody>
        </p:sp>
        <p:pic>
          <p:nvPicPr>
            <p:cNvPr id="152" name="Image 0" descr="preencoded.png"/>
            <p:cNvPicPr/>
            <p:nvPr/>
          </p:nvPicPr>
          <p:blipFill>
            <a:blip r:embed="rId1">
              <a:extLst>
                <a:ext uri="{96DAC541-7B7A-43D3-8B79-37D633B846F1}">
                  <asvg:svgBlip xmlns:asvg="http://schemas.microsoft.com/office/drawing/2016/SVG/main" r:embed="rId2"/>
                </a:ext>
              </a:extLst>
            </a:blip>
            <a:stretch/>
          </p:blipFill>
          <p:spPr>
            <a:xfrm>
              <a:off x="300240" y="4233600"/>
              <a:ext cx="295920" cy="340200"/>
            </a:xfrm>
            <a:prstGeom prst="rect">
              <a:avLst/>
            </a:prstGeom>
            <a:ln w="0">
              <a:noFill/>
            </a:ln>
          </p:spPr>
        </p:pic>
        <p:sp>
          <p:nvSpPr>
            <p:cNvPr id="153" name="Text 4"/>
            <p:cNvSpPr/>
            <p:nvPr/>
          </p:nvSpPr>
          <p:spPr>
            <a:xfrm>
              <a:off x="868680" y="4226760"/>
              <a:ext cx="2479680" cy="322200"/>
            </a:xfrm>
            <a:prstGeom prst="rect">
              <a:avLst/>
            </a:prstGeom>
            <a:noFill/>
            <a:ln w="0">
              <a:noFill/>
            </a:ln>
          </p:spPr>
          <p:style>
            <a:lnRef idx="0"/>
            <a:fillRef idx="0"/>
            <a:effectRef idx="0"/>
            <a:fontRef idx="minor"/>
          </p:style>
          <p:txBody>
            <a:bodyPr wrap="none" lIns="0" rIns="0" tIns="0" bIns="0" anchor="t">
              <a:noAutofit/>
            </a:bodyPr>
            <a:p>
              <a:pPr defTabSz="914400">
                <a:lnSpc>
                  <a:spcPts val="1899"/>
                </a:lnSpc>
                <a:tabLst>
                  <a:tab algn="l" pos="0"/>
                </a:tabLst>
              </a:pPr>
              <a:r>
                <a:rPr b="1" lang="en-US" sz="1500" spc="-1" strike="noStrike">
                  <a:solidFill>
                    <a:srgbClr val="e2e6e9"/>
                  </a:solidFill>
                  <a:latin typeface="Montserrat Bold"/>
                  <a:ea typeface="Montserrat Bold"/>
                </a:rPr>
                <a:t>Prompt mühəndisliyi</a:t>
              </a:r>
              <a:endParaRPr b="0" lang="en-US" sz="1500" spc="-1" strike="noStrike">
                <a:solidFill>
                  <a:srgbClr val="000000"/>
                </a:solidFill>
                <a:latin typeface="Arial"/>
              </a:endParaRPr>
            </a:p>
          </p:txBody>
        </p:sp>
        <p:sp>
          <p:nvSpPr>
            <p:cNvPr id="154" name="Text 5"/>
            <p:cNvSpPr/>
            <p:nvPr/>
          </p:nvSpPr>
          <p:spPr>
            <a:xfrm>
              <a:off x="868680" y="4728240"/>
              <a:ext cx="6205680" cy="303840"/>
            </a:xfrm>
            <a:prstGeom prst="rect">
              <a:avLst/>
            </a:prstGeom>
            <a:noFill/>
            <a:ln w="0">
              <a:noFill/>
            </a:ln>
          </p:spPr>
          <p:style>
            <a:lnRef idx="0"/>
            <a:fillRef idx="0"/>
            <a:effectRef idx="0"/>
            <a:fontRef idx="minor"/>
          </p:style>
          <p:txBody>
            <a:bodyPr wrap="none" lIns="0" rIns="0" tIns="0" bIns="0" anchor="t">
              <a:noAutofit/>
            </a:bodyPr>
            <a:p>
              <a:pPr defTabSz="914400">
                <a:lnSpc>
                  <a:spcPts val="1749"/>
                </a:lnSpc>
                <a:tabLst>
                  <a:tab algn="l" pos="0"/>
                </a:tabLst>
              </a:pPr>
              <a:r>
                <a:rPr b="0" lang="en-US" sz="1300" spc="-1" strike="noStrike">
                  <a:solidFill>
                    <a:srgbClr val="e2e6e9"/>
                  </a:solidFill>
                  <a:latin typeface="Source Sans 3"/>
                  <a:ea typeface="Source Sans 3"/>
                </a:rPr>
                <a:t>Düzgün sual vermək — SI-dən daha keyfiyyətli ideya almağın açarıdır.</a:t>
              </a:r>
              <a:endParaRPr b="0" lang="en-US" sz="1300" spc="-1" strike="noStrike">
                <a:solidFill>
                  <a:srgbClr val="000000"/>
                </a:solidFill>
                <a:latin typeface="Arial"/>
              </a:endParaRPr>
            </a:p>
          </p:txBody>
        </p:sp>
        <p:pic>
          <p:nvPicPr>
            <p:cNvPr id="155" name="Image 1" descr="preencoded.png"/>
            <p:cNvPicPr/>
            <p:nvPr/>
          </p:nvPicPr>
          <p:blipFill>
            <a:blip r:embed="rId3">
              <a:extLst>
                <a:ext uri="{96DAC541-7B7A-43D3-8B79-37D633B846F1}">
                  <asvg:svgBlip xmlns:asvg="http://schemas.microsoft.com/office/drawing/2016/SVG/main" r:embed="rId4"/>
                </a:ext>
              </a:extLst>
            </a:blip>
            <a:stretch/>
          </p:blipFill>
          <p:spPr>
            <a:xfrm>
              <a:off x="300240" y="5397480"/>
              <a:ext cx="295920" cy="340200"/>
            </a:xfrm>
            <a:prstGeom prst="rect">
              <a:avLst/>
            </a:prstGeom>
            <a:ln w="0">
              <a:noFill/>
            </a:ln>
          </p:spPr>
        </p:pic>
        <p:sp>
          <p:nvSpPr>
            <p:cNvPr id="156" name="Text 6"/>
            <p:cNvSpPr/>
            <p:nvPr/>
          </p:nvSpPr>
          <p:spPr>
            <a:xfrm>
              <a:off x="868680" y="5390640"/>
              <a:ext cx="3272760" cy="322200"/>
            </a:xfrm>
            <a:prstGeom prst="rect">
              <a:avLst/>
            </a:prstGeom>
            <a:noFill/>
            <a:ln w="0">
              <a:noFill/>
            </a:ln>
          </p:spPr>
          <p:style>
            <a:lnRef idx="0"/>
            <a:fillRef idx="0"/>
            <a:effectRef idx="0"/>
            <a:fontRef idx="minor"/>
          </p:style>
          <p:txBody>
            <a:bodyPr wrap="none" lIns="0" rIns="0" tIns="0" bIns="0" anchor="t">
              <a:noAutofit/>
            </a:bodyPr>
            <a:p>
              <a:pPr defTabSz="914400">
                <a:lnSpc>
                  <a:spcPts val="1899"/>
                </a:lnSpc>
                <a:tabLst>
                  <a:tab algn="l" pos="0"/>
                </a:tabLst>
              </a:pPr>
              <a:r>
                <a:rPr b="1" lang="en-US" sz="1500" spc="-1" strike="noStrike">
                  <a:solidFill>
                    <a:srgbClr val="e2e6e9"/>
                  </a:solidFill>
                  <a:latin typeface="Montserrat Bold"/>
                  <a:ea typeface="Montserrat Bold"/>
                </a:rPr>
                <a:t>Çarpaz sənaye analogiyaları</a:t>
              </a:r>
              <a:endParaRPr b="0" lang="en-US" sz="1500" spc="-1" strike="noStrike">
                <a:solidFill>
                  <a:srgbClr val="000000"/>
                </a:solidFill>
                <a:latin typeface="Arial"/>
              </a:endParaRPr>
            </a:p>
          </p:txBody>
        </p:sp>
        <p:sp>
          <p:nvSpPr>
            <p:cNvPr id="157" name="Text 7"/>
            <p:cNvSpPr/>
            <p:nvPr/>
          </p:nvSpPr>
          <p:spPr>
            <a:xfrm>
              <a:off x="868680" y="5892480"/>
              <a:ext cx="6205680" cy="303840"/>
            </a:xfrm>
            <a:prstGeom prst="rect">
              <a:avLst/>
            </a:prstGeom>
            <a:noFill/>
            <a:ln w="0">
              <a:noFill/>
            </a:ln>
          </p:spPr>
          <p:style>
            <a:lnRef idx="0"/>
            <a:fillRef idx="0"/>
            <a:effectRef idx="0"/>
            <a:fontRef idx="minor"/>
          </p:style>
          <p:txBody>
            <a:bodyPr wrap="none" lIns="0" rIns="0" tIns="0" bIns="0" anchor="t">
              <a:noAutofit/>
            </a:bodyPr>
            <a:p>
              <a:pPr defTabSz="914400">
                <a:lnSpc>
                  <a:spcPts val="1749"/>
                </a:lnSpc>
                <a:tabLst>
                  <a:tab algn="l" pos="0"/>
                </a:tabLst>
              </a:pPr>
              <a:r>
                <a:rPr b="0" lang="en-US" sz="1300" spc="-1" strike="noStrike">
                  <a:solidFill>
                    <a:srgbClr val="e2e6e9"/>
                  </a:solidFill>
                  <a:latin typeface="Source Sans 3"/>
                  <a:ea typeface="Source Sans 3"/>
                </a:rPr>
                <a:t>SI fərqli sənayələrdən ideyaları birləşdirərək hibrid həllər təklif edə bilir.</a:t>
              </a:r>
              <a:endParaRPr b="0" lang="en-US" sz="1300" spc="-1" strike="noStrike">
                <a:solidFill>
                  <a:srgbClr val="000000"/>
                </a:solidFill>
                <a:latin typeface="Arial"/>
              </a:endParaRPr>
            </a:p>
          </p:txBody>
        </p:sp>
        <p:sp>
          <p:nvSpPr>
            <p:cNvPr id="158" name="Text 8"/>
            <p:cNvSpPr/>
            <p:nvPr/>
          </p:nvSpPr>
          <p:spPr>
            <a:xfrm>
              <a:off x="7566120" y="2305080"/>
              <a:ext cx="4094640" cy="322200"/>
            </a:xfrm>
            <a:prstGeom prst="rect">
              <a:avLst/>
            </a:prstGeom>
            <a:noFill/>
            <a:ln w="0">
              <a:noFill/>
            </a:ln>
          </p:spPr>
          <p:style>
            <a:lnRef idx="0"/>
            <a:fillRef idx="0"/>
            <a:effectRef idx="0"/>
            <a:fontRef idx="minor"/>
          </p:style>
          <p:txBody>
            <a:bodyPr wrap="none" lIns="0" rIns="0" tIns="0" bIns="0" anchor="t">
              <a:noAutofit/>
            </a:bodyPr>
            <a:p>
              <a:pPr defTabSz="914400">
                <a:lnSpc>
                  <a:spcPts val="1899"/>
                </a:lnSpc>
                <a:tabLst>
                  <a:tab algn="l" pos="0"/>
                </a:tabLst>
              </a:pPr>
              <a:r>
                <a:rPr b="1" lang="en-US" sz="1500" spc="-1" strike="noStrike">
                  <a:solidFill>
                    <a:srgbClr val="ffffff"/>
                  </a:solidFill>
                  <a:latin typeface="Montserrat Bold"/>
                  <a:ea typeface="Montserrat Bold"/>
                </a:rPr>
                <a:t>Trendlər Analizi və Klasterləşdirmə</a:t>
              </a:r>
              <a:endParaRPr b="0" lang="en-US" sz="1500" spc="-1" strike="noStrike">
                <a:solidFill>
                  <a:srgbClr val="000000"/>
                </a:solidFill>
                <a:latin typeface="Arial"/>
              </a:endParaRPr>
            </a:p>
          </p:txBody>
        </p:sp>
        <p:sp>
          <p:nvSpPr>
            <p:cNvPr id="159" name="Text 9"/>
            <p:cNvSpPr/>
            <p:nvPr/>
          </p:nvSpPr>
          <p:spPr>
            <a:xfrm>
              <a:off x="7566120" y="2806560"/>
              <a:ext cx="6848280" cy="1218240"/>
            </a:xfrm>
            <a:prstGeom prst="rect">
              <a:avLst/>
            </a:prstGeom>
            <a:noFill/>
            <a:ln w="0">
              <a:noFill/>
            </a:ln>
          </p:spPr>
          <p:style>
            <a:lnRef idx="0"/>
            <a:fillRef idx="0"/>
            <a:effectRef idx="0"/>
            <a:fontRef idx="minor"/>
          </p:style>
          <p:txBody>
            <a:bodyPr lIns="0" rIns="0" tIns="0" bIns="0" anchor="t">
              <a:noAutofit/>
            </a:bodyPr>
            <a:p>
              <a:pPr defTabSz="914400">
                <a:lnSpc>
                  <a:spcPts val="1749"/>
                </a:lnSpc>
                <a:tabLst>
                  <a:tab algn="l" pos="0"/>
                </a:tabLst>
              </a:pPr>
              <a:r>
                <a:rPr b="0" lang="en-US" sz="1300" spc="-1" strike="noStrike">
                  <a:solidFill>
                    <a:srgbClr val="e2e6e9"/>
                  </a:solidFill>
                  <a:latin typeface="Source Sans 3"/>
                  <a:ea typeface="Source Sans 3"/>
                </a:rPr>
                <a:t>Maşın öyrənməsi modelləri sosial media axınları, patent bazaları, akademik məqalələr və istehlakçı davranışı məlumatlarını real vaxt rejimində analiz edərək yüksələn trendləri erkən aşkarlaya bilir. NLP (Təbii Dil Emalı) alqoritmləri istifadəçi rəylərini klasterləşdirərək hələ heç kəsin həll etmədiyi "ağrı nöqtələrini" üzə çıxarır.</a:t>
              </a:r>
              <a:endParaRPr b="0" lang="en-US" sz="1300" spc="-1" strike="noStrike">
                <a:solidFill>
                  <a:srgbClr val="000000"/>
                </a:solidFill>
                <a:latin typeface="Arial"/>
              </a:endParaRPr>
            </a:p>
          </p:txBody>
        </p:sp>
        <p:sp>
          <p:nvSpPr>
            <p:cNvPr id="160" name="Shape 10"/>
            <p:cNvSpPr/>
            <p:nvPr/>
          </p:nvSpPr>
          <p:spPr>
            <a:xfrm>
              <a:off x="7566120" y="4226760"/>
              <a:ext cx="3345840" cy="1949040"/>
            </a:xfrm>
            <a:prstGeom prst="roundRect">
              <a:avLst>
                <a:gd name="adj" fmla="val 1749"/>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61" name="Text 11"/>
            <p:cNvSpPr/>
            <p:nvPr/>
          </p:nvSpPr>
          <p:spPr>
            <a:xfrm>
              <a:off x="7790400" y="4484520"/>
              <a:ext cx="2247120" cy="322200"/>
            </a:xfrm>
            <a:prstGeom prst="rect">
              <a:avLst/>
            </a:prstGeom>
            <a:noFill/>
            <a:ln w="0">
              <a:noFill/>
            </a:ln>
          </p:spPr>
          <p:style>
            <a:lnRef idx="0"/>
            <a:fillRef idx="0"/>
            <a:effectRef idx="0"/>
            <a:fontRef idx="minor"/>
          </p:style>
          <p:txBody>
            <a:bodyPr wrap="none" lIns="0" rIns="0" tIns="0" bIns="0" anchor="t">
              <a:noAutofit/>
            </a:bodyPr>
            <a:p>
              <a:pPr defTabSz="914400">
                <a:lnSpc>
                  <a:spcPts val="1899"/>
                </a:lnSpc>
                <a:tabLst>
                  <a:tab algn="l" pos="0"/>
                </a:tabLst>
              </a:pPr>
              <a:r>
                <a:rPr b="1" lang="en-US" sz="1500" spc="-1" strike="noStrike">
                  <a:solidFill>
                    <a:srgbClr val="e2e6e9"/>
                  </a:solidFill>
                  <a:latin typeface="Montserrat Bold"/>
                  <a:ea typeface="Montserrat Bold"/>
                </a:rPr>
                <a:t>Google Trends + SI</a:t>
              </a:r>
              <a:endParaRPr b="0" lang="en-US" sz="1500" spc="-1" strike="noStrike">
                <a:solidFill>
                  <a:srgbClr val="000000"/>
                </a:solidFill>
                <a:latin typeface="Arial"/>
              </a:endParaRPr>
            </a:p>
          </p:txBody>
        </p:sp>
        <p:sp>
          <p:nvSpPr>
            <p:cNvPr id="162" name="Text 12"/>
            <p:cNvSpPr/>
            <p:nvPr/>
          </p:nvSpPr>
          <p:spPr>
            <a:xfrm>
              <a:off x="7790400" y="4986360"/>
              <a:ext cx="2897280" cy="608760"/>
            </a:xfrm>
            <a:prstGeom prst="rect">
              <a:avLst/>
            </a:prstGeom>
            <a:noFill/>
            <a:ln w="0">
              <a:noFill/>
            </a:ln>
          </p:spPr>
          <p:style>
            <a:lnRef idx="0"/>
            <a:fillRef idx="0"/>
            <a:effectRef idx="0"/>
            <a:fontRef idx="minor"/>
          </p:style>
          <p:txBody>
            <a:bodyPr lIns="0" rIns="0" tIns="0" bIns="0" anchor="t">
              <a:noAutofit/>
            </a:bodyPr>
            <a:p>
              <a:pPr defTabSz="914400">
                <a:lnSpc>
                  <a:spcPts val="1749"/>
                </a:lnSpc>
                <a:tabLst>
                  <a:tab algn="l" pos="0"/>
                </a:tabLst>
              </a:pPr>
              <a:r>
                <a:rPr b="0" lang="en-US" sz="1300" spc="-1" strike="noStrike">
                  <a:solidFill>
                    <a:srgbClr val="e2e6e9"/>
                  </a:solidFill>
                  <a:latin typeface="Source Sans 3"/>
                  <a:ea typeface="Source Sans 3"/>
                </a:rPr>
                <a:t>Axtarış həcmindəki anomaliyalar yeni tələbatların siqnalıdır.</a:t>
              </a:r>
              <a:endParaRPr b="0" lang="en-US" sz="1300" spc="-1" strike="noStrike">
                <a:solidFill>
                  <a:srgbClr val="000000"/>
                </a:solidFill>
                <a:latin typeface="Arial"/>
              </a:endParaRPr>
            </a:p>
          </p:txBody>
        </p:sp>
        <p:sp>
          <p:nvSpPr>
            <p:cNvPr id="163" name="Shape 13"/>
            <p:cNvSpPr/>
            <p:nvPr/>
          </p:nvSpPr>
          <p:spPr>
            <a:xfrm>
              <a:off x="11068560" y="4226760"/>
              <a:ext cx="3346200" cy="1949040"/>
            </a:xfrm>
            <a:prstGeom prst="roundRect">
              <a:avLst>
                <a:gd name="adj" fmla="val 1749"/>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64" name="Text 14"/>
            <p:cNvSpPr/>
            <p:nvPr/>
          </p:nvSpPr>
          <p:spPr>
            <a:xfrm>
              <a:off x="11292840" y="4484520"/>
              <a:ext cx="2897640" cy="645120"/>
            </a:xfrm>
            <a:prstGeom prst="rect">
              <a:avLst/>
            </a:prstGeom>
            <a:noFill/>
            <a:ln w="0">
              <a:noFill/>
            </a:ln>
          </p:spPr>
          <p:style>
            <a:lnRef idx="0"/>
            <a:fillRef idx="0"/>
            <a:effectRef idx="0"/>
            <a:fontRef idx="minor"/>
          </p:style>
          <p:txBody>
            <a:bodyPr lIns="0" rIns="0" tIns="0" bIns="0" anchor="t">
              <a:noAutofit/>
            </a:bodyPr>
            <a:p>
              <a:pPr defTabSz="914400">
                <a:lnSpc>
                  <a:spcPts val="1899"/>
                </a:lnSpc>
                <a:tabLst>
                  <a:tab algn="l" pos="0"/>
                </a:tabLst>
              </a:pPr>
              <a:r>
                <a:rPr b="1" lang="en-US" sz="1500" spc="-1" strike="noStrike">
                  <a:solidFill>
                    <a:srgbClr val="e2e6e9"/>
                  </a:solidFill>
                  <a:latin typeface="Montserrat Bold"/>
                  <a:ea typeface="Montserrat Bold"/>
                </a:rPr>
                <a:t>Müştəri Rəylərinin NLP Analizi</a:t>
              </a:r>
              <a:endParaRPr b="0" lang="en-US" sz="1500" spc="-1" strike="noStrike">
                <a:solidFill>
                  <a:srgbClr val="000000"/>
                </a:solidFill>
                <a:latin typeface="Arial"/>
              </a:endParaRPr>
            </a:p>
          </p:txBody>
        </p:sp>
        <p:sp>
          <p:nvSpPr>
            <p:cNvPr id="165" name="Text 15"/>
            <p:cNvSpPr/>
            <p:nvPr/>
          </p:nvSpPr>
          <p:spPr>
            <a:xfrm>
              <a:off x="11292840" y="5309280"/>
              <a:ext cx="2897640" cy="608760"/>
            </a:xfrm>
            <a:prstGeom prst="rect">
              <a:avLst/>
            </a:prstGeom>
            <a:noFill/>
            <a:ln w="0">
              <a:noFill/>
            </a:ln>
          </p:spPr>
          <p:style>
            <a:lnRef idx="0"/>
            <a:fillRef idx="0"/>
            <a:effectRef idx="0"/>
            <a:fontRef idx="minor"/>
          </p:style>
          <p:txBody>
            <a:bodyPr lIns="0" rIns="0" tIns="0" bIns="0" anchor="t">
              <a:noAutofit/>
            </a:bodyPr>
            <a:p>
              <a:pPr defTabSz="914400">
                <a:lnSpc>
                  <a:spcPts val="1749"/>
                </a:lnSpc>
                <a:tabLst>
                  <a:tab algn="l" pos="0"/>
                </a:tabLst>
              </a:pPr>
              <a:r>
                <a:rPr b="0" lang="en-US" sz="1300" spc="-1" strike="noStrike">
                  <a:solidFill>
                    <a:srgbClr val="e2e6e9"/>
                  </a:solidFill>
                  <a:latin typeface="Source Sans 3"/>
                  <a:ea typeface="Source Sans 3"/>
                </a:rPr>
                <a:t>Minlərlə şərhdəki gizli naxış — innovasiya imkanı deməkdir.</a:t>
              </a:r>
              <a:endParaRPr b="0" lang="en-US" sz="1300" spc="-1" strike="noStrike">
                <a:solidFill>
                  <a:srgbClr val="000000"/>
                </a:solidFill>
                <a:latin typeface="Arial"/>
              </a:endParaRPr>
            </a:p>
          </p:txBody>
        </p:sp>
        <p:sp>
          <p:nvSpPr>
            <p:cNvPr id="166" name="Shape 16"/>
            <p:cNvSpPr/>
            <p:nvPr/>
          </p:nvSpPr>
          <p:spPr>
            <a:xfrm>
              <a:off x="7566120" y="6355440"/>
              <a:ext cx="6848280" cy="1626120"/>
            </a:xfrm>
            <a:prstGeom prst="roundRect">
              <a:avLst>
                <a:gd name="adj" fmla="val 2097"/>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67" name="Text 17"/>
            <p:cNvSpPr/>
            <p:nvPr/>
          </p:nvSpPr>
          <p:spPr>
            <a:xfrm>
              <a:off x="7790400" y="6613200"/>
              <a:ext cx="2247120" cy="322200"/>
            </a:xfrm>
            <a:prstGeom prst="rect">
              <a:avLst/>
            </a:prstGeom>
            <a:noFill/>
            <a:ln w="0">
              <a:noFill/>
            </a:ln>
          </p:spPr>
          <p:style>
            <a:lnRef idx="0"/>
            <a:fillRef idx="0"/>
            <a:effectRef idx="0"/>
            <a:fontRef idx="minor"/>
          </p:style>
          <p:txBody>
            <a:bodyPr wrap="none" lIns="0" rIns="0" tIns="0" bIns="0" anchor="t">
              <a:noAutofit/>
            </a:bodyPr>
            <a:p>
              <a:pPr defTabSz="914400">
                <a:lnSpc>
                  <a:spcPts val="1899"/>
                </a:lnSpc>
                <a:tabLst>
                  <a:tab algn="l" pos="0"/>
                </a:tabLst>
              </a:pPr>
              <a:r>
                <a:rPr b="1" lang="en-US" sz="1500" spc="-1" strike="noStrike">
                  <a:solidFill>
                    <a:srgbClr val="e2e6e9"/>
                  </a:solidFill>
                  <a:latin typeface="Montserrat Bold"/>
                  <a:ea typeface="Montserrat Bold"/>
                </a:rPr>
                <a:t>Patent Analitikası</a:t>
              </a:r>
              <a:endParaRPr b="0" lang="en-US" sz="1500" spc="-1" strike="noStrike">
                <a:solidFill>
                  <a:srgbClr val="000000"/>
                </a:solidFill>
                <a:latin typeface="Arial"/>
              </a:endParaRPr>
            </a:p>
          </p:txBody>
        </p:sp>
        <p:sp>
          <p:nvSpPr>
            <p:cNvPr id="168" name="Text 18"/>
            <p:cNvSpPr/>
            <p:nvPr/>
          </p:nvSpPr>
          <p:spPr>
            <a:xfrm>
              <a:off x="7790400" y="7114680"/>
              <a:ext cx="6399720" cy="608760"/>
            </a:xfrm>
            <a:prstGeom prst="rect">
              <a:avLst/>
            </a:prstGeom>
            <a:noFill/>
            <a:ln w="0">
              <a:noFill/>
            </a:ln>
          </p:spPr>
          <p:style>
            <a:lnRef idx="0"/>
            <a:fillRef idx="0"/>
            <a:effectRef idx="0"/>
            <a:fontRef idx="minor"/>
          </p:style>
          <p:txBody>
            <a:bodyPr lIns="0" rIns="0" tIns="0" bIns="0" anchor="t">
              <a:noAutofit/>
            </a:bodyPr>
            <a:p>
              <a:pPr defTabSz="914400">
                <a:lnSpc>
                  <a:spcPts val="1749"/>
                </a:lnSpc>
                <a:tabLst>
                  <a:tab algn="l" pos="0"/>
                </a:tabLst>
              </a:pPr>
              <a:r>
                <a:rPr b="0" lang="en-US" sz="1300" spc="-1" strike="noStrike">
                  <a:solidFill>
                    <a:srgbClr val="e2e6e9"/>
                  </a:solidFill>
                  <a:latin typeface="Source Sans 3"/>
                  <a:ea typeface="Source Sans 3"/>
                </a:rPr>
                <a:t>Rəqiblərin gələcək addımlarını patent məlumat bazalarından proqnozlaşdırmaq mümkündür.</a:t>
              </a:r>
              <a:endParaRPr b="0" lang="en-US" sz="13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69" name="Group 38"/>
          <p:cNvGrpSpPr/>
          <p:nvPr/>
        </p:nvGrpSpPr>
        <p:grpSpPr>
          <a:xfrm>
            <a:off x="258120" y="312120"/>
            <a:ext cx="14059440" cy="7626240"/>
            <a:chOff x="258120" y="312120"/>
            <a:chExt cx="14059440" cy="7626240"/>
          </a:xfrm>
        </p:grpSpPr>
        <p:sp>
          <p:nvSpPr>
            <p:cNvPr id="170" name="Text 0"/>
            <p:cNvSpPr/>
            <p:nvPr/>
          </p:nvSpPr>
          <p:spPr>
            <a:xfrm>
              <a:off x="258120" y="312120"/>
              <a:ext cx="6771240" cy="530640"/>
            </a:xfrm>
            <a:prstGeom prst="rect">
              <a:avLst/>
            </a:prstGeom>
            <a:noFill/>
            <a:ln w="0">
              <a:noFill/>
            </a:ln>
          </p:spPr>
          <p:style>
            <a:lnRef idx="0"/>
            <a:fillRef idx="0"/>
            <a:effectRef idx="0"/>
            <a:fontRef idx="minor"/>
          </p:style>
          <p:txBody>
            <a:bodyPr wrap="none" lIns="0" rIns="0" tIns="0" bIns="0" anchor="t">
              <a:noAutofit/>
            </a:bodyPr>
            <a:p>
              <a:pPr defTabSz="914400">
                <a:lnSpc>
                  <a:spcPts val="2999"/>
                </a:lnSpc>
                <a:tabLst>
                  <a:tab algn="l" pos="0"/>
                </a:tabLst>
              </a:pPr>
              <a:r>
                <a:rPr b="1" lang="en-US" sz="2400" spc="-1" strike="noStrike">
                  <a:solidFill>
                    <a:srgbClr val="ffffff"/>
                  </a:solidFill>
                  <a:latin typeface="Montserrat Bold"/>
                  <a:ea typeface="Montserrat Bold"/>
                </a:rPr>
                <a:t>İnnovasiya Portfelinin Analizi</a:t>
              </a:r>
              <a:endParaRPr b="0" lang="en-US" sz="2400" spc="-1" strike="noStrike">
                <a:solidFill>
                  <a:srgbClr val="000000"/>
                </a:solidFill>
                <a:latin typeface="Arial"/>
              </a:endParaRPr>
            </a:p>
          </p:txBody>
        </p:sp>
        <p:sp>
          <p:nvSpPr>
            <p:cNvPr id="171" name="Text 1"/>
            <p:cNvSpPr/>
            <p:nvPr/>
          </p:nvSpPr>
          <p:spPr>
            <a:xfrm>
              <a:off x="258120" y="1077840"/>
              <a:ext cx="14048640" cy="455760"/>
            </a:xfrm>
            <a:prstGeom prst="rect">
              <a:avLst/>
            </a:prstGeom>
            <a:noFill/>
            <a:ln w="0">
              <a:noFill/>
            </a:ln>
          </p:spPr>
          <p:style>
            <a:lnRef idx="0"/>
            <a:fillRef idx="0"/>
            <a:effectRef idx="0"/>
            <a:fontRef idx="minor"/>
          </p:style>
          <p:txBody>
            <a:bodyPr lIns="0" rIns="0" tIns="0" bIns="0" anchor="t">
              <a:noAutofit/>
            </a:bodyPr>
            <a:p>
              <a:pPr defTabSz="914400">
                <a:lnSpc>
                  <a:spcPts val="1301"/>
                </a:lnSpc>
                <a:tabLst>
                  <a:tab algn="l" pos="0"/>
                </a:tabLst>
              </a:pPr>
              <a:r>
                <a:rPr b="0" lang="en-US" sz="1400" spc="-1" strike="noStrike">
                  <a:solidFill>
                    <a:srgbClr val="e2e6e9"/>
                  </a:solidFill>
                  <a:latin typeface="Source Sans 3"/>
                  <a:ea typeface="Source Sans 3"/>
                </a:rPr>
                <a:t>Bütün innovasiya layihələri eyni dərəcədə dəstəklənə bilməz. Şirkətlər öz resurslarını strateji olaraq bölüşdürmək, risk ilə gəlirliliyi balanslaşdırmaq üçün portfel idarəetmə çərçivələrindən istifadə edir. SI bu analizi daha dəqiq və dinamik edir.</a:t>
              </a:r>
              <a:endParaRPr b="0" lang="en-US" sz="1400" spc="-1" strike="noStrike">
                <a:solidFill>
                  <a:srgbClr val="000000"/>
                </a:solidFill>
                <a:latin typeface="Arial"/>
              </a:endParaRPr>
            </a:p>
          </p:txBody>
        </p:sp>
        <p:sp>
          <p:nvSpPr>
            <p:cNvPr id="172" name="Text 2"/>
            <p:cNvSpPr/>
            <p:nvPr/>
          </p:nvSpPr>
          <p:spPr>
            <a:xfrm>
              <a:off x="258120" y="1783440"/>
              <a:ext cx="2226240" cy="264960"/>
            </a:xfrm>
            <a:prstGeom prst="rect">
              <a:avLst/>
            </a:prstGeom>
            <a:noFill/>
            <a:ln w="0">
              <a:noFill/>
            </a:ln>
          </p:spPr>
          <p:style>
            <a:lnRef idx="0"/>
            <a:fillRef idx="0"/>
            <a:effectRef idx="0"/>
            <a:fontRef idx="minor"/>
          </p:style>
          <p:txBody>
            <a:bodyPr wrap="none" lIns="0" rIns="0" tIns="0" bIns="0" anchor="t">
              <a:noAutofit/>
            </a:bodyPr>
            <a:p>
              <a:pPr defTabSz="914400">
                <a:lnSpc>
                  <a:spcPts val="1500"/>
                </a:lnSpc>
                <a:tabLst>
                  <a:tab algn="l" pos="0"/>
                </a:tabLst>
              </a:pPr>
              <a:r>
                <a:rPr b="1" lang="en-US" sz="1200" spc="-1" strike="noStrike">
                  <a:solidFill>
                    <a:srgbClr val="ffffff"/>
                  </a:solidFill>
                  <a:latin typeface="Montserrat Bold"/>
                  <a:ea typeface="Montserrat Bold"/>
                </a:rPr>
                <a:t>BCG Matrisi</a:t>
              </a:r>
              <a:endParaRPr b="0" lang="en-US" sz="1200" spc="-1" strike="noStrike">
                <a:solidFill>
                  <a:srgbClr val="000000"/>
                </a:solidFill>
                <a:latin typeface="Arial"/>
              </a:endParaRPr>
            </a:p>
          </p:txBody>
        </p:sp>
        <p:sp>
          <p:nvSpPr>
            <p:cNvPr id="173" name="Text 3"/>
            <p:cNvSpPr/>
            <p:nvPr/>
          </p:nvSpPr>
          <p:spPr>
            <a:xfrm>
              <a:off x="258120" y="2166480"/>
              <a:ext cx="6058440" cy="684000"/>
            </a:xfrm>
            <a:prstGeom prst="rect">
              <a:avLst/>
            </a:prstGeom>
            <a:noFill/>
            <a:ln w="0">
              <a:noFill/>
            </a:ln>
          </p:spPr>
          <p:style>
            <a:lnRef idx="0"/>
            <a:fillRef idx="0"/>
            <a:effectRef idx="0"/>
            <a:fontRef idx="minor"/>
          </p:style>
          <p:txBody>
            <a:bodyPr lIns="0" rIns="0" tIns="0" bIns="0" anchor="t">
              <a:noAutofit/>
            </a:bodyPr>
            <a:p>
              <a:pPr defTabSz="914400">
                <a:lnSpc>
                  <a:spcPts val="1301"/>
                </a:lnSpc>
                <a:tabLst>
                  <a:tab algn="l" pos="0"/>
                </a:tabLst>
              </a:pPr>
              <a:r>
                <a:rPr b="0" lang="en-US" sz="1050" spc="-1" strike="noStrike">
                  <a:solidFill>
                    <a:srgbClr val="e2e6e9"/>
                  </a:solidFill>
                  <a:latin typeface="Source Sans 3"/>
                  <a:ea typeface="Source Sans 3"/>
                </a:rPr>
                <a:t>Boston Consulting Group-un məşhur 2×2 matrisi innovasiya layihələrini bazar payı (cari rəqabət üstünlüyü) və bazar artım tempi (gələcək potensial) əsasında 4 kateqoriyaya bölür:</a:t>
              </a:r>
              <a:endParaRPr b="0" lang="en-US" sz="1050" spc="-1" strike="noStrike">
                <a:solidFill>
                  <a:srgbClr val="000000"/>
                </a:solidFill>
                <a:latin typeface="Arial"/>
              </a:endParaRPr>
            </a:p>
          </p:txBody>
        </p:sp>
        <p:sp>
          <p:nvSpPr>
            <p:cNvPr id="174" name="Shape 4"/>
            <p:cNvSpPr/>
            <p:nvPr/>
          </p:nvSpPr>
          <p:spPr>
            <a:xfrm>
              <a:off x="258120" y="2983320"/>
              <a:ext cx="2967480" cy="1223280"/>
            </a:xfrm>
            <a:prstGeom prst="roundRect">
              <a:avLst>
                <a:gd name="adj" fmla="val 2292"/>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75" name="Text 5"/>
            <p:cNvSpPr/>
            <p:nvPr/>
          </p:nvSpPr>
          <p:spPr>
            <a:xfrm>
              <a:off x="453960" y="3170160"/>
              <a:ext cx="2226240" cy="275400"/>
            </a:xfrm>
            <a:prstGeom prst="rect">
              <a:avLst/>
            </a:prstGeom>
            <a:noFill/>
            <a:ln w="0">
              <a:noFill/>
            </a:ln>
          </p:spPr>
          <p:style>
            <a:lnRef idx="0"/>
            <a:fillRef idx="0"/>
            <a:effectRef idx="0"/>
            <a:fontRef idx="minor"/>
          </p:style>
          <p:txBody>
            <a:bodyPr wrap="none" lIns="0" rIns="0" tIns="0" bIns="0" anchor="t">
              <a:noAutofit/>
            </a:bodyPr>
            <a:p>
              <a:pPr defTabSz="914400">
                <a:lnSpc>
                  <a:spcPts val="1500"/>
                </a:lnSpc>
                <a:tabLst>
                  <a:tab algn="l" pos="0"/>
                </a:tabLst>
              </a:pPr>
              <a:r>
                <a:rPr b="1" lang="en-US" sz="1200" spc="-1" strike="noStrike">
                  <a:solidFill>
                    <a:srgbClr val="000000"/>
                  </a:solidFill>
                  <a:latin typeface="Montserrat Bold"/>
                  <a:ea typeface="Montserrat Bold"/>
                </a:rPr>
                <a:t>⭐</a:t>
              </a:r>
              <a:r>
                <a:rPr b="1" lang="en-US" sz="1200" spc="-1" strike="noStrike">
                  <a:solidFill>
                    <a:srgbClr val="e2e6e9"/>
                  </a:solidFill>
                  <a:latin typeface="Montserrat Bold"/>
                  <a:ea typeface="Montserrat Bold"/>
                </a:rPr>
                <a:t> </a:t>
              </a:r>
              <a:r>
                <a:rPr b="1" lang="en-US" sz="1200" spc="-1" strike="noStrike">
                  <a:solidFill>
                    <a:srgbClr val="e2e6e9"/>
                  </a:solidFill>
                  <a:latin typeface="Montserrat Bold"/>
                  <a:ea typeface="Montserrat Bold"/>
                </a:rPr>
                <a:t>Ulduzlar</a:t>
              </a:r>
              <a:endParaRPr b="0" lang="en-US" sz="1200" spc="-1" strike="noStrike">
                <a:solidFill>
                  <a:srgbClr val="000000"/>
                </a:solidFill>
                <a:latin typeface="Arial"/>
              </a:endParaRPr>
            </a:p>
          </p:txBody>
        </p:sp>
        <p:sp>
          <p:nvSpPr>
            <p:cNvPr id="176" name="Text 6"/>
            <p:cNvSpPr/>
            <p:nvPr/>
          </p:nvSpPr>
          <p:spPr>
            <a:xfrm>
              <a:off x="453960" y="3563640"/>
              <a:ext cx="2575440" cy="455760"/>
            </a:xfrm>
            <a:prstGeom prst="rect">
              <a:avLst/>
            </a:prstGeom>
            <a:noFill/>
            <a:ln w="0">
              <a:noFill/>
            </a:ln>
          </p:spPr>
          <p:style>
            <a:lnRef idx="0"/>
            <a:fillRef idx="0"/>
            <a:effectRef idx="0"/>
            <a:fontRef idx="minor"/>
          </p:style>
          <p:txBody>
            <a:bodyPr lIns="0" rIns="0" tIns="0" bIns="0" anchor="t">
              <a:noAutofit/>
            </a:bodyPr>
            <a:p>
              <a:pPr defTabSz="914400">
                <a:lnSpc>
                  <a:spcPts val="1301"/>
                </a:lnSpc>
                <a:tabLst>
                  <a:tab algn="l" pos="0"/>
                </a:tabLst>
              </a:pPr>
              <a:r>
                <a:rPr b="0" lang="en-US" sz="1050" spc="-1" strike="noStrike">
                  <a:solidFill>
                    <a:srgbClr val="e2e6e9"/>
                  </a:solidFill>
                  <a:latin typeface="Source Sans 3"/>
                  <a:ea typeface="Source Sans 3"/>
                </a:rPr>
                <a:t>Yüksək böyümə, yüksək pay — investisiya artırılmalıdır.</a:t>
              </a:r>
              <a:endParaRPr b="0" lang="en-US" sz="1050" spc="-1" strike="noStrike">
                <a:solidFill>
                  <a:srgbClr val="000000"/>
                </a:solidFill>
                <a:latin typeface="Arial"/>
              </a:endParaRPr>
            </a:p>
          </p:txBody>
        </p:sp>
        <p:sp>
          <p:nvSpPr>
            <p:cNvPr id="177" name="Shape 7"/>
            <p:cNvSpPr/>
            <p:nvPr/>
          </p:nvSpPr>
          <p:spPr>
            <a:xfrm>
              <a:off x="3349080" y="2983320"/>
              <a:ext cx="2967480" cy="1223280"/>
            </a:xfrm>
            <a:prstGeom prst="roundRect">
              <a:avLst>
                <a:gd name="adj" fmla="val 2292"/>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78" name="Text 8"/>
            <p:cNvSpPr/>
            <p:nvPr/>
          </p:nvSpPr>
          <p:spPr>
            <a:xfrm>
              <a:off x="3544920" y="3170160"/>
              <a:ext cx="2226240" cy="275400"/>
            </a:xfrm>
            <a:prstGeom prst="rect">
              <a:avLst/>
            </a:prstGeom>
            <a:noFill/>
            <a:ln w="0">
              <a:noFill/>
            </a:ln>
          </p:spPr>
          <p:style>
            <a:lnRef idx="0"/>
            <a:fillRef idx="0"/>
            <a:effectRef idx="0"/>
            <a:fontRef idx="minor"/>
          </p:style>
          <p:txBody>
            <a:bodyPr wrap="none" lIns="0" rIns="0" tIns="0" bIns="0" anchor="t">
              <a:noAutofit/>
            </a:bodyPr>
            <a:p>
              <a:pPr defTabSz="914400">
                <a:lnSpc>
                  <a:spcPts val="1500"/>
                </a:lnSpc>
                <a:tabLst>
                  <a:tab algn="l" pos="0"/>
                </a:tabLst>
              </a:pPr>
              <a:r>
                <a:rPr b="1" lang="en-US" sz="1200" spc="-1" strike="noStrike">
                  <a:solidFill>
                    <a:srgbClr val="000000"/>
                  </a:solidFill>
                  <a:latin typeface="Montserrat Bold"/>
                  <a:ea typeface="Montserrat Bold"/>
                </a:rPr>
                <a:t>🐄</a:t>
              </a:r>
              <a:r>
                <a:rPr b="1" lang="en-US" sz="1200" spc="-1" strike="noStrike">
                  <a:solidFill>
                    <a:srgbClr val="e2e6e9"/>
                  </a:solidFill>
                  <a:latin typeface="Montserrat Bold"/>
                  <a:ea typeface="Montserrat Bold"/>
                </a:rPr>
                <a:t> </a:t>
              </a:r>
              <a:r>
                <a:rPr b="1" lang="en-US" sz="1200" spc="-1" strike="noStrike">
                  <a:solidFill>
                    <a:srgbClr val="e2e6e9"/>
                  </a:solidFill>
                  <a:latin typeface="Montserrat Bold"/>
                  <a:ea typeface="Montserrat Bold"/>
                </a:rPr>
                <a:t>Süd İnəkləri</a:t>
              </a:r>
              <a:endParaRPr b="0" lang="en-US" sz="1200" spc="-1" strike="noStrike">
                <a:solidFill>
                  <a:srgbClr val="000000"/>
                </a:solidFill>
                <a:latin typeface="Arial"/>
              </a:endParaRPr>
            </a:p>
          </p:txBody>
        </p:sp>
        <p:sp>
          <p:nvSpPr>
            <p:cNvPr id="179" name="Text 9"/>
            <p:cNvSpPr/>
            <p:nvPr/>
          </p:nvSpPr>
          <p:spPr>
            <a:xfrm>
              <a:off x="3544920" y="3563640"/>
              <a:ext cx="2575800" cy="455760"/>
            </a:xfrm>
            <a:prstGeom prst="rect">
              <a:avLst/>
            </a:prstGeom>
            <a:noFill/>
            <a:ln w="0">
              <a:noFill/>
            </a:ln>
          </p:spPr>
          <p:style>
            <a:lnRef idx="0"/>
            <a:fillRef idx="0"/>
            <a:effectRef idx="0"/>
            <a:fontRef idx="minor"/>
          </p:style>
          <p:txBody>
            <a:bodyPr lIns="0" rIns="0" tIns="0" bIns="0" anchor="t">
              <a:noAutofit/>
            </a:bodyPr>
            <a:p>
              <a:pPr defTabSz="914400">
                <a:lnSpc>
                  <a:spcPts val="1301"/>
                </a:lnSpc>
                <a:tabLst>
                  <a:tab algn="l" pos="0"/>
                </a:tabLst>
              </a:pPr>
              <a:r>
                <a:rPr b="0" lang="en-US" sz="1050" spc="-1" strike="noStrike">
                  <a:solidFill>
                    <a:srgbClr val="e2e6e9"/>
                  </a:solidFill>
                  <a:latin typeface="Source Sans 3"/>
                  <a:ea typeface="Source Sans 3"/>
                </a:rPr>
                <a:t>Aşağı böyümə, yüksək pay — sabit gəlir mənbəyi.</a:t>
              </a:r>
              <a:endParaRPr b="0" lang="en-US" sz="1050" spc="-1" strike="noStrike">
                <a:solidFill>
                  <a:srgbClr val="000000"/>
                </a:solidFill>
                <a:latin typeface="Arial"/>
              </a:endParaRPr>
            </a:p>
          </p:txBody>
        </p:sp>
        <p:sp>
          <p:nvSpPr>
            <p:cNvPr id="180" name="Shape 10"/>
            <p:cNvSpPr/>
            <p:nvPr/>
          </p:nvSpPr>
          <p:spPr>
            <a:xfrm>
              <a:off x="258120" y="4324320"/>
              <a:ext cx="2967480" cy="1451520"/>
            </a:xfrm>
            <a:prstGeom prst="roundRect">
              <a:avLst>
                <a:gd name="adj" fmla="val 1932"/>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81" name="Text 11"/>
            <p:cNvSpPr/>
            <p:nvPr/>
          </p:nvSpPr>
          <p:spPr>
            <a:xfrm>
              <a:off x="453960" y="4511520"/>
              <a:ext cx="2226240" cy="275400"/>
            </a:xfrm>
            <a:prstGeom prst="rect">
              <a:avLst/>
            </a:prstGeom>
            <a:noFill/>
            <a:ln w="0">
              <a:noFill/>
            </a:ln>
          </p:spPr>
          <p:style>
            <a:lnRef idx="0"/>
            <a:fillRef idx="0"/>
            <a:effectRef idx="0"/>
            <a:fontRef idx="minor"/>
          </p:style>
          <p:txBody>
            <a:bodyPr wrap="none" lIns="0" rIns="0" tIns="0" bIns="0" anchor="t">
              <a:noAutofit/>
            </a:bodyPr>
            <a:p>
              <a:pPr defTabSz="914400">
                <a:lnSpc>
                  <a:spcPts val="1500"/>
                </a:lnSpc>
                <a:tabLst>
                  <a:tab algn="l" pos="0"/>
                </a:tabLst>
              </a:pPr>
              <a:r>
                <a:rPr b="1" lang="en-US" sz="1200" spc="-1" strike="noStrike">
                  <a:solidFill>
                    <a:srgbClr val="000000"/>
                  </a:solidFill>
                  <a:latin typeface="Montserrat Bold"/>
                  <a:ea typeface="Montserrat Bold"/>
                </a:rPr>
                <a:t>❓</a:t>
              </a:r>
              <a:r>
                <a:rPr b="1" lang="en-US" sz="1200" spc="-1" strike="noStrike">
                  <a:solidFill>
                    <a:srgbClr val="e2e6e9"/>
                  </a:solidFill>
                  <a:latin typeface="Montserrat Bold"/>
                  <a:ea typeface="Montserrat Bold"/>
                </a:rPr>
                <a:t> </a:t>
              </a:r>
              <a:r>
                <a:rPr b="1" lang="en-US" sz="1200" spc="-1" strike="noStrike">
                  <a:solidFill>
                    <a:srgbClr val="e2e6e9"/>
                  </a:solidFill>
                  <a:latin typeface="Montserrat Bold"/>
                  <a:ea typeface="Montserrat Bold"/>
                </a:rPr>
                <a:t>Sual İşarələri</a:t>
              </a:r>
              <a:endParaRPr b="0" lang="en-US" sz="1200" spc="-1" strike="noStrike">
                <a:solidFill>
                  <a:srgbClr val="000000"/>
                </a:solidFill>
                <a:latin typeface="Arial"/>
              </a:endParaRPr>
            </a:p>
          </p:txBody>
        </p:sp>
        <p:sp>
          <p:nvSpPr>
            <p:cNvPr id="182" name="Text 12"/>
            <p:cNvSpPr/>
            <p:nvPr/>
          </p:nvSpPr>
          <p:spPr>
            <a:xfrm>
              <a:off x="453960" y="4905000"/>
              <a:ext cx="2575440" cy="455760"/>
            </a:xfrm>
            <a:prstGeom prst="rect">
              <a:avLst/>
            </a:prstGeom>
            <a:noFill/>
            <a:ln w="0">
              <a:noFill/>
            </a:ln>
          </p:spPr>
          <p:style>
            <a:lnRef idx="0"/>
            <a:fillRef idx="0"/>
            <a:effectRef idx="0"/>
            <a:fontRef idx="minor"/>
          </p:style>
          <p:txBody>
            <a:bodyPr lIns="0" rIns="0" tIns="0" bIns="0" anchor="t">
              <a:noAutofit/>
            </a:bodyPr>
            <a:p>
              <a:pPr defTabSz="914400">
                <a:lnSpc>
                  <a:spcPts val="1301"/>
                </a:lnSpc>
                <a:tabLst>
                  <a:tab algn="l" pos="0"/>
                </a:tabLst>
              </a:pPr>
              <a:r>
                <a:rPr b="0" lang="en-US" sz="1050" spc="-1" strike="noStrike">
                  <a:solidFill>
                    <a:srgbClr val="e2e6e9"/>
                  </a:solidFill>
                  <a:latin typeface="Source Sans 3"/>
                  <a:ea typeface="Source Sans 3"/>
                </a:rPr>
                <a:t>Yüksək böyümə, aşağı pay — seçici investisiya tələb edir.</a:t>
              </a:r>
              <a:endParaRPr b="0" lang="en-US" sz="1050" spc="-1" strike="noStrike">
                <a:solidFill>
                  <a:srgbClr val="000000"/>
                </a:solidFill>
                <a:latin typeface="Arial"/>
              </a:endParaRPr>
            </a:p>
          </p:txBody>
        </p:sp>
        <p:sp>
          <p:nvSpPr>
            <p:cNvPr id="183" name="Shape 13"/>
            <p:cNvSpPr/>
            <p:nvPr/>
          </p:nvSpPr>
          <p:spPr>
            <a:xfrm>
              <a:off x="3349080" y="4324320"/>
              <a:ext cx="2967480" cy="1451520"/>
            </a:xfrm>
            <a:prstGeom prst="roundRect">
              <a:avLst>
                <a:gd name="adj" fmla="val 1932"/>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84" name="Text 14"/>
            <p:cNvSpPr/>
            <p:nvPr/>
          </p:nvSpPr>
          <p:spPr>
            <a:xfrm>
              <a:off x="3544920" y="4511520"/>
              <a:ext cx="2226240" cy="275400"/>
            </a:xfrm>
            <a:prstGeom prst="rect">
              <a:avLst/>
            </a:prstGeom>
            <a:noFill/>
            <a:ln w="0">
              <a:noFill/>
            </a:ln>
          </p:spPr>
          <p:style>
            <a:lnRef idx="0"/>
            <a:fillRef idx="0"/>
            <a:effectRef idx="0"/>
            <a:fontRef idx="minor"/>
          </p:style>
          <p:txBody>
            <a:bodyPr wrap="none" lIns="0" rIns="0" tIns="0" bIns="0" anchor="t">
              <a:noAutofit/>
            </a:bodyPr>
            <a:p>
              <a:pPr defTabSz="914400">
                <a:lnSpc>
                  <a:spcPts val="1500"/>
                </a:lnSpc>
                <a:tabLst>
                  <a:tab algn="l" pos="0"/>
                </a:tabLst>
              </a:pPr>
              <a:r>
                <a:rPr b="1" lang="en-US" sz="1200" spc="-1" strike="noStrike">
                  <a:solidFill>
                    <a:srgbClr val="000000"/>
                  </a:solidFill>
                  <a:latin typeface="Montserrat Bold"/>
                  <a:ea typeface="Montserrat Bold"/>
                </a:rPr>
                <a:t>🐕</a:t>
              </a:r>
              <a:r>
                <a:rPr b="1" lang="en-US" sz="1200" spc="-1" strike="noStrike">
                  <a:solidFill>
                    <a:srgbClr val="e2e6e9"/>
                  </a:solidFill>
                  <a:latin typeface="Montserrat Bold"/>
                  <a:ea typeface="Montserrat Bold"/>
                </a:rPr>
                <a:t> </a:t>
              </a:r>
              <a:r>
                <a:rPr b="1" lang="en-US" sz="1200" spc="-1" strike="noStrike">
                  <a:solidFill>
                    <a:srgbClr val="e2e6e9"/>
                  </a:solidFill>
                  <a:latin typeface="Montserrat Bold"/>
                  <a:ea typeface="Montserrat Bold"/>
                </a:rPr>
                <a:t>İtlər</a:t>
              </a:r>
              <a:endParaRPr b="0" lang="en-US" sz="1200" spc="-1" strike="noStrike">
                <a:solidFill>
                  <a:srgbClr val="000000"/>
                </a:solidFill>
                <a:latin typeface="Arial"/>
              </a:endParaRPr>
            </a:p>
          </p:txBody>
        </p:sp>
        <p:sp>
          <p:nvSpPr>
            <p:cNvPr id="185" name="Text 15"/>
            <p:cNvSpPr/>
            <p:nvPr/>
          </p:nvSpPr>
          <p:spPr>
            <a:xfrm>
              <a:off x="3544920" y="4905000"/>
              <a:ext cx="2575800" cy="684000"/>
            </a:xfrm>
            <a:prstGeom prst="rect">
              <a:avLst/>
            </a:prstGeom>
            <a:noFill/>
            <a:ln w="0">
              <a:noFill/>
            </a:ln>
          </p:spPr>
          <p:style>
            <a:lnRef idx="0"/>
            <a:fillRef idx="0"/>
            <a:effectRef idx="0"/>
            <a:fontRef idx="minor"/>
          </p:style>
          <p:txBody>
            <a:bodyPr lIns="0" rIns="0" tIns="0" bIns="0" anchor="t">
              <a:noAutofit/>
            </a:bodyPr>
            <a:p>
              <a:pPr defTabSz="914400">
                <a:lnSpc>
                  <a:spcPts val="1301"/>
                </a:lnSpc>
                <a:tabLst>
                  <a:tab algn="l" pos="0"/>
                </a:tabLst>
              </a:pPr>
              <a:r>
                <a:rPr b="0" lang="en-US" sz="1050" spc="-1" strike="noStrike">
                  <a:solidFill>
                    <a:srgbClr val="e2e6e9"/>
                  </a:solidFill>
                  <a:latin typeface="Source Sans 3"/>
                  <a:ea typeface="Source Sans 3"/>
                </a:rPr>
                <a:t>Aşağı böyümə, aşağı pay — çıxış strategiyası düşünülməlidir.</a:t>
              </a:r>
              <a:endParaRPr b="0" lang="en-US" sz="1050" spc="-1" strike="noStrike">
                <a:solidFill>
                  <a:srgbClr val="000000"/>
                </a:solidFill>
                <a:latin typeface="Arial"/>
              </a:endParaRPr>
            </a:p>
          </p:txBody>
        </p:sp>
        <p:sp>
          <p:nvSpPr>
            <p:cNvPr id="186" name="Text 16"/>
            <p:cNvSpPr/>
            <p:nvPr/>
          </p:nvSpPr>
          <p:spPr>
            <a:xfrm>
              <a:off x="6806160" y="1783440"/>
              <a:ext cx="4761000" cy="264960"/>
            </a:xfrm>
            <a:prstGeom prst="rect">
              <a:avLst/>
            </a:prstGeom>
            <a:noFill/>
            <a:ln w="0">
              <a:noFill/>
            </a:ln>
          </p:spPr>
          <p:style>
            <a:lnRef idx="0"/>
            <a:fillRef idx="0"/>
            <a:effectRef idx="0"/>
            <a:fontRef idx="minor"/>
          </p:style>
          <p:txBody>
            <a:bodyPr wrap="none" lIns="0" rIns="0" tIns="0" bIns="0" anchor="t">
              <a:noAutofit/>
            </a:bodyPr>
            <a:p>
              <a:pPr defTabSz="914400">
                <a:lnSpc>
                  <a:spcPts val="1500"/>
                </a:lnSpc>
                <a:tabLst>
                  <a:tab algn="l" pos="0"/>
                </a:tabLst>
              </a:pPr>
              <a:r>
                <a:rPr b="1" lang="en-US" sz="1200" spc="-1" strike="noStrike">
                  <a:solidFill>
                    <a:srgbClr val="ffffff"/>
                  </a:solidFill>
                  <a:latin typeface="Montserrat Bold"/>
                  <a:ea typeface="Montserrat Bold"/>
                </a:rPr>
                <a:t>Risk-Gəlirlilik Matrisi və Prioritetləşdirmə</a:t>
              </a:r>
              <a:endParaRPr b="0" lang="en-US" sz="1200" spc="-1" strike="noStrike">
                <a:solidFill>
                  <a:srgbClr val="000000"/>
                </a:solidFill>
                <a:latin typeface="Arial"/>
              </a:endParaRPr>
            </a:p>
          </p:txBody>
        </p:sp>
        <p:sp>
          <p:nvSpPr>
            <p:cNvPr id="187" name="Text 17"/>
            <p:cNvSpPr/>
            <p:nvPr/>
          </p:nvSpPr>
          <p:spPr>
            <a:xfrm>
              <a:off x="6806160" y="2166480"/>
              <a:ext cx="7511400" cy="22752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0" lang="en-US" sz="1050" spc="-1" strike="noStrike">
                  <a:solidFill>
                    <a:srgbClr val="e2e6e9"/>
                  </a:solidFill>
                  <a:latin typeface="Source Sans 3"/>
                  <a:ea typeface="Source Sans 3"/>
                </a:rPr>
                <a:t>SI alətləri hər bir innovasiya layihəsi üçün aşağıdakı parametrləri avtomatik hesablaya bilir:</a:t>
              </a:r>
              <a:endParaRPr b="0" lang="en-US" sz="1050" spc="-1" strike="noStrike">
                <a:solidFill>
                  <a:srgbClr val="000000"/>
                </a:solidFill>
                <a:latin typeface="Arial"/>
              </a:endParaRPr>
            </a:p>
          </p:txBody>
        </p:sp>
        <p:sp>
          <p:nvSpPr>
            <p:cNvPr id="188" name="Shape 18"/>
            <p:cNvSpPr/>
            <p:nvPr/>
          </p:nvSpPr>
          <p:spPr>
            <a:xfrm>
              <a:off x="6806160" y="2526840"/>
              <a:ext cx="7511400" cy="1026720"/>
            </a:xfrm>
            <a:prstGeom prst="roundRect">
              <a:avLst>
                <a:gd name="adj" fmla="val 9827"/>
              </a:avLst>
            </a:prstGeom>
            <a:solidFill>
              <a:srgbClr val="111213"/>
            </a:solidFill>
            <a:ln w="15240">
              <a:solidFill>
                <a:srgbClr val="494a4b"/>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89" name="Shape 19"/>
            <p:cNvSpPr/>
            <p:nvPr/>
          </p:nvSpPr>
          <p:spPr>
            <a:xfrm>
              <a:off x="6784200" y="2526840"/>
              <a:ext cx="87480" cy="1026720"/>
            </a:xfrm>
            <a:prstGeom prst="roundRect">
              <a:avLst>
                <a:gd name="adj" fmla="val 33350"/>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90" name="Text 20"/>
            <p:cNvSpPr/>
            <p:nvPr/>
          </p:nvSpPr>
          <p:spPr>
            <a:xfrm>
              <a:off x="7090560" y="2734920"/>
              <a:ext cx="3834000" cy="264960"/>
            </a:xfrm>
            <a:prstGeom prst="rect">
              <a:avLst/>
            </a:prstGeom>
            <a:noFill/>
            <a:ln w="0">
              <a:noFill/>
            </a:ln>
          </p:spPr>
          <p:style>
            <a:lnRef idx="0"/>
            <a:fillRef idx="0"/>
            <a:effectRef idx="0"/>
            <a:fontRef idx="minor"/>
          </p:style>
          <p:txBody>
            <a:bodyPr wrap="none" lIns="0" rIns="0" tIns="0" bIns="0" anchor="t">
              <a:noAutofit/>
            </a:bodyPr>
            <a:p>
              <a:pPr defTabSz="914400">
                <a:lnSpc>
                  <a:spcPts val="1500"/>
                </a:lnSpc>
                <a:tabLst>
                  <a:tab algn="l" pos="0"/>
                </a:tabLst>
              </a:pPr>
              <a:r>
                <a:rPr b="1" lang="en-US" sz="1200" spc="-1" strike="noStrike">
                  <a:solidFill>
                    <a:srgbClr val="e2e6e9"/>
                  </a:solidFill>
                  <a:latin typeface="Montserrat Bold"/>
                  <a:ea typeface="Montserrat Bold"/>
                </a:rPr>
                <a:t>Bazar potensialı (TAM/SAM/SOM)</a:t>
              </a:r>
              <a:endParaRPr b="0" lang="en-US" sz="1200" spc="-1" strike="noStrike">
                <a:solidFill>
                  <a:srgbClr val="000000"/>
                </a:solidFill>
                <a:latin typeface="Arial"/>
              </a:endParaRPr>
            </a:p>
          </p:txBody>
        </p:sp>
        <p:sp>
          <p:nvSpPr>
            <p:cNvPr id="191" name="Text 21"/>
            <p:cNvSpPr/>
            <p:nvPr/>
          </p:nvSpPr>
          <p:spPr>
            <a:xfrm>
              <a:off x="7090560" y="3117600"/>
              <a:ext cx="7009200" cy="22752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0" lang="en-US" sz="1050" spc="-1" strike="noStrike">
                  <a:solidFill>
                    <a:srgbClr val="e2e6e9"/>
                  </a:solidFill>
                  <a:latin typeface="Source Sans 3"/>
                  <a:ea typeface="Source Sans 3"/>
                </a:rPr>
                <a:t>Ümumi, əlçatan və əldə edilə bilən bazar həcminin SI ilə proqnozlaşdırılması.</a:t>
              </a:r>
              <a:endParaRPr b="0" lang="en-US" sz="1050" spc="-1" strike="noStrike">
                <a:solidFill>
                  <a:srgbClr val="000000"/>
                </a:solidFill>
                <a:latin typeface="Arial"/>
              </a:endParaRPr>
            </a:p>
          </p:txBody>
        </p:sp>
        <p:sp>
          <p:nvSpPr>
            <p:cNvPr id="192" name="Shape 22"/>
            <p:cNvSpPr/>
            <p:nvPr/>
          </p:nvSpPr>
          <p:spPr>
            <a:xfrm>
              <a:off x="6806160" y="3671280"/>
              <a:ext cx="7511400" cy="1026720"/>
            </a:xfrm>
            <a:prstGeom prst="roundRect">
              <a:avLst>
                <a:gd name="adj" fmla="val 9827"/>
              </a:avLst>
            </a:prstGeom>
            <a:solidFill>
              <a:srgbClr val="111213"/>
            </a:solidFill>
            <a:ln w="15240">
              <a:solidFill>
                <a:srgbClr val="494a4b"/>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93" name="Shape 23"/>
            <p:cNvSpPr/>
            <p:nvPr/>
          </p:nvSpPr>
          <p:spPr>
            <a:xfrm>
              <a:off x="6784200" y="3671280"/>
              <a:ext cx="87480" cy="1026720"/>
            </a:xfrm>
            <a:prstGeom prst="roundRect">
              <a:avLst>
                <a:gd name="adj" fmla="val 33350"/>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94" name="Text 24"/>
            <p:cNvSpPr/>
            <p:nvPr/>
          </p:nvSpPr>
          <p:spPr>
            <a:xfrm>
              <a:off x="7090560" y="3879360"/>
              <a:ext cx="3361680" cy="264960"/>
            </a:xfrm>
            <a:prstGeom prst="rect">
              <a:avLst/>
            </a:prstGeom>
            <a:noFill/>
            <a:ln w="0">
              <a:noFill/>
            </a:ln>
          </p:spPr>
          <p:style>
            <a:lnRef idx="0"/>
            <a:fillRef idx="0"/>
            <a:effectRef idx="0"/>
            <a:fontRef idx="minor"/>
          </p:style>
          <p:txBody>
            <a:bodyPr wrap="none" lIns="0" rIns="0" tIns="0" bIns="0" anchor="t">
              <a:noAutofit/>
            </a:bodyPr>
            <a:p>
              <a:pPr defTabSz="914400">
                <a:lnSpc>
                  <a:spcPts val="1500"/>
                </a:lnSpc>
                <a:tabLst>
                  <a:tab algn="l" pos="0"/>
                </a:tabLst>
              </a:pPr>
              <a:r>
                <a:rPr b="1" lang="en-US" sz="1200" spc="-1" strike="noStrike">
                  <a:solidFill>
                    <a:srgbClr val="e2e6e9"/>
                  </a:solidFill>
                  <a:latin typeface="Montserrat Bold"/>
                  <a:ea typeface="Montserrat Bold"/>
                </a:rPr>
                <a:t>Texniki reallaşdırma ehtimalı</a:t>
              </a:r>
              <a:endParaRPr b="0" lang="en-US" sz="1200" spc="-1" strike="noStrike">
                <a:solidFill>
                  <a:srgbClr val="000000"/>
                </a:solidFill>
                <a:latin typeface="Arial"/>
              </a:endParaRPr>
            </a:p>
          </p:txBody>
        </p:sp>
        <p:sp>
          <p:nvSpPr>
            <p:cNvPr id="195" name="Text 25"/>
            <p:cNvSpPr/>
            <p:nvPr/>
          </p:nvSpPr>
          <p:spPr>
            <a:xfrm>
              <a:off x="7090560" y="4262400"/>
              <a:ext cx="7009200" cy="22752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0" lang="en-US" sz="1050" spc="-1" strike="noStrike">
                  <a:solidFill>
                    <a:srgbClr val="e2e6e9"/>
                  </a:solidFill>
                  <a:latin typeface="Source Sans 3"/>
                  <a:ea typeface="Source Sans 3"/>
                </a:rPr>
                <a:t>Analoji layihələrin uğur nisbəti əsasında maşın öyrənməsi proqnozu.</a:t>
              </a:r>
              <a:endParaRPr b="0" lang="en-US" sz="1050" spc="-1" strike="noStrike">
                <a:solidFill>
                  <a:srgbClr val="000000"/>
                </a:solidFill>
                <a:latin typeface="Arial"/>
              </a:endParaRPr>
            </a:p>
          </p:txBody>
        </p:sp>
        <p:sp>
          <p:nvSpPr>
            <p:cNvPr id="196" name="Shape 26"/>
            <p:cNvSpPr/>
            <p:nvPr/>
          </p:nvSpPr>
          <p:spPr>
            <a:xfrm>
              <a:off x="6806160" y="4816080"/>
              <a:ext cx="7511400" cy="1026720"/>
            </a:xfrm>
            <a:prstGeom prst="roundRect">
              <a:avLst>
                <a:gd name="adj" fmla="val 9827"/>
              </a:avLst>
            </a:prstGeom>
            <a:solidFill>
              <a:srgbClr val="111213"/>
            </a:solidFill>
            <a:ln w="15240">
              <a:solidFill>
                <a:srgbClr val="494a4b"/>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97" name="Shape 27"/>
            <p:cNvSpPr/>
            <p:nvPr/>
          </p:nvSpPr>
          <p:spPr>
            <a:xfrm>
              <a:off x="6784200" y="4816080"/>
              <a:ext cx="87480" cy="1026720"/>
            </a:xfrm>
            <a:prstGeom prst="roundRect">
              <a:avLst>
                <a:gd name="adj" fmla="val 33350"/>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98" name="Text 28"/>
            <p:cNvSpPr/>
            <p:nvPr/>
          </p:nvSpPr>
          <p:spPr>
            <a:xfrm>
              <a:off x="7090560" y="5023800"/>
              <a:ext cx="2226240" cy="264960"/>
            </a:xfrm>
            <a:prstGeom prst="rect">
              <a:avLst/>
            </a:prstGeom>
            <a:noFill/>
            <a:ln w="0">
              <a:noFill/>
            </a:ln>
          </p:spPr>
          <p:style>
            <a:lnRef idx="0"/>
            <a:fillRef idx="0"/>
            <a:effectRef idx="0"/>
            <a:fontRef idx="minor"/>
          </p:style>
          <p:txBody>
            <a:bodyPr wrap="none" lIns="0" rIns="0" tIns="0" bIns="0" anchor="t">
              <a:noAutofit/>
            </a:bodyPr>
            <a:p>
              <a:pPr defTabSz="914400">
                <a:lnSpc>
                  <a:spcPts val="1500"/>
                </a:lnSpc>
                <a:tabLst>
                  <a:tab algn="l" pos="0"/>
                </a:tabLst>
              </a:pPr>
              <a:r>
                <a:rPr b="1" lang="en-US" sz="1200" spc="-1" strike="noStrike">
                  <a:solidFill>
                    <a:srgbClr val="e2e6e9"/>
                  </a:solidFill>
                  <a:latin typeface="Montserrat Bold"/>
                  <a:ea typeface="Montserrat Bold"/>
                </a:rPr>
                <a:t>Resurs tələbləri</a:t>
              </a:r>
              <a:endParaRPr b="0" lang="en-US" sz="1200" spc="-1" strike="noStrike">
                <a:solidFill>
                  <a:srgbClr val="000000"/>
                </a:solidFill>
                <a:latin typeface="Arial"/>
              </a:endParaRPr>
            </a:p>
          </p:txBody>
        </p:sp>
        <p:sp>
          <p:nvSpPr>
            <p:cNvPr id="199" name="Text 29"/>
            <p:cNvSpPr/>
            <p:nvPr/>
          </p:nvSpPr>
          <p:spPr>
            <a:xfrm>
              <a:off x="7090560" y="5406840"/>
              <a:ext cx="7009200" cy="22752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0" lang="en-US" sz="1050" spc="-1" strike="noStrike">
                  <a:solidFill>
                    <a:srgbClr val="e2e6e9"/>
                  </a:solidFill>
                  <a:latin typeface="Source Sans 3"/>
                  <a:ea typeface="Source Sans 3"/>
                </a:rPr>
                <a:t>NLP ilə texniki sənədlərin analizi vasitəsilə xərc və vaxt estimasiyası.</a:t>
              </a:r>
              <a:endParaRPr b="0" lang="en-US" sz="1050" spc="-1" strike="noStrike">
                <a:solidFill>
                  <a:srgbClr val="000000"/>
                </a:solidFill>
                <a:latin typeface="Arial"/>
              </a:endParaRPr>
            </a:p>
          </p:txBody>
        </p:sp>
        <p:sp>
          <p:nvSpPr>
            <p:cNvPr id="200" name="Shape 30"/>
            <p:cNvSpPr/>
            <p:nvPr/>
          </p:nvSpPr>
          <p:spPr>
            <a:xfrm>
              <a:off x="6806160" y="5960520"/>
              <a:ext cx="7511400" cy="1026720"/>
            </a:xfrm>
            <a:prstGeom prst="roundRect">
              <a:avLst>
                <a:gd name="adj" fmla="val 9827"/>
              </a:avLst>
            </a:prstGeom>
            <a:solidFill>
              <a:srgbClr val="111213"/>
            </a:solidFill>
            <a:ln w="15240">
              <a:solidFill>
                <a:srgbClr val="494a4b"/>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01" name="Shape 31"/>
            <p:cNvSpPr/>
            <p:nvPr/>
          </p:nvSpPr>
          <p:spPr>
            <a:xfrm>
              <a:off x="6784200" y="5960520"/>
              <a:ext cx="87480" cy="1026720"/>
            </a:xfrm>
            <a:prstGeom prst="roundRect">
              <a:avLst>
                <a:gd name="adj" fmla="val 33350"/>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02" name="Text 32"/>
            <p:cNvSpPr/>
            <p:nvPr/>
          </p:nvSpPr>
          <p:spPr>
            <a:xfrm>
              <a:off x="7090560" y="6168600"/>
              <a:ext cx="2308680" cy="264960"/>
            </a:xfrm>
            <a:prstGeom prst="rect">
              <a:avLst/>
            </a:prstGeom>
            <a:noFill/>
            <a:ln w="0">
              <a:noFill/>
            </a:ln>
          </p:spPr>
          <p:style>
            <a:lnRef idx="0"/>
            <a:fillRef idx="0"/>
            <a:effectRef idx="0"/>
            <a:fontRef idx="minor"/>
          </p:style>
          <p:txBody>
            <a:bodyPr wrap="none" lIns="0" rIns="0" tIns="0" bIns="0" anchor="t">
              <a:noAutofit/>
            </a:bodyPr>
            <a:p>
              <a:pPr defTabSz="914400">
                <a:lnSpc>
                  <a:spcPts val="1500"/>
                </a:lnSpc>
                <a:tabLst>
                  <a:tab algn="l" pos="0"/>
                </a:tabLst>
              </a:pPr>
              <a:r>
                <a:rPr b="1" lang="en-US" sz="1200" spc="-1" strike="noStrike">
                  <a:solidFill>
                    <a:srgbClr val="e2e6e9"/>
                  </a:solidFill>
                  <a:latin typeface="Montserrat Bold"/>
                  <a:ea typeface="Montserrat Bold"/>
                </a:rPr>
                <a:t>Rəqabət intensivliyi</a:t>
              </a:r>
              <a:endParaRPr b="0" lang="en-US" sz="1200" spc="-1" strike="noStrike">
                <a:solidFill>
                  <a:srgbClr val="000000"/>
                </a:solidFill>
                <a:latin typeface="Arial"/>
              </a:endParaRPr>
            </a:p>
          </p:txBody>
        </p:sp>
        <p:sp>
          <p:nvSpPr>
            <p:cNvPr id="203" name="Text 33"/>
            <p:cNvSpPr/>
            <p:nvPr/>
          </p:nvSpPr>
          <p:spPr>
            <a:xfrm>
              <a:off x="7090560" y="6551640"/>
              <a:ext cx="7009200" cy="22752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0" lang="en-US" sz="1050" spc="-1" strike="noStrike">
                  <a:solidFill>
                    <a:srgbClr val="e2e6e9"/>
                  </a:solidFill>
                  <a:latin typeface="Source Sans 3"/>
                  <a:ea typeface="Source Sans 3"/>
                </a:rPr>
                <a:t>Bazar analitikası alətləri ilə rəqiblərin mövqeyinin real vaxt izlənməsi.</a:t>
              </a:r>
              <a:endParaRPr b="0" lang="en-US" sz="1050" spc="-1" strike="noStrike">
                <a:solidFill>
                  <a:srgbClr val="000000"/>
                </a:solidFill>
                <a:latin typeface="Arial"/>
              </a:endParaRPr>
            </a:p>
          </p:txBody>
        </p:sp>
        <p:sp>
          <p:nvSpPr>
            <p:cNvPr id="204" name="Shape 34"/>
            <p:cNvSpPr/>
            <p:nvPr/>
          </p:nvSpPr>
          <p:spPr>
            <a:xfrm>
              <a:off x="6806160" y="7119720"/>
              <a:ext cx="7511400" cy="818640"/>
            </a:xfrm>
            <a:prstGeom prst="roundRect">
              <a:avLst>
                <a:gd name="adj" fmla="val 3424"/>
              </a:avLst>
            </a:prstGeom>
            <a:solidFill>
              <a:srgbClr val="262626"/>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205" name="Image 0" descr="preencoded.png"/>
            <p:cNvPicPr/>
            <p:nvPr/>
          </p:nvPicPr>
          <p:blipFill>
            <a:blip r:embed="rId1"/>
            <a:stretch/>
          </p:blipFill>
          <p:spPr>
            <a:xfrm>
              <a:off x="7002360" y="7358040"/>
              <a:ext cx="244080" cy="186120"/>
            </a:xfrm>
            <a:prstGeom prst="rect">
              <a:avLst/>
            </a:prstGeom>
            <a:ln w="0">
              <a:noFill/>
            </a:ln>
          </p:spPr>
        </p:pic>
        <p:sp>
          <p:nvSpPr>
            <p:cNvPr id="206" name="Text 35"/>
            <p:cNvSpPr/>
            <p:nvPr/>
          </p:nvSpPr>
          <p:spPr>
            <a:xfrm>
              <a:off x="7443000" y="7283880"/>
              <a:ext cx="6678720" cy="455760"/>
            </a:xfrm>
            <a:prstGeom prst="rect">
              <a:avLst/>
            </a:prstGeom>
            <a:noFill/>
            <a:ln w="0">
              <a:noFill/>
            </a:ln>
          </p:spPr>
          <p:style>
            <a:lnRef idx="0"/>
            <a:fillRef idx="0"/>
            <a:effectRef idx="0"/>
            <a:fontRef idx="minor"/>
          </p:style>
          <p:txBody>
            <a:bodyPr lIns="0" rIns="0" tIns="0" bIns="0" anchor="t">
              <a:noAutofit/>
            </a:bodyPr>
            <a:p>
              <a:pPr defTabSz="914400">
                <a:lnSpc>
                  <a:spcPts val="1301"/>
                </a:lnSpc>
                <a:tabLst>
                  <a:tab algn="l" pos="0"/>
                </a:tabLst>
              </a:pPr>
              <a:r>
                <a:rPr b="0" lang="en-US" sz="1050" spc="-1" strike="noStrike">
                  <a:solidFill>
                    <a:srgbClr val="000000"/>
                  </a:solidFill>
                  <a:latin typeface="Source Sans 3"/>
                  <a:ea typeface="Source Sans 3"/>
                </a:rPr>
                <a:t>💡</a:t>
              </a:r>
              <a:r>
                <a:rPr b="0" lang="en-US" sz="1050" spc="-1" strike="noStrike">
                  <a:solidFill>
                    <a:srgbClr val="ffffff"/>
                  </a:solidFill>
                  <a:latin typeface="Source Sans 3"/>
                  <a:ea typeface="Source Sans 3"/>
                </a:rPr>
                <a:t> </a:t>
              </a:r>
              <a:r>
                <a:rPr b="1" lang="en-US" sz="1050" spc="-1" strike="noStrike">
                  <a:solidFill>
                    <a:srgbClr val="ffffff"/>
                  </a:solidFill>
                  <a:latin typeface="Source Sans 3"/>
                  <a:ea typeface="Source Sans 3"/>
                </a:rPr>
                <a:t>McKinsey 70-20-10 Qaydası:</a:t>
              </a:r>
              <a:r>
                <a:rPr b="0" lang="en-US" sz="1050" spc="-1" strike="noStrike">
                  <a:solidFill>
                    <a:srgbClr val="ffffff"/>
                  </a:solidFill>
                  <a:latin typeface="Source Sans 3"/>
                  <a:ea typeface="Source Sans 3"/>
                </a:rPr>
                <a:t> Sağlam innovasiya portfeli resursların 70%-ni inkremental, 20%-ni radikal, 10%-ni isə disruptiv layihələrə yönəltməlidir.</a:t>
              </a:r>
              <a:endParaRPr b="0" lang="en-US" sz="105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07" name="Group 14"/>
          <p:cNvGrpSpPr/>
          <p:nvPr/>
        </p:nvGrpSpPr>
        <p:grpSpPr>
          <a:xfrm>
            <a:off x="139680" y="226080"/>
            <a:ext cx="14275080" cy="7884720"/>
            <a:chOff x="139680" y="226080"/>
            <a:chExt cx="14275080" cy="7884720"/>
          </a:xfrm>
        </p:grpSpPr>
        <p:sp>
          <p:nvSpPr>
            <p:cNvPr id="208" name="Text 0"/>
            <p:cNvSpPr/>
            <p:nvPr/>
          </p:nvSpPr>
          <p:spPr>
            <a:xfrm>
              <a:off x="139680" y="226080"/>
              <a:ext cx="8769960" cy="680400"/>
            </a:xfrm>
            <a:prstGeom prst="rect">
              <a:avLst/>
            </a:prstGeom>
            <a:noFill/>
            <a:ln w="0">
              <a:noFill/>
            </a:ln>
          </p:spPr>
          <p:style>
            <a:lnRef idx="0"/>
            <a:fillRef idx="0"/>
            <a:effectRef idx="0"/>
            <a:fontRef idx="minor"/>
          </p:style>
          <p:txBody>
            <a:bodyPr wrap="none" lIns="0" rIns="0" tIns="0" bIns="0" anchor="t">
              <a:noAutofit/>
            </a:bodyPr>
            <a:p>
              <a:pPr defTabSz="914400">
                <a:lnSpc>
                  <a:spcPts val="4751"/>
                </a:lnSpc>
                <a:tabLst>
                  <a:tab algn="l" pos="0"/>
                </a:tabLst>
              </a:pPr>
              <a:r>
                <a:rPr b="1" lang="en-US" sz="3800" spc="-1" strike="noStrike">
                  <a:solidFill>
                    <a:srgbClr val="ffffff"/>
                  </a:solidFill>
                  <a:latin typeface="Montserrat Bold"/>
                  <a:ea typeface="Montserrat Bold"/>
                </a:rPr>
                <a:t>SI ilə Bazar Siqnallarının Analizi</a:t>
              </a:r>
              <a:endParaRPr b="0" lang="en-US" sz="3800" spc="-1" strike="noStrike">
                <a:solidFill>
                  <a:srgbClr val="000000"/>
                </a:solidFill>
                <a:latin typeface="Arial"/>
              </a:endParaRPr>
            </a:p>
          </p:txBody>
        </p:sp>
        <p:sp>
          <p:nvSpPr>
            <p:cNvPr id="209" name="Text 1"/>
            <p:cNvSpPr/>
            <p:nvPr/>
          </p:nvSpPr>
          <p:spPr>
            <a:xfrm>
              <a:off x="139680" y="1380240"/>
              <a:ext cx="14274720" cy="713880"/>
            </a:xfrm>
            <a:prstGeom prst="rect">
              <a:avLst/>
            </a:prstGeom>
            <a:noFill/>
            <a:ln w="0">
              <a:noFill/>
            </a:ln>
          </p:spPr>
          <p:style>
            <a:lnRef idx="0"/>
            <a:fillRef idx="0"/>
            <a:effectRef idx="0"/>
            <a:fontRef idx="minor"/>
          </p:style>
          <p:txBody>
            <a:bodyPr lIns="0" rIns="0" tIns="0" bIns="0" anchor="t">
              <a:noAutofit/>
            </a:bodyPr>
            <a:p>
              <a:pPr defTabSz="914400">
                <a:lnSpc>
                  <a:spcPts val="2500"/>
                </a:lnSpc>
                <a:tabLst>
                  <a:tab algn="l" pos="0"/>
                </a:tabLst>
              </a:pPr>
              <a:r>
                <a:rPr b="0" lang="en-US" sz="1650" spc="-1" strike="noStrike">
                  <a:solidFill>
                    <a:srgbClr val="e2e6e9"/>
                  </a:solidFill>
                  <a:latin typeface="Source Sans 3"/>
                  <a:ea typeface="Source Sans 3"/>
                </a:rPr>
                <a:t>Müasir bazarda uğur qazanmaq üçün trendləri rəqiblərdən əvvəl aşkar etmək həlledici üstünlük verir. SI alətləri gündəlik milyardlarla məlumat nöqtəsini işləyərək insan analitikinin aylarca apara biləcəyi araşdırmanı saatlar içərisində tamamlaya bilir.</a:t>
              </a:r>
              <a:endParaRPr b="0" lang="en-US" sz="1650" spc="-1" strike="noStrike">
                <a:solidFill>
                  <a:srgbClr val="000000"/>
                </a:solidFill>
                <a:latin typeface="Arial"/>
              </a:endParaRPr>
            </a:p>
          </p:txBody>
        </p:sp>
        <p:pic>
          <p:nvPicPr>
            <p:cNvPr id="210" name="Image 0" descr="preencoded.png"/>
            <p:cNvPicPr/>
            <p:nvPr/>
          </p:nvPicPr>
          <p:blipFill>
            <a:blip r:embed="rId1">
              <a:extLst>
                <a:ext uri="{96DAC541-7B7A-43D3-8B79-37D633B846F1}">
                  <asvg:svgBlip xmlns:asvg="http://schemas.microsoft.com/office/drawing/2016/SVG/main" r:embed="rId2"/>
                </a:ext>
              </a:extLst>
            </a:blip>
            <a:stretch/>
          </p:blipFill>
          <p:spPr>
            <a:xfrm>
              <a:off x="252720" y="2361240"/>
              <a:ext cx="587880" cy="598680"/>
            </a:xfrm>
            <a:prstGeom prst="rect">
              <a:avLst/>
            </a:prstGeom>
            <a:ln w="0">
              <a:noFill/>
            </a:ln>
          </p:spPr>
        </p:pic>
        <p:sp>
          <p:nvSpPr>
            <p:cNvPr id="211" name="Text 2"/>
            <p:cNvSpPr/>
            <p:nvPr/>
          </p:nvSpPr>
          <p:spPr>
            <a:xfrm>
              <a:off x="252720" y="3256560"/>
              <a:ext cx="3292200" cy="339840"/>
            </a:xfrm>
            <a:prstGeom prst="rect">
              <a:avLst/>
            </a:prstGeom>
            <a:noFill/>
            <a:ln w="0">
              <a:noFill/>
            </a:ln>
          </p:spPr>
          <p:style>
            <a:lnRef idx="0"/>
            <a:fillRef idx="0"/>
            <a:effectRef idx="0"/>
            <a:fontRef idx="minor"/>
          </p:style>
          <p:txBody>
            <a:bodyPr wrap="none" lIns="0" rIns="0" tIns="0" bIns="0" anchor="t">
              <a:noAutofit/>
            </a:bodyPr>
            <a:p>
              <a:pPr defTabSz="914400">
                <a:lnSpc>
                  <a:spcPts val="2350"/>
                </a:lnSpc>
                <a:tabLst>
                  <a:tab algn="l" pos="0"/>
                </a:tabLst>
              </a:pPr>
              <a:r>
                <a:rPr b="1" lang="en-US" sz="1900" spc="-1" strike="noStrike">
                  <a:solidFill>
                    <a:srgbClr val="e2e6e9"/>
                  </a:solidFill>
                  <a:latin typeface="Montserrat Bold"/>
                  <a:ea typeface="Montserrat Bold"/>
                </a:rPr>
                <a:t>Sosial Media Analitikası</a:t>
              </a:r>
              <a:endParaRPr b="0" lang="en-US" sz="1900" spc="-1" strike="noStrike">
                <a:solidFill>
                  <a:srgbClr val="000000"/>
                </a:solidFill>
                <a:latin typeface="Arial"/>
              </a:endParaRPr>
            </a:p>
          </p:txBody>
        </p:sp>
        <p:sp>
          <p:nvSpPr>
            <p:cNvPr id="212" name="Text 3"/>
            <p:cNvSpPr/>
            <p:nvPr/>
          </p:nvSpPr>
          <p:spPr>
            <a:xfrm>
              <a:off x="252720" y="3738960"/>
              <a:ext cx="4564080" cy="2858400"/>
            </a:xfrm>
            <a:prstGeom prst="rect">
              <a:avLst/>
            </a:prstGeom>
            <a:noFill/>
            <a:ln w="0">
              <a:noFill/>
            </a:ln>
          </p:spPr>
          <p:style>
            <a:lnRef idx="0"/>
            <a:fillRef idx="0"/>
            <a:effectRef idx="0"/>
            <a:fontRef idx="minor"/>
          </p:style>
          <p:txBody>
            <a:bodyPr lIns="0" rIns="0" tIns="0" bIns="0" anchor="t">
              <a:noAutofit/>
            </a:bodyPr>
            <a:p>
              <a:pPr defTabSz="914400">
                <a:lnSpc>
                  <a:spcPts val="2500"/>
                </a:lnSpc>
                <a:tabLst>
                  <a:tab algn="l" pos="0"/>
                </a:tabLst>
              </a:pPr>
              <a:r>
                <a:rPr b="0" lang="en-US" sz="1650" spc="-1" strike="noStrike">
                  <a:solidFill>
                    <a:srgbClr val="e2e6e9"/>
                  </a:solidFill>
                  <a:latin typeface="Source Sans 3"/>
                  <a:ea typeface="Source Sans 3"/>
                </a:rPr>
                <a:t>Twitter/X, Instagram, TikTok, LinkedIn kimi platformalarda sentiment analizi, trending mövzuların izlənməsi və istifadəçi davranışı naxışlarının aşkarlanması. SI modellər istehlakçı kefiyyətinin ani dəyişikliklərini erkən xəbərdarlıq sistemi kimi aşkarlayır. Nümunə: Bir məhsul kateqoriyasına aid neqativ şərhlər artırsa, bu yeni innovasiya fırsatının siqnalıdır.</a:t>
              </a:r>
              <a:endParaRPr b="0" lang="en-US" sz="1650" spc="-1" strike="noStrike">
                <a:solidFill>
                  <a:srgbClr val="000000"/>
                </a:solidFill>
                <a:latin typeface="Arial"/>
              </a:endParaRPr>
            </a:p>
          </p:txBody>
        </p:sp>
        <p:pic>
          <p:nvPicPr>
            <p:cNvPr id="213" name="Image 1" descr="preencoded.png"/>
            <p:cNvPicPr/>
            <p:nvPr/>
          </p:nvPicPr>
          <p:blipFill>
            <a:blip r:embed="rId3">
              <a:extLst>
                <a:ext uri="{96DAC541-7B7A-43D3-8B79-37D633B846F1}">
                  <asvg:svgBlip xmlns:asvg="http://schemas.microsoft.com/office/drawing/2016/SVG/main" r:embed="rId4"/>
                </a:ext>
              </a:extLst>
            </a:blip>
            <a:stretch/>
          </p:blipFill>
          <p:spPr>
            <a:xfrm>
              <a:off x="4995000" y="2361240"/>
              <a:ext cx="587880" cy="598680"/>
            </a:xfrm>
            <a:prstGeom prst="rect">
              <a:avLst/>
            </a:prstGeom>
            <a:ln w="0">
              <a:noFill/>
            </a:ln>
          </p:spPr>
        </p:pic>
        <p:sp>
          <p:nvSpPr>
            <p:cNvPr id="214" name="Text 4"/>
            <p:cNvSpPr/>
            <p:nvPr/>
          </p:nvSpPr>
          <p:spPr>
            <a:xfrm>
              <a:off x="4995000" y="3256560"/>
              <a:ext cx="4470840" cy="339840"/>
            </a:xfrm>
            <a:prstGeom prst="rect">
              <a:avLst/>
            </a:prstGeom>
            <a:noFill/>
            <a:ln w="0">
              <a:noFill/>
            </a:ln>
          </p:spPr>
          <p:style>
            <a:lnRef idx="0"/>
            <a:fillRef idx="0"/>
            <a:effectRef idx="0"/>
            <a:fontRef idx="minor"/>
          </p:style>
          <p:txBody>
            <a:bodyPr wrap="none" lIns="0" rIns="0" tIns="0" bIns="0" anchor="t">
              <a:noAutofit/>
            </a:bodyPr>
            <a:p>
              <a:pPr defTabSz="914400">
                <a:lnSpc>
                  <a:spcPts val="2350"/>
                </a:lnSpc>
                <a:tabLst>
                  <a:tab algn="l" pos="0"/>
                </a:tabLst>
              </a:pPr>
              <a:r>
                <a:rPr b="1" lang="en-US" sz="1900" spc="-1" strike="noStrike">
                  <a:solidFill>
                    <a:srgbClr val="e2e6e9"/>
                  </a:solidFill>
                  <a:latin typeface="Montserrat Bold"/>
                  <a:ea typeface="Montserrat Bold"/>
                </a:rPr>
                <a:t>Müştəri Rəylərinin NLP İlə Emalı</a:t>
              </a:r>
              <a:endParaRPr b="0" lang="en-US" sz="1900" spc="-1" strike="noStrike">
                <a:solidFill>
                  <a:srgbClr val="000000"/>
                </a:solidFill>
                <a:latin typeface="Arial"/>
              </a:endParaRPr>
            </a:p>
          </p:txBody>
        </p:sp>
        <p:sp>
          <p:nvSpPr>
            <p:cNvPr id="215" name="Text 5"/>
            <p:cNvSpPr/>
            <p:nvPr/>
          </p:nvSpPr>
          <p:spPr>
            <a:xfrm>
              <a:off x="4995000" y="3738960"/>
              <a:ext cx="4564080" cy="3215520"/>
            </a:xfrm>
            <a:prstGeom prst="rect">
              <a:avLst/>
            </a:prstGeom>
            <a:noFill/>
            <a:ln w="0">
              <a:noFill/>
            </a:ln>
          </p:spPr>
          <p:style>
            <a:lnRef idx="0"/>
            <a:fillRef idx="0"/>
            <a:effectRef idx="0"/>
            <a:fontRef idx="minor"/>
          </p:style>
          <p:txBody>
            <a:bodyPr lIns="0" rIns="0" tIns="0" bIns="0" anchor="t">
              <a:noAutofit/>
            </a:bodyPr>
            <a:p>
              <a:pPr defTabSz="914400">
                <a:lnSpc>
                  <a:spcPts val="2500"/>
                </a:lnSpc>
                <a:tabLst>
                  <a:tab algn="l" pos="0"/>
                </a:tabLst>
              </a:pPr>
              <a:r>
                <a:rPr b="0" lang="en-US" sz="1650" spc="-1" strike="noStrike">
                  <a:solidFill>
                    <a:srgbClr val="e2e6e9"/>
                  </a:solidFill>
                  <a:latin typeface="Source Sans 3"/>
                  <a:ea typeface="Source Sans 3"/>
                </a:rPr>
                <a:t>Amazon, Trustpilot, App Store kimi platformalardakı minlərlə rəy mətni, NLP (Təbii Dil Emalı) alqoritmləri vasitəsilə avtomatik analiz edilir. Tematik klasterləşdirmə ən tez-tez şikayət olunan sahələri üzə çıxarır. Bu "ağrı nöqtələri" bilavasitə innovasiya fürsəti kimi dəyərləndirilir — müştərinin özü problemi söyləyir, SI isə naxışı tapır.</a:t>
              </a:r>
              <a:endParaRPr b="0" lang="en-US" sz="1650" spc="-1" strike="noStrike">
                <a:solidFill>
                  <a:srgbClr val="000000"/>
                </a:solidFill>
                <a:latin typeface="Arial"/>
              </a:endParaRPr>
            </a:p>
          </p:txBody>
        </p:sp>
        <p:pic>
          <p:nvPicPr>
            <p:cNvPr id="216" name="Image 2" descr="preencoded.png"/>
            <p:cNvPicPr/>
            <p:nvPr/>
          </p:nvPicPr>
          <p:blipFill>
            <a:blip r:embed="rId5">
              <a:extLst>
                <a:ext uri="{96DAC541-7B7A-43D3-8B79-37D633B846F1}">
                  <asvg:svgBlip xmlns:asvg="http://schemas.microsoft.com/office/drawing/2016/SVG/main" r:embed="rId6"/>
                </a:ext>
              </a:extLst>
            </a:blip>
            <a:stretch/>
          </p:blipFill>
          <p:spPr>
            <a:xfrm>
              <a:off x="9850320" y="2361240"/>
              <a:ext cx="587880" cy="598680"/>
            </a:xfrm>
            <a:prstGeom prst="rect">
              <a:avLst/>
            </a:prstGeom>
            <a:ln w="0">
              <a:noFill/>
            </a:ln>
          </p:spPr>
        </p:pic>
        <p:sp>
          <p:nvSpPr>
            <p:cNvPr id="217" name="Text 6"/>
            <p:cNvSpPr/>
            <p:nvPr/>
          </p:nvSpPr>
          <p:spPr>
            <a:xfrm>
              <a:off x="9850320" y="3256560"/>
              <a:ext cx="4167360" cy="339840"/>
            </a:xfrm>
            <a:prstGeom prst="rect">
              <a:avLst/>
            </a:prstGeom>
            <a:noFill/>
            <a:ln w="0">
              <a:noFill/>
            </a:ln>
          </p:spPr>
          <p:style>
            <a:lnRef idx="0"/>
            <a:fillRef idx="0"/>
            <a:effectRef idx="0"/>
            <a:fontRef idx="minor"/>
          </p:style>
          <p:txBody>
            <a:bodyPr wrap="none" lIns="0" rIns="0" tIns="0" bIns="0" anchor="t">
              <a:noAutofit/>
            </a:bodyPr>
            <a:p>
              <a:pPr defTabSz="914400">
                <a:lnSpc>
                  <a:spcPts val="2350"/>
                </a:lnSpc>
                <a:tabLst>
                  <a:tab algn="l" pos="0"/>
                </a:tabLst>
              </a:pPr>
              <a:r>
                <a:rPr b="1" lang="en-US" sz="1900" spc="-1" strike="noStrike">
                  <a:solidFill>
                    <a:srgbClr val="e2e6e9"/>
                  </a:solidFill>
                  <a:latin typeface="Montserrat Bold"/>
                  <a:ea typeface="Montserrat Bold"/>
                </a:rPr>
                <a:t>Axtarış Trendlərinin İzlənməsi</a:t>
              </a:r>
              <a:endParaRPr b="0" lang="en-US" sz="1900" spc="-1" strike="noStrike">
                <a:solidFill>
                  <a:srgbClr val="000000"/>
                </a:solidFill>
                <a:latin typeface="Arial"/>
              </a:endParaRPr>
            </a:p>
          </p:txBody>
        </p:sp>
        <p:sp>
          <p:nvSpPr>
            <p:cNvPr id="218" name="Text 7"/>
            <p:cNvSpPr/>
            <p:nvPr/>
          </p:nvSpPr>
          <p:spPr>
            <a:xfrm>
              <a:off x="9850320" y="3738960"/>
              <a:ext cx="4564080" cy="3215520"/>
            </a:xfrm>
            <a:prstGeom prst="rect">
              <a:avLst/>
            </a:prstGeom>
            <a:noFill/>
            <a:ln w="0">
              <a:noFill/>
            </a:ln>
          </p:spPr>
          <p:style>
            <a:lnRef idx="0"/>
            <a:fillRef idx="0"/>
            <a:effectRef idx="0"/>
            <a:fontRef idx="minor"/>
          </p:style>
          <p:txBody>
            <a:bodyPr lIns="0" rIns="0" tIns="0" bIns="0" anchor="t">
              <a:noAutofit/>
            </a:bodyPr>
            <a:p>
              <a:pPr defTabSz="914400">
                <a:lnSpc>
                  <a:spcPts val="2500"/>
                </a:lnSpc>
                <a:tabLst>
                  <a:tab algn="l" pos="0"/>
                </a:tabLst>
              </a:pPr>
              <a:r>
                <a:rPr b="0" lang="en-US" sz="1650" spc="-1" strike="noStrike">
                  <a:solidFill>
                    <a:srgbClr val="e2e6e9"/>
                  </a:solidFill>
                  <a:latin typeface="Source Sans 3"/>
                  <a:ea typeface="Source Sans 3"/>
                </a:rPr>
                <a:t>Google Trends, SEMrush, Ahrefs kimi alətlərdən gələn məlumatlar SI modelləri tərəfindən inteqrasiya edilərək hansı məhsul/xidmət kateqoriyalarına marağın artdığı proqnozlaşdırılır. Coğrafi seqmentasiya ilə hansı bazarda yeni tələbatın yarandığı aşkar edilə bilər. Bu məlumatlar innovasiya layihələrinin prioritetləşdirilməsini faktlara əsaslandırmağa imkan verir.</a:t>
              </a:r>
              <a:endParaRPr b="0" lang="en-US" sz="1650" spc="-1" strike="noStrike">
                <a:solidFill>
                  <a:srgbClr val="000000"/>
                </a:solidFill>
                <a:latin typeface="Arial"/>
              </a:endParaRPr>
            </a:p>
          </p:txBody>
        </p:sp>
        <p:sp>
          <p:nvSpPr>
            <p:cNvPr id="219" name="Text 8"/>
            <p:cNvSpPr/>
            <p:nvPr/>
          </p:nvSpPr>
          <p:spPr>
            <a:xfrm>
              <a:off x="493200" y="7487640"/>
              <a:ext cx="13921560" cy="356760"/>
            </a:xfrm>
            <a:prstGeom prst="rect">
              <a:avLst/>
            </a:prstGeom>
            <a:noFill/>
            <a:ln w="0">
              <a:noFill/>
            </a:ln>
          </p:spPr>
          <p:style>
            <a:lnRef idx="0"/>
            <a:fillRef idx="0"/>
            <a:effectRef idx="0"/>
            <a:fontRef idx="minor"/>
          </p:style>
          <p:txBody>
            <a:bodyPr wrap="none" lIns="0" rIns="0" tIns="0" bIns="0" anchor="t">
              <a:noAutofit/>
            </a:bodyPr>
            <a:p>
              <a:pPr defTabSz="914400">
                <a:lnSpc>
                  <a:spcPts val="2500"/>
                </a:lnSpc>
                <a:tabLst>
                  <a:tab algn="l" pos="0"/>
                </a:tabLst>
              </a:pPr>
              <a:r>
                <a:rPr b="0" lang="en-US" sz="1650" spc="-1" strike="noStrike">
                  <a:solidFill>
                    <a:srgbClr val="e2e6e9"/>
                  </a:solidFill>
                  <a:latin typeface="Source Sans 3"/>
                  <a:ea typeface="Source Sans 3"/>
                </a:rPr>
                <a:t>"Gələcəyin ən yaxşı proqnozu — trendlərə erkən inanmaq yox, onları erkən </a:t>
              </a:r>
              <a:r>
                <a:rPr b="0" i="1" lang="en-US" sz="1650" spc="-1" strike="noStrike">
                  <a:solidFill>
                    <a:srgbClr val="e2e6e9"/>
                  </a:solidFill>
                  <a:latin typeface="Source Sans 3"/>
                  <a:ea typeface="Source Sans 3"/>
                </a:rPr>
                <a:t>ölçməkdir</a:t>
              </a:r>
              <a:r>
                <a:rPr b="0" lang="en-US" sz="1650" spc="-1" strike="noStrike">
                  <a:solidFill>
                    <a:srgbClr val="e2e6e9"/>
                  </a:solidFill>
                  <a:latin typeface="Source Sans 3"/>
                  <a:ea typeface="Source Sans 3"/>
                </a:rPr>
                <a:t>." — data-driven innovasiya fəlsəfəsi</a:t>
              </a:r>
              <a:endParaRPr b="0" lang="en-US" sz="1650" spc="-1" strike="noStrike">
                <a:solidFill>
                  <a:srgbClr val="000000"/>
                </a:solidFill>
                <a:latin typeface="Arial"/>
              </a:endParaRPr>
            </a:p>
          </p:txBody>
        </p:sp>
        <p:sp>
          <p:nvSpPr>
            <p:cNvPr id="220" name="Shape 9"/>
            <p:cNvSpPr/>
            <p:nvPr/>
          </p:nvSpPr>
          <p:spPr>
            <a:xfrm>
              <a:off x="139680" y="7221600"/>
              <a:ext cx="24480" cy="889200"/>
            </a:xfrm>
            <a:prstGeom prst="rect">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gr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Text 0"/>
          <p:cNvSpPr/>
          <p:nvPr/>
        </p:nvSpPr>
        <p:spPr>
          <a:xfrm>
            <a:off x="218520" y="258120"/>
            <a:ext cx="9392400" cy="562320"/>
          </a:xfrm>
          <a:prstGeom prst="rect">
            <a:avLst/>
          </a:prstGeom>
          <a:noFill/>
          <a:ln w="0">
            <a:noFill/>
          </a:ln>
        </p:spPr>
        <p:style>
          <a:lnRef idx="0"/>
          <a:fillRef idx="0"/>
          <a:effectRef idx="0"/>
          <a:fontRef idx="minor"/>
        </p:style>
        <p:txBody>
          <a:bodyPr wrap="none" lIns="0" rIns="0" tIns="0" bIns="0" anchor="t">
            <a:noAutofit/>
          </a:bodyPr>
          <a:p>
            <a:pPr defTabSz="914400">
              <a:lnSpc>
                <a:spcPts val="3300"/>
              </a:lnSpc>
              <a:tabLst>
                <a:tab algn="l" pos="0"/>
              </a:tabLst>
            </a:pPr>
            <a:r>
              <a:rPr b="1" lang="en-US" sz="2650" spc="-1" strike="noStrike">
                <a:solidFill>
                  <a:srgbClr val="ffffff"/>
                </a:solidFill>
                <a:latin typeface="Montserrat Bold"/>
                <a:ea typeface="Montserrat Bold"/>
              </a:rPr>
              <a:t>Rəqəmsal Transformasiya və İnnovasiya</a:t>
            </a:r>
            <a:endParaRPr b="0" lang="en-US" sz="2650" spc="-1" strike="noStrike">
              <a:solidFill>
                <a:srgbClr val="000000"/>
              </a:solidFill>
              <a:latin typeface="Arial"/>
            </a:endParaRPr>
          </a:p>
        </p:txBody>
      </p:sp>
      <p:sp>
        <p:nvSpPr>
          <p:cNvPr id="222" name="Text 1"/>
          <p:cNvSpPr/>
          <p:nvPr/>
        </p:nvSpPr>
        <p:spPr>
          <a:xfrm>
            <a:off x="218520" y="1093320"/>
            <a:ext cx="14239800" cy="500400"/>
          </a:xfrm>
          <a:prstGeom prst="rect">
            <a:avLst/>
          </a:prstGeom>
          <a:noFill/>
          <a:ln w="0">
            <a:noFill/>
          </a:ln>
        </p:spPr>
        <p:style>
          <a:lnRef idx="0"/>
          <a:fillRef idx="0"/>
          <a:effectRef idx="0"/>
          <a:fontRef idx="minor"/>
        </p:style>
        <p:txBody>
          <a:bodyPr lIns="0" rIns="0" tIns="0" bIns="0" anchor="t">
            <a:noAutofit/>
          </a:bodyPr>
          <a:p>
            <a:pPr defTabSz="914400">
              <a:lnSpc>
                <a:spcPts val="1451"/>
              </a:lnSpc>
              <a:tabLst>
                <a:tab algn="l" pos="0"/>
              </a:tabLst>
            </a:pPr>
            <a:r>
              <a:rPr b="0" lang="en-US" sz="1400" spc="-1" strike="noStrike">
                <a:solidFill>
                  <a:srgbClr val="e2e6e9"/>
                </a:solidFill>
                <a:latin typeface="Source Sans 3"/>
                <a:ea typeface="Source Sans 3"/>
              </a:rPr>
              <a:t>SI yalnız mövcud prosesləri avtomatlaşdırmır — o, şirkətin əsas biznes modelini kökündən dəyişə bilər. Bu, rəqəmsal transformasiyanın ən dərin səviyyəsidir: şirkətin "nə edir" sualına deyil, "necə dəyər yaradır" sualına yeni cavab verilir.</a:t>
            </a:r>
            <a:endParaRPr b="0" lang="en-US" sz="1400" spc="-1" strike="noStrike">
              <a:solidFill>
                <a:srgbClr val="000000"/>
              </a:solidFill>
              <a:latin typeface="Arial"/>
            </a:endParaRPr>
          </a:p>
        </p:txBody>
      </p:sp>
      <p:sp>
        <p:nvSpPr>
          <p:cNvPr id="223" name="Shape 2"/>
          <p:cNvSpPr/>
          <p:nvPr/>
        </p:nvSpPr>
        <p:spPr>
          <a:xfrm>
            <a:off x="75240" y="1747800"/>
            <a:ext cx="7163280" cy="6373800"/>
          </a:xfrm>
          <a:prstGeom prst="roundRect">
            <a:avLst>
              <a:gd name="adj" fmla="val 466"/>
            </a:avLst>
          </a:prstGeom>
          <a:solidFill>
            <a:srgbClr val="1d1f2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24" name="Text 3"/>
          <p:cNvSpPr/>
          <p:nvPr/>
        </p:nvSpPr>
        <p:spPr>
          <a:xfrm>
            <a:off x="1353960" y="2099880"/>
            <a:ext cx="5480280" cy="280800"/>
          </a:xfrm>
          <a:prstGeom prst="rect">
            <a:avLst/>
          </a:prstGeom>
          <a:noFill/>
          <a:ln w="0">
            <a:noFill/>
          </a:ln>
        </p:spPr>
        <p:style>
          <a:lnRef idx="0"/>
          <a:fillRef idx="0"/>
          <a:effectRef idx="0"/>
          <a:fontRef idx="minor"/>
        </p:style>
        <p:txBody>
          <a:bodyPr wrap="none" lIns="0" rIns="0" tIns="0" bIns="0" anchor="t">
            <a:noAutofit/>
          </a:bodyPr>
          <a:p>
            <a:pPr defTabSz="914400">
              <a:lnSpc>
                <a:spcPts val="1650"/>
              </a:lnSpc>
              <a:tabLst>
                <a:tab algn="l" pos="0"/>
              </a:tabLst>
            </a:pPr>
            <a:r>
              <a:rPr b="1" lang="en-US" sz="1300" spc="-1" strike="noStrike">
                <a:solidFill>
                  <a:srgbClr val="ffffff"/>
                </a:solidFill>
                <a:latin typeface="Montserrat Bold"/>
                <a:ea typeface="Montserrat Bold"/>
              </a:rPr>
              <a:t>Biznes Modeli Transformasiyasının Mərhələləri</a:t>
            </a:r>
            <a:endParaRPr b="0" lang="en-US" sz="1300" spc="-1" strike="noStrike">
              <a:solidFill>
                <a:srgbClr val="000000"/>
              </a:solidFill>
              <a:latin typeface="Arial"/>
            </a:endParaRPr>
          </a:p>
        </p:txBody>
      </p:sp>
      <p:sp>
        <p:nvSpPr>
          <p:cNvPr id="225" name="Text 4"/>
          <p:cNvSpPr/>
          <p:nvPr/>
        </p:nvSpPr>
        <p:spPr>
          <a:xfrm>
            <a:off x="273960" y="2318400"/>
            <a:ext cx="198000" cy="246960"/>
          </a:xfrm>
          <a:prstGeom prst="rect">
            <a:avLst/>
          </a:prstGeom>
          <a:noFill/>
          <a:ln w="0">
            <a:noFill/>
          </a:ln>
        </p:spPr>
        <p:style>
          <a:lnRef idx="0"/>
          <a:fillRef idx="0"/>
          <a:effectRef idx="0"/>
          <a:fontRef idx="minor"/>
        </p:style>
        <p:txBody>
          <a:bodyPr wrap="none" lIns="0" rIns="0" tIns="0" bIns="0" anchor="t">
            <a:noAutofit/>
          </a:bodyPr>
          <a:p>
            <a:pPr defTabSz="914400">
              <a:lnSpc>
                <a:spcPts val="1451"/>
              </a:lnSpc>
              <a:tabLst>
                <a:tab algn="l" pos="0"/>
              </a:tabLst>
            </a:pPr>
            <a:endParaRPr b="0" lang="en-US" sz="1800" spc="-1" strike="noStrike">
              <a:solidFill>
                <a:srgbClr val="000000"/>
              </a:solidFill>
              <a:latin typeface="Arial"/>
            </a:endParaRPr>
          </a:p>
        </p:txBody>
      </p:sp>
      <p:sp>
        <p:nvSpPr>
          <p:cNvPr id="226" name="Shape 5"/>
          <p:cNvSpPr/>
          <p:nvPr/>
        </p:nvSpPr>
        <p:spPr>
          <a:xfrm>
            <a:off x="273960" y="2634840"/>
            <a:ext cx="6766200" cy="19800"/>
          </a:xfrm>
          <a:prstGeom prst="rect">
            <a:avLst/>
          </a:prstGeom>
          <a:solidFill>
            <a:srgbClr val="ffffff"/>
          </a:solidFill>
          <a:ln w="0">
            <a:noFill/>
          </a:ln>
        </p:spPr>
        <p:style>
          <a:lnRef idx="0"/>
          <a:fillRef idx="0"/>
          <a:effectRef idx="0"/>
          <a:fontRef idx="minor"/>
        </p:style>
        <p:txBody>
          <a:bodyPr lIns="90000" rIns="90000" tIns="-24480" bIns="-24480" anchor="t">
            <a:noAutofit/>
          </a:bodyPr>
          <a:p>
            <a:pPr defTabSz="914400">
              <a:lnSpc>
                <a:spcPct val="100000"/>
              </a:lnSpc>
            </a:pPr>
            <a:endParaRPr b="0" lang="en-US" sz="1800" spc="-1" strike="noStrike">
              <a:solidFill>
                <a:schemeClr val="dk1"/>
              </a:solidFill>
              <a:latin typeface="Calibri"/>
            </a:endParaRPr>
          </a:p>
        </p:txBody>
      </p:sp>
      <p:sp>
        <p:nvSpPr>
          <p:cNvPr id="227" name="Text 6"/>
          <p:cNvSpPr/>
          <p:nvPr/>
        </p:nvSpPr>
        <p:spPr>
          <a:xfrm>
            <a:off x="273960" y="2774520"/>
            <a:ext cx="2256480" cy="280800"/>
          </a:xfrm>
          <a:prstGeom prst="rect">
            <a:avLst/>
          </a:prstGeom>
          <a:noFill/>
          <a:ln w="0">
            <a:noFill/>
          </a:ln>
        </p:spPr>
        <p:style>
          <a:lnRef idx="0"/>
          <a:fillRef idx="0"/>
          <a:effectRef idx="0"/>
          <a:fontRef idx="minor"/>
        </p:style>
        <p:txBody>
          <a:bodyPr wrap="none" lIns="0" rIns="0" tIns="0" bIns="0" anchor="t">
            <a:noAutofit/>
          </a:bodyPr>
          <a:p>
            <a:pPr defTabSz="914400">
              <a:lnSpc>
                <a:spcPts val="1650"/>
              </a:lnSpc>
              <a:tabLst>
                <a:tab algn="l" pos="0"/>
              </a:tabLst>
            </a:pPr>
            <a:r>
              <a:rPr b="1" lang="en-US" sz="1300" spc="-1" strike="noStrike">
                <a:solidFill>
                  <a:srgbClr val="e2e6e9"/>
                </a:solidFill>
                <a:latin typeface="Montserrat Bold"/>
                <a:ea typeface="Montserrat Bold"/>
              </a:rPr>
              <a:t>Rəqəmsallaşma</a:t>
            </a:r>
            <a:endParaRPr b="0" lang="en-US" sz="1300" spc="-1" strike="noStrike">
              <a:solidFill>
                <a:srgbClr val="000000"/>
              </a:solidFill>
              <a:latin typeface="Arial"/>
            </a:endParaRPr>
          </a:p>
        </p:txBody>
      </p:sp>
      <p:sp>
        <p:nvSpPr>
          <p:cNvPr id="228" name="Text 7"/>
          <p:cNvSpPr/>
          <p:nvPr/>
        </p:nvSpPr>
        <p:spPr>
          <a:xfrm>
            <a:off x="273960" y="3191760"/>
            <a:ext cx="6766200" cy="249840"/>
          </a:xfrm>
          <a:prstGeom prst="rect">
            <a:avLst/>
          </a:prstGeom>
          <a:noFill/>
          <a:ln w="0">
            <a:noFill/>
          </a:ln>
        </p:spPr>
        <p:style>
          <a:lnRef idx="0"/>
          <a:fillRef idx="0"/>
          <a:effectRef idx="0"/>
          <a:fontRef idx="minor"/>
        </p:style>
        <p:txBody>
          <a:bodyPr wrap="none" lIns="0" rIns="0" tIns="0" bIns="0" anchor="t">
            <a:noAutofit/>
          </a:bodyPr>
          <a:p>
            <a:pPr defTabSz="914400">
              <a:lnSpc>
                <a:spcPts val="1451"/>
              </a:lnSpc>
              <a:tabLst>
                <a:tab algn="l" pos="0"/>
              </a:tabLst>
            </a:pPr>
            <a:r>
              <a:rPr b="0" lang="en-US" sz="1150" spc="-1" strike="noStrike">
                <a:solidFill>
                  <a:srgbClr val="e2e6e9"/>
                </a:solidFill>
                <a:latin typeface="Source Sans 3"/>
                <a:ea typeface="Source Sans 3"/>
              </a:rPr>
              <a:t>Kağız əsaslı proseslərin rəqəmsal formata keçirilməsi. (Məs: elektron qaimə)</a:t>
            </a:r>
            <a:endParaRPr b="0" lang="en-US" sz="1150" spc="-1" strike="noStrike">
              <a:solidFill>
                <a:srgbClr val="000000"/>
              </a:solidFill>
              <a:latin typeface="Arial"/>
            </a:endParaRPr>
          </a:p>
        </p:txBody>
      </p:sp>
      <p:sp>
        <p:nvSpPr>
          <p:cNvPr id="229" name="Shape 9"/>
          <p:cNvSpPr/>
          <p:nvPr/>
        </p:nvSpPr>
        <p:spPr>
          <a:xfrm>
            <a:off x="273960" y="4043520"/>
            <a:ext cx="6766200" cy="19800"/>
          </a:xfrm>
          <a:prstGeom prst="rect">
            <a:avLst/>
          </a:prstGeom>
          <a:solidFill>
            <a:srgbClr val="ffffff"/>
          </a:solidFill>
          <a:ln w="0">
            <a:noFill/>
          </a:ln>
        </p:spPr>
        <p:style>
          <a:lnRef idx="0"/>
          <a:fillRef idx="0"/>
          <a:effectRef idx="0"/>
          <a:fontRef idx="minor"/>
        </p:style>
        <p:txBody>
          <a:bodyPr lIns="90000" rIns="90000" tIns="-24480" bIns="-24480" anchor="t">
            <a:noAutofit/>
          </a:bodyPr>
          <a:p>
            <a:pPr defTabSz="914400">
              <a:lnSpc>
                <a:spcPct val="100000"/>
              </a:lnSpc>
            </a:pPr>
            <a:endParaRPr b="0" lang="en-US" sz="1800" spc="-1" strike="noStrike">
              <a:solidFill>
                <a:schemeClr val="dk1"/>
              </a:solidFill>
              <a:latin typeface="Calibri"/>
            </a:endParaRPr>
          </a:p>
        </p:txBody>
      </p:sp>
      <p:sp>
        <p:nvSpPr>
          <p:cNvPr id="230" name="Text 10"/>
          <p:cNvSpPr/>
          <p:nvPr/>
        </p:nvSpPr>
        <p:spPr>
          <a:xfrm>
            <a:off x="273960" y="4183200"/>
            <a:ext cx="3170520" cy="280800"/>
          </a:xfrm>
          <a:prstGeom prst="rect">
            <a:avLst/>
          </a:prstGeom>
          <a:noFill/>
          <a:ln w="0">
            <a:noFill/>
          </a:ln>
        </p:spPr>
        <p:style>
          <a:lnRef idx="0"/>
          <a:fillRef idx="0"/>
          <a:effectRef idx="0"/>
          <a:fontRef idx="minor"/>
        </p:style>
        <p:txBody>
          <a:bodyPr wrap="none" lIns="0" rIns="0" tIns="0" bIns="0" anchor="t">
            <a:noAutofit/>
          </a:bodyPr>
          <a:p>
            <a:pPr defTabSz="914400">
              <a:lnSpc>
                <a:spcPts val="1650"/>
              </a:lnSpc>
              <a:tabLst>
                <a:tab algn="l" pos="0"/>
              </a:tabLst>
            </a:pPr>
            <a:r>
              <a:rPr b="1" lang="en-US" sz="1300" spc="-1" strike="noStrike">
                <a:solidFill>
                  <a:srgbClr val="e2e6e9"/>
                </a:solidFill>
                <a:latin typeface="Montserrat Bold"/>
                <a:ea typeface="Montserrat Bold"/>
              </a:rPr>
              <a:t>Rəqəmsal optimallaşdırma</a:t>
            </a:r>
            <a:endParaRPr b="0" lang="en-US" sz="1300" spc="-1" strike="noStrike">
              <a:solidFill>
                <a:srgbClr val="000000"/>
              </a:solidFill>
              <a:latin typeface="Arial"/>
            </a:endParaRPr>
          </a:p>
        </p:txBody>
      </p:sp>
      <p:sp>
        <p:nvSpPr>
          <p:cNvPr id="231" name="Text 11"/>
          <p:cNvSpPr/>
          <p:nvPr/>
        </p:nvSpPr>
        <p:spPr>
          <a:xfrm>
            <a:off x="273960" y="4600800"/>
            <a:ext cx="6766200" cy="249840"/>
          </a:xfrm>
          <a:prstGeom prst="rect">
            <a:avLst/>
          </a:prstGeom>
          <a:noFill/>
          <a:ln w="0">
            <a:noFill/>
          </a:ln>
        </p:spPr>
        <p:style>
          <a:lnRef idx="0"/>
          <a:fillRef idx="0"/>
          <a:effectRef idx="0"/>
          <a:fontRef idx="minor"/>
        </p:style>
        <p:txBody>
          <a:bodyPr wrap="none" lIns="0" rIns="0" tIns="0" bIns="0" anchor="t">
            <a:noAutofit/>
          </a:bodyPr>
          <a:p>
            <a:pPr defTabSz="914400">
              <a:lnSpc>
                <a:spcPts val="1451"/>
              </a:lnSpc>
              <a:tabLst>
                <a:tab algn="l" pos="0"/>
              </a:tabLst>
            </a:pPr>
            <a:r>
              <a:rPr b="0" lang="en-US" sz="1150" spc="-1" strike="noStrike">
                <a:solidFill>
                  <a:srgbClr val="e2e6e9"/>
                </a:solidFill>
                <a:latin typeface="Source Sans 3"/>
                <a:ea typeface="Source Sans 3"/>
              </a:rPr>
              <a:t>SI ilə əməliyyat səmərəliliyinin artırılması, xərclərin azaldılması.</a:t>
            </a:r>
            <a:endParaRPr b="0" lang="en-US" sz="1150" spc="-1" strike="noStrike">
              <a:solidFill>
                <a:srgbClr val="000000"/>
              </a:solidFill>
              <a:latin typeface="Arial"/>
            </a:endParaRPr>
          </a:p>
        </p:txBody>
      </p:sp>
      <p:sp>
        <p:nvSpPr>
          <p:cNvPr id="232" name="Shape 13"/>
          <p:cNvSpPr/>
          <p:nvPr/>
        </p:nvSpPr>
        <p:spPr>
          <a:xfrm>
            <a:off x="273960" y="5452560"/>
            <a:ext cx="6766200" cy="19800"/>
          </a:xfrm>
          <a:prstGeom prst="rect">
            <a:avLst/>
          </a:prstGeom>
          <a:solidFill>
            <a:srgbClr val="ffffff"/>
          </a:solidFill>
          <a:ln w="0">
            <a:noFill/>
          </a:ln>
        </p:spPr>
        <p:style>
          <a:lnRef idx="0"/>
          <a:fillRef idx="0"/>
          <a:effectRef idx="0"/>
          <a:fontRef idx="minor"/>
        </p:style>
        <p:txBody>
          <a:bodyPr lIns="90000" rIns="90000" tIns="-24480" bIns="-24480" anchor="t">
            <a:noAutofit/>
          </a:bodyPr>
          <a:p>
            <a:pPr defTabSz="914400">
              <a:lnSpc>
                <a:spcPct val="100000"/>
              </a:lnSpc>
            </a:pPr>
            <a:endParaRPr b="0" lang="en-US" sz="1800" spc="-1" strike="noStrike">
              <a:solidFill>
                <a:schemeClr val="dk1"/>
              </a:solidFill>
              <a:latin typeface="Calibri"/>
            </a:endParaRPr>
          </a:p>
        </p:txBody>
      </p:sp>
      <p:sp>
        <p:nvSpPr>
          <p:cNvPr id="233" name="Text 14"/>
          <p:cNvSpPr/>
          <p:nvPr/>
        </p:nvSpPr>
        <p:spPr>
          <a:xfrm>
            <a:off x="273960" y="5592240"/>
            <a:ext cx="3161160" cy="280800"/>
          </a:xfrm>
          <a:prstGeom prst="rect">
            <a:avLst/>
          </a:prstGeom>
          <a:noFill/>
          <a:ln w="0">
            <a:noFill/>
          </a:ln>
        </p:spPr>
        <p:style>
          <a:lnRef idx="0"/>
          <a:fillRef idx="0"/>
          <a:effectRef idx="0"/>
          <a:fontRef idx="minor"/>
        </p:style>
        <p:txBody>
          <a:bodyPr wrap="none" lIns="0" rIns="0" tIns="0" bIns="0" anchor="t">
            <a:noAutofit/>
          </a:bodyPr>
          <a:p>
            <a:pPr defTabSz="914400">
              <a:lnSpc>
                <a:spcPts val="1650"/>
              </a:lnSpc>
              <a:tabLst>
                <a:tab algn="l" pos="0"/>
              </a:tabLst>
            </a:pPr>
            <a:r>
              <a:rPr b="1" lang="en-US" sz="1300" spc="-1" strike="noStrike">
                <a:solidFill>
                  <a:srgbClr val="e2e6e9"/>
                </a:solidFill>
                <a:latin typeface="Montserrat Bold"/>
                <a:ea typeface="Montserrat Bold"/>
              </a:rPr>
              <a:t>Biznes modeli yenilənməsi</a:t>
            </a:r>
            <a:endParaRPr b="0" lang="en-US" sz="1300" spc="-1" strike="noStrike">
              <a:solidFill>
                <a:srgbClr val="000000"/>
              </a:solidFill>
              <a:latin typeface="Arial"/>
            </a:endParaRPr>
          </a:p>
        </p:txBody>
      </p:sp>
      <p:sp>
        <p:nvSpPr>
          <p:cNvPr id="234" name="Text 15"/>
          <p:cNvSpPr/>
          <p:nvPr/>
        </p:nvSpPr>
        <p:spPr>
          <a:xfrm>
            <a:off x="273960" y="6009840"/>
            <a:ext cx="6766200" cy="249840"/>
          </a:xfrm>
          <a:prstGeom prst="rect">
            <a:avLst/>
          </a:prstGeom>
          <a:noFill/>
          <a:ln w="0">
            <a:noFill/>
          </a:ln>
        </p:spPr>
        <p:style>
          <a:lnRef idx="0"/>
          <a:fillRef idx="0"/>
          <a:effectRef idx="0"/>
          <a:fontRef idx="minor"/>
        </p:style>
        <p:txBody>
          <a:bodyPr wrap="none" lIns="0" rIns="0" tIns="0" bIns="0" anchor="t">
            <a:noAutofit/>
          </a:bodyPr>
          <a:p>
            <a:pPr defTabSz="914400">
              <a:lnSpc>
                <a:spcPts val="1451"/>
              </a:lnSpc>
              <a:tabLst>
                <a:tab algn="l" pos="0"/>
              </a:tabLst>
            </a:pPr>
            <a:r>
              <a:rPr b="0" lang="en-US" sz="1150" spc="-1" strike="noStrike">
                <a:solidFill>
                  <a:srgbClr val="e2e6e9"/>
                </a:solidFill>
                <a:latin typeface="Source Sans 3"/>
                <a:ea typeface="Source Sans 3"/>
              </a:rPr>
              <a:t>SI məlumatları əsasında tamamilə yeni gəlir axınlarının yaradılması.</a:t>
            </a:r>
            <a:endParaRPr b="0" lang="en-US" sz="1150" spc="-1" strike="noStrike">
              <a:solidFill>
                <a:srgbClr val="000000"/>
              </a:solidFill>
              <a:latin typeface="Arial"/>
            </a:endParaRPr>
          </a:p>
        </p:txBody>
      </p:sp>
      <p:sp>
        <p:nvSpPr>
          <p:cNvPr id="235" name="Shape 17"/>
          <p:cNvSpPr/>
          <p:nvPr/>
        </p:nvSpPr>
        <p:spPr>
          <a:xfrm>
            <a:off x="273960" y="6861600"/>
            <a:ext cx="6766200" cy="19800"/>
          </a:xfrm>
          <a:prstGeom prst="rect">
            <a:avLst/>
          </a:prstGeom>
          <a:solidFill>
            <a:srgbClr val="ffffff"/>
          </a:solidFill>
          <a:ln w="0">
            <a:noFill/>
          </a:ln>
        </p:spPr>
        <p:style>
          <a:lnRef idx="0"/>
          <a:fillRef idx="0"/>
          <a:effectRef idx="0"/>
          <a:fontRef idx="minor"/>
        </p:style>
        <p:txBody>
          <a:bodyPr lIns="90000" rIns="90000" tIns="-24480" bIns="-24480" anchor="t">
            <a:noAutofit/>
          </a:bodyPr>
          <a:p>
            <a:pPr defTabSz="914400">
              <a:lnSpc>
                <a:spcPct val="100000"/>
              </a:lnSpc>
            </a:pPr>
            <a:endParaRPr b="0" lang="en-US" sz="1800" spc="-1" strike="noStrike">
              <a:solidFill>
                <a:schemeClr val="dk1"/>
              </a:solidFill>
              <a:latin typeface="Calibri"/>
            </a:endParaRPr>
          </a:p>
        </p:txBody>
      </p:sp>
      <p:sp>
        <p:nvSpPr>
          <p:cNvPr id="236" name="Text 18"/>
          <p:cNvSpPr/>
          <p:nvPr/>
        </p:nvSpPr>
        <p:spPr>
          <a:xfrm>
            <a:off x="273960" y="7001280"/>
            <a:ext cx="2256480" cy="280800"/>
          </a:xfrm>
          <a:prstGeom prst="rect">
            <a:avLst/>
          </a:prstGeom>
          <a:noFill/>
          <a:ln w="0">
            <a:noFill/>
          </a:ln>
        </p:spPr>
        <p:style>
          <a:lnRef idx="0"/>
          <a:fillRef idx="0"/>
          <a:effectRef idx="0"/>
          <a:fontRef idx="minor"/>
        </p:style>
        <p:txBody>
          <a:bodyPr wrap="none" lIns="0" rIns="0" tIns="0" bIns="0" anchor="t">
            <a:noAutofit/>
          </a:bodyPr>
          <a:p>
            <a:pPr defTabSz="914400">
              <a:lnSpc>
                <a:spcPts val="1650"/>
              </a:lnSpc>
              <a:tabLst>
                <a:tab algn="l" pos="0"/>
              </a:tabLst>
            </a:pPr>
            <a:r>
              <a:rPr b="1" lang="en-US" sz="1300" spc="-1" strike="noStrike">
                <a:solidFill>
                  <a:srgbClr val="e2e6e9"/>
                </a:solidFill>
                <a:latin typeface="Montserrat Bold"/>
                <a:ea typeface="Montserrat Bold"/>
              </a:rPr>
              <a:t>Ekosistem liderliyi</a:t>
            </a:r>
            <a:endParaRPr b="0" lang="en-US" sz="1300" spc="-1" strike="noStrike">
              <a:solidFill>
                <a:srgbClr val="000000"/>
              </a:solidFill>
              <a:latin typeface="Arial"/>
            </a:endParaRPr>
          </a:p>
        </p:txBody>
      </p:sp>
      <p:sp>
        <p:nvSpPr>
          <p:cNvPr id="237" name="Text 19"/>
          <p:cNvSpPr/>
          <p:nvPr/>
        </p:nvSpPr>
        <p:spPr>
          <a:xfrm>
            <a:off x="273960" y="7418520"/>
            <a:ext cx="6766200" cy="249840"/>
          </a:xfrm>
          <a:prstGeom prst="rect">
            <a:avLst/>
          </a:prstGeom>
          <a:noFill/>
          <a:ln w="0">
            <a:noFill/>
          </a:ln>
        </p:spPr>
        <p:style>
          <a:lnRef idx="0"/>
          <a:fillRef idx="0"/>
          <a:effectRef idx="0"/>
          <a:fontRef idx="minor"/>
        </p:style>
        <p:txBody>
          <a:bodyPr wrap="none" lIns="0" rIns="0" tIns="0" bIns="0" anchor="t">
            <a:noAutofit/>
          </a:bodyPr>
          <a:p>
            <a:pPr defTabSz="914400">
              <a:lnSpc>
                <a:spcPts val="1451"/>
              </a:lnSpc>
              <a:tabLst>
                <a:tab algn="l" pos="0"/>
              </a:tabLst>
            </a:pPr>
            <a:r>
              <a:rPr b="0" lang="en-US" sz="1150" spc="-1" strike="noStrike">
                <a:solidFill>
                  <a:srgbClr val="e2e6e9"/>
                </a:solidFill>
                <a:latin typeface="Source Sans 3"/>
                <a:ea typeface="Source Sans 3"/>
              </a:rPr>
              <a:t>Platforma iqtisadiyyatı vasitəsilə sənaye standartlarının müəyyənləşdirilməsi.</a:t>
            </a:r>
            <a:endParaRPr b="0" lang="en-US" sz="1150" spc="-1" strike="noStrike">
              <a:solidFill>
                <a:srgbClr val="000000"/>
              </a:solidFill>
              <a:latin typeface="Arial"/>
            </a:endParaRPr>
          </a:p>
        </p:txBody>
      </p:sp>
      <p:sp>
        <p:nvSpPr>
          <p:cNvPr id="238" name="Text 20"/>
          <p:cNvSpPr/>
          <p:nvPr/>
        </p:nvSpPr>
        <p:spPr>
          <a:xfrm>
            <a:off x="7590960" y="1883880"/>
            <a:ext cx="5062320" cy="280800"/>
          </a:xfrm>
          <a:prstGeom prst="rect">
            <a:avLst/>
          </a:prstGeom>
          <a:noFill/>
          <a:ln w="0">
            <a:noFill/>
          </a:ln>
        </p:spPr>
        <p:style>
          <a:lnRef idx="0"/>
          <a:fillRef idx="0"/>
          <a:effectRef idx="0"/>
          <a:fontRef idx="minor"/>
        </p:style>
        <p:txBody>
          <a:bodyPr wrap="none" lIns="0" rIns="0" tIns="0" bIns="0" anchor="t">
            <a:noAutofit/>
          </a:bodyPr>
          <a:p>
            <a:pPr defTabSz="914400">
              <a:lnSpc>
                <a:spcPts val="1650"/>
              </a:lnSpc>
              <a:tabLst>
                <a:tab algn="l" pos="0"/>
              </a:tabLst>
            </a:pPr>
            <a:r>
              <a:rPr b="1" lang="en-US" sz="1300" spc="-1" strike="noStrike">
                <a:solidFill>
                  <a:srgbClr val="ffffff"/>
                </a:solidFill>
                <a:latin typeface="Montserrat Bold"/>
                <a:ea typeface="Montserrat Bold"/>
              </a:rPr>
              <a:t>Real Nümunələr: SI Biznes Modelini Dəyişir</a:t>
            </a:r>
            <a:endParaRPr b="0" lang="en-US" sz="1300" spc="-1" strike="noStrike">
              <a:solidFill>
                <a:srgbClr val="000000"/>
              </a:solidFill>
              <a:latin typeface="Arial"/>
            </a:endParaRPr>
          </a:p>
        </p:txBody>
      </p:sp>
      <p:sp>
        <p:nvSpPr>
          <p:cNvPr id="239" name="Shape 21"/>
          <p:cNvSpPr/>
          <p:nvPr/>
        </p:nvSpPr>
        <p:spPr>
          <a:xfrm>
            <a:off x="7590960" y="2318400"/>
            <a:ext cx="6877080" cy="1355040"/>
          </a:xfrm>
          <a:prstGeom prst="roundRect">
            <a:avLst>
              <a:gd name="adj" fmla="val 7214"/>
            </a:avLst>
          </a:prstGeom>
          <a:solidFill>
            <a:srgbClr val="111213"/>
          </a:solidFill>
          <a:ln w="15240">
            <a:solidFill>
              <a:srgbClr val="494a4b"/>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40" name="Shape 22"/>
          <p:cNvSpPr/>
          <p:nvPr/>
        </p:nvSpPr>
        <p:spPr>
          <a:xfrm>
            <a:off x="7570800" y="2318400"/>
            <a:ext cx="81000" cy="1355040"/>
          </a:xfrm>
          <a:prstGeom prst="roundRect">
            <a:avLst>
              <a:gd name="adj" fmla="val 36488"/>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41" name="Text 23"/>
          <p:cNvSpPr/>
          <p:nvPr/>
        </p:nvSpPr>
        <p:spPr>
          <a:xfrm>
            <a:off x="7871400" y="2536920"/>
            <a:ext cx="3625560" cy="280800"/>
          </a:xfrm>
          <a:prstGeom prst="rect">
            <a:avLst/>
          </a:prstGeom>
          <a:noFill/>
          <a:ln w="0">
            <a:noFill/>
          </a:ln>
        </p:spPr>
        <p:style>
          <a:lnRef idx="0"/>
          <a:fillRef idx="0"/>
          <a:effectRef idx="0"/>
          <a:fontRef idx="minor"/>
        </p:style>
        <p:txBody>
          <a:bodyPr wrap="none" lIns="0" rIns="0" tIns="0" bIns="0" anchor="t">
            <a:noAutofit/>
          </a:bodyPr>
          <a:p>
            <a:pPr defTabSz="914400">
              <a:lnSpc>
                <a:spcPts val="1650"/>
              </a:lnSpc>
              <a:tabLst>
                <a:tab algn="l" pos="0"/>
              </a:tabLst>
            </a:pPr>
            <a:r>
              <a:rPr b="1" lang="en-US" sz="1300" spc="-1" strike="noStrike">
                <a:solidFill>
                  <a:srgbClr val="e2e6e9"/>
                </a:solidFill>
                <a:latin typeface="Montserrat Bold"/>
                <a:ea typeface="Montserrat Bold"/>
              </a:rPr>
              <a:t>Netflix: Möhtəvadan Alqoritmə</a:t>
            </a:r>
            <a:endParaRPr b="0" lang="en-US" sz="1300" spc="-1" strike="noStrike">
              <a:solidFill>
                <a:srgbClr val="000000"/>
              </a:solidFill>
              <a:latin typeface="Arial"/>
            </a:endParaRPr>
          </a:p>
        </p:txBody>
      </p:sp>
      <p:sp>
        <p:nvSpPr>
          <p:cNvPr id="242" name="Text 24"/>
          <p:cNvSpPr/>
          <p:nvPr/>
        </p:nvSpPr>
        <p:spPr>
          <a:xfrm>
            <a:off x="7871400" y="2954160"/>
            <a:ext cx="6378120" cy="500400"/>
          </a:xfrm>
          <a:prstGeom prst="rect">
            <a:avLst/>
          </a:prstGeom>
          <a:noFill/>
          <a:ln w="0">
            <a:noFill/>
          </a:ln>
        </p:spPr>
        <p:style>
          <a:lnRef idx="0"/>
          <a:fillRef idx="0"/>
          <a:effectRef idx="0"/>
          <a:fontRef idx="minor"/>
        </p:style>
        <p:txBody>
          <a:bodyPr lIns="0" rIns="0" tIns="0" bIns="0" anchor="t">
            <a:noAutofit/>
          </a:bodyPr>
          <a:p>
            <a:pPr defTabSz="914400">
              <a:lnSpc>
                <a:spcPts val="1451"/>
              </a:lnSpc>
              <a:tabLst>
                <a:tab algn="l" pos="0"/>
              </a:tabLst>
            </a:pPr>
            <a:r>
              <a:rPr b="0" lang="en-US" sz="1150" spc="-1" strike="noStrike">
                <a:solidFill>
                  <a:srgbClr val="e2e6e9"/>
                </a:solidFill>
                <a:latin typeface="Source Sans 3"/>
                <a:ea typeface="Source Sans 3"/>
              </a:rPr>
              <a:t>DVD icarəsindən başlayan şirkət, SI tövsiyə mühərriki ilə content produksiyasına keçdi. Məlumat → İnnovasiya → Yeni biznes modeli.</a:t>
            </a:r>
            <a:endParaRPr b="0" lang="en-US" sz="1150" spc="-1" strike="noStrike">
              <a:solidFill>
                <a:srgbClr val="000000"/>
              </a:solidFill>
              <a:latin typeface="Arial"/>
            </a:endParaRPr>
          </a:p>
        </p:txBody>
      </p:sp>
      <p:sp>
        <p:nvSpPr>
          <p:cNvPr id="243" name="Shape 25"/>
          <p:cNvSpPr/>
          <p:nvPr/>
        </p:nvSpPr>
        <p:spPr>
          <a:xfrm>
            <a:off x="7590960" y="3809880"/>
            <a:ext cx="6877080" cy="1355040"/>
          </a:xfrm>
          <a:prstGeom prst="roundRect">
            <a:avLst>
              <a:gd name="adj" fmla="val 7214"/>
            </a:avLst>
          </a:prstGeom>
          <a:solidFill>
            <a:srgbClr val="111213"/>
          </a:solidFill>
          <a:ln w="15240">
            <a:solidFill>
              <a:srgbClr val="494a4b"/>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44" name="Shape 26"/>
          <p:cNvSpPr/>
          <p:nvPr/>
        </p:nvSpPr>
        <p:spPr>
          <a:xfrm>
            <a:off x="7570800" y="3809880"/>
            <a:ext cx="81000" cy="1355040"/>
          </a:xfrm>
          <a:prstGeom prst="roundRect">
            <a:avLst>
              <a:gd name="adj" fmla="val 36488"/>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45" name="Text 27"/>
          <p:cNvSpPr/>
          <p:nvPr/>
        </p:nvSpPr>
        <p:spPr>
          <a:xfrm>
            <a:off x="7871400" y="4028400"/>
            <a:ext cx="4078440" cy="280800"/>
          </a:xfrm>
          <a:prstGeom prst="rect">
            <a:avLst/>
          </a:prstGeom>
          <a:noFill/>
          <a:ln w="0">
            <a:noFill/>
          </a:ln>
        </p:spPr>
        <p:style>
          <a:lnRef idx="0"/>
          <a:fillRef idx="0"/>
          <a:effectRef idx="0"/>
          <a:fontRef idx="minor"/>
        </p:style>
        <p:txBody>
          <a:bodyPr wrap="none" lIns="0" rIns="0" tIns="0" bIns="0" anchor="t">
            <a:noAutofit/>
          </a:bodyPr>
          <a:p>
            <a:pPr defTabSz="914400">
              <a:lnSpc>
                <a:spcPts val="1650"/>
              </a:lnSpc>
              <a:tabLst>
                <a:tab algn="l" pos="0"/>
              </a:tabLst>
            </a:pPr>
            <a:r>
              <a:rPr b="1" lang="en-US" sz="1300" spc="-1" strike="noStrike">
                <a:solidFill>
                  <a:srgbClr val="e2e6e9"/>
                </a:solidFill>
                <a:latin typeface="Montserrat Bold"/>
                <a:ea typeface="Montserrat Bold"/>
              </a:rPr>
              <a:t>John Deere: Texnikadan Platforma</a:t>
            </a:r>
            <a:endParaRPr b="0" lang="en-US" sz="1300" spc="-1" strike="noStrike">
              <a:solidFill>
                <a:srgbClr val="000000"/>
              </a:solidFill>
              <a:latin typeface="Arial"/>
            </a:endParaRPr>
          </a:p>
        </p:txBody>
      </p:sp>
      <p:sp>
        <p:nvSpPr>
          <p:cNvPr id="246" name="Text 28"/>
          <p:cNvSpPr/>
          <p:nvPr/>
        </p:nvSpPr>
        <p:spPr>
          <a:xfrm>
            <a:off x="7871400" y="4446000"/>
            <a:ext cx="6378120" cy="500400"/>
          </a:xfrm>
          <a:prstGeom prst="rect">
            <a:avLst/>
          </a:prstGeom>
          <a:noFill/>
          <a:ln w="0">
            <a:noFill/>
          </a:ln>
        </p:spPr>
        <p:style>
          <a:lnRef idx="0"/>
          <a:fillRef idx="0"/>
          <a:effectRef idx="0"/>
          <a:fontRef idx="minor"/>
        </p:style>
        <p:txBody>
          <a:bodyPr lIns="0" rIns="0" tIns="0" bIns="0" anchor="t">
            <a:noAutofit/>
          </a:bodyPr>
          <a:p>
            <a:pPr defTabSz="914400">
              <a:lnSpc>
                <a:spcPts val="1451"/>
              </a:lnSpc>
              <a:tabLst>
                <a:tab algn="l" pos="0"/>
              </a:tabLst>
            </a:pPr>
            <a:r>
              <a:rPr b="0" lang="en-US" sz="1150" spc="-1" strike="noStrike">
                <a:solidFill>
                  <a:srgbClr val="e2e6e9"/>
                </a:solidFill>
                <a:latin typeface="Source Sans 3"/>
                <a:ea typeface="Source Sans 3"/>
              </a:rPr>
              <a:t>Traktor istehsalçısı, SI-dəstəkli əkinçilik analitikası platformasına çevrildi. Məhsul → Xidmət modeli transformasiyası.</a:t>
            </a:r>
            <a:endParaRPr b="0" lang="en-US" sz="1150" spc="-1" strike="noStrike">
              <a:solidFill>
                <a:srgbClr val="000000"/>
              </a:solidFill>
              <a:latin typeface="Arial"/>
            </a:endParaRPr>
          </a:p>
        </p:txBody>
      </p:sp>
      <p:sp>
        <p:nvSpPr>
          <p:cNvPr id="247" name="Shape 29"/>
          <p:cNvSpPr/>
          <p:nvPr/>
        </p:nvSpPr>
        <p:spPr>
          <a:xfrm>
            <a:off x="7590960" y="5301720"/>
            <a:ext cx="6877080" cy="1355040"/>
          </a:xfrm>
          <a:prstGeom prst="roundRect">
            <a:avLst>
              <a:gd name="adj" fmla="val 7214"/>
            </a:avLst>
          </a:prstGeom>
          <a:solidFill>
            <a:srgbClr val="111213"/>
          </a:solidFill>
          <a:ln w="15240">
            <a:solidFill>
              <a:srgbClr val="494a4b"/>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48" name="Shape 30"/>
          <p:cNvSpPr/>
          <p:nvPr/>
        </p:nvSpPr>
        <p:spPr>
          <a:xfrm>
            <a:off x="7570800" y="5301720"/>
            <a:ext cx="81000" cy="1355040"/>
          </a:xfrm>
          <a:prstGeom prst="roundRect">
            <a:avLst>
              <a:gd name="adj" fmla="val 36488"/>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49" name="Text 31"/>
          <p:cNvSpPr/>
          <p:nvPr/>
        </p:nvSpPr>
        <p:spPr>
          <a:xfrm>
            <a:off x="7871400" y="5520240"/>
            <a:ext cx="3632760" cy="280800"/>
          </a:xfrm>
          <a:prstGeom prst="rect">
            <a:avLst/>
          </a:prstGeom>
          <a:noFill/>
          <a:ln w="0">
            <a:noFill/>
          </a:ln>
        </p:spPr>
        <p:style>
          <a:lnRef idx="0"/>
          <a:fillRef idx="0"/>
          <a:effectRef idx="0"/>
          <a:fontRef idx="minor"/>
        </p:style>
        <p:txBody>
          <a:bodyPr wrap="none" lIns="0" rIns="0" tIns="0" bIns="0" anchor="t">
            <a:noAutofit/>
          </a:bodyPr>
          <a:p>
            <a:pPr defTabSz="914400">
              <a:lnSpc>
                <a:spcPts val="1650"/>
              </a:lnSpc>
              <a:tabLst>
                <a:tab algn="l" pos="0"/>
              </a:tabLst>
            </a:pPr>
            <a:r>
              <a:rPr b="1" lang="en-US" sz="1300" spc="-1" strike="noStrike">
                <a:solidFill>
                  <a:srgbClr val="e2e6e9"/>
                </a:solidFill>
                <a:latin typeface="Montserrat Bold"/>
                <a:ea typeface="Montserrat Bold"/>
              </a:rPr>
              <a:t>Rolls-Royce: Satışdan Abunəyə</a:t>
            </a:r>
            <a:endParaRPr b="0" lang="en-US" sz="1300" spc="-1" strike="noStrike">
              <a:solidFill>
                <a:srgbClr val="000000"/>
              </a:solidFill>
              <a:latin typeface="Arial"/>
            </a:endParaRPr>
          </a:p>
        </p:txBody>
      </p:sp>
      <p:sp>
        <p:nvSpPr>
          <p:cNvPr id="250" name="Text 32"/>
          <p:cNvSpPr/>
          <p:nvPr/>
        </p:nvSpPr>
        <p:spPr>
          <a:xfrm>
            <a:off x="7871400" y="5937480"/>
            <a:ext cx="6378120" cy="500400"/>
          </a:xfrm>
          <a:prstGeom prst="rect">
            <a:avLst/>
          </a:prstGeom>
          <a:noFill/>
          <a:ln w="0">
            <a:noFill/>
          </a:ln>
        </p:spPr>
        <p:style>
          <a:lnRef idx="0"/>
          <a:fillRef idx="0"/>
          <a:effectRef idx="0"/>
          <a:fontRef idx="minor"/>
        </p:style>
        <p:txBody>
          <a:bodyPr lIns="0" rIns="0" tIns="0" bIns="0" anchor="t">
            <a:noAutofit/>
          </a:bodyPr>
          <a:p>
            <a:pPr defTabSz="914400">
              <a:lnSpc>
                <a:spcPts val="1451"/>
              </a:lnSpc>
              <a:tabLst>
                <a:tab algn="l" pos="0"/>
              </a:tabLst>
            </a:pPr>
            <a:r>
              <a:rPr b="0" lang="en-US" sz="1150" spc="-1" strike="noStrike">
                <a:solidFill>
                  <a:srgbClr val="e2e6e9"/>
                </a:solidFill>
                <a:latin typeface="Source Sans 3"/>
                <a:ea typeface="Source Sans 3"/>
              </a:rPr>
              <a:t>"Power by the Hour" — mühərrik satmır, uçuş saatı satır. Prediktiv SI texniki qüsurları öncədən aşkar edir.</a:t>
            </a:r>
            <a:endParaRPr b="0" lang="en-US" sz="1150" spc="-1" strike="noStrike">
              <a:solidFill>
                <a:srgbClr val="000000"/>
              </a:solidFill>
              <a:latin typeface="Arial"/>
            </a:endParaRPr>
          </a:p>
        </p:txBody>
      </p:sp>
      <p:sp>
        <p:nvSpPr>
          <p:cNvPr id="251" name="Shape 33"/>
          <p:cNvSpPr/>
          <p:nvPr/>
        </p:nvSpPr>
        <p:spPr>
          <a:xfrm>
            <a:off x="7590960" y="6810480"/>
            <a:ext cx="6877080" cy="1157760"/>
          </a:xfrm>
          <a:prstGeom prst="roundRect">
            <a:avLst>
              <a:gd name="adj" fmla="val 2567"/>
            </a:avLst>
          </a:prstGeom>
          <a:solidFill>
            <a:srgbClr val="262626"/>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252" name="Image 0" descr="preencoded.png"/>
          <p:cNvPicPr/>
          <p:nvPr/>
        </p:nvPicPr>
        <p:blipFill>
          <a:blip r:embed="rId1"/>
          <a:stretch/>
        </p:blipFill>
        <p:spPr>
          <a:xfrm>
            <a:off x="7789680" y="7067880"/>
            <a:ext cx="247320" cy="197280"/>
          </a:xfrm>
          <a:prstGeom prst="rect">
            <a:avLst/>
          </a:prstGeom>
          <a:ln w="0">
            <a:noFill/>
          </a:ln>
        </p:spPr>
      </p:pic>
      <p:sp>
        <p:nvSpPr>
          <p:cNvPr id="253" name="Text 34"/>
          <p:cNvSpPr/>
          <p:nvPr/>
        </p:nvSpPr>
        <p:spPr>
          <a:xfrm>
            <a:off x="8236440" y="6995880"/>
            <a:ext cx="6033240" cy="750960"/>
          </a:xfrm>
          <a:prstGeom prst="rect">
            <a:avLst/>
          </a:prstGeom>
          <a:noFill/>
          <a:ln w="0">
            <a:noFill/>
          </a:ln>
        </p:spPr>
        <p:style>
          <a:lnRef idx="0"/>
          <a:fillRef idx="0"/>
          <a:effectRef idx="0"/>
          <a:fontRef idx="minor"/>
        </p:style>
        <p:txBody>
          <a:bodyPr lIns="0" rIns="0" tIns="0" bIns="0" anchor="t">
            <a:noAutofit/>
          </a:bodyPr>
          <a:p>
            <a:pPr defTabSz="914400">
              <a:lnSpc>
                <a:spcPts val="1451"/>
              </a:lnSpc>
              <a:tabLst>
                <a:tab algn="l" pos="0"/>
              </a:tabLst>
            </a:pPr>
            <a:r>
              <a:rPr b="0" lang="en-US" sz="1150" spc="-1" strike="noStrike">
                <a:solidFill>
                  <a:srgbClr val="000000"/>
                </a:solidFill>
                <a:latin typeface="Source Sans 3"/>
                <a:ea typeface="Source Sans 3"/>
              </a:rPr>
              <a:t>⚡</a:t>
            </a:r>
            <a:r>
              <a:rPr b="0" lang="en-US" sz="1150" spc="-1" strike="noStrike">
                <a:solidFill>
                  <a:srgbClr val="ffffff"/>
                </a:solidFill>
                <a:latin typeface="Source Sans 3"/>
                <a:ea typeface="Source Sans 3"/>
              </a:rPr>
              <a:t> </a:t>
            </a:r>
            <a:r>
              <a:rPr b="1" lang="en-US" sz="1150" spc="-1" strike="noStrike">
                <a:solidFill>
                  <a:srgbClr val="ffffff"/>
                </a:solidFill>
                <a:latin typeface="Source Sans 3"/>
                <a:ea typeface="Source Sans 3"/>
              </a:rPr>
              <a:t>Əsas Fikir:</a:t>
            </a:r>
            <a:r>
              <a:rPr b="0" lang="en-US" sz="1150" spc="-1" strike="noStrike">
                <a:solidFill>
                  <a:srgbClr val="ffffff"/>
                </a:solidFill>
                <a:latin typeface="Source Sans 3"/>
                <a:ea typeface="Source Sans 3"/>
              </a:rPr>
              <a:t> SI innovasiyası məhsul xüsusiyyəti deyil, strateji transformasiya vasitəsidir. Uğurlu şirkətlər onu insan kapitalı kimi idarə edir.</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54" name="Group 26"/>
          <p:cNvGrpSpPr/>
          <p:nvPr/>
        </p:nvGrpSpPr>
        <p:grpSpPr>
          <a:xfrm>
            <a:off x="228600" y="228600"/>
            <a:ext cx="14078160" cy="7698960"/>
            <a:chOff x="228600" y="228600"/>
            <a:chExt cx="14078160" cy="7698960"/>
          </a:xfrm>
        </p:grpSpPr>
        <p:sp>
          <p:nvSpPr>
            <p:cNvPr id="255" name="Text 0"/>
            <p:cNvSpPr/>
            <p:nvPr/>
          </p:nvSpPr>
          <p:spPr>
            <a:xfrm>
              <a:off x="228600" y="228600"/>
              <a:ext cx="5681520" cy="496080"/>
            </a:xfrm>
            <a:prstGeom prst="rect">
              <a:avLst/>
            </a:prstGeom>
            <a:noFill/>
            <a:ln w="0">
              <a:noFill/>
            </a:ln>
          </p:spPr>
          <p:style>
            <a:lnRef idx="0"/>
            <a:fillRef idx="0"/>
            <a:effectRef idx="0"/>
            <a:fontRef idx="minor"/>
          </p:style>
          <p:txBody>
            <a:bodyPr wrap="none" lIns="0" rIns="0" tIns="0" bIns="0" anchor="t">
              <a:noAutofit/>
            </a:bodyPr>
            <a:p>
              <a:pPr defTabSz="914400">
                <a:lnSpc>
                  <a:spcPts val="2951"/>
                </a:lnSpc>
                <a:tabLst>
                  <a:tab algn="l" pos="0"/>
                </a:tabLst>
              </a:pPr>
              <a:r>
                <a:rPr b="1" lang="en-US" sz="2350" spc="-1" strike="noStrike">
                  <a:solidFill>
                    <a:srgbClr val="ffffff"/>
                  </a:solidFill>
                  <a:latin typeface="Montserrat Bold"/>
                  <a:ea typeface="Montserrat Bold"/>
                </a:rPr>
                <a:t>Risklər və Etik Məsələlər</a:t>
              </a:r>
              <a:endParaRPr b="0" lang="en-US" sz="2350" spc="-1" strike="noStrike">
                <a:solidFill>
                  <a:srgbClr val="000000"/>
                </a:solidFill>
                <a:latin typeface="Arial"/>
              </a:endParaRPr>
            </a:p>
          </p:txBody>
        </p:sp>
        <p:sp>
          <p:nvSpPr>
            <p:cNvPr id="256" name="Text 1"/>
            <p:cNvSpPr/>
            <p:nvPr/>
          </p:nvSpPr>
          <p:spPr>
            <a:xfrm>
              <a:off x="228600" y="939240"/>
              <a:ext cx="14067360" cy="421920"/>
            </a:xfrm>
            <a:prstGeom prst="rect">
              <a:avLst/>
            </a:prstGeom>
            <a:noFill/>
            <a:ln w="0">
              <a:noFill/>
            </a:ln>
          </p:spPr>
          <p:style>
            <a:lnRef idx="0"/>
            <a:fillRef idx="0"/>
            <a:effectRef idx="0"/>
            <a:fontRef idx="minor"/>
          </p:style>
          <p:txBody>
            <a:bodyPr lIns="0" rIns="0" tIns="0" bIns="0" anchor="t">
              <a:noAutofit/>
            </a:bodyPr>
            <a:p>
              <a:pPr defTabSz="914400">
                <a:lnSpc>
                  <a:spcPts val="1250"/>
                </a:lnSpc>
                <a:tabLst>
                  <a:tab algn="l" pos="0"/>
                </a:tabLst>
              </a:pPr>
              <a:r>
                <a:rPr b="0" lang="en-US" sz="1400" spc="-1" strike="noStrike">
                  <a:solidFill>
                    <a:srgbClr val="e2e6e9"/>
                  </a:solidFill>
                  <a:latin typeface="Source Sans 3"/>
                  <a:ea typeface="Source Sans 3"/>
                </a:rPr>
                <a:t>SI əsaslı innovasiya güclü imkanlar yaratdığı kimi, yeni növ risklər də gətirir. Bu risklər yalnız texniki deyil, hüquqi, sosial və etik xarakter daşıyır. Cavabdeh innovasiya üçün bu məsələlər strateji prioritet olmalıdır.</a:t>
              </a:r>
              <a:endParaRPr b="0" lang="en-US" sz="1400" spc="-1" strike="noStrike">
                <a:solidFill>
                  <a:srgbClr val="000000"/>
                </a:solidFill>
                <a:latin typeface="Arial"/>
              </a:endParaRPr>
            </a:p>
          </p:txBody>
        </p:sp>
        <p:sp>
          <p:nvSpPr>
            <p:cNvPr id="257" name="Shape 2"/>
            <p:cNvSpPr/>
            <p:nvPr/>
          </p:nvSpPr>
          <p:spPr>
            <a:xfrm>
              <a:off x="228600" y="1482120"/>
              <a:ext cx="4608720" cy="3194640"/>
            </a:xfrm>
            <a:prstGeom prst="roundRect">
              <a:avLst>
                <a:gd name="adj" fmla="val 821"/>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58" name="Shape 3"/>
            <p:cNvSpPr/>
            <p:nvPr/>
          </p:nvSpPr>
          <p:spPr>
            <a:xfrm>
              <a:off x="424440" y="1656720"/>
              <a:ext cx="588240" cy="523800"/>
            </a:xfrm>
            <a:prstGeom prst="roundRect">
              <a:avLst>
                <a:gd name="adj" fmla="val 23074615"/>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259" name="Image 0" descr="preencoded.png"/>
            <p:cNvPicPr/>
            <p:nvPr/>
          </p:nvPicPr>
          <p:blipFill>
            <a:blip r:embed="rId1">
              <a:extLst>
                <a:ext uri="{96DAC541-7B7A-43D3-8B79-37D633B846F1}">
                  <asvg:svgBlip xmlns:asvg="http://schemas.microsoft.com/office/drawing/2016/SVG/main" r:embed="rId2"/>
                </a:ext>
              </a:extLst>
            </a:blip>
            <a:stretch/>
          </p:blipFill>
          <p:spPr>
            <a:xfrm>
              <a:off x="586440" y="1801080"/>
              <a:ext cx="263880" cy="235080"/>
            </a:xfrm>
            <a:prstGeom prst="rect">
              <a:avLst/>
            </a:prstGeom>
            <a:ln w="0">
              <a:noFill/>
            </a:ln>
          </p:spPr>
        </p:pic>
        <p:sp>
          <p:nvSpPr>
            <p:cNvPr id="260" name="Text 4"/>
            <p:cNvSpPr/>
            <p:nvPr/>
          </p:nvSpPr>
          <p:spPr>
            <a:xfrm>
              <a:off x="424440" y="2288520"/>
              <a:ext cx="2229480" cy="247680"/>
            </a:xfrm>
            <a:prstGeom prst="rect">
              <a:avLst/>
            </a:prstGeom>
            <a:noFill/>
            <a:ln w="0">
              <a:noFill/>
            </a:ln>
          </p:spPr>
          <p:style>
            <a:lnRef idx="0"/>
            <a:fillRef idx="0"/>
            <a:effectRef idx="0"/>
            <a:fontRef idx="minor"/>
          </p:style>
          <p:txBody>
            <a:bodyPr wrap="none" lIns="0" rIns="0" tIns="0" bIns="0" anchor="t">
              <a:noAutofit/>
            </a:bodyPr>
            <a:p>
              <a:pPr defTabSz="914400">
                <a:lnSpc>
                  <a:spcPts val="1451"/>
                </a:lnSpc>
                <a:tabLst>
                  <a:tab algn="l" pos="0"/>
                </a:tabLst>
              </a:pPr>
              <a:r>
                <a:rPr b="1" lang="en-US" sz="1150" spc="-1" strike="noStrike">
                  <a:solidFill>
                    <a:srgbClr val="e2e6e9"/>
                  </a:solidFill>
                  <a:latin typeface="Montserrat Bold"/>
                  <a:ea typeface="Montserrat Bold"/>
                </a:rPr>
                <a:t>Əqli Mülkiyyət</a:t>
              </a:r>
              <a:endParaRPr b="0" lang="en-US" sz="1150" spc="-1" strike="noStrike">
                <a:solidFill>
                  <a:srgbClr val="000000"/>
                </a:solidFill>
                <a:latin typeface="Arial"/>
              </a:endParaRPr>
            </a:p>
          </p:txBody>
        </p:sp>
        <p:sp>
          <p:nvSpPr>
            <p:cNvPr id="261" name="Text 5"/>
            <p:cNvSpPr/>
            <p:nvPr/>
          </p:nvSpPr>
          <p:spPr>
            <a:xfrm>
              <a:off x="424440" y="2601000"/>
              <a:ext cx="4216680" cy="1267200"/>
            </a:xfrm>
            <a:prstGeom prst="rect">
              <a:avLst/>
            </a:prstGeom>
            <a:noFill/>
            <a:ln w="0">
              <a:noFill/>
            </a:ln>
          </p:spPr>
          <p:style>
            <a:lnRef idx="0"/>
            <a:fillRef idx="0"/>
            <a:effectRef idx="0"/>
            <a:fontRef idx="minor"/>
          </p:style>
          <p:txBody>
            <a:bodyPr lIns="0" rIns="0" tIns="0" bIns="0" anchor="t">
              <a:noAutofit/>
            </a:bodyPr>
            <a:p>
              <a:pPr defTabSz="914400">
                <a:lnSpc>
                  <a:spcPts val="1250"/>
                </a:lnSpc>
                <a:tabLst>
                  <a:tab algn="l" pos="0"/>
                </a:tabLst>
              </a:pPr>
              <a:r>
                <a:rPr b="0" lang="en-US" sz="1000" spc="-1" strike="noStrike">
                  <a:solidFill>
                    <a:srgbClr val="e2e6e9"/>
                  </a:solidFill>
                  <a:latin typeface="Source Sans 3"/>
                  <a:ea typeface="Source Sans 3"/>
                </a:rPr>
                <a:t>Generativ SI tərəfindən yaradılan məhsul dizaynları, mətnlər və kodun müəlliflik hüququ qeyri-müəyyən olaraq qalır. SI-nin yaratdığı ixtiralar patent ala bilərmi? Hazırda hüquq sistemləri bu suala vahid cavab vermir. Şirkətlər SI-istehsallı məzmun üçün aydın daxili siyasət müəyyənləşdirməlidir.</a:t>
              </a:r>
              <a:endParaRPr b="0" lang="en-US" sz="1000" spc="-1" strike="noStrike">
                <a:solidFill>
                  <a:srgbClr val="000000"/>
                </a:solidFill>
                <a:latin typeface="Arial"/>
              </a:endParaRPr>
            </a:p>
          </p:txBody>
        </p:sp>
        <p:sp>
          <p:nvSpPr>
            <p:cNvPr id="262" name="Shape 6"/>
            <p:cNvSpPr/>
            <p:nvPr/>
          </p:nvSpPr>
          <p:spPr>
            <a:xfrm>
              <a:off x="4957920" y="1482120"/>
              <a:ext cx="4608720" cy="3194640"/>
            </a:xfrm>
            <a:prstGeom prst="roundRect">
              <a:avLst>
                <a:gd name="adj" fmla="val 821"/>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63" name="Shape 7"/>
            <p:cNvSpPr/>
            <p:nvPr/>
          </p:nvSpPr>
          <p:spPr>
            <a:xfrm>
              <a:off x="5153760" y="1656720"/>
              <a:ext cx="588240" cy="523800"/>
            </a:xfrm>
            <a:prstGeom prst="roundRect">
              <a:avLst>
                <a:gd name="adj" fmla="val 23074615"/>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264" name="Image 1" descr="preencoded.png"/>
            <p:cNvPicPr/>
            <p:nvPr/>
          </p:nvPicPr>
          <p:blipFill>
            <a:blip r:embed="rId3">
              <a:extLst>
                <a:ext uri="{96DAC541-7B7A-43D3-8B79-37D633B846F1}">
                  <asvg:svgBlip xmlns:asvg="http://schemas.microsoft.com/office/drawing/2016/SVG/main" r:embed="rId4"/>
                </a:ext>
              </a:extLst>
            </a:blip>
            <a:stretch/>
          </p:blipFill>
          <p:spPr>
            <a:xfrm>
              <a:off x="5315760" y="1801080"/>
              <a:ext cx="263880" cy="235080"/>
            </a:xfrm>
            <a:prstGeom prst="rect">
              <a:avLst/>
            </a:prstGeom>
            <a:ln w="0">
              <a:noFill/>
            </a:ln>
          </p:spPr>
        </p:pic>
        <p:sp>
          <p:nvSpPr>
            <p:cNvPr id="265" name="Text 8"/>
            <p:cNvSpPr/>
            <p:nvPr/>
          </p:nvSpPr>
          <p:spPr>
            <a:xfrm>
              <a:off x="5153760" y="2288520"/>
              <a:ext cx="2919600" cy="247680"/>
            </a:xfrm>
            <a:prstGeom prst="rect">
              <a:avLst/>
            </a:prstGeom>
            <a:noFill/>
            <a:ln w="0">
              <a:noFill/>
            </a:ln>
          </p:spPr>
          <p:style>
            <a:lnRef idx="0"/>
            <a:fillRef idx="0"/>
            <a:effectRef idx="0"/>
            <a:fontRef idx="minor"/>
          </p:style>
          <p:txBody>
            <a:bodyPr wrap="none" lIns="0" rIns="0" tIns="0" bIns="0" anchor="t">
              <a:noAutofit/>
            </a:bodyPr>
            <a:p>
              <a:pPr defTabSz="914400">
                <a:lnSpc>
                  <a:spcPts val="1451"/>
                </a:lnSpc>
                <a:tabLst>
                  <a:tab algn="l" pos="0"/>
                </a:tabLst>
              </a:pPr>
              <a:r>
                <a:rPr b="1" lang="en-US" sz="1150" spc="-1" strike="noStrike">
                  <a:solidFill>
                    <a:srgbClr val="e2e6e9"/>
                  </a:solidFill>
                  <a:latin typeface="Montserrat Bold"/>
                  <a:ea typeface="Montserrat Bold"/>
                </a:rPr>
                <a:t>Məlumatların Qorunması</a:t>
              </a:r>
              <a:endParaRPr b="0" lang="en-US" sz="1150" spc="-1" strike="noStrike">
                <a:solidFill>
                  <a:srgbClr val="000000"/>
                </a:solidFill>
                <a:latin typeface="Arial"/>
              </a:endParaRPr>
            </a:p>
          </p:txBody>
        </p:sp>
        <p:sp>
          <p:nvSpPr>
            <p:cNvPr id="266" name="Text 9"/>
            <p:cNvSpPr/>
            <p:nvPr/>
          </p:nvSpPr>
          <p:spPr>
            <a:xfrm>
              <a:off x="5153760" y="2601000"/>
              <a:ext cx="4216680" cy="1900800"/>
            </a:xfrm>
            <a:prstGeom prst="rect">
              <a:avLst/>
            </a:prstGeom>
            <a:noFill/>
            <a:ln w="0">
              <a:noFill/>
            </a:ln>
          </p:spPr>
          <p:style>
            <a:lnRef idx="0"/>
            <a:fillRef idx="0"/>
            <a:effectRef idx="0"/>
            <a:fontRef idx="minor"/>
          </p:style>
          <p:txBody>
            <a:bodyPr lIns="0" rIns="0" tIns="0" bIns="0" anchor="t">
              <a:noAutofit/>
            </a:bodyPr>
            <a:p>
              <a:pPr defTabSz="914400">
                <a:lnSpc>
                  <a:spcPts val="1250"/>
                </a:lnSpc>
                <a:tabLst>
                  <a:tab algn="l" pos="0"/>
                </a:tabLst>
              </a:pPr>
              <a:r>
                <a:rPr b="0" lang="en-US" sz="1000" spc="-1" strike="noStrike">
                  <a:solidFill>
                    <a:srgbClr val="e2e6e9"/>
                  </a:solidFill>
                  <a:latin typeface="Source Sans 3"/>
                  <a:ea typeface="Source Sans 3"/>
                </a:rPr>
                <a:t>SI modelləri böyük həcmdə müştəri və bazar məlumatına əsaslanır. GDPR (Avropa), KVKK (Türkiyə) və digər məlumat qorunması qanunvericiliyinə uyğunluq tələb olunur. İstifadəçilərin razılığı olmadan məlumatların yığılması, modelin öyrədilməsindən istifadəsi hüquqi risk yaradır. "Privacy by design" yanaşması — innovasiya prosesinin əvvəlindən məxfiliyə əməl etmək vacibdir.</a:t>
              </a:r>
              <a:endParaRPr b="0" lang="en-US" sz="1000" spc="-1" strike="noStrike">
                <a:solidFill>
                  <a:srgbClr val="000000"/>
                </a:solidFill>
                <a:latin typeface="Arial"/>
              </a:endParaRPr>
            </a:p>
          </p:txBody>
        </p:sp>
        <p:sp>
          <p:nvSpPr>
            <p:cNvPr id="267" name="Shape 10"/>
            <p:cNvSpPr/>
            <p:nvPr/>
          </p:nvSpPr>
          <p:spPr>
            <a:xfrm>
              <a:off x="9687240" y="1482120"/>
              <a:ext cx="4608720" cy="3194640"/>
            </a:xfrm>
            <a:prstGeom prst="roundRect">
              <a:avLst>
                <a:gd name="adj" fmla="val 821"/>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68" name="Shape 11"/>
            <p:cNvSpPr/>
            <p:nvPr/>
          </p:nvSpPr>
          <p:spPr>
            <a:xfrm>
              <a:off x="9883440" y="1656720"/>
              <a:ext cx="588240" cy="523800"/>
            </a:xfrm>
            <a:prstGeom prst="roundRect">
              <a:avLst>
                <a:gd name="adj" fmla="val 23074615"/>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269" name="Image 2" descr="preencoded.png"/>
            <p:cNvPicPr/>
            <p:nvPr/>
          </p:nvPicPr>
          <p:blipFill>
            <a:blip r:embed="rId5">
              <a:extLst>
                <a:ext uri="{96DAC541-7B7A-43D3-8B79-37D633B846F1}">
                  <asvg:svgBlip xmlns:asvg="http://schemas.microsoft.com/office/drawing/2016/SVG/main" r:embed="rId6"/>
                </a:ext>
              </a:extLst>
            </a:blip>
            <a:stretch/>
          </p:blipFill>
          <p:spPr>
            <a:xfrm>
              <a:off x="10045080" y="1801080"/>
              <a:ext cx="263880" cy="235080"/>
            </a:xfrm>
            <a:prstGeom prst="rect">
              <a:avLst/>
            </a:prstGeom>
            <a:ln w="0">
              <a:noFill/>
            </a:ln>
          </p:spPr>
        </p:pic>
        <p:sp>
          <p:nvSpPr>
            <p:cNvPr id="270" name="Text 12"/>
            <p:cNvSpPr/>
            <p:nvPr/>
          </p:nvSpPr>
          <p:spPr>
            <a:xfrm>
              <a:off x="9883440" y="2288520"/>
              <a:ext cx="2229480" cy="247680"/>
            </a:xfrm>
            <a:prstGeom prst="rect">
              <a:avLst/>
            </a:prstGeom>
            <a:noFill/>
            <a:ln w="0">
              <a:noFill/>
            </a:ln>
          </p:spPr>
          <p:style>
            <a:lnRef idx="0"/>
            <a:fillRef idx="0"/>
            <a:effectRef idx="0"/>
            <a:fontRef idx="minor"/>
          </p:style>
          <p:txBody>
            <a:bodyPr wrap="none" lIns="0" rIns="0" tIns="0" bIns="0" anchor="t">
              <a:noAutofit/>
            </a:bodyPr>
            <a:p>
              <a:pPr defTabSz="914400">
                <a:lnSpc>
                  <a:spcPts val="1451"/>
                </a:lnSpc>
                <a:tabLst>
                  <a:tab algn="l" pos="0"/>
                </a:tabLst>
              </a:pPr>
              <a:r>
                <a:rPr b="1" lang="en-US" sz="1150" spc="-1" strike="noStrike">
                  <a:solidFill>
                    <a:srgbClr val="e2e6e9"/>
                  </a:solidFill>
                  <a:latin typeface="Montserrat Bold"/>
                  <a:ea typeface="Montserrat Bold"/>
                </a:rPr>
                <a:t>Alqoritmik Qərəz</a:t>
              </a:r>
              <a:endParaRPr b="0" lang="en-US" sz="1150" spc="-1" strike="noStrike">
                <a:solidFill>
                  <a:srgbClr val="000000"/>
                </a:solidFill>
                <a:latin typeface="Arial"/>
              </a:endParaRPr>
            </a:p>
          </p:txBody>
        </p:sp>
        <p:sp>
          <p:nvSpPr>
            <p:cNvPr id="271" name="Text 13"/>
            <p:cNvSpPr/>
            <p:nvPr/>
          </p:nvSpPr>
          <p:spPr>
            <a:xfrm>
              <a:off x="9883440" y="2601000"/>
              <a:ext cx="4216680" cy="1267200"/>
            </a:xfrm>
            <a:prstGeom prst="rect">
              <a:avLst/>
            </a:prstGeom>
            <a:noFill/>
            <a:ln w="0">
              <a:noFill/>
            </a:ln>
          </p:spPr>
          <p:style>
            <a:lnRef idx="0"/>
            <a:fillRef idx="0"/>
            <a:effectRef idx="0"/>
            <a:fontRef idx="minor"/>
          </p:style>
          <p:txBody>
            <a:bodyPr lIns="0" rIns="0" tIns="0" bIns="0" anchor="t">
              <a:noAutofit/>
            </a:bodyPr>
            <a:p>
              <a:pPr defTabSz="914400">
                <a:lnSpc>
                  <a:spcPts val="1250"/>
                </a:lnSpc>
                <a:tabLst>
                  <a:tab algn="l" pos="0"/>
                </a:tabLst>
              </a:pPr>
              <a:r>
                <a:rPr b="0" lang="en-US" sz="1000" spc="-1" strike="noStrike">
                  <a:solidFill>
                    <a:srgbClr val="e2e6e9"/>
                  </a:solidFill>
                  <a:latin typeface="Source Sans 3"/>
                  <a:ea typeface="Source Sans 3"/>
                </a:rPr>
                <a:t>SI modellər tarixçi məlumatlarla öyrənilir. Əgər həmin məlumatlar əvvəlki ayrı-seçkilik naxışlarını əks etdirirsə, model bu qərəzi gücləndirir. İşə qəbul SI-ləri qadın namizədlərə, kredit modellər müəyyən etnik qruplara qarşı ayrı-seçkilik edə bilir. Bu, həm etik, həm də hüquqi məsuliyyət riski deməkdir.</a:t>
              </a:r>
              <a:endParaRPr b="0" lang="en-US" sz="1000" spc="-1" strike="noStrike">
                <a:solidFill>
                  <a:srgbClr val="000000"/>
                </a:solidFill>
                <a:latin typeface="Arial"/>
              </a:endParaRPr>
            </a:p>
          </p:txBody>
        </p:sp>
        <p:sp>
          <p:nvSpPr>
            <p:cNvPr id="272" name="Text 14"/>
            <p:cNvSpPr/>
            <p:nvPr/>
          </p:nvSpPr>
          <p:spPr>
            <a:xfrm>
              <a:off x="228600" y="4904640"/>
              <a:ext cx="3577680" cy="247680"/>
            </a:xfrm>
            <a:prstGeom prst="rect">
              <a:avLst/>
            </a:prstGeom>
            <a:noFill/>
            <a:ln w="0">
              <a:noFill/>
            </a:ln>
          </p:spPr>
          <p:style>
            <a:lnRef idx="0"/>
            <a:fillRef idx="0"/>
            <a:effectRef idx="0"/>
            <a:fontRef idx="minor"/>
          </p:style>
          <p:txBody>
            <a:bodyPr wrap="none" lIns="0" rIns="0" tIns="0" bIns="0" anchor="t">
              <a:noAutofit/>
            </a:bodyPr>
            <a:p>
              <a:pPr defTabSz="914400">
                <a:lnSpc>
                  <a:spcPts val="1451"/>
                </a:lnSpc>
                <a:tabLst>
                  <a:tab algn="l" pos="0"/>
                </a:tabLst>
              </a:pPr>
              <a:r>
                <a:rPr b="1" lang="en-US" sz="1150" spc="-1" strike="noStrike">
                  <a:solidFill>
                    <a:srgbClr val="ffffff"/>
                  </a:solidFill>
                  <a:latin typeface="Montserrat Bold"/>
                  <a:ea typeface="Montserrat Bold"/>
                </a:rPr>
                <a:t>Cavabdeh İnnovasiya Çərçivəsi</a:t>
              </a:r>
              <a:endParaRPr b="0" lang="en-US" sz="1150" spc="-1" strike="noStrike">
                <a:solidFill>
                  <a:srgbClr val="000000"/>
                </a:solidFill>
                <a:latin typeface="Arial"/>
              </a:endParaRPr>
            </a:p>
          </p:txBody>
        </p:sp>
        <p:sp>
          <p:nvSpPr>
            <p:cNvPr id="273" name="Text 15"/>
            <p:cNvSpPr/>
            <p:nvPr/>
          </p:nvSpPr>
          <p:spPr>
            <a:xfrm>
              <a:off x="228600" y="5259600"/>
              <a:ext cx="9654120" cy="1118520"/>
            </a:xfrm>
            <a:prstGeom prst="rect">
              <a:avLst/>
            </a:prstGeom>
            <a:noFill/>
            <a:ln w="0">
              <a:noFill/>
            </a:ln>
          </p:spPr>
          <p:style>
            <a:lnRef idx="0"/>
            <a:fillRef idx="0"/>
            <a:effectRef idx="0"/>
            <a:fontRef idx="minor"/>
          </p:style>
          <p:txBody>
            <a:bodyPr lIns="0" rIns="0" tIns="0" bIns="0" anchor="t">
              <a:noAutofit/>
            </a:bodyPr>
            <a:p>
              <a:pPr defTabSz="914400">
                <a:lnSpc>
                  <a:spcPts val="1250"/>
                </a:lnSpc>
                <a:tabLst>
                  <a:tab algn="l" pos="0"/>
                </a:tabLst>
              </a:pPr>
              <a:r>
                <a:rPr b="0" lang="en-US" sz="1400" spc="-1" strike="noStrike">
                  <a:solidFill>
                    <a:srgbClr val="e2e6e9"/>
                  </a:solidFill>
                  <a:latin typeface="Source Sans 3"/>
                  <a:ea typeface="Source Sans 3"/>
                </a:rPr>
                <a:t>Avropa İttifaqının "AI Act" (2024) qanunu SI sistemlərini risk səviyyəsinə görə sinfə ayırır: </a:t>
              </a:r>
              <a:r>
                <a:rPr b="1" lang="en-US" sz="1400" spc="-1" strike="noStrike">
                  <a:solidFill>
                    <a:srgbClr val="e2e6e9"/>
                  </a:solidFill>
                  <a:latin typeface="Source Sans 3"/>
                  <a:ea typeface="Source Sans 3"/>
                </a:rPr>
                <a:t>Qəbuledilməz risk</a:t>
              </a:r>
              <a:r>
                <a:rPr b="0" lang="en-US" sz="1400" spc="-1" strike="noStrike">
                  <a:solidFill>
                    <a:srgbClr val="e2e6e9"/>
                  </a:solidFill>
                  <a:latin typeface="Source Sans 3"/>
                  <a:ea typeface="Source Sans 3"/>
                </a:rPr>
                <a:t> (qadağan), </a:t>
              </a:r>
              <a:r>
                <a:rPr b="1" lang="en-US" sz="1400" spc="-1" strike="noStrike">
                  <a:solidFill>
                    <a:srgbClr val="e2e6e9"/>
                  </a:solidFill>
                  <a:latin typeface="Source Sans 3"/>
                  <a:ea typeface="Source Sans 3"/>
                </a:rPr>
                <a:t>Yüksək risk</a:t>
              </a:r>
              <a:r>
                <a:rPr b="0" lang="en-US" sz="1400" spc="-1" strike="noStrike">
                  <a:solidFill>
                    <a:srgbClr val="e2e6e9"/>
                  </a:solidFill>
                  <a:latin typeface="Source Sans 3"/>
                  <a:ea typeface="Source Sans 3"/>
                </a:rPr>
                <a:t> (ciddi tənzimləmə), </a:t>
              </a:r>
              <a:r>
                <a:rPr b="1" lang="en-US" sz="1400" spc="-1" strike="noStrike">
                  <a:solidFill>
                    <a:srgbClr val="e2e6e9"/>
                  </a:solidFill>
                  <a:latin typeface="Source Sans 3"/>
                  <a:ea typeface="Source Sans 3"/>
                </a:rPr>
                <a:t>Məhdud risk</a:t>
              </a:r>
              <a:r>
                <a:rPr b="0" lang="en-US" sz="1400" spc="-1" strike="noStrike">
                  <a:solidFill>
                    <a:srgbClr val="e2e6e9"/>
                  </a:solidFill>
                  <a:latin typeface="Source Sans 3"/>
                  <a:ea typeface="Source Sans 3"/>
                </a:rPr>
                <a:t> (şəffaflıq öhdəliyi), </a:t>
              </a:r>
              <a:r>
                <a:rPr b="1" lang="en-US" sz="1400" spc="-1" strike="noStrike">
                  <a:solidFill>
                    <a:srgbClr val="e2e6e9"/>
                  </a:solidFill>
                  <a:latin typeface="Source Sans 3"/>
                  <a:ea typeface="Source Sans 3"/>
                </a:rPr>
                <a:t>Minimal risk</a:t>
              </a:r>
              <a:r>
                <a:rPr b="0" lang="en-US" sz="1400" spc="-1" strike="noStrike">
                  <a:solidFill>
                    <a:srgbClr val="e2e6e9"/>
                  </a:solidFill>
                  <a:latin typeface="Source Sans 3"/>
                  <a:ea typeface="Source Sans 3"/>
                </a:rPr>
                <a:t> (azad istifadə). İnnovasiyaçılar bu çərçivəni layihə planlamasına inteqrasiya etməlidir.</a:t>
              </a:r>
              <a:endParaRPr b="0" lang="en-US" sz="1400" spc="-1" strike="noStrike">
                <a:solidFill>
                  <a:srgbClr val="000000"/>
                </a:solidFill>
                <a:latin typeface="Arial"/>
              </a:endParaRPr>
            </a:p>
          </p:txBody>
        </p:sp>
        <p:sp>
          <p:nvSpPr>
            <p:cNvPr id="274" name="Text 16"/>
            <p:cNvSpPr/>
            <p:nvPr/>
          </p:nvSpPr>
          <p:spPr>
            <a:xfrm>
              <a:off x="8967600" y="5005080"/>
              <a:ext cx="5339160" cy="576000"/>
            </a:xfrm>
            <a:prstGeom prst="rect">
              <a:avLst/>
            </a:prstGeom>
            <a:noFill/>
            <a:ln w="0">
              <a:noFill/>
            </a:ln>
          </p:spPr>
          <p:style>
            <a:lnRef idx="0"/>
            <a:fillRef idx="0"/>
            <a:effectRef idx="0"/>
            <a:fontRef idx="minor"/>
          </p:style>
          <p:txBody>
            <a:bodyPr wrap="none" lIns="0" rIns="0" tIns="0" bIns="0" anchor="t">
              <a:noAutofit/>
            </a:bodyPr>
            <a:p>
              <a:pPr algn="ctr" defTabSz="914400">
                <a:lnSpc>
                  <a:spcPts val="3399"/>
                </a:lnSpc>
                <a:tabLst>
                  <a:tab algn="l" pos="0"/>
                </a:tabLst>
              </a:pPr>
              <a:r>
                <a:rPr b="1" lang="en-US" sz="3400" spc="-1" strike="noStrike">
                  <a:solidFill>
                    <a:srgbClr val="e2e6e9"/>
                  </a:solidFill>
                  <a:latin typeface="Montserrat Bold"/>
                  <a:ea typeface="Montserrat Bold"/>
                </a:rPr>
                <a:t>78%</a:t>
              </a:r>
              <a:endParaRPr b="0" lang="en-US" sz="3400" spc="-1" strike="noStrike">
                <a:solidFill>
                  <a:srgbClr val="000000"/>
                </a:solidFill>
                <a:latin typeface="Arial"/>
              </a:endParaRPr>
            </a:p>
          </p:txBody>
        </p:sp>
        <p:sp>
          <p:nvSpPr>
            <p:cNvPr id="275" name="Text 17"/>
            <p:cNvSpPr/>
            <p:nvPr/>
          </p:nvSpPr>
          <p:spPr>
            <a:xfrm>
              <a:off x="10503360" y="5749560"/>
              <a:ext cx="2268000" cy="247680"/>
            </a:xfrm>
            <a:prstGeom prst="rect">
              <a:avLst/>
            </a:prstGeom>
            <a:noFill/>
            <a:ln w="0">
              <a:noFill/>
            </a:ln>
          </p:spPr>
          <p:style>
            <a:lnRef idx="0"/>
            <a:fillRef idx="0"/>
            <a:effectRef idx="0"/>
            <a:fontRef idx="minor"/>
          </p:style>
          <p:txBody>
            <a:bodyPr wrap="none" lIns="0" rIns="0" tIns="0" bIns="0" anchor="t">
              <a:noAutofit/>
            </a:bodyPr>
            <a:p>
              <a:pPr algn="ctr" defTabSz="914400">
                <a:lnSpc>
                  <a:spcPts val="1451"/>
                </a:lnSpc>
                <a:tabLst>
                  <a:tab algn="l" pos="0"/>
                </a:tabLst>
              </a:pPr>
              <a:r>
                <a:rPr b="1" lang="en-US" sz="1150" spc="-1" strike="noStrike">
                  <a:solidFill>
                    <a:srgbClr val="e2e6e9"/>
                  </a:solidFill>
                  <a:latin typeface="Montserrat Bold"/>
                  <a:ea typeface="Montserrat Bold"/>
                </a:rPr>
                <a:t>Şirkətlər narahatdır</a:t>
              </a:r>
              <a:endParaRPr b="0" lang="en-US" sz="1150" spc="-1" strike="noStrike">
                <a:solidFill>
                  <a:srgbClr val="000000"/>
                </a:solidFill>
                <a:latin typeface="Arial"/>
              </a:endParaRPr>
            </a:p>
          </p:txBody>
        </p:sp>
        <p:sp>
          <p:nvSpPr>
            <p:cNvPr id="276" name="Text 18"/>
            <p:cNvSpPr/>
            <p:nvPr/>
          </p:nvSpPr>
          <p:spPr>
            <a:xfrm>
              <a:off x="8967600" y="6105240"/>
              <a:ext cx="5339160" cy="210240"/>
            </a:xfrm>
            <a:prstGeom prst="rect">
              <a:avLst/>
            </a:prstGeom>
            <a:noFill/>
            <a:ln w="0">
              <a:noFill/>
            </a:ln>
          </p:spPr>
          <p:style>
            <a:lnRef idx="0"/>
            <a:fillRef idx="0"/>
            <a:effectRef idx="0"/>
            <a:fontRef idx="minor"/>
          </p:style>
          <p:txBody>
            <a:bodyPr wrap="none" lIns="0" rIns="0" tIns="0" bIns="0" anchor="t">
              <a:noAutofit/>
            </a:bodyPr>
            <a:p>
              <a:pPr algn="ctr" defTabSz="914400">
                <a:lnSpc>
                  <a:spcPts val="1250"/>
                </a:lnSpc>
                <a:tabLst>
                  <a:tab algn="l" pos="0"/>
                </a:tabLst>
              </a:pPr>
              <a:r>
                <a:rPr b="0" lang="en-US" sz="1000" spc="-1" strike="noStrike">
                  <a:solidFill>
                    <a:srgbClr val="e2e6e9"/>
                  </a:solidFill>
                  <a:latin typeface="Source Sans 3"/>
                  <a:ea typeface="Source Sans 3"/>
                </a:rPr>
                <a:t>SI etik riskləri barədə</a:t>
              </a:r>
              <a:endParaRPr b="0" lang="en-US" sz="1000" spc="-1" strike="noStrike">
                <a:solidFill>
                  <a:srgbClr val="000000"/>
                </a:solidFill>
                <a:latin typeface="Arial"/>
              </a:endParaRPr>
            </a:p>
          </p:txBody>
        </p:sp>
        <p:sp>
          <p:nvSpPr>
            <p:cNvPr id="277" name="Text 19"/>
            <p:cNvSpPr/>
            <p:nvPr/>
          </p:nvSpPr>
          <p:spPr>
            <a:xfrm>
              <a:off x="8967600" y="6617520"/>
              <a:ext cx="5339160" cy="576000"/>
            </a:xfrm>
            <a:prstGeom prst="rect">
              <a:avLst/>
            </a:prstGeom>
            <a:noFill/>
            <a:ln w="0">
              <a:noFill/>
            </a:ln>
          </p:spPr>
          <p:style>
            <a:lnRef idx="0"/>
            <a:fillRef idx="0"/>
            <a:effectRef idx="0"/>
            <a:fontRef idx="minor"/>
          </p:style>
          <p:txBody>
            <a:bodyPr wrap="none" lIns="0" rIns="0" tIns="0" bIns="0" anchor="t">
              <a:noAutofit/>
            </a:bodyPr>
            <a:p>
              <a:pPr algn="ctr" defTabSz="914400">
                <a:lnSpc>
                  <a:spcPts val="3399"/>
                </a:lnSpc>
                <a:tabLst>
                  <a:tab algn="l" pos="0"/>
                </a:tabLst>
              </a:pPr>
              <a:r>
                <a:rPr b="1" lang="en-US" sz="3400" spc="-1" strike="noStrike">
                  <a:solidFill>
                    <a:srgbClr val="e2e6e9"/>
                  </a:solidFill>
                  <a:latin typeface="Montserrat Bold"/>
                  <a:ea typeface="Montserrat Bold"/>
                </a:rPr>
                <a:t>34%</a:t>
              </a:r>
              <a:endParaRPr b="0" lang="en-US" sz="3400" spc="-1" strike="noStrike">
                <a:solidFill>
                  <a:srgbClr val="000000"/>
                </a:solidFill>
                <a:latin typeface="Arial"/>
              </a:endParaRPr>
            </a:p>
          </p:txBody>
        </p:sp>
        <p:sp>
          <p:nvSpPr>
            <p:cNvPr id="278" name="Text 20"/>
            <p:cNvSpPr/>
            <p:nvPr/>
          </p:nvSpPr>
          <p:spPr>
            <a:xfrm>
              <a:off x="10515600" y="7361640"/>
              <a:ext cx="2243160" cy="247680"/>
            </a:xfrm>
            <a:prstGeom prst="rect">
              <a:avLst/>
            </a:prstGeom>
            <a:noFill/>
            <a:ln w="0">
              <a:noFill/>
            </a:ln>
          </p:spPr>
          <p:style>
            <a:lnRef idx="0"/>
            <a:fillRef idx="0"/>
            <a:effectRef idx="0"/>
            <a:fontRef idx="minor"/>
          </p:style>
          <p:txBody>
            <a:bodyPr wrap="none" lIns="0" rIns="0" tIns="0" bIns="0" anchor="t">
              <a:noAutofit/>
            </a:bodyPr>
            <a:p>
              <a:pPr algn="ctr" defTabSz="914400">
                <a:lnSpc>
                  <a:spcPts val="1451"/>
                </a:lnSpc>
                <a:tabLst>
                  <a:tab algn="l" pos="0"/>
                </a:tabLst>
              </a:pPr>
              <a:r>
                <a:rPr b="1" lang="en-US" sz="1150" spc="-1" strike="noStrike">
                  <a:solidFill>
                    <a:srgbClr val="e2e6e9"/>
                  </a:solidFill>
                  <a:latin typeface="Montserrat Bold"/>
                  <a:ea typeface="Montserrat Bold"/>
                </a:rPr>
                <a:t>Siyasət mövcuddur</a:t>
              </a:r>
              <a:endParaRPr b="0" lang="en-US" sz="1150" spc="-1" strike="noStrike">
                <a:solidFill>
                  <a:srgbClr val="000000"/>
                </a:solidFill>
                <a:latin typeface="Arial"/>
              </a:endParaRPr>
            </a:p>
          </p:txBody>
        </p:sp>
        <p:sp>
          <p:nvSpPr>
            <p:cNvPr id="279" name="Text 21"/>
            <p:cNvSpPr/>
            <p:nvPr/>
          </p:nvSpPr>
          <p:spPr>
            <a:xfrm>
              <a:off x="8967600" y="7716960"/>
              <a:ext cx="5339160" cy="210600"/>
            </a:xfrm>
            <a:prstGeom prst="rect">
              <a:avLst/>
            </a:prstGeom>
            <a:noFill/>
            <a:ln w="0">
              <a:noFill/>
            </a:ln>
          </p:spPr>
          <p:style>
            <a:lnRef idx="0"/>
            <a:fillRef idx="0"/>
            <a:effectRef idx="0"/>
            <a:fontRef idx="minor"/>
          </p:style>
          <p:txBody>
            <a:bodyPr wrap="none" lIns="0" rIns="0" tIns="0" bIns="0" anchor="t">
              <a:noAutofit/>
            </a:bodyPr>
            <a:p>
              <a:pPr algn="ctr" defTabSz="914400">
                <a:lnSpc>
                  <a:spcPts val="1250"/>
                </a:lnSpc>
                <a:tabLst>
                  <a:tab algn="l" pos="0"/>
                </a:tabLst>
              </a:pPr>
              <a:r>
                <a:rPr b="0" lang="en-US" sz="1000" spc="-1" strike="noStrike">
                  <a:solidFill>
                    <a:srgbClr val="e2e6e9"/>
                  </a:solidFill>
                  <a:latin typeface="Source Sans 3"/>
                  <a:ea typeface="Source Sans 3"/>
                </a:rPr>
                <a:t>Rəsmi SI etika siyasəti olan şirkətlər</a:t>
              </a:r>
              <a:endParaRPr b="0" lang="en-US" sz="10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80" name="Group 44"/>
          <p:cNvGrpSpPr/>
          <p:nvPr/>
        </p:nvGrpSpPr>
        <p:grpSpPr>
          <a:xfrm>
            <a:off x="376200" y="387360"/>
            <a:ext cx="13920120" cy="7615440"/>
            <a:chOff x="376200" y="387360"/>
            <a:chExt cx="13920120" cy="7615440"/>
          </a:xfrm>
        </p:grpSpPr>
        <p:sp>
          <p:nvSpPr>
            <p:cNvPr id="281" name="Text 0"/>
            <p:cNvSpPr/>
            <p:nvPr/>
          </p:nvSpPr>
          <p:spPr>
            <a:xfrm>
              <a:off x="376200" y="387360"/>
              <a:ext cx="4408560" cy="473400"/>
            </a:xfrm>
            <a:prstGeom prst="rect">
              <a:avLst/>
            </a:prstGeom>
            <a:noFill/>
            <a:ln w="0">
              <a:noFill/>
            </a:ln>
          </p:spPr>
          <p:style>
            <a:lnRef idx="0"/>
            <a:fillRef idx="0"/>
            <a:effectRef idx="0"/>
            <a:fontRef idx="minor"/>
          </p:style>
          <p:txBody>
            <a:bodyPr wrap="none" lIns="0" rIns="0" tIns="0" bIns="0" anchor="t">
              <a:noAutofit/>
            </a:bodyPr>
            <a:p>
              <a:pPr defTabSz="914400">
                <a:lnSpc>
                  <a:spcPts val="2650"/>
                </a:lnSpc>
                <a:tabLst>
                  <a:tab algn="l" pos="0"/>
                </a:tabLst>
              </a:pPr>
              <a:r>
                <a:rPr b="1" lang="en-US" sz="2150" spc="-1" strike="noStrike">
                  <a:solidFill>
                    <a:srgbClr val="ffffff"/>
                  </a:solidFill>
                  <a:latin typeface="Montserrat Bold"/>
                  <a:ea typeface="Montserrat Bold"/>
                </a:rPr>
                <a:t>Ev Tapşırığı</a:t>
              </a:r>
              <a:endParaRPr b="0" lang="en-US" sz="2150" spc="-1" strike="noStrike">
                <a:solidFill>
                  <a:srgbClr val="000000"/>
                </a:solidFill>
                <a:latin typeface="Arial"/>
              </a:endParaRPr>
            </a:p>
          </p:txBody>
        </p:sp>
        <p:sp>
          <p:nvSpPr>
            <p:cNvPr id="282" name="Text 1"/>
            <p:cNvSpPr/>
            <p:nvPr/>
          </p:nvSpPr>
          <p:spPr>
            <a:xfrm>
              <a:off x="376200" y="1047600"/>
              <a:ext cx="13907880" cy="194040"/>
            </a:xfrm>
            <a:prstGeom prst="rect">
              <a:avLst/>
            </a:prstGeom>
            <a:noFill/>
            <a:ln w="0">
              <a:noFill/>
            </a:ln>
          </p:spPr>
          <p:style>
            <a:lnRef idx="0"/>
            <a:fillRef idx="0"/>
            <a:effectRef idx="0"/>
            <a:fontRef idx="minor"/>
          </p:style>
          <p:txBody>
            <a:bodyPr wrap="none" lIns="0" rIns="0" tIns="0" bIns="0" anchor="t">
              <a:noAutofit/>
            </a:bodyPr>
            <a:p>
              <a:pPr defTabSz="914400">
                <a:lnSpc>
                  <a:spcPts val="1100"/>
                </a:lnSpc>
                <a:tabLst>
                  <a:tab algn="l" pos="0"/>
                </a:tabLst>
              </a:pPr>
              <a:r>
                <a:rPr b="0" lang="en-US" sz="1400" spc="-1" strike="noStrike">
                  <a:solidFill>
                    <a:srgbClr val="e2e6e9"/>
                  </a:solidFill>
                  <a:latin typeface="Source Sans 3"/>
                  <a:ea typeface="Source Sans 3"/>
                </a:rPr>
                <a:t>Bu həftəki tapşırıq nəzəriyyəni praktikaya tətbiq etmək üçün əla bir fürsətdir. SI alətlərindən yaradıcı şəkildə istifadə edin — ancaq analitik düşüncənizi ön plana qoyun.</a:t>
              </a:r>
              <a:endParaRPr b="0" lang="en-US" sz="1400" spc="-1" strike="noStrike">
                <a:solidFill>
                  <a:srgbClr val="000000"/>
                </a:solidFill>
                <a:latin typeface="Arial"/>
              </a:endParaRPr>
            </a:p>
          </p:txBody>
        </p:sp>
        <p:sp>
          <p:nvSpPr>
            <p:cNvPr id="283" name="Shape 2"/>
            <p:cNvSpPr/>
            <p:nvPr/>
          </p:nvSpPr>
          <p:spPr>
            <a:xfrm>
              <a:off x="376200" y="1597680"/>
              <a:ext cx="4563360" cy="1871640"/>
            </a:xfrm>
            <a:prstGeom prst="roundRect">
              <a:avLst>
                <a:gd name="adj" fmla="val 5409"/>
              </a:avLst>
            </a:prstGeom>
            <a:solidFill>
              <a:srgbClr val="111213"/>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84" name="Shape 3"/>
            <p:cNvSpPr/>
            <p:nvPr/>
          </p:nvSpPr>
          <p:spPr>
            <a:xfrm>
              <a:off x="376200" y="1576440"/>
              <a:ext cx="4563360" cy="83520"/>
            </a:xfrm>
            <a:prstGeom prst="roundRect">
              <a:avLst>
                <a:gd name="adj" fmla="val 29662"/>
              </a:avLst>
            </a:prstGeom>
            <a:solidFill>
              <a:srgbClr val="ffffff"/>
            </a:solidFill>
            <a:ln w="0">
              <a:noFill/>
            </a:ln>
          </p:spPr>
          <p:style>
            <a:lnRef idx="0"/>
            <a:fillRef idx="0"/>
            <a:effectRef idx="0"/>
            <a:fontRef idx="minor"/>
          </p:style>
          <p:txBody>
            <a:bodyPr lIns="90000" rIns="90000" tIns="24480" bIns="24480" anchor="t">
              <a:noAutofit/>
            </a:bodyPr>
            <a:p>
              <a:pPr defTabSz="914400">
                <a:lnSpc>
                  <a:spcPct val="100000"/>
                </a:lnSpc>
              </a:pPr>
              <a:endParaRPr b="0" lang="en-US" sz="1800" spc="-1" strike="noStrike">
                <a:solidFill>
                  <a:schemeClr val="dk1"/>
                </a:solidFill>
                <a:latin typeface="Calibri"/>
              </a:endParaRPr>
            </a:p>
          </p:txBody>
        </p:sp>
        <p:sp>
          <p:nvSpPr>
            <p:cNvPr id="285" name="Shape 4"/>
            <p:cNvSpPr/>
            <p:nvPr/>
          </p:nvSpPr>
          <p:spPr>
            <a:xfrm>
              <a:off x="2367360" y="1347120"/>
              <a:ext cx="581400" cy="500040"/>
            </a:xfrm>
            <a:prstGeom prst="roundRect">
              <a:avLst>
                <a:gd name="adj" fmla="val 252881"/>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86" name="Text 5"/>
            <p:cNvSpPr/>
            <p:nvPr/>
          </p:nvSpPr>
          <p:spPr>
            <a:xfrm>
              <a:off x="2541960" y="1472400"/>
              <a:ext cx="231840" cy="24948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1" lang="en-US" sz="1100" spc="-1" strike="noStrike">
                  <a:solidFill>
                    <a:srgbClr val="000000"/>
                  </a:solidFill>
                  <a:latin typeface="Montserrat Bold"/>
                  <a:ea typeface="Montserrat Bold"/>
                </a:rPr>
                <a:t>1</a:t>
              </a:r>
              <a:endParaRPr b="0" lang="en-US" sz="1100" spc="-1" strike="noStrike">
                <a:solidFill>
                  <a:srgbClr val="000000"/>
                </a:solidFill>
                <a:latin typeface="Arial"/>
              </a:endParaRPr>
            </a:p>
          </p:txBody>
        </p:sp>
        <p:sp>
          <p:nvSpPr>
            <p:cNvPr id="287" name="Text 6"/>
            <p:cNvSpPr/>
            <p:nvPr/>
          </p:nvSpPr>
          <p:spPr>
            <a:xfrm>
              <a:off x="594720" y="2014920"/>
              <a:ext cx="3471480" cy="23652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1" lang="en-US" sz="1050" spc="-1" strike="noStrike">
                  <a:solidFill>
                    <a:srgbClr val="e2e6e9"/>
                  </a:solidFill>
                  <a:latin typeface="Montserrat Bold"/>
                  <a:ea typeface="Montserrat Bold"/>
                </a:rPr>
                <a:t>Yeni Məhsul İdeyası Hazırlayın</a:t>
              </a:r>
              <a:endParaRPr b="0" lang="en-US" sz="1050" spc="-1" strike="noStrike">
                <a:solidFill>
                  <a:srgbClr val="000000"/>
                </a:solidFill>
                <a:latin typeface="Arial"/>
              </a:endParaRPr>
            </a:p>
          </p:txBody>
        </p:sp>
        <p:sp>
          <p:nvSpPr>
            <p:cNvPr id="288" name="Text 7"/>
            <p:cNvSpPr/>
            <p:nvPr/>
          </p:nvSpPr>
          <p:spPr>
            <a:xfrm>
              <a:off x="594720" y="2307960"/>
              <a:ext cx="4126320" cy="973800"/>
            </a:xfrm>
            <a:prstGeom prst="rect">
              <a:avLst/>
            </a:prstGeom>
            <a:noFill/>
            <a:ln w="0">
              <a:noFill/>
            </a:ln>
          </p:spPr>
          <p:style>
            <a:lnRef idx="0"/>
            <a:fillRef idx="0"/>
            <a:effectRef idx="0"/>
            <a:fontRef idx="minor"/>
          </p:style>
          <p:txBody>
            <a:bodyPr lIns="0" rIns="0" tIns="0" bIns="0" anchor="t">
              <a:noAutofit/>
            </a:bodyPr>
            <a:p>
              <a:pPr defTabSz="914400">
                <a:lnSpc>
                  <a:spcPts val="1100"/>
                </a:lnSpc>
                <a:tabLst>
                  <a:tab algn="l" pos="0"/>
                </a:tabLst>
              </a:pPr>
              <a:r>
                <a:rPr b="0" lang="en-US" sz="900" spc="-1" strike="noStrike">
                  <a:solidFill>
                    <a:srgbClr val="e2e6e9"/>
                  </a:solidFill>
                  <a:latin typeface="Source Sans 3"/>
                  <a:ea typeface="Source Sans 3"/>
                </a:rPr>
                <a:t>ChatGPT, Claude və ya digər generativ SI alətindən istifadə edərək real bir bazar probleminə həll kimi yeni məhsul və ya xidmət ideyası təklif edin. İdeyanız mövcud bir problemə əsaslanmalı, hədəf bazarı müəyyən edilmiş olmalıdır.</a:t>
              </a:r>
              <a:endParaRPr b="0" lang="en-US" sz="900" spc="-1" strike="noStrike">
                <a:solidFill>
                  <a:srgbClr val="000000"/>
                </a:solidFill>
                <a:latin typeface="Arial"/>
              </a:endParaRPr>
            </a:p>
          </p:txBody>
        </p:sp>
        <p:sp>
          <p:nvSpPr>
            <p:cNvPr id="289" name="Shape 8"/>
            <p:cNvSpPr/>
            <p:nvPr/>
          </p:nvSpPr>
          <p:spPr>
            <a:xfrm>
              <a:off x="5048640" y="1597680"/>
              <a:ext cx="4563360" cy="1871640"/>
            </a:xfrm>
            <a:prstGeom prst="roundRect">
              <a:avLst>
                <a:gd name="adj" fmla="val 5409"/>
              </a:avLst>
            </a:prstGeom>
            <a:solidFill>
              <a:srgbClr val="111213"/>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90" name="Shape 9"/>
            <p:cNvSpPr/>
            <p:nvPr/>
          </p:nvSpPr>
          <p:spPr>
            <a:xfrm>
              <a:off x="5048640" y="1576440"/>
              <a:ext cx="4563360" cy="83520"/>
            </a:xfrm>
            <a:prstGeom prst="roundRect">
              <a:avLst>
                <a:gd name="adj" fmla="val 29662"/>
              </a:avLst>
            </a:prstGeom>
            <a:solidFill>
              <a:srgbClr val="ffffff"/>
            </a:solidFill>
            <a:ln w="0">
              <a:noFill/>
            </a:ln>
          </p:spPr>
          <p:style>
            <a:lnRef idx="0"/>
            <a:fillRef idx="0"/>
            <a:effectRef idx="0"/>
            <a:fontRef idx="minor"/>
          </p:style>
          <p:txBody>
            <a:bodyPr lIns="90000" rIns="90000" tIns="24480" bIns="24480" anchor="t">
              <a:noAutofit/>
            </a:bodyPr>
            <a:p>
              <a:pPr defTabSz="914400">
                <a:lnSpc>
                  <a:spcPct val="100000"/>
                </a:lnSpc>
              </a:pPr>
              <a:endParaRPr b="0" lang="en-US" sz="1800" spc="-1" strike="noStrike">
                <a:solidFill>
                  <a:schemeClr val="dk1"/>
                </a:solidFill>
                <a:latin typeface="Calibri"/>
              </a:endParaRPr>
            </a:p>
          </p:txBody>
        </p:sp>
        <p:sp>
          <p:nvSpPr>
            <p:cNvPr id="291" name="Shape 10"/>
            <p:cNvSpPr/>
            <p:nvPr/>
          </p:nvSpPr>
          <p:spPr>
            <a:xfrm>
              <a:off x="7039440" y="1347120"/>
              <a:ext cx="581400" cy="500040"/>
            </a:xfrm>
            <a:prstGeom prst="roundRect">
              <a:avLst>
                <a:gd name="adj" fmla="val 252881"/>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92" name="Text 11"/>
            <p:cNvSpPr/>
            <p:nvPr/>
          </p:nvSpPr>
          <p:spPr>
            <a:xfrm>
              <a:off x="7214040" y="1472400"/>
              <a:ext cx="231840" cy="24948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1" lang="en-US" sz="1100" spc="-1" strike="noStrike">
                  <a:solidFill>
                    <a:srgbClr val="000000"/>
                  </a:solidFill>
                  <a:latin typeface="Montserrat Bold"/>
                  <a:ea typeface="Montserrat Bold"/>
                </a:rPr>
                <a:t>2</a:t>
              </a:r>
              <a:endParaRPr b="0" lang="en-US" sz="1100" spc="-1" strike="noStrike">
                <a:solidFill>
                  <a:srgbClr val="000000"/>
                </a:solidFill>
                <a:latin typeface="Arial"/>
              </a:endParaRPr>
            </a:p>
          </p:txBody>
        </p:sp>
        <p:sp>
          <p:nvSpPr>
            <p:cNvPr id="293" name="Text 12"/>
            <p:cNvSpPr/>
            <p:nvPr/>
          </p:nvSpPr>
          <p:spPr>
            <a:xfrm>
              <a:off x="5267160" y="2014920"/>
              <a:ext cx="3695040" cy="23652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1" lang="en-US" sz="1050" spc="-1" strike="noStrike">
                  <a:solidFill>
                    <a:srgbClr val="e2e6e9"/>
                  </a:solidFill>
                  <a:latin typeface="Montserrat Bold"/>
                  <a:ea typeface="Montserrat Bold"/>
                </a:rPr>
                <a:t>İnnovasiya Növünü Əsaslandırın</a:t>
              </a:r>
              <a:endParaRPr b="0" lang="en-US" sz="1050" spc="-1" strike="noStrike">
                <a:solidFill>
                  <a:srgbClr val="000000"/>
                </a:solidFill>
                <a:latin typeface="Arial"/>
              </a:endParaRPr>
            </a:p>
          </p:txBody>
        </p:sp>
        <p:sp>
          <p:nvSpPr>
            <p:cNvPr id="294" name="Text 13"/>
            <p:cNvSpPr/>
            <p:nvPr/>
          </p:nvSpPr>
          <p:spPr>
            <a:xfrm>
              <a:off x="5267160" y="2307960"/>
              <a:ext cx="4126320" cy="778680"/>
            </a:xfrm>
            <a:prstGeom prst="rect">
              <a:avLst/>
            </a:prstGeom>
            <a:noFill/>
            <a:ln w="0">
              <a:noFill/>
            </a:ln>
          </p:spPr>
          <p:style>
            <a:lnRef idx="0"/>
            <a:fillRef idx="0"/>
            <a:effectRef idx="0"/>
            <a:fontRef idx="minor"/>
          </p:style>
          <p:txBody>
            <a:bodyPr lIns="0" rIns="0" tIns="0" bIns="0" anchor="t">
              <a:noAutofit/>
            </a:bodyPr>
            <a:p>
              <a:pPr defTabSz="914400">
                <a:lnSpc>
                  <a:spcPts val="1100"/>
                </a:lnSpc>
                <a:tabLst>
                  <a:tab algn="l" pos="0"/>
                </a:tabLst>
              </a:pPr>
              <a:r>
                <a:rPr b="0" lang="en-US" sz="900" spc="-1" strike="noStrike">
                  <a:solidFill>
                    <a:srgbClr val="e2e6e9"/>
                  </a:solidFill>
                  <a:latin typeface="Source Sans 3"/>
                  <a:ea typeface="Source Sans 3"/>
                </a:rPr>
                <a:t>İdeyanızın inkremental, radikal yoxsa disruptiv innovasiya olduğunu dərsdə öyrəndiyimiz kriteriyalara əsaslanaraq izah edin. Bu seçimi dəstəkləmək üçün konkret arqumentlər gətirin.</a:t>
              </a:r>
              <a:endParaRPr b="0" lang="en-US" sz="900" spc="-1" strike="noStrike">
                <a:solidFill>
                  <a:srgbClr val="000000"/>
                </a:solidFill>
                <a:latin typeface="Arial"/>
              </a:endParaRPr>
            </a:p>
          </p:txBody>
        </p:sp>
        <p:sp>
          <p:nvSpPr>
            <p:cNvPr id="295" name="Shape 14"/>
            <p:cNvSpPr/>
            <p:nvPr/>
          </p:nvSpPr>
          <p:spPr>
            <a:xfrm>
              <a:off x="9720720" y="1597680"/>
              <a:ext cx="4563360" cy="1871640"/>
            </a:xfrm>
            <a:prstGeom prst="roundRect">
              <a:avLst>
                <a:gd name="adj" fmla="val 5409"/>
              </a:avLst>
            </a:prstGeom>
            <a:solidFill>
              <a:srgbClr val="111213"/>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96" name="Shape 15"/>
            <p:cNvSpPr/>
            <p:nvPr/>
          </p:nvSpPr>
          <p:spPr>
            <a:xfrm>
              <a:off x="9720720" y="1576440"/>
              <a:ext cx="4563360" cy="83520"/>
            </a:xfrm>
            <a:prstGeom prst="roundRect">
              <a:avLst>
                <a:gd name="adj" fmla="val 29662"/>
              </a:avLst>
            </a:prstGeom>
            <a:solidFill>
              <a:srgbClr val="ffffff"/>
            </a:solidFill>
            <a:ln w="0">
              <a:noFill/>
            </a:ln>
          </p:spPr>
          <p:style>
            <a:lnRef idx="0"/>
            <a:fillRef idx="0"/>
            <a:effectRef idx="0"/>
            <a:fontRef idx="minor"/>
          </p:style>
          <p:txBody>
            <a:bodyPr lIns="90000" rIns="90000" tIns="24480" bIns="24480" anchor="t">
              <a:noAutofit/>
            </a:bodyPr>
            <a:p>
              <a:pPr defTabSz="914400">
                <a:lnSpc>
                  <a:spcPct val="100000"/>
                </a:lnSpc>
              </a:pPr>
              <a:endParaRPr b="0" lang="en-US" sz="1800" spc="-1" strike="noStrike">
                <a:solidFill>
                  <a:schemeClr val="dk1"/>
                </a:solidFill>
                <a:latin typeface="Calibri"/>
              </a:endParaRPr>
            </a:p>
          </p:txBody>
        </p:sp>
        <p:sp>
          <p:nvSpPr>
            <p:cNvPr id="297" name="Shape 16"/>
            <p:cNvSpPr/>
            <p:nvPr/>
          </p:nvSpPr>
          <p:spPr>
            <a:xfrm>
              <a:off x="11711880" y="1347120"/>
              <a:ext cx="581400" cy="500040"/>
            </a:xfrm>
            <a:prstGeom prst="roundRect">
              <a:avLst>
                <a:gd name="adj" fmla="val 252881"/>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98" name="Text 17"/>
            <p:cNvSpPr/>
            <p:nvPr/>
          </p:nvSpPr>
          <p:spPr>
            <a:xfrm>
              <a:off x="11886480" y="1472400"/>
              <a:ext cx="231840" cy="24948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1" lang="en-US" sz="1100" spc="-1" strike="noStrike">
                  <a:solidFill>
                    <a:srgbClr val="000000"/>
                  </a:solidFill>
                  <a:latin typeface="Montserrat Bold"/>
                  <a:ea typeface="Montserrat Bold"/>
                </a:rPr>
                <a:t>3</a:t>
              </a:r>
              <a:endParaRPr b="0" lang="en-US" sz="1100" spc="-1" strike="noStrike">
                <a:solidFill>
                  <a:srgbClr val="000000"/>
                </a:solidFill>
                <a:latin typeface="Arial"/>
              </a:endParaRPr>
            </a:p>
          </p:txBody>
        </p:sp>
        <p:sp>
          <p:nvSpPr>
            <p:cNvPr id="299" name="Text 18"/>
            <p:cNvSpPr/>
            <p:nvPr/>
          </p:nvSpPr>
          <p:spPr>
            <a:xfrm>
              <a:off x="9939240" y="2014920"/>
              <a:ext cx="3180240" cy="23652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1" lang="en-US" sz="1050" spc="-1" strike="noStrike">
                  <a:solidFill>
                    <a:srgbClr val="e2e6e9"/>
                  </a:solidFill>
                  <a:latin typeface="Montserrat Bold"/>
                  <a:ea typeface="Montserrat Bold"/>
                </a:rPr>
                <a:t>SI İstifadəsini Sənədləşdirin</a:t>
              </a:r>
              <a:endParaRPr b="0" lang="en-US" sz="1050" spc="-1" strike="noStrike">
                <a:solidFill>
                  <a:srgbClr val="000000"/>
                </a:solidFill>
                <a:latin typeface="Arial"/>
              </a:endParaRPr>
            </a:p>
          </p:txBody>
        </p:sp>
        <p:sp>
          <p:nvSpPr>
            <p:cNvPr id="300" name="Text 19"/>
            <p:cNvSpPr/>
            <p:nvPr/>
          </p:nvSpPr>
          <p:spPr>
            <a:xfrm>
              <a:off x="9939240" y="2307960"/>
              <a:ext cx="4126320" cy="778680"/>
            </a:xfrm>
            <a:prstGeom prst="rect">
              <a:avLst/>
            </a:prstGeom>
            <a:noFill/>
            <a:ln w="0">
              <a:noFill/>
            </a:ln>
          </p:spPr>
          <p:style>
            <a:lnRef idx="0"/>
            <a:fillRef idx="0"/>
            <a:effectRef idx="0"/>
            <a:fontRef idx="minor"/>
          </p:style>
          <p:txBody>
            <a:bodyPr lIns="0" rIns="0" tIns="0" bIns="0" anchor="t">
              <a:noAutofit/>
            </a:bodyPr>
            <a:p>
              <a:pPr defTabSz="914400">
                <a:lnSpc>
                  <a:spcPts val="1100"/>
                </a:lnSpc>
                <a:tabLst>
                  <a:tab algn="l" pos="0"/>
                </a:tabLst>
              </a:pPr>
              <a:r>
                <a:rPr b="0" lang="en-US" sz="900" spc="-1" strike="noStrike">
                  <a:solidFill>
                    <a:srgbClr val="e2e6e9"/>
                  </a:solidFill>
                  <a:latin typeface="Source Sans 3"/>
                  <a:ea typeface="Source Sans 3"/>
                </a:rPr>
                <a:t>Hansı SI alətlərindən necə istifadə etdiyinizi qeyd edin. Ən az 3 SI tərəfindən generasiya edilmiş ideya variantını göstərin və niyə sonunda bu ideyayı seçdiyinizi izah edin.</a:t>
              </a:r>
              <a:endParaRPr b="0" lang="en-US" sz="900" spc="-1" strike="noStrike">
                <a:solidFill>
                  <a:srgbClr val="000000"/>
                </a:solidFill>
                <a:latin typeface="Arial"/>
              </a:endParaRPr>
            </a:p>
          </p:txBody>
        </p:sp>
        <p:sp>
          <p:nvSpPr>
            <p:cNvPr id="301" name="Shape 20"/>
            <p:cNvSpPr/>
            <p:nvPr/>
          </p:nvSpPr>
          <p:spPr>
            <a:xfrm>
              <a:off x="568440" y="3990600"/>
              <a:ext cx="6746040" cy="936360"/>
            </a:xfrm>
            <a:prstGeom prst="roundRect">
              <a:avLst>
                <a:gd name="adj" fmla="val 654"/>
              </a:avLst>
            </a:prstGeom>
            <a:solidFill>
              <a:srgbClr val="1d1f2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2200" spc="-1" strike="noStrike">
                <a:solidFill>
                  <a:schemeClr val="dk1"/>
                </a:solidFill>
                <a:latin typeface="Calibri"/>
              </a:endParaRPr>
            </a:p>
          </p:txBody>
        </p:sp>
        <p:sp>
          <p:nvSpPr>
            <p:cNvPr id="302" name="Text 21"/>
            <p:cNvSpPr/>
            <p:nvPr/>
          </p:nvSpPr>
          <p:spPr>
            <a:xfrm>
              <a:off x="568440" y="3681360"/>
              <a:ext cx="2442600" cy="23652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1" lang="en-US" sz="1050" spc="-1" strike="noStrike">
                  <a:solidFill>
                    <a:srgbClr val="000000"/>
                  </a:solidFill>
                  <a:latin typeface="Montserrat Bold"/>
                  <a:ea typeface="Montserrat Bold"/>
                </a:rPr>
                <a:t>📋</a:t>
              </a:r>
              <a:r>
                <a:rPr b="1" lang="en-US" sz="1050" spc="-1" strike="noStrike">
                  <a:solidFill>
                    <a:srgbClr val="ffffff"/>
                  </a:solidFill>
                  <a:latin typeface="Montserrat Bold"/>
                  <a:ea typeface="Montserrat Bold"/>
                </a:rPr>
                <a:t> </a:t>
              </a:r>
              <a:r>
                <a:rPr b="1" lang="en-US" sz="1050" spc="-1" strike="noStrike">
                  <a:solidFill>
                    <a:srgbClr val="ffffff"/>
                  </a:solidFill>
                  <a:latin typeface="Montserrat Bold"/>
                  <a:ea typeface="Montserrat Bold"/>
                </a:rPr>
                <a:t>Formatın Tələbləri</a:t>
              </a:r>
              <a:endParaRPr b="0" lang="en-US" sz="1050" spc="-1" strike="noStrike">
                <a:solidFill>
                  <a:srgbClr val="000000"/>
                </a:solidFill>
                <a:latin typeface="Arial"/>
              </a:endParaRPr>
            </a:p>
          </p:txBody>
        </p:sp>
        <p:sp>
          <p:nvSpPr>
            <p:cNvPr id="303" name="Text 22"/>
            <p:cNvSpPr/>
            <p:nvPr/>
          </p:nvSpPr>
          <p:spPr>
            <a:xfrm>
              <a:off x="643680" y="4135320"/>
              <a:ext cx="6608160" cy="1171440"/>
            </a:xfrm>
            <a:prstGeom prst="rect">
              <a:avLst/>
            </a:prstGeom>
            <a:noFill/>
            <a:ln w="0">
              <a:noFill/>
            </a:ln>
          </p:spPr>
          <p:style>
            <a:lnRef idx="0"/>
            <a:fillRef idx="0"/>
            <a:effectRef idx="0"/>
            <a:fontRef idx="minor"/>
          </p:style>
          <p:txBody>
            <a:bodyPr lIns="0" rIns="0" tIns="0" bIns="0" anchor="t">
              <a:noAutofit/>
            </a:bodyPr>
            <a:p>
              <a:pPr marL="343080" indent="-343080" defTabSz="914400">
                <a:lnSpc>
                  <a:spcPts val="1100"/>
                </a:lnSpc>
                <a:buClr>
                  <a:srgbClr val="e2e6e9"/>
                </a:buClr>
                <a:buFont typeface="Symbol" charset="2"/>
                <a:buChar char=""/>
              </a:pPr>
              <a:r>
                <a:rPr b="0" lang="en-US" sz="1200" spc="-1" strike="noStrike">
                  <a:solidFill>
                    <a:srgbClr val="e2e6e9"/>
                  </a:solidFill>
                  <a:latin typeface="Source Sans 3"/>
                  <a:ea typeface="Source Sans 3"/>
                </a:rPr>
                <a:t>Həcm: 500–700 söz (və ya 8–10 slayd)</a:t>
              </a:r>
              <a:endParaRPr b="0" lang="en-US" sz="1200" spc="-1" strike="noStrike">
                <a:solidFill>
                  <a:srgbClr val="000000"/>
                </a:solidFill>
                <a:latin typeface="Arial"/>
              </a:endParaRPr>
            </a:p>
            <a:p>
              <a:pPr marL="343080" indent="-343080" defTabSz="914400">
                <a:lnSpc>
                  <a:spcPts val="1100"/>
                </a:lnSpc>
                <a:buClr>
                  <a:srgbClr val="e2e6e9"/>
                </a:buClr>
                <a:buFont typeface="Symbol" charset="2"/>
                <a:buChar char=""/>
              </a:pPr>
              <a:r>
                <a:rPr b="0" lang="en-US" sz="1200" spc="-1" strike="noStrike">
                  <a:solidFill>
                    <a:srgbClr val="e2e6e9"/>
                  </a:solidFill>
                  <a:latin typeface="Source Sans 3"/>
                  <a:ea typeface="Source Sans 3"/>
                </a:rPr>
                <a:t>SI söhbət ekran görüntüsü əlavə edilsin</a:t>
              </a:r>
              <a:endParaRPr b="0" lang="en-US" sz="1200" spc="-1" strike="noStrike">
                <a:solidFill>
                  <a:srgbClr val="000000"/>
                </a:solidFill>
                <a:latin typeface="Arial"/>
              </a:endParaRPr>
            </a:p>
            <a:p>
              <a:pPr marL="343080" indent="-343080" defTabSz="914400">
                <a:lnSpc>
                  <a:spcPts val="1100"/>
                </a:lnSpc>
                <a:buClr>
                  <a:srgbClr val="e2e6e9"/>
                </a:buClr>
                <a:buFont typeface="Symbol" charset="2"/>
                <a:buChar char=""/>
              </a:pPr>
              <a:r>
                <a:rPr b="0" lang="en-US" sz="1200" spc="-1" strike="noStrike">
                  <a:solidFill>
                    <a:srgbClr val="e2e6e9"/>
                  </a:solidFill>
                  <a:latin typeface="Source Sans 3"/>
                  <a:ea typeface="Source Sans 3"/>
                </a:rPr>
                <a:t>Giriş, əsas hissə, nəticə strukturu saxlanılsın</a:t>
              </a:r>
              <a:endParaRPr b="0" lang="en-US" sz="1200" spc="-1" strike="noStrike">
                <a:solidFill>
                  <a:srgbClr val="000000"/>
                </a:solidFill>
                <a:latin typeface="Arial"/>
              </a:endParaRPr>
            </a:p>
            <a:p>
              <a:pPr marL="343080" indent="-343080" defTabSz="914400">
                <a:lnSpc>
                  <a:spcPts val="1100"/>
                </a:lnSpc>
                <a:buClr>
                  <a:srgbClr val="e2e6e9"/>
                </a:buClr>
                <a:buFont typeface="Symbol" charset="2"/>
                <a:buChar char=""/>
              </a:pPr>
              <a:r>
                <a:rPr b="0" lang="en-US" sz="1200" spc="-1" strike="noStrike">
                  <a:solidFill>
                    <a:srgbClr val="e2e6e9"/>
                  </a:solidFill>
                  <a:latin typeface="Source Sans 3"/>
                  <a:ea typeface="Source Sans 3"/>
                </a:rPr>
                <a:t>Elektron formatda (PDF və ya PPTX) təhvil verilsin</a:t>
              </a:r>
              <a:endParaRPr b="0" lang="en-US" sz="1200" spc="-1" strike="noStrike">
                <a:solidFill>
                  <a:srgbClr val="000000"/>
                </a:solidFill>
                <a:latin typeface="Arial"/>
              </a:endParaRPr>
            </a:p>
            <a:p>
              <a:pPr marL="343080" indent="-343080" defTabSz="914400">
                <a:lnSpc>
                  <a:spcPts val="1100"/>
                </a:lnSpc>
                <a:buClr>
                  <a:srgbClr val="e2e6e9"/>
                </a:buClr>
                <a:buFont typeface="Symbol" charset="2"/>
                <a:buChar char=""/>
              </a:pPr>
              <a:r>
                <a:rPr b="0" lang="en-US" sz="1200" spc="-1" strike="noStrike">
                  <a:solidFill>
                    <a:srgbClr val="e2e6e9"/>
                  </a:solidFill>
                  <a:latin typeface="Source Sans 3"/>
                  <a:ea typeface="Source Sans 3"/>
                </a:rPr>
                <a:t>Son tarix: növbəti dərsdən əvvəl</a:t>
              </a:r>
              <a:endParaRPr b="0" lang="en-US" sz="1200" spc="-1" strike="noStrike">
                <a:solidFill>
                  <a:srgbClr val="000000"/>
                </a:solidFill>
                <a:latin typeface="Arial"/>
              </a:endParaRPr>
            </a:p>
          </p:txBody>
        </p:sp>
        <p:sp>
          <p:nvSpPr>
            <p:cNvPr id="304" name="Text 23"/>
            <p:cNvSpPr/>
            <p:nvPr/>
          </p:nvSpPr>
          <p:spPr>
            <a:xfrm>
              <a:off x="7579440" y="3668040"/>
              <a:ext cx="3361320" cy="23652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1" lang="en-US" sz="1050" spc="-1" strike="noStrike">
                  <a:solidFill>
                    <a:srgbClr val="000000"/>
                  </a:solidFill>
                  <a:latin typeface="Montserrat Bold"/>
                  <a:ea typeface="Montserrat Bold"/>
                </a:rPr>
                <a:t>⭐</a:t>
              </a:r>
              <a:r>
                <a:rPr b="1" lang="en-US" sz="1050" spc="-1" strike="noStrike">
                  <a:solidFill>
                    <a:srgbClr val="ffffff"/>
                  </a:solidFill>
                  <a:latin typeface="Montserrat Bold"/>
                  <a:ea typeface="Montserrat Bold"/>
                </a:rPr>
                <a:t> </a:t>
              </a:r>
              <a:r>
                <a:rPr b="1" lang="en-US" sz="1050" spc="-1" strike="noStrike">
                  <a:solidFill>
                    <a:srgbClr val="ffffff"/>
                  </a:solidFill>
                  <a:latin typeface="Montserrat Bold"/>
                  <a:ea typeface="Montserrat Bold"/>
                </a:rPr>
                <a:t>Qiymətləndirmə Meyarları</a:t>
              </a:r>
              <a:endParaRPr b="0" lang="en-US" sz="1050" spc="-1" strike="noStrike">
                <a:solidFill>
                  <a:srgbClr val="000000"/>
                </a:solidFill>
                <a:latin typeface="Arial"/>
              </a:endParaRPr>
            </a:p>
          </p:txBody>
        </p:sp>
        <p:sp>
          <p:nvSpPr>
            <p:cNvPr id="305" name="Shape 24"/>
            <p:cNvSpPr/>
            <p:nvPr/>
          </p:nvSpPr>
          <p:spPr>
            <a:xfrm>
              <a:off x="7579440" y="4093200"/>
              <a:ext cx="6050520" cy="207720"/>
            </a:xfrm>
            <a:prstGeom prst="roundRect">
              <a:avLst>
                <a:gd name="adj" fmla="val 12005"/>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06" name="Shape 25"/>
            <p:cNvSpPr/>
            <p:nvPr/>
          </p:nvSpPr>
          <p:spPr>
            <a:xfrm>
              <a:off x="7579440" y="4093200"/>
              <a:ext cx="1814400" cy="207720"/>
            </a:xfrm>
            <a:prstGeom prst="roundRect">
              <a:avLst>
                <a:gd name="adj" fmla="val 12005"/>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07" name="Text 26"/>
            <p:cNvSpPr/>
            <p:nvPr/>
          </p:nvSpPr>
          <p:spPr>
            <a:xfrm>
              <a:off x="13776120" y="4093200"/>
              <a:ext cx="520200" cy="207720"/>
            </a:xfrm>
            <a:prstGeom prst="rect">
              <a:avLst/>
            </a:prstGeom>
            <a:noFill/>
            <a:ln w="0">
              <a:noFill/>
            </a:ln>
          </p:spPr>
          <p:style>
            <a:lnRef idx="0"/>
            <a:fillRef idx="0"/>
            <a:effectRef idx="0"/>
            <a:fontRef idx="minor"/>
          </p:style>
          <p:txBody>
            <a:bodyPr wrap="none" lIns="0" rIns="0" tIns="0" bIns="0" anchor="t">
              <a:noAutofit/>
            </a:bodyPr>
            <a:p>
              <a:pPr defTabSz="914400">
                <a:lnSpc>
                  <a:spcPts val="1151"/>
                </a:lnSpc>
                <a:tabLst>
                  <a:tab algn="l" pos="0"/>
                </a:tabLst>
              </a:pPr>
              <a:r>
                <a:rPr b="1" lang="en-US" sz="1150" spc="-1" strike="noStrike">
                  <a:solidFill>
                    <a:srgbClr val="e2e6e9"/>
                  </a:solidFill>
                  <a:latin typeface="Montserrat Bold"/>
                  <a:ea typeface="Montserrat Bold"/>
                </a:rPr>
                <a:t>30%</a:t>
              </a:r>
              <a:endParaRPr b="0" lang="en-US" sz="1150" spc="-1" strike="noStrike">
                <a:solidFill>
                  <a:srgbClr val="000000"/>
                </a:solidFill>
                <a:latin typeface="Arial"/>
              </a:endParaRPr>
            </a:p>
          </p:txBody>
        </p:sp>
        <p:sp>
          <p:nvSpPr>
            <p:cNvPr id="308" name="Text 27"/>
            <p:cNvSpPr/>
            <p:nvPr/>
          </p:nvSpPr>
          <p:spPr>
            <a:xfrm>
              <a:off x="7579440" y="4454640"/>
              <a:ext cx="2205720" cy="23652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1" lang="en-US" sz="1050" spc="-1" strike="noStrike">
                  <a:solidFill>
                    <a:srgbClr val="e2e6e9"/>
                  </a:solidFill>
                  <a:latin typeface="Montserrat Bold"/>
                  <a:ea typeface="Montserrat Bold"/>
                </a:rPr>
                <a:t>İdeyanın orijinallığı</a:t>
              </a:r>
              <a:endParaRPr b="0" lang="en-US" sz="1050" spc="-1" strike="noStrike">
                <a:solidFill>
                  <a:srgbClr val="000000"/>
                </a:solidFill>
                <a:latin typeface="Arial"/>
              </a:endParaRPr>
            </a:p>
          </p:txBody>
        </p:sp>
        <p:sp>
          <p:nvSpPr>
            <p:cNvPr id="309" name="Shape 28"/>
            <p:cNvSpPr/>
            <p:nvPr/>
          </p:nvSpPr>
          <p:spPr>
            <a:xfrm>
              <a:off x="7579440" y="4961520"/>
              <a:ext cx="6050520" cy="207720"/>
            </a:xfrm>
            <a:prstGeom prst="roundRect">
              <a:avLst>
                <a:gd name="adj" fmla="val 12005"/>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10" name="Shape 29"/>
            <p:cNvSpPr/>
            <p:nvPr/>
          </p:nvSpPr>
          <p:spPr>
            <a:xfrm>
              <a:off x="7579440" y="4961520"/>
              <a:ext cx="1814400" cy="207720"/>
            </a:xfrm>
            <a:prstGeom prst="roundRect">
              <a:avLst>
                <a:gd name="adj" fmla="val 12005"/>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11" name="Text 30"/>
            <p:cNvSpPr/>
            <p:nvPr/>
          </p:nvSpPr>
          <p:spPr>
            <a:xfrm>
              <a:off x="13776120" y="4961520"/>
              <a:ext cx="520200" cy="207720"/>
            </a:xfrm>
            <a:prstGeom prst="rect">
              <a:avLst/>
            </a:prstGeom>
            <a:noFill/>
            <a:ln w="0">
              <a:noFill/>
            </a:ln>
          </p:spPr>
          <p:style>
            <a:lnRef idx="0"/>
            <a:fillRef idx="0"/>
            <a:effectRef idx="0"/>
            <a:fontRef idx="minor"/>
          </p:style>
          <p:txBody>
            <a:bodyPr wrap="none" lIns="0" rIns="0" tIns="0" bIns="0" anchor="t">
              <a:noAutofit/>
            </a:bodyPr>
            <a:p>
              <a:pPr defTabSz="914400">
                <a:lnSpc>
                  <a:spcPts val="1151"/>
                </a:lnSpc>
                <a:tabLst>
                  <a:tab algn="l" pos="0"/>
                </a:tabLst>
              </a:pPr>
              <a:r>
                <a:rPr b="1" lang="en-US" sz="1150" spc="-1" strike="noStrike">
                  <a:solidFill>
                    <a:srgbClr val="e2e6e9"/>
                  </a:solidFill>
                  <a:latin typeface="Montserrat Bold"/>
                  <a:ea typeface="Montserrat Bold"/>
                </a:rPr>
                <a:t>30%</a:t>
              </a:r>
              <a:endParaRPr b="0" lang="en-US" sz="1150" spc="-1" strike="noStrike">
                <a:solidFill>
                  <a:srgbClr val="000000"/>
                </a:solidFill>
                <a:latin typeface="Arial"/>
              </a:endParaRPr>
            </a:p>
          </p:txBody>
        </p:sp>
        <p:sp>
          <p:nvSpPr>
            <p:cNvPr id="312" name="Text 31"/>
            <p:cNvSpPr/>
            <p:nvPr/>
          </p:nvSpPr>
          <p:spPr>
            <a:xfrm>
              <a:off x="7579440" y="5323320"/>
              <a:ext cx="3619080" cy="23652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1" lang="en-US" sz="1050" spc="-1" strike="noStrike">
                  <a:solidFill>
                    <a:srgbClr val="e2e6e9"/>
                  </a:solidFill>
                  <a:latin typeface="Montserrat Bold"/>
                  <a:ea typeface="Montserrat Bold"/>
                </a:rPr>
                <a:t>Növün düzgün əsaslandırılması</a:t>
              </a:r>
              <a:endParaRPr b="0" lang="en-US" sz="1050" spc="-1" strike="noStrike">
                <a:solidFill>
                  <a:srgbClr val="000000"/>
                </a:solidFill>
                <a:latin typeface="Arial"/>
              </a:endParaRPr>
            </a:p>
          </p:txBody>
        </p:sp>
        <p:sp>
          <p:nvSpPr>
            <p:cNvPr id="313" name="Shape 32"/>
            <p:cNvSpPr/>
            <p:nvPr/>
          </p:nvSpPr>
          <p:spPr>
            <a:xfrm>
              <a:off x="7579440" y="5830200"/>
              <a:ext cx="6073920" cy="207720"/>
            </a:xfrm>
            <a:prstGeom prst="roundRect">
              <a:avLst>
                <a:gd name="adj" fmla="val 12005"/>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14" name="Shape 33"/>
            <p:cNvSpPr/>
            <p:nvPr/>
          </p:nvSpPr>
          <p:spPr>
            <a:xfrm>
              <a:off x="7579440" y="5830200"/>
              <a:ext cx="1517760" cy="207720"/>
            </a:xfrm>
            <a:prstGeom prst="roundRect">
              <a:avLst>
                <a:gd name="adj" fmla="val 12005"/>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15" name="Text 34"/>
            <p:cNvSpPr/>
            <p:nvPr/>
          </p:nvSpPr>
          <p:spPr>
            <a:xfrm>
              <a:off x="13799520" y="5830200"/>
              <a:ext cx="496800" cy="207720"/>
            </a:xfrm>
            <a:prstGeom prst="rect">
              <a:avLst/>
            </a:prstGeom>
            <a:noFill/>
            <a:ln w="0">
              <a:noFill/>
            </a:ln>
          </p:spPr>
          <p:style>
            <a:lnRef idx="0"/>
            <a:fillRef idx="0"/>
            <a:effectRef idx="0"/>
            <a:fontRef idx="minor"/>
          </p:style>
          <p:txBody>
            <a:bodyPr wrap="none" lIns="0" rIns="0" tIns="0" bIns="0" anchor="t">
              <a:noAutofit/>
            </a:bodyPr>
            <a:p>
              <a:pPr defTabSz="914400">
                <a:lnSpc>
                  <a:spcPts val="1151"/>
                </a:lnSpc>
                <a:tabLst>
                  <a:tab algn="l" pos="0"/>
                </a:tabLst>
              </a:pPr>
              <a:r>
                <a:rPr b="1" lang="en-US" sz="1150" spc="-1" strike="noStrike">
                  <a:solidFill>
                    <a:srgbClr val="e2e6e9"/>
                  </a:solidFill>
                  <a:latin typeface="Montserrat Bold"/>
                  <a:ea typeface="Montserrat Bold"/>
                </a:rPr>
                <a:t>25%</a:t>
              </a:r>
              <a:endParaRPr b="0" lang="en-US" sz="1150" spc="-1" strike="noStrike">
                <a:solidFill>
                  <a:srgbClr val="000000"/>
                </a:solidFill>
                <a:latin typeface="Arial"/>
              </a:endParaRPr>
            </a:p>
          </p:txBody>
        </p:sp>
        <p:sp>
          <p:nvSpPr>
            <p:cNvPr id="316" name="Text 35"/>
            <p:cNvSpPr/>
            <p:nvPr/>
          </p:nvSpPr>
          <p:spPr>
            <a:xfrm>
              <a:off x="7579440" y="6192000"/>
              <a:ext cx="3040920" cy="23652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1" lang="en-US" sz="1050" spc="-1" strike="noStrike">
                  <a:solidFill>
                    <a:srgbClr val="e2e6e9"/>
                  </a:solidFill>
                  <a:latin typeface="Montserrat Bold"/>
                  <a:ea typeface="Montserrat Bold"/>
                </a:rPr>
                <a:t>SI istifadəsinin refleksiyası</a:t>
              </a:r>
              <a:endParaRPr b="0" lang="en-US" sz="1050" spc="-1" strike="noStrike">
                <a:solidFill>
                  <a:srgbClr val="000000"/>
                </a:solidFill>
                <a:latin typeface="Arial"/>
              </a:endParaRPr>
            </a:p>
          </p:txBody>
        </p:sp>
        <p:sp>
          <p:nvSpPr>
            <p:cNvPr id="317" name="Shape 36"/>
            <p:cNvSpPr/>
            <p:nvPr/>
          </p:nvSpPr>
          <p:spPr>
            <a:xfrm>
              <a:off x="7579440" y="6698520"/>
              <a:ext cx="6121800" cy="207720"/>
            </a:xfrm>
            <a:prstGeom prst="roundRect">
              <a:avLst>
                <a:gd name="adj" fmla="val 12005"/>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18" name="Shape 37"/>
            <p:cNvSpPr/>
            <p:nvPr/>
          </p:nvSpPr>
          <p:spPr>
            <a:xfrm>
              <a:off x="7579440" y="6698520"/>
              <a:ext cx="917640" cy="207720"/>
            </a:xfrm>
            <a:prstGeom prst="roundRect">
              <a:avLst>
                <a:gd name="adj" fmla="val 12005"/>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19" name="Text 38"/>
            <p:cNvSpPr/>
            <p:nvPr/>
          </p:nvSpPr>
          <p:spPr>
            <a:xfrm>
              <a:off x="13847400" y="6698520"/>
              <a:ext cx="448920" cy="207720"/>
            </a:xfrm>
            <a:prstGeom prst="rect">
              <a:avLst/>
            </a:prstGeom>
            <a:noFill/>
            <a:ln w="0">
              <a:noFill/>
            </a:ln>
          </p:spPr>
          <p:style>
            <a:lnRef idx="0"/>
            <a:fillRef idx="0"/>
            <a:effectRef idx="0"/>
            <a:fontRef idx="minor"/>
          </p:style>
          <p:txBody>
            <a:bodyPr wrap="none" lIns="0" rIns="0" tIns="0" bIns="0" anchor="t">
              <a:noAutofit/>
            </a:bodyPr>
            <a:p>
              <a:pPr defTabSz="914400">
                <a:lnSpc>
                  <a:spcPts val="1151"/>
                </a:lnSpc>
                <a:tabLst>
                  <a:tab algn="l" pos="0"/>
                </a:tabLst>
              </a:pPr>
              <a:r>
                <a:rPr b="1" lang="en-US" sz="1150" spc="-1" strike="noStrike">
                  <a:solidFill>
                    <a:srgbClr val="e2e6e9"/>
                  </a:solidFill>
                  <a:latin typeface="Montserrat Bold"/>
                  <a:ea typeface="Montserrat Bold"/>
                </a:rPr>
                <a:t>15%</a:t>
              </a:r>
              <a:endParaRPr b="0" lang="en-US" sz="1150" spc="-1" strike="noStrike">
                <a:solidFill>
                  <a:srgbClr val="000000"/>
                </a:solidFill>
                <a:latin typeface="Arial"/>
              </a:endParaRPr>
            </a:p>
          </p:txBody>
        </p:sp>
        <p:sp>
          <p:nvSpPr>
            <p:cNvPr id="320" name="Text 39"/>
            <p:cNvSpPr/>
            <p:nvPr/>
          </p:nvSpPr>
          <p:spPr>
            <a:xfrm>
              <a:off x="7579440" y="7060320"/>
              <a:ext cx="2498400" cy="23652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1" lang="en-US" sz="1050" spc="-1" strike="noStrike">
                  <a:solidFill>
                    <a:srgbClr val="e2e6e9"/>
                  </a:solidFill>
                  <a:latin typeface="Montserrat Bold"/>
                  <a:ea typeface="Montserrat Bold"/>
                </a:rPr>
                <a:t>Təqdimatın keyfiyyəti</a:t>
              </a:r>
              <a:endParaRPr b="0" lang="en-US" sz="1050" spc="-1" strike="noStrike">
                <a:solidFill>
                  <a:srgbClr val="000000"/>
                </a:solidFill>
                <a:latin typeface="Arial"/>
              </a:endParaRPr>
            </a:p>
          </p:txBody>
        </p:sp>
        <p:sp>
          <p:nvSpPr>
            <p:cNvPr id="321" name="Shape 40"/>
            <p:cNvSpPr/>
            <p:nvPr/>
          </p:nvSpPr>
          <p:spPr>
            <a:xfrm>
              <a:off x="376200" y="7506720"/>
              <a:ext cx="13907880" cy="496080"/>
            </a:xfrm>
            <a:prstGeom prst="roundRect">
              <a:avLst>
                <a:gd name="adj" fmla="val 5039"/>
              </a:avLst>
            </a:prstGeom>
            <a:solidFill>
              <a:srgbClr val="262626"/>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322" name="Image 0" descr="preencoded.png"/>
            <p:cNvPicPr/>
            <p:nvPr/>
          </p:nvPicPr>
          <p:blipFill>
            <a:blip r:embed="rId1"/>
            <a:stretch/>
          </p:blipFill>
          <p:spPr>
            <a:xfrm>
              <a:off x="570240" y="7716960"/>
              <a:ext cx="241560" cy="165960"/>
            </a:xfrm>
            <a:prstGeom prst="rect">
              <a:avLst/>
            </a:prstGeom>
            <a:ln w="0">
              <a:noFill/>
            </a:ln>
          </p:spPr>
        </p:pic>
        <p:sp>
          <p:nvSpPr>
            <p:cNvPr id="323" name="Text 41"/>
            <p:cNvSpPr/>
            <p:nvPr/>
          </p:nvSpPr>
          <p:spPr>
            <a:xfrm>
              <a:off x="1006560" y="7641720"/>
              <a:ext cx="13083480" cy="194040"/>
            </a:xfrm>
            <a:prstGeom prst="rect">
              <a:avLst/>
            </a:prstGeom>
            <a:noFill/>
            <a:ln w="0">
              <a:noFill/>
            </a:ln>
          </p:spPr>
          <p:style>
            <a:lnRef idx="0"/>
            <a:fillRef idx="0"/>
            <a:effectRef idx="0"/>
            <a:fontRef idx="minor"/>
          </p:style>
          <p:txBody>
            <a:bodyPr wrap="none" lIns="0" rIns="0" tIns="0" bIns="0" anchor="t">
              <a:noAutofit/>
            </a:bodyPr>
            <a:p>
              <a:pPr defTabSz="914400">
                <a:lnSpc>
                  <a:spcPts val="1100"/>
                </a:lnSpc>
                <a:tabLst>
                  <a:tab algn="l" pos="0"/>
                </a:tabLst>
              </a:pPr>
              <a:r>
                <a:rPr b="0" lang="en-US" sz="900" spc="-1" strike="noStrike">
                  <a:solidFill>
                    <a:srgbClr val="000000"/>
                  </a:solidFill>
                  <a:latin typeface="Source Sans 3"/>
                  <a:ea typeface="Source Sans 3"/>
                </a:rPr>
                <a:t>🚀</a:t>
              </a:r>
              <a:r>
                <a:rPr b="0" lang="en-US" sz="900" spc="-1" strike="noStrike">
                  <a:solidFill>
                    <a:srgbClr val="ffffff"/>
                  </a:solidFill>
                  <a:latin typeface="Source Sans 3"/>
                  <a:ea typeface="Source Sans 3"/>
                </a:rPr>
                <a:t> </a:t>
              </a:r>
              <a:r>
                <a:rPr b="1" lang="en-US" sz="900" spc="-1" strike="noStrike">
                  <a:solidFill>
                    <a:srgbClr val="ffffff"/>
                  </a:solidFill>
                  <a:latin typeface="Source Sans 3"/>
                  <a:ea typeface="Source Sans 3"/>
                </a:rPr>
                <a:t>Uğur Məsləhəti:</a:t>
              </a:r>
              <a:r>
                <a:rPr b="0" lang="en-US" sz="900" spc="-1" strike="noStrike">
                  <a:solidFill>
                    <a:srgbClr val="ffffff"/>
                  </a:solidFill>
                  <a:latin typeface="Source Sans 3"/>
                  <a:ea typeface="Source Sans 3"/>
                </a:rPr>
                <a:t> Ən yaxşı işlər SI-ni passiv istifadə edən yox, SI ilə </a:t>
              </a:r>
              <a:r>
                <a:rPr b="0" i="1" lang="en-US" sz="900" spc="-1" strike="noStrike">
                  <a:solidFill>
                    <a:srgbClr val="ffffff"/>
                  </a:solidFill>
                  <a:latin typeface="Source Sans 3"/>
                  <a:ea typeface="Source Sans 3"/>
                </a:rPr>
                <a:t>dialoq aparan</a:t>
              </a:r>
              <a:r>
                <a:rPr b="0" lang="en-US" sz="900" spc="-1" strike="noStrike">
                  <a:solidFill>
                    <a:srgbClr val="ffffff"/>
                  </a:solidFill>
                  <a:latin typeface="Source Sans 3"/>
                  <a:ea typeface="Source Sans 3"/>
                </a:rPr>
                <a:t> tələbələrə məxsusdur. Soruşun, etiraz edin, dəqiqləşdirin!</a:t>
              </a:r>
              <a:endParaRPr b="0" lang="en-US" sz="900" spc="-1" strike="noStrike">
                <a:solidFill>
                  <a:srgbClr val="000000"/>
                </a:solidFill>
                <a:latin typeface="Arial"/>
              </a:endParaRPr>
            </a:p>
          </p:txBody>
        </p:sp>
      </p:grpSp>
      <p:pic>
        <p:nvPicPr>
          <p:cNvPr id="324" name="" descr=""/>
          <p:cNvPicPr/>
          <p:nvPr/>
        </p:nvPicPr>
        <p:blipFill>
          <a:blip r:embed="rId2"/>
          <a:stretch/>
        </p:blipFill>
        <p:spPr>
          <a:xfrm>
            <a:off x="643680" y="5078160"/>
            <a:ext cx="2237040" cy="223704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
          <p:cNvSpPr/>
          <p:nvPr/>
        </p:nvSpPr>
        <p:spPr>
          <a:xfrm>
            <a:off x="4998600" y="228600"/>
            <a:ext cx="3200040" cy="600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950" spc="-1" strike="noStrike">
                <a:solidFill>
                  <a:srgbClr val="ffffff"/>
                </a:solidFill>
                <a:latin typeface="Montserrat Bold"/>
                <a:ea typeface="Montserrat Bold"/>
              </a:rPr>
              <a:t>Test Tapşirigı L5</a:t>
            </a:r>
            <a:endParaRPr b="0" lang="en-US" sz="2950" spc="-1" strike="noStrike">
              <a:solidFill>
                <a:srgbClr val="000000"/>
              </a:solidFill>
              <a:latin typeface="Arial"/>
            </a:endParaRPr>
          </a:p>
        </p:txBody>
      </p:sp>
      <p:pic>
        <p:nvPicPr>
          <p:cNvPr id="326" name="" descr=""/>
          <p:cNvPicPr/>
          <p:nvPr/>
        </p:nvPicPr>
        <p:blipFill>
          <a:blip r:embed="rId1"/>
          <a:stretch/>
        </p:blipFill>
        <p:spPr>
          <a:xfrm>
            <a:off x="3657600" y="1143000"/>
            <a:ext cx="5715000" cy="571500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278</TotalTime>
  <Application>LibreOffice/24.2.7.2$Linux_X86_64 LibreOffice_project/420$Build-2</Application>
  <AppVersion>15.0000</AppVersion>
  <Words>2025</Words>
  <Paragraphs>199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2026-03-13T08:31:05Z</dcterms:created>
  <dc:creator/>
  <dc:description/>
  <dc:language>en-US</dc:language>
  <cp:lastModifiedBy/>
  <dcterms:modified xsi:type="dcterms:W3CDTF">2026-03-16T23:32:01Z</dcterms:modified>
  <cp:revision>13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11</vt:i4>
  </property>
  <property fmtid="{D5CDD505-2E9C-101B-9397-08002B2CF9AE}" pid="3" name="PresentationFormat">
    <vt:lpwstr>Custom</vt:lpwstr>
  </property>
  <property fmtid="{D5CDD505-2E9C-101B-9397-08002B2CF9AE}" pid="4" name="Slides">
    <vt:i4>11</vt:i4>
  </property>
</Properties>
</file>