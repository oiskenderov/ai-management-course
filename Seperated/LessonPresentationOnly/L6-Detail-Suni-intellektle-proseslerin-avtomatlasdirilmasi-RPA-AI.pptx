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2.xml.rels" ContentType="application/vnd.openxmlformats-package.relationships+xml"/>
  <Override PartName="/ppt/slideMasters/_rels/slideMaster6.xml.rels" ContentType="application/vnd.openxmlformats-package.relationships+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1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12.xml.rels" ContentType="application/vnd.openxmlformats-package.relationships+xml"/>
  <Override PartName="/ppt/slideLayouts/_rels/slideLayout4.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12.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29.png" ContentType="image/png"/>
  <Override PartName="/ppt/media/image28.png" ContentType="image/png"/>
  <Override PartName="/ppt/media/image7.png" ContentType="image/png"/>
  <Override PartName="/ppt/media/image11.png" ContentType="image/png"/>
  <Override PartName="/ppt/media/image16.png" ContentType="image/png"/>
  <Override PartName="/ppt/media/image8.svg" ContentType="image/svg"/>
  <Override PartName="/ppt/media/image17.svg" ContentType="image/svg"/>
  <Override PartName="/ppt/media/image12.svg" ContentType="image/svg"/>
  <Override PartName="/ppt/media/image18.png" ContentType="image/png"/>
  <Override PartName="/ppt/media/image9.png" ContentType="image/png"/>
  <Override PartName="/ppt/media/image20.png" ContentType="image/png"/>
  <Override PartName="/ppt/media/image10.svg" ContentType="image/svg"/>
  <Override PartName="/ppt/media/image13.png" ContentType="image/png"/>
  <Override PartName="/ppt/media/image30.png" ContentType="image/png"/>
  <Override PartName="/ppt/media/image31.png" ContentType="image/png"/>
  <Override PartName="/ppt/media/image32.png" ContentType="image/png"/>
  <Override PartName="/ppt/media/image15.png" ContentType="image/png"/>
  <Override PartName="/ppt/media/image5.png" ContentType="image/png"/>
  <Override PartName="/ppt/media/image6.png" ContentType="image/png"/>
  <Override PartName="/ppt/media/image25.svg" ContentType="image/svg"/>
  <Override PartName="/ppt/media/image3.png" ContentType="image/png"/>
  <Override PartName="/ppt/media/image4.png" ContentType="image/png"/>
  <Override PartName="/ppt/media/image23.svg" ContentType="image/svg"/>
  <Override PartName="/ppt/media/image1.png" ContentType="image/png"/>
  <Override PartName="/ppt/media/image19.svg" ContentType="image/svg"/>
  <Override PartName="/ppt/media/image2.png" ContentType="image/png"/>
  <Override PartName="/ppt/media/image21.svg" ContentType="image/svg"/>
  <Override PartName="/ppt/media/image22.png" ContentType="image/png"/>
  <Override PartName="/ppt/media/image24.png" ContentType="image/png"/>
  <Override PartName="/ppt/media/image26.png" ContentType="image/png"/>
  <Override PartName="/ppt/media/image27.png" ContentType="image/png"/>
  <Override PartName="/ppt/media/image14.svg" ContentType="image/svg"/>
  <Override PartName="/ppt/slides/slide1.xml" ContentType="application/vnd.openxmlformats-officedocument.presentationml.slide+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_rels/notesSlide11.xml.rels" ContentType="application/vnd.openxmlformats-package.relationships+xml"/>
  <Override PartName="/ppt/notesSlides/_rels/notesSlide4.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3.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6.xml.rels" ContentType="application/vnd.openxmlformats-package.relationships+xml"/>
  <Override PartName="/ppt/notesSlides/_rels/notesSlide5.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9.xml" ContentType="application/vnd.openxmlformats-officedocument.presentationml.notesSlide+xml"/>
  <Override PartName="/ppt/notesSlides/notesSlide1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Lst>
  <p:notesMasterIdLst>
    <p:notesMasterId r:id="rId14"/>
  </p:notesMasterIdLst>
  <p:sldIdLst>
    <p:sldId id="256" r:id="rId15"/>
    <p:sldId id="257" r:id="rId16"/>
    <p:sldId id="258" r:id="rId17"/>
    <p:sldId id="259" r:id="rId18"/>
    <p:sldId id="260" r:id="rId19"/>
    <p:sldId id="261" r:id="rId20"/>
    <p:sldId id="262" r:id="rId21"/>
    <p:sldId id="263" r:id="rId22"/>
    <p:sldId id="264" r:id="rId23"/>
    <p:sldId id="265" r:id="rId24"/>
    <p:sldId id="266" r:id="rId25"/>
    <p:sldId id="267" r:id="rId26"/>
  </p:sldIdLst>
  <p:sldSz cx="14630400" cy="8229600"/>
  <p:notesSz cx="8229600" cy="146304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notesMaster" Target="notesMasters/notesMaster1.xml"/><Relationship Id="rId15" Type="http://schemas.openxmlformats.org/officeDocument/2006/relationships/slide" Target="slides/slide1.xml"/><Relationship Id="rId16" Type="http://schemas.openxmlformats.org/officeDocument/2006/relationships/slide" Target="slides/slide2.xml"/><Relationship Id="rId17" Type="http://schemas.openxmlformats.org/officeDocument/2006/relationships/slide" Target="slides/slide3.xml"/><Relationship Id="rId18" Type="http://schemas.openxmlformats.org/officeDocument/2006/relationships/slide" Target="slides/slide4.xml"/><Relationship Id="rId19" Type="http://schemas.openxmlformats.org/officeDocument/2006/relationships/slide" Target="slides/slide5.xml"/><Relationship Id="rId20" Type="http://schemas.openxmlformats.org/officeDocument/2006/relationships/slide" Target="slides/slide6.xml"/><Relationship Id="rId21" Type="http://schemas.openxmlformats.org/officeDocument/2006/relationships/slide" Target="slides/slide7.xml"/><Relationship Id="rId22" Type="http://schemas.openxmlformats.org/officeDocument/2006/relationships/slide" Target="slides/slide8.xml"/><Relationship Id="rId23" Type="http://schemas.openxmlformats.org/officeDocument/2006/relationships/slide" Target="slides/slide9.xml"/><Relationship Id="rId24" Type="http://schemas.openxmlformats.org/officeDocument/2006/relationships/slide" Target="slides/slide10.xml"/><Relationship Id="rId25" Type="http://schemas.openxmlformats.org/officeDocument/2006/relationships/slide" Target="slides/slide11.xml"/><Relationship Id="rId26" Type="http://schemas.openxmlformats.org/officeDocument/2006/relationships/slide" Target="slides/slide12.xml"/><Relationship Id="rId27"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 name="PlaceHolder 1"/>
          <p:cNvSpPr>
            <a:spLocks noGrp="1"/>
          </p:cNvSpPr>
          <p:nvPr>
            <p:ph type="sldImg"/>
          </p:nvPr>
        </p:nvSpPr>
        <p:spPr>
          <a:xfrm>
            <a:off x="0" y="764280"/>
            <a:ext cx="0" cy="0"/>
          </a:xfrm>
          <a:prstGeom prst="rect">
            <a:avLst/>
          </a:prstGeom>
          <a:noFill/>
          <a:ln w="0">
            <a:noFill/>
          </a:ln>
        </p:spPr>
        <p:txBody>
          <a:bodyPr lIns="0" rIns="0" tIns="0" bIns="0" anchor="ctr">
            <a:noAutofit/>
          </a:bodyPr>
          <a:p>
            <a:pPr algn="ctr"/>
            <a:r>
              <a:rPr b="0" lang="en-US" sz="4400" spc="-1" strike="noStrike">
                <a:solidFill>
                  <a:srgbClr val="000000"/>
                </a:solidFill>
                <a:latin typeface="Arial"/>
              </a:rPr>
              <a:t>Click to move the slide</a:t>
            </a:r>
            <a:endParaRPr b="0" lang="en-US" sz="4400" spc="-1" strike="noStrike">
              <a:solidFill>
                <a:srgbClr val="000000"/>
              </a:solidFill>
              <a:latin typeface="Arial"/>
            </a:endParaRPr>
          </a:p>
        </p:txBody>
      </p:sp>
      <p:sp>
        <p:nvSpPr>
          <p:cNvPr id="45"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46"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47" name="PlaceHolder 4"/>
          <p:cNvSpPr>
            <a:spLocks noGrp="1"/>
          </p:cNvSpPr>
          <p:nvPr>
            <p:ph type="dt" idx="1"/>
          </p:nvPr>
        </p:nvSpPr>
        <p:spPr>
          <a:xfrm>
            <a:off x="4399200" y="0"/>
            <a:ext cx="3372840" cy="50256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48" name="PlaceHolder 5"/>
          <p:cNvSpPr>
            <a:spLocks noGrp="1"/>
          </p:cNvSpPr>
          <p:nvPr>
            <p:ph type="ftr" idx="2"/>
          </p:nvPr>
        </p:nvSpPr>
        <p:spPr>
          <a:xfrm>
            <a:off x="0" y="9555480"/>
            <a:ext cx="3372840" cy="50256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9" name="PlaceHolder 6"/>
          <p:cNvSpPr>
            <a:spLocks noGrp="1"/>
          </p:cNvSpPr>
          <p:nvPr>
            <p:ph type="sldNum" idx="3"/>
          </p:nvPr>
        </p:nvSpPr>
        <p:spPr>
          <a:xfrm>
            <a:off x="4399200" y="9555480"/>
            <a:ext cx="3372840" cy="50256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774D9624-6B0A-469E-AE23-C9294C2717AF}"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7" name="PlaceHolder 1"/>
          <p:cNvSpPr>
            <a:spLocks noGrp="1"/>
          </p:cNvSpPr>
          <p:nvPr>
            <p:ph type="sldImg"/>
          </p:nvPr>
        </p:nvSpPr>
        <p:spPr>
          <a:xfrm>
            <a:off x="685800" y="1143000"/>
            <a:ext cx="5485320" cy="3085200"/>
          </a:xfrm>
          <a:prstGeom prst="rect">
            <a:avLst/>
          </a:prstGeom>
          <a:ln w="0">
            <a:noFill/>
          </a:ln>
        </p:spPr>
      </p:sp>
      <p:sp>
        <p:nvSpPr>
          <p:cNvPr id="188"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89" name="PlaceHolder 3"/>
          <p:cNvSpPr>
            <a:spLocks noGrp="1"/>
          </p:cNvSpPr>
          <p:nvPr>
            <p:ph type="sldNum" idx="4"/>
          </p:nvPr>
        </p:nvSpPr>
        <p:spPr>
          <a:xfrm>
            <a:off x="3884760" y="8685360"/>
            <a:ext cx="2970720" cy="4575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B73DAB3D-0FC1-418F-A9E5-CF6A135199AC}"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0" name="PlaceHolder 1"/>
          <p:cNvSpPr>
            <a:spLocks noGrp="1"/>
          </p:cNvSpPr>
          <p:nvPr>
            <p:ph type="sldImg"/>
          </p:nvPr>
        </p:nvSpPr>
        <p:spPr>
          <a:xfrm>
            <a:off x="685800" y="1143000"/>
            <a:ext cx="5485320" cy="3085200"/>
          </a:xfrm>
          <a:prstGeom prst="rect">
            <a:avLst/>
          </a:prstGeom>
          <a:ln w="0">
            <a:noFill/>
          </a:ln>
        </p:spPr>
      </p:sp>
      <p:sp>
        <p:nvSpPr>
          <p:cNvPr id="191"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92" name="PlaceHolder 3"/>
          <p:cNvSpPr>
            <a:spLocks noGrp="1"/>
          </p:cNvSpPr>
          <p:nvPr>
            <p:ph type="sldNum" idx="5"/>
          </p:nvPr>
        </p:nvSpPr>
        <p:spPr>
          <a:xfrm>
            <a:off x="3884760" y="8685360"/>
            <a:ext cx="2970720" cy="4575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A73FA3CD-2577-4872-90A4-74265662DEDF}"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3" name="PlaceHolder 1"/>
          <p:cNvSpPr>
            <a:spLocks noGrp="1"/>
          </p:cNvSpPr>
          <p:nvPr>
            <p:ph type="sldImg"/>
          </p:nvPr>
        </p:nvSpPr>
        <p:spPr>
          <a:xfrm>
            <a:off x="685800" y="1143000"/>
            <a:ext cx="5485320" cy="3085200"/>
          </a:xfrm>
          <a:prstGeom prst="rect">
            <a:avLst/>
          </a:prstGeom>
          <a:ln w="0">
            <a:noFill/>
          </a:ln>
        </p:spPr>
      </p:sp>
      <p:sp>
        <p:nvSpPr>
          <p:cNvPr id="194"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95" name="PlaceHolder 3"/>
          <p:cNvSpPr>
            <a:spLocks noGrp="1"/>
          </p:cNvSpPr>
          <p:nvPr>
            <p:ph type="sldNum" idx="6"/>
          </p:nvPr>
        </p:nvSpPr>
        <p:spPr>
          <a:xfrm>
            <a:off x="3884760" y="8685360"/>
            <a:ext cx="2970720" cy="4575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724920DE-3603-4EC2-9D7C-BE4F3D3073B8}"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6" name="PlaceHolder 1"/>
          <p:cNvSpPr>
            <a:spLocks noGrp="1"/>
          </p:cNvSpPr>
          <p:nvPr>
            <p:ph type="sldImg"/>
          </p:nvPr>
        </p:nvSpPr>
        <p:spPr>
          <a:xfrm>
            <a:off x="685800" y="1143000"/>
            <a:ext cx="5485320" cy="3085200"/>
          </a:xfrm>
          <a:prstGeom prst="rect">
            <a:avLst/>
          </a:prstGeom>
          <a:ln w="0">
            <a:noFill/>
          </a:ln>
        </p:spPr>
      </p:sp>
      <p:sp>
        <p:nvSpPr>
          <p:cNvPr id="197"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98" name="PlaceHolder 3"/>
          <p:cNvSpPr>
            <a:spLocks noGrp="1"/>
          </p:cNvSpPr>
          <p:nvPr>
            <p:ph type="sldNum" idx="7"/>
          </p:nvPr>
        </p:nvSpPr>
        <p:spPr>
          <a:xfrm>
            <a:off x="3884760" y="8685360"/>
            <a:ext cx="2970720" cy="4575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FF36C6E8-ADE2-48DF-9E32-27A7EF3C765F}"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9" name="PlaceHolder 1"/>
          <p:cNvSpPr>
            <a:spLocks noGrp="1"/>
          </p:cNvSpPr>
          <p:nvPr>
            <p:ph type="sldImg"/>
          </p:nvPr>
        </p:nvSpPr>
        <p:spPr>
          <a:xfrm>
            <a:off x="685800" y="1143000"/>
            <a:ext cx="5485320" cy="3085200"/>
          </a:xfrm>
          <a:prstGeom prst="rect">
            <a:avLst/>
          </a:prstGeom>
          <a:ln w="0">
            <a:noFill/>
          </a:ln>
        </p:spPr>
      </p:sp>
      <p:sp>
        <p:nvSpPr>
          <p:cNvPr id="200"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01" name="PlaceHolder 3"/>
          <p:cNvSpPr>
            <a:spLocks noGrp="1"/>
          </p:cNvSpPr>
          <p:nvPr>
            <p:ph type="sldNum" idx="8"/>
          </p:nvPr>
        </p:nvSpPr>
        <p:spPr>
          <a:xfrm>
            <a:off x="3884760" y="8685360"/>
            <a:ext cx="2970720" cy="4575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C140C5B6-902A-4DDF-B032-02339ADFF5E5}"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2" name="PlaceHolder 1"/>
          <p:cNvSpPr>
            <a:spLocks noGrp="1"/>
          </p:cNvSpPr>
          <p:nvPr>
            <p:ph type="sldImg"/>
          </p:nvPr>
        </p:nvSpPr>
        <p:spPr>
          <a:xfrm>
            <a:off x="685800" y="1143000"/>
            <a:ext cx="5485320" cy="3085200"/>
          </a:xfrm>
          <a:prstGeom prst="rect">
            <a:avLst/>
          </a:prstGeom>
          <a:ln w="0">
            <a:noFill/>
          </a:ln>
        </p:spPr>
      </p:sp>
      <p:sp>
        <p:nvSpPr>
          <p:cNvPr id="203"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04" name="PlaceHolder 3"/>
          <p:cNvSpPr>
            <a:spLocks noGrp="1"/>
          </p:cNvSpPr>
          <p:nvPr>
            <p:ph type="sldNum" idx="9"/>
          </p:nvPr>
        </p:nvSpPr>
        <p:spPr>
          <a:xfrm>
            <a:off x="3884760" y="8685360"/>
            <a:ext cx="2970720" cy="4575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CC700C32-6A8D-451A-8999-95AF19E4C74A}"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5" name="PlaceHolder 1"/>
          <p:cNvSpPr>
            <a:spLocks noGrp="1"/>
          </p:cNvSpPr>
          <p:nvPr>
            <p:ph type="sldImg"/>
          </p:nvPr>
        </p:nvSpPr>
        <p:spPr>
          <a:xfrm>
            <a:off x="685800" y="1143000"/>
            <a:ext cx="5485320" cy="3085200"/>
          </a:xfrm>
          <a:prstGeom prst="rect">
            <a:avLst/>
          </a:prstGeom>
          <a:ln w="0">
            <a:noFill/>
          </a:ln>
        </p:spPr>
      </p:sp>
      <p:sp>
        <p:nvSpPr>
          <p:cNvPr id="206"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07" name="PlaceHolder 3"/>
          <p:cNvSpPr>
            <a:spLocks noGrp="1"/>
          </p:cNvSpPr>
          <p:nvPr>
            <p:ph type="sldNum" idx="10"/>
          </p:nvPr>
        </p:nvSpPr>
        <p:spPr>
          <a:xfrm>
            <a:off x="3884760" y="8685360"/>
            <a:ext cx="2970720" cy="4575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1F0439BA-F834-4593-89EE-630B537D0D38}"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8" name="PlaceHolder 1"/>
          <p:cNvSpPr>
            <a:spLocks noGrp="1"/>
          </p:cNvSpPr>
          <p:nvPr>
            <p:ph type="sldImg"/>
          </p:nvPr>
        </p:nvSpPr>
        <p:spPr>
          <a:xfrm>
            <a:off x="685800" y="1143000"/>
            <a:ext cx="5485320" cy="3085200"/>
          </a:xfrm>
          <a:prstGeom prst="rect">
            <a:avLst/>
          </a:prstGeom>
          <a:ln w="0">
            <a:noFill/>
          </a:ln>
        </p:spPr>
      </p:sp>
      <p:sp>
        <p:nvSpPr>
          <p:cNvPr id="209"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10" name="PlaceHolder 3"/>
          <p:cNvSpPr>
            <a:spLocks noGrp="1"/>
          </p:cNvSpPr>
          <p:nvPr>
            <p:ph type="sldNum" idx="11"/>
          </p:nvPr>
        </p:nvSpPr>
        <p:spPr>
          <a:xfrm>
            <a:off x="3884760" y="8685360"/>
            <a:ext cx="2970720" cy="4575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1B86351B-F007-4B25-B6AC-2653676E03CC}"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1" name="PlaceHolder 1"/>
          <p:cNvSpPr>
            <a:spLocks noGrp="1"/>
          </p:cNvSpPr>
          <p:nvPr>
            <p:ph type="sldImg"/>
          </p:nvPr>
        </p:nvSpPr>
        <p:spPr>
          <a:xfrm>
            <a:off x="685800" y="1143000"/>
            <a:ext cx="5485320" cy="3085200"/>
          </a:xfrm>
          <a:prstGeom prst="rect">
            <a:avLst/>
          </a:prstGeom>
          <a:ln w="0">
            <a:noFill/>
          </a:ln>
        </p:spPr>
      </p:sp>
      <p:sp>
        <p:nvSpPr>
          <p:cNvPr id="212"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13" name="PlaceHolder 3"/>
          <p:cNvSpPr>
            <a:spLocks noGrp="1"/>
          </p:cNvSpPr>
          <p:nvPr>
            <p:ph type="sldNum" idx="12"/>
          </p:nvPr>
        </p:nvSpPr>
        <p:spPr>
          <a:xfrm>
            <a:off x="3884760" y="8685360"/>
            <a:ext cx="2970720" cy="4575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92F3F217-7B5C-468E-B1CE-C47D667F0235}"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4" name="PlaceHolder 1"/>
          <p:cNvSpPr>
            <a:spLocks noGrp="1"/>
          </p:cNvSpPr>
          <p:nvPr>
            <p:ph type="sldImg"/>
          </p:nvPr>
        </p:nvSpPr>
        <p:spPr>
          <a:xfrm>
            <a:off x="685800" y="1143000"/>
            <a:ext cx="5485320" cy="3085200"/>
          </a:xfrm>
          <a:prstGeom prst="rect">
            <a:avLst/>
          </a:prstGeom>
          <a:ln w="0">
            <a:noFill/>
          </a:ln>
        </p:spPr>
      </p:sp>
      <p:sp>
        <p:nvSpPr>
          <p:cNvPr id="215"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16" name="PlaceHolder 3"/>
          <p:cNvSpPr>
            <a:spLocks noGrp="1"/>
          </p:cNvSpPr>
          <p:nvPr>
            <p:ph type="sldNum" idx="13"/>
          </p:nvPr>
        </p:nvSpPr>
        <p:spPr>
          <a:xfrm>
            <a:off x="3884760" y="8685360"/>
            <a:ext cx="2970720" cy="4575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80BF482A-F407-4790-99F2-CD64D0218C0B}"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7" name="PlaceHolder 1"/>
          <p:cNvSpPr>
            <a:spLocks noGrp="1"/>
          </p:cNvSpPr>
          <p:nvPr>
            <p:ph type="sldImg"/>
          </p:nvPr>
        </p:nvSpPr>
        <p:spPr>
          <a:xfrm>
            <a:off x="685800" y="1143000"/>
            <a:ext cx="5485320" cy="3085200"/>
          </a:xfrm>
          <a:prstGeom prst="rect">
            <a:avLst/>
          </a:prstGeom>
          <a:ln w="0">
            <a:noFill/>
          </a:ln>
        </p:spPr>
      </p:sp>
      <p:sp>
        <p:nvSpPr>
          <p:cNvPr id="218"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19" name="PlaceHolder 3"/>
          <p:cNvSpPr>
            <a:spLocks noGrp="1"/>
          </p:cNvSpPr>
          <p:nvPr>
            <p:ph type="sldNum" idx="14"/>
          </p:nvPr>
        </p:nvSpPr>
        <p:spPr>
          <a:xfrm>
            <a:off x="3884760" y="8685360"/>
            <a:ext cx="2970720" cy="4575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9923325A-E904-4295-A9FB-133AC4DEABBE}"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9 master">
    <p:spTree>
      <p:nvGrpSpPr>
        <p:cNvPr id="1" name=""/>
        <p:cNvGrpSpPr/>
        <p:nvPr/>
      </p:nvGrpSpPr>
      <p:grpSpPr>
        <a:xfrm>
          <a:off x="0" y="0"/>
          <a:ext cx="0" cy="0"/>
          <a:chOff x="0" y="0"/>
          <a:chExt cx="0" cy="0"/>
        </a:xfrm>
      </p:grpSpPr>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10 master">
    <p:spTree>
      <p:nvGrpSpPr>
        <p:cNvPr id="1" name=""/>
        <p:cNvGrpSpPr/>
        <p:nvPr/>
      </p:nvGrpSpPr>
      <p:grpSpPr>
        <a:xfrm>
          <a:off x="0" y="0"/>
          <a:ext cx="0" cy="0"/>
          <a:chOff x="0" y="0"/>
          <a:chExt cx="0" cy="0"/>
        </a:xfrm>
      </p:grpSpPr>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11 master">
    <p:spTree>
      <p:nvGrpSpPr>
        <p:cNvPr id="1" name=""/>
        <p:cNvGrpSpPr/>
        <p:nvPr/>
      </p:nvGrpSpPr>
      <p:grpSpPr>
        <a:xfrm>
          <a:off x="0" y="0"/>
          <a:ext cx="0" cy="0"/>
          <a:chOff x="0" y="0"/>
          <a:chExt cx="0" cy="0"/>
        </a:xfrm>
      </p:grpSpPr>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1 master">
    <p:spTree>
      <p:nvGrpSpPr>
        <p:cNvPr id="1" name=""/>
        <p:cNvGrpSpPr/>
        <p:nvPr/>
      </p:nvGrpSpPr>
      <p:grpSpPr>
        <a:xfrm>
          <a:off x="0" y="0"/>
          <a:ext cx="0" cy="0"/>
          <a:chOff x="0" y="0"/>
          <a:chExt cx="0" cy="0"/>
        </a:xfrm>
      </p:grpSpPr>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2 master">
    <p:spTree>
      <p:nvGrpSpPr>
        <p:cNvPr id="1" name=""/>
        <p:cNvGrpSpPr/>
        <p:nvPr/>
      </p:nvGrpSpPr>
      <p:grpSpPr>
        <a:xfrm>
          <a:off x="0" y="0"/>
          <a:ext cx="0" cy="0"/>
          <a:chOff x="0" y="0"/>
          <a:chExt cx="0" cy="0"/>
        </a:xfrm>
      </p:grpSpPr>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3 master">
    <p:spTree>
      <p:nvGrpSpPr>
        <p:cNvPr id="1" name=""/>
        <p:cNvGrpSpPr/>
        <p:nvPr/>
      </p:nvGrpSpPr>
      <p:grpSpPr>
        <a:xfrm>
          <a:off x="0" y="0"/>
          <a:ext cx="0" cy="0"/>
          <a:chOff x="0" y="0"/>
          <a:chExt cx="0" cy="0"/>
        </a:xfrm>
      </p:grpSpPr>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4 master">
    <p:spTree>
      <p:nvGrpSpPr>
        <p:cNvPr id="1" name=""/>
        <p:cNvGrpSpPr/>
        <p:nvPr/>
      </p:nvGrpSpPr>
      <p:grpSpPr>
        <a:xfrm>
          <a:off x="0" y="0"/>
          <a:ext cx="0" cy="0"/>
          <a:chOff x="0" y="0"/>
          <a:chExt cx="0" cy="0"/>
        </a:xfrm>
      </p:grpSpPr>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5 master">
    <p:spTree>
      <p:nvGrpSpPr>
        <p:cNvPr id="1" name=""/>
        <p:cNvGrpSpPr/>
        <p:nvPr/>
      </p:nvGrpSpPr>
      <p:grpSpPr>
        <a:xfrm>
          <a:off x="0" y="0"/>
          <a:ext cx="0" cy="0"/>
          <a:chOff x="0" y="0"/>
          <a:chExt cx="0" cy="0"/>
        </a:xfrm>
      </p:grpSpPr>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6 master">
    <p:spTree>
      <p:nvGrpSpPr>
        <p:cNvPr id="1" name=""/>
        <p:cNvGrpSpPr/>
        <p:nvPr/>
      </p:nvGrpSpPr>
      <p:grpSpPr>
        <a:xfrm>
          <a:off x="0" y="0"/>
          <a:ext cx="0" cy="0"/>
          <a:chOff x="0" y="0"/>
          <a:chExt cx="0" cy="0"/>
        </a:xfrm>
      </p:grpSpPr>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7 master">
    <p:spTree>
      <p:nvGrpSpPr>
        <p:cNvPr id="1" name=""/>
        <p:cNvGrpSpPr/>
        <p:nvPr/>
      </p:nvGrpSpPr>
      <p:grpSpPr>
        <a:xfrm>
          <a:off x="0" y="0"/>
          <a:ext cx="0" cy="0"/>
          <a:chOff x="0" y="0"/>
          <a:chExt cx="0" cy="0"/>
        </a:xfrm>
      </p:grpSpPr>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8 master">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Shape 0"/>
          <p:cNvSpPr/>
          <p:nvPr/>
        </p:nvSpPr>
        <p:spPr>
          <a:xfrm>
            <a:off x="0" y="0"/>
            <a:ext cx="14629320" cy="8228520"/>
          </a:xfrm>
          <a:prstGeom prst="rect">
            <a:avLst/>
          </a:prstGeom>
          <a:solidFill>
            <a:srgbClr val="181a1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 name="Shape 1"/>
          <p:cNvSpPr/>
          <p:nvPr/>
        </p:nvSpPr>
        <p:spPr>
          <a:xfrm>
            <a:off x="0" y="0"/>
            <a:ext cx="14629320" cy="8228520"/>
          </a:xfrm>
          <a:prstGeom prst="rect">
            <a:avLst/>
          </a:prstGeom>
          <a:solidFill>
            <a:srgbClr val="11121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3"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Shape 0"/>
          <p:cNvSpPr/>
          <p:nvPr/>
        </p:nvSpPr>
        <p:spPr>
          <a:xfrm>
            <a:off x="0" y="0"/>
            <a:ext cx="14629320" cy="8228520"/>
          </a:xfrm>
          <a:prstGeom prst="rect">
            <a:avLst/>
          </a:prstGeom>
          <a:solidFill>
            <a:srgbClr val="181a1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 name="Shape 1"/>
          <p:cNvSpPr/>
          <p:nvPr/>
        </p:nvSpPr>
        <p:spPr>
          <a:xfrm>
            <a:off x="0" y="0"/>
            <a:ext cx="14629320" cy="8228520"/>
          </a:xfrm>
          <a:prstGeom prst="rect">
            <a:avLst/>
          </a:prstGeom>
          <a:solidFill>
            <a:srgbClr val="11121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7"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 name="Shape 0"/>
          <p:cNvSpPr/>
          <p:nvPr/>
        </p:nvSpPr>
        <p:spPr>
          <a:xfrm>
            <a:off x="0" y="0"/>
            <a:ext cx="14629320" cy="8228520"/>
          </a:xfrm>
          <a:prstGeom prst="rect">
            <a:avLst/>
          </a:prstGeom>
          <a:solidFill>
            <a:srgbClr val="181a1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 name="Shape 1"/>
          <p:cNvSpPr/>
          <p:nvPr/>
        </p:nvSpPr>
        <p:spPr>
          <a:xfrm>
            <a:off x="0" y="0"/>
            <a:ext cx="14629320" cy="8228520"/>
          </a:xfrm>
          <a:prstGeom prst="rect">
            <a:avLst/>
          </a:prstGeom>
          <a:solidFill>
            <a:srgbClr val="11121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1"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 name="Shape 0"/>
          <p:cNvSpPr/>
          <p:nvPr/>
        </p:nvSpPr>
        <p:spPr>
          <a:xfrm>
            <a:off x="0" y="0"/>
            <a:ext cx="14629320" cy="8228520"/>
          </a:xfrm>
          <a:prstGeom prst="rect">
            <a:avLst/>
          </a:prstGeom>
          <a:solidFill>
            <a:srgbClr val="181a1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 name="Shape 1"/>
          <p:cNvSpPr/>
          <p:nvPr/>
        </p:nvSpPr>
        <p:spPr>
          <a:xfrm>
            <a:off x="0" y="0"/>
            <a:ext cx="14629320" cy="8228520"/>
          </a:xfrm>
          <a:prstGeom prst="rect">
            <a:avLst/>
          </a:prstGeom>
          <a:solidFill>
            <a:srgbClr val="11121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5"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 name="Shape 0"/>
          <p:cNvSpPr/>
          <p:nvPr/>
        </p:nvSpPr>
        <p:spPr>
          <a:xfrm>
            <a:off x="0" y="0"/>
            <a:ext cx="14629320" cy="8228520"/>
          </a:xfrm>
          <a:prstGeom prst="rect">
            <a:avLst/>
          </a:prstGeom>
          <a:solidFill>
            <a:srgbClr val="181a1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 name="Shape 1"/>
          <p:cNvSpPr/>
          <p:nvPr/>
        </p:nvSpPr>
        <p:spPr>
          <a:xfrm>
            <a:off x="0" y="0"/>
            <a:ext cx="14629320" cy="8228520"/>
          </a:xfrm>
          <a:prstGeom prst="rect">
            <a:avLst/>
          </a:prstGeom>
          <a:solidFill>
            <a:srgbClr val="11121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9"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 name="Shape 0"/>
          <p:cNvSpPr/>
          <p:nvPr/>
        </p:nvSpPr>
        <p:spPr>
          <a:xfrm>
            <a:off x="0" y="0"/>
            <a:ext cx="14629320" cy="8228520"/>
          </a:xfrm>
          <a:prstGeom prst="rect">
            <a:avLst/>
          </a:prstGeom>
          <a:solidFill>
            <a:srgbClr val="181a1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1" name="Shape 1"/>
          <p:cNvSpPr/>
          <p:nvPr/>
        </p:nvSpPr>
        <p:spPr>
          <a:xfrm>
            <a:off x="0" y="0"/>
            <a:ext cx="14629320" cy="8228520"/>
          </a:xfrm>
          <a:prstGeom prst="rect">
            <a:avLst/>
          </a:prstGeom>
          <a:solidFill>
            <a:srgbClr val="11121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2"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23"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 name="Shape 0"/>
          <p:cNvSpPr/>
          <p:nvPr/>
        </p:nvSpPr>
        <p:spPr>
          <a:xfrm>
            <a:off x="0" y="0"/>
            <a:ext cx="14629320" cy="8228520"/>
          </a:xfrm>
          <a:prstGeom prst="rect">
            <a:avLst/>
          </a:prstGeom>
          <a:solidFill>
            <a:srgbClr val="181a1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5" name="Shape 1"/>
          <p:cNvSpPr/>
          <p:nvPr/>
        </p:nvSpPr>
        <p:spPr>
          <a:xfrm>
            <a:off x="0" y="0"/>
            <a:ext cx="14629320" cy="8228520"/>
          </a:xfrm>
          <a:prstGeom prst="rect">
            <a:avLst/>
          </a:prstGeom>
          <a:solidFill>
            <a:srgbClr val="11121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27"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 name="Shape 0"/>
          <p:cNvSpPr/>
          <p:nvPr/>
        </p:nvSpPr>
        <p:spPr>
          <a:xfrm>
            <a:off x="0" y="0"/>
            <a:ext cx="14629320" cy="8228520"/>
          </a:xfrm>
          <a:prstGeom prst="rect">
            <a:avLst/>
          </a:prstGeom>
          <a:solidFill>
            <a:srgbClr val="181a1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9" name="Shape 1"/>
          <p:cNvSpPr/>
          <p:nvPr/>
        </p:nvSpPr>
        <p:spPr>
          <a:xfrm>
            <a:off x="0" y="0"/>
            <a:ext cx="14629320" cy="8228520"/>
          </a:xfrm>
          <a:prstGeom prst="rect">
            <a:avLst/>
          </a:prstGeom>
          <a:solidFill>
            <a:srgbClr val="11121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0"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31"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 name="Shape 0"/>
          <p:cNvSpPr/>
          <p:nvPr/>
        </p:nvSpPr>
        <p:spPr>
          <a:xfrm>
            <a:off x="0" y="0"/>
            <a:ext cx="14629320" cy="8228520"/>
          </a:xfrm>
          <a:prstGeom prst="rect">
            <a:avLst/>
          </a:prstGeom>
          <a:solidFill>
            <a:srgbClr val="181a1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3" name="Shape 1"/>
          <p:cNvSpPr/>
          <p:nvPr/>
        </p:nvSpPr>
        <p:spPr>
          <a:xfrm>
            <a:off x="0" y="0"/>
            <a:ext cx="14629320" cy="8228520"/>
          </a:xfrm>
          <a:prstGeom prst="rect">
            <a:avLst/>
          </a:prstGeom>
          <a:solidFill>
            <a:srgbClr val="11121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4"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35"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 name="Shape 0"/>
          <p:cNvSpPr/>
          <p:nvPr/>
        </p:nvSpPr>
        <p:spPr>
          <a:xfrm>
            <a:off x="0" y="0"/>
            <a:ext cx="14629320" cy="8228520"/>
          </a:xfrm>
          <a:prstGeom prst="rect">
            <a:avLst/>
          </a:prstGeom>
          <a:solidFill>
            <a:srgbClr val="181a1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7" name="Shape 1"/>
          <p:cNvSpPr/>
          <p:nvPr/>
        </p:nvSpPr>
        <p:spPr>
          <a:xfrm>
            <a:off x="0" y="0"/>
            <a:ext cx="14629320" cy="8228520"/>
          </a:xfrm>
          <a:prstGeom prst="rect">
            <a:avLst/>
          </a:prstGeom>
          <a:solidFill>
            <a:srgbClr val="11121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8"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39"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 name="Shape 0"/>
          <p:cNvSpPr/>
          <p:nvPr/>
        </p:nvSpPr>
        <p:spPr>
          <a:xfrm>
            <a:off x="0" y="0"/>
            <a:ext cx="14629320" cy="8228520"/>
          </a:xfrm>
          <a:prstGeom prst="rect">
            <a:avLst/>
          </a:prstGeom>
          <a:solidFill>
            <a:srgbClr val="181a1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1" name="Shape 1"/>
          <p:cNvSpPr/>
          <p:nvPr/>
        </p:nvSpPr>
        <p:spPr>
          <a:xfrm>
            <a:off x="0" y="0"/>
            <a:ext cx="14629320" cy="8228520"/>
          </a:xfrm>
          <a:prstGeom prst="rect">
            <a:avLst/>
          </a:prstGeom>
          <a:solidFill>
            <a:srgbClr val="11121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2"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43"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1"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5.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7.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9.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slideLayout" Target="../slideLayouts/slideLayout10.xml"/><Relationship Id="rId5"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svg"/><Relationship Id="rId3" Type="http://schemas.openxmlformats.org/officeDocument/2006/relationships/image" Target="../media/image9.png"/><Relationship Id="rId4" Type="http://schemas.openxmlformats.org/officeDocument/2006/relationships/image" Target="../media/image10.svg"/><Relationship Id="rId5" Type="http://schemas.openxmlformats.org/officeDocument/2006/relationships/image" Target="../media/image11.png"/><Relationship Id="rId6" Type="http://schemas.openxmlformats.org/officeDocument/2006/relationships/image" Target="../media/image12.svg"/><Relationship Id="rId7" Type="http://schemas.openxmlformats.org/officeDocument/2006/relationships/image" Target="../media/image13.png"/><Relationship Id="rId8" Type="http://schemas.openxmlformats.org/officeDocument/2006/relationships/image" Target="../media/image14.svg"/><Relationship Id="rId9" Type="http://schemas.openxmlformats.org/officeDocument/2006/relationships/slideLayout" Target="../slideLayouts/slideLayout11.xml"/><Relationship Id="rId10"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16.png"/><Relationship Id="rId3" Type="http://schemas.openxmlformats.org/officeDocument/2006/relationships/image" Target="../media/image17.svg"/><Relationship Id="rId4" Type="http://schemas.openxmlformats.org/officeDocument/2006/relationships/image" Target="../media/image18.png"/><Relationship Id="rId5" Type="http://schemas.openxmlformats.org/officeDocument/2006/relationships/image" Target="../media/image19.svg"/><Relationship Id="rId6" Type="http://schemas.openxmlformats.org/officeDocument/2006/relationships/image" Target="../media/image20.png"/><Relationship Id="rId7" Type="http://schemas.openxmlformats.org/officeDocument/2006/relationships/image" Target="../media/image21.svg"/><Relationship Id="rId8" Type="http://schemas.openxmlformats.org/officeDocument/2006/relationships/image" Target="../media/image22.png"/><Relationship Id="rId9" Type="http://schemas.openxmlformats.org/officeDocument/2006/relationships/image" Target="../media/image23.svg"/><Relationship Id="rId10" Type="http://schemas.openxmlformats.org/officeDocument/2006/relationships/image" Target="../media/image24.png"/><Relationship Id="rId11" Type="http://schemas.openxmlformats.org/officeDocument/2006/relationships/image" Target="../media/image25.svg"/><Relationship Id="rId12" Type="http://schemas.openxmlformats.org/officeDocument/2006/relationships/slideLayout" Target="../slideLayouts/slideLayout12.xml"/><Relationship Id="rId1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hyperlink" Target="https://www.google.com/search?q=Return+on+Investment&amp;oq=RO&#304;&amp;gs_lcrp=EgZjaHJvbWUqCggDEAAYgAQYogQyBggAEEUYOTIGCAEQABgeMgcIAhAAGO8FMgoIAxAAGIAEGKIEMgoIBBAAGIAEGKIEMgcIBRAAGO8FMgoIBhAAGIAEGKIEMgYIBxBFGDzSAQg3OTAwajBqN6gCALACAA&amp;sourceid=chrome&amp;ie=UTF-8&amp;ved=2ahUKEwitgL_tg8eTAxXTBtsEHSTwJwwQgK4QegYIAQgAEAM" TargetMode="External"/><Relationship Id="rId2" Type="http://schemas.openxmlformats.org/officeDocument/2006/relationships/image" Target="../media/image26.png"/><Relationship Id="rId3" Type="http://schemas.openxmlformats.org/officeDocument/2006/relationships/slideLayout" Target="../slideLayouts/slideLayout2.xml"/><Relationship Id="rId4"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27.png"/><Relationship Id="rId2" Type="http://schemas.openxmlformats.org/officeDocument/2006/relationships/slideLayout" Target="../slideLayouts/slideLayout3.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28.png"/><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slideLayout" Target="../slideLayouts/slideLayout4.xml"/><Relationship Id="rId6"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32.png"/><Relationship Id="rId2" Type="http://schemas.openxmlformats.org/officeDocument/2006/relationships/slideLayout" Target="../slideLayouts/slideLayout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0" name="Image 0" descr="preencoded.png"/>
          <p:cNvPicPr/>
          <p:nvPr/>
        </p:nvPicPr>
        <p:blipFill>
          <a:blip r:embed="rId1"/>
          <a:stretch/>
        </p:blipFill>
        <p:spPr>
          <a:xfrm>
            <a:off x="0" y="0"/>
            <a:ext cx="5485320" cy="8228520"/>
          </a:xfrm>
          <a:prstGeom prst="rect">
            <a:avLst/>
          </a:prstGeom>
          <a:ln w="0">
            <a:noFill/>
          </a:ln>
        </p:spPr>
      </p:pic>
      <p:sp>
        <p:nvSpPr>
          <p:cNvPr id="51" name="Text 0"/>
          <p:cNvSpPr/>
          <p:nvPr/>
        </p:nvSpPr>
        <p:spPr>
          <a:xfrm>
            <a:off x="6350040" y="2223360"/>
            <a:ext cx="7415280" cy="1839600"/>
          </a:xfrm>
          <a:prstGeom prst="rect">
            <a:avLst/>
          </a:prstGeom>
          <a:noFill/>
          <a:ln w="0">
            <a:noFill/>
          </a:ln>
        </p:spPr>
        <p:style>
          <a:lnRef idx="0"/>
          <a:fillRef idx="0"/>
          <a:effectRef idx="0"/>
          <a:fontRef idx="minor"/>
        </p:style>
        <p:txBody>
          <a:bodyPr lIns="0" rIns="0" tIns="0" bIns="0" anchor="t">
            <a:noAutofit/>
          </a:bodyPr>
          <a:p>
            <a:pPr>
              <a:lnSpc>
                <a:spcPts val="4799"/>
              </a:lnSpc>
              <a:tabLst>
                <a:tab algn="l" pos="0"/>
              </a:tabLst>
            </a:pPr>
            <a:r>
              <a:rPr b="1" lang="en-US" sz="3850" spc="-1" strike="noStrike">
                <a:solidFill>
                  <a:srgbClr val="ffffff"/>
                </a:solidFill>
                <a:latin typeface="Montserrat Bold"/>
                <a:ea typeface="Montserrat Bold"/>
              </a:rPr>
              <a:t>SI-nın Ağıllı Prosesi Avtomatlaşdırması: RPA-dan IPA-ya</a:t>
            </a:r>
            <a:endParaRPr b="0" lang="en-US" sz="3850" spc="-1" strike="noStrike">
              <a:solidFill>
                <a:srgbClr val="000000"/>
              </a:solidFill>
              <a:latin typeface="Arial"/>
            </a:endParaRPr>
          </a:p>
        </p:txBody>
      </p:sp>
      <p:sp>
        <p:nvSpPr>
          <p:cNvPr id="52" name="Text 1"/>
          <p:cNvSpPr/>
          <p:nvPr/>
        </p:nvSpPr>
        <p:spPr>
          <a:xfrm>
            <a:off x="6350040" y="4387680"/>
            <a:ext cx="7415280" cy="97092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Gündəlik tapşırıqların sadə avtomatlaşdırılmasından süni intellektlə gücləndirilmiş, konteksti başa düşən sistemlərə doğru — müasir iş dünyasının transformasiya yolculuğu.</a:t>
            </a:r>
            <a:endParaRPr b="0" lang="en-US" sz="1700" spc="-1" strike="noStrike">
              <a:solidFill>
                <a:srgbClr val="000000"/>
              </a:solidFill>
              <a:latin typeface="Arial"/>
            </a:endParaRPr>
          </a:p>
        </p:txBody>
      </p:sp>
      <p:sp>
        <p:nvSpPr>
          <p:cNvPr id="53" name="Shape 2"/>
          <p:cNvSpPr/>
          <p:nvPr/>
        </p:nvSpPr>
        <p:spPr>
          <a:xfrm>
            <a:off x="6458040" y="5602320"/>
            <a:ext cx="1992600" cy="402840"/>
          </a:xfrm>
          <a:prstGeom prst="roundRect">
            <a:avLst>
              <a:gd name="adj" fmla="val 6417"/>
            </a:avLst>
          </a:prstGeom>
          <a:noFill/>
          <a:ln w="7620">
            <a:solidFill>
              <a:srgbClr val="ffffff"/>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54" name="Text 3"/>
          <p:cNvSpPr/>
          <p:nvPr/>
        </p:nvSpPr>
        <p:spPr>
          <a:xfrm>
            <a:off x="6487200" y="5675040"/>
            <a:ext cx="1718280" cy="258120"/>
          </a:xfrm>
          <a:prstGeom prst="rect">
            <a:avLst/>
          </a:prstGeom>
          <a:noFill/>
          <a:ln w="0">
            <a:noFill/>
          </a:ln>
        </p:spPr>
        <p:style>
          <a:lnRef idx="0"/>
          <a:fillRef idx="0"/>
          <a:effectRef idx="0"/>
          <a:fontRef idx="minor"/>
        </p:style>
        <p:txBody>
          <a:bodyPr wrap="none" lIns="0" rIns="0" tIns="0" bIns="0" anchor="t">
            <a:noAutofit/>
          </a:bodyPr>
          <a:p>
            <a:pPr>
              <a:lnSpc>
                <a:spcPts val="2001"/>
              </a:lnSpc>
              <a:tabLst>
                <a:tab algn="l" pos="0"/>
              </a:tabLst>
            </a:pPr>
            <a:r>
              <a:rPr b="0" lang="en-US" sz="1350" spc="-1" strike="noStrike">
                <a:solidFill>
                  <a:srgbClr val="ffffff"/>
                </a:solidFill>
                <a:latin typeface="Source Sans 3"/>
                <a:ea typeface="Source Sans 3"/>
              </a:rPr>
              <a:t>PEŞƏKAR TƏLIM KURSU</a:t>
            </a:r>
            <a:endParaRPr b="0" lang="en-US" sz="13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 name="Text 0"/>
          <p:cNvSpPr/>
          <p:nvPr/>
        </p:nvSpPr>
        <p:spPr>
          <a:xfrm>
            <a:off x="863640" y="1287360"/>
            <a:ext cx="6845400" cy="612360"/>
          </a:xfrm>
          <a:prstGeom prst="rect">
            <a:avLst/>
          </a:prstGeom>
          <a:noFill/>
          <a:ln w="0">
            <a:noFill/>
          </a:ln>
        </p:spPr>
        <p:style>
          <a:lnRef idx="0"/>
          <a:fillRef idx="0"/>
          <a:effectRef idx="0"/>
          <a:fontRef idx="minor"/>
        </p:style>
        <p:txBody>
          <a:bodyPr wrap="none" lIns="0" rIns="0" tIns="0" bIns="0" anchor="t">
            <a:noAutofit/>
          </a:bodyPr>
          <a:p>
            <a:pPr>
              <a:lnSpc>
                <a:spcPts val="4799"/>
              </a:lnSpc>
              <a:tabLst>
                <a:tab algn="l" pos="0"/>
              </a:tabLst>
            </a:pPr>
            <a:r>
              <a:rPr b="1" lang="en-US" sz="3850" spc="-1" strike="noStrike">
                <a:solidFill>
                  <a:srgbClr val="ffffff"/>
                </a:solidFill>
                <a:latin typeface="Montserrat Bold"/>
                <a:ea typeface="Montserrat Bold"/>
              </a:rPr>
              <a:t>Bu Gün Nəyi Öyrənəcəyik?</a:t>
            </a:r>
            <a:endParaRPr b="0" lang="en-US" sz="3850" spc="-1" strike="noStrike">
              <a:solidFill>
                <a:srgbClr val="000000"/>
              </a:solidFill>
              <a:latin typeface="Arial"/>
            </a:endParaRPr>
          </a:p>
        </p:txBody>
      </p:sp>
      <p:sp>
        <p:nvSpPr>
          <p:cNvPr id="56" name="Text 1"/>
          <p:cNvSpPr/>
          <p:nvPr/>
        </p:nvSpPr>
        <p:spPr>
          <a:xfrm>
            <a:off x="863640" y="2332800"/>
            <a:ext cx="12901680" cy="64692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Bu dərsdə biz gündəlik tapşırıqların avtomatlaşdırılmasından intellektual avtomatlaşdırmaya keçidin yolunu birlikdə kəşf edəcəyik — məhz o nöqtəyə çatacağıq ki, süni intellekt artıq yalnız icra etmir, </a:t>
            </a:r>
            <a:r>
              <a:rPr b="1" lang="en-US" sz="1700" spc="-1" strike="noStrike">
                <a:solidFill>
                  <a:srgbClr val="e2e6e9"/>
                </a:solidFill>
                <a:latin typeface="Source Sans 3"/>
                <a:ea typeface="Source Sans 3"/>
              </a:rPr>
              <a:t>konteksti başa düşür</a:t>
            </a:r>
            <a:r>
              <a:rPr b="0" lang="en-US" sz="1700" spc="-1" strike="noStrike">
                <a:solidFill>
                  <a:srgbClr val="e2e6e9"/>
                </a:solidFill>
                <a:latin typeface="Source Sans 3"/>
                <a:ea typeface="Source Sans 3"/>
              </a:rPr>
              <a:t>.</a:t>
            </a:r>
            <a:endParaRPr b="0" lang="en-US" sz="1700" spc="-1" strike="noStrike">
              <a:solidFill>
                <a:srgbClr val="000000"/>
              </a:solidFill>
              <a:latin typeface="Arial"/>
            </a:endParaRPr>
          </a:p>
        </p:txBody>
      </p:sp>
      <p:sp>
        <p:nvSpPr>
          <p:cNvPr id="57" name="Text 2"/>
          <p:cNvSpPr/>
          <p:nvPr/>
        </p:nvSpPr>
        <p:spPr>
          <a:xfrm>
            <a:off x="863640" y="3223440"/>
            <a:ext cx="214920" cy="268920"/>
          </a:xfrm>
          <a:prstGeom prst="rect">
            <a:avLst/>
          </a:prstGeom>
          <a:noFill/>
          <a:ln w="0">
            <a:noFill/>
          </a:ln>
        </p:spPr>
        <p:style>
          <a:lnRef idx="0"/>
          <a:fillRef idx="0"/>
          <a:effectRef idx="0"/>
          <a:fontRef idx="minor"/>
        </p:style>
        <p:txBody>
          <a:bodyPr wrap="none" lIns="0" rIns="0" tIns="0" bIns="0" anchor="t">
            <a:noAutofit/>
          </a:bodyPr>
          <a:p>
            <a:pPr>
              <a:lnSpc>
                <a:spcPts val="2551"/>
              </a:lnSpc>
              <a:tabLst>
                <a:tab algn="l" pos="0"/>
              </a:tabLst>
            </a:pPr>
            <a:r>
              <a:rPr b="0" lang="en-US" sz="1700" spc="-1" strike="noStrike">
                <a:solidFill>
                  <a:srgbClr val="e2e6e9"/>
                </a:solidFill>
                <a:latin typeface="Montserrat Light"/>
                <a:ea typeface="Montserrat Light"/>
              </a:rPr>
              <a:t>01</a:t>
            </a:r>
            <a:endParaRPr b="0" lang="en-US" sz="1700" spc="-1" strike="noStrike">
              <a:solidFill>
                <a:srgbClr val="000000"/>
              </a:solidFill>
              <a:latin typeface="Arial"/>
            </a:endParaRPr>
          </a:p>
        </p:txBody>
      </p:sp>
      <p:sp>
        <p:nvSpPr>
          <p:cNvPr id="58" name="Shape 3"/>
          <p:cNvSpPr/>
          <p:nvPr/>
        </p:nvSpPr>
        <p:spPr>
          <a:xfrm>
            <a:off x="863640" y="3560040"/>
            <a:ext cx="6342480" cy="29520"/>
          </a:xfrm>
          <a:prstGeom prst="rect">
            <a:avLst/>
          </a:prstGeom>
          <a:solidFill>
            <a:srgbClr val="ffffff"/>
          </a:solidFill>
          <a:ln w="0">
            <a:noFill/>
          </a:ln>
        </p:spPr>
        <p:style>
          <a:lnRef idx="0"/>
          <a:fillRef idx="0"/>
          <a:effectRef idx="0"/>
          <a:fontRef idx="minor"/>
        </p:style>
        <p:txBody>
          <a:bodyPr lIns="90000" rIns="90000" tIns="-14400" bIns="-14400" anchor="t">
            <a:noAutofit/>
          </a:bodyPr>
          <a:p>
            <a:pPr>
              <a:lnSpc>
                <a:spcPct val="100000"/>
              </a:lnSpc>
            </a:pPr>
            <a:endParaRPr b="0" lang="en-US" sz="1800" spc="-1" strike="noStrike">
              <a:solidFill>
                <a:srgbClr val="000000"/>
              </a:solidFill>
              <a:latin typeface="Arial"/>
            </a:endParaRPr>
          </a:p>
        </p:txBody>
      </p:sp>
      <p:sp>
        <p:nvSpPr>
          <p:cNvPr id="59" name="Text 4"/>
          <p:cNvSpPr/>
          <p:nvPr/>
        </p:nvSpPr>
        <p:spPr>
          <a:xfrm>
            <a:off x="863640" y="3728880"/>
            <a:ext cx="2453040" cy="30564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1" lang="en-US" sz="1900" spc="-1" strike="noStrike">
                <a:solidFill>
                  <a:srgbClr val="e2e6e9"/>
                </a:solidFill>
                <a:latin typeface="Montserrat Bold"/>
                <a:ea typeface="Montserrat Bold"/>
              </a:rPr>
              <a:t>RPA-nı anlamaq</a:t>
            </a:r>
            <a:endParaRPr b="0" lang="en-US" sz="1900" spc="-1" strike="noStrike">
              <a:solidFill>
                <a:srgbClr val="000000"/>
              </a:solidFill>
              <a:latin typeface="Arial"/>
            </a:endParaRPr>
          </a:p>
        </p:txBody>
      </p:sp>
      <p:sp>
        <p:nvSpPr>
          <p:cNvPr id="60" name="Text 5"/>
          <p:cNvSpPr/>
          <p:nvPr/>
        </p:nvSpPr>
        <p:spPr>
          <a:xfrm>
            <a:off x="863640" y="4165200"/>
            <a:ext cx="6342480" cy="64692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Robot Proses Avtomatlaşdırmasının əsas prinsiplərini, üstünlüklərini və klassik istifadə hallarını öyrənmək.</a:t>
            </a:r>
            <a:endParaRPr b="0" lang="en-US" sz="1700" spc="-1" strike="noStrike">
              <a:solidFill>
                <a:srgbClr val="000000"/>
              </a:solidFill>
              <a:latin typeface="Arial"/>
            </a:endParaRPr>
          </a:p>
        </p:txBody>
      </p:sp>
      <p:sp>
        <p:nvSpPr>
          <p:cNvPr id="61" name="Text 6"/>
          <p:cNvSpPr/>
          <p:nvPr/>
        </p:nvSpPr>
        <p:spPr>
          <a:xfrm>
            <a:off x="7423200" y="3223440"/>
            <a:ext cx="214920" cy="268920"/>
          </a:xfrm>
          <a:prstGeom prst="rect">
            <a:avLst/>
          </a:prstGeom>
          <a:noFill/>
          <a:ln w="0">
            <a:noFill/>
          </a:ln>
        </p:spPr>
        <p:style>
          <a:lnRef idx="0"/>
          <a:fillRef idx="0"/>
          <a:effectRef idx="0"/>
          <a:fontRef idx="minor"/>
        </p:style>
        <p:txBody>
          <a:bodyPr wrap="none" lIns="0" rIns="0" tIns="0" bIns="0" anchor="t">
            <a:noAutofit/>
          </a:bodyPr>
          <a:p>
            <a:pPr>
              <a:lnSpc>
                <a:spcPts val="2551"/>
              </a:lnSpc>
              <a:tabLst>
                <a:tab algn="l" pos="0"/>
              </a:tabLst>
            </a:pPr>
            <a:r>
              <a:rPr b="0" lang="en-US" sz="1700" spc="-1" strike="noStrike">
                <a:solidFill>
                  <a:srgbClr val="e2e6e9"/>
                </a:solidFill>
                <a:latin typeface="Montserrat Light"/>
                <a:ea typeface="Montserrat Light"/>
              </a:rPr>
              <a:t>02</a:t>
            </a:r>
            <a:endParaRPr b="0" lang="en-US" sz="1700" spc="-1" strike="noStrike">
              <a:solidFill>
                <a:srgbClr val="000000"/>
              </a:solidFill>
              <a:latin typeface="Arial"/>
            </a:endParaRPr>
          </a:p>
        </p:txBody>
      </p:sp>
      <p:sp>
        <p:nvSpPr>
          <p:cNvPr id="62" name="Shape 7"/>
          <p:cNvSpPr/>
          <p:nvPr/>
        </p:nvSpPr>
        <p:spPr>
          <a:xfrm>
            <a:off x="7423200" y="3560040"/>
            <a:ext cx="6342480" cy="29520"/>
          </a:xfrm>
          <a:prstGeom prst="rect">
            <a:avLst/>
          </a:prstGeom>
          <a:solidFill>
            <a:srgbClr val="ffffff"/>
          </a:solidFill>
          <a:ln w="0">
            <a:noFill/>
          </a:ln>
        </p:spPr>
        <p:style>
          <a:lnRef idx="0"/>
          <a:fillRef idx="0"/>
          <a:effectRef idx="0"/>
          <a:fontRef idx="minor"/>
        </p:style>
        <p:txBody>
          <a:bodyPr lIns="90000" rIns="90000" tIns="-14400" bIns="-14400" anchor="t">
            <a:noAutofit/>
          </a:bodyPr>
          <a:p>
            <a:pPr>
              <a:lnSpc>
                <a:spcPct val="100000"/>
              </a:lnSpc>
            </a:pPr>
            <a:endParaRPr b="0" lang="en-US" sz="1800" spc="-1" strike="noStrike">
              <a:solidFill>
                <a:srgbClr val="000000"/>
              </a:solidFill>
              <a:latin typeface="Arial"/>
            </a:endParaRPr>
          </a:p>
        </p:txBody>
      </p:sp>
      <p:sp>
        <p:nvSpPr>
          <p:cNvPr id="63" name="Text 8"/>
          <p:cNvSpPr/>
          <p:nvPr/>
        </p:nvSpPr>
        <p:spPr>
          <a:xfrm>
            <a:off x="7423200" y="3728880"/>
            <a:ext cx="4632480" cy="30564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1" lang="en-US" sz="1900" spc="-1" strike="noStrike">
                <a:solidFill>
                  <a:srgbClr val="e2e6e9"/>
                </a:solidFill>
                <a:latin typeface="Montserrat Bold"/>
                <a:ea typeface="Montserrat Bold"/>
              </a:rPr>
              <a:t>Məhdudiyyətləri müəyyənləşdirmək</a:t>
            </a:r>
            <a:endParaRPr b="0" lang="en-US" sz="1900" spc="-1" strike="noStrike">
              <a:solidFill>
                <a:srgbClr val="000000"/>
              </a:solidFill>
              <a:latin typeface="Arial"/>
            </a:endParaRPr>
          </a:p>
        </p:txBody>
      </p:sp>
      <p:sp>
        <p:nvSpPr>
          <p:cNvPr id="64" name="Text 9"/>
          <p:cNvSpPr/>
          <p:nvPr/>
        </p:nvSpPr>
        <p:spPr>
          <a:xfrm>
            <a:off x="7423200" y="4165200"/>
            <a:ext cx="6342480" cy="64692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Klassik RPA-nın harada dayandığını və niyə daha ağıllı həllərə ehtiyac olduğunu anlamaq.</a:t>
            </a:r>
            <a:endParaRPr b="0" lang="en-US" sz="1700" spc="-1" strike="noStrike">
              <a:solidFill>
                <a:srgbClr val="000000"/>
              </a:solidFill>
              <a:latin typeface="Arial"/>
            </a:endParaRPr>
          </a:p>
        </p:txBody>
      </p:sp>
      <p:sp>
        <p:nvSpPr>
          <p:cNvPr id="65" name="Text 10"/>
          <p:cNvSpPr/>
          <p:nvPr/>
        </p:nvSpPr>
        <p:spPr>
          <a:xfrm>
            <a:off x="863640" y="5190840"/>
            <a:ext cx="214920" cy="268920"/>
          </a:xfrm>
          <a:prstGeom prst="rect">
            <a:avLst/>
          </a:prstGeom>
          <a:noFill/>
          <a:ln w="0">
            <a:noFill/>
          </a:ln>
        </p:spPr>
        <p:style>
          <a:lnRef idx="0"/>
          <a:fillRef idx="0"/>
          <a:effectRef idx="0"/>
          <a:fontRef idx="minor"/>
        </p:style>
        <p:txBody>
          <a:bodyPr wrap="none" lIns="0" rIns="0" tIns="0" bIns="0" anchor="t">
            <a:noAutofit/>
          </a:bodyPr>
          <a:p>
            <a:pPr>
              <a:lnSpc>
                <a:spcPts val="2551"/>
              </a:lnSpc>
              <a:tabLst>
                <a:tab algn="l" pos="0"/>
              </a:tabLst>
            </a:pPr>
            <a:r>
              <a:rPr b="0" lang="en-US" sz="1700" spc="-1" strike="noStrike">
                <a:solidFill>
                  <a:srgbClr val="e2e6e9"/>
                </a:solidFill>
                <a:latin typeface="Montserrat Light"/>
                <a:ea typeface="Montserrat Light"/>
              </a:rPr>
              <a:t>03</a:t>
            </a:r>
            <a:endParaRPr b="0" lang="en-US" sz="1700" spc="-1" strike="noStrike">
              <a:solidFill>
                <a:srgbClr val="000000"/>
              </a:solidFill>
              <a:latin typeface="Arial"/>
            </a:endParaRPr>
          </a:p>
        </p:txBody>
      </p:sp>
      <p:sp>
        <p:nvSpPr>
          <p:cNvPr id="66" name="Shape 11"/>
          <p:cNvSpPr/>
          <p:nvPr/>
        </p:nvSpPr>
        <p:spPr>
          <a:xfrm>
            <a:off x="863640" y="5527080"/>
            <a:ext cx="6342480" cy="29520"/>
          </a:xfrm>
          <a:prstGeom prst="rect">
            <a:avLst/>
          </a:prstGeom>
          <a:solidFill>
            <a:srgbClr val="ffffff"/>
          </a:solidFill>
          <a:ln w="0">
            <a:noFill/>
          </a:ln>
        </p:spPr>
        <p:style>
          <a:lnRef idx="0"/>
          <a:fillRef idx="0"/>
          <a:effectRef idx="0"/>
          <a:fontRef idx="minor"/>
        </p:style>
        <p:txBody>
          <a:bodyPr lIns="90000" rIns="90000" tIns="-14400" bIns="-14400" anchor="t">
            <a:noAutofit/>
          </a:bodyPr>
          <a:p>
            <a:pPr>
              <a:lnSpc>
                <a:spcPct val="100000"/>
              </a:lnSpc>
            </a:pPr>
            <a:endParaRPr b="0" lang="en-US" sz="1800" spc="-1" strike="noStrike">
              <a:solidFill>
                <a:srgbClr val="000000"/>
              </a:solidFill>
              <a:latin typeface="Arial"/>
            </a:endParaRPr>
          </a:p>
        </p:txBody>
      </p:sp>
      <p:sp>
        <p:nvSpPr>
          <p:cNvPr id="67" name="Text 12"/>
          <p:cNvSpPr/>
          <p:nvPr/>
        </p:nvSpPr>
        <p:spPr>
          <a:xfrm>
            <a:off x="863640" y="5695920"/>
            <a:ext cx="2453040" cy="30564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1" lang="en-US" sz="1900" spc="-1" strike="noStrike">
                <a:solidFill>
                  <a:srgbClr val="e2e6e9"/>
                </a:solidFill>
                <a:latin typeface="Montserrat Bold"/>
                <a:ea typeface="Montserrat Bold"/>
              </a:rPr>
              <a:t>IPA-ya keçid</a:t>
            </a:r>
            <a:endParaRPr b="0" lang="en-US" sz="1900" spc="-1" strike="noStrike">
              <a:solidFill>
                <a:srgbClr val="000000"/>
              </a:solidFill>
              <a:latin typeface="Arial"/>
            </a:endParaRPr>
          </a:p>
        </p:txBody>
      </p:sp>
      <p:sp>
        <p:nvSpPr>
          <p:cNvPr id="68" name="Text 13"/>
          <p:cNvSpPr/>
          <p:nvPr/>
        </p:nvSpPr>
        <p:spPr>
          <a:xfrm>
            <a:off x="863640" y="6132240"/>
            <a:ext cx="6342480" cy="64692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Süni intellekt texnologiyalarının RPA ilə necə birləşərək Ağıllı Proses Avtomatlaşdırmasını yaratdığını kəşf etmək.</a:t>
            </a:r>
            <a:endParaRPr b="0" lang="en-US" sz="1700" spc="-1" strike="noStrike">
              <a:solidFill>
                <a:srgbClr val="000000"/>
              </a:solidFill>
              <a:latin typeface="Arial"/>
            </a:endParaRPr>
          </a:p>
        </p:txBody>
      </p:sp>
      <p:sp>
        <p:nvSpPr>
          <p:cNvPr id="69" name="Text 14"/>
          <p:cNvSpPr/>
          <p:nvPr/>
        </p:nvSpPr>
        <p:spPr>
          <a:xfrm>
            <a:off x="7423200" y="5190840"/>
            <a:ext cx="214920" cy="268920"/>
          </a:xfrm>
          <a:prstGeom prst="rect">
            <a:avLst/>
          </a:prstGeom>
          <a:noFill/>
          <a:ln w="0">
            <a:noFill/>
          </a:ln>
        </p:spPr>
        <p:style>
          <a:lnRef idx="0"/>
          <a:fillRef idx="0"/>
          <a:effectRef idx="0"/>
          <a:fontRef idx="minor"/>
        </p:style>
        <p:txBody>
          <a:bodyPr wrap="none" lIns="0" rIns="0" tIns="0" bIns="0" anchor="t">
            <a:noAutofit/>
          </a:bodyPr>
          <a:p>
            <a:pPr>
              <a:lnSpc>
                <a:spcPts val="2551"/>
              </a:lnSpc>
              <a:tabLst>
                <a:tab algn="l" pos="0"/>
              </a:tabLst>
            </a:pPr>
            <a:r>
              <a:rPr b="0" lang="en-US" sz="1700" spc="-1" strike="noStrike">
                <a:solidFill>
                  <a:srgbClr val="e2e6e9"/>
                </a:solidFill>
                <a:latin typeface="Montserrat Light"/>
                <a:ea typeface="Montserrat Light"/>
              </a:rPr>
              <a:t>04</a:t>
            </a:r>
            <a:endParaRPr b="0" lang="en-US" sz="1700" spc="-1" strike="noStrike">
              <a:solidFill>
                <a:srgbClr val="000000"/>
              </a:solidFill>
              <a:latin typeface="Arial"/>
            </a:endParaRPr>
          </a:p>
        </p:txBody>
      </p:sp>
      <p:sp>
        <p:nvSpPr>
          <p:cNvPr id="70" name="Shape 15"/>
          <p:cNvSpPr/>
          <p:nvPr/>
        </p:nvSpPr>
        <p:spPr>
          <a:xfrm>
            <a:off x="7423200" y="5527080"/>
            <a:ext cx="6342480" cy="29520"/>
          </a:xfrm>
          <a:prstGeom prst="rect">
            <a:avLst/>
          </a:prstGeom>
          <a:solidFill>
            <a:srgbClr val="ffffff"/>
          </a:solidFill>
          <a:ln w="0">
            <a:noFill/>
          </a:ln>
        </p:spPr>
        <p:style>
          <a:lnRef idx="0"/>
          <a:fillRef idx="0"/>
          <a:effectRef idx="0"/>
          <a:fontRef idx="minor"/>
        </p:style>
        <p:txBody>
          <a:bodyPr lIns="90000" rIns="90000" tIns="-14400" bIns="-14400" anchor="t">
            <a:noAutofit/>
          </a:bodyPr>
          <a:p>
            <a:pPr>
              <a:lnSpc>
                <a:spcPct val="100000"/>
              </a:lnSpc>
            </a:pPr>
            <a:endParaRPr b="0" lang="en-US" sz="1800" spc="-1" strike="noStrike">
              <a:solidFill>
                <a:srgbClr val="000000"/>
              </a:solidFill>
              <a:latin typeface="Arial"/>
            </a:endParaRPr>
          </a:p>
        </p:txBody>
      </p:sp>
      <p:sp>
        <p:nvSpPr>
          <p:cNvPr id="71" name="Text 16"/>
          <p:cNvSpPr/>
          <p:nvPr/>
        </p:nvSpPr>
        <p:spPr>
          <a:xfrm>
            <a:off x="7423200" y="5695920"/>
            <a:ext cx="2453040" cy="30564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1" lang="en-US" sz="1900" spc="-1" strike="noStrike">
                <a:solidFill>
                  <a:srgbClr val="e2e6e9"/>
                </a:solidFill>
                <a:latin typeface="Montserrat Bold"/>
                <a:ea typeface="Montserrat Bold"/>
              </a:rPr>
              <a:t>Praktiki tətbiq</a:t>
            </a:r>
            <a:endParaRPr b="0" lang="en-US" sz="1900" spc="-1" strike="noStrike">
              <a:solidFill>
                <a:srgbClr val="000000"/>
              </a:solidFill>
              <a:latin typeface="Arial"/>
            </a:endParaRPr>
          </a:p>
        </p:txBody>
      </p:sp>
      <p:sp>
        <p:nvSpPr>
          <p:cNvPr id="72" name="Text 17"/>
          <p:cNvSpPr/>
          <p:nvPr/>
        </p:nvSpPr>
        <p:spPr>
          <a:xfrm>
            <a:off x="7423200" y="6132240"/>
            <a:ext cx="6342480" cy="64692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Real iş ssenarilərini təhlil etmək, ROI hesablamaq və öz prosesinizi avtomatlaşdırmaq üçün addımlar atmaq.</a:t>
            </a:r>
            <a:endParaRPr b="0" lang="en-US" sz="17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3" name="Image 0" descr="preencoded.png"/>
          <p:cNvPicPr/>
          <p:nvPr/>
        </p:nvPicPr>
        <p:blipFill>
          <a:blip r:embed="rId1"/>
          <a:stretch/>
        </p:blipFill>
        <p:spPr>
          <a:xfrm>
            <a:off x="9144000" y="0"/>
            <a:ext cx="5485320" cy="8228520"/>
          </a:xfrm>
          <a:prstGeom prst="rect">
            <a:avLst/>
          </a:prstGeom>
          <a:ln w="0">
            <a:noFill/>
          </a:ln>
        </p:spPr>
      </p:pic>
      <p:sp>
        <p:nvSpPr>
          <p:cNvPr id="74" name="Text 0"/>
          <p:cNvSpPr/>
          <p:nvPr/>
        </p:nvSpPr>
        <p:spPr>
          <a:xfrm>
            <a:off x="863640" y="775440"/>
            <a:ext cx="4907520" cy="612360"/>
          </a:xfrm>
          <a:prstGeom prst="rect">
            <a:avLst/>
          </a:prstGeom>
          <a:noFill/>
          <a:ln w="0">
            <a:noFill/>
          </a:ln>
        </p:spPr>
        <p:style>
          <a:lnRef idx="0"/>
          <a:fillRef idx="0"/>
          <a:effectRef idx="0"/>
          <a:fontRef idx="minor"/>
        </p:style>
        <p:txBody>
          <a:bodyPr wrap="none" lIns="0" rIns="0" tIns="0" bIns="0" anchor="t">
            <a:noAutofit/>
          </a:bodyPr>
          <a:p>
            <a:pPr>
              <a:lnSpc>
                <a:spcPts val="4799"/>
              </a:lnSpc>
              <a:tabLst>
                <a:tab algn="l" pos="0"/>
              </a:tabLst>
            </a:pPr>
            <a:r>
              <a:rPr b="1" lang="en-US" sz="3850" spc="-1" strike="noStrike">
                <a:solidFill>
                  <a:srgbClr val="ffffff"/>
                </a:solidFill>
                <a:latin typeface="Montserrat Bold"/>
                <a:ea typeface="Montserrat Bold"/>
              </a:rPr>
              <a:t>RPA Nədir?</a:t>
            </a:r>
            <a:endParaRPr b="0" lang="en-US" sz="3850" spc="-1" strike="noStrike">
              <a:solidFill>
                <a:srgbClr val="000000"/>
              </a:solidFill>
              <a:latin typeface="Arial"/>
            </a:endParaRPr>
          </a:p>
        </p:txBody>
      </p:sp>
      <p:sp>
        <p:nvSpPr>
          <p:cNvPr id="75" name="Text 1"/>
          <p:cNvSpPr/>
          <p:nvPr/>
        </p:nvSpPr>
        <p:spPr>
          <a:xfrm>
            <a:off x="863640" y="1424880"/>
            <a:ext cx="7415280" cy="129492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1" lang="en-US" sz="1700" spc="-1" strike="noStrike">
                <a:solidFill>
                  <a:srgbClr val="e2e6e9"/>
                </a:solidFill>
                <a:latin typeface="Source Sans 3"/>
                <a:ea typeface="Source Sans 3"/>
              </a:rPr>
              <a:t>Robot Proses Avtomatlaşdırması (RPA)</a:t>
            </a:r>
            <a:r>
              <a:rPr b="0" lang="en-US" sz="1700" spc="-1" strike="noStrike">
                <a:solidFill>
                  <a:srgbClr val="e2e6e9"/>
                </a:solidFill>
                <a:latin typeface="Source Sans 3"/>
                <a:ea typeface="Source Sans 3"/>
              </a:rPr>
              <a:t> — proqram təminatı "botları" vasitəsilə insan hərəkətlərini kompüter interfeyslərində dəqiq şəkildə təqlid edən texnologiyadır. Bot sizin əvəzinizə məlumat daxil edir, kopyalayır, yapışdırır, elektron poçt göndərir və sistemlər arasında məlumat ötürür.</a:t>
            </a:r>
            <a:endParaRPr b="0" lang="en-US" sz="1700" spc="-1" strike="noStrike">
              <a:solidFill>
                <a:srgbClr val="000000"/>
              </a:solidFill>
              <a:latin typeface="Arial"/>
            </a:endParaRPr>
          </a:p>
        </p:txBody>
      </p:sp>
      <p:sp>
        <p:nvSpPr>
          <p:cNvPr id="76" name="Shape 2"/>
          <p:cNvSpPr/>
          <p:nvPr/>
        </p:nvSpPr>
        <p:spPr>
          <a:xfrm>
            <a:off x="863640" y="3251880"/>
            <a:ext cx="3599280" cy="2469600"/>
          </a:xfrm>
          <a:prstGeom prst="roundRect">
            <a:avLst>
              <a:gd name="adj" fmla="val 1311"/>
            </a:avLst>
          </a:prstGeom>
          <a:solidFill>
            <a:srgbClr val="30313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7" name="Text 3"/>
          <p:cNvSpPr/>
          <p:nvPr/>
        </p:nvSpPr>
        <p:spPr>
          <a:xfrm>
            <a:off x="1079640" y="3467520"/>
            <a:ext cx="2453040" cy="30564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1" lang="en-US" sz="1900" spc="-1" strike="noStrike">
                <a:solidFill>
                  <a:srgbClr val="000000"/>
                </a:solidFill>
                <a:latin typeface="Montserrat Bold"/>
                <a:ea typeface="Montserrat Bold"/>
              </a:rPr>
              <a:t>📋</a:t>
            </a:r>
            <a:r>
              <a:rPr b="1" lang="en-US" sz="1900" spc="-1" strike="noStrike">
                <a:solidFill>
                  <a:srgbClr val="e2e6e9"/>
                </a:solidFill>
                <a:latin typeface="Montserrat Bold"/>
                <a:ea typeface="Montserrat Bold"/>
              </a:rPr>
              <a:t> </a:t>
            </a:r>
            <a:r>
              <a:rPr b="1" lang="en-US" sz="1900" spc="-1" strike="noStrike">
                <a:solidFill>
                  <a:srgbClr val="e2e6e9"/>
                </a:solidFill>
                <a:latin typeface="Montserrat Bold"/>
                <a:ea typeface="Montserrat Bold"/>
              </a:rPr>
              <a:t>Qaydalara əsaslı</a:t>
            </a:r>
            <a:endParaRPr b="0" lang="en-US" sz="1900" spc="-1" strike="noStrike">
              <a:solidFill>
                <a:srgbClr val="000000"/>
              </a:solidFill>
              <a:latin typeface="Arial"/>
            </a:endParaRPr>
          </a:p>
        </p:txBody>
      </p:sp>
      <p:sp>
        <p:nvSpPr>
          <p:cNvPr id="78" name="Text 4"/>
          <p:cNvSpPr/>
          <p:nvPr/>
        </p:nvSpPr>
        <p:spPr>
          <a:xfrm>
            <a:off x="1079640" y="3903840"/>
            <a:ext cx="3167280" cy="129492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Bot yalnız əvvəlcədən təyin edilmiş, aydın qaydalara uyğun işləyir. Hər addım dəqiq proqramlaşdırılmışdır.</a:t>
            </a:r>
            <a:endParaRPr b="0" lang="en-US" sz="1700" spc="-1" strike="noStrike">
              <a:solidFill>
                <a:srgbClr val="000000"/>
              </a:solidFill>
              <a:latin typeface="Arial"/>
            </a:endParaRPr>
          </a:p>
        </p:txBody>
      </p:sp>
      <p:sp>
        <p:nvSpPr>
          <p:cNvPr id="79" name="Shape 5"/>
          <p:cNvSpPr/>
          <p:nvPr/>
        </p:nvSpPr>
        <p:spPr>
          <a:xfrm>
            <a:off x="4680000" y="3251880"/>
            <a:ext cx="3599280" cy="2469600"/>
          </a:xfrm>
          <a:prstGeom prst="roundRect">
            <a:avLst>
              <a:gd name="adj" fmla="val 1311"/>
            </a:avLst>
          </a:prstGeom>
          <a:solidFill>
            <a:srgbClr val="30313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0" name="Text 6"/>
          <p:cNvSpPr/>
          <p:nvPr/>
        </p:nvSpPr>
        <p:spPr>
          <a:xfrm>
            <a:off x="4895640" y="3467520"/>
            <a:ext cx="3167640" cy="612360"/>
          </a:xfrm>
          <a:prstGeom prst="rect">
            <a:avLst/>
          </a:prstGeom>
          <a:noFill/>
          <a:ln w="0">
            <a:noFill/>
          </a:ln>
        </p:spPr>
        <p:style>
          <a:lnRef idx="0"/>
          <a:fillRef idx="0"/>
          <a:effectRef idx="0"/>
          <a:fontRef idx="minor"/>
        </p:style>
        <p:txBody>
          <a:bodyPr lIns="0" rIns="0" tIns="0" bIns="0" anchor="t">
            <a:noAutofit/>
          </a:bodyPr>
          <a:p>
            <a:pPr>
              <a:lnSpc>
                <a:spcPts val="2401"/>
              </a:lnSpc>
              <a:tabLst>
                <a:tab algn="l" pos="0"/>
              </a:tabLst>
            </a:pPr>
            <a:r>
              <a:rPr b="1" lang="en-US" sz="1900" spc="-1" strike="noStrike">
                <a:solidFill>
                  <a:srgbClr val="000000"/>
                </a:solidFill>
                <a:latin typeface="Montserrat Bold"/>
                <a:ea typeface="Montserrat Bold"/>
              </a:rPr>
              <a:t>🖥️</a:t>
            </a:r>
            <a:r>
              <a:rPr b="1" lang="en-US" sz="1900" spc="-1" strike="noStrike">
                <a:solidFill>
                  <a:srgbClr val="e2e6e9"/>
                </a:solidFill>
                <a:latin typeface="Montserrat Bold"/>
                <a:ea typeface="Montserrat Bold"/>
              </a:rPr>
              <a:t> </a:t>
            </a:r>
            <a:r>
              <a:rPr b="1" lang="en-US" sz="1900" spc="-1" strike="noStrike">
                <a:solidFill>
                  <a:srgbClr val="e2e6e9"/>
                </a:solidFill>
                <a:latin typeface="Montserrat Bold"/>
                <a:ea typeface="Montserrat Bold"/>
              </a:rPr>
              <a:t>İnterfeys səviyyəsində</a:t>
            </a:r>
            <a:endParaRPr b="0" lang="en-US" sz="1900" spc="-1" strike="noStrike">
              <a:solidFill>
                <a:srgbClr val="000000"/>
              </a:solidFill>
              <a:latin typeface="Arial"/>
            </a:endParaRPr>
          </a:p>
        </p:txBody>
      </p:sp>
      <p:sp>
        <p:nvSpPr>
          <p:cNvPr id="81" name="Text 7"/>
          <p:cNvSpPr/>
          <p:nvPr/>
        </p:nvSpPr>
        <p:spPr>
          <a:xfrm>
            <a:off x="4895640" y="4210560"/>
            <a:ext cx="3167640" cy="129492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Proqramların daxilinə müdaxilə etmədən, ekrandakı elementləri "görərək" hərəkət edir — insan kimi.</a:t>
            </a:r>
            <a:endParaRPr b="0" lang="en-US" sz="1700" spc="-1" strike="noStrike">
              <a:solidFill>
                <a:srgbClr val="000000"/>
              </a:solidFill>
              <a:latin typeface="Arial"/>
            </a:endParaRPr>
          </a:p>
        </p:txBody>
      </p:sp>
      <p:sp>
        <p:nvSpPr>
          <p:cNvPr id="82" name="Shape 8"/>
          <p:cNvSpPr/>
          <p:nvPr/>
        </p:nvSpPr>
        <p:spPr>
          <a:xfrm>
            <a:off x="863640" y="5938200"/>
            <a:ext cx="7415280" cy="1514880"/>
          </a:xfrm>
          <a:prstGeom prst="roundRect">
            <a:avLst>
              <a:gd name="adj" fmla="val 2137"/>
            </a:avLst>
          </a:prstGeom>
          <a:solidFill>
            <a:srgbClr val="30313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3" name="Text 9"/>
          <p:cNvSpPr/>
          <p:nvPr/>
        </p:nvSpPr>
        <p:spPr>
          <a:xfrm>
            <a:off x="1079640" y="6153840"/>
            <a:ext cx="2453040" cy="30564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1" lang="en-US" sz="1900" spc="-1" strike="noStrike">
                <a:solidFill>
                  <a:srgbClr val="000000"/>
                </a:solidFill>
                <a:latin typeface="Montserrat Bold"/>
                <a:ea typeface="Montserrat Bold"/>
              </a:rPr>
              <a:t>⚡</a:t>
            </a:r>
            <a:r>
              <a:rPr b="1" lang="en-US" sz="1900" spc="-1" strike="noStrike">
                <a:solidFill>
                  <a:srgbClr val="e2e6e9"/>
                </a:solidFill>
                <a:latin typeface="Montserrat Bold"/>
                <a:ea typeface="Montserrat Bold"/>
              </a:rPr>
              <a:t> </a:t>
            </a:r>
            <a:r>
              <a:rPr b="1" lang="en-US" sz="1900" spc="-1" strike="noStrike">
                <a:solidFill>
                  <a:srgbClr val="e2e6e9"/>
                </a:solidFill>
                <a:latin typeface="Montserrat Bold"/>
                <a:ea typeface="Montserrat Bold"/>
              </a:rPr>
              <a:t>Sürətli icra</a:t>
            </a:r>
            <a:endParaRPr b="0" lang="en-US" sz="1900" spc="-1" strike="noStrike">
              <a:solidFill>
                <a:srgbClr val="000000"/>
              </a:solidFill>
              <a:latin typeface="Arial"/>
            </a:endParaRPr>
          </a:p>
        </p:txBody>
      </p:sp>
      <p:sp>
        <p:nvSpPr>
          <p:cNvPr id="84" name="Text 10"/>
          <p:cNvSpPr/>
          <p:nvPr/>
        </p:nvSpPr>
        <p:spPr>
          <a:xfrm>
            <a:off x="1079640" y="6590160"/>
            <a:ext cx="6983640" cy="64692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Eyni tapşırığı gecə-gündüz, fasiləsiz, səhvsiz şəkildə yerinə yetirir — insan sürətindən dəfələrlə sürətli.</a:t>
            </a:r>
            <a:endParaRPr b="0" lang="en-US" sz="17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Text 0"/>
          <p:cNvSpPr/>
          <p:nvPr/>
        </p:nvSpPr>
        <p:spPr>
          <a:xfrm>
            <a:off x="863640" y="1557000"/>
            <a:ext cx="8353080" cy="612360"/>
          </a:xfrm>
          <a:prstGeom prst="rect">
            <a:avLst/>
          </a:prstGeom>
          <a:noFill/>
          <a:ln w="0">
            <a:noFill/>
          </a:ln>
        </p:spPr>
        <p:style>
          <a:lnRef idx="0"/>
          <a:fillRef idx="0"/>
          <a:effectRef idx="0"/>
          <a:fontRef idx="minor"/>
        </p:style>
        <p:txBody>
          <a:bodyPr wrap="none" lIns="0" rIns="0" tIns="0" bIns="0" anchor="t">
            <a:noAutofit/>
          </a:bodyPr>
          <a:p>
            <a:pPr>
              <a:lnSpc>
                <a:spcPts val="4799"/>
              </a:lnSpc>
              <a:tabLst>
                <a:tab algn="l" pos="0"/>
              </a:tabLst>
            </a:pPr>
            <a:r>
              <a:rPr b="1" lang="en-US" sz="3850" spc="-1" strike="noStrike">
                <a:solidFill>
                  <a:srgbClr val="ffffff"/>
                </a:solidFill>
                <a:latin typeface="Montserrat Bold"/>
                <a:ea typeface="Montserrat Bold"/>
              </a:rPr>
              <a:t>Klassik RPA-nın Məhdudiyyətləri</a:t>
            </a:r>
            <a:endParaRPr b="0" lang="en-US" sz="3850" spc="-1" strike="noStrike">
              <a:solidFill>
                <a:srgbClr val="000000"/>
              </a:solidFill>
              <a:latin typeface="Arial"/>
            </a:endParaRPr>
          </a:p>
        </p:txBody>
      </p:sp>
      <p:sp>
        <p:nvSpPr>
          <p:cNvPr id="86" name="Text 1"/>
          <p:cNvSpPr/>
          <p:nvPr/>
        </p:nvSpPr>
        <p:spPr>
          <a:xfrm>
            <a:off x="863640" y="2602440"/>
            <a:ext cx="12901680" cy="64692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RPA güclü bir alətdir, lakin hər problemin həlli deyil. Qurulmamış məlumatlarla üzləşdikdə və ya gözlənilməz vəziyyətlər yarandıqda klassik RPA botları çaşıb qalır. Bu məhdudiyyətlər bizə daha ağıllı bir həllə — IPA-ya doğru baxmağı məcbur edir.</a:t>
            </a:r>
            <a:endParaRPr b="0" lang="en-US" sz="1700" spc="-1" strike="noStrike">
              <a:solidFill>
                <a:srgbClr val="000000"/>
              </a:solidFill>
              <a:latin typeface="Arial"/>
            </a:endParaRPr>
          </a:p>
        </p:txBody>
      </p:sp>
      <p:sp>
        <p:nvSpPr>
          <p:cNvPr id="87" name="Shape 2"/>
          <p:cNvSpPr/>
          <p:nvPr/>
        </p:nvSpPr>
        <p:spPr>
          <a:xfrm>
            <a:off x="863640" y="3493080"/>
            <a:ext cx="4155840" cy="3178440"/>
          </a:xfrm>
          <a:prstGeom prst="roundRect">
            <a:avLst>
              <a:gd name="adj" fmla="val 4602"/>
            </a:avLst>
          </a:prstGeom>
          <a:solidFill>
            <a:srgbClr val="111213"/>
          </a:solidFill>
          <a:ln w="30480">
            <a:solidFill>
              <a:srgbClr val="494a4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8" name="Shape 3"/>
          <p:cNvSpPr/>
          <p:nvPr/>
        </p:nvSpPr>
        <p:spPr>
          <a:xfrm>
            <a:off x="833400" y="3493080"/>
            <a:ext cx="120960" cy="3178440"/>
          </a:xfrm>
          <a:prstGeom prst="roundRect">
            <a:avLst>
              <a:gd name="adj" fmla="val 26572"/>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89" name="Text 4"/>
          <p:cNvSpPr/>
          <p:nvPr/>
        </p:nvSpPr>
        <p:spPr>
          <a:xfrm>
            <a:off x="1201680" y="3703680"/>
            <a:ext cx="3571920" cy="612360"/>
          </a:xfrm>
          <a:prstGeom prst="rect">
            <a:avLst/>
          </a:prstGeom>
          <a:noFill/>
          <a:ln w="0">
            <a:noFill/>
          </a:ln>
        </p:spPr>
        <p:style>
          <a:lnRef idx="0"/>
          <a:fillRef idx="0"/>
          <a:effectRef idx="0"/>
          <a:fontRef idx="minor"/>
        </p:style>
        <p:txBody>
          <a:bodyPr lIns="0" rIns="0" tIns="0" bIns="0" anchor="t">
            <a:noAutofit/>
          </a:bodyPr>
          <a:p>
            <a:pPr>
              <a:lnSpc>
                <a:spcPts val="2401"/>
              </a:lnSpc>
              <a:tabLst>
                <a:tab algn="l" pos="0"/>
              </a:tabLst>
            </a:pPr>
            <a:r>
              <a:rPr b="1" lang="en-US" sz="1900" spc="-1" strike="noStrike">
                <a:solidFill>
                  <a:srgbClr val="000000"/>
                </a:solidFill>
                <a:latin typeface="Montserrat Bold"/>
                <a:ea typeface="Montserrat Bold"/>
              </a:rPr>
              <a:t>📄</a:t>
            </a:r>
            <a:r>
              <a:rPr b="1" lang="en-US" sz="1900" spc="-1" strike="noStrike">
                <a:solidFill>
                  <a:srgbClr val="e2e6e9"/>
                </a:solidFill>
                <a:latin typeface="Montserrat Bold"/>
                <a:ea typeface="Montserrat Bold"/>
              </a:rPr>
              <a:t> </a:t>
            </a:r>
            <a:r>
              <a:rPr b="1" lang="en-US" sz="1900" spc="-1" strike="noStrike">
                <a:solidFill>
                  <a:srgbClr val="e2e6e9"/>
                </a:solidFill>
                <a:latin typeface="Montserrat Bold"/>
                <a:ea typeface="Montserrat Bold"/>
              </a:rPr>
              <a:t>Qurulmamış məlumatlarla işləyə bilmir</a:t>
            </a:r>
            <a:endParaRPr b="0" lang="en-US" sz="1900" spc="-1" strike="noStrike">
              <a:solidFill>
                <a:srgbClr val="000000"/>
              </a:solidFill>
              <a:latin typeface="Arial"/>
            </a:endParaRPr>
          </a:p>
        </p:txBody>
      </p:sp>
      <p:sp>
        <p:nvSpPr>
          <p:cNvPr id="90" name="Text 5"/>
          <p:cNvSpPr/>
          <p:nvPr/>
        </p:nvSpPr>
        <p:spPr>
          <a:xfrm>
            <a:off x="1201680" y="4338360"/>
            <a:ext cx="3571920" cy="194256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Elektron məktublar, PDF sənədlər, skanlanan formalar, əl yazısı — bunlar standart RPA üçün "görünməz"dir. Bot yalnız strukturlaşdırılmış, proqnozlaşdırılan məlumatları emal edə bilər.</a:t>
            </a:r>
            <a:endParaRPr b="0" lang="en-US" sz="1700" spc="-1" strike="noStrike">
              <a:solidFill>
                <a:srgbClr val="000000"/>
              </a:solidFill>
              <a:latin typeface="Arial"/>
            </a:endParaRPr>
          </a:p>
        </p:txBody>
      </p:sp>
      <p:sp>
        <p:nvSpPr>
          <p:cNvPr id="91" name="Shape 6"/>
          <p:cNvSpPr/>
          <p:nvPr/>
        </p:nvSpPr>
        <p:spPr>
          <a:xfrm>
            <a:off x="5236560" y="3493080"/>
            <a:ext cx="4155840" cy="3178440"/>
          </a:xfrm>
          <a:prstGeom prst="roundRect">
            <a:avLst>
              <a:gd name="adj" fmla="val 4602"/>
            </a:avLst>
          </a:prstGeom>
          <a:solidFill>
            <a:srgbClr val="111213"/>
          </a:solidFill>
          <a:ln w="30480">
            <a:solidFill>
              <a:srgbClr val="494a4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2" name="Shape 7"/>
          <p:cNvSpPr/>
          <p:nvPr/>
        </p:nvSpPr>
        <p:spPr>
          <a:xfrm>
            <a:off x="5205960" y="3493080"/>
            <a:ext cx="120960" cy="3178440"/>
          </a:xfrm>
          <a:prstGeom prst="roundRect">
            <a:avLst>
              <a:gd name="adj" fmla="val 26572"/>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93" name="Text 8"/>
          <p:cNvSpPr/>
          <p:nvPr/>
        </p:nvSpPr>
        <p:spPr>
          <a:xfrm>
            <a:off x="5574240" y="3739680"/>
            <a:ext cx="3571920" cy="612360"/>
          </a:xfrm>
          <a:prstGeom prst="rect">
            <a:avLst/>
          </a:prstGeom>
          <a:noFill/>
          <a:ln w="0">
            <a:noFill/>
          </a:ln>
        </p:spPr>
        <p:style>
          <a:lnRef idx="0"/>
          <a:fillRef idx="0"/>
          <a:effectRef idx="0"/>
          <a:fontRef idx="minor"/>
        </p:style>
        <p:txBody>
          <a:bodyPr lIns="0" rIns="0" tIns="0" bIns="0" anchor="t">
            <a:noAutofit/>
          </a:bodyPr>
          <a:p>
            <a:pPr>
              <a:lnSpc>
                <a:spcPts val="2401"/>
              </a:lnSpc>
              <a:tabLst>
                <a:tab algn="l" pos="0"/>
              </a:tabLst>
            </a:pPr>
            <a:r>
              <a:rPr b="1" lang="en-US" sz="1900" spc="-1" strike="noStrike">
                <a:solidFill>
                  <a:srgbClr val="000000"/>
                </a:solidFill>
                <a:latin typeface="Montserrat Bold"/>
                <a:ea typeface="Montserrat Bold"/>
              </a:rPr>
              <a:t>🚫</a:t>
            </a:r>
            <a:r>
              <a:rPr b="1" lang="en-US" sz="1900" spc="-1" strike="noStrike">
                <a:solidFill>
                  <a:srgbClr val="e2e6e9"/>
                </a:solidFill>
                <a:latin typeface="Montserrat Bold"/>
                <a:ea typeface="Montserrat Bold"/>
              </a:rPr>
              <a:t> </a:t>
            </a:r>
            <a:r>
              <a:rPr b="1" lang="en-US" sz="1900" spc="-1" strike="noStrike">
                <a:solidFill>
                  <a:srgbClr val="e2e6e9"/>
                </a:solidFill>
                <a:latin typeface="Montserrat Bold"/>
                <a:ea typeface="Montserrat Bold"/>
              </a:rPr>
              <a:t>Müstəqil qərar qəbul edə bilmir</a:t>
            </a:r>
            <a:endParaRPr b="0" lang="en-US" sz="1900" spc="-1" strike="noStrike">
              <a:solidFill>
                <a:srgbClr val="000000"/>
              </a:solidFill>
              <a:latin typeface="Arial"/>
            </a:endParaRPr>
          </a:p>
        </p:txBody>
      </p:sp>
      <p:sp>
        <p:nvSpPr>
          <p:cNvPr id="94" name="Text 9"/>
          <p:cNvSpPr/>
          <p:nvPr/>
        </p:nvSpPr>
        <p:spPr>
          <a:xfrm>
            <a:off x="5574240" y="4482360"/>
            <a:ext cx="3571920" cy="161892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Qaydaların xaricindəki hər hansı vəziyyət botu dayandırır. İstisna hallar, anormal məlumatlar və ya qeyri-standart ssenarilər üçün mütləq insan müdaxiləsi tələb olunur.</a:t>
            </a:r>
            <a:endParaRPr b="0" lang="en-US" sz="1700" spc="-1" strike="noStrike">
              <a:solidFill>
                <a:srgbClr val="000000"/>
              </a:solidFill>
              <a:latin typeface="Arial"/>
            </a:endParaRPr>
          </a:p>
        </p:txBody>
      </p:sp>
      <p:sp>
        <p:nvSpPr>
          <p:cNvPr id="95" name="Shape 10"/>
          <p:cNvSpPr/>
          <p:nvPr/>
        </p:nvSpPr>
        <p:spPr>
          <a:xfrm>
            <a:off x="9609480" y="3493080"/>
            <a:ext cx="4155840" cy="3178440"/>
          </a:xfrm>
          <a:prstGeom prst="roundRect">
            <a:avLst>
              <a:gd name="adj" fmla="val 4602"/>
            </a:avLst>
          </a:prstGeom>
          <a:solidFill>
            <a:srgbClr val="111213"/>
          </a:solidFill>
          <a:ln w="30480">
            <a:solidFill>
              <a:srgbClr val="494a4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6" name="Shape 11"/>
          <p:cNvSpPr/>
          <p:nvPr/>
        </p:nvSpPr>
        <p:spPr>
          <a:xfrm>
            <a:off x="9578880" y="3493080"/>
            <a:ext cx="120960" cy="3178440"/>
          </a:xfrm>
          <a:prstGeom prst="roundRect">
            <a:avLst>
              <a:gd name="adj" fmla="val 26572"/>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97" name="Text 12"/>
          <p:cNvSpPr/>
          <p:nvPr/>
        </p:nvSpPr>
        <p:spPr>
          <a:xfrm>
            <a:off x="9947160" y="3739680"/>
            <a:ext cx="3571920" cy="612360"/>
          </a:xfrm>
          <a:prstGeom prst="rect">
            <a:avLst/>
          </a:prstGeom>
          <a:noFill/>
          <a:ln w="0">
            <a:noFill/>
          </a:ln>
        </p:spPr>
        <p:style>
          <a:lnRef idx="0"/>
          <a:fillRef idx="0"/>
          <a:effectRef idx="0"/>
          <a:fontRef idx="minor"/>
        </p:style>
        <p:txBody>
          <a:bodyPr lIns="0" rIns="0" tIns="0" bIns="0" anchor="t">
            <a:noAutofit/>
          </a:bodyPr>
          <a:p>
            <a:pPr>
              <a:lnSpc>
                <a:spcPts val="2401"/>
              </a:lnSpc>
              <a:tabLst>
                <a:tab algn="l" pos="0"/>
              </a:tabLst>
            </a:pPr>
            <a:r>
              <a:rPr b="1" lang="en-US" sz="1900" spc="-1" strike="noStrike">
                <a:solidFill>
                  <a:srgbClr val="000000"/>
                </a:solidFill>
                <a:latin typeface="Montserrat Bold"/>
                <a:ea typeface="Montserrat Bold"/>
              </a:rPr>
              <a:t>🔧</a:t>
            </a:r>
            <a:r>
              <a:rPr b="1" lang="en-US" sz="1900" spc="-1" strike="noStrike">
                <a:solidFill>
                  <a:srgbClr val="e2e6e9"/>
                </a:solidFill>
                <a:latin typeface="Montserrat Bold"/>
                <a:ea typeface="Montserrat Bold"/>
              </a:rPr>
              <a:t> </a:t>
            </a:r>
            <a:r>
              <a:rPr b="1" lang="en-US" sz="1900" spc="-1" strike="noStrike">
                <a:solidFill>
                  <a:srgbClr val="e2e6e9"/>
                </a:solidFill>
                <a:latin typeface="Montserrat Bold"/>
                <a:ea typeface="Montserrat Bold"/>
              </a:rPr>
              <a:t>İnterfeys dəyişikliyinə həssasdır</a:t>
            </a:r>
            <a:endParaRPr b="0" lang="en-US" sz="1900" spc="-1" strike="noStrike">
              <a:solidFill>
                <a:srgbClr val="000000"/>
              </a:solidFill>
              <a:latin typeface="Arial"/>
            </a:endParaRPr>
          </a:p>
        </p:txBody>
      </p:sp>
      <p:sp>
        <p:nvSpPr>
          <p:cNvPr id="98" name="Text 13"/>
          <p:cNvSpPr/>
          <p:nvPr/>
        </p:nvSpPr>
        <p:spPr>
          <a:xfrm>
            <a:off x="9947160" y="4482360"/>
            <a:ext cx="3571920" cy="129492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Tətbiqin ekranında kiçik bir dəyişiklik — bir düymənin yerinin dəyişdirilməsi belə — botu tamamilə sıradan çıxara bilər. Saxlama xərcləri yüksəkdir.</a:t>
            </a:r>
            <a:endParaRPr b="0" lang="en-US" sz="17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9" name="Image 0" descr="preencoded.png"/>
          <p:cNvPicPr/>
          <p:nvPr/>
        </p:nvPicPr>
        <p:blipFill>
          <a:blip r:embed="rId1"/>
          <a:stretch/>
        </p:blipFill>
        <p:spPr>
          <a:xfrm>
            <a:off x="0" y="0"/>
            <a:ext cx="5485320" cy="8228520"/>
          </a:xfrm>
          <a:prstGeom prst="rect">
            <a:avLst/>
          </a:prstGeom>
          <a:ln w="0">
            <a:noFill/>
          </a:ln>
        </p:spPr>
      </p:pic>
      <p:sp>
        <p:nvSpPr>
          <p:cNvPr id="100" name="Text 0"/>
          <p:cNvSpPr/>
          <p:nvPr/>
        </p:nvSpPr>
        <p:spPr>
          <a:xfrm>
            <a:off x="6309720" y="783720"/>
            <a:ext cx="7495920" cy="1168560"/>
          </a:xfrm>
          <a:prstGeom prst="rect">
            <a:avLst/>
          </a:prstGeom>
          <a:noFill/>
          <a:ln w="0">
            <a:noFill/>
          </a:ln>
        </p:spPr>
        <p:style>
          <a:lnRef idx="0"/>
          <a:fillRef idx="0"/>
          <a:effectRef idx="0"/>
          <a:fontRef idx="minor"/>
        </p:style>
        <p:txBody>
          <a:bodyPr lIns="0" rIns="0" tIns="0" bIns="0" anchor="t">
            <a:noAutofit/>
          </a:bodyPr>
          <a:p>
            <a:pPr>
              <a:lnSpc>
                <a:spcPts val="4601"/>
              </a:lnSpc>
              <a:tabLst>
                <a:tab algn="l" pos="0"/>
              </a:tabLst>
            </a:pPr>
            <a:r>
              <a:rPr b="1" lang="en-US" sz="3650" spc="-1" strike="noStrike">
                <a:solidFill>
                  <a:srgbClr val="ffffff"/>
                </a:solidFill>
                <a:latin typeface="Montserrat Bold"/>
                <a:ea typeface="Montserrat Bold"/>
              </a:rPr>
              <a:t>Ağıllı Proses Avtomatlaşdırması (IPA)</a:t>
            </a:r>
            <a:endParaRPr b="0" lang="en-US" sz="3650" spc="-1" strike="noStrike">
              <a:solidFill>
                <a:srgbClr val="000000"/>
              </a:solidFill>
              <a:latin typeface="Arial"/>
            </a:endParaRPr>
          </a:p>
        </p:txBody>
      </p:sp>
      <p:sp>
        <p:nvSpPr>
          <p:cNvPr id="101" name="Text 1"/>
          <p:cNvSpPr/>
          <p:nvPr/>
        </p:nvSpPr>
        <p:spPr>
          <a:xfrm>
            <a:off x="6309720" y="2247480"/>
            <a:ext cx="7495920" cy="1612800"/>
          </a:xfrm>
          <a:prstGeom prst="rect">
            <a:avLst/>
          </a:prstGeom>
          <a:noFill/>
          <a:ln w="0">
            <a:noFill/>
          </a:ln>
        </p:spPr>
        <p:style>
          <a:lnRef idx="0"/>
          <a:fillRef idx="0"/>
          <a:effectRef idx="0"/>
          <a:fontRef idx="minor"/>
        </p:style>
        <p:txBody>
          <a:bodyPr lIns="0" rIns="0" tIns="0" bIns="0" anchor="t">
            <a:noAutofit/>
          </a:bodyPr>
          <a:p>
            <a:pPr>
              <a:lnSpc>
                <a:spcPts val="6350"/>
              </a:lnSpc>
              <a:tabLst>
                <a:tab algn="l" pos="0"/>
              </a:tabLst>
            </a:pPr>
            <a:r>
              <a:rPr b="1" lang="en-US" sz="5050" spc="-1" strike="noStrike">
                <a:solidFill>
                  <a:srgbClr val="ffffff"/>
                </a:solidFill>
                <a:latin typeface="Montserrat Bold"/>
                <a:ea typeface="Montserrat Bold"/>
              </a:rPr>
              <a:t>RPA + Süni İntellekt = IPA</a:t>
            </a:r>
            <a:endParaRPr b="0" lang="en-US" sz="5050" spc="-1" strike="noStrike">
              <a:solidFill>
                <a:srgbClr val="000000"/>
              </a:solidFill>
              <a:latin typeface="Arial"/>
            </a:endParaRPr>
          </a:p>
        </p:txBody>
      </p:sp>
      <p:sp>
        <p:nvSpPr>
          <p:cNvPr id="102" name="Text 2"/>
          <p:cNvSpPr/>
          <p:nvPr/>
        </p:nvSpPr>
        <p:spPr>
          <a:xfrm>
            <a:off x="6309720" y="4155840"/>
            <a:ext cx="7495920" cy="903240"/>
          </a:xfrm>
          <a:prstGeom prst="rect">
            <a:avLst/>
          </a:prstGeom>
          <a:noFill/>
          <a:ln w="0">
            <a:noFill/>
          </a:ln>
        </p:spPr>
        <p:style>
          <a:lnRef idx="0"/>
          <a:fillRef idx="0"/>
          <a:effectRef idx="0"/>
          <a:fontRef idx="minor"/>
        </p:style>
        <p:txBody>
          <a:bodyPr lIns="0" rIns="0" tIns="0" bIns="0" anchor="t">
            <a:noAutofit/>
          </a:bodyPr>
          <a:p>
            <a:pPr>
              <a:lnSpc>
                <a:spcPts val="2350"/>
              </a:lnSpc>
              <a:tabLst>
                <a:tab algn="l" pos="0"/>
              </a:tabLst>
            </a:pPr>
            <a:r>
              <a:rPr b="0" lang="en-US" sz="1600" spc="-1" strike="noStrike">
                <a:solidFill>
                  <a:srgbClr val="e2e6e9"/>
                </a:solidFill>
                <a:latin typeface="Source Sans 3"/>
                <a:ea typeface="Source Sans 3"/>
              </a:rPr>
              <a:t>IPA, klassik RPA-nın icra gücünü süni intellektin anlama qabiliyyəti ilə birləşdirir. Nəticədə ortaya çıxan bot artıq yalnız göstərişləri icra etmir — </a:t>
            </a:r>
            <a:r>
              <a:rPr b="1" lang="en-US" sz="1600" spc="-1" strike="noStrike">
                <a:solidFill>
                  <a:srgbClr val="e2e6e9"/>
                </a:solidFill>
                <a:latin typeface="Source Sans 3"/>
                <a:ea typeface="Source Sans 3"/>
              </a:rPr>
              <a:t>məzmunu başa düşür, qərar qəbul edir və zamanla öyrənir</a:t>
            </a:r>
            <a:r>
              <a:rPr b="0" lang="en-US" sz="1600" spc="-1" strike="noStrike">
                <a:solidFill>
                  <a:srgbClr val="e2e6e9"/>
                </a:solidFill>
                <a:latin typeface="Source Sans 3"/>
                <a:ea typeface="Source Sans 3"/>
              </a:rPr>
              <a:t>.</a:t>
            </a:r>
            <a:endParaRPr b="0" lang="en-US" sz="1600" spc="-1" strike="noStrike">
              <a:solidFill>
                <a:srgbClr val="000000"/>
              </a:solidFill>
              <a:latin typeface="Arial"/>
            </a:endParaRPr>
          </a:p>
        </p:txBody>
      </p:sp>
      <p:sp>
        <p:nvSpPr>
          <p:cNvPr id="103" name="Shape 3"/>
          <p:cNvSpPr/>
          <p:nvPr/>
        </p:nvSpPr>
        <p:spPr>
          <a:xfrm>
            <a:off x="6233760" y="5280840"/>
            <a:ext cx="3792960" cy="2262240"/>
          </a:xfrm>
          <a:prstGeom prst="roundRect">
            <a:avLst>
              <a:gd name="adj" fmla="val 1426"/>
            </a:avLst>
          </a:prstGeom>
          <a:solidFill>
            <a:srgbClr val="1d1f2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4" name="Text 4"/>
          <p:cNvSpPr/>
          <p:nvPr/>
        </p:nvSpPr>
        <p:spPr>
          <a:xfrm>
            <a:off x="6367320" y="5477400"/>
            <a:ext cx="2338200" cy="291240"/>
          </a:xfrm>
          <a:prstGeom prst="rect">
            <a:avLst/>
          </a:prstGeom>
          <a:noFill/>
          <a:ln w="0">
            <a:noFill/>
          </a:ln>
        </p:spPr>
        <p:style>
          <a:lnRef idx="0"/>
          <a:fillRef idx="0"/>
          <a:effectRef idx="0"/>
          <a:fontRef idx="minor"/>
        </p:style>
        <p:txBody>
          <a:bodyPr wrap="none" lIns="0" rIns="0" tIns="0" bIns="0" anchor="t">
            <a:noAutofit/>
          </a:bodyPr>
          <a:p>
            <a:pPr>
              <a:lnSpc>
                <a:spcPts val="2299"/>
              </a:lnSpc>
              <a:tabLst>
                <a:tab algn="l" pos="0"/>
              </a:tabLst>
            </a:pPr>
            <a:r>
              <a:rPr b="1" lang="en-US" sz="1800" spc="-1" strike="noStrike">
                <a:solidFill>
                  <a:srgbClr val="ffffff"/>
                </a:solidFill>
                <a:latin typeface="Montserrat Bold"/>
                <a:ea typeface="Montserrat Bold"/>
              </a:rPr>
              <a:t>Klassik RPA botu</a:t>
            </a:r>
            <a:endParaRPr b="0" lang="en-US" sz="1800" spc="-1" strike="noStrike">
              <a:solidFill>
                <a:srgbClr val="000000"/>
              </a:solidFill>
              <a:latin typeface="Arial"/>
            </a:endParaRPr>
          </a:p>
        </p:txBody>
      </p:sp>
      <p:sp>
        <p:nvSpPr>
          <p:cNvPr id="105" name="Text 5"/>
          <p:cNvSpPr/>
          <p:nvPr/>
        </p:nvSpPr>
        <p:spPr>
          <a:xfrm>
            <a:off x="6367320" y="5965920"/>
            <a:ext cx="3587400" cy="1410480"/>
          </a:xfrm>
          <a:prstGeom prst="rect">
            <a:avLst/>
          </a:prstGeom>
          <a:noFill/>
          <a:ln w="0">
            <a:noFill/>
          </a:ln>
        </p:spPr>
        <p:style>
          <a:lnRef idx="0"/>
          <a:fillRef idx="0"/>
          <a:effectRef idx="0"/>
          <a:fontRef idx="minor"/>
        </p:style>
        <p:txBody>
          <a:bodyPr lIns="0" rIns="0" tIns="0" bIns="0" anchor="t">
            <a:noAutofit/>
          </a:bodyPr>
          <a:p>
            <a:pPr marL="343080" indent="-343080">
              <a:lnSpc>
                <a:spcPts val="2350"/>
              </a:lnSpc>
              <a:buClr>
                <a:srgbClr val="e2e6e9"/>
              </a:buClr>
              <a:buFont typeface="Symbol" charset="2"/>
              <a:buChar char=""/>
            </a:pPr>
            <a:r>
              <a:rPr b="0" lang="en-US" sz="1600" spc="-1" strike="noStrike">
                <a:solidFill>
                  <a:srgbClr val="e2e6e9"/>
                </a:solidFill>
                <a:latin typeface="Source Sans 3"/>
                <a:ea typeface="Source Sans 3"/>
              </a:rPr>
              <a:t>Yalnız strukturlaşdırılmış məlumat</a:t>
            </a:r>
            <a:endParaRPr b="0" lang="en-US" sz="1600" spc="-1" strike="noStrike">
              <a:solidFill>
                <a:srgbClr val="000000"/>
              </a:solidFill>
              <a:latin typeface="Arial"/>
            </a:endParaRPr>
          </a:p>
          <a:p>
            <a:pPr marL="343080" indent="-343080">
              <a:lnSpc>
                <a:spcPts val="2350"/>
              </a:lnSpc>
              <a:buClr>
                <a:srgbClr val="e2e6e9"/>
              </a:buClr>
              <a:buFont typeface="Symbol" charset="2"/>
              <a:buChar char=""/>
            </a:pPr>
            <a:r>
              <a:rPr b="0" lang="en-US" sz="1600" spc="-1" strike="noStrike">
                <a:solidFill>
                  <a:srgbClr val="e2e6e9"/>
                </a:solidFill>
                <a:latin typeface="Source Sans 3"/>
                <a:ea typeface="Source Sans 3"/>
              </a:rPr>
              <a:t>Sabit qaydalar çərçivəsində</a:t>
            </a:r>
            <a:endParaRPr b="0" lang="en-US" sz="1600" spc="-1" strike="noStrike">
              <a:solidFill>
                <a:srgbClr val="000000"/>
              </a:solidFill>
              <a:latin typeface="Arial"/>
            </a:endParaRPr>
          </a:p>
          <a:p>
            <a:pPr marL="343080" indent="-343080">
              <a:lnSpc>
                <a:spcPts val="2350"/>
              </a:lnSpc>
              <a:buClr>
                <a:srgbClr val="e2e6e9"/>
              </a:buClr>
              <a:buFont typeface="Symbol" charset="2"/>
              <a:buChar char=""/>
            </a:pPr>
            <a:r>
              <a:rPr b="0" lang="en-US" sz="1600" spc="-1" strike="noStrike">
                <a:solidFill>
                  <a:srgbClr val="e2e6e9"/>
                </a:solidFill>
                <a:latin typeface="Source Sans 3"/>
                <a:ea typeface="Source Sans 3"/>
              </a:rPr>
              <a:t>Öyrənmir, dəyişmir</a:t>
            </a:r>
            <a:endParaRPr b="0" lang="en-US" sz="1600" spc="-1" strike="noStrike">
              <a:solidFill>
                <a:srgbClr val="000000"/>
              </a:solidFill>
              <a:latin typeface="Arial"/>
            </a:endParaRPr>
          </a:p>
          <a:p>
            <a:pPr marL="343080" indent="-343080">
              <a:lnSpc>
                <a:spcPts val="2350"/>
              </a:lnSpc>
              <a:buClr>
                <a:srgbClr val="e2e6e9"/>
              </a:buClr>
              <a:buFont typeface="Symbol" charset="2"/>
              <a:buChar char=""/>
            </a:pPr>
            <a:r>
              <a:rPr b="0" lang="en-US" sz="1600" spc="-1" strike="noStrike">
                <a:solidFill>
                  <a:srgbClr val="e2e6e9"/>
                </a:solidFill>
                <a:latin typeface="Source Sans 3"/>
                <a:ea typeface="Source Sans 3"/>
              </a:rPr>
              <a:t>İnsan nəzarəti tələb edir</a:t>
            </a:r>
            <a:endParaRPr b="0" lang="en-US" sz="1600" spc="-1" strike="noStrike">
              <a:solidFill>
                <a:srgbClr val="000000"/>
              </a:solidFill>
              <a:latin typeface="Arial"/>
            </a:endParaRPr>
          </a:p>
        </p:txBody>
      </p:sp>
      <p:sp>
        <p:nvSpPr>
          <p:cNvPr id="106" name="Text 6"/>
          <p:cNvSpPr/>
          <p:nvPr/>
        </p:nvSpPr>
        <p:spPr>
          <a:xfrm>
            <a:off x="10317240" y="5477400"/>
            <a:ext cx="2338200" cy="291240"/>
          </a:xfrm>
          <a:prstGeom prst="rect">
            <a:avLst/>
          </a:prstGeom>
          <a:noFill/>
          <a:ln w="0">
            <a:noFill/>
          </a:ln>
        </p:spPr>
        <p:style>
          <a:lnRef idx="0"/>
          <a:fillRef idx="0"/>
          <a:effectRef idx="0"/>
          <a:fontRef idx="minor"/>
        </p:style>
        <p:txBody>
          <a:bodyPr wrap="none" lIns="0" rIns="0" tIns="0" bIns="0" anchor="t">
            <a:noAutofit/>
          </a:bodyPr>
          <a:p>
            <a:pPr>
              <a:lnSpc>
                <a:spcPts val="2299"/>
              </a:lnSpc>
              <a:tabLst>
                <a:tab algn="l" pos="0"/>
              </a:tabLst>
            </a:pPr>
            <a:r>
              <a:rPr b="1" lang="en-US" sz="1800" spc="-1" strike="noStrike">
                <a:solidFill>
                  <a:srgbClr val="ffffff"/>
                </a:solidFill>
                <a:latin typeface="Montserrat Bold"/>
                <a:ea typeface="Montserrat Bold"/>
              </a:rPr>
              <a:t>IPA — Ağıllı Bot</a:t>
            </a:r>
            <a:endParaRPr b="0" lang="en-US" sz="1800" spc="-1" strike="noStrike">
              <a:solidFill>
                <a:srgbClr val="000000"/>
              </a:solidFill>
              <a:latin typeface="Arial"/>
            </a:endParaRPr>
          </a:p>
        </p:txBody>
      </p:sp>
      <p:sp>
        <p:nvSpPr>
          <p:cNvPr id="107" name="Text 7"/>
          <p:cNvSpPr/>
          <p:nvPr/>
        </p:nvSpPr>
        <p:spPr>
          <a:xfrm>
            <a:off x="10317240" y="5965920"/>
            <a:ext cx="3855960" cy="1410480"/>
          </a:xfrm>
          <a:prstGeom prst="rect">
            <a:avLst/>
          </a:prstGeom>
          <a:noFill/>
          <a:ln w="0">
            <a:noFill/>
          </a:ln>
        </p:spPr>
        <p:style>
          <a:lnRef idx="0"/>
          <a:fillRef idx="0"/>
          <a:effectRef idx="0"/>
          <a:fontRef idx="minor"/>
        </p:style>
        <p:txBody>
          <a:bodyPr lIns="0" rIns="0" tIns="0" bIns="0" anchor="t">
            <a:noAutofit/>
          </a:bodyPr>
          <a:p>
            <a:pPr marL="343080" indent="-343080">
              <a:lnSpc>
                <a:spcPts val="2350"/>
              </a:lnSpc>
              <a:buClr>
                <a:srgbClr val="e2e6e9"/>
              </a:buClr>
              <a:buFont typeface="Symbol" charset="2"/>
              <a:buChar char=""/>
            </a:pPr>
            <a:r>
              <a:rPr b="0" lang="en-US" sz="1600" spc="-1" strike="noStrike">
                <a:solidFill>
                  <a:srgbClr val="e2e6e9"/>
                </a:solidFill>
                <a:latin typeface="Source Sans 3"/>
                <a:ea typeface="Source Sans 3"/>
              </a:rPr>
              <a:t>Qurulmamış məlumatları emal edir</a:t>
            </a:r>
            <a:endParaRPr b="0" lang="en-US" sz="1600" spc="-1" strike="noStrike">
              <a:solidFill>
                <a:srgbClr val="000000"/>
              </a:solidFill>
              <a:latin typeface="Arial"/>
            </a:endParaRPr>
          </a:p>
          <a:p>
            <a:pPr marL="343080" indent="-343080">
              <a:lnSpc>
                <a:spcPts val="2350"/>
              </a:lnSpc>
              <a:buClr>
                <a:srgbClr val="e2e6e9"/>
              </a:buClr>
              <a:buFont typeface="Symbol" charset="2"/>
              <a:buChar char=""/>
            </a:pPr>
            <a:r>
              <a:rPr b="0" lang="en-US" sz="1600" spc="-1" strike="noStrike">
                <a:solidFill>
                  <a:srgbClr val="e2e6e9"/>
                </a:solidFill>
                <a:latin typeface="Source Sans 3"/>
                <a:ea typeface="Source Sans 3"/>
              </a:rPr>
              <a:t>Kontekstə görə qərar verir</a:t>
            </a:r>
            <a:endParaRPr b="0" lang="en-US" sz="1600" spc="-1" strike="noStrike">
              <a:solidFill>
                <a:srgbClr val="000000"/>
              </a:solidFill>
              <a:latin typeface="Arial"/>
            </a:endParaRPr>
          </a:p>
          <a:p>
            <a:pPr marL="343080" indent="-343080">
              <a:lnSpc>
                <a:spcPts val="2350"/>
              </a:lnSpc>
              <a:buClr>
                <a:srgbClr val="e2e6e9"/>
              </a:buClr>
              <a:buFont typeface="Symbol" charset="2"/>
              <a:buChar char=""/>
            </a:pPr>
            <a:r>
              <a:rPr b="0" lang="en-US" sz="1600" spc="-1" strike="noStrike">
                <a:solidFill>
                  <a:srgbClr val="e2e6e9"/>
                </a:solidFill>
                <a:latin typeface="Source Sans 3"/>
                <a:ea typeface="Source Sans 3"/>
              </a:rPr>
              <a:t>Hər tapşırıqdan öyrənir</a:t>
            </a:r>
            <a:endParaRPr b="0" lang="en-US" sz="1600" spc="-1" strike="noStrike">
              <a:solidFill>
                <a:srgbClr val="000000"/>
              </a:solidFill>
              <a:latin typeface="Arial"/>
            </a:endParaRPr>
          </a:p>
          <a:p>
            <a:pPr marL="343080" indent="-343080">
              <a:lnSpc>
                <a:spcPts val="2350"/>
              </a:lnSpc>
              <a:buClr>
                <a:srgbClr val="e2e6e9"/>
              </a:buClr>
              <a:buFont typeface="Symbol" charset="2"/>
              <a:buChar char=""/>
            </a:pPr>
            <a:r>
              <a:rPr b="0" lang="en-US" sz="1600" spc="-1" strike="noStrike">
                <a:solidFill>
                  <a:srgbClr val="e2e6e9"/>
                </a:solidFill>
                <a:latin typeface="Source Sans 3"/>
                <a:ea typeface="Source Sans 3"/>
              </a:rPr>
              <a:t>Özü monitorinq edir</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Text 0"/>
          <p:cNvSpPr/>
          <p:nvPr/>
        </p:nvSpPr>
        <p:spPr>
          <a:xfrm>
            <a:off x="863640" y="1641240"/>
            <a:ext cx="6262560" cy="612360"/>
          </a:xfrm>
          <a:prstGeom prst="rect">
            <a:avLst/>
          </a:prstGeom>
          <a:noFill/>
          <a:ln w="0">
            <a:noFill/>
          </a:ln>
        </p:spPr>
        <p:style>
          <a:lnRef idx="0"/>
          <a:fillRef idx="0"/>
          <a:effectRef idx="0"/>
          <a:fontRef idx="minor"/>
        </p:style>
        <p:txBody>
          <a:bodyPr wrap="none" lIns="0" rIns="0" tIns="0" bIns="0" anchor="t">
            <a:noAutofit/>
          </a:bodyPr>
          <a:p>
            <a:pPr>
              <a:lnSpc>
                <a:spcPts val="4799"/>
              </a:lnSpc>
              <a:tabLst>
                <a:tab algn="l" pos="0"/>
              </a:tabLst>
            </a:pPr>
            <a:r>
              <a:rPr b="1" lang="en-US" sz="3850" spc="-1" strike="noStrike">
                <a:solidFill>
                  <a:srgbClr val="ffffff"/>
                </a:solidFill>
                <a:latin typeface="Montserrat Bold"/>
                <a:ea typeface="Montserrat Bold"/>
              </a:rPr>
              <a:t>Əsas IPA Texnologiyaları</a:t>
            </a:r>
            <a:endParaRPr b="0" lang="en-US" sz="3850" spc="-1" strike="noStrike">
              <a:solidFill>
                <a:srgbClr val="000000"/>
              </a:solidFill>
              <a:latin typeface="Arial"/>
            </a:endParaRPr>
          </a:p>
        </p:txBody>
      </p:sp>
      <p:sp>
        <p:nvSpPr>
          <p:cNvPr id="109" name="Text 1"/>
          <p:cNvSpPr/>
          <p:nvPr/>
        </p:nvSpPr>
        <p:spPr>
          <a:xfrm>
            <a:off x="863640" y="2686680"/>
            <a:ext cx="12901680" cy="64692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IPA-nın gücü onun arxasındakı süni intellekt texnologiyalarından gəlir. Bu texnologiyalar birlikdə işləyərək sistemə görmə, anlama və öyrənmə qabiliyyəti verir.</a:t>
            </a:r>
            <a:endParaRPr b="0" lang="en-US" sz="1700" spc="-1" strike="noStrike">
              <a:solidFill>
                <a:srgbClr val="000000"/>
              </a:solidFill>
              <a:latin typeface="Arial"/>
            </a:endParaRPr>
          </a:p>
        </p:txBody>
      </p:sp>
      <p:pic>
        <p:nvPicPr>
          <p:cNvPr id="110" name="Image 0" descr="preencoded.png"/>
          <p:cNvPicPr/>
          <p:nvPr/>
        </p:nvPicPr>
        <p:blipFill>
          <a:blip r:embed="rId1"/>
          <a:stretch/>
        </p:blipFill>
        <p:spPr>
          <a:xfrm>
            <a:off x="863640" y="3577320"/>
            <a:ext cx="905400" cy="905400"/>
          </a:xfrm>
          <a:prstGeom prst="rect">
            <a:avLst/>
          </a:prstGeom>
          <a:ln w="0">
            <a:noFill/>
          </a:ln>
        </p:spPr>
      </p:pic>
      <p:sp>
        <p:nvSpPr>
          <p:cNvPr id="111" name="Text 2"/>
          <p:cNvSpPr/>
          <p:nvPr/>
        </p:nvSpPr>
        <p:spPr>
          <a:xfrm>
            <a:off x="2040120" y="3577320"/>
            <a:ext cx="2943360" cy="612360"/>
          </a:xfrm>
          <a:prstGeom prst="rect">
            <a:avLst/>
          </a:prstGeom>
          <a:noFill/>
          <a:ln w="0">
            <a:noFill/>
          </a:ln>
        </p:spPr>
        <p:style>
          <a:lnRef idx="0"/>
          <a:fillRef idx="0"/>
          <a:effectRef idx="0"/>
          <a:fontRef idx="minor"/>
        </p:style>
        <p:txBody>
          <a:bodyPr lIns="0" rIns="0" tIns="0" bIns="0" anchor="t">
            <a:noAutofit/>
          </a:bodyPr>
          <a:p>
            <a:pPr>
              <a:lnSpc>
                <a:spcPts val="2401"/>
              </a:lnSpc>
              <a:tabLst>
                <a:tab algn="l" pos="0"/>
              </a:tabLst>
            </a:pPr>
            <a:r>
              <a:rPr b="1" lang="en-US" sz="1900" spc="-1" strike="noStrike">
                <a:solidFill>
                  <a:srgbClr val="e2e6e9"/>
                </a:solidFill>
                <a:latin typeface="Montserrat Bold"/>
                <a:ea typeface="Montserrat Bold"/>
              </a:rPr>
              <a:t>OCR + NLP — Sənədləri Oxumaq</a:t>
            </a:r>
            <a:endParaRPr b="0" lang="en-US" sz="1900" spc="-1" strike="noStrike">
              <a:solidFill>
                <a:srgbClr val="000000"/>
              </a:solidFill>
              <a:latin typeface="Arial"/>
            </a:endParaRPr>
          </a:p>
        </p:txBody>
      </p:sp>
      <p:sp>
        <p:nvSpPr>
          <p:cNvPr id="112" name="Text 3"/>
          <p:cNvSpPr/>
          <p:nvPr/>
        </p:nvSpPr>
        <p:spPr>
          <a:xfrm>
            <a:off x="2040120" y="4320360"/>
            <a:ext cx="2943360" cy="226656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1" lang="en-US" sz="1700" spc="-1" strike="noStrike">
                <a:solidFill>
                  <a:srgbClr val="e2e6e9"/>
                </a:solidFill>
                <a:latin typeface="Source Sans 3"/>
                <a:ea typeface="Source Sans 3"/>
              </a:rPr>
              <a:t>Optik Simvol Tanıma (OCR)</a:t>
            </a:r>
            <a:r>
              <a:rPr b="0" lang="en-US" sz="1700" spc="-1" strike="noStrike">
                <a:solidFill>
                  <a:srgbClr val="e2e6e9"/>
                </a:solidFill>
                <a:latin typeface="Source Sans 3"/>
                <a:ea typeface="Source Sans 3"/>
              </a:rPr>
              <a:t> sənədlərdəki mətni rəqəmsallaşdırır; </a:t>
            </a:r>
            <a:r>
              <a:rPr b="1" lang="en-US" sz="1700" spc="-1" strike="noStrike">
                <a:solidFill>
                  <a:srgbClr val="e2e6e9"/>
                </a:solidFill>
                <a:latin typeface="Source Sans 3"/>
                <a:ea typeface="Source Sans 3"/>
              </a:rPr>
              <a:t>Təbii Dil Emalı (NLP)</a:t>
            </a:r>
            <a:r>
              <a:rPr b="0" lang="en-US" sz="1700" spc="-1" strike="noStrike">
                <a:solidFill>
                  <a:srgbClr val="e2e6e9"/>
                </a:solidFill>
                <a:latin typeface="Source Sans 3"/>
                <a:ea typeface="Source Sans 3"/>
              </a:rPr>
              <a:t> isə bu mətni mənalı şəkildə təhlil edir. Nəticə: fakturalar, müqavilələr, e-poçtlar avtomatik emal olunur.</a:t>
            </a:r>
            <a:endParaRPr b="0" lang="en-US" sz="1700" spc="-1" strike="noStrike">
              <a:solidFill>
                <a:srgbClr val="000000"/>
              </a:solidFill>
              <a:latin typeface="Arial"/>
            </a:endParaRPr>
          </a:p>
        </p:txBody>
      </p:sp>
      <p:pic>
        <p:nvPicPr>
          <p:cNvPr id="113" name="Image 1" descr="preencoded.png"/>
          <p:cNvPicPr/>
          <p:nvPr/>
        </p:nvPicPr>
        <p:blipFill>
          <a:blip r:embed="rId2"/>
          <a:stretch/>
        </p:blipFill>
        <p:spPr>
          <a:xfrm>
            <a:off x="5254560" y="3577320"/>
            <a:ext cx="905400" cy="905400"/>
          </a:xfrm>
          <a:prstGeom prst="rect">
            <a:avLst/>
          </a:prstGeom>
          <a:ln w="0">
            <a:noFill/>
          </a:ln>
        </p:spPr>
      </p:pic>
      <p:sp>
        <p:nvSpPr>
          <p:cNvPr id="114" name="Text 4"/>
          <p:cNvSpPr/>
          <p:nvPr/>
        </p:nvSpPr>
        <p:spPr>
          <a:xfrm>
            <a:off x="6431040" y="3577320"/>
            <a:ext cx="2943360" cy="612360"/>
          </a:xfrm>
          <a:prstGeom prst="rect">
            <a:avLst/>
          </a:prstGeom>
          <a:noFill/>
          <a:ln w="0">
            <a:noFill/>
          </a:ln>
        </p:spPr>
        <p:style>
          <a:lnRef idx="0"/>
          <a:fillRef idx="0"/>
          <a:effectRef idx="0"/>
          <a:fontRef idx="minor"/>
        </p:style>
        <p:txBody>
          <a:bodyPr lIns="0" rIns="0" tIns="0" bIns="0" anchor="t">
            <a:noAutofit/>
          </a:bodyPr>
          <a:p>
            <a:pPr>
              <a:lnSpc>
                <a:spcPts val="2401"/>
              </a:lnSpc>
              <a:tabLst>
                <a:tab algn="l" pos="0"/>
              </a:tabLst>
            </a:pPr>
            <a:r>
              <a:rPr b="1" lang="en-US" sz="1900" spc="-1" strike="noStrike">
                <a:solidFill>
                  <a:srgbClr val="e2e6e9"/>
                </a:solidFill>
                <a:latin typeface="Montserrat Bold"/>
                <a:ea typeface="Montserrat Bold"/>
              </a:rPr>
              <a:t>Maşın Öyrənməsi — Ağıllı Təsnifat</a:t>
            </a:r>
            <a:endParaRPr b="0" lang="en-US" sz="1900" spc="-1" strike="noStrike">
              <a:solidFill>
                <a:srgbClr val="000000"/>
              </a:solidFill>
              <a:latin typeface="Arial"/>
            </a:endParaRPr>
          </a:p>
        </p:txBody>
      </p:sp>
      <p:sp>
        <p:nvSpPr>
          <p:cNvPr id="115" name="Text 5"/>
          <p:cNvSpPr/>
          <p:nvPr/>
        </p:nvSpPr>
        <p:spPr>
          <a:xfrm>
            <a:off x="6431040" y="4320360"/>
            <a:ext cx="2943360" cy="194256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ML modelləri gələn sorğuları, sənədləri və məlumatları avtomatik olaraq kateqoriyalara ayırır. Nə qədər çox məlumat emal etsə, bir o qədər dəqiq olur.</a:t>
            </a:r>
            <a:endParaRPr b="0" lang="en-US" sz="1700" spc="-1" strike="noStrike">
              <a:solidFill>
                <a:srgbClr val="000000"/>
              </a:solidFill>
              <a:latin typeface="Arial"/>
            </a:endParaRPr>
          </a:p>
        </p:txBody>
      </p:sp>
      <p:pic>
        <p:nvPicPr>
          <p:cNvPr id="116" name="Image 2" descr="preencoded.png"/>
          <p:cNvPicPr/>
          <p:nvPr/>
        </p:nvPicPr>
        <p:blipFill>
          <a:blip r:embed="rId3"/>
          <a:stretch/>
        </p:blipFill>
        <p:spPr>
          <a:xfrm>
            <a:off x="9645480" y="3577320"/>
            <a:ext cx="905400" cy="905400"/>
          </a:xfrm>
          <a:prstGeom prst="rect">
            <a:avLst/>
          </a:prstGeom>
          <a:ln w="0">
            <a:noFill/>
          </a:ln>
        </p:spPr>
      </p:pic>
      <p:sp>
        <p:nvSpPr>
          <p:cNvPr id="117" name="Text 6"/>
          <p:cNvSpPr/>
          <p:nvPr/>
        </p:nvSpPr>
        <p:spPr>
          <a:xfrm>
            <a:off x="10821960" y="3577320"/>
            <a:ext cx="2943360" cy="612360"/>
          </a:xfrm>
          <a:prstGeom prst="rect">
            <a:avLst/>
          </a:prstGeom>
          <a:noFill/>
          <a:ln w="0">
            <a:noFill/>
          </a:ln>
        </p:spPr>
        <p:style>
          <a:lnRef idx="0"/>
          <a:fillRef idx="0"/>
          <a:effectRef idx="0"/>
          <a:fontRef idx="minor"/>
        </p:style>
        <p:txBody>
          <a:bodyPr lIns="0" rIns="0" tIns="0" bIns="0" anchor="t">
            <a:noAutofit/>
          </a:bodyPr>
          <a:p>
            <a:pPr>
              <a:lnSpc>
                <a:spcPts val="2401"/>
              </a:lnSpc>
              <a:tabLst>
                <a:tab algn="l" pos="0"/>
              </a:tabLst>
            </a:pPr>
            <a:r>
              <a:rPr b="1" lang="en-US" sz="1900" spc="-1" strike="noStrike">
                <a:solidFill>
                  <a:srgbClr val="e2e6e9"/>
                </a:solidFill>
                <a:latin typeface="Montserrat Bold"/>
                <a:ea typeface="Montserrat Bold"/>
              </a:rPr>
              <a:t>Çatbotlar — İlkin Müştəri Dəstəyi</a:t>
            </a:r>
            <a:endParaRPr b="0" lang="en-US" sz="1900" spc="-1" strike="noStrike">
              <a:solidFill>
                <a:srgbClr val="000000"/>
              </a:solidFill>
              <a:latin typeface="Arial"/>
            </a:endParaRPr>
          </a:p>
        </p:txBody>
      </p:sp>
      <p:sp>
        <p:nvSpPr>
          <p:cNvPr id="118" name="Text 7"/>
          <p:cNvSpPr/>
          <p:nvPr/>
        </p:nvSpPr>
        <p:spPr>
          <a:xfrm>
            <a:off x="10821960" y="4320360"/>
            <a:ext cx="2943360" cy="194256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NLP əsaslı çatbotlar müştəri sorğularını ilk olaraq qəbul edir, cavablandırır və lazım gəldikdə düzgün departamentə yönləndirir — 7/24 fasiləsiz xidmət.</a:t>
            </a:r>
            <a:endParaRPr b="0" lang="en-US" sz="17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 name="Text 0"/>
          <p:cNvSpPr/>
          <p:nvPr/>
        </p:nvSpPr>
        <p:spPr>
          <a:xfrm>
            <a:off x="863640" y="1684440"/>
            <a:ext cx="6902640" cy="612360"/>
          </a:xfrm>
          <a:prstGeom prst="rect">
            <a:avLst/>
          </a:prstGeom>
          <a:noFill/>
          <a:ln w="0">
            <a:noFill/>
          </a:ln>
        </p:spPr>
        <p:style>
          <a:lnRef idx="0"/>
          <a:fillRef idx="0"/>
          <a:effectRef idx="0"/>
          <a:fontRef idx="minor"/>
        </p:style>
        <p:txBody>
          <a:bodyPr wrap="none" lIns="0" rIns="0" tIns="0" bIns="0" anchor="t">
            <a:noAutofit/>
          </a:bodyPr>
          <a:p>
            <a:pPr>
              <a:lnSpc>
                <a:spcPts val="4799"/>
              </a:lnSpc>
              <a:tabLst>
                <a:tab algn="l" pos="0"/>
              </a:tabLst>
            </a:pPr>
            <a:r>
              <a:rPr b="1" lang="en-US" sz="3850" spc="-1" strike="noStrike">
                <a:solidFill>
                  <a:srgbClr val="ffffff"/>
                </a:solidFill>
                <a:latin typeface="Montserrat Bold"/>
                <a:ea typeface="Montserrat Bold"/>
              </a:rPr>
              <a:t>Tipik İdarəetmə Ssenariləri</a:t>
            </a:r>
            <a:endParaRPr b="0" lang="en-US" sz="3850" spc="-1" strike="noStrike">
              <a:solidFill>
                <a:srgbClr val="000000"/>
              </a:solidFill>
              <a:latin typeface="Arial"/>
            </a:endParaRPr>
          </a:p>
        </p:txBody>
      </p:sp>
      <p:sp>
        <p:nvSpPr>
          <p:cNvPr id="120" name="Text 1"/>
          <p:cNvSpPr/>
          <p:nvPr/>
        </p:nvSpPr>
        <p:spPr>
          <a:xfrm>
            <a:off x="431640" y="2621880"/>
            <a:ext cx="12901680" cy="322920"/>
          </a:xfrm>
          <a:prstGeom prst="rect">
            <a:avLst/>
          </a:prstGeom>
          <a:noFill/>
          <a:ln w="0">
            <a:noFill/>
          </a:ln>
        </p:spPr>
        <p:style>
          <a:lnRef idx="0"/>
          <a:fillRef idx="0"/>
          <a:effectRef idx="0"/>
          <a:fontRef idx="minor"/>
        </p:style>
        <p:txBody>
          <a:bodyPr wrap="none" lIns="0" rIns="0" tIns="0" bIns="0" anchor="t">
            <a:noAutofit/>
          </a:bodyPr>
          <a:p>
            <a:pPr>
              <a:lnSpc>
                <a:spcPts val="2551"/>
              </a:lnSpc>
              <a:tabLst>
                <a:tab algn="l" pos="0"/>
              </a:tabLst>
            </a:pPr>
            <a:r>
              <a:rPr b="0" lang="en-US" sz="1700" spc="-1" strike="noStrike">
                <a:solidFill>
                  <a:srgbClr val="e2e6e9"/>
                </a:solidFill>
                <a:latin typeface="Source Sans 3"/>
                <a:ea typeface="Source Sans 3"/>
              </a:rPr>
              <a:t>IPA texnologiyaları müxtəlif sektorlarda real biznes proseslərini dəyişdirir. Aşağıdakı nümunələr ən geniş tətbiq olunan sahələri əks etdirir.</a:t>
            </a:r>
            <a:endParaRPr b="0" lang="en-US" sz="1700" spc="-1" strike="noStrike">
              <a:solidFill>
                <a:srgbClr val="000000"/>
              </a:solidFill>
              <a:latin typeface="Arial"/>
            </a:endParaRPr>
          </a:p>
        </p:txBody>
      </p:sp>
      <p:pic>
        <p:nvPicPr>
          <p:cNvPr id="121" name="Image 0" descr="preencoded.png"/>
          <p:cNvPicPr/>
          <p:nvPr/>
        </p:nvPicPr>
        <p:blipFill>
          <a:blip r:embed="rId1">
            <a:extLst>
              <a:ext uri="{96DAC541-7B7A-43D3-8B79-37D633B846F1}">
                <asvg:svgBlip xmlns:asvg="http://schemas.microsoft.com/office/drawing/2016/SVG/main" r:embed="rId2"/>
              </a:ext>
            </a:extLst>
          </a:blip>
          <a:stretch/>
        </p:blipFill>
        <p:spPr>
          <a:xfrm>
            <a:off x="863640" y="3296880"/>
            <a:ext cx="538920" cy="538920"/>
          </a:xfrm>
          <a:prstGeom prst="rect">
            <a:avLst/>
          </a:prstGeom>
          <a:ln w="0">
            <a:noFill/>
          </a:ln>
        </p:spPr>
      </p:pic>
      <p:sp>
        <p:nvSpPr>
          <p:cNvPr id="122" name="Text 2"/>
          <p:cNvSpPr/>
          <p:nvPr/>
        </p:nvSpPr>
        <p:spPr>
          <a:xfrm>
            <a:off x="1673640" y="3296880"/>
            <a:ext cx="3909240" cy="30564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1" lang="en-US" sz="1900" spc="-1" strike="noStrike">
                <a:solidFill>
                  <a:srgbClr val="e2e6e9"/>
                </a:solidFill>
                <a:latin typeface="Montserrat Bold"/>
                <a:ea typeface="Montserrat Bold"/>
              </a:rPr>
              <a:t>Faktura və Çatdırılma Qeydləri</a:t>
            </a:r>
            <a:endParaRPr b="0" lang="en-US" sz="1900" spc="-1" strike="noStrike">
              <a:solidFill>
                <a:srgbClr val="000000"/>
              </a:solidFill>
              <a:latin typeface="Arial"/>
            </a:endParaRPr>
          </a:p>
        </p:txBody>
      </p:sp>
      <p:sp>
        <p:nvSpPr>
          <p:cNvPr id="123" name="Text 3"/>
          <p:cNvSpPr/>
          <p:nvPr/>
        </p:nvSpPr>
        <p:spPr>
          <a:xfrm>
            <a:off x="1673640" y="3733200"/>
            <a:ext cx="5505480" cy="97092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Gələn fakturaları OCR ilə oxuyur, məlumatları mühasibat sisteminə daxil edir, uyğunluğu yoxlayır və ödənişi avtomatik təsdiqləyir — manual əməliyyat sıfıra endirilir.</a:t>
            </a:r>
            <a:endParaRPr b="0" lang="en-US" sz="1700" spc="-1" strike="noStrike">
              <a:solidFill>
                <a:srgbClr val="000000"/>
              </a:solidFill>
              <a:latin typeface="Arial"/>
            </a:endParaRPr>
          </a:p>
        </p:txBody>
      </p:sp>
      <p:pic>
        <p:nvPicPr>
          <p:cNvPr id="124" name="Image 1" descr="preencoded.png"/>
          <p:cNvPicPr/>
          <p:nvPr/>
        </p:nvPicPr>
        <p:blipFill>
          <a:blip r:embed="rId3">
            <a:extLst>
              <a:ext uri="{96DAC541-7B7A-43D3-8B79-37D633B846F1}">
                <asvg:svgBlip xmlns:asvg="http://schemas.microsoft.com/office/drawing/2016/SVG/main" r:embed="rId4"/>
              </a:ext>
            </a:extLst>
          </a:blip>
          <a:stretch/>
        </p:blipFill>
        <p:spPr>
          <a:xfrm>
            <a:off x="7450200" y="3296880"/>
            <a:ext cx="538920" cy="538920"/>
          </a:xfrm>
          <a:prstGeom prst="rect">
            <a:avLst/>
          </a:prstGeom>
          <a:ln w="0">
            <a:noFill/>
          </a:ln>
        </p:spPr>
      </p:pic>
      <p:sp>
        <p:nvSpPr>
          <p:cNvPr id="125" name="Text 4"/>
          <p:cNvSpPr/>
          <p:nvPr/>
        </p:nvSpPr>
        <p:spPr>
          <a:xfrm>
            <a:off x="8259840" y="3296880"/>
            <a:ext cx="3068640" cy="30564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1" lang="en-US" sz="1900" spc="-1" strike="noStrike">
                <a:solidFill>
                  <a:srgbClr val="e2e6e9"/>
                </a:solidFill>
                <a:latin typeface="Montserrat Bold"/>
                <a:ea typeface="Montserrat Bold"/>
              </a:rPr>
              <a:t>Yeni İşçilərin İşə Qəbulu</a:t>
            </a:r>
            <a:endParaRPr b="0" lang="en-US" sz="1900" spc="-1" strike="noStrike">
              <a:solidFill>
                <a:srgbClr val="000000"/>
              </a:solidFill>
              <a:latin typeface="Arial"/>
            </a:endParaRPr>
          </a:p>
        </p:txBody>
      </p:sp>
      <p:sp>
        <p:nvSpPr>
          <p:cNvPr id="126" name="Text 5"/>
          <p:cNvSpPr/>
          <p:nvPr/>
        </p:nvSpPr>
        <p:spPr>
          <a:xfrm>
            <a:off x="8259840" y="3733200"/>
            <a:ext cx="5505840" cy="97092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Yeni əməkdaşın sənədlərini emal edir, sistemlərə giriş hüquqları yaradır, təlim planı hazırlayır və bütün departamentlərə avtomatik bildiriş göndərir.</a:t>
            </a:r>
            <a:endParaRPr b="0" lang="en-US" sz="1700" spc="-1" strike="noStrike">
              <a:solidFill>
                <a:srgbClr val="000000"/>
              </a:solidFill>
              <a:latin typeface="Arial"/>
            </a:endParaRPr>
          </a:p>
        </p:txBody>
      </p:sp>
      <p:pic>
        <p:nvPicPr>
          <p:cNvPr id="127" name="Image 2" descr="preencoded.png"/>
          <p:cNvPicPr/>
          <p:nvPr/>
        </p:nvPicPr>
        <p:blipFill>
          <a:blip r:embed="rId5">
            <a:extLst>
              <a:ext uri="{96DAC541-7B7A-43D3-8B79-37D633B846F1}">
                <asvg:svgBlip xmlns:asvg="http://schemas.microsoft.com/office/drawing/2016/SVG/main" r:embed="rId6"/>
              </a:ext>
            </a:extLst>
          </a:blip>
          <a:stretch/>
        </p:blipFill>
        <p:spPr>
          <a:xfrm>
            <a:off x="863640" y="5136840"/>
            <a:ext cx="538920" cy="538920"/>
          </a:xfrm>
          <a:prstGeom prst="rect">
            <a:avLst/>
          </a:prstGeom>
          <a:ln w="0">
            <a:noFill/>
          </a:ln>
        </p:spPr>
      </p:pic>
      <p:sp>
        <p:nvSpPr>
          <p:cNvPr id="128" name="Text 6"/>
          <p:cNvSpPr/>
          <p:nvPr/>
        </p:nvSpPr>
        <p:spPr>
          <a:xfrm>
            <a:off x="1673640" y="5136840"/>
            <a:ext cx="3441600" cy="30564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1" lang="en-US" sz="1900" spc="-1" strike="noStrike">
                <a:solidFill>
                  <a:srgbClr val="e2e6e9"/>
                </a:solidFill>
                <a:latin typeface="Montserrat Bold"/>
                <a:ea typeface="Montserrat Bold"/>
              </a:rPr>
              <a:t>Müştəri Sorğularının Təhlili</a:t>
            </a:r>
            <a:endParaRPr b="0" lang="en-US" sz="1900" spc="-1" strike="noStrike">
              <a:solidFill>
                <a:srgbClr val="000000"/>
              </a:solidFill>
              <a:latin typeface="Arial"/>
            </a:endParaRPr>
          </a:p>
        </p:txBody>
      </p:sp>
      <p:sp>
        <p:nvSpPr>
          <p:cNvPr id="129" name="Text 7"/>
          <p:cNvSpPr/>
          <p:nvPr/>
        </p:nvSpPr>
        <p:spPr>
          <a:xfrm>
            <a:off x="1673640" y="5573160"/>
            <a:ext cx="5505480" cy="97092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Daxil olan e-poçt və mesajları oxuyur, mövzuya və prioritetə görə təsnif edir, düzgün komandaya yönləndirir və cavab şablonu hazırlayır.</a:t>
            </a:r>
            <a:endParaRPr b="0" lang="en-US" sz="1700" spc="-1" strike="noStrike">
              <a:solidFill>
                <a:srgbClr val="000000"/>
              </a:solidFill>
              <a:latin typeface="Arial"/>
            </a:endParaRPr>
          </a:p>
        </p:txBody>
      </p:sp>
      <p:pic>
        <p:nvPicPr>
          <p:cNvPr id="130" name="Image 3" descr="preencoded.png"/>
          <p:cNvPicPr/>
          <p:nvPr/>
        </p:nvPicPr>
        <p:blipFill>
          <a:blip r:embed="rId7">
            <a:extLst>
              <a:ext uri="{96DAC541-7B7A-43D3-8B79-37D633B846F1}">
                <asvg:svgBlip xmlns:asvg="http://schemas.microsoft.com/office/drawing/2016/SVG/main" r:embed="rId8"/>
              </a:ext>
            </a:extLst>
          </a:blip>
          <a:stretch/>
        </p:blipFill>
        <p:spPr>
          <a:xfrm>
            <a:off x="7450200" y="5136840"/>
            <a:ext cx="538920" cy="538920"/>
          </a:xfrm>
          <a:prstGeom prst="rect">
            <a:avLst/>
          </a:prstGeom>
          <a:ln w="0">
            <a:noFill/>
          </a:ln>
        </p:spPr>
      </p:pic>
      <p:sp>
        <p:nvSpPr>
          <p:cNvPr id="131" name="Text 8"/>
          <p:cNvSpPr/>
          <p:nvPr/>
        </p:nvSpPr>
        <p:spPr>
          <a:xfrm>
            <a:off x="8259840" y="5136840"/>
            <a:ext cx="3048480" cy="30564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1" lang="en-US" sz="1900" spc="-1" strike="noStrike">
                <a:solidFill>
                  <a:srgbClr val="e2e6e9"/>
                </a:solidFill>
                <a:latin typeface="Montserrat Bold"/>
                <a:ea typeface="Montserrat Bold"/>
              </a:rPr>
              <a:t>Tənzimləyici Hesabatlar</a:t>
            </a:r>
            <a:endParaRPr b="0" lang="en-US" sz="1900" spc="-1" strike="noStrike">
              <a:solidFill>
                <a:srgbClr val="000000"/>
              </a:solidFill>
              <a:latin typeface="Arial"/>
            </a:endParaRPr>
          </a:p>
        </p:txBody>
      </p:sp>
      <p:sp>
        <p:nvSpPr>
          <p:cNvPr id="132" name="Text 9"/>
          <p:cNvSpPr/>
          <p:nvPr/>
        </p:nvSpPr>
        <p:spPr>
          <a:xfrm>
            <a:off x="8259840" y="5573160"/>
            <a:ext cx="5505840" cy="97092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Müxtəlif sistemlərdən məlumatları toplayır, birləşdirir, formatlaşdırır və müəyyən edilmiş müddətdə tənzimləyici qurumlara avtomatik hesabat göndərir.</a:t>
            </a:r>
            <a:endParaRPr b="0" lang="en-US" sz="17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 name="Text 0"/>
          <p:cNvSpPr/>
          <p:nvPr/>
        </p:nvSpPr>
        <p:spPr>
          <a:xfrm>
            <a:off x="783360" y="538560"/>
            <a:ext cx="5399280" cy="555120"/>
          </a:xfrm>
          <a:prstGeom prst="rect">
            <a:avLst/>
          </a:prstGeom>
          <a:noFill/>
          <a:ln w="0">
            <a:noFill/>
          </a:ln>
        </p:spPr>
        <p:style>
          <a:lnRef idx="0"/>
          <a:fillRef idx="0"/>
          <a:effectRef idx="0"/>
          <a:fontRef idx="minor"/>
        </p:style>
        <p:txBody>
          <a:bodyPr wrap="none" lIns="0" rIns="0" tIns="0" bIns="0" anchor="t">
            <a:noAutofit/>
          </a:bodyPr>
          <a:p>
            <a:pPr>
              <a:lnSpc>
                <a:spcPts val="4351"/>
              </a:lnSpc>
              <a:tabLst>
                <a:tab algn="l" pos="0"/>
              </a:tabLst>
            </a:pPr>
            <a:r>
              <a:rPr b="1" lang="en-US" sz="3500" spc="-1" strike="noStrike">
                <a:solidFill>
                  <a:srgbClr val="ffffff"/>
                </a:solidFill>
                <a:latin typeface="Montserrat Bold"/>
                <a:ea typeface="Montserrat Bold"/>
              </a:rPr>
              <a:t>Hibrid Prosesin Dizaynı</a:t>
            </a:r>
            <a:endParaRPr b="0" lang="en-US" sz="3500" spc="-1" strike="noStrike">
              <a:solidFill>
                <a:srgbClr val="000000"/>
              </a:solidFill>
              <a:latin typeface="Arial"/>
            </a:endParaRPr>
          </a:p>
        </p:txBody>
      </p:sp>
      <p:sp>
        <p:nvSpPr>
          <p:cNvPr id="134" name="Text 1"/>
          <p:cNvSpPr/>
          <p:nvPr/>
        </p:nvSpPr>
        <p:spPr>
          <a:xfrm>
            <a:off x="783360" y="1449720"/>
            <a:ext cx="13062960" cy="559080"/>
          </a:xfrm>
          <a:prstGeom prst="rect">
            <a:avLst/>
          </a:prstGeom>
          <a:noFill/>
          <a:ln w="0">
            <a:noFill/>
          </a:ln>
        </p:spPr>
        <p:style>
          <a:lnRef idx="0"/>
          <a:fillRef idx="0"/>
          <a:effectRef idx="0"/>
          <a:fontRef idx="minor"/>
        </p:style>
        <p:txBody>
          <a:bodyPr lIns="0" rIns="0" tIns="0" bIns="0" anchor="t">
            <a:noAutofit/>
          </a:bodyPr>
          <a:p>
            <a:pPr>
              <a:lnSpc>
                <a:spcPts val="2200"/>
              </a:lnSpc>
              <a:tabLst>
                <a:tab algn="l" pos="0"/>
              </a:tabLst>
            </a:pPr>
            <a:r>
              <a:rPr b="0" lang="en-US" sz="1500" spc="-1" strike="noStrike">
                <a:solidFill>
                  <a:srgbClr val="e2e6e9"/>
                </a:solidFill>
                <a:latin typeface="Source Sans 3"/>
                <a:ea typeface="Source Sans 3"/>
              </a:rPr>
              <a:t>Effektiv IPA həlləri botun gücünü insan mühakiməsi ilə birləşdirir. Aşağıdakı nümunə e-poçt əsaslı sorğu emalının addım-addım necə işlədiyini göstərir — yüksək etibarlı hallarda tam avtomatik, şübhəli hallarda isə insana ötürülür.</a:t>
            </a:r>
            <a:endParaRPr b="0" lang="en-US" sz="1500" spc="-1" strike="noStrike">
              <a:solidFill>
                <a:srgbClr val="000000"/>
              </a:solidFill>
              <a:latin typeface="Arial"/>
            </a:endParaRPr>
          </a:p>
        </p:txBody>
      </p:sp>
      <p:pic>
        <p:nvPicPr>
          <p:cNvPr id="135" name="Image 0" descr="preencoded.png"/>
          <p:cNvPicPr/>
          <p:nvPr/>
        </p:nvPicPr>
        <p:blipFill>
          <a:blip r:embed="rId1"/>
          <a:stretch/>
        </p:blipFill>
        <p:spPr>
          <a:xfrm>
            <a:off x="992520" y="2209320"/>
            <a:ext cx="12644280" cy="4744080"/>
          </a:xfrm>
          <a:prstGeom prst="rect">
            <a:avLst/>
          </a:prstGeom>
          <a:ln w="0">
            <a:noFill/>
          </a:ln>
        </p:spPr>
      </p:pic>
      <p:pic>
        <p:nvPicPr>
          <p:cNvPr id="136" name="Image 1" descr="preencoded.png"/>
          <p:cNvPicPr/>
          <p:nvPr/>
        </p:nvPicPr>
        <p:blipFill>
          <a:blip r:embed="rId2">
            <a:extLst>
              <a:ext uri="{96DAC541-7B7A-43D3-8B79-37D633B846F1}">
                <asvg:svgBlip xmlns:asvg="http://schemas.microsoft.com/office/drawing/2016/SVG/main" r:embed="rId3"/>
              </a:ext>
            </a:extLst>
          </a:blip>
          <a:stretch/>
        </p:blipFill>
        <p:spPr>
          <a:xfrm>
            <a:off x="11791800" y="3418200"/>
            <a:ext cx="651960" cy="651960"/>
          </a:xfrm>
          <a:prstGeom prst="rect">
            <a:avLst/>
          </a:prstGeom>
          <a:ln w="0">
            <a:noFill/>
          </a:ln>
        </p:spPr>
      </p:pic>
      <p:sp>
        <p:nvSpPr>
          <p:cNvPr id="137" name="Text 2"/>
          <p:cNvSpPr/>
          <p:nvPr/>
        </p:nvSpPr>
        <p:spPr>
          <a:xfrm>
            <a:off x="11209680" y="5652360"/>
            <a:ext cx="1906200" cy="666720"/>
          </a:xfrm>
          <a:prstGeom prst="rect">
            <a:avLst/>
          </a:prstGeom>
          <a:noFill/>
          <a:ln w="0">
            <a:noFill/>
          </a:ln>
        </p:spPr>
        <p:style>
          <a:lnRef idx="0"/>
          <a:fillRef idx="0"/>
          <a:effectRef idx="0"/>
          <a:fontRef idx="minor"/>
        </p:style>
        <p:txBody>
          <a:bodyPr lIns="0" rIns="0" tIns="0" bIns="0" anchor="t">
            <a:noAutofit/>
          </a:bodyPr>
          <a:p>
            <a:pPr algn="ctr">
              <a:lnSpc>
                <a:spcPts val="2599"/>
              </a:lnSpc>
              <a:tabLst>
                <a:tab algn="l" pos="0"/>
              </a:tabLst>
            </a:pPr>
            <a:r>
              <a:rPr b="1" lang="en-US" sz="2100" spc="-1" strike="noStrike">
                <a:solidFill>
                  <a:srgbClr val="e2e6e9"/>
                </a:solidFill>
                <a:latin typeface="Montserrat Bold"/>
                <a:ea typeface="Montserrat Bold"/>
              </a:rPr>
              <a:t>90%-dən aşağı: İcmal</a:t>
            </a:r>
            <a:endParaRPr b="0" lang="en-US" sz="2100" spc="-1" strike="noStrike">
              <a:solidFill>
                <a:srgbClr val="000000"/>
              </a:solidFill>
              <a:latin typeface="Arial"/>
            </a:endParaRPr>
          </a:p>
        </p:txBody>
      </p:sp>
      <p:pic>
        <p:nvPicPr>
          <p:cNvPr id="138" name="Image 2" descr="preencoded.png"/>
          <p:cNvPicPr/>
          <p:nvPr/>
        </p:nvPicPr>
        <p:blipFill>
          <a:blip r:embed="rId4">
            <a:extLst>
              <a:ext uri="{96DAC541-7B7A-43D3-8B79-37D633B846F1}">
                <asvg:svgBlip xmlns:asvg="http://schemas.microsoft.com/office/drawing/2016/SVG/main" r:embed="rId5"/>
              </a:ext>
            </a:extLst>
          </a:blip>
          <a:stretch/>
        </p:blipFill>
        <p:spPr>
          <a:xfrm>
            <a:off x="9400320" y="3419280"/>
            <a:ext cx="651960" cy="651960"/>
          </a:xfrm>
          <a:prstGeom prst="rect">
            <a:avLst/>
          </a:prstGeom>
          <a:ln w="0">
            <a:noFill/>
          </a:ln>
        </p:spPr>
      </p:pic>
      <p:sp>
        <p:nvSpPr>
          <p:cNvPr id="139" name="Text 3"/>
          <p:cNvSpPr/>
          <p:nvPr/>
        </p:nvSpPr>
        <p:spPr>
          <a:xfrm>
            <a:off x="8805960" y="5652360"/>
            <a:ext cx="1906200" cy="666720"/>
          </a:xfrm>
          <a:prstGeom prst="rect">
            <a:avLst/>
          </a:prstGeom>
          <a:noFill/>
          <a:ln w="0">
            <a:noFill/>
          </a:ln>
        </p:spPr>
        <p:style>
          <a:lnRef idx="0"/>
          <a:fillRef idx="0"/>
          <a:effectRef idx="0"/>
          <a:fontRef idx="minor"/>
        </p:style>
        <p:txBody>
          <a:bodyPr lIns="0" rIns="0" tIns="0" bIns="0" anchor="t">
            <a:noAutofit/>
          </a:bodyPr>
          <a:p>
            <a:pPr algn="ctr">
              <a:lnSpc>
                <a:spcPts val="2599"/>
              </a:lnSpc>
              <a:tabLst>
                <a:tab algn="l" pos="0"/>
              </a:tabLst>
            </a:pPr>
            <a:r>
              <a:rPr b="1" lang="en-US" sz="2100" spc="-1" strike="noStrike">
                <a:solidFill>
                  <a:srgbClr val="e2e6e9"/>
                </a:solidFill>
                <a:latin typeface="Montserrat Bold"/>
                <a:ea typeface="Montserrat Bold"/>
              </a:rPr>
              <a:t>90%-dən çox: Avtomatik</a:t>
            </a:r>
            <a:endParaRPr b="0" lang="en-US" sz="2100" spc="-1" strike="noStrike">
              <a:solidFill>
                <a:srgbClr val="000000"/>
              </a:solidFill>
              <a:latin typeface="Arial"/>
            </a:endParaRPr>
          </a:p>
        </p:txBody>
      </p:sp>
      <p:pic>
        <p:nvPicPr>
          <p:cNvPr id="140" name="Image 3" descr="preencoded.png"/>
          <p:cNvPicPr/>
          <p:nvPr/>
        </p:nvPicPr>
        <p:blipFill>
          <a:blip r:embed="rId6">
            <a:extLst>
              <a:ext uri="{96DAC541-7B7A-43D3-8B79-37D633B846F1}">
                <asvg:svgBlip xmlns:asvg="http://schemas.microsoft.com/office/drawing/2016/SVG/main" r:embed="rId7"/>
              </a:ext>
            </a:extLst>
          </a:blip>
          <a:stretch/>
        </p:blipFill>
        <p:spPr>
          <a:xfrm>
            <a:off x="7009920" y="3419280"/>
            <a:ext cx="651960" cy="651960"/>
          </a:xfrm>
          <a:prstGeom prst="rect">
            <a:avLst/>
          </a:prstGeom>
          <a:ln w="0">
            <a:noFill/>
          </a:ln>
        </p:spPr>
      </p:pic>
      <p:sp>
        <p:nvSpPr>
          <p:cNvPr id="141" name="Text 4"/>
          <p:cNvSpPr/>
          <p:nvPr/>
        </p:nvSpPr>
        <p:spPr>
          <a:xfrm>
            <a:off x="6415560" y="5652360"/>
            <a:ext cx="1906200" cy="666720"/>
          </a:xfrm>
          <a:prstGeom prst="rect">
            <a:avLst/>
          </a:prstGeom>
          <a:noFill/>
          <a:ln w="0">
            <a:noFill/>
          </a:ln>
        </p:spPr>
        <p:style>
          <a:lnRef idx="0"/>
          <a:fillRef idx="0"/>
          <a:effectRef idx="0"/>
          <a:fontRef idx="minor"/>
        </p:style>
        <p:txBody>
          <a:bodyPr lIns="0" rIns="0" tIns="0" bIns="0" anchor="t">
            <a:noAutofit/>
          </a:bodyPr>
          <a:p>
            <a:pPr algn="ctr">
              <a:lnSpc>
                <a:spcPts val="2599"/>
              </a:lnSpc>
              <a:tabLst>
                <a:tab algn="l" pos="0"/>
              </a:tabLst>
            </a:pPr>
            <a:r>
              <a:rPr b="1" lang="en-US" sz="2100" spc="-1" strike="noStrike">
                <a:solidFill>
                  <a:srgbClr val="e2e6e9"/>
                </a:solidFill>
                <a:latin typeface="Montserrat Bold"/>
                <a:ea typeface="Montserrat Bold"/>
              </a:rPr>
              <a:t>Modelin Etibarlılıq İndikatoru</a:t>
            </a:r>
            <a:endParaRPr b="0" lang="en-US" sz="2100" spc="-1" strike="noStrike">
              <a:solidFill>
                <a:srgbClr val="000000"/>
              </a:solidFill>
              <a:latin typeface="Arial"/>
            </a:endParaRPr>
          </a:p>
        </p:txBody>
      </p:sp>
      <p:pic>
        <p:nvPicPr>
          <p:cNvPr id="142" name="Image 4" descr="preencoded.png"/>
          <p:cNvPicPr/>
          <p:nvPr/>
        </p:nvPicPr>
        <p:blipFill>
          <a:blip r:embed="rId8">
            <a:extLst>
              <a:ext uri="{96DAC541-7B7A-43D3-8B79-37D633B846F1}">
                <asvg:svgBlip xmlns:asvg="http://schemas.microsoft.com/office/drawing/2016/SVG/main" r:embed="rId9"/>
              </a:ext>
            </a:extLst>
          </a:blip>
          <a:stretch/>
        </p:blipFill>
        <p:spPr>
          <a:xfrm>
            <a:off x="4619160" y="3419280"/>
            <a:ext cx="651960" cy="651960"/>
          </a:xfrm>
          <a:prstGeom prst="rect">
            <a:avLst/>
          </a:prstGeom>
          <a:ln w="0">
            <a:noFill/>
          </a:ln>
        </p:spPr>
      </p:pic>
      <p:sp>
        <p:nvSpPr>
          <p:cNvPr id="143" name="Text 5"/>
          <p:cNvSpPr/>
          <p:nvPr/>
        </p:nvSpPr>
        <p:spPr>
          <a:xfrm>
            <a:off x="4024800" y="5652360"/>
            <a:ext cx="1906200" cy="666720"/>
          </a:xfrm>
          <a:prstGeom prst="rect">
            <a:avLst/>
          </a:prstGeom>
          <a:noFill/>
          <a:ln w="0">
            <a:noFill/>
          </a:ln>
        </p:spPr>
        <p:style>
          <a:lnRef idx="0"/>
          <a:fillRef idx="0"/>
          <a:effectRef idx="0"/>
          <a:fontRef idx="minor"/>
        </p:style>
        <p:txBody>
          <a:bodyPr lIns="0" rIns="0" tIns="0" bIns="0" anchor="t">
            <a:noAutofit/>
          </a:bodyPr>
          <a:p>
            <a:pPr algn="ctr">
              <a:lnSpc>
                <a:spcPts val="2599"/>
              </a:lnSpc>
              <a:tabLst>
                <a:tab algn="l" pos="0"/>
              </a:tabLst>
            </a:pPr>
            <a:r>
              <a:rPr b="1" lang="en-US" sz="2100" spc="-1" strike="noStrike">
                <a:solidFill>
                  <a:srgbClr val="e2e6e9"/>
                </a:solidFill>
                <a:latin typeface="Montserrat Bold"/>
                <a:ea typeface="Montserrat Bold"/>
              </a:rPr>
              <a:t>NLP Təsnifatı</a:t>
            </a:r>
            <a:endParaRPr b="0" lang="en-US" sz="2100" spc="-1" strike="noStrike">
              <a:solidFill>
                <a:srgbClr val="000000"/>
              </a:solidFill>
              <a:latin typeface="Arial"/>
            </a:endParaRPr>
          </a:p>
        </p:txBody>
      </p:sp>
      <p:pic>
        <p:nvPicPr>
          <p:cNvPr id="144" name="Image 5" descr="preencoded.png"/>
          <p:cNvPicPr/>
          <p:nvPr/>
        </p:nvPicPr>
        <p:blipFill>
          <a:blip r:embed="rId10">
            <a:extLst>
              <a:ext uri="{96DAC541-7B7A-43D3-8B79-37D633B846F1}">
                <asvg:svgBlip xmlns:asvg="http://schemas.microsoft.com/office/drawing/2016/SVG/main" r:embed="rId11"/>
              </a:ext>
            </a:extLst>
          </a:blip>
          <a:stretch/>
        </p:blipFill>
        <p:spPr>
          <a:xfrm>
            <a:off x="2215440" y="3419280"/>
            <a:ext cx="651960" cy="651960"/>
          </a:xfrm>
          <a:prstGeom prst="rect">
            <a:avLst/>
          </a:prstGeom>
          <a:ln w="0">
            <a:noFill/>
          </a:ln>
        </p:spPr>
      </p:pic>
      <p:sp>
        <p:nvSpPr>
          <p:cNvPr id="145" name="Text 6"/>
          <p:cNvSpPr/>
          <p:nvPr/>
        </p:nvSpPr>
        <p:spPr>
          <a:xfrm>
            <a:off x="1581840" y="5652360"/>
            <a:ext cx="1906200" cy="666720"/>
          </a:xfrm>
          <a:prstGeom prst="rect">
            <a:avLst/>
          </a:prstGeom>
          <a:noFill/>
          <a:ln w="0">
            <a:noFill/>
          </a:ln>
        </p:spPr>
        <p:style>
          <a:lnRef idx="0"/>
          <a:fillRef idx="0"/>
          <a:effectRef idx="0"/>
          <a:fontRef idx="minor"/>
        </p:style>
        <p:txBody>
          <a:bodyPr lIns="0" rIns="0" tIns="0" bIns="0" anchor="t">
            <a:noAutofit/>
          </a:bodyPr>
          <a:p>
            <a:pPr algn="ctr">
              <a:lnSpc>
                <a:spcPts val="2599"/>
              </a:lnSpc>
              <a:tabLst>
                <a:tab algn="l" pos="0"/>
              </a:tabLst>
            </a:pPr>
            <a:r>
              <a:rPr b="1" lang="en-US" sz="2100" spc="-1" strike="noStrike">
                <a:solidFill>
                  <a:srgbClr val="e2e6e9"/>
                </a:solidFill>
                <a:latin typeface="Montserrat Bold"/>
                <a:ea typeface="Montserrat Bold"/>
              </a:rPr>
              <a:t>E‑poçtanı Oxumaq</a:t>
            </a:r>
            <a:endParaRPr b="0" lang="en-US" sz="2100" spc="-1" strike="noStrike">
              <a:solidFill>
                <a:srgbClr val="000000"/>
              </a:solidFill>
              <a:latin typeface="Arial"/>
            </a:endParaRPr>
          </a:p>
        </p:txBody>
      </p:sp>
      <p:sp>
        <p:nvSpPr>
          <p:cNvPr id="146" name="Text 7"/>
          <p:cNvSpPr/>
          <p:nvPr/>
        </p:nvSpPr>
        <p:spPr>
          <a:xfrm>
            <a:off x="783360" y="7154280"/>
            <a:ext cx="13062960" cy="559080"/>
          </a:xfrm>
          <a:prstGeom prst="rect">
            <a:avLst/>
          </a:prstGeom>
          <a:noFill/>
          <a:ln w="0">
            <a:noFill/>
          </a:ln>
        </p:spPr>
        <p:style>
          <a:lnRef idx="0"/>
          <a:fillRef idx="0"/>
          <a:effectRef idx="0"/>
          <a:fontRef idx="minor"/>
        </p:style>
        <p:txBody>
          <a:bodyPr lIns="0" rIns="0" tIns="0" bIns="0" anchor="t">
            <a:noAutofit/>
          </a:bodyPr>
          <a:p>
            <a:pPr>
              <a:lnSpc>
                <a:spcPts val="2200"/>
              </a:lnSpc>
              <a:tabLst>
                <a:tab algn="l" pos="0"/>
              </a:tabLst>
            </a:pPr>
            <a:r>
              <a:rPr b="0" lang="en-US" sz="1500" spc="-1" strike="noStrike">
                <a:solidFill>
                  <a:srgbClr val="e2e6e9"/>
                </a:solidFill>
                <a:latin typeface="Source Sans 3"/>
                <a:ea typeface="Source Sans 3"/>
              </a:rPr>
              <a:t>Bu hibrid model ən yaxşı nəticəni verir: </a:t>
            </a:r>
            <a:r>
              <a:rPr b="1" lang="en-US" sz="1500" spc="-1" strike="noStrike">
                <a:solidFill>
                  <a:srgbClr val="e2e6e9"/>
                </a:solidFill>
                <a:latin typeface="Source Sans 3"/>
                <a:ea typeface="Source Sans 3"/>
              </a:rPr>
              <a:t>yüksək həcmli, standart hallar</a:t>
            </a:r>
            <a:r>
              <a:rPr b="0" lang="en-US" sz="1500" spc="-1" strike="noStrike">
                <a:solidFill>
                  <a:srgbClr val="e2e6e9"/>
                </a:solidFill>
                <a:latin typeface="Source Sans 3"/>
                <a:ea typeface="Source Sans 3"/>
              </a:rPr>
              <a:t> tamamilə avtomatlaşdırılır, </a:t>
            </a:r>
            <a:r>
              <a:rPr b="1" lang="en-US" sz="1500" spc="-1" strike="noStrike">
                <a:solidFill>
                  <a:srgbClr val="e2e6e9"/>
                </a:solidFill>
                <a:latin typeface="Source Sans 3"/>
                <a:ea typeface="Source Sans 3"/>
              </a:rPr>
              <a:t>mürəkkəb və qeyri-müəyyən hallar</a:t>
            </a:r>
            <a:r>
              <a:rPr b="0" lang="en-US" sz="1500" spc="-1" strike="noStrike">
                <a:solidFill>
                  <a:srgbClr val="e2e6e9"/>
                </a:solidFill>
                <a:latin typeface="Source Sans 3"/>
                <a:ea typeface="Source Sans 3"/>
              </a:rPr>
              <a:t> isə mütəxəssisə yönləndirilir. Nəticədə həm sürət artır, həm də keyfiyyət təmin olunur.</a:t>
            </a:r>
            <a:endParaRPr b="0" lang="en-US" sz="1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 name="Text 0"/>
          <p:cNvSpPr/>
          <p:nvPr/>
        </p:nvSpPr>
        <p:spPr>
          <a:xfrm>
            <a:off x="701640" y="1143000"/>
            <a:ext cx="5699160" cy="612360"/>
          </a:xfrm>
          <a:prstGeom prst="rect">
            <a:avLst/>
          </a:prstGeom>
          <a:noFill/>
          <a:ln w="0">
            <a:noFill/>
          </a:ln>
        </p:spPr>
        <p:style>
          <a:lnRef idx="0"/>
          <a:fillRef idx="0"/>
          <a:effectRef idx="0"/>
          <a:fontRef idx="minor"/>
        </p:style>
        <p:txBody>
          <a:bodyPr wrap="none" lIns="0" rIns="0" tIns="0" bIns="0" anchor="t">
            <a:noAutofit/>
          </a:bodyPr>
          <a:p>
            <a:pPr>
              <a:lnSpc>
                <a:spcPts val="4799"/>
              </a:lnSpc>
              <a:spcBef>
                <a:spcPts val="1191"/>
              </a:spcBef>
              <a:spcAft>
                <a:spcPts val="992"/>
              </a:spcAft>
              <a:tabLst>
                <a:tab algn="l" pos="0"/>
              </a:tabLst>
            </a:pPr>
            <a:r>
              <a:rPr b="1" lang="en-US" sz="3850" spc="-1" strike="noStrike">
                <a:solidFill>
                  <a:srgbClr val="ffffff"/>
                </a:solidFill>
                <a:latin typeface="Montserrat Bold"/>
                <a:ea typeface="Montserrat Bold"/>
              </a:rPr>
              <a:t>ROI (</a:t>
            </a:r>
            <a:r>
              <a:rPr b="1" lang="en-US" sz="3850" spc="-1" strike="noStrike">
                <a:solidFill>
                  <a:srgbClr val="ffffff"/>
                </a:solidFill>
                <a:latin typeface="Montserrat Bold"/>
                <a:ea typeface="Montserrat Bold"/>
                <a:hlinkClick r:id="rId1"/>
              </a:rPr>
              <a:t>Return on Investment</a:t>
            </a:r>
            <a:r>
              <a:rPr b="1" lang="en-US" sz="3850" spc="-1" strike="noStrike">
                <a:solidFill>
                  <a:srgbClr val="ffffff"/>
                </a:solidFill>
                <a:latin typeface="Montserrat Bold"/>
                <a:ea typeface="Montserrat Bold"/>
              </a:rPr>
              <a:t>) Qiymətləndirməsi</a:t>
            </a:r>
            <a:endParaRPr b="0" lang="en-US" sz="3850" spc="-1" strike="noStrike">
              <a:solidFill>
                <a:srgbClr val="000000"/>
              </a:solidFill>
              <a:latin typeface="Arial"/>
            </a:endParaRPr>
          </a:p>
        </p:txBody>
      </p:sp>
      <p:sp>
        <p:nvSpPr>
          <p:cNvPr id="148" name="Text 1"/>
          <p:cNvSpPr/>
          <p:nvPr/>
        </p:nvSpPr>
        <p:spPr>
          <a:xfrm>
            <a:off x="863640" y="1968480"/>
            <a:ext cx="12901680" cy="64692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IPA investisiyasının geri dönüşünü düzgün hesablamaq üçün həm qazanılan dəyərləri, həm də real xərcləri obyektiv şəkildə nəzərə almaq lazımdır. Uğurlu tətbiqlər adətən 6-18 ay ərzində özünü ödəyir.</a:t>
            </a:r>
            <a:endParaRPr b="0" lang="en-US" sz="1700" spc="-1" strike="noStrike">
              <a:solidFill>
                <a:srgbClr val="000000"/>
              </a:solidFill>
              <a:latin typeface="Arial"/>
            </a:endParaRPr>
          </a:p>
        </p:txBody>
      </p:sp>
      <p:sp>
        <p:nvSpPr>
          <p:cNvPr id="149" name="Shape 2"/>
          <p:cNvSpPr/>
          <p:nvPr/>
        </p:nvSpPr>
        <p:spPr>
          <a:xfrm>
            <a:off x="708120" y="2859480"/>
            <a:ext cx="6498000" cy="2982960"/>
          </a:xfrm>
          <a:prstGeom prst="roundRect">
            <a:avLst>
              <a:gd name="adj" fmla="val 1086"/>
            </a:avLst>
          </a:prstGeom>
          <a:solidFill>
            <a:srgbClr val="1d1f2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0" name="Text 3"/>
          <p:cNvSpPr/>
          <p:nvPr/>
        </p:nvSpPr>
        <p:spPr>
          <a:xfrm>
            <a:off x="924120" y="3075120"/>
            <a:ext cx="2965320" cy="30564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1" lang="en-US" sz="1900" spc="-1" strike="noStrike">
                <a:solidFill>
                  <a:srgbClr val="000000"/>
                </a:solidFill>
                <a:latin typeface="Montserrat Bold"/>
                <a:ea typeface="Montserrat Bold"/>
              </a:rPr>
              <a:t>✅</a:t>
            </a:r>
            <a:r>
              <a:rPr b="1" lang="en-US" sz="1900" spc="-1" strike="noStrike">
                <a:solidFill>
                  <a:srgbClr val="ffffff"/>
                </a:solidFill>
                <a:latin typeface="Montserrat Bold"/>
                <a:ea typeface="Montserrat Bold"/>
              </a:rPr>
              <a:t> </a:t>
            </a:r>
            <a:r>
              <a:rPr b="1" lang="en-US" sz="1900" spc="-1" strike="noStrike">
                <a:solidFill>
                  <a:srgbClr val="ffffff"/>
                </a:solidFill>
                <a:latin typeface="Montserrat Bold"/>
                <a:ea typeface="Montserrat Bold"/>
              </a:rPr>
              <a:t>Əldə edilən dəyərlər</a:t>
            </a:r>
            <a:endParaRPr b="0" lang="en-US" sz="1900" spc="-1" strike="noStrike">
              <a:solidFill>
                <a:srgbClr val="000000"/>
              </a:solidFill>
              <a:latin typeface="Arial"/>
            </a:endParaRPr>
          </a:p>
        </p:txBody>
      </p:sp>
      <p:sp>
        <p:nvSpPr>
          <p:cNvPr id="151" name="Text 4"/>
          <p:cNvSpPr/>
          <p:nvPr/>
        </p:nvSpPr>
        <p:spPr>
          <a:xfrm>
            <a:off x="924120" y="3597840"/>
            <a:ext cx="6066360" cy="216936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1" lang="en-US" sz="1700" spc="-1" strike="noStrike">
                <a:solidFill>
                  <a:srgbClr val="e2e6e9"/>
                </a:solidFill>
                <a:latin typeface="Source Sans 3"/>
                <a:ea typeface="Source Sans 3"/>
              </a:rPr>
              <a:t>Vaxt qənaəti:</a:t>
            </a:r>
            <a:r>
              <a:rPr b="0" lang="en-US" sz="1700" spc="-1" strike="noStrike">
                <a:solidFill>
                  <a:srgbClr val="e2e6e9"/>
                </a:solidFill>
                <a:latin typeface="Source Sans 3"/>
                <a:ea typeface="Source Sans 3"/>
              </a:rPr>
              <a:t> Əməkdaşlar yüksək dəyərli işlərə fokuslanır</a:t>
            </a:r>
            <a:endParaRPr b="0" lang="en-US" sz="1700" spc="-1" strike="noStrike">
              <a:solidFill>
                <a:srgbClr val="000000"/>
              </a:solidFill>
              <a:latin typeface="Arial"/>
            </a:endParaRPr>
          </a:p>
          <a:p>
            <a:pPr>
              <a:lnSpc>
                <a:spcPts val="2551"/>
              </a:lnSpc>
              <a:tabLst>
                <a:tab algn="l" pos="0"/>
              </a:tabLst>
            </a:pPr>
            <a:r>
              <a:rPr b="1" lang="en-US" sz="1700" spc="-1" strike="noStrike">
                <a:solidFill>
                  <a:srgbClr val="e2e6e9"/>
                </a:solidFill>
                <a:latin typeface="Source Sans 3"/>
                <a:ea typeface="Source Sans 3"/>
              </a:rPr>
              <a:t>Azalmış səhvlər:</a:t>
            </a:r>
            <a:r>
              <a:rPr b="0" lang="en-US" sz="1700" spc="-1" strike="noStrike">
                <a:solidFill>
                  <a:srgbClr val="e2e6e9"/>
                </a:solidFill>
                <a:latin typeface="Source Sans 3"/>
                <a:ea typeface="Source Sans 3"/>
              </a:rPr>
              <a:t> Manual daxiletmə xətaları praktiki olaraq sıfıra enir</a:t>
            </a:r>
            <a:endParaRPr b="0" lang="en-US" sz="1700" spc="-1" strike="noStrike">
              <a:solidFill>
                <a:srgbClr val="000000"/>
              </a:solidFill>
              <a:latin typeface="Arial"/>
            </a:endParaRPr>
          </a:p>
          <a:p>
            <a:pPr>
              <a:lnSpc>
                <a:spcPts val="2551"/>
              </a:lnSpc>
              <a:tabLst>
                <a:tab algn="l" pos="0"/>
              </a:tabLst>
            </a:pPr>
            <a:r>
              <a:rPr b="1" lang="en-US" sz="1700" spc="-1" strike="noStrike">
                <a:solidFill>
                  <a:srgbClr val="e2e6e9"/>
                </a:solidFill>
                <a:latin typeface="Source Sans 3"/>
                <a:ea typeface="Source Sans 3"/>
              </a:rPr>
              <a:t>Miqyaslanma:</a:t>
            </a:r>
            <a:r>
              <a:rPr b="0" lang="en-US" sz="1700" spc="-1" strike="noStrike">
                <a:solidFill>
                  <a:srgbClr val="e2e6e9"/>
                </a:solidFill>
                <a:latin typeface="Source Sans 3"/>
                <a:ea typeface="Source Sans 3"/>
              </a:rPr>
              <a:t> Artan iş yükünü əlavə işçi olmadan emal etmək imkanı</a:t>
            </a:r>
            <a:endParaRPr b="0" lang="en-US" sz="1700" spc="-1" strike="noStrike">
              <a:solidFill>
                <a:srgbClr val="000000"/>
              </a:solidFill>
              <a:latin typeface="Arial"/>
            </a:endParaRPr>
          </a:p>
          <a:p>
            <a:pPr>
              <a:lnSpc>
                <a:spcPts val="2551"/>
              </a:lnSpc>
              <a:tabLst>
                <a:tab algn="l" pos="0"/>
              </a:tabLst>
            </a:pPr>
            <a:r>
              <a:rPr b="1" lang="en-US" sz="1700" spc="-1" strike="noStrike">
                <a:solidFill>
                  <a:srgbClr val="e2e6e9"/>
                </a:solidFill>
                <a:latin typeface="Source Sans 3"/>
                <a:ea typeface="Source Sans 3"/>
              </a:rPr>
              <a:t>Sürət:</a:t>
            </a:r>
            <a:r>
              <a:rPr b="0" lang="en-US" sz="1700" spc="-1" strike="noStrike">
                <a:solidFill>
                  <a:srgbClr val="e2e6e9"/>
                </a:solidFill>
                <a:latin typeface="Source Sans 3"/>
                <a:ea typeface="Source Sans 3"/>
              </a:rPr>
              <a:t> 24/7 fasiləsiz işləmə, sıfır gözləmə müddəti</a:t>
            </a:r>
            <a:endParaRPr b="0" lang="en-US" sz="1700" spc="-1" strike="noStrike">
              <a:solidFill>
                <a:srgbClr val="000000"/>
              </a:solidFill>
              <a:latin typeface="Arial"/>
            </a:endParaRPr>
          </a:p>
        </p:txBody>
      </p:sp>
      <p:sp>
        <p:nvSpPr>
          <p:cNvPr id="152" name="Text 5"/>
          <p:cNvSpPr/>
          <p:nvPr/>
        </p:nvSpPr>
        <p:spPr>
          <a:xfrm>
            <a:off x="7586280" y="3075120"/>
            <a:ext cx="3312000" cy="30564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1" lang="en-US" sz="1900" spc="-1" strike="noStrike">
                <a:solidFill>
                  <a:srgbClr val="000000"/>
                </a:solidFill>
                <a:latin typeface="Montserrat Bold"/>
                <a:ea typeface="Montserrat Bold"/>
              </a:rPr>
              <a:t>⚠️</a:t>
            </a:r>
            <a:r>
              <a:rPr b="1" lang="en-US" sz="1900" spc="-1" strike="noStrike">
                <a:solidFill>
                  <a:srgbClr val="ffffff"/>
                </a:solidFill>
                <a:latin typeface="Montserrat Bold"/>
                <a:ea typeface="Montserrat Bold"/>
              </a:rPr>
              <a:t> </a:t>
            </a:r>
            <a:r>
              <a:rPr b="1" lang="en-US" sz="1900" spc="-1" strike="noStrike">
                <a:solidFill>
                  <a:srgbClr val="ffffff"/>
                </a:solidFill>
                <a:latin typeface="Montserrat Bold"/>
                <a:ea typeface="Montserrat Bold"/>
              </a:rPr>
              <a:t>Nəzərə alınmalı xərclər</a:t>
            </a:r>
            <a:endParaRPr b="0" lang="en-US" sz="1900" spc="-1" strike="noStrike">
              <a:solidFill>
                <a:srgbClr val="000000"/>
              </a:solidFill>
              <a:latin typeface="Arial"/>
            </a:endParaRPr>
          </a:p>
        </p:txBody>
      </p:sp>
      <p:sp>
        <p:nvSpPr>
          <p:cNvPr id="153" name="Text 6"/>
          <p:cNvSpPr/>
          <p:nvPr/>
        </p:nvSpPr>
        <p:spPr>
          <a:xfrm>
            <a:off x="7586280" y="3597840"/>
            <a:ext cx="6186960" cy="216936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1" lang="en-US" sz="1700" spc="-1" strike="noStrike">
                <a:solidFill>
                  <a:srgbClr val="e2e6e9"/>
                </a:solidFill>
                <a:latin typeface="Source Sans 3"/>
                <a:ea typeface="Source Sans 3"/>
              </a:rPr>
              <a:t>Tətbiq xərcləri:</a:t>
            </a:r>
            <a:r>
              <a:rPr b="0" lang="en-US" sz="1700" spc="-1" strike="noStrike">
                <a:solidFill>
                  <a:srgbClr val="e2e6e9"/>
                </a:solidFill>
                <a:latin typeface="Source Sans 3"/>
                <a:ea typeface="Source Sans 3"/>
              </a:rPr>
              <a:t> Lisenziya, konfiqurasiya, inteqrasiya işləri</a:t>
            </a:r>
            <a:endParaRPr b="0" lang="en-US" sz="1700" spc="-1" strike="noStrike">
              <a:solidFill>
                <a:srgbClr val="000000"/>
              </a:solidFill>
              <a:latin typeface="Arial"/>
            </a:endParaRPr>
          </a:p>
          <a:p>
            <a:pPr>
              <a:lnSpc>
                <a:spcPts val="2551"/>
              </a:lnSpc>
              <a:tabLst>
                <a:tab algn="l" pos="0"/>
              </a:tabLst>
            </a:pPr>
            <a:r>
              <a:rPr b="1" lang="en-US" sz="1700" spc="-1" strike="noStrike">
                <a:solidFill>
                  <a:srgbClr val="e2e6e9"/>
                </a:solidFill>
                <a:latin typeface="Source Sans 3"/>
                <a:ea typeface="Source Sans 3"/>
              </a:rPr>
              <a:t>Davamlı dəstək:</a:t>
            </a:r>
            <a:r>
              <a:rPr b="0" lang="en-US" sz="1700" spc="-1" strike="noStrike">
                <a:solidFill>
                  <a:srgbClr val="e2e6e9"/>
                </a:solidFill>
                <a:latin typeface="Source Sans 3"/>
                <a:ea typeface="Source Sans 3"/>
              </a:rPr>
              <a:t> Bot saxlanması, sistem yeniləmələri, monitorinq</a:t>
            </a:r>
            <a:endParaRPr b="0" lang="en-US" sz="1700" spc="-1" strike="noStrike">
              <a:solidFill>
                <a:srgbClr val="000000"/>
              </a:solidFill>
              <a:latin typeface="Arial"/>
            </a:endParaRPr>
          </a:p>
          <a:p>
            <a:pPr>
              <a:lnSpc>
                <a:spcPts val="2551"/>
              </a:lnSpc>
              <a:tabLst>
                <a:tab algn="l" pos="0"/>
              </a:tabLst>
            </a:pPr>
            <a:r>
              <a:rPr b="1" lang="en-US" sz="1700" spc="-1" strike="noStrike">
                <a:solidFill>
                  <a:srgbClr val="e2e6e9"/>
                </a:solidFill>
                <a:latin typeface="Source Sans 3"/>
                <a:ea typeface="Source Sans 3"/>
              </a:rPr>
              <a:t>İşçi təlimi:</a:t>
            </a:r>
            <a:r>
              <a:rPr b="0" lang="en-US" sz="1700" spc="-1" strike="noStrike">
                <a:solidFill>
                  <a:srgbClr val="e2e6e9"/>
                </a:solidFill>
                <a:latin typeface="Source Sans 3"/>
                <a:ea typeface="Source Sans 3"/>
              </a:rPr>
              <a:t> Komandanın yeni iş modelinə adaptasiyası</a:t>
            </a:r>
            <a:endParaRPr b="0" lang="en-US" sz="1700" spc="-1" strike="noStrike">
              <a:solidFill>
                <a:srgbClr val="000000"/>
              </a:solidFill>
              <a:latin typeface="Arial"/>
            </a:endParaRPr>
          </a:p>
          <a:p>
            <a:pPr>
              <a:lnSpc>
                <a:spcPts val="2551"/>
              </a:lnSpc>
              <a:tabLst>
                <a:tab algn="l" pos="0"/>
              </a:tabLst>
            </a:pPr>
            <a:r>
              <a:rPr b="1" lang="en-US" sz="1700" spc="-1" strike="noStrike">
                <a:solidFill>
                  <a:srgbClr val="e2e6e9"/>
                </a:solidFill>
                <a:latin typeface="Source Sans 3"/>
                <a:ea typeface="Source Sans 3"/>
              </a:rPr>
              <a:t>Gözlənilməz dəyişikliklər:</a:t>
            </a:r>
            <a:r>
              <a:rPr b="0" lang="en-US" sz="1700" spc="-1" strike="noStrike">
                <a:solidFill>
                  <a:srgbClr val="e2e6e9"/>
                </a:solidFill>
                <a:latin typeface="Source Sans 3"/>
                <a:ea typeface="Source Sans 3"/>
              </a:rPr>
              <a:t> Sistemlər dəyişdikdə yenidən konfiqurasiya</a:t>
            </a:r>
            <a:endParaRPr b="0" lang="en-US" sz="1700" spc="-1" strike="noStrike">
              <a:solidFill>
                <a:srgbClr val="000000"/>
              </a:solidFill>
              <a:latin typeface="Arial"/>
            </a:endParaRPr>
          </a:p>
        </p:txBody>
      </p:sp>
      <p:sp>
        <p:nvSpPr>
          <p:cNvPr id="154" name="Shape 7"/>
          <p:cNvSpPr/>
          <p:nvPr/>
        </p:nvSpPr>
        <p:spPr>
          <a:xfrm>
            <a:off x="863640" y="6086520"/>
            <a:ext cx="12901680" cy="1218960"/>
          </a:xfrm>
          <a:prstGeom prst="roundRect">
            <a:avLst>
              <a:gd name="adj" fmla="val 2656"/>
            </a:avLst>
          </a:prstGeom>
          <a:solidFill>
            <a:srgbClr val="262626"/>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155" name="Image 0" descr="preencoded.png"/>
          <p:cNvPicPr/>
          <p:nvPr/>
        </p:nvPicPr>
        <p:blipFill>
          <a:blip r:embed="rId2"/>
          <a:stretch/>
        </p:blipFill>
        <p:spPr>
          <a:xfrm>
            <a:off x="1079640" y="6395760"/>
            <a:ext cx="268920" cy="214920"/>
          </a:xfrm>
          <a:prstGeom prst="rect">
            <a:avLst/>
          </a:prstGeom>
          <a:ln w="0">
            <a:noFill/>
          </a:ln>
        </p:spPr>
      </p:pic>
      <p:sp>
        <p:nvSpPr>
          <p:cNvPr id="156" name="Text 8"/>
          <p:cNvSpPr/>
          <p:nvPr/>
        </p:nvSpPr>
        <p:spPr>
          <a:xfrm>
            <a:off x="1565280" y="6356160"/>
            <a:ext cx="11984400" cy="64692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000000"/>
                </a:solidFill>
                <a:latin typeface="Source Sans 3"/>
                <a:ea typeface="Source Sans 3"/>
              </a:rPr>
              <a:t>💡</a:t>
            </a:r>
            <a:r>
              <a:rPr b="0" lang="en-US" sz="1700" spc="-1" strike="noStrike">
                <a:solidFill>
                  <a:srgbClr val="ffffff"/>
                </a:solidFill>
                <a:latin typeface="Source Sans 3"/>
                <a:ea typeface="Source Sans 3"/>
              </a:rPr>
              <a:t> </a:t>
            </a:r>
            <a:r>
              <a:rPr b="1" lang="en-US" sz="1700" spc="-1" strike="noStrike">
                <a:solidFill>
                  <a:srgbClr val="ffffff"/>
                </a:solidFill>
                <a:latin typeface="Source Sans 3"/>
                <a:ea typeface="Source Sans 3"/>
              </a:rPr>
              <a:t>Tövsiyə:</a:t>
            </a:r>
            <a:r>
              <a:rPr b="0" lang="en-US" sz="1700" spc="-1" strike="noStrike">
                <a:solidFill>
                  <a:srgbClr val="ffffff"/>
                </a:solidFill>
                <a:latin typeface="Source Sans 3"/>
                <a:ea typeface="Source Sans 3"/>
              </a:rPr>
              <a:t> Pilot proyektlə başlayın — bir prosesi tam avtomatlaşdırın, ROI-ni ölçün, sonra genişləndirin. Bu yanaşma riski minimuma endirir.</a:t>
            </a:r>
            <a:endParaRPr b="0" lang="en-US" sz="17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57" name="Image 0" descr="preencoded.png"/>
          <p:cNvPicPr/>
          <p:nvPr/>
        </p:nvPicPr>
        <p:blipFill>
          <a:blip r:embed="rId1"/>
          <a:stretch/>
        </p:blipFill>
        <p:spPr>
          <a:xfrm>
            <a:off x="0" y="0"/>
            <a:ext cx="5485320" cy="8228520"/>
          </a:xfrm>
          <a:prstGeom prst="rect">
            <a:avLst/>
          </a:prstGeom>
          <a:ln w="0">
            <a:noFill/>
          </a:ln>
        </p:spPr>
      </p:pic>
      <p:sp>
        <p:nvSpPr>
          <p:cNvPr id="158" name="Text 0"/>
          <p:cNvSpPr/>
          <p:nvPr/>
        </p:nvSpPr>
        <p:spPr>
          <a:xfrm>
            <a:off x="6341400" y="594000"/>
            <a:ext cx="6566040" cy="606240"/>
          </a:xfrm>
          <a:prstGeom prst="rect">
            <a:avLst/>
          </a:prstGeom>
          <a:noFill/>
          <a:ln w="0">
            <a:noFill/>
          </a:ln>
        </p:spPr>
        <p:style>
          <a:lnRef idx="0"/>
          <a:fillRef idx="0"/>
          <a:effectRef idx="0"/>
          <a:fontRef idx="minor"/>
        </p:style>
        <p:txBody>
          <a:bodyPr wrap="none" lIns="0" rIns="0" tIns="0" bIns="0" anchor="t">
            <a:noAutofit/>
          </a:bodyPr>
          <a:p>
            <a:pPr>
              <a:lnSpc>
                <a:spcPts val="4751"/>
              </a:lnSpc>
              <a:tabLst>
                <a:tab algn="l" pos="0"/>
              </a:tabLst>
            </a:pPr>
            <a:r>
              <a:rPr b="1" lang="en-US" sz="3800" spc="-1" strike="noStrike">
                <a:solidFill>
                  <a:srgbClr val="ffffff"/>
                </a:solidFill>
                <a:latin typeface="Montserrat Bold"/>
                <a:ea typeface="Montserrat Bold"/>
              </a:rPr>
              <a:t>Etik və Təşkilati Aspektlər</a:t>
            </a:r>
            <a:endParaRPr b="0" lang="en-US" sz="3800" spc="-1" strike="noStrike">
              <a:solidFill>
                <a:srgbClr val="000000"/>
              </a:solidFill>
              <a:latin typeface="Arial"/>
            </a:endParaRPr>
          </a:p>
        </p:txBody>
      </p:sp>
      <p:sp>
        <p:nvSpPr>
          <p:cNvPr id="159" name="Text 1"/>
          <p:cNvSpPr/>
          <p:nvPr/>
        </p:nvSpPr>
        <p:spPr>
          <a:xfrm>
            <a:off x="6341400" y="1230840"/>
            <a:ext cx="7432560" cy="956160"/>
          </a:xfrm>
          <a:prstGeom prst="rect">
            <a:avLst/>
          </a:prstGeom>
          <a:noFill/>
          <a:ln w="0">
            <a:noFill/>
          </a:ln>
        </p:spPr>
        <p:style>
          <a:lnRef idx="0"/>
          <a:fillRef idx="0"/>
          <a:effectRef idx="0"/>
          <a:fontRef idx="minor"/>
        </p:style>
        <p:txBody>
          <a:bodyPr lIns="0" rIns="0" tIns="0" bIns="0" anchor="t">
            <a:noAutofit/>
          </a:bodyPr>
          <a:p>
            <a:pPr>
              <a:lnSpc>
                <a:spcPts val="2500"/>
              </a:lnSpc>
              <a:tabLst>
                <a:tab algn="l" pos="0"/>
              </a:tabLst>
            </a:pPr>
            <a:r>
              <a:rPr b="0" lang="en-US" sz="1650" spc="-1" strike="noStrike">
                <a:solidFill>
                  <a:srgbClr val="e2e6e9"/>
                </a:solidFill>
                <a:latin typeface="Source Sans 3"/>
                <a:ea typeface="Source Sans 3"/>
              </a:rPr>
              <a:t>Texnologiya nə qədər güclü olsa da, onun insan amili ilə düzgün balanslaşdırılması uğurlu tətbiqin əsas şərtidir. Bu məsələlərə vaxtında diqqət yetirilmədikdə ən yaxşı texniki həll belə şirkət daxilindən müqavimətlə üzləşə bilər.</a:t>
            </a:r>
            <a:endParaRPr b="0" lang="en-US" sz="1650" spc="-1" strike="noStrike">
              <a:solidFill>
                <a:srgbClr val="000000"/>
              </a:solidFill>
              <a:latin typeface="Arial"/>
            </a:endParaRPr>
          </a:p>
        </p:txBody>
      </p:sp>
      <p:sp>
        <p:nvSpPr>
          <p:cNvPr id="160" name="Shape 2"/>
          <p:cNvSpPr/>
          <p:nvPr/>
        </p:nvSpPr>
        <p:spPr>
          <a:xfrm>
            <a:off x="6341400" y="2714040"/>
            <a:ext cx="3610080" cy="3143880"/>
          </a:xfrm>
          <a:prstGeom prst="roundRect">
            <a:avLst>
              <a:gd name="adj" fmla="val 1020"/>
            </a:avLst>
          </a:prstGeom>
          <a:solidFill>
            <a:srgbClr val="111213"/>
          </a:solidFill>
          <a:ln w="30480">
            <a:solidFill>
              <a:srgbClr val="494a4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61" name="Text 3"/>
          <p:cNvSpPr/>
          <p:nvPr/>
        </p:nvSpPr>
        <p:spPr>
          <a:xfrm>
            <a:off x="6585840" y="2958480"/>
            <a:ext cx="2675160" cy="310320"/>
          </a:xfrm>
          <a:prstGeom prst="rect">
            <a:avLst/>
          </a:prstGeom>
          <a:noFill/>
          <a:ln w="0">
            <a:noFill/>
          </a:ln>
        </p:spPr>
        <p:style>
          <a:lnRef idx="0"/>
          <a:fillRef idx="0"/>
          <a:effectRef idx="0"/>
          <a:fontRef idx="minor"/>
        </p:style>
        <p:txBody>
          <a:bodyPr wrap="none" lIns="0" rIns="0" tIns="0" bIns="0" anchor="t">
            <a:noAutofit/>
          </a:bodyPr>
          <a:p>
            <a:pPr>
              <a:lnSpc>
                <a:spcPts val="2350"/>
              </a:lnSpc>
              <a:tabLst>
                <a:tab algn="l" pos="0"/>
              </a:tabLst>
            </a:pPr>
            <a:r>
              <a:rPr b="1" lang="en-US" sz="1900" spc="-1" strike="noStrike">
                <a:solidFill>
                  <a:srgbClr val="000000"/>
                </a:solidFill>
                <a:latin typeface="Montserrat Bold"/>
                <a:ea typeface="Montserrat Bold"/>
              </a:rPr>
              <a:t>😟</a:t>
            </a:r>
            <a:r>
              <a:rPr b="1" lang="en-US" sz="1900" spc="-1" strike="noStrike">
                <a:solidFill>
                  <a:srgbClr val="e2e6e9"/>
                </a:solidFill>
                <a:latin typeface="Montserrat Bold"/>
                <a:ea typeface="Montserrat Bold"/>
              </a:rPr>
              <a:t> </a:t>
            </a:r>
            <a:r>
              <a:rPr b="1" lang="en-US" sz="1900" spc="-1" strike="noStrike">
                <a:solidFill>
                  <a:srgbClr val="e2e6e9"/>
                </a:solidFill>
                <a:latin typeface="Montserrat Bold"/>
                <a:ea typeface="Montserrat Bold"/>
              </a:rPr>
              <a:t>İş itirmək qorxusu</a:t>
            </a:r>
            <a:endParaRPr b="0" lang="en-US" sz="1900" spc="-1" strike="noStrike">
              <a:solidFill>
                <a:srgbClr val="000000"/>
              </a:solidFill>
              <a:latin typeface="Arial"/>
            </a:endParaRPr>
          </a:p>
        </p:txBody>
      </p:sp>
      <p:sp>
        <p:nvSpPr>
          <p:cNvPr id="162" name="Text 4"/>
          <p:cNvSpPr/>
          <p:nvPr/>
        </p:nvSpPr>
        <p:spPr>
          <a:xfrm>
            <a:off x="6585840" y="3396600"/>
            <a:ext cx="3121560" cy="1594440"/>
          </a:xfrm>
          <a:prstGeom prst="rect">
            <a:avLst/>
          </a:prstGeom>
          <a:noFill/>
          <a:ln w="0">
            <a:noFill/>
          </a:ln>
        </p:spPr>
        <p:style>
          <a:lnRef idx="0"/>
          <a:fillRef idx="0"/>
          <a:effectRef idx="0"/>
          <a:fontRef idx="minor"/>
        </p:style>
        <p:txBody>
          <a:bodyPr lIns="0" rIns="0" tIns="0" bIns="0" anchor="t">
            <a:noAutofit/>
          </a:bodyPr>
          <a:p>
            <a:pPr>
              <a:lnSpc>
                <a:spcPts val="2500"/>
              </a:lnSpc>
              <a:tabLst>
                <a:tab algn="l" pos="0"/>
              </a:tabLst>
            </a:pPr>
            <a:r>
              <a:rPr b="0" lang="en-US" sz="1650" spc="-1" strike="noStrike">
                <a:solidFill>
                  <a:srgbClr val="e2e6e9"/>
                </a:solidFill>
                <a:latin typeface="Source Sans 3"/>
                <a:ea typeface="Source Sans 3"/>
              </a:rPr>
              <a:t>Əməkdaşların ən böyük narahatlığı budur. Açıq ünsiyyət, şəffaflıq və "botlar işimi ələ keçirir" əvəzinə "botlar məni azad edir" anlayışı ən vacib məsələlərdir.</a:t>
            </a:r>
            <a:endParaRPr b="0" lang="en-US" sz="1650" spc="-1" strike="noStrike">
              <a:solidFill>
                <a:srgbClr val="000000"/>
              </a:solidFill>
              <a:latin typeface="Arial"/>
            </a:endParaRPr>
          </a:p>
        </p:txBody>
      </p:sp>
      <p:sp>
        <p:nvSpPr>
          <p:cNvPr id="163" name="Shape 5"/>
          <p:cNvSpPr/>
          <p:nvPr/>
        </p:nvSpPr>
        <p:spPr>
          <a:xfrm>
            <a:off x="10164240" y="2714040"/>
            <a:ext cx="3610080" cy="3143880"/>
          </a:xfrm>
          <a:prstGeom prst="roundRect">
            <a:avLst>
              <a:gd name="adj" fmla="val 1020"/>
            </a:avLst>
          </a:prstGeom>
          <a:solidFill>
            <a:srgbClr val="111213"/>
          </a:solidFill>
          <a:ln w="30480">
            <a:solidFill>
              <a:srgbClr val="494a4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64" name="Text 6"/>
          <p:cNvSpPr/>
          <p:nvPr/>
        </p:nvSpPr>
        <p:spPr>
          <a:xfrm>
            <a:off x="10408320" y="2814480"/>
            <a:ext cx="3121560" cy="614160"/>
          </a:xfrm>
          <a:prstGeom prst="rect">
            <a:avLst/>
          </a:prstGeom>
          <a:noFill/>
          <a:ln w="0">
            <a:noFill/>
          </a:ln>
        </p:spPr>
        <p:style>
          <a:lnRef idx="0"/>
          <a:fillRef idx="0"/>
          <a:effectRef idx="0"/>
          <a:fontRef idx="minor"/>
        </p:style>
        <p:txBody>
          <a:bodyPr lIns="0" rIns="0" tIns="0" bIns="0" anchor="t">
            <a:noAutofit/>
          </a:bodyPr>
          <a:p>
            <a:pPr>
              <a:lnSpc>
                <a:spcPts val="2350"/>
              </a:lnSpc>
              <a:tabLst>
                <a:tab algn="l" pos="0"/>
              </a:tabLst>
            </a:pPr>
            <a:r>
              <a:rPr b="1" lang="en-US" sz="1900" spc="-1" strike="noStrike">
                <a:solidFill>
                  <a:srgbClr val="000000"/>
                </a:solidFill>
                <a:latin typeface="Montserrat Bold"/>
                <a:ea typeface="Montserrat Bold"/>
              </a:rPr>
              <a:t>🎓</a:t>
            </a:r>
            <a:r>
              <a:rPr b="1" lang="en-US" sz="1900" spc="-1" strike="noStrike">
                <a:solidFill>
                  <a:srgbClr val="e2e6e9"/>
                </a:solidFill>
                <a:latin typeface="Montserrat Bold"/>
                <a:ea typeface="Montserrat Bold"/>
              </a:rPr>
              <a:t> </a:t>
            </a:r>
            <a:r>
              <a:rPr b="1" lang="en-US" sz="1900" spc="-1" strike="noStrike">
                <a:solidFill>
                  <a:srgbClr val="e2e6e9"/>
                </a:solidFill>
                <a:latin typeface="Montserrat Bold"/>
                <a:ea typeface="Montserrat Bold"/>
              </a:rPr>
              <a:t>Yenidən hazırlıq ehtiyacı</a:t>
            </a:r>
            <a:endParaRPr b="0" lang="en-US" sz="1900" spc="-1" strike="noStrike">
              <a:solidFill>
                <a:srgbClr val="000000"/>
              </a:solidFill>
              <a:latin typeface="Arial"/>
            </a:endParaRPr>
          </a:p>
        </p:txBody>
      </p:sp>
      <p:sp>
        <p:nvSpPr>
          <p:cNvPr id="165" name="Text 7"/>
          <p:cNvSpPr/>
          <p:nvPr/>
        </p:nvSpPr>
        <p:spPr>
          <a:xfrm>
            <a:off x="10408320" y="3448440"/>
            <a:ext cx="3121560" cy="1913400"/>
          </a:xfrm>
          <a:prstGeom prst="rect">
            <a:avLst/>
          </a:prstGeom>
          <a:noFill/>
          <a:ln w="0">
            <a:noFill/>
          </a:ln>
        </p:spPr>
        <p:style>
          <a:lnRef idx="0"/>
          <a:fillRef idx="0"/>
          <a:effectRef idx="0"/>
          <a:fontRef idx="minor"/>
        </p:style>
        <p:txBody>
          <a:bodyPr lIns="0" rIns="0" tIns="0" bIns="0" anchor="t">
            <a:noAutofit/>
          </a:bodyPr>
          <a:p>
            <a:pPr>
              <a:lnSpc>
                <a:spcPts val="2500"/>
              </a:lnSpc>
              <a:tabLst>
                <a:tab algn="l" pos="0"/>
              </a:tabLst>
            </a:pPr>
            <a:r>
              <a:rPr b="0" lang="en-US" sz="1650" spc="-1" strike="noStrike">
                <a:solidFill>
                  <a:srgbClr val="e2e6e9"/>
                </a:solidFill>
                <a:latin typeface="Source Sans 3"/>
                <a:ea typeface="Source Sans 3"/>
              </a:rPr>
              <a:t>Avtomatlaşdırma yeni bacarıqlar tələb edir: bot idarəetməsi, məlumat analitikası, proses dizaynı. Komandaların bu bacarıqları qazanması üçün investisiya şərtdir.</a:t>
            </a:r>
            <a:endParaRPr b="0" lang="en-US" sz="1650" spc="-1" strike="noStrike">
              <a:solidFill>
                <a:srgbClr val="000000"/>
              </a:solidFill>
              <a:latin typeface="Arial"/>
            </a:endParaRPr>
          </a:p>
        </p:txBody>
      </p:sp>
      <p:sp>
        <p:nvSpPr>
          <p:cNvPr id="166" name="Shape 8"/>
          <p:cNvSpPr/>
          <p:nvPr/>
        </p:nvSpPr>
        <p:spPr>
          <a:xfrm>
            <a:off x="6341400" y="6070680"/>
            <a:ext cx="7432560" cy="1563840"/>
          </a:xfrm>
          <a:prstGeom prst="roundRect">
            <a:avLst>
              <a:gd name="adj" fmla="val 2049"/>
            </a:avLst>
          </a:prstGeom>
          <a:solidFill>
            <a:srgbClr val="111213"/>
          </a:solidFill>
          <a:ln w="30480">
            <a:solidFill>
              <a:srgbClr val="494a4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67" name="Text 9"/>
          <p:cNvSpPr/>
          <p:nvPr/>
        </p:nvSpPr>
        <p:spPr>
          <a:xfrm>
            <a:off x="6585840" y="6314760"/>
            <a:ext cx="2928240" cy="310320"/>
          </a:xfrm>
          <a:prstGeom prst="rect">
            <a:avLst/>
          </a:prstGeom>
          <a:noFill/>
          <a:ln w="0">
            <a:noFill/>
          </a:ln>
        </p:spPr>
        <p:style>
          <a:lnRef idx="0"/>
          <a:fillRef idx="0"/>
          <a:effectRef idx="0"/>
          <a:fontRef idx="minor"/>
        </p:style>
        <p:txBody>
          <a:bodyPr wrap="none" lIns="0" rIns="0" tIns="0" bIns="0" anchor="t">
            <a:noAutofit/>
          </a:bodyPr>
          <a:p>
            <a:pPr>
              <a:lnSpc>
                <a:spcPts val="2350"/>
              </a:lnSpc>
              <a:tabLst>
                <a:tab algn="l" pos="0"/>
              </a:tabLst>
            </a:pPr>
            <a:r>
              <a:rPr b="1" lang="en-US" sz="1900" spc="-1" strike="noStrike">
                <a:solidFill>
                  <a:srgbClr val="000000"/>
                </a:solidFill>
                <a:latin typeface="Montserrat Bold"/>
                <a:ea typeface="Montserrat Bold"/>
              </a:rPr>
              <a:t>⚖️</a:t>
            </a:r>
            <a:r>
              <a:rPr b="1" lang="en-US" sz="1900" spc="-1" strike="noStrike">
                <a:solidFill>
                  <a:srgbClr val="e2e6e9"/>
                </a:solidFill>
                <a:latin typeface="Montserrat Bold"/>
                <a:ea typeface="Montserrat Bold"/>
              </a:rPr>
              <a:t> </a:t>
            </a:r>
            <a:r>
              <a:rPr b="1" lang="en-US" sz="1900" spc="-1" strike="noStrike">
                <a:solidFill>
                  <a:srgbClr val="e2e6e9"/>
                </a:solidFill>
                <a:latin typeface="Montserrat Bold"/>
                <a:ea typeface="Montserrat Bold"/>
              </a:rPr>
              <a:t>Məsuliyyət məsələsi</a:t>
            </a:r>
            <a:endParaRPr b="0" lang="en-US" sz="1900" spc="-1" strike="noStrike">
              <a:solidFill>
                <a:srgbClr val="000000"/>
              </a:solidFill>
              <a:latin typeface="Arial"/>
            </a:endParaRPr>
          </a:p>
        </p:txBody>
      </p:sp>
      <p:sp>
        <p:nvSpPr>
          <p:cNvPr id="168" name="Text 10"/>
          <p:cNvSpPr/>
          <p:nvPr/>
        </p:nvSpPr>
        <p:spPr>
          <a:xfrm>
            <a:off x="6585840" y="6753240"/>
            <a:ext cx="6944400" cy="637200"/>
          </a:xfrm>
          <a:prstGeom prst="rect">
            <a:avLst/>
          </a:prstGeom>
          <a:noFill/>
          <a:ln w="0">
            <a:noFill/>
          </a:ln>
        </p:spPr>
        <p:style>
          <a:lnRef idx="0"/>
          <a:fillRef idx="0"/>
          <a:effectRef idx="0"/>
          <a:fontRef idx="minor"/>
        </p:style>
        <p:txBody>
          <a:bodyPr lIns="0" rIns="0" tIns="0" bIns="0" anchor="t">
            <a:noAutofit/>
          </a:bodyPr>
          <a:p>
            <a:pPr>
              <a:lnSpc>
                <a:spcPts val="2500"/>
              </a:lnSpc>
              <a:tabLst>
                <a:tab algn="l" pos="0"/>
              </a:tabLst>
            </a:pPr>
            <a:r>
              <a:rPr b="0" lang="en-US" sz="1650" spc="-1" strike="noStrike">
                <a:solidFill>
                  <a:srgbClr val="e2e6e9"/>
                </a:solidFill>
                <a:latin typeface="Source Sans 3"/>
                <a:ea typeface="Source Sans 3"/>
              </a:rPr>
              <a:t>Bot yanlış qərar verdikdə kim cavabdehdir? Sistemin dizayncısı? İdarəçisi? Şirkət? Bu suallar tətbiqdən əvvəl aydınlaşdırılmalıdır.</a:t>
            </a:r>
            <a:endParaRPr b="0" lang="en-US" sz="16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9" name="Text 0"/>
          <p:cNvSpPr/>
          <p:nvPr/>
        </p:nvSpPr>
        <p:spPr>
          <a:xfrm>
            <a:off x="820440" y="804600"/>
            <a:ext cx="4661280" cy="581760"/>
          </a:xfrm>
          <a:prstGeom prst="rect">
            <a:avLst/>
          </a:prstGeom>
          <a:noFill/>
          <a:ln w="0">
            <a:noFill/>
          </a:ln>
        </p:spPr>
        <p:style>
          <a:lnRef idx="0"/>
          <a:fillRef idx="0"/>
          <a:effectRef idx="0"/>
          <a:fontRef idx="minor"/>
        </p:style>
        <p:txBody>
          <a:bodyPr wrap="none" lIns="0" rIns="0" tIns="0" bIns="0" anchor="t">
            <a:noAutofit/>
          </a:bodyPr>
          <a:p>
            <a:pPr>
              <a:lnSpc>
                <a:spcPts val="4550"/>
              </a:lnSpc>
              <a:tabLst>
                <a:tab algn="l" pos="0"/>
              </a:tabLst>
            </a:pPr>
            <a:r>
              <a:rPr b="1" lang="en-US" sz="3650" spc="-1" strike="noStrike">
                <a:solidFill>
                  <a:srgbClr val="ffffff"/>
                </a:solidFill>
                <a:latin typeface="Montserrat Bold"/>
                <a:ea typeface="Montserrat Bold"/>
              </a:rPr>
              <a:t>Praktik Tapşırıq</a:t>
            </a:r>
            <a:endParaRPr b="0" lang="en-US" sz="3650" spc="-1" strike="noStrike">
              <a:solidFill>
                <a:srgbClr val="000000"/>
              </a:solidFill>
              <a:latin typeface="Arial"/>
            </a:endParaRPr>
          </a:p>
        </p:txBody>
      </p:sp>
      <p:sp>
        <p:nvSpPr>
          <p:cNvPr id="170" name="Text 1"/>
          <p:cNvSpPr/>
          <p:nvPr/>
        </p:nvSpPr>
        <p:spPr>
          <a:xfrm>
            <a:off x="820440" y="1776960"/>
            <a:ext cx="12988080" cy="298800"/>
          </a:xfrm>
          <a:prstGeom prst="rect">
            <a:avLst/>
          </a:prstGeom>
          <a:noFill/>
          <a:ln w="0">
            <a:noFill/>
          </a:ln>
        </p:spPr>
        <p:style>
          <a:lnRef idx="0"/>
          <a:fillRef idx="0"/>
          <a:effectRef idx="0"/>
          <a:fontRef idx="minor"/>
        </p:style>
        <p:txBody>
          <a:bodyPr wrap="none" lIns="0" rIns="0" tIns="0" bIns="0" anchor="t">
            <a:noAutofit/>
          </a:bodyPr>
          <a:p>
            <a:pPr>
              <a:lnSpc>
                <a:spcPts val="2350"/>
              </a:lnSpc>
              <a:tabLst>
                <a:tab algn="l" pos="0"/>
              </a:tabLst>
            </a:pPr>
            <a:r>
              <a:rPr b="0" lang="en-US" sz="1600" spc="-1" strike="noStrike">
                <a:solidFill>
                  <a:srgbClr val="e2e6e9"/>
                </a:solidFill>
                <a:latin typeface="Source Sans 3"/>
                <a:ea typeface="Source Sans 3"/>
              </a:rPr>
              <a:t>İndi öyrəndiklərinizi öz iş mühitinizə tətbiq etməyin vaxtıdır. Bu tapşırıq sizə avtomatlaşdırma düşüncə tərzini inkişaf etdirməkdə kömək edəcək.</a:t>
            </a:r>
            <a:endParaRPr b="0" lang="en-US" sz="1600" spc="-1" strike="noStrike">
              <a:solidFill>
                <a:srgbClr val="000000"/>
              </a:solidFill>
              <a:latin typeface="Arial"/>
            </a:endParaRPr>
          </a:p>
        </p:txBody>
      </p:sp>
      <p:sp>
        <p:nvSpPr>
          <p:cNvPr id="171" name="Text 2"/>
          <p:cNvSpPr/>
          <p:nvPr/>
        </p:nvSpPr>
        <p:spPr>
          <a:xfrm>
            <a:off x="1128240" y="2515320"/>
            <a:ext cx="12680640" cy="598680"/>
          </a:xfrm>
          <a:prstGeom prst="rect">
            <a:avLst/>
          </a:prstGeom>
          <a:noFill/>
          <a:ln w="0">
            <a:noFill/>
          </a:ln>
        </p:spPr>
        <p:style>
          <a:lnRef idx="0"/>
          <a:fillRef idx="0"/>
          <a:effectRef idx="0"/>
          <a:fontRef idx="minor"/>
        </p:style>
        <p:txBody>
          <a:bodyPr lIns="0" rIns="0" tIns="0" bIns="0" anchor="t">
            <a:noAutofit/>
          </a:bodyPr>
          <a:p>
            <a:pPr>
              <a:lnSpc>
                <a:spcPts val="2350"/>
              </a:lnSpc>
              <a:tabLst>
                <a:tab algn="l" pos="0"/>
              </a:tabLst>
            </a:pPr>
            <a:r>
              <a:rPr b="0" lang="en-US" sz="1600" spc="-1" strike="noStrike">
                <a:solidFill>
                  <a:srgbClr val="e2e6e9"/>
                </a:solidFill>
                <a:latin typeface="Source Sans 3"/>
                <a:ea typeface="Source Sans 3"/>
              </a:rPr>
              <a:t>"İşinizdə </a:t>
            </a:r>
            <a:r>
              <a:rPr b="1" lang="en-US" sz="1600" spc="-1" strike="noStrike">
                <a:solidFill>
                  <a:srgbClr val="e2e6e9"/>
                </a:solidFill>
                <a:latin typeface="Source Sans 3"/>
                <a:ea typeface="Source Sans 3"/>
              </a:rPr>
              <a:t>təkrarlanan bir proses seçin.</a:t>
            </a:r>
            <a:r>
              <a:rPr b="0" lang="en-US" sz="1600" spc="-1" strike="noStrike">
                <a:solidFill>
                  <a:srgbClr val="e2e6e9"/>
                </a:solidFill>
                <a:latin typeface="Source Sans 3"/>
                <a:ea typeface="Source Sans 3"/>
              </a:rPr>
              <a:t> Bu avtomatlaşdırıla bilərmi? Klassik RPA-ya uyğundurmu, yoxsa süni intellekt tələb edirmi? Süni intellekt hansı rolu oynayacaq?"</a:t>
            </a:r>
            <a:endParaRPr b="0" lang="en-US" sz="1600" spc="-1" strike="noStrike">
              <a:solidFill>
                <a:srgbClr val="000000"/>
              </a:solidFill>
              <a:latin typeface="Arial"/>
            </a:endParaRPr>
          </a:p>
        </p:txBody>
      </p:sp>
      <p:sp>
        <p:nvSpPr>
          <p:cNvPr id="172" name="Shape 3"/>
          <p:cNvSpPr/>
          <p:nvPr/>
        </p:nvSpPr>
        <p:spPr>
          <a:xfrm>
            <a:off x="820440" y="2296080"/>
            <a:ext cx="21960" cy="103716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pic>
        <p:nvPicPr>
          <p:cNvPr id="173" name="Image 0" descr="preencoded.png"/>
          <p:cNvPicPr/>
          <p:nvPr/>
        </p:nvPicPr>
        <p:blipFill>
          <a:blip r:embed="rId1"/>
          <a:stretch/>
        </p:blipFill>
        <p:spPr>
          <a:xfrm>
            <a:off x="820440" y="3553560"/>
            <a:ext cx="4328640" cy="819360"/>
          </a:xfrm>
          <a:prstGeom prst="rect">
            <a:avLst/>
          </a:prstGeom>
          <a:ln w="0">
            <a:noFill/>
          </a:ln>
        </p:spPr>
      </p:pic>
      <p:sp>
        <p:nvSpPr>
          <p:cNvPr id="174" name="Text 4"/>
          <p:cNvSpPr/>
          <p:nvPr/>
        </p:nvSpPr>
        <p:spPr>
          <a:xfrm>
            <a:off x="1025640" y="4568760"/>
            <a:ext cx="2749320" cy="290160"/>
          </a:xfrm>
          <a:prstGeom prst="rect">
            <a:avLst/>
          </a:prstGeom>
          <a:noFill/>
          <a:ln w="0">
            <a:noFill/>
          </a:ln>
        </p:spPr>
        <p:style>
          <a:lnRef idx="0"/>
          <a:fillRef idx="0"/>
          <a:effectRef idx="0"/>
          <a:fontRef idx="minor"/>
        </p:style>
        <p:txBody>
          <a:bodyPr wrap="none" lIns="0" rIns="0" tIns="0" bIns="0" anchor="t">
            <a:noAutofit/>
          </a:bodyPr>
          <a:p>
            <a:pPr>
              <a:lnSpc>
                <a:spcPts val="2251"/>
              </a:lnSpc>
              <a:tabLst>
                <a:tab algn="l" pos="0"/>
              </a:tabLst>
            </a:pPr>
            <a:r>
              <a:rPr b="1" lang="en-US" sz="1800" spc="-1" strike="noStrike">
                <a:solidFill>
                  <a:srgbClr val="e2e6e9"/>
                </a:solidFill>
                <a:latin typeface="Montserrat Bold"/>
                <a:ea typeface="Montserrat Bold"/>
              </a:rPr>
              <a:t>Prosesi müəyyənləşdir</a:t>
            </a:r>
            <a:endParaRPr b="0" lang="en-US" sz="1800" spc="-1" strike="noStrike">
              <a:solidFill>
                <a:srgbClr val="000000"/>
              </a:solidFill>
              <a:latin typeface="Arial"/>
            </a:endParaRPr>
          </a:p>
        </p:txBody>
      </p:sp>
      <p:sp>
        <p:nvSpPr>
          <p:cNvPr id="175" name="Text 5"/>
          <p:cNvSpPr/>
          <p:nvPr/>
        </p:nvSpPr>
        <p:spPr>
          <a:xfrm>
            <a:off x="1025640" y="4977000"/>
            <a:ext cx="3918240" cy="898560"/>
          </a:xfrm>
          <a:prstGeom prst="rect">
            <a:avLst/>
          </a:prstGeom>
          <a:noFill/>
          <a:ln w="0">
            <a:noFill/>
          </a:ln>
        </p:spPr>
        <p:style>
          <a:lnRef idx="0"/>
          <a:fillRef idx="0"/>
          <a:effectRef idx="0"/>
          <a:fontRef idx="minor"/>
        </p:style>
        <p:txBody>
          <a:bodyPr lIns="0" rIns="0" tIns="0" bIns="0" anchor="t">
            <a:noAutofit/>
          </a:bodyPr>
          <a:p>
            <a:pPr>
              <a:lnSpc>
                <a:spcPts val="2350"/>
              </a:lnSpc>
              <a:tabLst>
                <a:tab algn="l" pos="0"/>
              </a:tabLst>
            </a:pPr>
            <a:r>
              <a:rPr b="0" lang="en-US" sz="1600" spc="-1" strike="noStrike">
                <a:solidFill>
                  <a:srgbClr val="e2e6e9"/>
                </a:solidFill>
                <a:latin typeface="Source Sans 3"/>
                <a:ea typeface="Source Sans 3"/>
              </a:rPr>
              <a:t>Həftəlik ən az 2 saat aparan, təkrarlanan bir tapşırığı seçin. Ən yaxşısı — qaydaları aydın olan tapşırıqdır.</a:t>
            </a:r>
            <a:endParaRPr b="0" lang="en-US" sz="1600" spc="-1" strike="noStrike">
              <a:solidFill>
                <a:srgbClr val="000000"/>
              </a:solidFill>
              <a:latin typeface="Arial"/>
            </a:endParaRPr>
          </a:p>
        </p:txBody>
      </p:sp>
      <p:pic>
        <p:nvPicPr>
          <p:cNvPr id="176" name="Image 1" descr="preencoded.png"/>
          <p:cNvPicPr/>
          <p:nvPr/>
        </p:nvPicPr>
        <p:blipFill>
          <a:blip r:embed="rId2"/>
          <a:stretch/>
        </p:blipFill>
        <p:spPr>
          <a:xfrm>
            <a:off x="5150160" y="3553560"/>
            <a:ext cx="4328640" cy="819360"/>
          </a:xfrm>
          <a:prstGeom prst="rect">
            <a:avLst/>
          </a:prstGeom>
          <a:ln w="0">
            <a:noFill/>
          </a:ln>
        </p:spPr>
      </p:pic>
      <p:sp>
        <p:nvSpPr>
          <p:cNvPr id="177" name="Text 6"/>
          <p:cNvSpPr/>
          <p:nvPr/>
        </p:nvSpPr>
        <p:spPr>
          <a:xfrm>
            <a:off x="5355360" y="4568760"/>
            <a:ext cx="3081960" cy="290160"/>
          </a:xfrm>
          <a:prstGeom prst="rect">
            <a:avLst/>
          </a:prstGeom>
          <a:noFill/>
          <a:ln w="0">
            <a:noFill/>
          </a:ln>
        </p:spPr>
        <p:style>
          <a:lnRef idx="0"/>
          <a:fillRef idx="0"/>
          <a:effectRef idx="0"/>
          <a:fontRef idx="minor"/>
        </p:style>
        <p:txBody>
          <a:bodyPr wrap="none" lIns="0" rIns="0" tIns="0" bIns="0" anchor="t">
            <a:noAutofit/>
          </a:bodyPr>
          <a:p>
            <a:pPr>
              <a:lnSpc>
                <a:spcPts val="2251"/>
              </a:lnSpc>
              <a:tabLst>
                <a:tab algn="l" pos="0"/>
              </a:tabLst>
            </a:pPr>
            <a:r>
              <a:rPr b="1" lang="en-US" sz="1800" spc="-1" strike="noStrike">
                <a:solidFill>
                  <a:srgbClr val="e2e6e9"/>
                </a:solidFill>
                <a:latin typeface="Montserrat Bold"/>
                <a:ea typeface="Montserrat Bold"/>
              </a:rPr>
              <a:t>Məlumat növünü təhlil et</a:t>
            </a:r>
            <a:endParaRPr b="0" lang="en-US" sz="1800" spc="-1" strike="noStrike">
              <a:solidFill>
                <a:srgbClr val="000000"/>
              </a:solidFill>
              <a:latin typeface="Arial"/>
            </a:endParaRPr>
          </a:p>
        </p:txBody>
      </p:sp>
      <p:sp>
        <p:nvSpPr>
          <p:cNvPr id="178" name="Text 7"/>
          <p:cNvSpPr/>
          <p:nvPr/>
        </p:nvSpPr>
        <p:spPr>
          <a:xfrm>
            <a:off x="5355360" y="4977000"/>
            <a:ext cx="3918240" cy="1198440"/>
          </a:xfrm>
          <a:prstGeom prst="rect">
            <a:avLst/>
          </a:prstGeom>
          <a:noFill/>
          <a:ln w="0">
            <a:noFill/>
          </a:ln>
        </p:spPr>
        <p:style>
          <a:lnRef idx="0"/>
          <a:fillRef idx="0"/>
          <a:effectRef idx="0"/>
          <a:fontRef idx="minor"/>
        </p:style>
        <p:txBody>
          <a:bodyPr lIns="0" rIns="0" tIns="0" bIns="0" anchor="t">
            <a:noAutofit/>
          </a:bodyPr>
          <a:p>
            <a:pPr>
              <a:lnSpc>
                <a:spcPts val="2350"/>
              </a:lnSpc>
              <a:tabLst>
                <a:tab algn="l" pos="0"/>
              </a:tabLst>
            </a:pPr>
            <a:r>
              <a:rPr b="0" lang="en-US" sz="1600" spc="-1" strike="noStrike">
                <a:solidFill>
                  <a:srgbClr val="e2e6e9"/>
                </a:solidFill>
                <a:latin typeface="Source Sans 3"/>
                <a:ea typeface="Source Sans 3"/>
              </a:rPr>
              <a:t>Bu proses strukturlaşdırılmış məlumatlarla mı işləyir, yoxsa e-poçtlar, PDF-lər, sənədlər kimi qurulmamış məlumatlarla? Bu cavab RPA vs IPA seçimini müəyyənləşdirir.</a:t>
            </a:r>
            <a:endParaRPr b="0" lang="en-US" sz="1600" spc="-1" strike="noStrike">
              <a:solidFill>
                <a:srgbClr val="000000"/>
              </a:solidFill>
              <a:latin typeface="Arial"/>
            </a:endParaRPr>
          </a:p>
        </p:txBody>
      </p:sp>
      <p:pic>
        <p:nvPicPr>
          <p:cNvPr id="179" name="Image 2" descr="preencoded.png"/>
          <p:cNvPicPr/>
          <p:nvPr/>
        </p:nvPicPr>
        <p:blipFill>
          <a:blip r:embed="rId3"/>
          <a:stretch/>
        </p:blipFill>
        <p:spPr>
          <a:xfrm>
            <a:off x="9479880" y="3553560"/>
            <a:ext cx="4328640" cy="819360"/>
          </a:xfrm>
          <a:prstGeom prst="rect">
            <a:avLst/>
          </a:prstGeom>
          <a:ln w="0">
            <a:noFill/>
          </a:ln>
        </p:spPr>
      </p:pic>
      <p:sp>
        <p:nvSpPr>
          <p:cNvPr id="180" name="Text 8"/>
          <p:cNvSpPr/>
          <p:nvPr/>
        </p:nvSpPr>
        <p:spPr>
          <a:xfrm>
            <a:off x="9685080" y="4568760"/>
            <a:ext cx="3188520" cy="290160"/>
          </a:xfrm>
          <a:prstGeom prst="rect">
            <a:avLst/>
          </a:prstGeom>
          <a:noFill/>
          <a:ln w="0">
            <a:noFill/>
          </a:ln>
        </p:spPr>
        <p:style>
          <a:lnRef idx="0"/>
          <a:fillRef idx="0"/>
          <a:effectRef idx="0"/>
          <a:fontRef idx="minor"/>
        </p:style>
        <p:txBody>
          <a:bodyPr wrap="none" lIns="0" rIns="0" tIns="0" bIns="0" anchor="t">
            <a:noAutofit/>
          </a:bodyPr>
          <a:p>
            <a:pPr>
              <a:lnSpc>
                <a:spcPts val="2251"/>
              </a:lnSpc>
              <a:tabLst>
                <a:tab algn="l" pos="0"/>
              </a:tabLst>
            </a:pPr>
            <a:r>
              <a:rPr b="1" lang="en-US" sz="1800" spc="-1" strike="noStrike">
                <a:solidFill>
                  <a:srgbClr val="e2e6e9"/>
                </a:solidFill>
                <a:latin typeface="Montserrat Bold"/>
                <a:ea typeface="Montserrat Bold"/>
              </a:rPr>
              <a:t>Süni intellektin rolunu tap</a:t>
            </a:r>
            <a:endParaRPr b="0" lang="en-US" sz="1800" spc="-1" strike="noStrike">
              <a:solidFill>
                <a:srgbClr val="000000"/>
              </a:solidFill>
              <a:latin typeface="Arial"/>
            </a:endParaRPr>
          </a:p>
        </p:txBody>
      </p:sp>
      <p:sp>
        <p:nvSpPr>
          <p:cNvPr id="181" name="Text 9"/>
          <p:cNvSpPr/>
          <p:nvPr/>
        </p:nvSpPr>
        <p:spPr>
          <a:xfrm>
            <a:off x="9685080" y="4977000"/>
            <a:ext cx="3918240" cy="898560"/>
          </a:xfrm>
          <a:prstGeom prst="rect">
            <a:avLst/>
          </a:prstGeom>
          <a:noFill/>
          <a:ln w="0">
            <a:noFill/>
          </a:ln>
        </p:spPr>
        <p:style>
          <a:lnRef idx="0"/>
          <a:fillRef idx="0"/>
          <a:effectRef idx="0"/>
          <a:fontRef idx="minor"/>
        </p:style>
        <p:txBody>
          <a:bodyPr lIns="0" rIns="0" tIns="0" bIns="0" anchor="t">
            <a:noAutofit/>
          </a:bodyPr>
          <a:p>
            <a:pPr>
              <a:lnSpc>
                <a:spcPts val="2350"/>
              </a:lnSpc>
              <a:tabLst>
                <a:tab algn="l" pos="0"/>
              </a:tabLst>
            </a:pPr>
            <a:r>
              <a:rPr b="0" lang="en-US" sz="1600" spc="-1" strike="noStrike">
                <a:solidFill>
                  <a:srgbClr val="e2e6e9"/>
                </a:solidFill>
                <a:latin typeface="Source Sans 3"/>
                <a:ea typeface="Source Sans 3"/>
              </a:rPr>
              <a:t>OCR, NLP, ML, çatbot — hansı texnologiya bu prosesi daha ağıllı edəcək? İnsan nəzarəti harda lazım olacaq?</a:t>
            </a:r>
            <a:endParaRPr b="0" lang="en-US" sz="1600" spc="-1" strike="noStrike">
              <a:solidFill>
                <a:srgbClr val="000000"/>
              </a:solidFill>
              <a:latin typeface="Arial"/>
            </a:endParaRPr>
          </a:p>
        </p:txBody>
      </p:sp>
      <p:sp>
        <p:nvSpPr>
          <p:cNvPr id="182" name="Shape 10"/>
          <p:cNvSpPr/>
          <p:nvPr/>
        </p:nvSpPr>
        <p:spPr>
          <a:xfrm>
            <a:off x="820440" y="6601320"/>
            <a:ext cx="12988080" cy="822600"/>
          </a:xfrm>
          <a:prstGeom prst="roundRect">
            <a:avLst>
              <a:gd name="adj" fmla="val 3735"/>
            </a:avLst>
          </a:prstGeom>
          <a:solidFill>
            <a:srgbClr val="262626"/>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183" name="Image 3" descr="preencoded.png"/>
          <p:cNvPicPr/>
          <p:nvPr/>
        </p:nvPicPr>
        <p:blipFill>
          <a:blip r:embed="rId4"/>
          <a:stretch/>
        </p:blipFill>
        <p:spPr>
          <a:xfrm>
            <a:off x="1025640" y="6891480"/>
            <a:ext cx="255240" cy="204120"/>
          </a:xfrm>
          <a:prstGeom prst="rect">
            <a:avLst/>
          </a:prstGeom>
          <a:ln w="0">
            <a:noFill/>
          </a:ln>
        </p:spPr>
      </p:pic>
      <p:sp>
        <p:nvSpPr>
          <p:cNvPr id="184" name="Text 11"/>
          <p:cNvSpPr/>
          <p:nvPr/>
        </p:nvSpPr>
        <p:spPr>
          <a:xfrm>
            <a:off x="1487160" y="6847200"/>
            <a:ext cx="12116520" cy="298800"/>
          </a:xfrm>
          <a:prstGeom prst="rect">
            <a:avLst/>
          </a:prstGeom>
          <a:noFill/>
          <a:ln w="0">
            <a:noFill/>
          </a:ln>
        </p:spPr>
        <p:style>
          <a:lnRef idx="0"/>
          <a:fillRef idx="0"/>
          <a:effectRef idx="0"/>
          <a:fontRef idx="minor"/>
        </p:style>
        <p:txBody>
          <a:bodyPr wrap="none" lIns="0" rIns="0" tIns="0" bIns="0" anchor="t">
            <a:noAutofit/>
          </a:bodyPr>
          <a:p>
            <a:pPr>
              <a:lnSpc>
                <a:spcPts val="2350"/>
              </a:lnSpc>
              <a:tabLst>
                <a:tab algn="l" pos="0"/>
              </a:tabLst>
            </a:pPr>
            <a:r>
              <a:rPr b="0" lang="en-US" sz="1600" spc="-1" strike="noStrike">
                <a:solidFill>
                  <a:srgbClr val="000000"/>
                </a:solidFill>
                <a:latin typeface="Source Sans 3"/>
                <a:ea typeface="Source Sans 3"/>
              </a:rPr>
              <a:t>📝</a:t>
            </a:r>
            <a:r>
              <a:rPr b="0" lang="en-US" sz="1600" spc="-1" strike="noStrike">
                <a:solidFill>
                  <a:srgbClr val="ffffff"/>
                </a:solidFill>
                <a:latin typeface="Source Sans 3"/>
                <a:ea typeface="Source Sans 3"/>
              </a:rPr>
              <a:t> </a:t>
            </a:r>
            <a:r>
              <a:rPr b="0" lang="en-US" sz="1600" spc="-1" strike="noStrike">
                <a:solidFill>
                  <a:srgbClr val="ffffff"/>
                </a:solidFill>
                <a:latin typeface="Source Sans 3"/>
                <a:ea typeface="Source Sans 3"/>
              </a:rPr>
              <a:t>Tapşırığınızı növbəti dərsdə müzakirə edəcəyik. Seçdiyiniz prosesin addımlarını qısaca yazıb gətirin.</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5" name=""/>
          <p:cNvSpPr/>
          <p:nvPr/>
        </p:nvSpPr>
        <p:spPr>
          <a:xfrm>
            <a:off x="5029200" y="84600"/>
            <a:ext cx="3150720" cy="6008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2950" spc="-1" strike="noStrike">
                <a:solidFill>
                  <a:srgbClr val="ffffff"/>
                </a:solidFill>
                <a:latin typeface="Montserrat Bold"/>
                <a:ea typeface="Montserrat Bold"/>
              </a:rPr>
              <a:t>Test Tapşırığı L6</a:t>
            </a:r>
            <a:endParaRPr b="0" lang="en-US" sz="2950" spc="-1" strike="noStrike">
              <a:solidFill>
                <a:srgbClr val="000000"/>
              </a:solidFill>
              <a:latin typeface="Arial"/>
            </a:endParaRPr>
          </a:p>
        </p:txBody>
      </p:sp>
      <p:pic>
        <p:nvPicPr>
          <p:cNvPr id="186" name="" descr=""/>
          <p:cNvPicPr/>
          <p:nvPr/>
        </p:nvPicPr>
        <p:blipFill>
          <a:blip r:embed="rId1"/>
          <a:stretch/>
        </p:blipFill>
        <p:spPr>
          <a:xfrm>
            <a:off x="2971800" y="685800"/>
            <a:ext cx="7275600" cy="7275600"/>
          </a:xfrm>
          <a:prstGeom prst="rect">
            <a:avLst/>
          </a:prstGeom>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14</TotalTime>
  <Application>LibreOffice/24.2.7.2$Linux_X86_64 LibreOffice_project/420$Build-2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2026-03-25T15:48:08Z</dcterms:created>
  <dc:creator/>
  <dc:description/>
  <dc:language>en-US</dc:language>
  <cp:lastModifiedBy/>
  <dcterms:modified xsi:type="dcterms:W3CDTF">2026-03-30T11:02:10Z</dcterms:modified>
  <cp:revision>6</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11</vt:i4>
  </property>
  <property fmtid="{D5CDD505-2E9C-101B-9397-08002B2CF9AE}" pid="3" name="PresentationFormat">
    <vt:lpwstr>On-screen Show (16:9)</vt:lpwstr>
  </property>
  <property fmtid="{D5CDD505-2E9C-101B-9397-08002B2CF9AE}" pid="4" name="Slides">
    <vt:i4>11</vt:i4>
  </property>
</Properties>
</file>