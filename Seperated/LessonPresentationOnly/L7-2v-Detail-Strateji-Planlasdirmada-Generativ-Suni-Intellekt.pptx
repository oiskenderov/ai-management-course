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2.svg" ContentType="image/svg"/>
  <Override PartName="/ppt/media/image8.svg" ContentType="image/svg"/>
  <Override PartName="/ppt/media/image13.png" ContentType="image/png"/>
  <Override PartName="/ppt/media/image10.svg" ContentType="image/svg"/>
  <Override PartName="/ppt/media/image9.png" ContentType="image/png"/>
  <Override PartName="/ppt/media/image18.png" ContentType="image/png"/>
  <Override PartName="/ppt/media/image20.png" ContentType="image/png"/>
  <Override PartName="/ppt/media/image6.svg" ContentType="image/svg"/>
  <Override PartName="/ppt/media/image5.png" ContentType="image/png"/>
  <Override PartName="/ppt/media/image14.png" ContentType="image/png"/>
  <Override PartName="/ppt/media/image11.png" ContentType="image/png"/>
  <Override PartName="/ppt/media/image2.png" ContentType="image/png"/>
  <Override PartName="/ppt/media/image25.png" ContentType="image/png"/>
  <Override PartName="/ppt/media/image24.png" ContentType="image/png"/>
  <Override PartName="/ppt/media/image22.png" ContentType="image/png"/>
  <Override PartName="/ppt/media/image17.png" ContentType="image/png"/>
  <Override PartName="/ppt/media/image15.png" ContentType="image/png"/>
  <Override PartName="/ppt/media/image21.svg" ContentType="image/svg"/>
  <Override PartName="/ppt/media/image19.svg" ContentType="image/svg"/>
  <Override PartName="/ppt/media/image1.png" ContentType="image/png"/>
  <Override PartName="/ppt/media/image23.svg" ContentType="image/svg"/>
  <Override PartName="/ppt/media/image3.png" ContentType="image/png"/>
  <Override PartName="/ppt/media/image4.svg" ContentType="image/svg"/>
  <Override PartName="/ppt/media/image7.png" ContentType="image/png"/>
  <Override PartName="/ppt/media/image16.png" ContentType="image/pn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B7AFCA3-76AD-453E-BA9D-6B9EA393821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8812FF-7FFD-4570-82C6-2C7E0D592FE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D9C642-A8E5-42BB-B042-FA9A6C33ECD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CB9253-F167-4EA2-AEDB-403E30C384A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33F6D0-D0D8-476C-A8CF-2ED0D60AF0D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4AA574-65B9-4FAC-9D2A-9EDC99F5F55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38E488-C9B9-4AFA-8343-C3E25F4A700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E476B2-F228-450E-9C22-7EF7E9A161C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DEC93F-7260-4CD7-8046-34640FD8ACD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DB18FF-60EE-4F19-9C2C-F7F78E65F79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B342E9-3C10-4749-A92F-DBF5CB9E380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05C9A40-5F12-4C7D-9280-883D4E93BF2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28240" cy="82274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28240" cy="82274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14628240" cy="82274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4628240" cy="82274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628240" cy="82274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4628240" cy="82274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4628240" cy="82274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0" y="0"/>
            <a:ext cx="14628240" cy="82274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14628240" cy="82274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0" y="0"/>
            <a:ext cx="14628240" cy="82274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28240" cy="82274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28240" cy="82274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14628240" cy="82274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0" y="0"/>
            <a:ext cx="14628240" cy="82274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4628240" cy="82274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14628240" cy="82274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14628240" cy="82274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0" y="0"/>
            <a:ext cx="14628240" cy="82274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4628240" cy="82274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628240" cy="82274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4628240" cy="82274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4628240" cy="82274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image" Target="../media/image11.png"/><Relationship Id="rId8" Type="http://schemas.openxmlformats.org/officeDocument/2006/relationships/image" Target="../media/image12.svg"/><Relationship Id="rId9" Type="http://schemas.openxmlformats.org/officeDocument/2006/relationships/image" Target="../media/image13.pn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Relationship Id="rId5" Type="http://schemas.openxmlformats.org/officeDocument/2006/relationships/image" Target="../media/image21.svg"/><Relationship Id="rId6" Type="http://schemas.openxmlformats.org/officeDocument/2006/relationships/image" Target="../media/image22.png"/><Relationship Id="rId7" Type="http://schemas.openxmlformats.org/officeDocument/2006/relationships/image" Target="../media/image23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4240" cy="8227440"/>
          </a:xfrm>
          <a:prstGeom prst="rect">
            <a:avLst/>
          </a:prstGeom>
          <a:ln w="0">
            <a:noFill/>
          </a:ln>
        </p:spPr>
      </p:pic>
      <p:sp>
        <p:nvSpPr>
          <p:cNvPr id="51" name="Text 0"/>
          <p:cNvSpPr/>
          <p:nvPr/>
        </p:nvSpPr>
        <p:spPr>
          <a:xfrm>
            <a:off x="863640" y="3015360"/>
            <a:ext cx="7414200" cy="12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Strateji Planlaşdırmada Generativ Süni İntellekt</a:t>
            </a:r>
            <a:endParaRPr b="0" lang="en-US" sz="3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863640" y="4566240"/>
            <a:ext cx="74142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Strategiya hazırlığında "ağıllı tərəfdaş" kimi GenAI-dan istifadə — təcrübəli menecerlər üçün praktik baxış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863640" y="2028240"/>
            <a:ext cx="4906440" cy="6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Dərsin Məqsədləri</a:t>
            </a:r>
            <a:endParaRPr b="0" lang="en-US" sz="3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1187640" y="3316320"/>
            <a:ext cx="125769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"Bu gün generativ süni intellektdən strateji əvəz etmək üçün deyil, strategiyanın hazırlanmasında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ağıllı tərəfdaş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kimi necə istifadə edəcəyimizi öyrənəcəyik."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863640" y="3073320"/>
            <a:ext cx="28440" cy="11314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863640" y="4449960"/>
            <a:ext cx="2138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01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4"/>
          <p:cNvSpPr/>
          <p:nvPr/>
        </p:nvSpPr>
        <p:spPr>
          <a:xfrm>
            <a:off x="863640" y="4786560"/>
            <a:ext cx="4154760" cy="28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863640" y="4955400"/>
            <a:ext cx="2451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GenAI-ı Tanımaq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863640" y="5391720"/>
            <a:ext cx="41547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Generativ süni intellektin iş prinsipi və əsas imkanları ilə tanışlıq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5236560" y="4449960"/>
            <a:ext cx="2138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02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8"/>
          <p:cNvSpPr/>
          <p:nvPr/>
        </p:nvSpPr>
        <p:spPr>
          <a:xfrm>
            <a:off x="5236560" y="4786560"/>
            <a:ext cx="4154760" cy="28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5236560" y="4955400"/>
            <a:ext cx="3739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Strateji Tətbiqləri Kəşf Etmək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0"/>
          <p:cNvSpPr/>
          <p:nvPr/>
        </p:nvSpPr>
        <p:spPr>
          <a:xfrm>
            <a:off x="5236560" y="5391720"/>
            <a:ext cx="41547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SWOT, OKR, ssenari planlaşdırması kimi alətlərə inteqrasiya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9609480" y="4449960"/>
            <a:ext cx="2138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03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12"/>
          <p:cNvSpPr/>
          <p:nvPr/>
        </p:nvSpPr>
        <p:spPr>
          <a:xfrm>
            <a:off x="9609480" y="4786560"/>
            <a:ext cx="4154760" cy="28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9609480" y="4955400"/>
            <a:ext cx="34383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Praktik Bacarıq Qazanmaq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4"/>
          <p:cNvSpPr/>
          <p:nvPr/>
        </p:nvSpPr>
        <p:spPr>
          <a:xfrm>
            <a:off x="9609480" y="5391720"/>
            <a:ext cx="41547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Real iş ssenarilərini GenAI ilə həll etmək üçün praktik tapşırıqlar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4240" cy="8227440"/>
          </a:xfrm>
          <a:prstGeom prst="rect">
            <a:avLst/>
          </a:prstGeom>
          <a:ln w="0">
            <a:noFill/>
          </a:ln>
        </p:spPr>
      </p:pic>
      <p:sp>
        <p:nvSpPr>
          <p:cNvPr id="69" name="Text 0"/>
          <p:cNvSpPr/>
          <p:nvPr/>
        </p:nvSpPr>
        <p:spPr>
          <a:xfrm>
            <a:off x="6350040" y="946080"/>
            <a:ext cx="7414200" cy="12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Generativ Süni İntellekt Nədir?</a:t>
            </a:r>
            <a:endParaRPr b="0" lang="en-US" sz="3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6350040" y="2496960"/>
            <a:ext cx="7414200" cy="12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Generativ süni intellekt (GenAI) — böyük həcmli məlumat topluları üzərində öyrədilmiş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Böyük Dil Modelləri (LLM)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əsasında işləyir. Bu modellər məlumatlar arasındakı nümunələri öyrənərək yeni mətn, kod, şəkil və digər məzmun yarada bilir.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6350040" y="4035600"/>
            <a:ext cx="3598200" cy="1837800"/>
          </a:xfrm>
          <a:prstGeom prst="roundRect">
            <a:avLst>
              <a:gd name="adj" fmla="val 176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6566040" y="4251600"/>
            <a:ext cx="2451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ChatGPT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6566040" y="4687920"/>
            <a:ext cx="3166200" cy="96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OpenAI tərəfindən hazırlanmış, ən geniş yayılmış danışıq əsaslı AI modeli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5"/>
          <p:cNvSpPr/>
          <p:nvPr/>
        </p:nvSpPr>
        <p:spPr>
          <a:xfrm>
            <a:off x="10166400" y="4035600"/>
            <a:ext cx="3598200" cy="1837800"/>
          </a:xfrm>
          <a:prstGeom prst="roundRect">
            <a:avLst>
              <a:gd name="adj" fmla="val 176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10382040" y="4251600"/>
            <a:ext cx="2451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Claude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7"/>
          <p:cNvSpPr/>
          <p:nvPr/>
        </p:nvSpPr>
        <p:spPr>
          <a:xfrm>
            <a:off x="10382040" y="4687920"/>
            <a:ext cx="31665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Anthropic-in uzun kontekstli analiz və sənəd işləmədə güclü modeli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8"/>
          <p:cNvSpPr/>
          <p:nvPr/>
        </p:nvSpPr>
        <p:spPr>
          <a:xfrm>
            <a:off x="6350040" y="6091560"/>
            <a:ext cx="7414200" cy="1189800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6566040" y="6307200"/>
            <a:ext cx="2451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Gemini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6458040" y="6743520"/>
            <a:ext cx="698256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Google-un çoxmodallı AI modeli — mətn, şəkil və məlumat inteqrasiyası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21"/>
          <p:cNvSpPr/>
          <p:nvPr/>
        </p:nvSpPr>
        <p:spPr>
          <a:xfrm>
            <a:off x="635040" y="5926320"/>
            <a:ext cx="6341400" cy="1513800"/>
          </a:xfrm>
          <a:prstGeom prst="roundRect">
            <a:avLst>
              <a:gd name="adj" fmla="val 34194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19"/>
          <p:cNvSpPr/>
          <p:nvPr/>
        </p:nvSpPr>
        <p:spPr>
          <a:xfrm>
            <a:off x="7290000" y="5943600"/>
            <a:ext cx="6341400" cy="1513800"/>
          </a:xfrm>
          <a:prstGeom prst="roundRect">
            <a:avLst>
              <a:gd name="adj" fmla="val 34194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17"/>
          <p:cNvSpPr/>
          <p:nvPr/>
        </p:nvSpPr>
        <p:spPr>
          <a:xfrm>
            <a:off x="7315200" y="3657600"/>
            <a:ext cx="6341400" cy="1513800"/>
          </a:xfrm>
          <a:prstGeom prst="roundRect">
            <a:avLst>
              <a:gd name="adj" fmla="val 34194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0"/>
          <p:cNvSpPr/>
          <p:nvPr/>
        </p:nvSpPr>
        <p:spPr>
          <a:xfrm>
            <a:off x="863640" y="1036800"/>
            <a:ext cx="10257480" cy="6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GenAI Strategiyada Nə Üçün Faydalıdır?</a:t>
            </a:r>
            <a:endParaRPr b="0" lang="en-US" sz="3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863640" y="2082240"/>
            <a:ext cx="129006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Müasir strateji planlaşdırma proseslərində GenAI dörd əsas sahədə əhəmiyyətli dəyər əlavə edir — vaxt qənaəti etməkdən tutmuş keyfiyyətli qərar dəstəyinə qədər.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5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63640" y="2972880"/>
            <a:ext cx="537840" cy="537840"/>
          </a:xfrm>
          <a:prstGeom prst="rect">
            <a:avLst/>
          </a:prstGeom>
          <a:ln w="0">
            <a:noFill/>
          </a:ln>
        </p:spPr>
      </p:pic>
      <p:sp>
        <p:nvSpPr>
          <p:cNvPr id="86" name="Shape 13"/>
          <p:cNvSpPr/>
          <p:nvPr/>
        </p:nvSpPr>
        <p:spPr>
          <a:xfrm>
            <a:off x="685800" y="3657600"/>
            <a:ext cx="6341400" cy="1513800"/>
          </a:xfrm>
          <a:prstGeom prst="roundRect">
            <a:avLst>
              <a:gd name="adj" fmla="val 34194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2"/>
          <p:cNvSpPr/>
          <p:nvPr/>
        </p:nvSpPr>
        <p:spPr>
          <a:xfrm>
            <a:off x="863640" y="3782880"/>
            <a:ext cx="4618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Məlumat Toplanmasını Sürətləndirir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863640" y="4218840"/>
            <a:ext cx="63144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Saatlar ərzində toplanan bazar məlumatları, rəqib analizi və sektoral tendensiyalar dəqiqələrə sıxılır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9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450200" y="2972880"/>
            <a:ext cx="537840" cy="537840"/>
          </a:xfrm>
          <a:prstGeom prst="rect">
            <a:avLst/>
          </a:prstGeom>
          <a:ln w="0">
            <a:noFill/>
          </a:ln>
        </p:spPr>
      </p:pic>
      <p:sp>
        <p:nvSpPr>
          <p:cNvPr id="90" name="Text 4"/>
          <p:cNvSpPr/>
          <p:nvPr/>
        </p:nvSpPr>
        <p:spPr>
          <a:xfrm>
            <a:off x="7450200" y="3782880"/>
            <a:ext cx="32900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Alternativ Baxış Nöqtələri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7450200" y="4218840"/>
            <a:ext cx="63144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Bir məsələyə çoxsaylı rakurslardan baxma imkanı yaradır, "qrup düşüncəsi" tələlərini azaldır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2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63640" y="5298840"/>
            <a:ext cx="537840" cy="537840"/>
          </a:xfrm>
          <a:prstGeom prst="rect">
            <a:avLst/>
          </a:prstGeom>
          <a:ln w="0">
            <a:noFill/>
          </a:ln>
        </p:spPr>
      </p:pic>
      <p:sp>
        <p:nvSpPr>
          <p:cNvPr id="93" name="Text 6"/>
          <p:cNvSpPr/>
          <p:nvPr/>
        </p:nvSpPr>
        <p:spPr>
          <a:xfrm>
            <a:off x="863640" y="6108480"/>
            <a:ext cx="3755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Fikirlərin Strukturlaşdırılması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7"/>
          <p:cNvSpPr/>
          <p:nvPr/>
        </p:nvSpPr>
        <p:spPr>
          <a:xfrm>
            <a:off x="863640" y="6544800"/>
            <a:ext cx="63144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Xaotik ideyaları aydın çərçivələrə, prioritet sıralamalarına və icra planlarına çevirir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450200" y="5298840"/>
            <a:ext cx="537840" cy="537840"/>
          </a:xfrm>
          <a:prstGeom prst="rect">
            <a:avLst/>
          </a:prstGeom>
          <a:ln w="0">
            <a:noFill/>
          </a:ln>
        </p:spPr>
      </p:pic>
      <p:sp>
        <p:nvSpPr>
          <p:cNvPr id="96" name="Text 8"/>
          <p:cNvSpPr/>
          <p:nvPr/>
        </p:nvSpPr>
        <p:spPr>
          <a:xfrm>
            <a:off x="7450200" y="6108480"/>
            <a:ext cx="44391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Gələcək Ssenarilərini Modelləşdirir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7450200" y="6544800"/>
            <a:ext cx="63144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Müxtəlif bazar şərtlərini simulyasiya edərək hazırlıqlı qərar qəbulunu dəstəkləyir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863640" y="2278080"/>
            <a:ext cx="9817200" cy="6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Strateji Planlaşdırmada Tipik Tətbiqlər</a:t>
            </a:r>
            <a:endParaRPr b="0" lang="en-US" sz="3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1"/>
          <p:cNvSpPr/>
          <p:nvPr/>
        </p:nvSpPr>
        <p:spPr>
          <a:xfrm>
            <a:off x="708120" y="3215520"/>
            <a:ext cx="6496920" cy="2733840"/>
          </a:xfrm>
          <a:prstGeom prst="roundRect">
            <a:avLst>
              <a:gd name="adj" fmla="val 1184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924120" y="3431160"/>
            <a:ext cx="2451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Analiz və Çərçivə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1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005120" y="3980880"/>
            <a:ext cx="321840" cy="321840"/>
          </a:xfrm>
          <a:prstGeom prst="rect">
            <a:avLst/>
          </a:prstGeom>
          <a:ln w="0">
            <a:noFill/>
          </a:ln>
        </p:spPr>
      </p:pic>
      <p:sp>
        <p:nvSpPr>
          <p:cNvPr id="102" name="Text 3"/>
          <p:cNvSpPr/>
          <p:nvPr/>
        </p:nvSpPr>
        <p:spPr>
          <a:xfrm>
            <a:off x="1625760" y="3980880"/>
            <a:ext cx="53636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SWOT / PESTEL Təhlili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Daxili və xarici mühitin strukturlu qiymətləndirilməsi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3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05120" y="5060520"/>
            <a:ext cx="321840" cy="321840"/>
          </a:xfrm>
          <a:prstGeom prst="rect">
            <a:avLst/>
          </a:prstGeom>
          <a:ln w="0">
            <a:noFill/>
          </a:ln>
        </p:spPr>
      </p:pic>
      <p:sp>
        <p:nvSpPr>
          <p:cNvPr id="104" name="Text 4"/>
          <p:cNvSpPr/>
          <p:nvPr/>
        </p:nvSpPr>
        <p:spPr>
          <a:xfrm>
            <a:off x="1625760" y="5060520"/>
            <a:ext cx="53636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Missiya, Vizyon, Dəyərlər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Təşkilatın strateji kimliyi üçün əsas sənədlər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5"/>
          <p:cNvSpPr/>
          <p:nvPr/>
        </p:nvSpPr>
        <p:spPr>
          <a:xfrm>
            <a:off x="7586280" y="3431160"/>
            <a:ext cx="29768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İcra və Kommunikasiya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667280" y="3980880"/>
            <a:ext cx="321840" cy="321840"/>
          </a:xfrm>
          <a:prstGeom prst="rect">
            <a:avLst/>
          </a:prstGeom>
          <a:ln w="0">
            <a:noFill/>
          </a:ln>
        </p:spPr>
      </p:pic>
      <p:sp>
        <p:nvSpPr>
          <p:cNvPr id="107" name="Text 6"/>
          <p:cNvSpPr/>
          <p:nvPr/>
        </p:nvSpPr>
        <p:spPr>
          <a:xfrm>
            <a:off x="8287920" y="3980880"/>
            <a:ext cx="54838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Strateji Təşəbbüslərin İnkişafı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Prioritet layihələrin formalaşdırılması və resursların planlanması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667280" y="5060520"/>
            <a:ext cx="321840" cy="321840"/>
          </a:xfrm>
          <a:prstGeom prst="rect">
            <a:avLst/>
          </a:prstGeom>
          <a:ln w="0">
            <a:noFill/>
          </a:ln>
        </p:spPr>
      </p:pic>
      <p:sp>
        <p:nvSpPr>
          <p:cNvPr id="109" name="Text 7"/>
          <p:cNvSpPr/>
          <p:nvPr/>
        </p:nvSpPr>
        <p:spPr>
          <a:xfrm>
            <a:off x="8287920" y="5060520"/>
            <a:ext cx="54838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Direktorlar Şurası üçün Hesabatlar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İdarə heyəti üçün yüksək keyfiyyətli analitik material hazırlığı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9"/>
          <a:srcRect l="0" t="19489" r="0" b="0"/>
          <a:stretch/>
        </p:blipFill>
        <p:spPr>
          <a:xfrm>
            <a:off x="486000" y="5943600"/>
            <a:ext cx="6828840" cy="2207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4240" cy="8227440"/>
          </a:xfrm>
          <a:prstGeom prst="rect">
            <a:avLst/>
          </a:prstGeom>
          <a:ln w="0">
            <a:noFill/>
          </a:ln>
        </p:spPr>
      </p:pic>
      <p:sp>
        <p:nvSpPr>
          <p:cNvPr id="112" name="Text 0"/>
          <p:cNvSpPr/>
          <p:nvPr/>
        </p:nvSpPr>
        <p:spPr>
          <a:xfrm>
            <a:off x="830160" y="923760"/>
            <a:ext cx="7481880" cy="11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601"/>
              </a:lnSpc>
              <a:tabLst>
                <a:tab algn="l" pos="0"/>
              </a:tabLst>
            </a:pPr>
            <a:r>
              <a:rPr b="1" lang="en-US" sz="37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Nümunə: GenAI ilə SWOT Təhlili</a:t>
            </a:r>
            <a:endParaRPr b="0" lang="en-US" sz="3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1"/>
          <p:cNvSpPr/>
          <p:nvPr/>
        </p:nvSpPr>
        <p:spPr>
          <a:xfrm>
            <a:off x="830160" y="2401920"/>
            <a:ext cx="7481880" cy="1149840"/>
          </a:xfrm>
          <a:prstGeom prst="roundRect">
            <a:avLst>
              <a:gd name="adj" fmla="val 2702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4" name="Image 1" descr="preencoded.png"/>
          <p:cNvPicPr/>
          <p:nvPr/>
        </p:nvPicPr>
        <p:blipFill>
          <a:blip r:embed="rId2"/>
          <a:stretch/>
        </p:blipFill>
        <p:spPr>
          <a:xfrm>
            <a:off x="1037520" y="2692800"/>
            <a:ext cx="257040" cy="205200"/>
          </a:xfrm>
          <a:prstGeom prst="rect">
            <a:avLst/>
          </a:prstGeom>
          <a:ln w="0">
            <a:noFill/>
          </a:ln>
        </p:spPr>
      </p:pic>
      <p:sp>
        <p:nvSpPr>
          <p:cNvPr id="115" name="Text 2"/>
          <p:cNvSpPr/>
          <p:nvPr/>
        </p:nvSpPr>
        <p:spPr>
          <a:xfrm>
            <a:off x="1504080" y="2652840"/>
            <a:ext cx="6600240" cy="6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Source Sans 3"/>
                <a:ea typeface="Source Sans 3"/>
              </a:rPr>
              <a:t>💡</a:t>
            </a:r>
            <a:r>
              <a:rPr b="0" lang="en-US" sz="16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 </a:t>
            </a:r>
            <a:r>
              <a:rPr b="1" lang="en-US" sz="16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Nümayiş sorğusu:</a:t>
            </a:r>
            <a:r>
              <a:rPr b="0" lang="en-US" sz="16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 </a:t>
            </a:r>
            <a:r>
              <a:rPr b="0" i="1" lang="en-US" sz="16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"2026-cı ildə Azərbaycanda bir EdTech şirkəti üçün SWOT təhlili aparın"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830160" y="3778200"/>
            <a:ext cx="748188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Bu nümayişin məqsədi GenAI-ın real iş kontekstinə uyğunluğunu qiymətləndirməkdir. Nəticəni kritik nəzərə alın: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4"/>
          <p:cNvSpPr/>
          <p:nvPr/>
        </p:nvSpPr>
        <p:spPr>
          <a:xfrm>
            <a:off x="830160" y="4613040"/>
            <a:ext cx="2359440" cy="2690640"/>
          </a:xfrm>
          <a:prstGeom prst="roundRect">
            <a:avLst>
              <a:gd name="adj" fmla="val 1318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1060200" y="4843080"/>
            <a:ext cx="1899000" cy="5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✅</a:t>
            </a:r>
            <a:r>
              <a:rPr b="1" lang="en-US" sz="18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8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Müvafiq Məqamlar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1060200" y="5559840"/>
            <a:ext cx="18990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Hansı güclü/zəif tərəflər Azərbaycan bazarı üçün realdır?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7"/>
          <p:cNvSpPr/>
          <p:nvPr/>
        </p:nvSpPr>
        <p:spPr>
          <a:xfrm>
            <a:off x="3390840" y="4613040"/>
            <a:ext cx="2359800" cy="2690640"/>
          </a:xfrm>
          <a:prstGeom prst="roundRect">
            <a:avLst>
              <a:gd name="adj" fmla="val 1318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3621240" y="4843080"/>
            <a:ext cx="21294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Aydınlaşdırılmalı Məqamlar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3621240" y="5638680"/>
            <a:ext cx="189900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Hansı məlumatlar ümumi, yüzeysel və ya lokal kontekstdən kənardır?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10"/>
          <p:cNvSpPr/>
          <p:nvPr/>
        </p:nvSpPr>
        <p:spPr>
          <a:xfrm>
            <a:off x="5952240" y="4613040"/>
            <a:ext cx="2359440" cy="2690640"/>
          </a:xfrm>
          <a:prstGeom prst="roundRect">
            <a:avLst>
              <a:gd name="adj" fmla="val 1318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6182280" y="4843080"/>
            <a:ext cx="189900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➕</a:t>
            </a:r>
            <a:r>
              <a:rPr b="1" lang="en-US" sz="18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8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Əlavə Edilməli Məqamlar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6182280" y="5854680"/>
            <a:ext cx="18990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GenAI-ın buraxdığı hansı sektoral xüsusiyyətlər var?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914400" y="7654320"/>
            <a:ext cx="6746040" cy="3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EdTech (Təhsil Texnologiyasının qısaltması) təhsil və İT-ni birləşdirən bir sahədir.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863640" y="1522800"/>
            <a:ext cx="8822880" cy="6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Gələcək Ssenarilərinin Yaradılması</a:t>
            </a:r>
            <a:endParaRPr b="0" lang="en-US" sz="3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863640" y="2568240"/>
            <a:ext cx="129006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GenAI strateji qərar qəbulçularına gələcəyin qeyri-müəyyənliyinə hazırlaşmaq üçün çoxsaylı inkişaf ssenarilərini sürətlə qurmağa imkan verir. Hər ssenari ayrı bir "gələcək dünya" kimi işlənir.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863640" y="3458880"/>
            <a:ext cx="6341400" cy="1513800"/>
          </a:xfrm>
          <a:prstGeom prst="roundRect">
            <a:avLst>
              <a:gd name="adj" fmla="val 34194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1079640" y="3566880"/>
            <a:ext cx="2652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🚀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Texnoloji İrəliləyiş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1115640" y="3859200"/>
            <a:ext cx="59094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AI, avtomatlaşdırma və rəqəmsal transformasiya sektorunuzu kökündən dəyişdirirsə — hansı imkanlar yaranır?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5"/>
          <p:cNvSpPr/>
          <p:nvPr/>
        </p:nvSpPr>
        <p:spPr>
          <a:xfrm>
            <a:off x="7423200" y="3458880"/>
            <a:ext cx="6341400" cy="1513800"/>
          </a:xfrm>
          <a:prstGeom prst="roundRect">
            <a:avLst>
              <a:gd name="adj" fmla="val 34194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7638840" y="3674880"/>
            <a:ext cx="3613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⚖️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Tənzimləyici Dəyişikliklər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7638840" y="4111200"/>
            <a:ext cx="59097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Yeni qanunvericilik, vergitutma siyasəti və ya tənzimləmə rejimi strategiyanıza necə təsir edir?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8"/>
          <p:cNvSpPr/>
          <p:nvPr/>
        </p:nvSpPr>
        <p:spPr>
          <a:xfrm>
            <a:off x="863640" y="5190840"/>
            <a:ext cx="6341400" cy="1513800"/>
          </a:xfrm>
          <a:prstGeom prst="roundRect">
            <a:avLst>
              <a:gd name="adj" fmla="val 34194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1079640" y="5406480"/>
            <a:ext cx="27248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⚠️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Böhran Ssenariləri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1079640" y="5842800"/>
            <a:ext cx="59094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İqtisadi tənəzzül, təchizat zənciri pozulması və ya bazarın daralması halında alternativ plan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7423200" y="5190840"/>
            <a:ext cx="6341400" cy="1513800"/>
          </a:xfrm>
          <a:prstGeom prst="roundRect">
            <a:avLst>
              <a:gd name="adj" fmla="val 34194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7638840" y="5406480"/>
            <a:ext cx="2451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🌱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Optimal İnkişaf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3"/>
          <p:cNvSpPr/>
          <p:nvPr/>
        </p:nvSpPr>
        <p:spPr>
          <a:xfrm>
            <a:off x="7638840" y="5842800"/>
            <a:ext cx="59097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Bütün şərtlər əlverişli olduqda — bazar payı, gəlir artımı və brendin ən yaxşı ssenarisi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4240" cy="8227440"/>
          </a:xfrm>
          <a:prstGeom prst="rect">
            <a:avLst/>
          </a:prstGeom>
          <a:ln w="0">
            <a:noFill/>
          </a:ln>
        </p:spPr>
      </p:pic>
      <p:sp>
        <p:nvSpPr>
          <p:cNvPr id="142" name="Text 0"/>
          <p:cNvSpPr/>
          <p:nvPr/>
        </p:nvSpPr>
        <p:spPr>
          <a:xfrm>
            <a:off x="803520" y="838080"/>
            <a:ext cx="592992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450"/>
              </a:lnSpc>
              <a:tabLst>
                <a:tab algn="l" pos="0"/>
              </a:tabLst>
            </a:pPr>
            <a:r>
              <a:rPr b="1" lang="en-US" sz="35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OKR / BSC ilə İnteqrasiya</a:t>
            </a:r>
            <a:endParaRPr b="0" lang="en-US" sz="3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803520" y="1689120"/>
            <a:ext cx="753480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GenAI yalnız analiz alətindən daha artığını təklif edir — bazar məlumatları əsasında </a:t>
            </a: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ölçülə bilən məqsədlər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və </a:t>
            </a: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əsas nəticələr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formalaşdırmaqda bilavasitə dəstək verir.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803520" y="2667600"/>
            <a:ext cx="352116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OKR Kontekstində GenAI (</a:t>
            </a:r>
            <a:r>
              <a:rPr b="1" i="1" lang="en-US" sz="17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Objectives and Key Results</a:t>
            </a:r>
            <a:r>
              <a:rPr b="1" lang="en-US" sz="17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)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3"/>
          <p:cNvSpPr/>
          <p:nvPr/>
        </p:nvSpPr>
        <p:spPr>
          <a:xfrm>
            <a:off x="803520" y="3448440"/>
            <a:ext cx="449640" cy="449640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892440" y="3503160"/>
            <a:ext cx="271800" cy="3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149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1</a:t>
            </a:r>
            <a:endParaRPr b="0" lang="en-US" sz="2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5"/>
          <p:cNvSpPr/>
          <p:nvPr/>
        </p:nvSpPr>
        <p:spPr>
          <a:xfrm>
            <a:off x="1442160" y="3379680"/>
            <a:ext cx="288252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Bazar tendensiyalarına uyğun </a:t>
            </a: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Məqsəd (Objective)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formalaşdırır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6"/>
          <p:cNvSpPr/>
          <p:nvPr/>
        </p:nvSpPr>
        <p:spPr>
          <a:xfrm>
            <a:off x="803520" y="4479120"/>
            <a:ext cx="449640" cy="449640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7"/>
          <p:cNvSpPr/>
          <p:nvPr/>
        </p:nvSpPr>
        <p:spPr>
          <a:xfrm>
            <a:off x="892440" y="4533840"/>
            <a:ext cx="271800" cy="3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149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2</a:t>
            </a:r>
            <a:endParaRPr b="0" lang="en-US" sz="2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1442160" y="4410360"/>
            <a:ext cx="288252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KPI bazasında </a:t>
            </a: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Əsas Nəticələr (Key Results)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təklif edir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9"/>
          <p:cNvSpPr/>
          <p:nvPr/>
        </p:nvSpPr>
        <p:spPr>
          <a:xfrm>
            <a:off x="803520" y="5509440"/>
            <a:ext cx="449640" cy="449640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10"/>
          <p:cNvSpPr/>
          <p:nvPr/>
        </p:nvSpPr>
        <p:spPr>
          <a:xfrm>
            <a:off x="892440" y="5564160"/>
            <a:ext cx="271800" cy="3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149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3</a:t>
            </a:r>
            <a:endParaRPr b="0" lang="en-US" sz="2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11"/>
          <p:cNvSpPr/>
          <p:nvPr/>
        </p:nvSpPr>
        <p:spPr>
          <a:xfrm>
            <a:off x="1442160" y="5440680"/>
            <a:ext cx="288252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Rəqib müqayisəsi ilə </a:t>
            </a: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Hədəf göstəriciləri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kalibrləyir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12"/>
          <p:cNvSpPr/>
          <p:nvPr/>
        </p:nvSpPr>
        <p:spPr>
          <a:xfrm>
            <a:off x="4680000" y="2480760"/>
            <a:ext cx="3810600" cy="4375440"/>
          </a:xfrm>
          <a:prstGeom prst="roundRect">
            <a:avLst>
              <a:gd name="adj" fmla="val 790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13"/>
          <p:cNvSpPr/>
          <p:nvPr/>
        </p:nvSpPr>
        <p:spPr>
          <a:xfrm>
            <a:off x="4880880" y="2667600"/>
            <a:ext cx="3408840" cy="85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BSC Perspektivlərində Dəstək (Balanced ScoreCard)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14"/>
          <p:cNvSpPr/>
          <p:nvPr/>
        </p:nvSpPr>
        <p:spPr>
          <a:xfrm>
            <a:off x="4880880" y="3510360"/>
            <a:ext cx="98280" cy="98280"/>
          </a:xfrm>
          <a:prstGeom prst="roundRect">
            <a:avLst>
              <a:gd name="adj" fmla="val 45551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5"/>
          <p:cNvSpPr/>
          <p:nvPr/>
        </p:nvSpPr>
        <p:spPr>
          <a:xfrm>
            <a:off x="5168160" y="3409920"/>
            <a:ext cx="3121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Maliyyə: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Gəlir artımı, xərc optimallaşdırması hədəfləri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16"/>
          <p:cNvSpPr/>
          <p:nvPr/>
        </p:nvSpPr>
        <p:spPr>
          <a:xfrm>
            <a:off x="4880880" y="4465440"/>
            <a:ext cx="98280" cy="98280"/>
          </a:xfrm>
          <a:prstGeom prst="roundRect">
            <a:avLst>
              <a:gd name="adj" fmla="val 45551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7"/>
          <p:cNvSpPr/>
          <p:nvPr/>
        </p:nvSpPr>
        <p:spPr>
          <a:xfrm>
            <a:off x="5168160" y="4365000"/>
            <a:ext cx="3121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Müştəri: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Məmnuniyyət və bazar payı göstəriciləri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18"/>
          <p:cNvSpPr/>
          <p:nvPr/>
        </p:nvSpPr>
        <p:spPr>
          <a:xfrm>
            <a:off x="4880880" y="5420880"/>
            <a:ext cx="98280" cy="98280"/>
          </a:xfrm>
          <a:prstGeom prst="roundRect">
            <a:avLst>
              <a:gd name="adj" fmla="val 45551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9"/>
          <p:cNvSpPr/>
          <p:nvPr/>
        </p:nvSpPr>
        <p:spPr>
          <a:xfrm>
            <a:off x="5168160" y="5320440"/>
            <a:ext cx="3121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Daxili Proseslər: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Effektivlik və keyfiyyət metrikləri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20"/>
          <p:cNvSpPr/>
          <p:nvPr/>
        </p:nvSpPr>
        <p:spPr>
          <a:xfrm>
            <a:off x="4880880" y="6375960"/>
            <a:ext cx="98280" cy="98280"/>
          </a:xfrm>
          <a:prstGeom prst="roundRect">
            <a:avLst>
              <a:gd name="adj" fmla="val 45551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21"/>
          <p:cNvSpPr/>
          <p:nvPr/>
        </p:nvSpPr>
        <p:spPr>
          <a:xfrm>
            <a:off x="5168160" y="6239520"/>
            <a:ext cx="3121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Öyrənmə: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İnnovasiya və kadr inkişafı hədəfləri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/>
          <p:nvPr/>
        </p:nvSpPr>
        <p:spPr>
          <a:xfrm>
            <a:off x="863640" y="1872360"/>
            <a:ext cx="6679440" cy="6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Məhdudiyyətlər və Risklər</a:t>
            </a:r>
            <a:endParaRPr b="0" lang="en-US" sz="3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863640" y="2917800"/>
            <a:ext cx="129006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GenAI güclü bir alət olsa da, onun strateji qərar prosesindəki məhdudiyyətlərini bilmək hər menecer üçün vacibdir. Bilinçli istifadə risklərini əhəmiyyətli dərəcədə azaldır.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2"/>
          <p:cNvSpPr/>
          <p:nvPr/>
        </p:nvSpPr>
        <p:spPr>
          <a:xfrm>
            <a:off x="863640" y="3808440"/>
            <a:ext cx="4154760" cy="2546640"/>
          </a:xfrm>
          <a:prstGeom prst="roundRect">
            <a:avLst>
              <a:gd name="adj" fmla="val 5740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3"/>
          <p:cNvSpPr/>
          <p:nvPr/>
        </p:nvSpPr>
        <p:spPr>
          <a:xfrm>
            <a:off x="833400" y="3808440"/>
            <a:ext cx="119880" cy="254664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4"/>
          <p:cNvSpPr/>
          <p:nvPr/>
        </p:nvSpPr>
        <p:spPr>
          <a:xfrm>
            <a:off x="1201680" y="4054680"/>
            <a:ext cx="2451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⚠️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Halüsinasiyalar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1201680" y="4491000"/>
            <a:ext cx="3570840" cy="16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GenAI modellər bəzən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uydurma faktlar, saxta statistika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və ya mövcud olmayan mənbələr yarada bilər. Hər kritik məlumat müstəqil mənbələrdə yoxlanılmalıdır.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6"/>
          <p:cNvSpPr/>
          <p:nvPr/>
        </p:nvSpPr>
        <p:spPr>
          <a:xfrm>
            <a:off x="5236560" y="3808440"/>
            <a:ext cx="4154760" cy="2546640"/>
          </a:xfrm>
          <a:prstGeom prst="roundRect">
            <a:avLst>
              <a:gd name="adj" fmla="val 5740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7"/>
          <p:cNvSpPr/>
          <p:nvPr/>
        </p:nvSpPr>
        <p:spPr>
          <a:xfrm>
            <a:off x="5205960" y="3808440"/>
            <a:ext cx="119880" cy="254664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8"/>
          <p:cNvSpPr/>
          <p:nvPr/>
        </p:nvSpPr>
        <p:spPr>
          <a:xfrm>
            <a:off x="5574240" y="4018680"/>
            <a:ext cx="2451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🏢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Kontekst Kəsiyi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9"/>
          <p:cNvSpPr/>
          <p:nvPr/>
        </p:nvSpPr>
        <p:spPr>
          <a:xfrm>
            <a:off x="5574240" y="4347000"/>
            <a:ext cx="3570840" cy="12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Model şirkətinizin daxili mədəniyyəti, qeyri-rəsmi gücü, tarixçəsi və xüsusi bazar dinamikasını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dərindən anlamır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. Nəticələr ümumi xarakter daşıya bilər.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10"/>
          <p:cNvSpPr/>
          <p:nvPr/>
        </p:nvSpPr>
        <p:spPr>
          <a:xfrm>
            <a:off x="9609480" y="3808440"/>
            <a:ext cx="4154760" cy="2546640"/>
          </a:xfrm>
          <a:prstGeom prst="roundRect">
            <a:avLst>
              <a:gd name="adj" fmla="val 5740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11"/>
          <p:cNvSpPr/>
          <p:nvPr/>
        </p:nvSpPr>
        <p:spPr>
          <a:xfrm>
            <a:off x="9578880" y="3808440"/>
            <a:ext cx="119880" cy="254664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2"/>
          <p:cNvSpPr/>
          <p:nvPr/>
        </p:nvSpPr>
        <p:spPr>
          <a:xfrm>
            <a:off x="9947160" y="4054680"/>
            <a:ext cx="2451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🪞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Səthilik Riski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13"/>
          <p:cNvSpPr/>
          <p:nvPr/>
        </p:nvSpPr>
        <p:spPr>
          <a:xfrm>
            <a:off x="9947160" y="4491000"/>
            <a:ext cx="3570840" cy="16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İnsan incəliyi, intuisiya və uzunmüddətli təcrübə olmadan GenAI çıxışları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yüzeysel qala bilər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xüsusilə mürəkkəb, çoxölçülü strateji məsələlərdə.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4240" cy="8227440"/>
          </a:xfrm>
          <a:prstGeom prst="rect">
            <a:avLst/>
          </a:prstGeom>
          <a:ln w="0">
            <a:noFill/>
          </a:ln>
        </p:spPr>
      </p:pic>
      <p:sp>
        <p:nvSpPr>
          <p:cNvPr id="179" name="Text 0"/>
          <p:cNvSpPr/>
          <p:nvPr/>
        </p:nvSpPr>
        <p:spPr>
          <a:xfrm>
            <a:off x="863640" y="711000"/>
            <a:ext cx="5055840" cy="6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Ən Yaxşı Təcrübələr</a:t>
            </a:r>
            <a:endParaRPr b="0" lang="en-US" sz="3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1"/>
          <p:cNvSpPr/>
          <p:nvPr/>
        </p:nvSpPr>
        <p:spPr>
          <a:xfrm>
            <a:off x="863640" y="1648440"/>
            <a:ext cx="74142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GenAI-dan maksimum strateji dəyər əldə etmək üçün aşağıdakı prinsiplər rəhbərlik kimi işlənib hazırlanmışdır: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2"/>
          <p:cNvSpPr/>
          <p:nvPr/>
        </p:nvSpPr>
        <p:spPr>
          <a:xfrm>
            <a:off x="1079640" y="2863080"/>
            <a:ext cx="213840" cy="1189800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3"/>
          <p:cNvSpPr/>
          <p:nvPr/>
        </p:nvSpPr>
        <p:spPr>
          <a:xfrm>
            <a:off x="863640" y="2721240"/>
            <a:ext cx="645480" cy="645480"/>
          </a:xfrm>
          <a:prstGeom prst="roundRect">
            <a:avLst>
              <a:gd name="adj" fmla="val 70575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3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25640" y="2883240"/>
            <a:ext cx="321840" cy="321840"/>
          </a:xfrm>
          <a:prstGeom prst="rect">
            <a:avLst/>
          </a:prstGeom>
          <a:ln w="0">
            <a:noFill/>
          </a:ln>
        </p:spPr>
      </p:pic>
      <p:sp>
        <p:nvSpPr>
          <p:cNvPr id="184" name="Text 4"/>
          <p:cNvSpPr/>
          <p:nvPr/>
        </p:nvSpPr>
        <p:spPr>
          <a:xfrm>
            <a:off x="1727640" y="2755080"/>
            <a:ext cx="31482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Həmişə Faktları Yoxlayın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5"/>
          <p:cNvSpPr/>
          <p:nvPr/>
        </p:nvSpPr>
        <p:spPr>
          <a:xfrm>
            <a:off x="1727640" y="3191400"/>
            <a:ext cx="65505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GenAI çıxışını heç vaxt yeganə mənbə kimi qəbul etməyin. Statistika, tarix və istinadları etibarlı mənbələrdən təsdiqləyin.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6"/>
          <p:cNvSpPr/>
          <p:nvPr/>
        </p:nvSpPr>
        <p:spPr>
          <a:xfrm>
            <a:off x="1403640" y="4594680"/>
            <a:ext cx="213840" cy="1189800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7"/>
          <p:cNvSpPr/>
          <p:nvPr/>
        </p:nvSpPr>
        <p:spPr>
          <a:xfrm>
            <a:off x="1187640" y="4453200"/>
            <a:ext cx="645480" cy="645480"/>
          </a:xfrm>
          <a:prstGeom prst="roundRect">
            <a:avLst>
              <a:gd name="adj" fmla="val 70575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8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349640" y="4614840"/>
            <a:ext cx="321840" cy="321840"/>
          </a:xfrm>
          <a:prstGeom prst="rect">
            <a:avLst/>
          </a:prstGeom>
          <a:ln w="0">
            <a:noFill/>
          </a:ln>
        </p:spPr>
      </p:pic>
      <p:sp>
        <p:nvSpPr>
          <p:cNvPr id="189" name="Text 8"/>
          <p:cNvSpPr/>
          <p:nvPr/>
        </p:nvSpPr>
        <p:spPr>
          <a:xfrm>
            <a:off x="2051280" y="4486680"/>
            <a:ext cx="4915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Təkrarlanan Yanaşmadan İstifadə Edin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9"/>
          <p:cNvSpPr/>
          <p:nvPr/>
        </p:nvSpPr>
        <p:spPr>
          <a:xfrm>
            <a:off x="2051280" y="4923000"/>
            <a:ext cx="62265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Sorğu → Nəticəni Qiymətləndir → Düzəliş et → Dəqiqləşdir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dövrü ilə hər addımda keyfiyyəti artırın.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10"/>
          <p:cNvSpPr/>
          <p:nvPr/>
        </p:nvSpPr>
        <p:spPr>
          <a:xfrm>
            <a:off x="1727640" y="6326640"/>
            <a:ext cx="213840" cy="1189800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11"/>
          <p:cNvSpPr/>
          <p:nvPr/>
        </p:nvSpPr>
        <p:spPr>
          <a:xfrm>
            <a:off x="1511640" y="6184800"/>
            <a:ext cx="645480" cy="645480"/>
          </a:xfrm>
          <a:prstGeom prst="roundRect">
            <a:avLst>
              <a:gd name="adj" fmla="val 70575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3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673640" y="6346800"/>
            <a:ext cx="321840" cy="321840"/>
          </a:xfrm>
          <a:prstGeom prst="rect">
            <a:avLst/>
          </a:prstGeom>
          <a:ln w="0">
            <a:noFill/>
          </a:ln>
        </p:spPr>
      </p:pic>
      <p:sp>
        <p:nvSpPr>
          <p:cNvPr id="194" name="Text 12"/>
          <p:cNvSpPr/>
          <p:nvPr/>
        </p:nvSpPr>
        <p:spPr>
          <a:xfrm>
            <a:off x="2375280" y="6218640"/>
            <a:ext cx="33681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Ekspert Rəyi ilə Birləşdirin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13"/>
          <p:cNvSpPr/>
          <p:nvPr/>
        </p:nvSpPr>
        <p:spPr>
          <a:xfrm>
            <a:off x="2375280" y="6654600"/>
            <a:ext cx="59029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GenAI çıxışlarını sahə mütəxəssislərinin, sektoral ekspertlərin və təcrübəli menecer dəyərləndirməsi ilə gücləndin.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 0"/>
          <p:cNvSpPr/>
          <p:nvPr/>
        </p:nvSpPr>
        <p:spPr>
          <a:xfrm>
            <a:off x="807120" y="655560"/>
            <a:ext cx="458352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501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Praktik Tapşırıq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1"/>
          <p:cNvSpPr/>
          <p:nvPr/>
        </p:nvSpPr>
        <p:spPr>
          <a:xfrm>
            <a:off x="807120" y="1605960"/>
            <a:ext cx="13014360" cy="1100160"/>
          </a:xfrm>
          <a:prstGeom prst="roundRect">
            <a:avLst>
              <a:gd name="adj" fmla="val 2746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8" name="Image 0" descr="preencoded.png"/>
          <p:cNvPicPr/>
          <p:nvPr/>
        </p:nvPicPr>
        <p:blipFill>
          <a:blip r:embed="rId1"/>
          <a:stretch/>
        </p:blipFill>
        <p:spPr>
          <a:xfrm>
            <a:off x="1008720" y="1887120"/>
            <a:ext cx="249840" cy="199440"/>
          </a:xfrm>
          <a:prstGeom prst="rect">
            <a:avLst/>
          </a:prstGeom>
          <a:ln w="0">
            <a:noFill/>
          </a:ln>
        </p:spPr>
      </p:pic>
      <p:sp>
        <p:nvSpPr>
          <p:cNvPr id="199" name="Text 2"/>
          <p:cNvSpPr/>
          <p:nvPr/>
        </p:nvSpPr>
        <p:spPr>
          <a:xfrm>
            <a:off x="1462680" y="1844640"/>
            <a:ext cx="12156840" cy="59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000000"/>
                </a:solidFill>
                <a:latin typeface="Source Sans 3"/>
                <a:ea typeface="Source Sans 3"/>
              </a:rPr>
              <a:t>🎯</a:t>
            </a:r>
            <a:r>
              <a:rPr b="0" lang="en-US" sz="15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 </a:t>
            </a:r>
            <a:r>
              <a:rPr b="1" lang="en-US" sz="15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Tapşırıq:</a:t>
            </a:r>
            <a:r>
              <a:rPr b="0" lang="en-US" sz="15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 </a:t>
            </a:r>
            <a:r>
              <a:rPr b="0" i="1" lang="en-US" sz="15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"Təşkilatınızın və ya layihənizin SWOT (</a:t>
            </a:r>
            <a:r>
              <a:rPr b="0" lang="en-US" sz="15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 analysis are strengths, weaknesses, opportunities, and threats</a:t>
            </a:r>
            <a:r>
              <a:rPr b="0" i="1" lang="en-US" sz="15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) təhlilini yaratmaq üçün GenAI-a sorğu göndərin. Onu işə salın və nəticəni təhlil edin."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3"/>
          <p:cNvSpPr/>
          <p:nvPr/>
        </p:nvSpPr>
        <p:spPr>
          <a:xfrm>
            <a:off x="807120" y="2919960"/>
            <a:ext cx="6411600" cy="603000"/>
          </a:xfrm>
          <a:prstGeom prst="roundRect">
            <a:avLst>
              <a:gd name="adj" fmla="val 48001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4"/>
          <p:cNvSpPr/>
          <p:nvPr/>
        </p:nvSpPr>
        <p:spPr>
          <a:xfrm>
            <a:off x="3862800" y="3033360"/>
            <a:ext cx="30060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1" lang="en-US" sz="2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1</a:t>
            </a:r>
            <a:endParaRPr b="0" lang="en-US" sz="2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5"/>
          <p:cNvSpPr/>
          <p:nvPr/>
        </p:nvSpPr>
        <p:spPr>
          <a:xfrm>
            <a:off x="1008720" y="3713760"/>
            <a:ext cx="229068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Sorğu Hazırlayın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6"/>
          <p:cNvSpPr/>
          <p:nvPr/>
        </p:nvSpPr>
        <p:spPr>
          <a:xfrm>
            <a:off x="1008720" y="4113360"/>
            <a:ext cx="600840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Şirkətinizin sektoru, ölçüsü, coğrafiyası və hədəf ili daxil olmaqla dəqiq kontekst verin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7"/>
          <p:cNvSpPr/>
          <p:nvPr/>
        </p:nvSpPr>
        <p:spPr>
          <a:xfrm>
            <a:off x="7409520" y="2919960"/>
            <a:ext cx="6411960" cy="603000"/>
          </a:xfrm>
          <a:prstGeom prst="roundRect">
            <a:avLst>
              <a:gd name="adj" fmla="val 48001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8"/>
          <p:cNvSpPr/>
          <p:nvPr/>
        </p:nvSpPr>
        <p:spPr>
          <a:xfrm>
            <a:off x="10464840" y="3033360"/>
            <a:ext cx="30060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1" lang="en-US" sz="2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2</a:t>
            </a:r>
            <a:endParaRPr b="0" lang="en-US" sz="2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9"/>
          <p:cNvSpPr/>
          <p:nvPr/>
        </p:nvSpPr>
        <p:spPr>
          <a:xfrm>
            <a:off x="7611120" y="3713760"/>
            <a:ext cx="229068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Nəticəni Çalıştırın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10"/>
          <p:cNvSpPr/>
          <p:nvPr/>
        </p:nvSpPr>
        <p:spPr>
          <a:xfrm>
            <a:off x="7611120" y="4113360"/>
            <a:ext cx="600840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ChatGPT, Claude və ya Gemini-dən birini seçərək sorğunuzu göndərin və cavabı oxuyun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11"/>
          <p:cNvSpPr/>
          <p:nvPr/>
        </p:nvSpPr>
        <p:spPr>
          <a:xfrm>
            <a:off x="807120" y="5088960"/>
            <a:ext cx="6411600" cy="603000"/>
          </a:xfrm>
          <a:prstGeom prst="roundRect">
            <a:avLst>
              <a:gd name="adj" fmla="val 48001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12"/>
          <p:cNvSpPr/>
          <p:nvPr/>
        </p:nvSpPr>
        <p:spPr>
          <a:xfrm>
            <a:off x="3862800" y="5202360"/>
            <a:ext cx="30060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1" lang="en-US" sz="2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3</a:t>
            </a:r>
            <a:endParaRPr b="0" lang="en-US" sz="2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13"/>
          <p:cNvSpPr/>
          <p:nvPr/>
        </p:nvSpPr>
        <p:spPr>
          <a:xfrm>
            <a:off x="1008720" y="5882760"/>
            <a:ext cx="229068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Kritik Analiz Edin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14"/>
          <p:cNvSpPr/>
          <p:nvPr/>
        </p:nvSpPr>
        <p:spPr>
          <a:xfrm>
            <a:off x="1008720" y="6282360"/>
            <a:ext cx="600840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Hansı məqamlar realdır? Hansıları yüzeyseldir? Nə əlavə etməliyik? Qrupla müzakirə edin.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Shape 15"/>
          <p:cNvSpPr/>
          <p:nvPr/>
        </p:nvSpPr>
        <p:spPr>
          <a:xfrm>
            <a:off x="7409520" y="5088960"/>
            <a:ext cx="6411960" cy="603000"/>
          </a:xfrm>
          <a:prstGeom prst="roundRect">
            <a:avLst>
              <a:gd name="adj" fmla="val 48001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16"/>
          <p:cNvSpPr/>
          <p:nvPr/>
        </p:nvSpPr>
        <p:spPr>
          <a:xfrm>
            <a:off x="10464840" y="5202360"/>
            <a:ext cx="30060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1" lang="en-US" sz="2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4</a:t>
            </a:r>
            <a:endParaRPr b="0" lang="en-US" sz="2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17"/>
          <p:cNvSpPr/>
          <p:nvPr/>
        </p:nvSpPr>
        <p:spPr>
          <a:xfrm>
            <a:off x="7611120" y="5882760"/>
            <a:ext cx="229068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Təkmilləşdirin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18"/>
          <p:cNvSpPr/>
          <p:nvPr/>
        </p:nvSpPr>
        <p:spPr>
          <a:xfrm>
            <a:off x="7611120" y="6282360"/>
            <a:ext cx="600840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Yenidən sorğu göndərərək daha dərin nəticə alın — iterasiya prosesini yaşayın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19"/>
          <p:cNvSpPr/>
          <p:nvPr/>
        </p:nvSpPr>
        <p:spPr>
          <a:xfrm>
            <a:off x="807120" y="7281360"/>
            <a:ext cx="1301436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Bu tapşırıq GenAI-ın strateji planlaşdırmadakı real potensialını və məhdudiyyətlərini </a:t>
            </a: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əyani şəkildə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hiss etməyə imkan verir.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"/>
          <p:cNvSpPr/>
          <p:nvPr/>
        </p:nvSpPr>
        <p:spPr>
          <a:xfrm>
            <a:off x="5029200" y="84600"/>
            <a:ext cx="314928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9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Test Tapşırığı L7</a:t>
            </a:r>
            <a:endParaRPr b="0" lang="en-US" sz="2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8" name="" descr=""/>
          <p:cNvPicPr/>
          <p:nvPr/>
        </p:nvPicPr>
        <p:blipFill>
          <a:blip r:embed="rId1"/>
          <a:stretch/>
        </p:blipFill>
        <p:spPr>
          <a:xfrm>
            <a:off x="2971800" y="685800"/>
            <a:ext cx="7313760" cy="7313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2026-03-27T06:10:29Z</dcterms:created>
  <dc:creator/>
  <dc:description/>
  <dc:language>en-US</dc:language>
  <cp:lastModifiedBy/>
  <cp:lastPrinted>2026-03-29T16:25:00Z</cp:lastPrinted>
  <dcterms:modified xsi:type="dcterms:W3CDTF">2026-04-05T19:38:16Z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