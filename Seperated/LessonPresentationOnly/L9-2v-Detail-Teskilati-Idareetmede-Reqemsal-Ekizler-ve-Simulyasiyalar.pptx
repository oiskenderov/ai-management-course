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notesMasterIdLst>
    <p:notesMasterId r:id="rId25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C639D11-D76D-49ED-8D98-368D510FF9A1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9E4066B-0816-46B6-9039-4CCCA116BDC4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2DF4E50-36F0-40A0-81B5-C34D10193B1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1035D3-2F13-4C4D-BBBC-8B87BE2C9A7A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EF7E8E1-DA18-4E35-97C9-8EE1F33E76DA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EEF3C7-9F0C-4C39-8CA4-02C6223169BB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C3A9B1A-E9DC-4E88-8405-188605EC393C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C37EFE5-B979-4C03-A7E3-AD1A296CE765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04E18CF-7C17-4693-8852-BB4D91A93B77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739B59E-0C9A-4017-BFD8-5CA37EAD4D9E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F665C04-0473-467C-8E69-C36023B869F3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E6E06AD-490F-4461-8646-5E8AF9C62CD9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preencoded.png"/>
          <p:cNvPicPr/>
          <p:nvPr/>
        </p:nvPicPr>
        <p:blipFill>
          <a:blip r:embed="rId3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51" name="Text 0"/>
          <p:cNvSpPr/>
          <p:nvPr/>
        </p:nvSpPr>
        <p:spPr>
          <a:xfrm>
            <a:off x="863640" y="2547360"/>
            <a:ext cx="7415640" cy="183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4799"/>
              </a:lnSpc>
              <a:tabLst>
                <a:tab pos="0" algn="l"/>
              </a:tabLst>
            </a:pPr>
            <a:r>
              <a:rPr lang="en-US" sz="38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Təşkilati İdarəetmədə Rəqəmsal Əkizlər və Simulyasiyalar</a:t>
            </a:r>
            <a:endParaRPr lang="en-US" sz="3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863640" y="4711680"/>
            <a:ext cx="741564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Rəqəmsal Transformasiya və İdarəetmə Kursu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863640" y="5351040"/>
            <a:ext cx="964800" cy="330840"/>
          </a:xfrm>
          <a:prstGeom prst="roundRect">
            <a:avLst>
              <a:gd name="adj" fmla="val 6417"/>
            </a:avLst>
          </a:prstGeom>
          <a:noFill/>
          <a:ln w="762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928800" y="5351040"/>
            <a:ext cx="827640" cy="25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001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FFFFFF"/>
                </a:solidFill>
                <a:latin typeface="Source Sans 3"/>
                <a:ea typeface="Source Sans 3"/>
              </a:rPr>
              <a:t>MUALLIM: 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872720" y="5355000"/>
            <a:ext cx="186912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50" b="0" strike="noStrike" spc="-1">
                <a:solidFill>
                  <a:srgbClr val="FFFFFF"/>
                </a:solidFill>
                <a:latin typeface="Source Sans 3"/>
                <a:ea typeface="Source Sans 3"/>
              </a:rPr>
              <a:t>ORXAN ISKANDAROV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863640" y="1137960"/>
            <a:ext cx="6845760" cy="61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799"/>
              </a:lnSpc>
              <a:tabLst>
                <a:tab pos="0" algn="l"/>
              </a:tabLst>
            </a:pPr>
            <a:r>
              <a:rPr lang="en-US" sz="38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Bu Gün Nəyi Öyrənəcəyik?</a:t>
            </a:r>
            <a:endParaRPr lang="en-US" sz="3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863640" y="2183400"/>
            <a:ext cx="12902040" cy="64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Bu sessiyanın sonunda siz rəqəmsal əkizlərin mahiyyətini, onların idarəetmə qərarlarına necə dəstək verdiyini və real biznes problemlərinin risksiz mühitdə necə sınaqdan keçirilə biləcəyini anlaya biləcəksiniz.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863640" y="3074040"/>
            <a:ext cx="6342840" cy="1900080"/>
          </a:xfrm>
          <a:prstGeom prst="roundRect">
            <a:avLst>
              <a:gd name="adj" fmla="val 1704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894240" y="3104640"/>
            <a:ext cx="6281640" cy="646920"/>
          </a:xfrm>
          <a:prstGeom prst="rect">
            <a:avLst/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3873600" y="3225960"/>
            <a:ext cx="323280" cy="40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25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1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1110240" y="396828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Anlayış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1110240" y="4404600"/>
            <a:ext cx="585000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Rəqəmsal əkizin nə olduğunu və necə işlədiyini başa düşmək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7423200" y="3074040"/>
            <a:ext cx="6342840" cy="1900080"/>
          </a:xfrm>
          <a:prstGeom prst="roundRect">
            <a:avLst>
              <a:gd name="adj" fmla="val 1704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7453440" y="3104640"/>
            <a:ext cx="6282000" cy="646920"/>
          </a:xfrm>
          <a:prstGeom prst="rect">
            <a:avLst/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10432800" y="3225960"/>
            <a:ext cx="323280" cy="40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25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2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7669440" y="396828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Tətbiq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7669440" y="4404600"/>
            <a:ext cx="585000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Təşkilati idarəetmədə konkret istifadə hallarını araşdırmaq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2"/>
          <p:cNvSpPr/>
          <p:nvPr/>
        </p:nvSpPr>
        <p:spPr>
          <a:xfrm>
            <a:off x="863640" y="5190840"/>
            <a:ext cx="6342840" cy="1900080"/>
          </a:xfrm>
          <a:prstGeom prst="roundRect">
            <a:avLst>
              <a:gd name="adj" fmla="val 1704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13"/>
          <p:cNvSpPr/>
          <p:nvPr/>
        </p:nvSpPr>
        <p:spPr>
          <a:xfrm>
            <a:off x="894240" y="5221080"/>
            <a:ext cx="6281640" cy="646920"/>
          </a:xfrm>
          <a:prstGeom prst="rect">
            <a:avLst/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4"/>
          <p:cNvSpPr/>
          <p:nvPr/>
        </p:nvSpPr>
        <p:spPr>
          <a:xfrm>
            <a:off x="3873600" y="5342760"/>
            <a:ext cx="323280" cy="40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25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3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1110240" y="608508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Alətlər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6"/>
          <p:cNvSpPr/>
          <p:nvPr/>
        </p:nvSpPr>
        <p:spPr>
          <a:xfrm>
            <a:off x="1110240" y="6521040"/>
            <a:ext cx="585000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Menecerlər üçün əlçatan platforma və proqramları tanımaq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7"/>
          <p:cNvSpPr/>
          <p:nvPr/>
        </p:nvSpPr>
        <p:spPr>
          <a:xfrm>
            <a:off x="7423200" y="5190840"/>
            <a:ext cx="6342840" cy="1900080"/>
          </a:xfrm>
          <a:prstGeom prst="roundRect">
            <a:avLst>
              <a:gd name="adj" fmla="val 1704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18"/>
          <p:cNvSpPr/>
          <p:nvPr/>
        </p:nvSpPr>
        <p:spPr>
          <a:xfrm>
            <a:off x="7453440" y="5221080"/>
            <a:ext cx="6282000" cy="646920"/>
          </a:xfrm>
          <a:prstGeom prst="rect">
            <a:avLst/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9"/>
          <p:cNvSpPr/>
          <p:nvPr/>
        </p:nvSpPr>
        <p:spPr>
          <a:xfrm>
            <a:off x="10432800" y="5342760"/>
            <a:ext cx="323280" cy="40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25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4</a:t>
            </a:r>
            <a:endParaRPr lang="en-US" sz="2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20"/>
          <p:cNvSpPr/>
          <p:nvPr/>
        </p:nvSpPr>
        <p:spPr>
          <a:xfrm>
            <a:off x="7669440" y="608508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Praktika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1"/>
          <p:cNvSpPr/>
          <p:nvPr/>
        </p:nvSpPr>
        <p:spPr>
          <a:xfrm>
            <a:off x="7669440" y="6521040"/>
            <a:ext cx="585000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Öz təşkilatınız üçün rəqəmsal əkiz konsepsiyası hazırlamaq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79" name="Text 0"/>
          <p:cNvSpPr/>
          <p:nvPr/>
        </p:nvSpPr>
        <p:spPr>
          <a:xfrm>
            <a:off x="6242400" y="1165320"/>
            <a:ext cx="4951800" cy="53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201"/>
              </a:lnSpc>
              <a:tabLst>
                <a:tab pos="0" algn="l"/>
              </a:tabLst>
            </a:pPr>
            <a:r>
              <a:rPr lang="en-US" sz="33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Rəqəmsal Əkiz Nədir?</a:t>
            </a:r>
            <a:endParaRPr lang="en-US" sz="3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6242400" y="2099160"/>
            <a:ext cx="3989160" cy="15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049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Rəqəmsal əkiz — fiziki bir obyektin, prosesin və ya sistemin </a:t>
            </a:r>
            <a:r>
              <a:rPr lang="en-US" sz="1450" b="1" strike="noStrike" spc="-1">
                <a:solidFill>
                  <a:srgbClr val="E2E6E9"/>
                </a:solidFill>
                <a:latin typeface="Source Sans 3"/>
                <a:ea typeface="Source Sans 3"/>
              </a:rPr>
              <a:t>real vaxt rejimində məlumatlara əsasən yenilənən dəqiq virtual modelidir</a:t>
            </a:r>
            <a:r>
              <a:rPr lang="en-US" sz="14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. Bu model yalnız statik bir şəkil deyil — sensörlərdən, sistemlərdən və xarici mənbələrdən axan canlı məlumatlarla qidalanır.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6242400" y="3915360"/>
            <a:ext cx="3989160" cy="15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049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Konsepsiya ilk dəfə </a:t>
            </a:r>
            <a:r>
              <a:rPr lang="en-US" sz="1450" b="1" strike="noStrike" spc="-1">
                <a:solidFill>
                  <a:srgbClr val="E2E6E9"/>
                </a:solidFill>
                <a:latin typeface="Source Sans 3"/>
                <a:ea typeface="Source Sans 3"/>
              </a:rPr>
              <a:t>Siemens</a:t>
            </a:r>
            <a:r>
              <a:rPr lang="en-US" sz="14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 və </a:t>
            </a:r>
            <a:r>
              <a:rPr lang="en-US" sz="1450" b="1" strike="noStrike" spc="-1">
                <a:solidFill>
                  <a:srgbClr val="E2E6E9"/>
                </a:solidFill>
                <a:latin typeface="Source Sans 3"/>
                <a:ea typeface="Source Sans 3"/>
              </a:rPr>
              <a:t>GE</a:t>
            </a:r>
            <a:r>
              <a:rPr lang="en-US" sz="14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 kimi sənaye nəhənglərinin istehsal avadanlıqlarını virtual mühitdə izləmək və proqnozlaşdırmaq üçün tətbiq etdiyi mühəndislik sahəsindən qaynaqlanmışdır. Bu gün isə idarəetmədən sağlamlığa qədər hər sahədə istifadə olunur.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6242400" y="5624640"/>
            <a:ext cx="3989160" cy="1252800"/>
          </a:xfrm>
          <a:prstGeom prst="roundRect">
            <a:avLst>
              <a:gd name="adj" fmla="val 2262"/>
            </a:avLst>
          </a:prstGeom>
          <a:solidFill>
            <a:srgbClr val="26262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Image 1" descr="preencoded.png"/>
          <p:cNvPicPr/>
          <p:nvPr/>
        </p:nvPicPr>
        <p:blipFill>
          <a:blip r:embed="rId4"/>
          <a:stretch/>
        </p:blipFill>
        <p:spPr>
          <a:xfrm>
            <a:off x="6431400" y="5878080"/>
            <a:ext cx="235440" cy="188280"/>
          </a:xfrm>
          <a:prstGeom prst="rect">
            <a:avLst/>
          </a:prstGeom>
          <a:ln w="0">
            <a:noFill/>
          </a:ln>
        </p:spPr>
      </p:pic>
      <p:sp>
        <p:nvSpPr>
          <p:cNvPr id="84" name="Text 4"/>
          <p:cNvSpPr/>
          <p:nvPr/>
        </p:nvSpPr>
        <p:spPr>
          <a:xfrm>
            <a:off x="6856560" y="5837040"/>
            <a:ext cx="3186360" cy="7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049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FFFFFF"/>
                </a:solidFill>
                <a:latin typeface="Source Sans 3"/>
                <a:ea typeface="Source Sans 3"/>
              </a:rPr>
              <a:t>Əsas prinsip:</a:t>
            </a:r>
            <a:r>
              <a:rPr lang="en-US" sz="1450" b="0" strike="noStrike" spc="-1">
                <a:solidFill>
                  <a:srgbClr val="FFFFFF"/>
                </a:solidFill>
                <a:latin typeface="Source Sans 3"/>
                <a:ea typeface="Source Sans 3"/>
              </a:rPr>
              <a:t> Fiziki dünyada baş verən hər şeyin virtual mühitdə dəqiq əksi mövcuddur.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5"/>
          <p:cNvSpPr/>
          <p:nvPr/>
        </p:nvSpPr>
        <p:spPr>
          <a:xfrm>
            <a:off x="10701000" y="2136600"/>
            <a:ext cx="3179880" cy="1342800"/>
          </a:xfrm>
          <a:prstGeom prst="roundRect">
            <a:avLst>
              <a:gd name="adj" fmla="val 2110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10890000" y="2325600"/>
            <a:ext cx="214704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1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Fiziki Obyekt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7"/>
          <p:cNvSpPr/>
          <p:nvPr/>
        </p:nvSpPr>
        <p:spPr>
          <a:xfrm>
            <a:off x="10890000" y="2759400"/>
            <a:ext cx="2802240" cy="53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049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Zavod, proses, müştəri, təchizat zənciri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8"/>
          <p:cNvSpPr/>
          <p:nvPr/>
        </p:nvSpPr>
        <p:spPr>
          <a:xfrm>
            <a:off x="10701000" y="3645360"/>
            <a:ext cx="3179880" cy="1076760"/>
          </a:xfrm>
          <a:prstGeom prst="roundRect">
            <a:avLst>
              <a:gd name="adj" fmla="val 2631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10890000" y="3834360"/>
            <a:ext cx="214704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1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Virtual Model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0"/>
          <p:cNvSpPr/>
          <p:nvPr/>
        </p:nvSpPr>
        <p:spPr>
          <a:xfrm>
            <a:off x="10890000" y="4268160"/>
            <a:ext cx="2802240" cy="26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049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Rəqəmsal surət, data ilə qidalanır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1"/>
          <p:cNvSpPr/>
          <p:nvPr/>
        </p:nvSpPr>
        <p:spPr>
          <a:xfrm>
            <a:off x="10701000" y="4888440"/>
            <a:ext cx="3179880" cy="1342800"/>
          </a:xfrm>
          <a:prstGeom prst="roundRect">
            <a:avLst>
              <a:gd name="adj" fmla="val 2110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2"/>
          <p:cNvSpPr/>
          <p:nvPr/>
        </p:nvSpPr>
        <p:spPr>
          <a:xfrm>
            <a:off x="10890000" y="5077440"/>
            <a:ext cx="2147040" cy="26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1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Simulyasiya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3"/>
          <p:cNvSpPr/>
          <p:nvPr/>
        </p:nvSpPr>
        <p:spPr>
          <a:xfrm>
            <a:off x="10890000" y="5511240"/>
            <a:ext cx="2802240" cy="53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049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Ssenarilərin risksiz sınaqdan keçirilməsi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863640" y="601200"/>
            <a:ext cx="10255680" cy="61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799"/>
              </a:lnSpc>
              <a:tabLst>
                <a:tab pos="0" algn="l"/>
              </a:tabLst>
            </a:pPr>
            <a:r>
              <a:rPr lang="en-US" sz="38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Rəqəmsal Əkizlərin Yetkinlik Səviyyələri</a:t>
            </a:r>
            <a:endParaRPr lang="en-US" sz="3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863640" y="1646280"/>
            <a:ext cx="12902040" cy="64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Bütün rəqəmsal əkizlər eyni deyil. Onlar sadə statik modeldən süni intellektlə idarə olunan proqnozlaşdırıcı sistemlərə qədər dörd əsas yetkinlik səviyyəsinə ayrılır.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3283200" y="2537280"/>
            <a:ext cx="1612080" cy="1191240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3937680" y="2943360"/>
            <a:ext cx="302760" cy="37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3549"/>
              </a:lnSpc>
              <a:tabLst>
                <a:tab pos="0" algn="l"/>
              </a:tabLst>
            </a:pPr>
            <a:r>
              <a:rPr lang="en-US" sz="23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1</a:t>
            </a:r>
            <a:endParaRPr lang="en-US" sz="2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5111640" y="2752920"/>
            <a:ext cx="5965200" cy="30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Səviyyə 4: Proqnozlaşdırma + Optimallaşdırma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5111640" y="3189240"/>
            <a:ext cx="663948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Süni İntellekt ilə gələcək ssenarilərin simulyasiyası və avtomatik tövsiyələr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5003640" y="3713760"/>
            <a:ext cx="8654400" cy="14400"/>
          </a:xfrm>
          <a:prstGeom prst="roundRect">
            <a:avLst>
              <a:gd name="adj" fmla="val 212576"/>
            </a:avLst>
          </a:prstGeom>
          <a:solidFill>
            <a:srgbClr val="494A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560" rIns="90000" bIns="-34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2476440" y="3836880"/>
            <a:ext cx="3224880" cy="1191240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3937680" y="4243320"/>
            <a:ext cx="302760" cy="37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3549"/>
              </a:lnSpc>
              <a:tabLst>
                <a:tab pos="0" algn="l"/>
              </a:tabLst>
            </a:pPr>
            <a:r>
              <a:rPr lang="en-US" sz="23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2</a:t>
            </a:r>
            <a:endParaRPr lang="en-US" sz="2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5918040" y="4052880"/>
            <a:ext cx="3452400" cy="30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Səviyyə 3: Real Vaxt Modeli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0"/>
          <p:cNvSpPr/>
          <p:nvPr/>
        </p:nvSpPr>
        <p:spPr>
          <a:xfrm>
            <a:off x="5918040" y="4489200"/>
            <a:ext cx="618192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Canlı sensor və sistem məlumatları ilə davamlı yenilənən aktiv model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1"/>
          <p:cNvSpPr/>
          <p:nvPr/>
        </p:nvSpPr>
        <p:spPr>
          <a:xfrm>
            <a:off x="5810040" y="5013720"/>
            <a:ext cx="7848000" cy="14400"/>
          </a:xfrm>
          <a:prstGeom prst="roundRect">
            <a:avLst>
              <a:gd name="adj" fmla="val 212576"/>
            </a:avLst>
          </a:prstGeom>
          <a:solidFill>
            <a:srgbClr val="494A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560" rIns="90000" bIns="-34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12"/>
          <p:cNvSpPr/>
          <p:nvPr/>
        </p:nvSpPr>
        <p:spPr>
          <a:xfrm>
            <a:off x="1670040" y="5136840"/>
            <a:ext cx="4837680" cy="1191240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3"/>
          <p:cNvSpPr/>
          <p:nvPr/>
        </p:nvSpPr>
        <p:spPr>
          <a:xfrm>
            <a:off x="3937680" y="5542920"/>
            <a:ext cx="302760" cy="37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3549"/>
              </a:lnSpc>
              <a:tabLst>
                <a:tab pos="0" algn="l"/>
              </a:tabLst>
            </a:pPr>
            <a:r>
              <a:rPr lang="en-US" sz="23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3</a:t>
            </a:r>
            <a:endParaRPr lang="en-US" sz="2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4"/>
          <p:cNvSpPr/>
          <p:nvPr/>
        </p:nvSpPr>
        <p:spPr>
          <a:xfrm>
            <a:off x="6724440" y="5352840"/>
            <a:ext cx="4237200" cy="30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Səviyyə 2: Tarixi Məlumatlı Model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6724440" y="5788800"/>
            <a:ext cx="637308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Keçmiş məlumatlarla zənginləşdirilmiş, analitik imkanlara malik model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16"/>
          <p:cNvSpPr/>
          <p:nvPr/>
        </p:nvSpPr>
        <p:spPr>
          <a:xfrm>
            <a:off x="6616440" y="6313680"/>
            <a:ext cx="7041600" cy="14400"/>
          </a:xfrm>
          <a:prstGeom prst="roundRect">
            <a:avLst>
              <a:gd name="adj" fmla="val 212576"/>
            </a:avLst>
          </a:prstGeom>
          <a:solidFill>
            <a:srgbClr val="494A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560" rIns="90000" bIns="-345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7"/>
          <p:cNvSpPr/>
          <p:nvPr/>
        </p:nvSpPr>
        <p:spPr>
          <a:xfrm>
            <a:off x="863640" y="6436800"/>
            <a:ext cx="6450840" cy="1191240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8"/>
          <p:cNvSpPr/>
          <p:nvPr/>
        </p:nvSpPr>
        <p:spPr>
          <a:xfrm>
            <a:off x="3937680" y="6842880"/>
            <a:ext cx="302760" cy="37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3549"/>
              </a:lnSpc>
              <a:tabLst>
                <a:tab pos="0" algn="l"/>
              </a:tabLst>
            </a:pPr>
            <a:r>
              <a:rPr lang="en-US" sz="23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4</a:t>
            </a:r>
            <a:endParaRPr lang="en-US" sz="2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7531200" y="6652440"/>
            <a:ext cx="2881440" cy="30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Səviyyə 1: Statik Model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0"/>
          <p:cNvSpPr/>
          <p:nvPr/>
        </p:nvSpPr>
        <p:spPr>
          <a:xfrm>
            <a:off x="7531200" y="7088760"/>
            <a:ext cx="412812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Yalnız quruluşun təsviri, məlumat axını yoxdur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863640" y="1690560"/>
            <a:ext cx="7302240" cy="61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799"/>
              </a:lnSpc>
              <a:tabLst>
                <a:tab pos="0" algn="l"/>
              </a:tabLst>
            </a:pPr>
            <a:r>
              <a:rPr lang="en-US" sz="38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İdarəetmədə Tətbiq Sahələri</a:t>
            </a:r>
            <a:endParaRPr lang="en-US" sz="38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Image 0" descr="preencoded.png"/>
          <p:cNvPicPr/>
          <p:nvPr/>
        </p:nvPicPr>
        <p:blipFill>
          <a:blip r:embed="rId3"/>
          <a:stretch/>
        </p:blipFill>
        <p:spPr>
          <a:xfrm>
            <a:off x="863640" y="2736000"/>
            <a:ext cx="2389320" cy="1476360"/>
          </a:xfrm>
          <a:prstGeom prst="rect">
            <a:avLst/>
          </a:prstGeom>
          <a:ln w="0">
            <a:noFill/>
          </a:ln>
        </p:spPr>
      </p:pic>
      <p:sp>
        <p:nvSpPr>
          <p:cNvPr id="117" name="Text 1"/>
          <p:cNvSpPr/>
          <p:nvPr/>
        </p:nvSpPr>
        <p:spPr>
          <a:xfrm>
            <a:off x="863640" y="4483080"/>
            <a:ext cx="4087080" cy="30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Təşkilatın Rəqəmsal Əkizi (DTO)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863640" y="4919040"/>
            <a:ext cx="4120200" cy="161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Gəlir axınları, xərclər və personal resurslarının vahid virtual modeldə birləşdirilməsi. Strateji qərarların maliyyə və insan resurslarına təsirini əvvəlcədən modelləşdirməyə imkan verir.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Image 1" descr="preencoded.png"/>
          <p:cNvPicPr/>
          <p:nvPr/>
        </p:nvPicPr>
        <p:blipFill>
          <a:blip r:embed="rId4"/>
          <a:stretch/>
        </p:blipFill>
        <p:spPr>
          <a:xfrm>
            <a:off x="5254560" y="2736000"/>
            <a:ext cx="2389320" cy="1476360"/>
          </a:xfrm>
          <a:prstGeom prst="rect">
            <a:avLst/>
          </a:prstGeom>
          <a:ln w="0">
            <a:noFill/>
          </a:ln>
        </p:spPr>
      </p:pic>
      <p:sp>
        <p:nvSpPr>
          <p:cNvPr id="120" name="Text 3"/>
          <p:cNvSpPr/>
          <p:nvPr/>
        </p:nvSpPr>
        <p:spPr>
          <a:xfrm>
            <a:off x="5254560" y="4483080"/>
            <a:ext cx="4120200" cy="61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Təchizat Zəncirinin Rəqəmsal Əkizi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5254560" y="5225760"/>
            <a:ext cx="4120200" cy="129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Uğursuzluq ssenarilərinin simulyasiyası, inventar optimallaşdırılması və liman bağlanmaları kimi gözlənilməz halların əvvəlcədən test edilməsi.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Image 2" descr="preencoded.png"/>
          <p:cNvPicPr/>
          <p:nvPr/>
        </p:nvPicPr>
        <p:blipFill>
          <a:blip r:embed="rId5"/>
          <a:stretch/>
        </p:blipFill>
        <p:spPr>
          <a:xfrm>
            <a:off x="9645480" y="2736000"/>
            <a:ext cx="2389320" cy="1476360"/>
          </a:xfrm>
          <a:prstGeom prst="rect">
            <a:avLst/>
          </a:prstGeom>
          <a:ln w="0">
            <a:noFill/>
          </a:ln>
        </p:spPr>
      </p:pic>
      <p:sp>
        <p:nvSpPr>
          <p:cNvPr id="123" name="Text 5"/>
          <p:cNvSpPr/>
          <p:nvPr/>
        </p:nvSpPr>
        <p:spPr>
          <a:xfrm>
            <a:off x="9645480" y="4483080"/>
            <a:ext cx="3433320" cy="30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Müştərinin Rəqəmsal Əkizi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9645480" y="4919040"/>
            <a:ext cx="4120200" cy="129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Müştəri davranışlarının, satınalma yollarının və qarşılıqlı əlaqələrin virtual modeli. Fərdiləşdirilmiş xidmət və proaktiv müraciət strategiyaları üçün əsas yaradır.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787680" y="659160"/>
            <a:ext cx="6581880" cy="55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399"/>
              </a:lnSpc>
              <a:tabLst>
                <a:tab pos="0" algn="l"/>
              </a:tabLst>
            </a:pPr>
            <a:r>
              <a:rPr lang="en-US" sz="350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Rəqəmsal Əkiz Necə İşləyir?</a:t>
            </a:r>
            <a:endParaRPr lang="en-US" sz="3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787680" y="1577520"/>
            <a:ext cx="13054320" cy="56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200"/>
              </a:lnSpc>
              <a:tabLst>
                <a:tab pos="0" algn="l"/>
              </a:tabLst>
            </a:pPr>
            <a:r>
              <a:rPr lang="en-US" sz="15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Rəqəmsal əkiz texnologiyasının arxasında </a:t>
            </a:r>
            <a:r>
              <a:rPr lang="en-US" sz="1550" b="1" strike="noStrike" spc="-1">
                <a:solidFill>
                  <a:srgbClr val="E2E6E9"/>
                </a:solidFill>
                <a:latin typeface="Source Sans 3"/>
                <a:ea typeface="Source Sans 3"/>
              </a:rPr>
              <a:t>beş ardıcıl mərhələdən</a:t>
            </a:r>
            <a:r>
              <a:rPr lang="en-US" sz="15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 ibarət bir iş prosesi dayanır. Süni intellekt bu prosesin hər mərhələsini gücləndirir — modeli kalibr edir, ssenarilər yaradır və optimal həlllər tövsiyə edir.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Image 0" descr="preencoded.png"/>
          <p:cNvPicPr/>
          <p:nvPr/>
        </p:nvPicPr>
        <p:blipFill>
          <a:blip r:embed="rId3"/>
          <a:stretch/>
        </p:blipFill>
        <p:spPr>
          <a:xfrm>
            <a:off x="996840" y="2343960"/>
            <a:ext cx="12636360" cy="4741200"/>
          </a:xfrm>
          <a:prstGeom prst="rect">
            <a:avLst/>
          </a:prstGeom>
          <a:ln w="0">
            <a:noFill/>
          </a:ln>
        </p:spPr>
      </p:pic>
      <p:pic>
        <p:nvPicPr>
          <p:cNvPr id="128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1788920" y="3552120"/>
            <a:ext cx="651960" cy="651960"/>
          </a:xfrm>
          <a:prstGeom prst="rect">
            <a:avLst/>
          </a:prstGeom>
          <a:ln w="0">
            <a:noFill/>
          </a:ln>
        </p:spPr>
      </p:pic>
      <p:sp>
        <p:nvSpPr>
          <p:cNvPr id="129" name="Text 2"/>
          <p:cNvSpPr/>
          <p:nvPr/>
        </p:nvSpPr>
        <p:spPr>
          <a:xfrm>
            <a:off x="11207160" y="5951520"/>
            <a:ext cx="190548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599"/>
              </a:lnSpc>
              <a:tabLst>
                <a:tab pos="0" algn="l"/>
              </a:tabLst>
            </a:pPr>
            <a:r>
              <a:rPr lang="en-US" sz="21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Qərar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Image 2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399240" y="3553200"/>
            <a:ext cx="651960" cy="651960"/>
          </a:xfrm>
          <a:prstGeom prst="rect">
            <a:avLst/>
          </a:prstGeom>
          <a:ln w="0">
            <a:noFill/>
          </a:ln>
        </p:spPr>
      </p:pic>
      <p:sp>
        <p:nvSpPr>
          <p:cNvPr id="131" name="Text 3"/>
          <p:cNvSpPr/>
          <p:nvPr/>
        </p:nvSpPr>
        <p:spPr>
          <a:xfrm>
            <a:off x="8805240" y="5951520"/>
            <a:ext cx="190548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599"/>
              </a:lnSpc>
              <a:tabLst>
                <a:tab pos="0" algn="l"/>
              </a:tabLst>
            </a:pPr>
            <a:r>
              <a:rPr lang="en-US" sz="21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Təhlil/Analiz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Image 3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009920" y="3553200"/>
            <a:ext cx="651960" cy="651960"/>
          </a:xfrm>
          <a:prstGeom prst="rect">
            <a:avLst/>
          </a:prstGeom>
          <a:ln w="0">
            <a:noFill/>
          </a:ln>
        </p:spPr>
      </p:pic>
      <p:sp>
        <p:nvSpPr>
          <p:cNvPr id="133" name="Text 4"/>
          <p:cNvSpPr/>
          <p:nvPr/>
        </p:nvSpPr>
        <p:spPr>
          <a:xfrm>
            <a:off x="6415920" y="5951520"/>
            <a:ext cx="190548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599"/>
              </a:lnSpc>
              <a:tabLst>
                <a:tab pos="0" algn="l"/>
              </a:tabLst>
            </a:pPr>
            <a:r>
              <a:rPr lang="en-US" sz="21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Simulyasiya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Image 4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4620960" y="3553200"/>
            <a:ext cx="651960" cy="651960"/>
          </a:xfrm>
          <a:prstGeom prst="rect">
            <a:avLst/>
          </a:prstGeom>
          <a:ln w="0">
            <a:noFill/>
          </a:ln>
        </p:spPr>
      </p:pic>
      <p:sp>
        <p:nvSpPr>
          <p:cNvPr id="135" name="Text 5"/>
          <p:cNvSpPr/>
          <p:nvPr/>
        </p:nvSpPr>
        <p:spPr>
          <a:xfrm>
            <a:off x="4026960" y="5784840"/>
            <a:ext cx="190548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>
              <a:lnSpc>
                <a:spcPts val="2599"/>
              </a:lnSpc>
              <a:tabLst>
                <a:tab pos="0" algn="l"/>
              </a:tabLst>
            </a:pPr>
            <a:r>
              <a:rPr lang="en-US" sz="21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Modelin Yaradılması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Image 5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2218680" y="3553200"/>
            <a:ext cx="651960" cy="651960"/>
          </a:xfrm>
          <a:prstGeom prst="rect">
            <a:avLst/>
          </a:prstGeom>
          <a:ln w="0">
            <a:noFill/>
          </a:ln>
        </p:spPr>
      </p:pic>
      <p:sp>
        <p:nvSpPr>
          <p:cNvPr id="137" name="Text 6"/>
          <p:cNvSpPr/>
          <p:nvPr/>
        </p:nvSpPr>
        <p:spPr>
          <a:xfrm>
            <a:off x="1585800" y="5784840"/>
            <a:ext cx="190548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>
              <a:lnSpc>
                <a:spcPts val="2599"/>
              </a:lnSpc>
              <a:tabLst>
                <a:tab pos="0" algn="l"/>
              </a:tabLst>
            </a:pPr>
            <a:r>
              <a:rPr lang="en-US" sz="21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Məlumatların toplanması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787680" y="7288200"/>
            <a:ext cx="13054320" cy="28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200"/>
              </a:lnSpc>
              <a:tabLst>
                <a:tab pos="0" algn="l"/>
              </a:tabLst>
            </a:pPr>
            <a:r>
              <a:rPr lang="en-US" sz="15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Bu dövri proses dayanmır — qərar qəbul edildikdən sonra yeni məlumatlar yenidən sisteme daxil olur, model təkmilləşir və növbəti simulyasiya daha dəqiq olur.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1446120" y="466200"/>
            <a:ext cx="5788080" cy="4105440"/>
          </a:xfrm>
          <a:prstGeom prst="roundRect">
            <a:avLst>
              <a:gd name="adj" fmla="val 416"/>
            </a:avLst>
          </a:prstGeom>
          <a:solidFill>
            <a:srgbClr val="1D1F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1"/>
          <p:cNvSpPr/>
          <p:nvPr/>
        </p:nvSpPr>
        <p:spPr>
          <a:xfrm>
            <a:off x="1606680" y="600480"/>
            <a:ext cx="1593360" cy="278640"/>
          </a:xfrm>
          <a:prstGeom prst="roundRect">
            <a:avLst>
              <a:gd name="adj" fmla="val 6896"/>
            </a:avLst>
          </a:prstGeom>
          <a:noFill/>
          <a:ln w="762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1710720" y="656280"/>
            <a:ext cx="1200600" cy="16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301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FFFFF"/>
                </a:solidFill>
                <a:latin typeface="Source Sans 3"/>
                <a:ea typeface="Source Sans 3"/>
              </a:rPr>
              <a:t>TƏDQIQAT NÜMUNƏSI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1606680" y="999360"/>
            <a:ext cx="5466960" cy="72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22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Logistikanın Rəqəmsal Əkizi: Liman Böhranı Ssenarisi</a:t>
            </a:r>
            <a:endParaRPr lang="en-US" sz="2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1606680" y="1847880"/>
            <a:ext cx="5466960" cy="62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65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Beynəlxalq bir logistika şirkəti, kritik bir limanın bağlanması halında çatdırılma zəncirinə təsiri modelləşdirmək üçün rəqəmsal əkiz texnologiyasından istifadə etdi.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666800" y="2719440"/>
            <a:ext cx="240120" cy="240120"/>
          </a:xfrm>
          <a:prstGeom prst="rect">
            <a:avLst/>
          </a:prstGeom>
          <a:ln w="0">
            <a:noFill/>
          </a:ln>
        </p:spPr>
      </p:pic>
      <p:sp>
        <p:nvSpPr>
          <p:cNvPr id="145" name="Text 5"/>
          <p:cNvSpPr/>
          <p:nvPr/>
        </p:nvSpPr>
        <p:spPr>
          <a:xfrm>
            <a:off x="2128320" y="2719440"/>
            <a:ext cx="2136960" cy="62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65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Limanın bağlanması hadisəsi rəqəmsal mühitdə simulyasiya edildi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475160" y="2719440"/>
            <a:ext cx="240120" cy="240120"/>
          </a:xfrm>
          <a:prstGeom prst="rect">
            <a:avLst/>
          </a:prstGeom>
          <a:ln w="0">
            <a:noFill/>
          </a:ln>
        </p:spPr>
      </p:pic>
      <p:sp>
        <p:nvSpPr>
          <p:cNvPr id="147" name="Text 6"/>
          <p:cNvSpPr/>
          <p:nvPr/>
        </p:nvSpPr>
        <p:spPr>
          <a:xfrm>
            <a:off x="4936680" y="2719440"/>
            <a:ext cx="213696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65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Sistem 12 alternativ marşrut variantı müəyyən etdi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Image 2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666800" y="3587400"/>
            <a:ext cx="240120" cy="240120"/>
          </a:xfrm>
          <a:prstGeom prst="rect">
            <a:avLst/>
          </a:prstGeom>
          <a:ln w="0">
            <a:noFill/>
          </a:ln>
        </p:spPr>
      </p:pic>
      <p:sp>
        <p:nvSpPr>
          <p:cNvPr id="149" name="Text 7"/>
          <p:cNvSpPr/>
          <p:nvPr/>
        </p:nvSpPr>
        <p:spPr>
          <a:xfrm>
            <a:off x="2128320" y="3587400"/>
            <a:ext cx="213696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65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Əlavə xərclər və çatdırılma gecikməsi dəqiq hesablandı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0" name="Image 3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475160" y="3587400"/>
            <a:ext cx="240120" cy="240120"/>
          </a:xfrm>
          <a:prstGeom prst="rect">
            <a:avLst/>
          </a:prstGeom>
          <a:ln w="0">
            <a:noFill/>
          </a:ln>
        </p:spPr>
      </p:pic>
      <p:sp>
        <p:nvSpPr>
          <p:cNvPr id="151" name="Text 8"/>
          <p:cNvSpPr/>
          <p:nvPr/>
        </p:nvSpPr>
        <p:spPr>
          <a:xfrm>
            <a:off x="4936680" y="3587400"/>
            <a:ext cx="213696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65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Optimal həll real böhran başlamazdan əvvəl hazır idi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2" name="Image 4" descr="preencoded.png"/>
          <p:cNvPicPr/>
          <p:nvPr/>
        </p:nvPicPr>
        <p:blipFill>
          <a:blip r:embed="rId4"/>
          <a:stretch/>
        </p:blipFill>
        <p:spPr>
          <a:xfrm>
            <a:off x="7518600" y="600480"/>
            <a:ext cx="5556960" cy="5556960"/>
          </a:xfrm>
          <a:prstGeom prst="rect">
            <a:avLst/>
          </a:prstGeom>
          <a:ln w="0">
            <a:noFill/>
          </a:ln>
        </p:spPr>
      </p:pic>
      <p:sp>
        <p:nvSpPr>
          <p:cNvPr id="153" name="Text 9"/>
          <p:cNvSpPr/>
          <p:nvPr/>
        </p:nvSpPr>
        <p:spPr>
          <a:xfrm>
            <a:off x="7518600" y="6372720"/>
            <a:ext cx="2703600" cy="52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4150"/>
              </a:lnSpc>
              <a:tabLst>
                <a:tab pos="0" algn="l"/>
              </a:tabLst>
            </a:pPr>
            <a:r>
              <a:rPr lang="en-US" sz="41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73%</a:t>
            </a:r>
            <a:endParaRPr lang="en-US" sz="4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0"/>
          <p:cNvSpPr/>
          <p:nvPr/>
        </p:nvSpPr>
        <p:spPr>
          <a:xfrm>
            <a:off x="7958880" y="7071840"/>
            <a:ext cx="182304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1749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Gecikmə Azalması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1"/>
          <p:cNvSpPr/>
          <p:nvPr/>
        </p:nvSpPr>
        <p:spPr>
          <a:xfrm>
            <a:off x="7518600" y="7419240"/>
            <a:ext cx="270360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165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Proaktiv marşrut planlaması sayəsində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10371960" y="6372720"/>
            <a:ext cx="2703600" cy="52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4150"/>
              </a:lnSpc>
              <a:tabLst>
                <a:tab pos="0" algn="l"/>
              </a:tabLst>
            </a:pPr>
            <a:r>
              <a:rPr lang="en-US" sz="415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2x</a:t>
            </a:r>
            <a:endParaRPr lang="en-US" sz="4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10688400" y="7071840"/>
            <a:ext cx="207036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1749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Daha Sürətli Reaksiya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4"/>
          <p:cNvSpPr/>
          <p:nvPr/>
        </p:nvSpPr>
        <p:spPr>
          <a:xfrm>
            <a:off x="10371960" y="7419240"/>
            <a:ext cx="270360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165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Ənənəvi planlamaya nisbətən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863640" y="1137960"/>
            <a:ext cx="10305000" cy="61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799"/>
              </a:lnSpc>
              <a:tabLst>
                <a:tab pos="0" algn="l"/>
              </a:tabLst>
            </a:pPr>
            <a:r>
              <a:rPr lang="en-US" sz="38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Menecerlər üçün Rəqəmsal Əkiz Alətləri</a:t>
            </a:r>
            <a:endParaRPr lang="en-US" sz="3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863640" y="2183400"/>
            <a:ext cx="12902040" cy="64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Rəqəmsal əkiz texnologiyası artıq yalnız mühəndislik şirkətlərinin inhisarında deyil. Aşağıdakı alətlər müxtəlif texniki səviyyəli menecerlər tərəfindən istifadə edilə bilər.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863640" y="3074040"/>
            <a:ext cx="6342840" cy="1900080"/>
          </a:xfrm>
          <a:prstGeom prst="roundRect">
            <a:avLst>
              <a:gd name="adj" fmla="val 7697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833400" y="3074040"/>
            <a:ext cx="121320" cy="190008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1201680" y="3320280"/>
            <a:ext cx="2453400" cy="30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AnyLogic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1201680" y="3756600"/>
            <a:ext cx="5758560" cy="97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E2E6E9"/>
                </a:solidFill>
                <a:latin typeface="Source Sans 3"/>
                <a:ea typeface="Source Sans 3"/>
              </a:rPr>
              <a:t>Biznes simulyasiyaları üçün</a:t>
            </a: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 — Təchizat zənciri, istehsal axınları və xidmət proseslərinin vizual modelləşdirilməsi. Kod bilmədən sürükle-bırak interfeysi ilə işləyir.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6"/>
          <p:cNvSpPr/>
          <p:nvPr/>
        </p:nvSpPr>
        <p:spPr>
          <a:xfrm>
            <a:off x="7423200" y="3074040"/>
            <a:ext cx="6342840" cy="1900080"/>
          </a:xfrm>
          <a:prstGeom prst="roundRect">
            <a:avLst>
              <a:gd name="adj" fmla="val 7697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7"/>
          <p:cNvSpPr/>
          <p:nvPr/>
        </p:nvSpPr>
        <p:spPr>
          <a:xfrm>
            <a:off x="7392600" y="3074040"/>
            <a:ext cx="121320" cy="190008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7760880" y="3320280"/>
            <a:ext cx="3760920" cy="30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Microsoft Azure Digital Twins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7760880" y="3756600"/>
            <a:ext cx="5758560" cy="97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E2E6E9"/>
                </a:solidFill>
                <a:latin typeface="Source Sans 3"/>
                <a:ea typeface="Source Sans 3"/>
              </a:rPr>
              <a:t>Korporativ miqyaslı həllər üçün</a:t>
            </a: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 — Böyük müəssisələrin fiziki infrastrukturunu, binalarını və proses axınlarını bulud mühitdə modelləşdirir. IoT inteqrasiyası daxildir.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0"/>
          <p:cNvSpPr/>
          <p:nvPr/>
        </p:nvSpPr>
        <p:spPr>
          <a:xfrm>
            <a:off x="863640" y="5190840"/>
            <a:ext cx="6342840" cy="1900080"/>
          </a:xfrm>
          <a:prstGeom prst="roundRect">
            <a:avLst>
              <a:gd name="adj" fmla="val 7697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11"/>
          <p:cNvSpPr/>
          <p:nvPr/>
        </p:nvSpPr>
        <p:spPr>
          <a:xfrm>
            <a:off x="833400" y="5190840"/>
            <a:ext cx="121320" cy="190008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1201680" y="5437080"/>
            <a:ext cx="5581080" cy="30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Excel / Python — Monte Carlo Simulyasiyası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1201680" y="5873400"/>
            <a:ext cx="5758560" cy="97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E2E6E9"/>
                </a:solidFill>
                <a:latin typeface="Source Sans 3"/>
                <a:ea typeface="Source Sans 3"/>
              </a:rPr>
              <a:t>Sadə ehtimal modelləri üçün</a:t>
            </a: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 — Kiçik həcmli risklərin, gəlir proqnozlarının və ssenarilər analizi üçün əlçatan, sürətli həll. Maliyyə qərarları üçün ideal başlanğıc.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4"/>
          <p:cNvSpPr/>
          <p:nvPr/>
        </p:nvSpPr>
        <p:spPr>
          <a:xfrm>
            <a:off x="7423200" y="5190840"/>
            <a:ext cx="6342840" cy="1900080"/>
          </a:xfrm>
          <a:prstGeom prst="roundRect">
            <a:avLst>
              <a:gd name="adj" fmla="val 7697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15"/>
          <p:cNvSpPr/>
          <p:nvPr/>
        </p:nvSpPr>
        <p:spPr>
          <a:xfrm>
            <a:off x="7392600" y="5190840"/>
            <a:ext cx="121320" cy="190008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6"/>
          <p:cNvSpPr/>
          <p:nvPr/>
        </p:nvSpPr>
        <p:spPr>
          <a:xfrm>
            <a:off x="7760880" y="5437080"/>
            <a:ext cx="2812680" cy="30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Power BI + AI Insights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7760880" y="5873400"/>
            <a:ext cx="5758560" cy="97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E2E6E9"/>
                </a:solidFill>
                <a:latin typeface="Source Sans 3"/>
                <a:ea typeface="Source Sans 3"/>
              </a:rPr>
              <a:t>Ssenari analizi və vizuallaşdırma üçün</a:t>
            </a: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 — Mövcud iş zəkası platformasına AI qatını əlavə edərək "nə olarsa" suallarına cavab tapır. Menecerlər üçün ən intuitiv seçim.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Image 0" descr="preencoded.png"/>
          <p:cNvPicPr/>
          <p:nvPr/>
        </p:nvPicPr>
        <p:blipFill>
          <a:blip r:embed="rId3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178" name="Text 0"/>
          <p:cNvSpPr/>
          <p:nvPr/>
        </p:nvSpPr>
        <p:spPr>
          <a:xfrm>
            <a:off x="818280" y="621720"/>
            <a:ext cx="7506360" cy="116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4550"/>
              </a:lnSpc>
              <a:tabLst>
                <a:tab pos="0" algn="l"/>
              </a:tabLst>
            </a:pPr>
            <a:r>
              <a:rPr lang="en-US" sz="36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Rəqəmsal Əkizlərin Əsas Üstünlükləri</a:t>
            </a:r>
            <a:endParaRPr lang="en-US" sz="3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"/>
          <p:cNvSpPr/>
          <p:nvPr/>
        </p:nvSpPr>
        <p:spPr>
          <a:xfrm>
            <a:off x="818280" y="2075040"/>
            <a:ext cx="3655800" cy="3116880"/>
          </a:xfrm>
          <a:prstGeom prst="roundRect">
            <a:avLst>
              <a:gd name="adj" fmla="val 984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1023120" y="2279520"/>
            <a:ext cx="613080" cy="613080"/>
          </a:xfrm>
          <a:prstGeom prst="roundRect">
            <a:avLst>
              <a:gd name="adj" fmla="val 1489667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191960" y="244836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82" name="Text 3"/>
          <p:cNvSpPr/>
          <p:nvPr/>
        </p:nvSpPr>
        <p:spPr>
          <a:xfrm>
            <a:off x="1023120" y="2907000"/>
            <a:ext cx="2324160" cy="2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251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Risksiz Sınaq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1023120" y="3314160"/>
            <a:ext cx="3246840" cy="14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35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Həllər real dünyaya tətbiq edilməzdən əvvəl virtual mühitdə sınaqdan keçirilir. Baha başa gələn səhvlərin qarşısı alınır, cəsarətli eksperimentlər mümkün olur.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5"/>
          <p:cNvSpPr/>
          <p:nvPr/>
        </p:nvSpPr>
        <p:spPr>
          <a:xfrm>
            <a:off x="4668840" y="2075040"/>
            <a:ext cx="3655800" cy="3116880"/>
          </a:xfrm>
          <a:prstGeom prst="roundRect">
            <a:avLst>
              <a:gd name="adj" fmla="val 984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6"/>
          <p:cNvSpPr/>
          <p:nvPr/>
        </p:nvSpPr>
        <p:spPr>
          <a:xfrm>
            <a:off x="4873320" y="2279520"/>
            <a:ext cx="613080" cy="613080"/>
          </a:xfrm>
          <a:prstGeom prst="roundRect">
            <a:avLst>
              <a:gd name="adj" fmla="val 1489667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Image 2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042160" y="244836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87" name="Text 7"/>
          <p:cNvSpPr/>
          <p:nvPr/>
        </p:nvSpPr>
        <p:spPr>
          <a:xfrm>
            <a:off x="4873320" y="3087000"/>
            <a:ext cx="2324160" cy="2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251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Sürətli Reaksiya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8"/>
          <p:cNvSpPr/>
          <p:nvPr/>
        </p:nvSpPr>
        <p:spPr>
          <a:xfrm>
            <a:off x="4873320" y="3494160"/>
            <a:ext cx="3246840" cy="119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35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Bazar şərtləri dəyişdikdə və ya böhran yarandıqda, hazır modellər sayəsində alternativ planlar dəqiqələr içində hazırlanır.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9"/>
          <p:cNvSpPr/>
          <p:nvPr/>
        </p:nvSpPr>
        <p:spPr>
          <a:xfrm>
            <a:off x="818280" y="5386680"/>
            <a:ext cx="7506360" cy="2220480"/>
          </a:xfrm>
          <a:prstGeom prst="roundRect">
            <a:avLst>
              <a:gd name="adj" fmla="val 1382"/>
            </a:avLst>
          </a:prstGeom>
          <a:solidFill>
            <a:srgbClr val="303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10"/>
          <p:cNvSpPr/>
          <p:nvPr/>
        </p:nvSpPr>
        <p:spPr>
          <a:xfrm>
            <a:off x="1023120" y="5591160"/>
            <a:ext cx="613080" cy="613080"/>
          </a:xfrm>
          <a:prstGeom prst="roundRect">
            <a:avLst>
              <a:gd name="adj" fmla="val 1489667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1" name="Image 3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191960" y="5760000"/>
            <a:ext cx="275400" cy="275400"/>
          </a:xfrm>
          <a:prstGeom prst="rect">
            <a:avLst/>
          </a:prstGeom>
          <a:ln w="0">
            <a:noFill/>
          </a:ln>
        </p:spPr>
      </p:pic>
      <p:sp>
        <p:nvSpPr>
          <p:cNvPr id="192" name="Text 11"/>
          <p:cNvSpPr/>
          <p:nvPr/>
        </p:nvSpPr>
        <p:spPr>
          <a:xfrm>
            <a:off x="1023120" y="6398640"/>
            <a:ext cx="3402000" cy="2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251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Kəmiyyət Qiymətləndirməsi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12"/>
          <p:cNvSpPr/>
          <p:nvPr/>
        </p:nvSpPr>
        <p:spPr>
          <a:xfrm>
            <a:off x="1023120" y="6805440"/>
            <a:ext cx="7097400" cy="59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35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Hər qərar hiss və intuisiya əvəzinə rəqəmlərə əsaslanır. Xərclər, risklər və gəlir proqnozları konkret hesablamalarla dəstəklənir.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863640" y="682560"/>
            <a:ext cx="10796400" cy="61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799"/>
              </a:lnSpc>
              <a:tabLst>
                <a:tab pos="0" algn="l"/>
              </a:tabLst>
            </a:pPr>
            <a:r>
              <a:rPr lang="en-US" sz="385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Məhdudiyyətlər və Diqqət Edilməli Risklər</a:t>
            </a:r>
            <a:endParaRPr lang="en-US" sz="3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863640" y="1728000"/>
            <a:ext cx="1290204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Rəqəmsal əkizlər güclü bir alətdir, lakin onların potensialından tam faydalanmaq üçün aşağıdakı əsas çətinlikləri nəzərə almaq lazımdır.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2"/>
          <p:cNvSpPr/>
          <p:nvPr/>
        </p:nvSpPr>
        <p:spPr>
          <a:xfrm>
            <a:off x="863640" y="2618640"/>
            <a:ext cx="6342840" cy="2193480"/>
          </a:xfrm>
          <a:prstGeom prst="roundRect">
            <a:avLst>
              <a:gd name="adj" fmla="val 6667"/>
            </a:avLst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3"/>
          <p:cNvSpPr/>
          <p:nvPr/>
        </p:nvSpPr>
        <p:spPr>
          <a:xfrm>
            <a:off x="863640" y="2588040"/>
            <a:ext cx="6342840" cy="12132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4"/>
          <p:cNvSpPr/>
          <p:nvPr/>
        </p:nvSpPr>
        <p:spPr>
          <a:xfrm>
            <a:off x="3711600" y="2294640"/>
            <a:ext cx="646920" cy="646920"/>
          </a:xfrm>
          <a:prstGeom prst="roundRect">
            <a:avLst>
              <a:gd name="adj" fmla="val 141151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3906000" y="2456640"/>
            <a:ext cx="25848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305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Montserrat Bold"/>
                <a:ea typeface="Montserrat Bold"/>
              </a:rPr>
              <a:t>1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6"/>
          <p:cNvSpPr/>
          <p:nvPr/>
        </p:nvSpPr>
        <p:spPr>
          <a:xfrm>
            <a:off x="1110240" y="3158640"/>
            <a:ext cx="4388760" cy="30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Yüksək Keyfiyyətli Məlumat Tələbi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7"/>
          <p:cNvSpPr/>
          <p:nvPr/>
        </p:nvSpPr>
        <p:spPr>
          <a:xfrm>
            <a:off x="1110240" y="3594600"/>
            <a:ext cx="5850000" cy="97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Model yalnız daxil olan məlumat qədər dəqiqdir. Natamam və ya yanlış məlumatlar yanıltıcı nəticələrə gətirib çıxarır — "garbage in, garbage out" prinsipi burada tam qüvvədədir.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8"/>
          <p:cNvSpPr/>
          <p:nvPr/>
        </p:nvSpPr>
        <p:spPr>
          <a:xfrm>
            <a:off x="7423200" y="2618640"/>
            <a:ext cx="6342840" cy="2193480"/>
          </a:xfrm>
          <a:prstGeom prst="roundRect">
            <a:avLst>
              <a:gd name="adj" fmla="val 6667"/>
            </a:avLst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9"/>
          <p:cNvSpPr/>
          <p:nvPr/>
        </p:nvSpPr>
        <p:spPr>
          <a:xfrm>
            <a:off x="7423200" y="2588040"/>
            <a:ext cx="6342840" cy="12132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0"/>
          <p:cNvSpPr/>
          <p:nvPr/>
        </p:nvSpPr>
        <p:spPr>
          <a:xfrm>
            <a:off x="10270800" y="2294640"/>
            <a:ext cx="646920" cy="646920"/>
          </a:xfrm>
          <a:prstGeom prst="roundRect">
            <a:avLst>
              <a:gd name="adj" fmla="val 141151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1"/>
          <p:cNvSpPr/>
          <p:nvPr/>
        </p:nvSpPr>
        <p:spPr>
          <a:xfrm>
            <a:off x="10465200" y="2456640"/>
            <a:ext cx="25848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305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Montserrat Bold"/>
                <a:ea typeface="Montserrat Bold"/>
              </a:rPr>
              <a:t>2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2"/>
          <p:cNvSpPr/>
          <p:nvPr/>
        </p:nvSpPr>
        <p:spPr>
          <a:xfrm>
            <a:off x="7669440" y="3158640"/>
            <a:ext cx="2774160" cy="30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Modelin Mürəkkəbliyi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3"/>
          <p:cNvSpPr/>
          <p:nvPr/>
        </p:nvSpPr>
        <p:spPr>
          <a:xfrm>
            <a:off x="7669440" y="3594600"/>
            <a:ext cx="5850000" cy="97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Real biznes proseslərini dəqiq şəkildə virtual mühitdə əks etdirmək texniki cəhətdən çətin və vaxt tələb edən bir prosesdir. Yanlış sadələşdirmə modeli effektivsiz edə bilər.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14"/>
          <p:cNvSpPr/>
          <p:nvPr/>
        </p:nvSpPr>
        <p:spPr>
          <a:xfrm>
            <a:off x="863640" y="5352840"/>
            <a:ext cx="6342840" cy="2193480"/>
          </a:xfrm>
          <a:prstGeom prst="roundRect">
            <a:avLst>
              <a:gd name="adj" fmla="val 6667"/>
            </a:avLst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15"/>
          <p:cNvSpPr/>
          <p:nvPr/>
        </p:nvSpPr>
        <p:spPr>
          <a:xfrm>
            <a:off x="863640" y="5322240"/>
            <a:ext cx="6342840" cy="12132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16"/>
          <p:cNvSpPr/>
          <p:nvPr/>
        </p:nvSpPr>
        <p:spPr>
          <a:xfrm>
            <a:off x="3711600" y="5028840"/>
            <a:ext cx="646920" cy="646920"/>
          </a:xfrm>
          <a:prstGeom prst="roundRect">
            <a:avLst>
              <a:gd name="adj" fmla="val 141151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7"/>
          <p:cNvSpPr/>
          <p:nvPr/>
        </p:nvSpPr>
        <p:spPr>
          <a:xfrm>
            <a:off x="3906000" y="5190840"/>
            <a:ext cx="25848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305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Montserrat Bold"/>
                <a:ea typeface="Montserrat Bold"/>
              </a:rPr>
              <a:t>3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8"/>
          <p:cNvSpPr/>
          <p:nvPr/>
        </p:nvSpPr>
        <p:spPr>
          <a:xfrm>
            <a:off x="1110240" y="5892480"/>
            <a:ext cx="2779920" cy="30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Hesablama Resursları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9"/>
          <p:cNvSpPr/>
          <p:nvPr/>
        </p:nvSpPr>
        <p:spPr>
          <a:xfrm>
            <a:off x="1110240" y="6328800"/>
            <a:ext cx="5850000" cy="97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Mürəkkəb real vaxt simulyasiyaları əhəmiyyətli infrastruktur sərmayəsi tələb edir. Bulud xərcləri və texniki dəstək xərclərini planlamaq vacibdir.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20"/>
          <p:cNvSpPr/>
          <p:nvPr/>
        </p:nvSpPr>
        <p:spPr>
          <a:xfrm>
            <a:off x="7423200" y="5352840"/>
            <a:ext cx="6342840" cy="2193480"/>
          </a:xfrm>
          <a:prstGeom prst="roundRect">
            <a:avLst>
              <a:gd name="adj" fmla="val 6667"/>
            </a:avLst>
          </a:prstGeom>
          <a:solidFill>
            <a:srgbClr val="11121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21"/>
          <p:cNvSpPr/>
          <p:nvPr/>
        </p:nvSpPr>
        <p:spPr>
          <a:xfrm>
            <a:off x="7423200" y="5322240"/>
            <a:ext cx="6342840" cy="12132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22"/>
          <p:cNvSpPr/>
          <p:nvPr/>
        </p:nvSpPr>
        <p:spPr>
          <a:xfrm>
            <a:off x="10270800" y="5028840"/>
            <a:ext cx="646920" cy="646920"/>
          </a:xfrm>
          <a:prstGeom prst="roundRect">
            <a:avLst>
              <a:gd name="adj" fmla="val 141151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23"/>
          <p:cNvSpPr/>
          <p:nvPr/>
        </p:nvSpPr>
        <p:spPr>
          <a:xfrm>
            <a:off x="10465200" y="5190840"/>
            <a:ext cx="258480" cy="32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305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Montserrat Bold"/>
                <a:ea typeface="Montserrat Bold"/>
              </a:rPr>
              <a:t>4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24"/>
          <p:cNvSpPr/>
          <p:nvPr/>
        </p:nvSpPr>
        <p:spPr>
          <a:xfrm>
            <a:off x="7669440" y="5892480"/>
            <a:ext cx="3072240" cy="30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E2E6E9"/>
                </a:solidFill>
                <a:latin typeface="Montserrat Bold"/>
                <a:ea typeface="Montserrat Bold"/>
              </a:rPr>
              <a:t>"Nəzarət İllüziyası" Riski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25"/>
          <p:cNvSpPr/>
          <p:nvPr/>
        </p:nvSpPr>
        <p:spPr>
          <a:xfrm>
            <a:off x="7669440" y="6328800"/>
            <a:ext cx="5850000" cy="97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Ən təhlükəli tuz: menecerlər modelə həddindən artıq etibar edərək gözlənilməz real dünya hadisələrini nəzərə almaya bilərlər. Model — gerçəkliyin köməkçisidir, əvəzi deyil.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1617840" y="468000"/>
            <a:ext cx="5041440" cy="7292880"/>
          </a:xfrm>
          <a:prstGeom prst="roundRect">
            <a:avLst>
              <a:gd name="adj" fmla="val 464"/>
            </a:avLst>
          </a:prstGeom>
          <a:solidFill>
            <a:srgbClr val="1D1F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1"/>
          <p:cNvSpPr/>
          <p:nvPr/>
        </p:nvSpPr>
        <p:spPr>
          <a:xfrm>
            <a:off x="1773360" y="594360"/>
            <a:ext cx="1145520" cy="253440"/>
          </a:xfrm>
          <a:prstGeom prst="roundRect">
            <a:avLst>
              <a:gd name="adj" fmla="val 7356"/>
            </a:avLst>
          </a:prstGeom>
          <a:solidFill>
            <a:srgbClr val="26262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2"/>
          <p:cNvSpPr/>
          <p:nvPr/>
        </p:nvSpPr>
        <p:spPr>
          <a:xfrm>
            <a:off x="1866960" y="641160"/>
            <a:ext cx="95868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25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PRAKTIK TAPŞIRIQ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3"/>
          <p:cNvSpPr/>
          <p:nvPr/>
        </p:nvSpPr>
        <p:spPr>
          <a:xfrm>
            <a:off x="1773360" y="893520"/>
            <a:ext cx="4730040" cy="70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FFFFF"/>
                </a:solidFill>
                <a:latin typeface="Montserrat Bold"/>
                <a:ea typeface="Montserrat Bold"/>
              </a:rPr>
              <a:t>Öz Rəqəmsal Əkizinizi Dizayn Edin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4"/>
          <p:cNvSpPr/>
          <p:nvPr/>
        </p:nvSpPr>
        <p:spPr>
          <a:xfrm>
            <a:off x="1773360" y="1714320"/>
            <a:ext cx="473004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Bu sessiyadan çıxarken konkret bir addım atın: Təşkilatınızda mövcud olan bir prosesi seçin və onun rəqəmsal əkizini konseptual səviyyədə hazırlayın.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5"/>
          <p:cNvSpPr/>
          <p:nvPr/>
        </p:nvSpPr>
        <p:spPr>
          <a:xfrm>
            <a:off x="1773360" y="2522160"/>
            <a:ext cx="4730040" cy="26280"/>
          </a:xfrm>
          <a:prstGeom prst="rect">
            <a:avLst/>
          </a:prstGeom>
          <a:solidFill>
            <a:srgbClr val="E2E6E9">
              <a:alpha val="5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8000" rIns="90000" bIns="-18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6"/>
          <p:cNvSpPr/>
          <p:nvPr/>
        </p:nvSpPr>
        <p:spPr>
          <a:xfrm>
            <a:off x="1773360" y="2675520"/>
            <a:ext cx="473004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Cavablandırmalı olduğunuz suallar: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7"/>
          <p:cNvSpPr/>
          <p:nvPr/>
        </p:nvSpPr>
        <p:spPr>
          <a:xfrm>
            <a:off x="1773360" y="3003480"/>
            <a:ext cx="15516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E2E6E9"/>
                </a:solidFill>
                <a:latin typeface="Montserrat Light"/>
                <a:ea typeface="Montserrat Light"/>
              </a:rPr>
              <a:t>01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8"/>
          <p:cNvSpPr/>
          <p:nvPr/>
        </p:nvSpPr>
        <p:spPr>
          <a:xfrm>
            <a:off x="1773360" y="3245040"/>
            <a:ext cx="2308320" cy="22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9"/>
          <p:cNvSpPr/>
          <p:nvPr/>
        </p:nvSpPr>
        <p:spPr>
          <a:xfrm>
            <a:off x="1773360" y="3368880"/>
            <a:ext cx="230832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2E6E9"/>
                </a:solidFill>
                <a:latin typeface="Source Sans 3"/>
                <a:ea typeface="Source Sans 3"/>
              </a:rPr>
              <a:t>Hansı proses?</a:t>
            </a:r>
            <a:r>
              <a:rPr lang="en-US" sz="12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 Ən çox qeyri-müəyyənlik yaşadığınız, riskin yüksək olduğu bir proses seçin.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0"/>
          <p:cNvSpPr/>
          <p:nvPr/>
        </p:nvSpPr>
        <p:spPr>
          <a:xfrm>
            <a:off x="4195080" y="3003480"/>
            <a:ext cx="15516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E2E6E9"/>
                </a:solidFill>
                <a:latin typeface="Montserrat Light"/>
                <a:ea typeface="Montserrat Light"/>
              </a:rPr>
              <a:t>02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1"/>
          <p:cNvSpPr/>
          <p:nvPr/>
        </p:nvSpPr>
        <p:spPr>
          <a:xfrm>
            <a:off x="4195080" y="3245040"/>
            <a:ext cx="2308320" cy="22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12"/>
          <p:cNvSpPr/>
          <p:nvPr/>
        </p:nvSpPr>
        <p:spPr>
          <a:xfrm>
            <a:off x="4195080" y="3368880"/>
            <a:ext cx="230832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2E6E9"/>
                </a:solidFill>
                <a:latin typeface="Source Sans 3"/>
                <a:ea typeface="Source Sans 3"/>
              </a:rPr>
              <a:t>Hansı məlumatlar?</a:t>
            </a:r>
            <a:r>
              <a:rPr lang="en-US" sz="12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 Model üçün hansı daxili və xarici məlumatlara ehtiyac var? Onlar mövcuddurmu?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3"/>
          <p:cNvSpPr/>
          <p:nvPr/>
        </p:nvSpPr>
        <p:spPr>
          <a:xfrm>
            <a:off x="1773360" y="4201560"/>
            <a:ext cx="155160" cy="19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E2E6E9"/>
                </a:solidFill>
                <a:latin typeface="Montserrat Light"/>
                <a:ea typeface="Montserrat Light"/>
              </a:rPr>
              <a:t>03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4"/>
          <p:cNvSpPr/>
          <p:nvPr/>
        </p:nvSpPr>
        <p:spPr>
          <a:xfrm>
            <a:off x="1773360" y="4443480"/>
            <a:ext cx="4730040" cy="22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5"/>
          <p:cNvSpPr/>
          <p:nvPr/>
        </p:nvSpPr>
        <p:spPr>
          <a:xfrm>
            <a:off x="1773360" y="4566960"/>
            <a:ext cx="4730040" cy="40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2E6E9"/>
                </a:solidFill>
                <a:latin typeface="Source Sans 3"/>
                <a:ea typeface="Source Sans 3"/>
              </a:rPr>
              <a:t>Hansı ssenarilər?</a:t>
            </a:r>
            <a:r>
              <a:rPr lang="en-US" sz="1200" b="0" strike="noStrike" spc="-1">
                <a:solidFill>
                  <a:srgbClr val="E2E6E9"/>
                </a:solidFill>
                <a:latin typeface="Source Sans 3"/>
                <a:ea typeface="Source Sans 3"/>
              </a:rPr>
              <a:t> "Nə olarsa?" sualına cavab axtardığınız 2-3 kritik ssenari müəyyən edin.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6" name="Image 0" descr="preencoded.png"/>
          <p:cNvPicPr/>
          <p:nvPr/>
        </p:nvPicPr>
        <p:blipFill>
          <a:blip r:embed="rId3"/>
          <a:stretch/>
        </p:blipFill>
        <p:spPr>
          <a:xfrm>
            <a:off x="6935400" y="594360"/>
            <a:ext cx="5972040" cy="5972040"/>
          </a:xfrm>
          <a:prstGeom prst="rect">
            <a:avLst/>
          </a:prstGeom>
          <a:ln w="0">
            <a:noFill/>
          </a:ln>
        </p:spPr>
      </p:pic>
      <p:sp>
        <p:nvSpPr>
          <p:cNvPr id="237" name="Shape 16"/>
          <p:cNvSpPr/>
          <p:nvPr/>
        </p:nvSpPr>
        <p:spPr>
          <a:xfrm>
            <a:off x="6935400" y="6693480"/>
            <a:ext cx="5972040" cy="940680"/>
          </a:xfrm>
          <a:prstGeom prst="roundRect">
            <a:avLst>
              <a:gd name="adj" fmla="val 2482"/>
            </a:avLst>
          </a:prstGeom>
          <a:solidFill>
            <a:srgbClr val="26262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8" name="Image 1" descr="preencoded.png"/>
          <p:cNvPicPr/>
          <p:nvPr/>
        </p:nvPicPr>
        <p:blipFill>
          <a:blip r:embed="rId4"/>
          <a:stretch/>
        </p:blipFill>
        <p:spPr>
          <a:xfrm>
            <a:off x="7090920" y="6896520"/>
            <a:ext cx="194040" cy="155160"/>
          </a:xfrm>
          <a:prstGeom prst="rect">
            <a:avLst/>
          </a:prstGeom>
          <a:ln w="0">
            <a:noFill/>
          </a:ln>
        </p:spPr>
      </p:pic>
      <p:sp>
        <p:nvSpPr>
          <p:cNvPr id="239" name="Text 17"/>
          <p:cNvSpPr/>
          <p:nvPr/>
        </p:nvSpPr>
        <p:spPr>
          <a:xfrm>
            <a:off x="7441560" y="6845040"/>
            <a:ext cx="5310360" cy="61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551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Source Sans 3"/>
                <a:ea typeface="Source Sans 3"/>
              </a:rPr>
              <a:t>💡</a:t>
            </a:r>
            <a:r>
              <a:rPr lang="en-US" sz="1200" b="0" strike="noStrike" spc="-1">
                <a:solidFill>
                  <a:srgbClr val="FFFFFF"/>
                </a:solidFill>
                <a:latin typeface="Source Sans 3"/>
                <a:ea typeface="Source Sans 3"/>
              </a:rPr>
              <a:t> Məsləhət: Mükəmməl başlamaq məcburiyyətində deyilsiniz. Ən sadə Level 2 modelindən başlayın — tarixi məlumatlarınızı bir araya gətirin və ilk "nə olarsa?" sualınızı cavablayın.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Picture 239"/>
          <p:cNvPicPr/>
          <p:nvPr/>
        </p:nvPicPr>
        <p:blipFill>
          <a:blip r:embed="rId2"/>
          <a:stretch/>
        </p:blipFill>
        <p:spPr>
          <a:xfrm>
            <a:off x="3239640" y="685800"/>
            <a:ext cx="7275960" cy="7275960"/>
          </a:xfrm>
          <a:prstGeom prst="rect">
            <a:avLst/>
          </a:prstGeom>
          <a:ln w="0">
            <a:noFill/>
          </a:ln>
        </p:spPr>
      </p:pic>
      <p:sp>
        <p:nvSpPr>
          <p:cNvPr id="241" name="Rectangle 240"/>
          <p:cNvSpPr/>
          <p:nvPr/>
        </p:nvSpPr>
        <p:spPr>
          <a:xfrm>
            <a:off x="5029199" y="84600"/>
            <a:ext cx="4212771" cy="60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950" b="1" strike="noStrike" spc="-1" dirty="0">
                <a:solidFill>
                  <a:srgbClr val="FFFFFF"/>
                </a:solidFill>
                <a:latin typeface="Montserrat Bold"/>
                <a:ea typeface="Montserrat Bold"/>
              </a:rPr>
              <a:t>Test </a:t>
            </a:r>
            <a:r>
              <a:rPr lang="en-US" sz="2950" b="1" strike="noStrike" spc="-1" dirty="0" err="1">
                <a:solidFill>
                  <a:srgbClr val="FFFFFF"/>
                </a:solidFill>
                <a:latin typeface="Montserrat Bold"/>
                <a:ea typeface="Montserrat Bold"/>
              </a:rPr>
              <a:t>Tapşırığı</a:t>
            </a:r>
            <a:r>
              <a:rPr lang="en-US" sz="2950" b="1" strike="noStrike" spc="-1" dirty="0">
                <a:solidFill>
                  <a:srgbClr val="FFFFFF"/>
                </a:solidFill>
                <a:latin typeface="Montserrat Bold"/>
                <a:ea typeface="Montserrat Bold"/>
              </a:rPr>
              <a:t> L9</a:t>
            </a:r>
            <a:endParaRPr lang="en-US" sz="295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989</Words>
  <Application>Microsoft Office PowerPoint</Application>
  <PresentationFormat>Custom</PresentationFormat>
  <Paragraphs>124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12</vt:i4>
      </vt:variant>
    </vt:vector>
  </HeadingPairs>
  <TitlesOfParts>
    <vt:vector size="31" baseType="lpstr">
      <vt:lpstr>Arial</vt:lpstr>
      <vt:lpstr>Montserrat Bold</vt:lpstr>
      <vt:lpstr>Montserrat Light</vt:lpstr>
      <vt:lpstr>Source Sans 3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Orkhan Iskandarov</cp:lastModifiedBy>
  <cp:revision>4</cp:revision>
  <dcterms:created xsi:type="dcterms:W3CDTF">2026-03-27T06:47:24Z</dcterms:created>
  <dcterms:modified xsi:type="dcterms:W3CDTF">2026-04-27T05:40:27Z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