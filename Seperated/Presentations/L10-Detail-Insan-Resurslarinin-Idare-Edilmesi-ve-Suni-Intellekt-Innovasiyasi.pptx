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</p:sldMasterIdLst>
  <p:notesMasterIdLst>
    <p:notesMasterId r:id="rId25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7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9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move the slide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4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B9AF290-9AA9-4F16-B329-DC342E87E1F6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DDF39EC-1E21-4560-AF3A-E6267B8BC286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2F4DE6E-7778-433D-A9AA-02627C5BBD54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8F1899B-1241-4AF8-93EC-FE9D4DAA8580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0A34EA5-7F51-4385-A134-FF730A20C682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BB628E6-A874-4EE9-88BE-B3FC958A3800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7CFC321-E379-40A4-85DB-83314D604BA5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6D4B560-9EBF-42A4-A4C2-EC4B3BF0925B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2BC9BC0-2F56-4631-AE18-2578B6FA68A7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E408733-129D-423B-A9D2-663757A6DBA3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EFF9CD1-BD17-4AB9-89DC-1D113EEA8A73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ABF3E93-59D9-41CF-A351-CBB07239BBB8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the title text format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the title text format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the title text format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the title text format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the title text format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the title text format</a:t>
            </a: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the title text format</a:t>
            </a: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51" name="Text 0"/>
          <p:cNvSpPr/>
          <p:nvPr/>
        </p:nvSpPr>
        <p:spPr>
          <a:xfrm>
            <a:off x="6350040" y="2870640"/>
            <a:ext cx="7416000" cy="184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4799"/>
              </a:lnSpc>
              <a:tabLst>
                <a:tab pos="0" algn="l"/>
              </a:tabLst>
            </a:pPr>
            <a:r>
              <a:rPr lang="en-US" sz="3850" b="1" strike="noStrike" spc="-1">
                <a:solidFill>
                  <a:srgbClr val="FFFFFF"/>
                </a:solidFill>
                <a:latin typeface="Montserrat Bold"/>
                <a:ea typeface="Montserrat Bold"/>
              </a:rPr>
              <a:t>İnsan Resurslarının İdarə Edilməsi və Süni İntellekt İnnovasiyası</a:t>
            </a:r>
            <a:endParaRPr lang="en-US" sz="3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6350040" y="5034960"/>
            <a:ext cx="7416000" cy="3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 dirty="0">
                <a:solidFill>
                  <a:srgbClr val="E2E6E9"/>
                </a:solidFill>
                <a:latin typeface="Source Sans 3"/>
                <a:ea typeface="Source Sans 3"/>
              </a:rPr>
              <a:t>10-cu </a:t>
            </a:r>
            <a:r>
              <a:rPr lang="en-US" sz="1700" b="0" strike="noStrike" spc="-1" dirty="0" err="1">
                <a:solidFill>
                  <a:srgbClr val="E2E6E9"/>
                </a:solidFill>
                <a:latin typeface="Source Sans 3"/>
                <a:ea typeface="Source Sans 3"/>
              </a:rPr>
              <a:t>Sessiya</a:t>
            </a:r>
            <a:r>
              <a:rPr lang="en-US" sz="1700" b="0" strike="noStrike" spc="-1" dirty="0">
                <a:solidFill>
                  <a:srgbClr val="E2E6E9"/>
                </a:solidFill>
                <a:latin typeface="Source Sans 3"/>
                <a:ea typeface="Source Sans 3"/>
              </a:rPr>
              <a:t> · </a:t>
            </a:r>
            <a:r>
              <a:rPr lang="en-US" sz="1700" b="0" strike="noStrike" spc="-1" dirty="0" err="1">
                <a:solidFill>
                  <a:srgbClr val="E2E6E9"/>
                </a:solidFill>
                <a:latin typeface="Source Sans 3"/>
                <a:ea typeface="Source Sans 3"/>
              </a:rPr>
              <a:t>İnsan</a:t>
            </a:r>
            <a:r>
              <a:rPr lang="en-US" sz="1700" b="0" strike="noStrike" spc="-1" dirty="0">
                <a:solidFill>
                  <a:srgbClr val="E2E6E9"/>
                </a:solidFill>
                <a:latin typeface="Source Sans 3"/>
                <a:ea typeface="Source Sans 3"/>
              </a:rPr>
              <a:t> </a:t>
            </a:r>
            <a:r>
              <a:rPr lang="en-US" sz="1700" b="0" strike="noStrike" spc="-1" dirty="0" err="1">
                <a:solidFill>
                  <a:srgbClr val="E2E6E9"/>
                </a:solidFill>
                <a:latin typeface="Source Sans 3"/>
                <a:ea typeface="Source Sans 3"/>
              </a:rPr>
              <a:t>Resursları</a:t>
            </a:r>
            <a:r>
              <a:rPr lang="en-US" sz="1700" b="0" strike="noStrike" spc="-1" dirty="0">
                <a:solidFill>
                  <a:srgbClr val="E2E6E9"/>
                </a:solidFill>
                <a:latin typeface="Source Sans 3"/>
                <a:ea typeface="Source Sans 3"/>
              </a:rPr>
              <a:t> </a:t>
            </a:r>
            <a:r>
              <a:rPr lang="en-US" sz="1700" b="0" strike="noStrike" spc="-1" dirty="0" err="1">
                <a:solidFill>
                  <a:srgbClr val="E2E6E9"/>
                </a:solidFill>
                <a:latin typeface="Source Sans 3"/>
                <a:ea typeface="Source Sans 3"/>
              </a:rPr>
              <a:t>və</a:t>
            </a:r>
            <a:r>
              <a:rPr lang="en-US" sz="1700" b="0" strike="noStrike" spc="-1" dirty="0">
                <a:solidFill>
                  <a:srgbClr val="E2E6E9"/>
                </a:solidFill>
                <a:latin typeface="Source Sans 3"/>
                <a:ea typeface="Source Sans 3"/>
              </a:rPr>
              <a:t> </a:t>
            </a:r>
            <a:r>
              <a:rPr lang="en-US" sz="1700" b="0" strike="noStrike" spc="-1" dirty="0" err="1">
                <a:solidFill>
                  <a:srgbClr val="E2E6E9"/>
                </a:solidFill>
                <a:latin typeface="Source Sans 3"/>
                <a:ea typeface="Source Sans 3"/>
              </a:rPr>
              <a:t>Süni</a:t>
            </a:r>
            <a:r>
              <a:rPr lang="en-US" sz="1700" b="0" strike="noStrike" spc="-1" dirty="0">
                <a:solidFill>
                  <a:srgbClr val="E2E6E9"/>
                </a:solidFill>
                <a:latin typeface="Source Sans 3"/>
                <a:ea typeface="Source Sans 3"/>
              </a:rPr>
              <a:t> </a:t>
            </a:r>
            <a:r>
              <a:rPr lang="en-US" sz="1700" b="0" strike="noStrike" spc="-1" dirty="0" err="1">
                <a:solidFill>
                  <a:srgbClr val="E2E6E9"/>
                </a:solidFill>
                <a:latin typeface="Source Sans 3"/>
                <a:ea typeface="Source Sans 3"/>
              </a:rPr>
              <a:t>İntellekt</a:t>
            </a:r>
            <a:endParaRPr lang="en-US" sz="17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1632ECBD-E303-E383-ED3A-DD09C1C005F9}"/>
              </a:ext>
            </a:extLst>
          </p:cNvPr>
          <p:cNvSpPr/>
          <p:nvPr/>
        </p:nvSpPr>
        <p:spPr>
          <a:xfrm>
            <a:off x="6350040" y="5516820"/>
            <a:ext cx="964800" cy="330840"/>
          </a:xfrm>
          <a:prstGeom prst="roundRect">
            <a:avLst>
              <a:gd name="adj" fmla="val 6417"/>
            </a:avLst>
          </a:prstGeom>
          <a:noFill/>
          <a:ln w="762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7428CAFA-14C2-35B3-8FB6-073C197330E9}"/>
              </a:ext>
            </a:extLst>
          </p:cNvPr>
          <p:cNvSpPr/>
          <p:nvPr/>
        </p:nvSpPr>
        <p:spPr>
          <a:xfrm>
            <a:off x="6415200" y="5516820"/>
            <a:ext cx="827640" cy="25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001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FFFFFF"/>
                </a:solidFill>
                <a:latin typeface="Source Sans 3"/>
                <a:ea typeface="Source Sans 3"/>
              </a:rPr>
              <a:t>MUALLIM: 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EEA7B9-C871-0BD0-85B1-F1C56D291466}"/>
              </a:ext>
            </a:extLst>
          </p:cNvPr>
          <p:cNvSpPr/>
          <p:nvPr/>
        </p:nvSpPr>
        <p:spPr>
          <a:xfrm>
            <a:off x="7359120" y="5520780"/>
            <a:ext cx="1869120" cy="3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350" b="0" strike="noStrike" spc="-1">
                <a:solidFill>
                  <a:srgbClr val="FFFFFF"/>
                </a:solidFill>
                <a:latin typeface="Source Sans 3"/>
                <a:ea typeface="Source Sans 3"/>
              </a:rPr>
              <a:t>ORXAN ISKANDAROV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54" name="Text 0"/>
          <p:cNvSpPr/>
          <p:nvPr/>
        </p:nvSpPr>
        <p:spPr>
          <a:xfrm>
            <a:off x="6350040" y="759960"/>
            <a:ext cx="4908240" cy="61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4799"/>
              </a:lnSpc>
              <a:tabLst>
                <a:tab pos="0" algn="l"/>
              </a:tabLst>
            </a:pPr>
            <a:r>
              <a:rPr lang="en-US" sz="3850" b="1" strike="noStrike" spc="-1">
                <a:solidFill>
                  <a:srgbClr val="FFFFFF"/>
                </a:solidFill>
                <a:latin typeface="Montserrat Bold"/>
                <a:ea typeface="Montserrat Bold"/>
              </a:rPr>
              <a:t>Dərsin Məqsədləri</a:t>
            </a:r>
            <a:endParaRPr lang="en-US" sz="3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1"/>
          <p:cNvSpPr/>
          <p:nvPr/>
        </p:nvSpPr>
        <p:spPr>
          <a:xfrm>
            <a:off x="6350040" y="1697400"/>
            <a:ext cx="7416000" cy="64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Bu gün süni intellektin insanların iş tərzini — işə qəbuldan işçi saxlamağa qədər — necə kökündən dəyişdirdiyini birlikdə araşdıracağıq.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6350040" y="2588400"/>
            <a:ext cx="7416000" cy="1576440"/>
          </a:xfrm>
          <a:prstGeom prst="roundRect">
            <a:avLst>
              <a:gd name="adj" fmla="val 2054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6380640" y="2618640"/>
            <a:ext cx="863280" cy="1515600"/>
          </a:xfrm>
          <a:prstGeom prst="rect">
            <a:avLst/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6650640" y="3174120"/>
            <a:ext cx="323640" cy="40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255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1</a:t>
            </a:r>
            <a:endParaRPr lang="en-US" sz="2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7460280" y="2834640"/>
            <a:ext cx="4179240" cy="30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Süni İntellektin Rolunu Anlamaq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6"/>
          <p:cNvSpPr/>
          <p:nvPr/>
        </p:nvSpPr>
        <p:spPr>
          <a:xfrm>
            <a:off x="7460280" y="3270960"/>
            <a:ext cx="6059520" cy="64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HR proseslərini avtomatlaşdıran və daha dəqiq edən SI alətlərini kəşf etmək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7"/>
          <p:cNvSpPr/>
          <p:nvPr/>
        </p:nvSpPr>
        <p:spPr>
          <a:xfrm>
            <a:off x="6350040" y="4381200"/>
            <a:ext cx="7416000" cy="1295280"/>
          </a:xfrm>
          <a:prstGeom prst="roundRect">
            <a:avLst>
              <a:gd name="adj" fmla="val 2500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8"/>
          <p:cNvSpPr/>
          <p:nvPr/>
        </p:nvSpPr>
        <p:spPr>
          <a:xfrm>
            <a:off x="6380640" y="4411440"/>
            <a:ext cx="863280" cy="1234440"/>
          </a:xfrm>
          <a:prstGeom prst="rect">
            <a:avLst/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9"/>
          <p:cNvSpPr/>
          <p:nvPr/>
        </p:nvSpPr>
        <p:spPr>
          <a:xfrm>
            <a:off x="6650640" y="4826520"/>
            <a:ext cx="323640" cy="40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255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2</a:t>
            </a:r>
            <a:endParaRPr lang="en-US" sz="2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0"/>
          <p:cNvSpPr/>
          <p:nvPr/>
        </p:nvSpPr>
        <p:spPr>
          <a:xfrm>
            <a:off x="7460280" y="4627440"/>
            <a:ext cx="3588840" cy="30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Tətbiq Sahələrini Öyrənmək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11"/>
          <p:cNvSpPr/>
          <p:nvPr/>
        </p:nvSpPr>
        <p:spPr>
          <a:xfrm>
            <a:off x="7460280" y="5063760"/>
            <a:ext cx="6059520" cy="3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İşə qəbuldan performans idarəsinə qədər real dünya nümunələri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2"/>
          <p:cNvSpPr/>
          <p:nvPr/>
        </p:nvSpPr>
        <p:spPr>
          <a:xfrm>
            <a:off x="6350040" y="5892480"/>
            <a:ext cx="7416000" cy="1576440"/>
          </a:xfrm>
          <a:prstGeom prst="roundRect">
            <a:avLst>
              <a:gd name="adj" fmla="val 2054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13"/>
          <p:cNvSpPr/>
          <p:nvPr/>
        </p:nvSpPr>
        <p:spPr>
          <a:xfrm>
            <a:off x="6380640" y="5923080"/>
            <a:ext cx="863280" cy="1515600"/>
          </a:xfrm>
          <a:prstGeom prst="rect">
            <a:avLst/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14"/>
          <p:cNvSpPr/>
          <p:nvPr/>
        </p:nvSpPr>
        <p:spPr>
          <a:xfrm>
            <a:off x="6650640" y="6478560"/>
            <a:ext cx="323640" cy="40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255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3</a:t>
            </a:r>
            <a:endParaRPr lang="en-US" sz="2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5"/>
          <p:cNvSpPr/>
          <p:nvPr/>
        </p:nvSpPr>
        <p:spPr>
          <a:xfrm>
            <a:off x="7460280" y="613908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Etik Məsuliyyət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6"/>
          <p:cNvSpPr/>
          <p:nvPr/>
        </p:nvSpPr>
        <p:spPr>
          <a:xfrm>
            <a:off x="7460280" y="6575400"/>
            <a:ext cx="6059520" cy="64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Süni intellektin HR-da məsuliyyətlə və şəffaf şəkildə tətbiq edilməsi yolları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0"/>
          <p:cNvSpPr/>
          <p:nvPr/>
        </p:nvSpPr>
        <p:spPr>
          <a:xfrm>
            <a:off x="947520" y="1140840"/>
            <a:ext cx="10820520" cy="50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3949"/>
              </a:lnSpc>
              <a:tabLst>
                <a:tab pos="0" algn="l"/>
              </a:tabLst>
            </a:pPr>
            <a:r>
              <a:rPr lang="en-US" sz="3150" b="1" strike="noStrike" spc="-1">
                <a:solidFill>
                  <a:srgbClr val="FFFFFF"/>
                </a:solidFill>
                <a:latin typeface="Montserrat Bold"/>
                <a:ea typeface="Montserrat Bold"/>
              </a:rPr>
              <a:t>İnsan Resursları — Süni İntellekt Üçün Strateji Sahə</a:t>
            </a:r>
            <a:endParaRPr lang="en-US" sz="3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"/>
          <p:cNvSpPr/>
          <p:nvPr/>
        </p:nvSpPr>
        <p:spPr>
          <a:xfrm>
            <a:off x="947520" y="1995840"/>
            <a:ext cx="6809040" cy="72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899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İnsanlar hər bir təşkilatın ən dəyərli aktividir. HR departamentinin qərarları yalnız işə qəbulu deyil, həm də şirkətin </a:t>
            </a:r>
            <a:r>
              <a:rPr lang="en-US" sz="1350" b="1" strike="noStrike" spc="-1">
                <a:solidFill>
                  <a:srgbClr val="E2E6E9"/>
                </a:solidFill>
                <a:latin typeface="Source Sans 3"/>
                <a:ea typeface="Source Sans 3"/>
              </a:rPr>
              <a:t>məhsuldarlığını, korporativ mədəniyyətini və bazardakı nüfuzunu</a:t>
            </a:r>
            <a:r>
              <a:rPr lang="en-US" sz="135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 birbaşa formalaşdırır.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2"/>
          <p:cNvSpPr/>
          <p:nvPr/>
        </p:nvSpPr>
        <p:spPr>
          <a:xfrm>
            <a:off x="947520" y="2855520"/>
            <a:ext cx="6809040" cy="48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899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Süni intellekt HR mütəxəssislərinə böyük həcmli məlumatları sürətlə emal etmək, daha dəqiq qərarlar qəbul etmək və strateji işlərə daha çox vaxt ayırmaq imkanı verir.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3"/>
          <p:cNvSpPr/>
          <p:nvPr/>
        </p:nvSpPr>
        <p:spPr>
          <a:xfrm>
            <a:off x="947520" y="3505320"/>
            <a:ext cx="6809040" cy="1041840"/>
          </a:xfrm>
          <a:prstGeom prst="roundRect">
            <a:avLst>
              <a:gd name="adj" fmla="val 10528"/>
            </a:avLst>
          </a:prstGeom>
          <a:solidFill>
            <a:srgbClr val="111213"/>
          </a:solidFill>
          <a:ln w="22860">
            <a:solidFill>
              <a:srgbClr val="494A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Shape 4"/>
          <p:cNvSpPr/>
          <p:nvPr/>
        </p:nvSpPr>
        <p:spPr>
          <a:xfrm>
            <a:off x="924480" y="3505320"/>
            <a:ext cx="91080" cy="1041840"/>
          </a:xfrm>
          <a:prstGeom prst="roundRect">
            <a:avLst>
              <a:gd name="adj" fmla="val 29142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5"/>
          <p:cNvSpPr/>
          <p:nvPr/>
        </p:nvSpPr>
        <p:spPr>
          <a:xfrm>
            <a:off x="1216440" y="3705840"/>
            <a:ext cx="2018520" cy="25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950"/>
              </a:lnSpc>
              <a:tabLst>
                <a:tab pos="0" algn="l"/>
              </a:tabLst>
            </a:pPr>
            <a:r>
              <a:rPr lang="en-US" sz="155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Dəqiqlik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6"/>
          <p:cNvSpPr/>
          <p:nvPr/>
        </p:nvSpPr>
        <p:spPr>
          <a:xfrm>
            <a:off x="1216440" y="4104360"/>
            <a:ext cx="633960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899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Məlumat əsaslı qərarlar insan xətasını azaldır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7"/>
          <p:cNvSpPr/>
          <p:nvPr/>
        </p:nvSpPr>
        <p:spPr>
          <a:xfrm>
            <a:off x="947520" y="4693680"/>
            <a:ext cx="6809040" cy="1041840"/>
          </a:xfrm>
          <a:prstGeom prst="roundRect">
            <a:avLst>
              <a:gd name="adj" fmla="val 10528"/>
            </a:avLst>
          </a:prstGeom>
          <a:solidFill>
            <a:srgbClr val="111213"/>
          </a:solidFill>
          <a:ln w="22860">
            <a:solidFill>
              <a:srgbClr val="494A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8"/>
          <p:cNvSpPr/>
          <p:nvPr/>
        </p:nvSpPr>
        <p:spPr>
          <a:xfrm>
            <a:off x="924480" y="4693680"/>
            <a:ext cx="91080" cy="1041840"/>
          </a:xfrm>
          <a:prstGeom prst="roundRect">
            <a:avLst>
              <a:gd name="adj" fmla="val 29142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9"/>
          <p:cNvSpPr/>
          <p:nvPr/>
        </p:nvSpPr>
        <p:spPr>
          <a:xfrm>
            <a:off x="1216440" y="4894200"/>
            <a:ext cx="2018520" cy="25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950"/>
              </a:lnSpc>
              <a:tabLst>
                <a:tab pos="0" algn="l"/>
              </a:tabLst>
            </a:pPr>
            <a:r>
              <a:rPr lang="en-US" sz="155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Sürət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10"/>
          <p:cNvSpPr/>
          <p:nvPr/>
        </p:nvSpPr>
        <p:spPr>
          <a:xfrm>
            <a:off x="1216440" y="5292720"/>
            <a:ext cx="633960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899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Avtomatlaşdırma proses müddətlərini əhəmiyyətli dərəcədə qısaldır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11"/>
          <p:cNvSpPr/>
          <p:nvPr/>
        </p:nvSpPr>
        <p:spPr>
          <a:xfrm>
            <a:off x="947520" y="5882040"/>
            <a:ext cx="6809040" cy="1041840"/>
          </a:xfrm>
          <a:prstGeom prst="roundRect">
            <a:avLst>
              <a:gd name="adj" fmla="val 10528"/>
            </a:avLst>
          </a:prstGeom>
          <a:solidFill>
            <a:srgbClr val="111213"/>
          </a:solidFill>
          <a:ln w="22860">
            <a:solidFill>
              <a:srgbClr val="494A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Shape 12"/>
          <p:cNvSpPr/>
          <p:nvPr/>
        </p:nvSpPr>
        <p:spPr>
          <a:xfrm>
            <a:off x="924480" y="5882040"/>
            <a:ext cx="91080" cy="1041840"/>
          </a:xfrm>
          <a:prstGeom prst="roundRect">
            <a:avLst>
              <a:gd name="adj" fmla="val 29142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13"/>
          <p:cNvSpPr/>
          <p:nvPr/>
        </p:nvSpPr>
        <p:spPr>
          <a:xfrm>
            <a:off x="1216440" y="6082560"/>
            <a:ext cx="2018520" cy="25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950"/>
              </a:lnSpc>
              <a:tabLst>
                <a:tab pos="0" algn="l"/>
              </a:tabLst>
            </a:pPr>
            <a:r>
              <a:rPr lang="en-US" sz="155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Strateji Fokus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14"/>
          <p:cNvSpPr/>
          <p:nvPr/>
        </p:nvSpPr>
        <p:spPr>
          <a:xfrm>
            <a:off x="1216440" y="6481080"/>
            <a:ext cx="633960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899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Rutin tapşırıqlar avtomatlaşdırılaraq HR mütəxəssisləri azad edilir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15"/>
          <p:cNvSpPr/>
          <p:nvPr/>
        </p:nvSpPr>
        <p:spPr>
          <a:xfrm>
            <a:off x="8069760" y="1864440"/>
            <a:ext cx="5748120" cy="5223960"/>
          </a:xfrm>
          <a:prstGeom prst="roundRect">
            <a:avLst>
              <a:gd name="adj" fmla="val 510"/>
            </a:avLst>
          </a:prstGeom>
          <a:solidFill>
            <a:srgbClr val="1D1F2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16"/>
          <p:cNvSpPr/>
          <p:nvPr/>
        </p:nvSpPr>
        <p:spPr>
          <a:xfrm>
            <a:off x="8247600" y="2010600"/>
            <a:ext cx="2018520" cy="25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950"/>
              </a:lnSpc>
              <a:tabLst>
                <a:tab pos="0" algn="l"/>
              </a:tabLst>
            </a:pPr>
            <a:r>
              <a:rPr lang="en-US" sz="1550" b="1" strike="noStrike" spc="-1">
                <a:solidFill>
                  <a:srgbClr val="FFFFFF"/>
                </a:solidFill>
                <a:latin typeface="Montserrat Bold"/>
                <a:ea typeface="Montserrat Bold"/>
              </a:rPr>
              <a:t>Niyə İndi?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17"/>
          <p:cNvSpPr/>
          <p:nvPr/>
        </p:nvSpPr>
        <p:spPr>
          <a:xfrm>
            <a:off x="8247600" y="2409120"/>
            <a:ext cx="5392800" cy="72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899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Rəqəmsal transformasiya sürətlənir. Şirkətlər böyük məlumat axınlarını idarə etmək, işçi memnuniyyətini artırmaq və rəqabət üstünlüyü qazanmaq üçün SI-yə müraciət edir.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/>
          <p:nvPr/>
        </p:nvSpPr>
        <p:spPr>
          <a:xfrm>
            <a:off x="828720" y="633600"/>
            <a:ext cx="12972960" cy="11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4601"/>
              </a:lnSpc>
              <a:tabLst>
                <a:tab pos="0" algn="l"/>
              </a:tabLst>
            </a:pPr>
            <a:r>
              <a:rPr lang="en-US" sz="3700" b="1" strike="noStrike" spc="-1">
                <a:solidFill>
                  <a:srgbClr val="FFFFFF"/>
                </a:solidFill>
                <a:latin typeface="Montserrat Bold"/>
                <a:ea typeface="Montserrat Bold"/>
              </a:rPr>
              <a:t>İnsan Resurslarında Süni İntellektin Əsas Tətbiq Sahələri</a:t>
            </a:r>
            <a:endParaRPr lang="en-US" sz="3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1"/>
          <p:cNvSpPr/>
          <p:nvPr/>
        </p:nvSpPr>
        <p:spPr>
          <a:xfrm>
            <a:off x="828720" y="2207520"/>
            <a:ext cx="12972960" cy="30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35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Süni intellekt HR-ın bütün həyat dövrünü əhatə edir — namizədin axtarışından işçinin inkişafına qədər.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Image 0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8720" y="2735640"/>
            <a:ext cx="517320" cy="517320"/>
          </a:xfrm>
          <a:prstGeom prst="rect">
            <a:avLst/>
          </a:prstGeom>
          <a:ln w="0">
            <a:noFill/>
          </a:ln>
        </p:spPr>
      </p:pic>
      <p:sp>
        <p:nvSpPr>
          <p:cNvPr id="92" name="Text 2"/>
          <p:cNvSpPr/>
          <p:nvPr/>
        </p:nvSpPr>
        <p:spPr>
          <a:xfrm>
            <a:off x="828720" y="3501720"/>
            <a:ext cx="2353680" cy="29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299"/>
              </a:lnSpc>
              <a:tabLst>
                <a:tab pos="0" algn="l"/>
              </a:tabLst>
            </a:pPr>
            <a:r>
              <a:rPr lang="en-US" sz="185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İşə Qəbul</a:t>
            </a:r>
            <a:endParaRPr lang="en-US" sz="1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3"/>
          <p:cNvSpPr/>
          <p:nvPr/>
        </p:nvSpPr>
        <p:spPr>
          <a:xfrm>
            <a:off x="828720" y="3915000"/>
            <a:ext cx="6362280" cy="105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>
              <a:lnSpc>
                <a:spcPts val="2350"/>
              </a:lnSpc>
              <a:buClr>
                <a:srgbClr val="E2E6E9"/>
              </a:buClr>
              <a:buFont typeface="Symbol" charset="2"/>
              <a:buChar char=""/>
            </a:pPr>
            <a:r>
              <a:rPr lang="en-US" sz="16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CV avtomatik seçimi və sıralanması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2350"/>
              </a:lnSpc>
              <a:buClr>
                <a:srgbClr val="E2E6E9"/>
              </a:buClr>
              <a:buFont typeface="Symbol" charset="2"/>
              <a:buChar char=""/>
            </a:pPr>
            <a:r>
              <a:rPr lang="en-US" sz="16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Chatbotlarla ilkin müsahibə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2350"/>
              </a:lnSpc>
              <a:buClr>
                <a:srgbClr val="E2E6E9"/>
              </a:buClr>
              <a:buFont typeface="Symbol" charset="2"/>
              <a:buChar char=""/>
            </a:pPr>
            <a:r>
              <a:rPr lang="en-US" sz="16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Namizəd uyğunluğunun proqnozu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" name="Image 1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439400" y="2735640"/>
            <a:ext cx="517320" cy="517320"/>
          </a:xfrm>
          <a:prstGeom prst="rect">
            <a:avLst/>
          </a:prstGeom>
          <a:ln w="0">
            <a:noFill/>
          </a:ln>
        </p:spPr>
      </p:pic>
      <p:sp>
        <p:nvSpPr>
          <p:cNvPr id="95" name="Text 4"/>
          <p:cNvSpPr/>
          <p:nvPr/>
        </p:nvSpPr>
        <p:spPr>
          <a:xfrm>
            <a:off x="7439400" y="3501720"/>
            <a:ext cx="2353680" cy="29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299"/>
              </a:lnSpc>
              <a:tabLst>
                <a:tab pos="0" algn="l"/>
              </a:tabLst>
            </a:pPr>
            <a:r>
              <a:rPr lang="en-US" sz="185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İşə Adaptasiya</a:t>
            </a:r>
            <a:endParaRPr lang="en-US" sz="1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5"/>
          <p:cNvSpPr/>
          <p:nvPr/>
        </p:nvSpPr>
        <p:spPr>
          <a:xfrm>
            <a:off x="7439400" y="3915000"/>
            <a:ext cx="6362280" cy="105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>
              <a:lnSpc>
                <a:spcPts val="2350"/>
              </a:lnSpc>
              <a:buClr>
                <a:srgbClr val="E2E6E9"/>
              </a:buClr>
              <a:buFont typeface="Symbol" charset="2"/>
              <a:buChar char=""/>
            </a:pPr>
            <a:r>
              <a:rPr lang="en-US" sz="16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Sənədlərin avtomatik işlənməsi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2350"/>
              </a:lnSpc>
              <a:buClr>
                <a:srgbClr val="E2E6E9"/>
              </a:buClr>
              <a:buFont typeface="Symbol" charset="2"/>
              <a:buChar char=""/>
            </a:pPr>
            <a:r>
              <a:rPr lang="en-US" sz="16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Fərdi təlim proqramları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2350"/>
              </a:lnSpc>
              <a:buClr>
                <a:srgbClr val="E2E6E9"/>
              </a:buClr>
              <a:buFont typeface="Symbol" charset="2"/>
              <a:buChar char=""/>
            </a:pPr>
            <a:r>
              <a:rPr lang="en-US" sz="16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Sual-cavab botları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" name="Image 2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28720" y="5364360"/>
            <a:ext cx="517320" cy="517320"/>
          </a:xfrm>
          <a:prstGeom prst="rect">
            <a:avLst/>
          </a:prstGeom>
          <a:ln w="0">
            <a:noFill/>
          </a:ln>
        </p:spPr>
      </p:pic>
      <p:sp>
        <p:nvSpPr>
          <p:cNvPr id="98" name="Text 6"/>
          <p:cNvSpPr/>
          <p:nvPr/>
        </p:nvSpPr>
        <p:spPr>
          <a:xfrm>
            <a:off x="828720" y="6130440"/>
            <a:ext cx="3530880" cy="29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299"/>
              </a:lnSpc>
              <a:tabLst>
                <a:tab pos="0" algn="l"/>
              </a:tabLst>
            </a:pPr>
            <a:r>
              <a:rPr lang="en-US" sz="185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Performans Qiymətləndirmə</a:t>
            </a:r>
            <a:endParaRPr lang="en-US" sz="1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7"/>
          <p:cNvSpPr/>
          <p:nvPr/>
        </p:nvSpPr>
        <p:spPr>
          <a:xfrm>
            <a:off x="828720" y="6544080"/>
            <a:ext cx="6362280" cy="105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>
              <a:lnSpc>
                <a:spcPts val="2350"/>
              </a:lnSpc>
              <a:buClr>
                <a:srgbClr val="E2E6E9"/>
              </a:buClr>
              <a:buFont typeface="Symbol" charset="2"/>
              <a:buChar char=""/>
            </a:pPr>
            <a:r>
              <a:rPr lang="en-US" sz="16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KPI məlumatlarının real vaxt təhlili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2350"/>
              </a:lnSpc>
              <a:buClr>
                <a:srgbClr val="E2E6E9"/>
              </a:buClr>
              <a:buFont typeface="Symbol" charset="2"/>
              <a:buChar char=""/>
            </a:pPr>
            <a:r>
              <a:rPr lang="en-US" sz="16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Avtomatik rəy generasiyası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2350"/>
              </a:lnSpc>
              <a:buClr>
                <a:srgbClr val="E2E6E9"/>
              </a:buClr>
              <a:buFont typeface="Symbol" charset="2"/>
              <a:buChar char=""/>
            </a:pPr>
            <a:r>
              <a:rPr lang="en-US" sz="16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Güclü/zəif tərəflərin müəyyənləşdirilməsi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Image 3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439400" y="5364360"/>
            <a:ext cx="517320" cy="517320"/>
          </a:xfrm>
          <a:prstGeom prst="rect">
            <a:avLst/>
          </a:prstGeom>
          <a:ln w="0">
            <a:noFill/>
          </a:ln>
        </p:spPr>
      </p:pic>
      <p:sp>
        <p:nvSpPr>
          <p:cNvPr id="101" name="Text 8"/>
          <p:cNvSpPr/>
          <p:nvPr/>
        </p:nvSpPr>
        <p:spPr>
          <a:xfrm>
            <a:off x="7439400" y="6130440"/>
            <a:ext cx="2431800" cy="29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299"/>
              </a:lnSpc>
              <a:tabLst>
                <a:tab pos="0" algn="l"/>
              </a:tabLst>
            </a:pPr>
            <a:r>
              <a:rPr lang="en-US" sz="185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İşçilərin Saxlanması</a:t>
            </a:r>
            <a:endParaRPr lang="en-US" sz="1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9"/>
          <p:cNvSpPr/>
          <p:nvPr/>
        </p:nvSpPr>
        <p:spPr>
          <a:xfrm>
            <a:off x="7439400" y="6544080"/>
            <a:ext cx="6362280" cy="105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>
              <a:lnSpc>
                <a:spcPts val="2350"/>
              </a:lnSpc>
              <a:buClr>
                <a:srgbClr val="E2E6E9"/>
              </a:buClr>
              <a:buFont typeface="Symbol" charset="2"/>
              <a:buChar char=""/>
            </a:pPr>
            <a:r>
              <a:rPr lang="en-US" sz="16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İşdən çıxma riskinin erkən proqnozu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2350"/>
              </a:lnSpc>
              <a:buClr>
                <a:srgbClr val="E2E6E9"/>
              </a:buClr>
              <a:buFont typeface="Symbol" charset="2"/>
              <a:buChar char=""/>
            </a:pPr>
            <a:r>
              <a:rPr lang="en-US" sz="16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Cəlbedicilik strategiyaları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2350"/>
              </a:lnSpc>
              <a:buClr>
                <a:srgbClr val="E2E6E9"/>
              </a:buClr>
              <a:buFont typeface="Symbol" charset="2"/>
              <a:buChar char=""/>
            </a:pPr>
            <a:r>
              <a:rPr lang="en-US" sz="16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Fərdi motivasiya tövsiyələri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Image 0" descr="preencoded.png"/>
          <p:cNvPicPr/>
          <p:nvPr/>
        </p:nvPicPr>
        <p:blipFill>
          <a:blip r:embed="rId3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104" name="Text 0"/>
          <p:cNvSpPr/>
          <p:nvPr/>
        </p:nvSpPr>
        <p:spPr>
          <a:xfrm>
            <a:off x="775440" y="929160"/>
            <a:ext cx="7592400" cy="110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4300"/>
              </a:lnSpc>
              <a:tabLst>
                <a:tab pos="0" algn="l"/>
              </a:tabLst>
            </a:pPr>
            <a:r>
              <a:rPr lang="en-US" sz="3450" b="1" strike="noStrike" spc="-1">
                <a:solidFill>
                  <a:srgbClr val="FFFFFF"/>
                </a:solidFill>
                <a:latin typeface="Montserrat Bold"/>
                <a:ea typeface="Montserrat Bold"/>
              </a:rPr>
              <a:t>İşə Qəbulda Süni İntellekt: İmkanlar və Risklər</a:t>
            </a:r>
            <a:endParaRPr lang="en-US" sz="3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775440" y="2466000"/>
            <a:ext cx="301212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149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000000"/>
                </a:solidFill>
                <a:latin typeface="Montserrat Bold"/>
                <a:ea typeface="Montserrat Bold"/>
              </a:rPr>
              <a:t>🔄</a:t>
            </a:r>
            <a:r>
              <a:rPr lang="en-US" sz="1700" b="1" strike="noStrike" spc="-1">
                <a:solidFill>
                  <a:srgbClr val="FFFFFF"/>
                </a:solidFill>
                <a:latin typeface="Montserrat Bold"/>
                <a:ea typeface="Montserrat Bold"/>
              </a:rPr>
              <a:t> Avtomatik Proses Axını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Image 1" descr="preencoded.png"/>
          <p:cNvPicPr/>
          <p:nvPr/>
        </p:nvPicPr>
        <p:blipFill>
          <a:blip r:embed="rId4"/>
          <a:stretch/>
        </p:blipFill>
        <p:spPr>
          <a:xfrm>
            <a:off x="775440" y="2937240"/>
            <a:ext cx="969120" cy="1388880"/>
          </a:xfrm>
          <a:prstGeom prst="rect">
            <a:avLst/>
          </a:prstGeom>
          <a:ln w="0">
            <a:noFill/>
          </a:ln>
        </p:spPr>
      </p:pic>
      <p:sp>
        <p:nvSpPr>
          <p:cNvPr id="107" name="Text 2"/>
          <p:cNvSpPr/>
          <p:nvPr/>
        </p:nvSpPr>
        <p:spPr>
          <a:xfrm>
            <a:off x="1919160" y="3130920"/>
            <a:ext cx="220284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149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CV Analizi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1919160" y="3580560"/>
            <a:ext cx="2415960" cy="55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149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Yüzlərlə CV saniyələr içində işlənir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9" name="Image 2" descr="preencoded.png"/>
          <p:cNvPicPr/>
          <p:nvPr/>
        </p:nvPicPr>
        <p:blipFill>
          <a:blip r:embed="rId5"/>
          <a:stretch/>
        </p:blipFill>
        <p:spPr>
          <a:xfrm>
            <a:off x="775440" y="4326120"/>
            <a:ext cx="969120" cy="1388880"/>
          </a:xfrm>
          <a:prstGeom prst="rect">
            <a:avLst/>
          </a:prstGeom>
          <a:ln w="0">
            <a:noFill/>
          </a:ln>
        </p:spPr>
      </p:pic>
      <p:sp>
        <p:nvSpPr>
          <p:cNvPr id="110" name="Text 4"/>
          <p:cNvSpPr/>
          <p:nvPr/>
        </p:nvSpPr>
        <p:spPr>
          <a:xfrm>
            <a:off x="1919160" y="4520160"/>
            <a:ext cx="226404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149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Namizəd Sıralaması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5"/>
          <p:cNvSpPr/>
          <p:nvPr/>
        </p:nvSpPr>
        <p:spPr>
          <a:xfrm>
            <a:off x="1919160" y="4969440"/>
            <a:ext cx="2415960" cy="55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149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Uyğunluq balları avtomatik hesablanır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" name="Image 3" descr="preencoded.png"/>
          <p:cNvPicPr/>
          <p:nvPr/>
        </p:nvPicPr>
        <p:blipFill>
          <a:blip r:embed="rId6"/>
          <a:stretch/>
        </p:blipFill>
        <p:spPr>
          <a:xfrm>
            <a:off x="775440" y="5715360"/>
            <a:ext cx="969120" cy="1388880"/>
          </a:xfrm>
          <a:prstGeom prst="rect">
            <a:avLst/>
          </a:prstGeom>
          <a:ln w="0">
            <a:noFill/>
          </a:ln>
        </p:spPr>
      </p:pic>
      <p:sp>
        <p:nvSpPr>
          <p:cNvPr id="113" name="Text 6"/>
          <p:cNvSpPr/>
          <p:nvPr/>
        </p:nvSpPr>
        <p:spPr>
          <a:xfrm>
            <a:off x="1919160" y="5909040"/>
            <a:ext cx="220284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149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Avtomatik Cavab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7"/>
          <p:cNvSpPr/>
          <p:nvPr/>
        </p:nvSpPr>
        <p:spPr>
          <a:xfrm>
            <a:off x="1919160" y="6358680"/>
            <a:ext cx="2415960" cy="55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149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Namizədlərə dərhal bildiriş göndərilir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8"/>
          <p:cNvSpPr/>
          <p:nvPr/>
        </p:nvSpPr>
        <p:spPr>
          <a:xfrm>
            <a:off x="4676400" y="2292120"/>
            <a:ext cx="3838680" cy="5007960"/>
          </a:xfrm>
          <a:prstGeom prst="roundRect">
            <a:avLst>
              <a:gd name="adj" fmla="val 758"/>
            </a:avLst>
          </a:prstGeom>
          <a:solidFill>
            <a:srgbClr val="1D1F2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9"/>
          <p:cNvSpPr/>
          <p:nvPr/>
        </p:nvSpPr>
        <p:spPr>
          <a:xfrm>
            <a:off x="4870440" y="2466000"/>
            <a:ext cx="297324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149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000000"/>
                </a:solidFill>
                <a:latin typeface="Montserrat Bold"/>
                <a:ea typeface="Montserrat Bold"/>
              </a:rPr>
              <a:t>⚠️</a:t>
            </a:r>
            <a:r>
              <a:rPr lang="en-US" sz="1700" b="1" strike="noStrike" spc="-1">
                <a:solidFill>
                  <a:srgbClr val="FFFFFF"/>
                </a:solidFill>
                <a:latin typeface="Montserrat Bold"/>
                <a:ea typeface="Montserrat Bold"/>
              </a:rPr>
              <a:t> Diqqət Edilməli Risklər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0"/>
          <p:cNvSpPr/>
          <p:nvPr/>
        </p:nvSpPr>
        <p:spPr>
          <a:xfrm>
            <a:off x="4870440" y="2915640"/>
            <a:ext cx="3450960" cy="137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149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Model </a:t>
            </a:r>
            <a:r>
              <a:rPr lang="en-US" sz="1500" b="1" strike="noStrike" spc="-1">
                <a:solidFill>
                  <a:srgbClr val="E2E6E9"/>
                </a:solidFill>
                <a:latin typeface="Source Sans 3"/>
                <a:ea typeface="Source Sans 3"/>
              </a:rPr>
              <a:t>balanssız məlumatlar</a:t>
            </a:r>
            <a:r>
              <a:rPr lang="en-US" sz="15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 üzərində öyrədilərsə, tarixi qərəzliklər yenidən istehsal oluna bilər. Məsələn, yalnız kişi adaylarına üstünlük verən model cins bərabərsizliyini artırır.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11"/>
          <p:cNvSpPr/>
          <p:nvPr/>
        </p:nvSpPr>
        <p:spPr>
          <a:xfrm>
            <a:off x="4870440" y="4452120"/>
            <a:ext cx="3450960" cy="122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>
              <a:lnSpc>
                <a:spcPts val="2149"/>
              </a:lnSpc>
              <a:buClr>
                <a:srgbClr val="E2E6E9"/>
              </a:buClr>
              <a:buFont typeface="Symbol" charset="2"/>
              <a:buChar char=""/>
            </a:pPr>
            <a:r>
              <a:rPr lang="en-US" sz="15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Qərəzli nəticələr ictimai nüfuza zərər verir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2149"/>
              </a:lnSpc>
              <a:buClr>
                <a:srgbClr val="E2E6E9"/>
              </a:buClr>
              <a:buFont typeface="Symbol" charset="2"/>
              <a:buChar char=""/>
            </a:pPr>
            <a:r>
              <a:rPr lang="en-US" sz="15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Hüquqi uyğunsuzluq riskləri yaranır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2149"/>
              </a:lnSpc>
              <a:buClr>
                <a:srgbClr val="E2E6E9"/>
              </a:buClr>
              <a:buFont typeface="Symbol" charset="2"/>
              <a:buChar char=""/>
            </a:pPr>
            <a:r>
              <a:rPr lang="en-US" sz="15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İnsan nəzarəti mütləq saxlanmalıdır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 0"/>
          <p:cNvSpPr/>
          <p:nvPr/>
        </p:nvSpPr>
        <p:spPr>
          <a:xfrm>
            <a:off x="863640" y="1094400"/>
            <a:ext cx="9537840" cy="61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4799"/>
              </a:lnSpc>
              <a:tabLst>
                <a:tab pos="0" algn="l"/>
              </a:tabLst>
            </a:pPr>
            <a:r>
              <a:rPr lang="en-US" sz="3850" b="1" strike="noStrike" spc="-1">
                <a:solidFill>
                  <a:srgbClr val="FFFFFF"/>
                </a:solidFill>
                <a:latin typeface="Montserrat Bold"/>
                <a:ea typeface="Montserrat Bold"/>
              </a:rPr>
              <a:t>İşçi Analitikası: Məlumatdan Anlayışa</a:t>
            </a:r>
            <a:endParaRPr lang="en-US" sz="3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1"/>
          <p:cNvSpPr/>
          <p:nvPr/>
        </p:nvSpPr>
        <p:spPr>
          <a:xfrm>
            <a:off x="863640" y="2139840"/>
            <a:ext cx="12902400" cy="64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Böyük həcmli işçi məlumatlarını emal edərək süni intellekt gizli nümunələri üzə çıxarır və HR mütəxəssislərinə proaktiv qərarlar qəbul etməyə kömək edir.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2"/>
          <p:cNvSpPr/>
          <p:nvPr/>
        </p:nvSpPr>
        <p:spPr>
          <a:xfrm>
            <a:off x="863640" y="3246480"/>
            <a:ext cx="2880000" cy="30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000000"/>
                </a:solidFill>
                <a:latin typeface="Montserrat Bold"/>
                <a:ea typeface="Montserrat Bold"/>
              </a:rPr>
              <a:t>📊</a:t>
            </a:r>
            <a:r>
              <a:rPr lang="en-US" sz="1900" b="1" strike="noStrike" spc="-1">
                <a:solidFill>
                  <a:srgbClr val="FFFFFF"/>
                </a:solidFill>
                <a:latin typeface="Montserrat Bold"/>
                <a:ea typeface="Montserrat Bold"/>
              </a:rPr>
              <a:t> Məlumat Mənbələri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3"/>
          <p:cNvSpPr/>
          <p:nvPr/>
        </p:nvSpPr>
        <p:spPr>
          <a:xfrm>
            <a:off x="833400" y="3765600"/>
            <a:ext cx="60480" cy="123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4"/>
          <p:cNvSpPr/>
          <p:nvPr/>
        </p:nvSpPr>
        <p:spPr>
          <a:xfrm>
            <a:off x="1140480" y="3795840"/>
            <a:ext cx="2346120" cy="30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Gecikmə Tezliyi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5"/>
          <p:cNvSpPr/>
          <p:nvPr/>
        </p:nvSpPr>
        <p:spPr>
          <a:xfrm>
            <a:off x="1140480" y="4318560"/>
            <a:ext cx="2346120" cy="64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Davamiyyət və gecikmə nümunələri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6"/>
          <p:cNvSpPr/>
          <p:nvPr/>
        </p:nvSpPr>
        <p:spPr>
          <a:xfrm>
            <a:off x="3726360" y="3765600"/>
            <a:ext cx="60480" cy="123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7"/>
          <p:cNvSpPr/>
          <p:nvPr/>
        </p:nvSpPr>
        <p:spPr>
          <a:xfrm>
            <a:off x="4033800" y="3795840"/>
            <a:ext cx="2346120" cy="30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Layihə İştirakı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8"/>
          <p:cNvSpPr/>
          <p:nvPr/>
        </p:nvSpPr>
        <p:spPr>
          <a:xfrm>
            <a:off x="4033800" y="4318560"/>
            <a:ext cx="2346120" cy="64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Komanda töhfəsi və əməkdaşlıq səviyyəsi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9"/>
          <p:cNvSpPr/>
          <p:nvPr/>
        </p:nvSpPr>
        <p:spPr>
          <a:xfrm>
            <a:off x="833400" y="5367960"/>
            <a:ext cx="60480" cy="907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0"/>
          <p:cNvSpPr/>
          <p:nvPr/>
        </p:nvSpPr>
        <p:spPr>
          <a:xfrm>
            <a:off x="1140480" y="539820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Sorğu Nəticələri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11"/>
          <p:cNvSpPr/>
          <p:nvPr/>
        </p:nvSpPr>
        <p:spPr>
          <a:xfrm>
            <a:off x="1140480" y="5920920"/>
            <a:ext cx="5239080" cy="3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Məmnuniyyət və cəlbedicilik ölçüləri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2"/>
          <p:cNvSpPr/>
          <p:nvPr/>
        </p:nvSpPr>
        <p:spPr>
          <a:xfrm>
            <a:off x="6914880" y="3246480"/>
            <a:ext cx="3407040" cy="30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000000"/>
                </a:solidFill>
                <a:latin typeface="Montserrat Bold"/>
                <a:ea typeface="Montserrat Bold"/>
              </a:rPr>
              <a:t>🎯</a:t>
            </a:r>
            <a:r>
              <a:rPr lang="en-US" sz="1900" b="1" strike="noStrike" spc="-1">
                <a:solidFill>
                  <a:srgbClr val="FFFFFF"/>
                </a:solidFill>
                <a:latin typeface="Montserrat Bold"/>
                <a:ea typeface="Montserrat Bold"/>
              </a:rPr>
              <a:t> Süni İntellektin Çıxışları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13"/>
          <p:cNvSpPr/>
          <p:nvPr/>
        </p:nvSpPr>
        <p:spPr>
          <a:xfrm>
            <a:off x="6914880" y="3795840"/>
            <a:ext cx="3321360" cy="1602000"/>
          </a:xfrm>
          <a:prstGeom prst="roundRect">
            <a:avLst>
              <a:gd name="adj" fmla="val 2022"/>
            </a:avLst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14"/>
          <p:cNvSpPr/>
          <p:nvPr/>
        </p:nvSpPr>
        <p:spPr>
          <a:xfrm>
            <a:off x="7130520" y="4011840"/>
            <a:ext cx="2789640" cy="30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İşdənçıxma Proqnozu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15"/>
          <p:cNvSpPr/>
          <p:nvPr/>
        </p:nvSpPr>
        <p:spPr>
          <a:xfrm>
            <a:off x="7130520" y="4534200"/>
            <a:ext cx="2889720" cy="64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Risk altındakı işçilər erkən müəyyənləşdirilir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16"/>
          <p:cNvSpPr/>
          <p:nvPr/>
        </p:nvSpPr>
        <p:spPr>
          <a:xfrm>
            <a:off x="10452240" y="3795840"/>
            <a:ext cx="3321360" cy="1602000"/>
          </a:xfrm>
          <a:prstGeom prst="roundRect">
            <a:avLst>
              <a:gd name="adj" fmla="val 2022"/>
            </a:avLst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17"/>
          <p:cNvSpPr/>
          <p:nvPr/>
        </p:nvSpPr>
        <p:spPr>
          <a:xfrm>
            <a:off x="10668240" y="401184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Lider Profili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8"/>
          <p:cNvSpPr/>
          <p:nvPr/>
        </p:nvSpPr>
        <p:spPr>
          <a:xfrm>
            <a:off x="10668240" y="4534200"/>
            <a:ext cx="2889720" cy="64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Potensial liderlər məlumat əsasında seçilir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9"/>
          <p:cNvSpPr/>
          <p:nvPr/>
        </p:nvSpPr>
        <p:spPr>
          <a:xfrm>
            <a:off x="6914880" y="5614200"/>
            <a:ext cx="6859080" cy="1278000"/>
          </a:xfrm>
          <a:prstGeom prst="roundRect">
            <a:avLst>
              <a:gd name="adj" fmla="val 2534"/>
            </a:avLst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20"/>
          <p:cNvSpPr/>
          <p:nvPr/>
        </p:nvSpPr>
        <p:spPr>
          <a:xfrm>
            <a:off x="7130520" y="582984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Təlim Effektivliyi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21"/>
          <p:cNvSpPr/>
          <p:nvPr/>
        </p:nvSpPr>
        <p:spPr>
          <a:xfrm>
            <a:off x="7130520" y="6352560"/>
            <a:ext cx="6427080" cy="3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Hansı proqramların işə yaradığı ölçülür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142" name="Text 0"/>
          <p:cNvSpPr/>
          <p:nvPr/>
        </p:nvSpPr>
        <p:spPr>
          <a:xfrm>
            <a:off x="6221160" y="695160"/>
            <a:ext cx="7674480" cy="104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4099"/>
              </a:lnSpc>
              <a:tabLst>
                <a:tab pos="0" algn="l"/>
              </a:tabLst>
            </a:pPr>
            <a:r>
              <a:rPr lang="en-US" sz="3250" b="1" strike="noStrike" spc="-1">
                <a:solidFill>
                  <a:srgbClr val="FFFFFF"/>
                </a:solidFill>
                <a:latin typeface="Montserrat Bold"/>
                <a:ea typeface="Montserrat Bold"/>
              </a:rPr>
              <a:t>İşçi Heyətinin İnkişafı Üçün Süni İntellekt</a:t>
            </a:r>
            <a:endParaRPr lang="en-US" sz="3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"/>
          <p:cNvSpPr/>
          <p:nvPr/>
        </p:nvSpPr>
        <p:spPr>
          <a:xfrm>
            <a:off x="6221160" y="1972800"/>
            <a:ext cx="7674480" cy="50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001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Ənənəvi təlim proqramları hamı üçün eyni məzmunu təklif edir. Süni intellekt isə hər işçi üçün </a:t>
            </a:r>
            <a:r>
              <a:rPr lang="en-US" sz="1400" b="1" strike="noStrike" spc="-1">
                <a:solidFill>
                  <a:srgbClr val="E2E6E9"/>
                </a:solidFill>
                <a:latin typeface="Source Sans 3"/>
                <a:ea typeface="Source Sans 3"/>
              </a:rPr>
              <a:t>fərdi öyrənmə yolu</a:t>
            </a:r>
            <a:r>
              <a:rPr lang="en-US" sz="14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 yaradır.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2"/>
          <p:cNvSpPr/>
          <p:nvPr/>
        </p:nvSpPr>
        <p:spPr>
          <a:xfrm>
            <a:off x="6404760" y="2933640"/>
            <a:ext cx="183240" cy="826200"/>
          </a:xfrm>
          <a:prstGeom prst="roundRect">
            <a:avLst>
              <a:gd name="adj" fmla="val 15006"/>
            </a:avLst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3"/>
          <p:cNvSpPr/>
          <p:nvPr/>
        </p:nvSpPr>
        <p:spPr>
          <a:xfrm>
            <a:off x="6221160" y="2813040"/>
            <a:ext cx="550440" cy="550440"/>
          </a:xfrm>
          <a:prstGeom prst="roundRect">
            <a:avLst>
              <a:gd name="adj" fmla="val 82991"/>
            </a:avLst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6" name="Image 1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358680" y="2950920"/>
            <a:ext cx="275040" cy="275040"/>
          </a:xfrm>
          <a:prstGeom prst="rect">
            <a:avLst/>
          </a:prstGeom>
          <a:ln w="0">
            <a:noFill/>
          </a:ln>
        </p:spPr>
      </p:pic>
      <p:sp>
        <p:nvSpPr>
          <p:cNvPr id="147" name="Text 4"/>
          <p:cNvSpPr/>
          <p:nvPr/>
        </p:nvSpPr>
        <p:spPr>
          <a:xfrm>
            <a:off x="6927840" y="2841840"/>
            <a:ext cx="2122920" cy="26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049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İşçi Profilinin Təhlili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5"/>
          <p:cNvSpPr/>
          <p:nvPr/>
        </p:nvSpPr>
        <p:spPr>
          <a:xfrm>
            <a:off x="6927840" y="3196440"/>
            <a:ext cx="696744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001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Mövcud bacarıqlar, boşluqlar və karyera hədəfləri müəyyənləşdirilir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6"/>
          <p:cNvSpPr/>
          <p:nvPr/>
        </p:nvSpPr>
        <p:spPr>
          <a:xfrm>
            <a:off x="6680160" y="4191840"/>
            <a:ext cx="183240" cy="826200"/>
          </a:xfrm>
          <a:prstGeom prst="roundRect">
            <a:avLst>
              <a:gd name="adj" fmla="val 15006"/>
            </a:avLst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7"/>
          <p:cNvSpPr/>
          <p:nvPr/>
        </p:nvSpPr>
        <p:spPr>
          <a:xfrm>
            <a:off x="6496560" y="4071240"/>
            <a:ext cx="550440" cy="550440"/>
          </a:xfrm>
          <a:prstGeom prst="roundRect">
            <a:avLst>
              <a:gd name="adj" fmla="val 82991"/>
            </a:avLst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1" name="Image 2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634080" y="4209120"/>
            <a:ext cx="275040" cy="275040"/>
          </a:xfrm>
          <a:prstGeom prst="rect">
            <a:avLst/>
          </a:prstGeom>
          <a:ln w="0">
            <a:noFill/>
          </a:ln>
        </p:spPr>
      </p:pic>
      <p:sp>
        <p:nvSpPr>
          <p:cNvPr id="152" name="Text 8"/>
          <p:cNvSpPr/>
          <p:nvPr/>
        </p:nvSpPr>
        <p:spPr>
          <a:xfrm>
            <a:off x="7203240" y="4100040"/>
            <a:ext cx="2316960" cy="26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049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Fərdi Kurs Tövsiyələri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9"/>
          <p:cNvSpPr/>
          <p:nvPr/>
        </p:nvSpPr>
        <p:spPr>
          <a:xfrm>
            <a:off x="7203240" y="4454640"/>
            <a:ext cx="669204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001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Süni intellekt ən uyğun öyrənmə resurslarını seçib təklif edir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10"/>
          <p:cNvSpPr/>
          <p:nvPr/>
        </p:nvSpPr>
        <p:spPr>
          <a:xfrm>
            <a:off x="6955560" y="5449680"/>
            <a:ext cx="183240" cy="826200"/>
          </a:xfrm>
          <a:prstGeom prst="roundRect">
            <a:avLst>
              <a:gd name="adj" fmla="val 15006"/>
            </a:avLst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Shape 11"/>
          <p:cNvSpPr/>
          <p:nvPr/>
        </p:nvSpPr>
        <p:spPr>
          <a:xfrm>
            <a:off x="6771960" y="5329080"/>
            <a:ext cx="550440" cy="550440"/>
          </a:xfrm>
          <a:prstGeom prst="roundRect">
            <a:avLst>
              <a:gd name="adj" fmla="val 82991"/>
            </a:avLst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6" name="Image 3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909840" y="5466960"/>
            <a:ext cx="275040" cy="275040"/>
          </a:xfrm>
          <a:prstGeom prst="rect">
            <a:avLst/>
          </a:prstGeom>
          <a:ln w="0">
            <a:noFill/>
          </a:ln>
        </p:spPr>
      </p:pic>
      <p:sp>
        <p:nvSpPr>
          <p:cNvPr id="157" name="Text 12"/>
          <p:cNvSpPr/>
          <p:nvPr/>
        </p:nvSpPr>
        <p:spPr>
          <a:xfrm>
            <a:off x="7479000" y="5357880"/>
            <a:ext cx="2649600" cy="26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049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Simulyasiya Əsaslı Təlim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13"/>
          <p:cNvSpPr/>
          <p:nvPr/>
        </p:nvSpPr>
        <p:spPr>
          <a:xfrm>
            <a:off x="7479000" y="5712480"/>
            <a:ext cx="641664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001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Danışıqlar, münaqişə həlli kimi mürəkkəb ssenarilərin virtual təcrübəsi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14"/>
          <p:cNvSpPr/>
          <p:nvPr/>
        </p:nvSpPr>
        <p:spPr>
          <a:xfrm>
            <a:off x="7230960" y="6707880"/>
            <a:ext cx="183240" cy="826200"/>
          </a:xfrm>
          <a:prstGeom prst="roundRect">
            <a:avLst>
              <a:gd name="adj" fmla="val 15006"/>
            </a:avLst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Shape 15"/>
          <p:cNvSpPr/>
          <p:nvPr/>
        </p:nvSpPr>
        <p:spPr>
          <a:xfrm>
            <a:off x="7047360" y="6587280"/>
            <a:ext cx="550440" cy="550440"/>
          </a:xfrm>
          <a:prstGeom prst="roundRect">
            <a:avLst>
              <a:gd name="adj" fmla="val 82991"/>
            </a:avLst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1" name="Image 4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7185240" y="6725160"/>
            <a:ext cx="275040" cy="275040"/>
          </a:xfrm>
          <a:prstGeom prst="rect">
            <a:avLst/>
          </a:prstGeom>
          <a:ln w="0">
            <a:noFill/>
          </a:ln>
        </p:spPr>
      </p:pic>
      <p:sp>
        <p:nvSpPr>
          <p:cNvPr id="162" name="Text 16"/>
          <p:cNvSpPr/>
          <p:nvPr/>
        </p:nvSpPr>
        <p:spPr>
          <a:xfrm>
            <a:off x="7754400" y="6616080"/>
            <a:ext cx="2214000" cy="26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049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İrəliləyişin İzlənməsi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17"/>
          <p:cNvSpPr/>
          <p:nvPr/>
        </p:nvSpPr>
        <p:spPr>
          <a:xfrm>
            <a:off x="7754400" y="6970680"/>
            <a:ext cx="614088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001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Öyrənmə nəticələri real vaxtda ölçülür və proqram tənzimlənir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 0"/>
          <p:cNvSpPr/>
          <p:nvPr/>
        </p:nvSpPr>
        <p:spPr>
          <a:xfrm>
            <a:off x="743400" y="982440"/>
            <a:ext cx="4884120" cy="52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4150"/>
              </a:lnSpc>
              <a:tabLst>
                <a:tab pos="0" algn="l"/>
              </a:tabLst>
            </a:pPr>
            <a:r>
              <a:rPr lang="en-US" sz="3300" b="1" strike="noStrike" spc="-1">
                <a:solidFill>
                  <a:srgbClr val="FFFFFF"/>
                </a:solidFill>
                <a:latin typeface="Montserrat Bold"/>
                <a:ea typeface="Montserrat Bold"/>
              </a:rPr>
              <a:t>Etik və Hüquqi Risklər</a:t>
            </a:r>
            <a:endParaRPr lang="en-US" sz="3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1"/>
          <p:cNvSpPr/>
          <p:nvPr/>
        </p:nvSpPr>
        <p:spPr>
          <a:xfrm>
            <a:off x="743400" y="1830240"/>
            <a:ext cx="13143240" cy="25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001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Süni intellektin HR-da tətbiqi güclü tənzimləmə çərçivəsi tələb edir. Texnologiyadan sorumlu istifadə etmək hüquqi, etik və sosial baxımdan vacibdir.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2"/>
          <p:cNvSpPr/>
          <p:nvPr/>
        </p:nvSpPr>
        <p:spPr>
          <a:xfrm>
            <a:off x="743400" y="2269440"/>
            <a:ext cx="6491520" cy="1967400"/>
          </a:xfrm>
          <a:prstGeom prst="roundRect">
            <a:avLst>
              <a:gd name="adj" fmla="val 1417"/>
            </a:avLst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Shape 3"/>
          <p:cNvSpPr/>
          <p:nvPr/>
        </p:nvSpPr>
        <p:spPr>
          <a:xfrm>
            <a:off x="929160" y="2455200"/>
            <a:ext cx="557280" cy="557280"/>
          </a:xfrm>
          <a:prstGeom prst="roundRect">
            <a:avLst>
              <a:gd name="adj" fmla="val 16398095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8" name="Image 0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2520" y="2608560"/>
            <a:ext cx="250560" cy="250560"/>
          </a:xfrm>
          <a:prstGeom prst="rect">
            <a:avLst/>
          </a:prstGeom>
          <a:ln w="0">
            <a:noFill/>
          </a:ln>
        </p:spPr>
      </p:pic>
      <p:sp>
        <p:nvSpPr>
          <p:cNvPr id="169" name="Text 4"/>
          <p:cNvSpPr/>
          <p:nvPr/>
        </p:nvSpPr>
        <p:spPr>
          <a:xfrm>
            <a:off x="929160" y="3172680"/>
            <a:ext cx="2111760" cy="26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049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Seçimdə Qərəzlilik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5"/>
          <p:cNvSpPr/>
          <p:nvPr/>
        </p:nvSpPr>
        <p:spPr>
          <a:xfrm>
            <a:off x="929160" y="3532680"/>
            <a:ext cx="6119640" cy="51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001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Tarixən balanssız məlumatlar cinsi, irqi və ya yaş ayrı-seçkiliyini gücləndirə bilər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6"/>
          <p:cNvSpPr/>
          <p:nvPr/>
        </p:nvSpPr>
        <p:spPr>
          <a:xfrm>
            <a:off x="7395120" y="2269440"/>
            <a:ext cx="6491520" cy="1967400"/>
          </a:xfrm>
          <a:prstGeom prst="roundRect">
            <a:avLst>
              <a:gd name="adj" fmla="val 1417"/>
            </a:avLst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Shape 7"/>
          <p:cNvSpPr/>
          <p:nvPr/>
        </p:nvSpPr>
        <p:spPr>
          <a:xfrm>
            <a:off x="7580880" y="2455200"/>
            <a:ext cx="557280" cy="557280"/>
          </a:xfrm>
          <a:prstGeom prst="roundRect">
            <a:avLst>
              <a:gd name="adj" fmla="val 16398095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3" name="Image 1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734240" y="2608560"/>
            <a:ext cx="250560" cy="250560"/>
          </a:xfrm>
          <a:prstGeom prst="rect">
            <a:avLst/>
          </a:prstGeom>
          <a:ln w="0">
            <a:noFill/>
          </a:ln>
        </p:spPr>
      </p:pic>
      <p:sp>
        <p:nvSpPr>
          <p:cNvPr id="174" name="Text 8"/>
          <p:cNvSpPr/>
          <p:nvPr/>
        </p:nvSpPr>
        <p:spPr>
          <a:xfrm>
            <a:off x="7580880" y="3172680"/>
            <a:ext cx="2111760" cy="26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049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İzinsiz Monitorinq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9"/>
          <p:cNvSpPr/>
          <p:nvPr/>
        </p:nvSpPr>
        <p:spPr>
          <a:xfrm>
            <a:off x="7580880" y="3532680"/>
            <a:ext cx="6119640" cy="25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001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İşçilərin razılığı olmadan həyata keçirilən nəzarət etik standartları pozur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10"/>
          <p:cNvSpPr/>
          <p:nvPr/>
        </p:nvSpPr>
        <p:spPr>
          <a:xfrm>
            <a:off x="743400" y="4397040"/>
            <a:ext cx="6491520" cy="1967400"/>
          </a:xfrm>
          <a:prstGeom prst="roundRect">
            <a:avLst>
              <a:gd name="adj" fmla="val 1417"/>
            </a:avLst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Shape 11"/>
          <p:cNvSpPr/>
          <p:nvPr/>
        </p:nvSpPr>
        <p:spPr>
          <a:xfrm>
            <a:off x="929160" y="4582800"/>
            <a:ext cx="557280" cy="557280"/>
          </a:xfrm>
          <a:prstGeom prst="roundRect">
            <a:avLst>
              <a:gd name="adj" fmla="val 16398095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8" name="Image 2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82520" y="4736160"/>
            <a:ext cx="250560" cy="250560"/>
          </a:xfrm>
          <a:prstGeom prst="rect">
            <a:avLst/>
          </a:prstGeom>
          <a:ln w="0">
            <a:noFill/>
          </a:ln>
        </p:spPr>
      </p:pic>
      <p:sp>
        <p:nvSpPr>
          <p:cNvPr id="179" name="Text 12"/>
          <p:cNvSpPr/>
          <p:nvPr/>
        </p:nvSpPr>
        <p:spPr>
          <a:xfrm>
            <a:off x="929160" y="5300280"/>
            <a:ext cx="2111760" cy="26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049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GDPR Uyğunluğu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13"/>
          <p:cNvSpPr/>
          <p:nvPr/>
        </p:nvSpPr>
        <p:spPr>
          <a:xfrm>
            <a:off x="929160" y="5660280"/>
            <a:ext cx="6119640" cy="51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001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Şəxsi məlumatların toplanması və saxlanması beynəlxalq qanunvericiliyə uyğun olmalıdır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14"/>
          <p:cNvSpPr/>
          <p:nvPr/>
        </p:nvSpPr>
        <p:spPr>
          <a:xfrm>
            <a:off x="7395120" y="4397040"/>
            <a:ext cx="6491520" cy="1967400"/>
          </a:xfrm>
          <a:prstGeom prst="roundRect">
            <a:avLst>
              <a:gd name="adj" fmla="val 1417"/>
            </a:avLst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15"/>
          <p:cNvSpPr/>
          <p:nvPr/>
        </p:nvSpPr>
        <p:spPr>
          <a:xfrm>
            <a:off x="7580880" y="4582800"/>
            <a:ext cx="557280" cy="557280"/>
          </a:xfrm>
          <a:prstGeom prst="roundRect">
            <a:avLst>
              <a:gd name="adj" fmla="val 16398095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3" name="Image 3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734240" y="4736160"/>
            <a:ext cx="250560" cy="250560"/>
          </a:xfrm>
          <a:prstGeom prst="rect">
            <a:avLst/>
          </a:prstGeom>
          <a:ln w="0">
            <a:noFill/>
          </a:ln>
        </p:spPr>
      </p:pic>
      <p:sp>
        <p:nvSpPr>
          <p:cNvPr id="184" name="Text 16"/>
          <p:cNvSpPr/>
          <p:nvPr/>
        </p:nvSpPr>
        <p:spPr>
          <a:xfrm>
            <a:off x="7580880" y="5300280"/>
            <a:ext cx="2111760" cy="26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049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İzahsız Qərarlar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17"/>
          <p:cNvSpPr/>
          <p:nvPr/>
        </p:nvSpPr>
        <p:spPr>
          <a:xfrm>
            <a:off x="7580880" y="5660280"/>
            <a:ext cx="6119640" cy="51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001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"Qara qutu" effekti: SI niyə belə qərar verdiyini izah edə bilmədiyi zaman inam itir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18"/>
          <p:cNvSpPr/>
          <p:nvPr/>
        </p:nvSpPr>
        <p:spPr>
          <a:xfrm>
            <a:off x="743400" y="6544800"/>
            <a:ext cx="13143240" cy="702000"/>
          </a:xfrm>
          <a:prstGeom prst="roundRect">
            <a:avLst>
              <a:gd name="adj" fmla="val 3969"/>
            </a:avLst>
          </a:prstGeom>
          <a:solidFill>
            <a:srgbClr val="26262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7" name="Image 4" descr="preencoded.png"/>
          <p:cNvPicPr/>
          <p:nvPr/>
        </p:nvPicPr>
        <p:blipFill>
          <a:blip r:embed="rId7"/>
          <a:stretch/>
        </p:blipFill>
        <p:spPr>
          <a:xfrm>
            <a:off x="929160" y="6797160"/>
            <a:ext cx="231840" cy="185400"/>
          </a:xfrm>
          <a:prstGeom prst="rect">
            <a:avLst/>
          </a:prstGeom>
          <a:ln w="0">
            <a:noFill/>
          </a:ln>
        </p:spPr>
      </p:pic>
      <p:sp>
        <p:nvSpPr>
          <p:cNvPr id="188" name="Text 19"/>
          <p:cNvSpPr/>
          <p:nvPr/>
        </p:nvSpPr>
        <p:spPr>
          <a:xfrm>
            <a:off x="1347480" y="6751080"/>
            <a:ext cx="12353400" cy="25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001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FFFFFF"/>
                </a:solidFill>
                <a:latin typeface="Source Sans 3"/>
                <a:ea typeface="Source Sans 3"/>
              </a:rPr>
              <a:t>Hüquqi xatırlatma: Azərbaycanda "Şəxsi məlumatlar haqqında" Qanun (2010) və GDPR prinsipləri HR SI tətbiqlərini birbaşa tənzimləyir.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/>
          <p:nvPr/>
        </p:nvSpPr>
        <p:spPr>
          <a:xfrm>
            <a:off x="863640" y="2243520"/>
            <a:ext cx="11472120" cy="61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4799"/>
              </a:lnSpc>
              <a:tabLst>
                <a:tab pos="0" algn="l"/>
              </a:tabLst>
            </a:pPr>
            <a:r>
              <a:rPr lang="en-US" sz="3850" b="1" strike="noStrike" spc="-1">
                <a:solidFill>
                  <a:srgbClr val="FFFFFF"/>
                </a:solidFill>
                <a:latin typeface="Montserrat Bold"/>
                <a:ea typeface="Montserrat Bold"/>
              </a:rPr>
              <a:t>Ən Yaxşı Təcrübələr: Məsuliyyətli SI İstifadəsi</a:t>
            </a:r>
            <a:endParaRPr lang="en-US" sz="3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863640" y="3288960"/>
            <a:ext cx="12902400" cy="3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Süni intellektin HR-da effektiv tətbiqi yalnız texnologiyadan asılı deyil — idarəetmə prinsipləri, şəffaflıq və insan nəzarəti eyni dərəcədə vacibdir.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2"/>
          <p:cNvSpPr/>
          <p:nvPr/>
        </p:nvSpPr>
        <p:spPr>
          <a:xfrm>
            <a:off x="863640" y="3855600"/>
            <a:ext cx="485640" cy="485640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3"/>
          <p:cNvSpPr/>
          <p:nvPr/>
        </p:nvSpPr>
        <p:spPr>
          <a:xfrm>
            <a:off x="959400" y="3914640"/>
            <a:ext cx="294120" cy="36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2299"/>
              </a:lnSpc>
              <a:tabLst>
                <a:tab pos="0" algn="l"/>
              </a:tabLst>
            </a:pPr>
            <a:r>
              <a:rPr lang="en-US" sz="23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1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4"/>
          <p:cNvSpPr/>
          <p:nvPr/>
        </p:nvSpPr>
        <p:spPr>
          <a:xfrm>
            <a:off x="1565640" y="3929760"/>
            <a:ext cx="2830680" cy="30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Qərəzlik Auditi Aparın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5"/>
          <p:cNvSpPr/>
          <p:nvPr/>
        </p:nvSpPr>
        <p:spPr>
          <a:xfrm>
            <a:off x="1565640" y="4366080"/>
            <a:ext cx="3418920" cy="161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SI modellərini müntəzəm olaraq müstəqil auditə verin. Məlumat dəstlərinin müxtəlifliyini yoxlayın, çıxış nəticələrini demoqrafik bölgüdə analiz edin.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6"/>
          <p:cNvSpPr/>
          <p:nvPr/>
        </p:nvSpPr>
        <p:spPr>
          <a:xfrm>
            <a:off x="5254560" y="3855600"/>
            <a:ext cx="485640" cy="485640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7"/>
          <p:cNvSpPr/>
          <p:nvPr/>
        </p:nvSpPr>
        <p:spPr>
          <a:xfrm>
            <a:off x="5350320" y="3914640"/>
            <a:ext cx="294120" cy="36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2299"/>
              </a:lnSpc>
              <a:tabLst>
                <a:tab pos="0" algn="l"/>
              </a:tabLst>
            </a:pPr>
            <a:r>
              <a:rPr lang="en-US" sz="23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2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8"/>
          <p:cNvSpPr/>
          <p:nvPr/>
        </p:nvSpPr>
        <p:spPr>
          <a:xfrm>
            <a:off x="5956560" y="3929760"/>
            <a:ext cx="3418920" cy="61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Şəffaf Kommunikasiya Qurun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9"/>
          <p:cNvSpPr/>
          <p:nvPr/>
        </p:nvSpPr>
        <p:spPr>
          <a:xfrm>
            <a:off x="5956560" y="4672800"/>
            <a:ext cx="3418920" cy="129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Namizədlər və işçilər SI-nin qərar qəbul prosesinə nə dərəcədə cəlb olunduğunu açıq şəkildə bilməlidirlər. Şəffaflıq etibara əsas yaradır.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10"/>
          <p:cNvSpPr/>
          <p:nvPr/>
        </p:nvSpPr>
        <p:spPr>
          <a:xfrm>
            <a:off x="9645480" y="3855600"/>
            <a:ext cx="485640" cy="485640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11"/>
          <p:cNvSpPr/>
          <p:nvPr/>
        </p:nvSpPr>
        <p:spPr>
          <a:xfrm>
            <a:off x="9741240" y="3914640"/>
            <a:ext cx="294120" cy="36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2299"/>
              </a:lnSpc>
              <a:tabLst>
                <a:tab pos="0" algn="l"/>
              </a:tabLst>
            </a:pPr>
            <a:r>
              <a:rPr lang="en-US" sz="23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3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12"/>
          <p:cNvSpPr/>
          <p:nvPr/>
        </p:nvSpPr>
        <p:spPr>
          <a:xfrm>
            <a:off x="10347480" y="3929760"/>
            <a:ext cx="3283920" cy="30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İnsan Nəzarətini Qoruyun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13"/>
          <p:cNvSpPr/>
          <p:nvPr/>
        </p:nvSpPr>
        <p:spPr>
          <a:xfrm>
            <a:off x="10347480" y="4366080"/>
            <a:ext cx="3418920" cy="129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"Human-in-the-loop" prinsipi: SI tövsiyə edir, insan qərar verir. Xüsusilə işə qəbul, işdənçıxarılma kimi kritik qərarlarda bu vacibdir.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 0"/>
          <p:cNvSpPr/>
          <p:nvPr/>
        </p:nvSpPr>
        <p:spPr>
          <a:xfrm>
            <a:off x="863640" y="1634400"/>
            <a:ext cx="12411360" cy="61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4799"/>
              </a:lnSpc>
              <a:tabLst>
                <a:tab pos="0" algn="l"/>
              </a:tabLst>
            </a:pPr>
            <a:r>
              <a:rPr lang="en-US" sz="3850" b="1" strike="noStrike" spc="-1">
                <a:solidFill>
                  <a:srgbClr val="FFFFFF"/>
                </a:solidFill>
                <a:latin typeface="Montserrat Bold"/>
                <a:ea typeface="Montserrat Bold"/>
              </a:rPr>
              <a:t>Tədqiqat İşi: İşçilərin İşdən Çıxmasının Proqnozu</a:t>
            </a:r>
            <a:endParaRPr lang="en-US" sz="3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1"/>
          <p:cNvSpPr/>
          <p:nvPr/>
        </p:nvSpPr>
        <p:spPr>
          <a:xfrm>
            <a:off x="708120" y="2571840"/>
            <a:ext cx="5155920" cy="3456360"/>
          </a:xfrm>
          <a:prstGeom prst="roundRect">
            <a:avLst>
              <a:gd name="adj" fmla="val 937"/>
            </a:avLst>
          </a:prstGeom>
          <a:solidFill>
            <a:srgbClr val="1D1F2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2"/>
          <p:cNvSpPr/>
          <p:nvPr/>
        </p:nvSpPr>
        <p:spPr>
          <a:xfrm>
            <a:off x="924120" y="278748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FFFFFF"/>
                </a:solidFill>
                <a:latin typeface="Montserrat Bold"/>
                <a:ea typeface="Montserrat Bold"/>
              </a:rPr>
              <a:t>Ssenari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3"/>
          <p:cNvSpPr/>
          <p:nvPr/>
        </p:nvSpPr>
        <p:spPr>
          <a:xfrm>
            <a:off x="924120" y="3310200"/>
            <a:ext cx="4723920" cy="97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Bir şirkət işçi dövriyyəsini azaltmaq istəyir. HR departamenti SI əsaslı erkən xəbərdarlıq sistemi tətbiq edir.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4"/>
          <p:cNvSpPr/>
          <p:nvPr/>
        </p:nvSpPr>
        <p:spPr>
          <a:xfrm>
            <a:off x="924120" y="4476240"/>
            <a:ext cx="4723920" cy="64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E2E6E9"/>
                </a:solidFill>
                <a:latin typeface="Source Sans 3"/>
                <a:ea typeface="Source Sans 3"/>
              </a:rPr>
              <a:t>Məqsəd:</a:t>
            </a: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 Risk altındakı işçiləri erkən müəyyənləşdirərək proaktiv müdaxilə etmək.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8" name="Image 0" descr="preencoded.png"/>
          <p:cNvPicPr/>
          <p:nvPr/>
        </p:nvPicPr>
        <p:blipFill>
          <a:blip r:embed="rId3"/>
          <a:stretch/>
        </p:blipFill>
        <p:spPr>
          <a:xfrm>
            <a:off x="6243120" y="2814480"/>
            <a:ext cx="7530480" cy="2970360"/>
          </a:xfrm>
          <a:prstGeom prst="rect">
            <a:avLst/>
          </a:prstGeom>
          <a:ln w="0">
            <a:noFill/>
          </a:ln>
        </p:spPr>
      </p:pic>
      <p:sp>
        <p:nvSpPr>
          <p:cNvPr id="209" name="Text 5"/>
          <p:cNvSpPr/>
          <p:nvPr/>
        </p:nvSpPr>
        <p:spPr>
          <a:xfrm>
            <a:off x="7422840" y="3843360"/>
            <a:ext cx="1481760" cy="18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1451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FFFFFF"/>
                </a:solidFill>
                <a:latin typeface="Montserrat Bold"/>
                <a:ea typeface="Montserrat Bold"/>
              </a:rPr>
              <a:t>Davranış Verisi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6"/>
          <p:cNvSpPr/>
          <p:nvPr/>
        </p:nvSpPr>
        <p:spPr>
          <a:xfrm>
            <a:off x="7414920" y="4086720"/>
            <a:ext cx="149760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>
              <a:lnSpc>
                <a:spcPts val="125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Giriş sıklığı, toplantı katılımı, anketler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7"/>
          <p:cNvSpPr/>
          <p:nvPr/>
        </p:nvSpPr>
        <p:spPr>
          <a:xfrm>
            <a:off x="9285120" y="4187160"/>
            <a:ext cx="1481760" cy="18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1451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FFFFFF"/>
                </a:solidFill>
                <a:latin typeface="Montserrat Bold"/>
                <a:ea typeface="Montserrat Bold"/>
              </a:rPr>
              <a:t>Risk Tanımlama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8"/>
          <p:cNvSpPr/>
          <p:nvPr/>
        </p:nvSpPr>
        <p:spPr>
          <a:xfrm>
            <a:off x="9277200" y="4430160"/>
            <a:ext cx="149760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>
              <a:lnSpc>
                <a:spcPts val="125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AI ile işten ayrılma olasılığı tahmini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9"/>
          <p:cNvSpPr/>
          <p:nvPr/>
        </p:nvSpPr>
        <p:spPr>
          <a:xfrm>
            <a:off x="11161440" y="3843360"/>
            <a:ext cx="1497600" cy="37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>
              <a:lnSpc>
                <a:spcPts val="1451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FFFFFF"/>
                </a:solidFill>
                <a:latin typeface="Montserrat Bold"/>
                <a:ea typeface="Montserrat Bold"/>
              </a:rPr>
              <a:t>Hedefli Müdahaleler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10"/>
          <p:cNvSpPr/>
          <p:nvPr/>
        </p:nvSpPr>
        <p:spPr>
          <a:xfrm>
            <a:off x="11161440" y="4272120"/>
            <a:ext cx="149760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>
              <a:lnSpc>
                <a:spcPts val="125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Teşvikler, proje değişimi, birebir konuşma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11"/>
          <p:cNvSpPr/>
          <p:nvPr/>
        </p:nvSpPr>
        <p:spPr>
          <a:xfrm>
            <a:off x="863640" y="6271200"/>
            <a:ext cx="12902400" cy="3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Bu model şirkətlərə işçi itkisindən əvvəl müdaxilə etmək imkanı verir — nəticədə işə qəbul xərcləri azalır, komanda sabitliyi artır.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217" name="Text 0"/>
          <p:cNvSpPr/>
          <p:nvPr/>
        </p:nvSpPr>
        <p:spPr>
          <a:xfrm>
            <a:off x="6350040" y="642240"/>
            <a:ext cx="4908240" cy="61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4799"/>
              </a:lnSpc>
              <a:tabLst>
                <a:tab pos="0" algn="l"/>
              </a:tabLst>
            </a:pPr>
            <a:r>
              <a:rPr lang="en-US" sz="3850" b="1" strike="noStrike" spc="-1">
                <a:solidFill>
                  <a:srgbClr val="FFFFFF"/>
                </a:solidFill>
                <a:latin typeface="Montserrat Bold"/>
                <a:ea typeface="Montserrat Bold"/>
              </a:rPr>
              <a:t>Praktik Tapşırıq</a:t>
            </a:r>
            <a:endParaRPr lang="en-US" sz="3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1"/>
          <p:cNvSpPr/>
          <p:nvPr/>
        </p:nvSpPr>
        <p:spPr>
          <a:xfrm>
            <a:off x="6674040" y="1822680"/>
            <a:ext cx="7092360" cy="64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"Bir HR tapşırığı seçin — işə qəbul, işçilərin saxlanması və ya təlim. Süni intellekt bu prosesi necə təkmilləşdirə bilər? Hansı risklər nəzərə alınmalıdır?"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2"/>
          <p:cNvSpPr/>
          <p:nvPr/>
        </p:nvSpPr>
        <p:spPr>
          <a:xfrm>
            <a:off x="6350040" y="1579680"/>
            <a:ext cx="30240" cy="1133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3"/>
          <p:cNvSpPr/>
          <p:nvPr/>
        </p:nvSpPr>
        <p:spPr>
          <a:xfrm>
            <a:off x="6350040" y="2956320"/>
            <a:ext cx="2327760" cy="3161880"/>
          </a:xfrm>
          <a:prstGeom prst="roundRect">
            <a:avLst>
              <a:gd name="adj" fmla="val 1392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4"/>
          <p:cNvSpPr/>
          <p:nvPr/>
        </p:nvSpPr>
        <p:spPr>
          <a:xfrm>
            <a:off x="6596640" y="3202560"/>
            <a:ext cx="1835280" cy="30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000000"/>
                </a:solidFill>
                <a:latin typeface="Montserrat Bold"/>
                <a:ea typeface="Montserrat Bold"/>
              </a:rPr>
              <a:t>🔍</a:t>
            </a: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 Seçim edin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5"/>
          <p:cNvSpPr/>
          <p:nvPr/>
        </p:nvSpPr>
        <p:spPr>
          <a:xfrm>
            <a:off x="6596640" y="3638880"/>
            <a:ext cx="1835280" cy="97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Üç sahədən birini seçin: İşə qəbul, Saxlama, Təlim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6"/>
          <p:cNvSpPr/>
          <p:nvPr/>
        </p:nvSpPr>
        <p:spPr>
          <a:xfrm>
            <a:off x="8894160" y="2956320"/>
            <a:ext cx="2327760" cy="3161880"/>
          </a:xfrm>
          <a:prstGeom prst="roundRect">
            <a:avLst>
              <a:gd name="adj" fmla="val 1391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7"/>
          <p:cNvSpPr/>
          <p:nvPr/>
        </p:nvSpPr>
        <p:spPr>
          <a:xfrm>
            <a:off x="9140400" y="3202560"/>
            <a:ext cx="1835280" cy="61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000000"/>
                </a:solidFill>
                <a:latin typeface="Montserrat Bold"/>
                <a:ea typeface="Montserrat Bold"/>
              </a:rPr>
              <a:t>🤖</a:t>
            </a: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 SI Həllini Dizayn edin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8"/>
          <p:cNvSpPr/>
          <p:nvPr/>
        </p:nvSpPr>
        <p:spPr>
          <a:xfrm>
            <a:off x="9140400" y="3945600"/>
            <a:ext cx="1835280" cy="129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Hansı məlumatlar istifadə olunacaq? SI nə edəcək? Çıxış nəticəsi nə olacaq?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9"/>
          <p:cNvSpPr/>
          <p:nvPr/>
        </p:nvSpPr>
        <p:spPr>
          <a:xfrm>
            <a:off x="11438280" y="2956320"/>
            <a:ext cx="2327760" cy="3161880"/>
          </a:xfrm>
          <a:prstGeom prst="roundRect">
            <a:avLst>
              <a:gd name="adj" fmla="val 1391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10"/>
          <p:cNvSpPr/>
          <p:nvPr/>
        </p:nvSpPr>
        <p:spPr>
          <a:xfrm>
            <a:off x="11684520" y="3202560"/>
            <a:ext cx="1835280" cy="91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000000"/>
                </a:solidFill>
                <a:latin typeface="Montserrat Bold"/>
                <a:ea typeface="Montserrat Bold"/>
              </a:rPr>
              <a:t>⚠️</a:t>
            </a: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 Riskləri Qiymətləndirin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11"/>
          <p:cNvSpPr/>
          <p:nvPr/>
        </p:nvSpPr>
        <p:spPr>
          <a:xfrm>
            <a:off x="11684520" y="4252320"/>
            <a:ext cx="1835280" cy="161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Etik, hüquqi və təşkilati riskləri müəyyənləşdirin və azaldılması yollarını təklif edin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12"/>
          <p:cNvSpPr/>
          <p:nvPr/>
        </p:nvSpPr>
        <p:spPr>
          <a:xfrm>
            <a:off x="6350040" y="6334200"/>
            <a:ext cx="7416000" cy="1252440"/>
          </a:xfrm>
          <a:prstGeom prst="roundRect">
            <a:avLst>
              <a:gd name="adj" fmla="val 2586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13"/>
          <p:cNvSpPr/>
          <p:nvPr/>
        </p:nvSpPr>
        <p:spPr>
          <a:xfrm>
            <a:off x="6596640" y="658080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000000"/>
                </a:solidFill>
                <a:latin typeface="Montserrat Bold"/>
                <a:ea typeface="Montserrat Bold"/>
              </a:rPr>
              <a:t>📢</a:t>
            </a: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 Təqdim edin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14"/>
          <p:cNvSpPr/>
          <p:nvPr/>
        </p:nvSpPr>
        <p:spPr>
          <a:xfrm>
            <a:off x="6596640" y="7017120"/>
            <a:ext cx="6923520" cy="3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Qrupunuzun həllini sinifə 3-5 dəqiqə ərzində izah edin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tangle 231"/>
          <p:cNvSpPr/>
          <p:nvPr/>
        </p:nvSpPr>
        <p:spPr>
          <a:xfrm>
            <a:off x="5029199" y="84600"/>
            <a:ext cx="4016829" cy="60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950" b="1" strike="noStrike" spc="-1" dirty="0">
                <a:solidFill>
                  <a:srgbClr val="FFFFFF"/>
                </a:solidFill>
                <a:latin typeface="Montserrat Bold"/>
                <a:ea typeface="Montserrat Bold"/>
              </a:rPr>
              <a:t>Test </a:t>
            </a:r>
            <a:r>
              <a:rPr lang="en-US" sz="2950" b="1" strike="noStrike" spc="-1" dirty="0" err="1">
                <a:solidFill>
                  <a:srgbClr val="FFFFFF"/>
                </a:solidFill>
                <a:latin typeface="Montserrat Bold"/>
                <a:ea typeface="Montserrat Bold"/>
              </a:rPr>
              <a:t>Tapşırığı</a:t>
            </a:r>
            <a:r>
              <a:rPr lang="en-US" sz="2950" b="1" strike="noStrike" spc="-1" dirty="0">
                <a:solidFill>
                  <a:srgbClr val="FFFFFF"/>
                </a:solidFill>
                <a:latin typeface="Montserrat Bold"/>
                <a:ea typeface="Montserrat Bold"/>
              </a:rPr>
              <a:t> L10</a:t>
            </a:r>
            <a:endParaRPr lang="en-US" sz="295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3" name="Picture 232"/>
          <p:cNvPicPr/>
          <p:nvPr/>
        </p:nvPicPr>
        <p:blipFill>
          <a:blip r:embed="rId2"/>
          <a:stretch/>
        </p:blipFill>
        <p:spPr>
          <a:xfrm>
            <a:off x="3239640" y="685800"/>
            <a:ext cx="7275960" cy="72759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880</Words>
  <Application>Microsoft Office PowerPoint</Application>
  <PresentationFormat>Custom</PresentationFormat>
  <Paragraphs>138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12</vt:i4>
      </vt:variant>
      <vt:variant>
        <vt:lpstr>Slide Titles</vt:lpstr>
      </vt:variant>
      <vt:variant>
        <vt:i4>12</vt:i4>
      </vt:variant>
    </vt:vector>
  </HeadingPairs>
  <TitlesOfParts>
    <vt:vector size="32" baseType="lpstr">
      <vt:lpstr>Arial</vt:lpstr>
      <vt:lpstr>Calibri</vt:lpstr>
      <vt:lpstr>Calibri Light</vt:lpstr>
      <vt:lpstr>Montserrat Bold</vt:lpstr>
      <vt:lpstr>Source Sans 3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Orkhan Iskandarov</cp:lastModifiedBy>
  <cp:revision>4</cp:revision>
  <dcterms:created xsi:type="dcterms:W3CDTF">2026-03-27T15:13:55Z</dcterms:created>
  <dcterms:modified xsi:type="dcterms:W3CDTF">2026-05-01T06:01:20Z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