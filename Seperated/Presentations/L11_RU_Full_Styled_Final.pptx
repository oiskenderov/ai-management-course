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
  <Override PartName="/ppt/media/image13.svg" ContentType="image/svg"/>
  <Override PartName="/ppt/media/image15.svg" ContentType="image/svg"/>
  <Override PartName="/ppt/media/image21.svg" ContentType="image/svg"/>
  <Override PartName="/ppt/media/image23.svg" ContentType="image/svg"/>
  <Override PartName="/ppt/media/image25.svg" ContentType="image/svg"/>
  <Override PartName="/ppt/media/image27.svg" ContentType="image/svg"/>
  <Override PartName="/ppt/media/image30.svg" ContentType="image/svg"/>
  <Override PartName="/ppt/media/image32.svg" ContentType="image/svg"/>
  <Override PartName="/ppt/media/image4.svg" ContentType="image/svg"/>
  <Override PartName="/ppt/media/image6.svg" ContentType="image/svg"/>
  <Override PartName="/ppt/media/image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3B213A3-AD70-46FB-AF43-7205B47D9EA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5320" cy="3085200"/>
          </a:xfrm>
          <a:prstGeom prst="rect">
            <a:avLst/>
          </a:prstGeom>
          <a:ln w="0">
            <a:noFill/>
          </a:ln>
        </p:spPr>
      </p:sp>
      <p:sp>
        <p:nvSpPr>
          <p:cNvPr id="21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4"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0D32453-63B6-4C48-A3DA-12190EDA171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5320" cy="3085200"/>
          </a:xfrm>
          <a:prstGeom prst="rect">
            <a:avLst/>
          </a:prstGeom>
          <a:ln w="0">
            <a:noFill/>
          </a:ln>
        </p:spPr>
      </p:sp>
      <p:sp>
        <p:nvSpPr>
          <p:cNvPr id="21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7"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F20EE60-371E-4D06-99B5-217F30519BE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5320" cy="3085200"/>
          </a:xfrm>
          <a:prstGeom prst="rect">
            <a:avLst/>
          </a:prstGeom>
          <a:ln w="0">
            <a:noFill/>
          </a:ln>
        </p:spPr>
      </p:sp>
      <p:sp>
        <p:nvSpPr>
          <p:cNvPr id="21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0"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DF01926-36A9-4D5C-A040-0EE491B9E69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5320" cy="3085200"/>
          </a:xfrm>
          <a:prstGeom prst="rect">
            <a:avLst/>
          </a:prstGeom>
          <a:ln w="0">
            <a:noFill/>
          </a:ln>
        </p:spPr>
      </p:sp>
      <p:sp>
        <p:nvSpPr>
          <p:cNvPr id="22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3"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592B3CF-5B42-42C8-BE40-708DCAB49F2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5320" cy="3085200"/>
          </a:xfrm>
          <a:prstGeom prst="rect">
            <a:avLst/>
          </a:prstGeom>
          <a:ln w="0">
            <a:noFill/>
          </a:ln>
        </p:spPr>
      </p:sp>
      <p:sp>
        <p:nvSpPr>
          <p:cNvPr id="22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6"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68D91A6-4B1D-4A91-A7A0-938A2CA3EF0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5320" cy="3085200"/>
          </a:xfrm>
          <a:prstGeom prst="rect">
            <a:avLst/>
          </a:prstGeom>
          <a:ln w="0">
            <a:noFill/>
          </a:ln>
        </p:spPr>
      </p:sp>
      <p:sp>
        <p:nvSpPr>
          <p:cNvPr id="22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9"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D9B1519-F02D-4A9D-AB9F-2A7039D1811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5320" cy="3085200"/>
          </a:xfrm>
          <a:prstGeom prst="rect">
            <a:avLst/>
          </a:prstGeom>
          <a:ln w="0">
            <a:noFill/>
          </a:ln>
        </p:spPr>
      </p:sp>
      <p:sp>
        <p:nvSpPr>
          <p:cNvPr id="23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2"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71C63B4-0394-4C87-B57F-3642CDD225A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5320" cy="3085200"/>
          </a:xfrm>
          <a:prstGeom prst="rect">
            <a:avLst/>
          </a:prstGeom>
          <a:ln w="0">
            <a:noFill/>
          </a:ln>
        </p:spPr>
      </p:sp>
      <p:sp>
        <p:nvSpPr>
          <p:cNvPr id="23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5"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298A963-ADED-4C6B-AEB6-DC751538BD8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5320" cy="3085200"/>
          </a:xfrm>
          <a:prstGeom prst="rect">
            <a:avLst/>
          </a:prstGeom>
          <a:ln w="0">
            <a:noFill/>
          </a:ln>
        </p:spPr>
      </p:sp>
      <p:sp>
        <p:nvSpPr>
          <p:cNvPr id="23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DD6BDD7-1B01-4DB3-9960-BF21F4525C4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5320" cy="3085200"/>
          </a:xfrm>
          <a:prstGeom prst="rect">
            <a:avLst/>
          </a:prstGeom>
          <a:ln w="0">
            <a:noFill/>
          </a:ln>
        </p:spPr>
      </p:sp>
      <p:sp>
        <p:nvSpPr>
          <p:cNvPr id="24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1"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3EF6562-860D-462A-A923-CDEB15EE399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5320" cy="3085200"/>
          </a:xfrm>
          <a:prstGeom prst="rect">
            <a:avLst/>
          </a:prstGeom>
          <a:ln w="0">
            <a:noFill/>
          </a:ln>
        </p:spPr>
      </p:sp>
      <p:sp>
        <p:nvSpPr>
          <p:cNvPr id="24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4"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36C5DB4-7B0A-43F2-9577-59751BEC2A5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a:t>
            </a:r>
            <a:r>
              <a:rPr b="0" lang="en-US" sz="4400" spc="-1" strike="noStrike">
                <a:solidFill>
                  <a:srgbClr val="000000"/>
                </a:solidFill>
                <a:latin typeface="Arial"/>
              </a:rPr>
              <a:t>li</a:t>
            </a:r>
            <a:r>
              <a:rPr b="0" lang="en-US" sz="4400" spc="-1" strike="noStrike">
                <a:solidFill>
                  <a:srgbClr val="000000"/>
                </a:solidFill>
                <a:latin typeface="Arial"/>
              </a:rPr>
              <a:t>c</a:t>
            </a:r>
            <a:r>
              <a:rPr b="0" lang="en-US" sz="4400" spc="-1" strike="noStrike">
                <a:solidFill>
                  <a:srgbClr val="000000"/>
                </a:solidFill>
                <a:latin typeface="Arial"/>
              </a:rPr>
              <a:t>k </a:t>
            </a:r>
            <a:r>
              <a:rPr b="0" lang="en-US" sz="4400" spc="-1" strike="noStrike">
                <a:solidFill>
                  <a:srgbClr val="000000"/>
                </a:solidFill>
                <a:latin typeface="Arial"/>
              </a:rPr>
              <a:t>t</a:t>
            </a:r>
            <a:r>
              <a:rPr b="0" lang="en-US" sz="4400" spc="-1" strike="noStrike">
                <a:solidFill>
                  <a:srgbClr val="000000"/>
                </a:solidFill>
                <a:latin typeface="Arial"/>
              </a:rPr>
              <a:t>o</a:t>
            </a:r>
            <a:r>
              <a:rPr b="0" lang="en-US" sz="4400" spc="-1" strike="noStrike">
                <a:solidFill>
                  <a:srgbClr val="000000"/>
                </a:solidFill>
                <a:latin typeface="Arial"/>
              </a:rPr>
              <a:t> </a:t>
            </a:r>
            <a:r>
              <a:rPr b="0" lang="en-US" sz="4400" spc="-1" strike="noStrike">
                <a:solidFill>
                  <a:srgbClr val="000000"/>
                </a:solidFill>
                <a:latin typeface="Arial"/>
              </a:rPr>
              <a:t>e</a:t>
            </a:r>
            <a:r>
              <a:rPr b="0" lang="en-US" sz="4400" spc="-1" strike="noStrike">
                <a:solidFill>
                  <a:srgbClr val="000000"/>
                </a:solidFill>
                <a:latin typeface="Arial"/>
              </a:rPr>
              <a:t>d</a:t>
            </a:r>
            <a:r>
              <a:rPr b="0" lang="en-US" sz="4400" spc="-1" strike="noStrike">
                <a:solidFill>
                  <a:srgbClr val="000000"/>
                </a:solidFill>
                <a:latin typeface="Arial"/>
              </a:rPr>
              <a:t>it </a:t>
            </a:r>
            <a:r>
              <a:rPr b="0" lang="en-US" sz="4400" spc="-1" strike="noStrike">
                <a:solidFill>
                  <a:srgbClr val="000000"/>
                </a:solidFill>
                <a:latin typeface="Arial"/>
              </a:rPr>
              <a:t>t</a:t>
            </a:r>
            <a:r>
              <a:rPr b="0" lang="en-US" sz="4400" spc="-1" strike="noStrike">
                <a:solidFill>
                  <a:srgbClr val="000000"/>
                </a:solidFill>
                <a:latin typeface="Arial"/>
              </a:rPr>
              <a:t>h</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ti</a:t>
            </a:r>
            <a:r>
              <a:rPr b="0" lang="en-US" sz="4400" spc="-1" strike="noStrike">
                <a:solidFill>
                  <a:srgbClr val="000000"/>
                </a:solidFill>
                <a:latin typeface="Arial"/>
              </a:rPr>
              <a:t>tl</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e</a:t>
            </a:r>
            <a:r>
              <a:rPr b="0" lang="en-US" sz="4400" spc="-1" strike="noStrike">
                <a:solidFill>
                  <a:srgbClr val="000000"/>
                </a:solidFill>
                <a:latin typeface="Arial"/>
              </a:rPr>
              <a:t>x</a:t>
            </a:r>
            <a:r>
              <a:rPr b="0" lang="en-US" sz="4400" spc="-1" strike="noStrike">
                <a:solidFill>
                  <a:srgbClr val="000000"/>
                </a:solidFill>
                <a:latin typeface="Arial"/>
              </a:rPr>
              <a:t>t </a:t>
            </a:r>
            <a:r>
              <a:rPr b="0" lang="en-US" sz="4400" spc="-1" strike="noStrike">
                <a:solidFill>
                  <a:srgbClr val="000000"/>
                </a:solidFill>
                <a:latin typeface="Arial"/>
              </a:rPr>
              <a:t>f</a:t>
            </a:r>
            <a:r>
              <a:rPr b="0" lang="en-US" sz="4400" spc="-1" strike="noStrike">
                <a:solidFill>
                  <a:srgbClr val="000000"/>
                </a:solidFill>
                <a:latin typeface="Arial"/>
              </a:rPr>
              <a:t>o</a:t>
            </a:r>
            <a:r>
              <a:rPr b="0" lang="en-US" sz="4400" spc="-1" strike="noStrike">
                <a:solidFill>
                  <a:srgbClr val="000000"/>
                </a:solidFill>
                <a:latin typeface="Arial"/>
              </a:rPr>
              <a:t>r</a:t>
            </a:r>
            <a:r>
              <a:rPr b="0" lang="en-US" sz="4400" spc="-1" strike="noStrike">
                <a:solidFill>
                  <a:srgbClr val="000000"/>
                </a:solidFill>
                <a:latin typeface="Arial"/>
              </a:rPr>
              <a:t>m</a:t>
            </a:r>
            <a:r>
              <a:rPr b="0" lang="en-US" sz="4400" spc="-1" strike="noStrike">
                <a:solidFill>
                  <a:srgbClr val="000000"/>
                </a:solidFill>
                <a:latin typeface="Arial"/>
              </a:rPr>
              <a:t>a</a:t>
            </a:r>
            <a:r>
              <a:rPr b="0" lang="en-US" sz="4400" spc="-1" strike="noStrike">
                <a:solidFill>
                  <a:srgbClr val="000000"/>
                </a:solidFill>
                <a:latin typeface="Arial"/>
              </a:rPr>
              <a:t>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a:t>
            </a:r>
            <a:r>
              <a:rPr b="0" lang="en-US" sz="4400" spc="-1" strike="noStrike">
                <a:solidFill>
                  <a:srgbClr val="000000"/>
                </a:solidFill>
                <a:latin typeface="Arial"/>
              </a:rPr>
              <a:t>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a:t>
            </a:r>
            <a:r>
              <a:rPr b="0" lang="en-US" sz="4400" spc="-1" strike="noStrike">
                <a:solidFill>
                  <a:srgbClr val="000000"/>
                </a:solidFill>
                <a:latin typeface="Arial"/>
              </a:rPr>
              <a:t>li</a:t>
            </a:r>
            <a:r>
              <a:rPr b="0" lang="en-US" sz="4400" spc="-1" strike="noStrike">
                <a:solidFill>
                  <a:srgbClr val="000000"/>
                </a:solidFill>
                <a:latin typeface="Arial"/>
              </a:rPr>
              <a:t>c</a:t>
            </a:r>
            <a:r>
              <a:rPr b="0" lang="en-US" sz="4400" spc="-1" strike="noStrike">
                <a:solidFill>
                  <a:srgbClr val="000000"/>
                </a:solidFill>
                <a:latin typeface="Arial"/>
              </a:rPr>
              <a:t>k</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o</a:t>
            </a:r>
            <a:r>
              <a:rPr b="0" lang="en-US" sz="4400" spc="-1" strike="noStrike">
                <a:solidFill>
                  <a:srgbClr val="000000"/>
                </a:solidFill>
                <a:latin typeface="Arial"/>
              </a:rPr>
              <a:t> </a:t>
            </a:r>
            <a:r>
              <a:rPr b="0" lang="en-US" sz="4400" spc="-1" strike="noStrike">
                <a:solidFill>
                  <a:srgbClr val="000000"/>
                </a:solidFill>
                <a:latin typeface="Arial"/>
              </a:rPr>
              <a:t>e</a:t>
            </a:r>
            <a:r>
              <a:rPr b="0" lang="en-US" sz="4400" spc="-1" strike="noStrike">
                <a:solidFill>
                  <a:srgbClr val="000000"/>
                </a:solidFill>
                <a:latin typeface="Arial"/>
              </a:rPr>
              <a:t>d</a:t>
            </a:r>
            <a:r>
              <a:rPr b="0" lang="en-US" sz="4400" spc="-1" strike="noStrike">
                <a:solidFill>
                  <a:srgbClr val="000000"/>
                </a:solidFill>
                <a:latin typeface="Arial"/>
              </a:rPr>
              <a:t>i</a:t>
            </a:r>
            <a:r>
              <a:rPr b="0" lang="en-US" sz="4400" spc="-1" strike="noStrike">
                <a:solidFill>
                  <a:srgbClr val="000000"/>
                </a:solidFill>
                <a:latin typeface="Arial"/>
              </a:rPr>
              <a:t>t </a:t>
            </a:r>
            <a:r>
              <a:rPr b="0" lang="en-US" sz="4400" spc="-1" strike="noStrike">
                <a:solidFill>
                  <a:srgbClr val="000000"/>
                </a:solidFill>
                <a:latin typeface="Arial"/>
              </a:rPr>
              <a:t>t</a:t>
            </a:r>
            <a:r>
              <a:rPr b="0" lang="en-US" sz="4400" spc="-1" strike="noStrike">
                <a:solidFill>
                  <a:srgbClr val="000000"/>
                </a:solidFill>
                <a:latin typeface="Arial"/>
              </a:rPr>
              <a:t>h</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i</a:t>
            </a:r>
            <a:r>
              <a:rPr b="0" lang="en-US" sz="4400" spc="-1" strike="noStrike">
                <a:solidFill>
                  <a:srgbClr val="000000"/>
                </a:solidFill>
                <a:latin typeface="Arial"/>
              </a:rPr>
              <a:t>t</a:t>
            </a:r>
            <a:r>
              <a:rPr b="0" lang="en-US" sz="4400" spc="-1" strike="noStrike">
                <a:solidFill>
                  <a:srgbClr val="000000"/>
                </a:solidFill>
                <a:latin typeface="Arial"/>
              </a:rPr>
              <a:t>l</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e</a:t>
            </a:r>
            <a:r>
              <a:rPr b="0" lang="en-US" sz="4400" spc="-1" strike="noStrike">
                <a:solidFill>
                  <a:srgbClr val="000000"/>
                </a:solidFill>
                <a:latin typeface="Arial"/>
              </a:rPr>
              <a:t>x</a:t>
            </a:r>
            <a:r>
              <a:rPr b="0" lang="en-US" sz="4400" spc="-1" strike="noStrike">
                <a:solidFill>
                  <a:srgbClr val="000000"/>
                </a:solidFill>
                <a:latin typeface="Arial"/>
              </a:rPr>
              <a:t>t </a:t>
            </a:r>
            <a:r>
              <a:rPr b="0" lang="en-US" sz="4400" spc="-1" strike="noStrike">
                <a:solidFill>
                  <a:srgbClr val="000000"/>
                </a:solidFill>
                <a:latin typeface="Arial"/>
              </a:rPr>
              <a:t>f</a:t>
            </a:r>
            <a:r>
              <a:rPr b="0" lang="en-US" sz="4400" spc="-1" strike="noStrike">
                <a:solidFill>
                  <a:srgbClr val="000000"/>
                </a:solidFill>
                <a:latin typeface="Arial"/>
              </a:rPr>
              <a:t>o</a:t>
            </a:r>
            <a:r>
              <a:rPr b="0" lang="en-US" sz="4400" spc="-1" strike="noStrike">
                <a:solidFill>
                  <a:srgbClr val="000000"/>
                </a:solidFill>
                <a:latin typeface="Arial"/>
              </a:rPr>
              <a:t>r</a:t>
            </a:r>
            <a:r>
              <a:rPr b="0" lang="en-US" sz="4400" spc="-1" strike="noStrike">
                <a:solidFill>
                  <a:srgbClr val="000000"/>
                </a:solidFill>
                <a:latin typeface="Arial"/>
              </a:rPr>
              <a:t>m</a:t>
            </a:r>
            <a:r>
              <a:rPr b="0" lang="en-US" sz="4400" spc="-1" strike="noStrike">
                <a:solidFill>
                  <a:srgbClr val="000000"/>
                </a:solidFill>
                <a:latin typeface="Arial"/>
              </a:rPr>
              <a:t>a</a:t>
            </a:r>
            <a:r>
              <a:rPr b="0" lang="en-US" sz="4400" spc="-1" strike="noStrike">
                <a:solidFill>
                  <a:srgbClr val="000000"/>
                </a:solidFill>
                <a:latin typeface="Arial"/>
              </a:rPr>
              <a:t>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a:t>
            </a:r>
            <a:r>
              <a:rPr b="0" lang="en-US" sz="4400" spc="-1" strike="noStrike">
                <a:solidFill>
                  <a:srgbClr val="000000"/>
                </a:solidFill>
                <a:latin typeface="Arial"/>
              </a:rPr>
              <a:t>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a:t>
            </a:r>
            <a:r>
              <a:rPr b="0" lang="en-US" sz="4400" spc="-1" strike="noStrike">
                <a:solidFill>
                  <a:srgbClr val="000000"/>
                </a:solidFill>
                <a:latin typeface="Arial"/>
              </a:rPr>
              <a:t>li</a:t>
            </a:r>
            <a:r>
              <a:rPr b="0" lang="en-US" sz="4400" spc="-1" strike="noStrike">
                <a:solidFill>
                  <a:srgbClr val="000000"/>
                </a:solidFill>
                <a:latin typeface="Arial"/>
              </a:rPr>
              <a:t>c</a:t>
            </a:r>
            <a:r>
              <a:rPr b="0" lang="en-US" sz="4400" spc="-1" strike="noStrike">
                <a:solidFill>
                  <a:srgbClr val="000000"/>
                </a:solidFill>
                <a:latin typeface="Arial"/>
              </a:rPr>
              <a:t>k</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o</a:t>
            </a:r>
            <a:r>
              <a:rPr b="0" lang="en-US" sz="4400" spc="-1" strike="noStrike">
                <a:solidFill>
                  <a:srgbClr val="000000"/>
                </a:solidFill>
                <a:latin typeface="Arial"/>
              </a:rPr>
              <a:t> </a:t>
            </a:r>
            <a:r>
              <a:rPr b="0" lang="en-US" sz="4400" spc="-1" strike="noStrike">
                <a:solidFill>
                  <a:srgbClr val="000000"/>
                </a:solidFill>
                <a:latin typeface="Arial"/>
              </a:rPr>
              <a:t>e</a:t>
            </a:r>
            <a:r>
              <a:rPr b="0" lang="en-US" sz="4400" spc="-1" strike="noStrike">
                <a:solidFill>
                  <a:srgbClr val="000000"/>
                </a:solidFill>
                <a:latin typeface="Arial"/>
              </a:rPr>
              <a:t>d</a:t>
            </a:r>
            <a:r>
              <a:rPr b="0" lang="en-US" sz="4400" spc="-1" strike="noStrike">
                <a:solidFill>
                  <a:srgbClr val="000000"/>
                </a:solidFill>
                <a:latin typeface="Arial"/>
              </a:rPr>
              <a:t>i</a:t>
            </a:r>
            <a:r>
              <a:rPr b="0" lang="en-US" sz="4400" spc="-1" strike="noStrike">
                <a:solidFill>
                  <a:srgbClr val="000000"/>
                </a:solidFill>
                <a:latin typeface="Arial"/>
              </a:rPr>
              <a:t>t </a:t>
            </a:r>
            <a:r>
              <a:rPr b="0" lang="en-US" sz="4400" spc="-1" strike="noStrike">
                <a:solidFill>
                  <a:srgbClr val="000000"/>
                </a:solidFill>
                <a:latin typeface="Arial"/>
              </a:rPr>
              <a:t>t</a:t>
            </a:r>
            <a:r>
              <a:rPr b="0" lang="en-US" sz="4400" spc="-1" strike="noStrike">
                <a:solidFill>
                  <a:srgbClr val="000000"/>
                </a:solidFill>
                <a:latin typeface="Arial"/>
              </a:rPr>
              <a:t>h</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i</a:t>
            </a:r>
            <a:r>
              <a:rPr b="0" lang="en-US" sz="4400" spc="-1" strike="noStrike">
                <a:solidFill>
                  <a:srgbClr val="000000"/>
                </a:solidFill>
                <a:latin typeface="Arial"/>
              </a:rPr>
              <a:t>t</a:t>
            </a:r>
            <a:r>
              <a:rPr b="0" lang="en-US" sz="4400" spc="-1" strike="noStrike">
                <a:solidFill>
                  <a:srgbClr val="000000"/>
                </a:solidFill>
                <a:latin typeface="Arial"/>
              </a:rPr>
              <a:t>l</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e</a:t>
            </a:r>
            <a:r>
              <a:rPr b="0" lang="en-US" sz="4400" spc="-1" strike="noStrike">
                <a:solidFill>
                  <a:srgbClr val="000000"/>
                </a:solidFill>
                <a:latin typeface="Arial"/>
              </a:rPr>
              <a:t>x</a:t>
            </a:r>
            <a:r>
              <a:rPr b="0" lang="en-US" sz="4400" spc="-1" strike="noStrike">
                <a:solidFill>
                  <a:srgbClr val="000000"/>
                </a:solidFill>
                <a:latin typeface="Arial"/>
              </a:rPr>
              <a:t>t </a:t>
            </a:r>
            <a:r>
              <a:rPr b="0" lang="en-US" sz="4400" spc="-1" strike="noStrike">
                <a:solidFill>
                  <a:srgbClr val="000000"/>
                </a:solidFill>
                <a:latin typeface="Arial"/>
              </a:rPr>
              <a:t>f</a:t>
            </a:r>
            <a:r>
              <a:rPr b="0" lang="en-US" sz="4400" spc="-1" strike="noStrike">
                <a:solidFill>
                  <a:srgbClr val="000000"/>
                </a:solidFill>
                <a:latin typeface="Arial"/>
              </a:rPr>
              <a:t>o</a:t>
            </a:r>
            <a:r>
              <a:rPr b="0" lang="en-US" sz="4400" spc="-1" strike="noStrike">
                <a:solidFill>
                  <a:srgbClr val="000000"/>
                </a:solidFill>
                <a:latin typeface="Arial"/>
              </a:rPr>
              <a:t>r</a:t>
            </a:r>
            <a:r>
              <a:rPr b="0" lang="en-US" sz="4400" spc="-1" strike="noStrike">
                <a:solidFill>
                  <a:srgbClr val="000000"/>
                </a:solidFill>
                <a:latin typeface="Arial"/>
              </a:rPr>
              <a:t>m</a:t>
            </a:r>
            <a:r>
              <a:rPr b="0" lang="en-US" sz="4400" spc="-1" strike="noStrike">
                <a:solidFill>
                  <a:srgbClr val="000000"/>
                </a:solidFill>
                <a:latin typeface="Arial"/>
              </a:rPr>
              <a:t>a</a:t>
            </a:r>
            <a:r>
              <a:rPr b="0" lang="en-US" sz="4400" spc="-1" strike="noStrike">
                <a:solidFill>
                  <a:srgbClr val="000000"/>
                </a:solidFill>
                <a:latin typeface="Arial"/>
              </a:rPr>
              <a:t>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a:t>
            </a:r>
            <a:r>
              <a:rPr b="0" lang="en-US" sz="4400" spc="-1" strike="noStrike">
                <a:solidFill>
                  <a:srgbClr val="000000"/>
                </a:solidFill>
                <a:latin typeface="Arial"/>
              </a:rPr>
              <a:t>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a:t>
            </a:r>
            <a:r>
              <a:rPr b="0" lang="en-US" sz="4400" spc="-1" strike="noStrike">
                <a:solidFill>
                  <a:srgbClr val="000000"/>
                </a:solidFill>
                <a:latin typeface="Arial"/>
              </a:rPr>
              <a:t>l</a:t>
            </a:r>
            <a:r>
              <a:rPr b="0" lang="en-US" sz="4400" spc="-1" strike="noStrike">
                <a:solidFill>
                  <a:srgbClr val="000000"/>
                </a:solidFill>
                <a:latin typeface="Arial"/>
              </a:rPr>
              <a:t>i</a:t>
            </a:r>
            <a:r>
              <a:rPr b="0" lang="en-US" sz="4400" spc="-1" strike="noStrike">
                <a:solidFill>
                  <a:srgbClr val="000000"/>
                </a:solidFill>
                <a:latin typeface="Arial"/>
              </a:rPr>
              <a:t>c</a:t>
            </a:r>
            <a:r>
              <a:rPr b="0" lang="en-US" sz="4400" spc="-1" strike="noStrike">
                <a:solidFill>
                  <a:srgbClr val="000000"/>
                </a:solidFill>
                <a:latin typeface="Arial"/>
              </a:rPr>
              <a:t>k</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o</a:t>
            </a:r>
            <a:r>
              <a:rPr b="0" lang="en-US" sz="4400" spc="-1" strike="noStrike">
                <a:solidFill>
                  <a:srgbClr val="000000"/>
                </a:solidFill>
                <a:latin typeface="Arial"/>
              </a:rPr>
              <a:t> </a:t>
            </a:r>
            <a:r>
              <a:rPr b="0" lang="en-US" sz="4400" spc="-1" strike="noStrike">
                <a:solidFill>
                  <a:srgbClr val="000000"/>
                </a:solidFill>
                <a:latin typeface="Arial"/>
              </a:rPr>
              <a:t>e</a:t>
            </a:r>
            <a:r>
              <a:rPr b="0" lang="en-US" sz="4400" spc="-1" strike="noStrike">
                <a:solidFill>
                  <a:srgbClr val="000000"/>
                </a:solidFill>
                <a:latin typeface="Arial"/>
              </a:rPr>
              <a:t>d</a:t>
            </a:r>
            <a:r>
              <a:rPr b="0" lang="en-US" sz="4400" spc="-1" strike="noStrike">
                <a:solidFill>
                  <a:srgbClr val="000000"/>
                </a:solidFill>
                <a:latin typeface="Arial"/>
              </a:rPr>
              <a:t>i</a:t>
            </a:r>
            <a:r>
              <a:rPr b="0" lang="en-US" sz="4400" spc="-1" strike="noStrike">
                <a:solidFill>
                  <a:srgbClr val="000000"/>
                </a:solidFill>
                <a:latin typeface="Arial"/>
              </a:rPr>
              <a:t>t </a:t>
            </a:r>
            <a:r>
              <a:rPr b="0" lang="en-US" sz="4400" spc="-1" strike="noStrike">
                <a:solidFill>
                  <a:srgbClr val="000000"/>
                </a:solidFill>
                <a:latin typeface="Arial"/>
              </a:rPr>
              <a:t>t</a:t>
            </a:r>
            <a:r>
              <a:rPr b="0" lang="en-US" sz="4400" spc="-1" strike="noStrike">
                <a:solidFill>
                  <a:srgbClr val="000000"/>
                </a:solidFill>
                <a:latin typeface="Arial"/>
              </a:rPr>
              <a:t>h</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i</a:t>
            </a:r>
            <a:r>
              <a:rPr b="0" lang="en-US" sz="4400" spc="-1" strike="noStrike">
                <a:solidFill>
                  <a:srgbClr val="000000"/>
                </a:solidFill>
                <a:latin typeface="Arial"/>
              </a:rPr>
              <a:t>t</a:t>
            </a:r>
            <a:r>
              <a:rPr b="0" lang="en-US" sz="4400" spc="-1" strike="noStrike">
                <a:solidFill>
                  <a:srgbClr val="000000"/>
                </a:solidFill>
                <a:latin typeface="Arial"/>
              </a:rPr>
              <a:t>l</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e</a:t>
            </a:r>
            <a:r>
              <a:rPr b="0" lang="en-US" sz="4400" spc="-1" strike="noStrike">
                <a:solidFill>
                  <a:srgbClr val="000000"/>
                </a:solidFill>
                <a:latin typeface="Arial"/>
              </a:rPr>
              <a:t>x</a:t>
            </a:r>
            <a:r>
              <a:rPr b="0" lang="en-US" sz="4400" spc="-1" strike="noStrike">
                <a:solidFill>
                  <a:srgbClr val="000000"/>
                </a:solidFill>
                <a:latin typeface="Arial"/>
              </a:rPr>
              <a:t>t </a:t>
            </a:r>
            <a:r>
              <a:rPr b="0" lang="en-US" sz="4400" spc="-1" strike="noStrike">
                <a:solidFill>
                  <a:srgbClr val="000000"/>
                </a:solidFill>
                <a:latin typeface="Arial"/>
              </a:rPr>
              <a:t>f</a:t>
            </a:r>
            <a:r>
              <a:rPr b="0" lang="en-US" sz="4400" spc="-1" strike="noStrike">
                <a:solidFill>
                  <a:srgbClr val="000000"/>
                </a:solidFill>
                <a:latin typeface="Arial"/>
              </a:rPr>
              <a:t>o</a:t>
            </a:r>
            <a:r>
              <a:rPr b="0" lang="en-US" sz="4400" spc="-1" strike="noStrike">
                <a:solidFill>
                  <a:srgbClr val="000000"/>
                </a:solidFill>
                <a:latin typeface="Arial"/>
              </a:rPr>
              <a:t>r</a:t>
            </a:r>
            <a:r>
              <a:rPr b="0" lang="en-US" sz="4400" spc="-1" strike="noStrike">
                <a:solidFill>
                  <a:srgbClr val="000000"/>
                </a:solidFill>
                <a:latin typeface="Arial"/>
              </a:rPr>
              <a:t>m</a:t>
            </a:r>
            <a:r>
              <a:rPr b="0" lang="en-US" sz="4400" spc="-1" strike="noStrike">
                <a:solidFill>
                  <a:srgbClr val="000000"/>
                </a:solidFill>
                <a:latin typeface="Arial"/>
              </a:rPr>
              <a:t>a</a:t>
            </a:r>
            <a:r>
              <a:rPr b="0" lang="en-US" sz="4400" spc="-1" strike="noStrike">
                <a:solidFill>
                  <a:srgbClr val="000000"/>
                </a:solidFill>
                <a:latin typeface="Arial"/>
              </a:rPr>
              <a:t>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slideLayout" Target="../slideLayouts/slideLayout8.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png"/><Relationship Id="rId7" Type="http://schemas.openxmlformats.org/officeDocument/2006/relationships/image" Target="../media/image15.svg"/><Relationship Id="rId8" Type="http://schemas.openxmlformats.org/officeDocument/2006/relationships/slideLayout" Target="../slideLayouts/slideLayout9.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0.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sv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slideLayout" Target="../slideLayouts/slideLayout1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3.png"/><Relationship Id="rId10" Type="http://schemas.openxmlformats.org/officeDocument/2006/relationships/slideLayout" Target="../slideLayouts/slideLayout4.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9144000" y="0"/>
            <a:ext cx="5485320" cy="8228520"/>
          </a:xfrm>
          <a:prstGeom prst="rect">
            <a:avLst/>
          </a:prstGeom>
          <a:ln w="0">
            <a:noFill/>
          </a:ln>
        </p:spPr>
      </p:pic>
      <p:sp>
        <p:nvSpPr>
          <p:cNvPr id="51" name="Text 0"/>
          <p:cNvSpPr/>
          <p:nvPr/>
        </p:nvSpPr>
        <p:spPr>
          <a:xfrm>
            <a:off x="863640" y="2547360"/>
            <a:ext cx="7415280" cy="183960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sz="3850" b="1">
                <a:solidFill>
                  <a:srgbClr val="FFFFFF"/>
                </a:solidFill>
                <a:latin typeface="Montserrat Bold"/>
              </a:rPr>
              <a:t>Искусственный интеллект и гибкая адаптация в управлении проектами</a:t>
            </a:r>
            <a:endParaRPr b="0" lang="en-US" sz="3850" spc="-1" strike="noStrike">
              <a:solidFill>
                <a:srgbClr val="000000"/>
              </a:solidFill>
              <a:latin typeface="Arial"/>
            </a:endParaRPr>
          </a:p>
        </p:txBody>
      </p:sp>
      <p:sp>
        <p:nvSpPr>
          <p:cNvPr id="52" name="Text 1"/>
          <p:cNvSpPr/>
          <p:nvPr/>
        </p:nvSpPr>
        <p:spPr>
          <a:xfrm>
            <a:off x="863640" y="4711680"/>
            <a:ext cx="741528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sz="1700" b="0">
                <a:solidFill>
                  <a:srgbClr val="FFFFFF"/>
                </a:solidFill>
                <a:latin typeface="Source Sans 3"/>
              </a:rPr>
              <a:t>11-я сессия · Управление проектами и адаптивные методологии</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 0"/>
          <p:cNvSpPr/>
          <p:nvPr/>
        </p:nvSpPr>
        <p:spPr>
          <a:xfrm>
            <a:off x="863640" y="1287360"/>
            <a:ext cx="762696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sz="3850" b="1">
                <a:solidFill>
                  <a:srgbClr val="FFFFFF"/>
                </a:solidFill>
                <a:latin typeface="Montserrat Bold"/>
              </a:rPr>
              <a:t>Что мы изучим на этом занятии?</a:t>
            </a:r>
            <a:endParaRPr b="0" lang="en-US" sz="3850" spc="-1" strike="noStrike">
              <a:solidFill>
                <a:srgbClr val="000000"/>
              </a:solidFill>
              <a:latin typeface="Arial"/>
            </a:endParaRPr>
          </a:p>
        </p:txBody>
      </p:sp>
      <p:sp>
        <p:nvSpPr>
          <p:cNvPr id="54" name="Text 1"/>
          <p:cNvSpPr/>
          <p:nvPr/>
        </p:nvSpPr>
        <p:spPr>
          <a:xfrm>
            <a:off x="863640" y="233280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Bu gün süni intellektin layihələri daha dəqiq planlaşdırmaqla yanaşı, adaptasiya komandaları daha da adaptasiya etmək üçün necə kömək edə biləcəyini birlikdə araşdıracağıq. Aşağıdakı əsas məqsədlər ətrafında məzmun qurulmuşdur:</a:t>
            </a:r>
            <a:endParaRPr b="0" lang="en-US" sz="1700" spc="-1" strike="noStrike">
              <a:solidFill>
                <a:srgbClr val="000000"/>
              </a:solidFill>
              <a:latin typeface="Arial"/>
            </a:endParaRPr>
          </a:p>
        </p:txBody>
      </p:sp>
      <p:sp>
        <p:nvSpPr>
          <p:cNvPr id="55" name="Text 2"/>
          <p:cNvSpPr/>
          <p:nvPr/>
        </p:nvSpPr>
        <p:spPr>
          <a:xfrm>
            <a:off x="863640" y="32234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FFFFFF"/>
                </a:solidFill>
                <a:latin typeface="Montserrat Light"/>
                <a:ea typeface="Montserrat Light"/>
              </a:rPr>
              <a:t>01</a:t>
            </a:r>
            <a:endParaRPr b="0" lang="en-US" sz="1700" spc="-1" strike="noStrike">
              <a:solidFill>
                <a:srgbClr val="000000"/>
              </a:solidFill>
              <a:latin typeface="Arial"/>
            </a:endParaRPr>
          </a:p>
        </p:txBody>
      </p:sp>
      <p:sp>
        <p:nvSpPr>
          <p:cNvPr id="56" name="Shape 3"/>
          <p:cNvSpPr/>
          <p:nvPr/>
        </p:nvSpPr>
        <p:spPr>
          <a:xfrm>
            <a:off x="863640" y="356004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57" name="Text 4"/>
          <p:cNvSpPr/>
          <p:nvPr/>
        </p:nvSpPr>
        <p:spPr>
          <a:xfrm>
            <a:off x="863640" y="3728880"/>
            <a:ext cx="369360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Ənənəvi çətinlikləri anlamaq</a:t>
            </a:r>
            <a:endParaRPr b="0" lang="en-US" sz="1900" spc="-1" strike="noStrike">
              <a:solidFill>
                <a:srgbClr val="000000"/>
              </a:solidFill>
              <a:latin typeface="Arial"/>
            </a:endParaRPr>
          </a:p>
        </p:txBody>
      </p:sp>
      <p:sp>
        <p:nvSpPr>
          <p:cNvPr id="58" name="Text 5"/>
          <p:cNvSpPr/>
          <p:nvPr/>
        </p:nvSpPr>
        <p:spPr>
          <a:xfrm>
            <a:off x="863640" y="416520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Klassik layihə idarəetməsinin hansı boşluqları var olduğunu müəyyənləşdiririk.</a:t>
            </a:r>
            <a:endParaRPr b="0" lang="en-US" sz="1700" spc="-1" strike="noStrike">
              <a:solidFill>
                <a:srgbClr val="000000"/>
              </a:solidFill>
              <a:latin typeface="Arial"/>
            </a:endParaRPr>
          </a:p>
        </p:txBody>
      </p:sp>
      <p:sp>
        <p:nvSpPr>
          <p:cNvPr id="59" name="Text 6"/>
          <p:cNvSpPr/>
          <p:nvPr/>
        </p:nvSpPr>
        <p:spPr>
          <a:xfrm>
            <a:off x="7423200" y="32234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FFFFFF"/>
                </a:solidFill>
                <a:latin typeface="Montserrat Light"/>
                <a:ea typeface="Montserrat Light"/>
              </a:rPr>
              <a:t>02</a:t>
            </a:r>
            <a:endParaRPr b="0" lang="en-US" sz="1700" spc="-1" strike="noStrike">
              <a:solidFill>
                <a:srgbClr val="000000"/>
              </a:solidFill>
              <a:latin typeface="Arial"/>
            </a:endParaRPr>
          </a:p>
        </p:txBody>
      </p:sp>
      <p:sp>
        <p:nvSpPr>
          <p:cNvPr id="60" name="Shape 7"/>
          <p:cNvSpPr/>
          <p:nvPr/>
        </p:nvSpPr>
        <p:spPr>
          <a:xfrm>
            <a:off x="7423200" y="356004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1" name="Text 8"/>
          <p:cNvSpPr/>
          <p:nvPr/>
        </p:nvSpPr>
        <p:spPr>
          <a:xfrm>
            <a:off x="7423200" y="3728880"/>
            <a:ext cx="437292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Süni intellektin rolunu kəşf etmək</a:t>
            </a:r>
            <a:endParaRPr b="0" lang="en-US" sz="1900" spc="-1" strike="noStrike">
              <a:solidFill>
                <a:srgbClr val="000000"/>
              </a:solidFill>
              <a:latin typeface="Arial"/>
            </a:endParaRPr>
          </a:p>
        </p:txBody>
      </p:sp>
      <p:sp>
        <p:nvSpPr>
          <p:cNvPr id="62" name="Text 9"/>
          <p:cNvSpPr/>
          <p:nvPr/>
        </p:nvSpPr>
        <p:spPr>
          <a:xfrm>
            <a:off x="7423200" y="416520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SI-nin planlaşdırma, monitorinq və resurs bölgüsündə necə dəyər yaratdığını öyrənirik.</a:t>
            </a:r>
            <a:endParaRPr b="0" lang="en-US" sz="1700" spc="-1" strike="noStrike">
              <a:solidFill>
                <a:srgbClr val="000000"/>
              </a:solidFill>
              <a:latin typeface="Arial"/>
            </a:endParaRPr>
          </a:p>
        </p:txBody>
      </p:sp>
      <p:sp>
        <p:nvSpPr>
          <p:cNvPr id="63" name="Text 10"/>
          <p:cNvSpPr/>
          <p:nvPr/>
        </p:nvSpPr>
        <p:spPr>
          <a:xfrm>
            <a:off x="863640" y="51908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FFFFFF"/>
                </a:solidFill>
                <a:latin typeface="Montserrat Light"/>
                <a:ea typeface="Montserrat Light"/>
              </a:rPr>
              <a:t>03</a:t>
            </a:r>
            <a:endParaRPr b="0" lang="en-US" sz="1700" spc="-1" strike="noStrike">
              <a:solidFill>
                <a:srgbClr val="000000"/>
              </a:solidFill>
              <a:latin typeface="Arial"/>
            </a:endParaRPr>
          </a:p>
        </p:txBody>
      </p:sp>
      <p:sp>
        <p:nvSpPr>
          <p:cNvPr id="64" name="Shape 11"/>
          <p:cNvSpPr/>
          <p:nvPr/>
        </p:nvSpPr>
        <p:spPr>
          <a:xfrm>
            <a:off x="863640" y="552708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5" name="Text 12"/>
          <p:cNvSpPr/>
          <p:nvPr/>
        </p:nvSpPr>
        <p:spPr>
          <a:xfrm>
            <a:off x="863640" y="5695920"/>
            <a:ext cx="462600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adaptasiya uyğunlaşmanı dərinləşdirmək</a:t>
            </a:r>
            <a:endParaRPr b="0" lang="en-US" sz="1900" spc="-1" strike="noStrike">
              <a:solidFill>
                <a:srgbClr val="000000"/>
              </a:solidFill>
              <a:latin typeface="Arial"/>
            </a:endParaRPr>
          </a:p>
        </p:txBody>
      </p:sp>
      <p:sp>
        <p:nvSpPr>
          <p:cNvPr id="66" name="Text 13"/>
          <p:cNvSpPr/>
          <p:nvPr/>
        </p:nvSpPr>
        <p:spPr>
          <a:xfrm>
            <a:off x="863640" y="613224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SI-dəstəkli retrospektivlər, prioritetləşdirmə və komanda dəstəyi alətlərini araşdırırıq.</a:t>
            </a:r>
            <a:endParaRPr b="0" lang="en-US" sz="1700" spc="-1" strike="noStrike">
              <a:solidFill>
                <a:srgbClr val="000000"/>
              </a:solidFill>
              <a:latin typeface="Arial"/>
            </a:endParaRPr>
          </a:p>
        </p:txBody>
      </p:sp>
      <p:sp>
        <p:nvSpPr>
          <p:cNvPr id="67" name="Text 14"/>
          <p:cNvSpPr/>
          <p:nvPr/>
        </p:nvSpPr>
        <p:spPr>
          <a:xfrm>
            <a:off x="7423200" y="51908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FFFFFF"/>
                </a:solidFill>
                <a:latin typeface="Montserrat Light"/>
                <a:ea typeface="Montserrat Light"/>
              </a:rPr>
              <a:t>04</a:t>
            </a:r>
            <a:endParaRPr b="0" lang="en-US" sz="1700" spc="-1" strike="noStrike">
              <a:solidFill>
                <a:srgbClr val="000000"/>
              </a:solidFill>
              <a:latin typeface="Arial"/>
            </a:endParaRPr>
          </a:p>
        </p:txBody>
      </p:sp>
      <p:sp>
        <p:nvSpPr>
          <p:cNvPr id="68" name="Shape 15"/>
          <p:cNvSpPr/>
          <p:nvPr/>
        </p:nvSpPr>
        <p:spPr>
          <a:xfrm>
            <a:off x="7423200" y="552708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9" name="Text 16"/>
          <p:cNvSpPr/>
          <p:nvPr/>
        </p:nvSpPr>
        <p:spPr>
          <a:xfrm>
            <a:off x="7423200" y="5695920"/>
            <a:ext cx="263988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Praktikaya keçirmək</a:t>
            </a:r>
            <a:endParaRPr b="0" lang="en-US" sz="1900" spc="-1" strike="noStrike">
              <a:solidFill>
                <a:srgbClr val="000000"/>
              </a:solidFill>
              <a:latin typeface="Arial"/>
            </a:endParaRPr>
          </a:p>
        </p:txBody>
      </p:sp>
      <p:sp>
        <p:nvSpPr>
          <p:cNvPr id="70" name="Text 17"/>
          <p:cNvSpPr/>
          <p:nvPr/>
        </p:nvSpPr>
        <p:spPr>
          <a:xfrm>
            <a:off x="7423200" y="6132240"/>
            <a:ext cx="634248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FFFFFF"/>
                </a:solidFill>
                <a:latin typeface="Source Sans 3"/>
                <a:ea typeface="Source Sans 3"/>
              </a:rPr>
              <a:t>Real alətlər və tədqiqat nümunəsi ilə bilikləri tətbiq edirik.</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Image 0" descr="preencoded.png"/>
          <p:cNvPicPr/>
          <p:nvPr/>
        </p:nvPicPr>
        <p:blipFill>
          <a:blip r:embed="rId1"/>
          <a:stretch/>
        </p:blipFill>
        <p:spPr>
          <a:xfrm>
            <a:off x="9144000" y="0"/>
            <a:ext cx="5485320" cy="8228520"/>
          </a:xfrm>
          <a:prstGeom prst="rect">
            <a:avLst/>
          </a:prstGeom>
          <a:ln w="0">
            <a:noFill/>
          </a:ln>
        </p:spPr>
      </p:pic>
      <p:sp>
        <p:nvSpPr>
          <p:cNvPr id="72" name="Text 0"/>
          <p:cNvSpPr/>
          <p:nvPr/>
        </p:nvSpPr>
        <p:spPr>
          <a:xfrm>
            <a:off x="651600" y="867600"/>
            <a:ext cx="7840080" cy="924120"/>
          </a:xfrm>
          <a:prstGeom prst="rect">
            <a:avLst/>
          </a:prstGeom>
          <a:noFill/>
          <a:ln w="0">
            <a:noFill/>
          </a:ln>
        </p:spPr>
        <p:style>
          <a:lnRef idx="0"/>
          <a:fillRef idx="0"/>
          <a:effectRef idx="0"/>
          <a:fontRef idx="minor"/>
        </p:style>
        <p:txBody>
          <a:bodyPr lIns="0" rIns="0" tIns="0" bIns="0" anchor="t">
            <a:noAutofit/>
          </a:bodyPr>
          <a:p>
            <a:pPr>
              <a:lnSpc>
                <a:spcPts val="3600"/>
              </a:lnSpc>
              <a:tabLst>
                <a:tab algn="l" pos="0"/>
              </a:tabLst>
            </a:pPr>
            <a:r>
              <a:rPr sz="2900" b="1">
                <a:solidFill>
                  <a:srgbClr val="FFFFFF"/>
                </a:solidFill>
                <a:latin typeface="Montserrat Bold"/>
              </a:rPr>
              <a:t>Трудности традиционного управления проектами</a:t>
            </a:r>
            <a:endParaRPr b="0" lang="en-US" sz="2900" spc="-1" strike="noStrike">
              <a:solidFill>
                <a:srgbClr val="000000"/>
              </a:solidFill>
              <a:latin typeface="Arial"/>
            </a:endParaRPr>
          </a:p>
        </p:txBody>
      </p:sp>
      <p:sp>
        <p:nvSpPr>
          <p:cNvPr id="73" name="Text 1"/>
          <p:cNvSpPr/>
          <p:nvPr/>
        </p:nvSpPr>
        <p:spPr>
          <a:xfrm>
            <a:off x="651600" y="1977120"/>
            <a:ext cx="7840080" cy="42732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FFFFFF"/>
                </a:solidFill>
                <a:latin typeface="Source Sans 3"/>
                <a:ea typeface="Source Sans 3"/>
              </a:rPr>
              <a:t>Klassik yanaşmalar bir çox kritik problemə görə müasir tələblərə cavab verməkdə çətinlik çəkir. Bu boşluqlar layihə uğursuzluqlarının əsas mənbələrindən biridir.</a:t>
            </a:r>
            <a:endParaRPr b="0" lang="en-US" sz="1250" spc="-1" strike="noStrike">
              <a:solidFill>
                <a:srgbClr val="000000"/>
              </a:solidFill>
              <a:latin typeface="Arial"/>
            </a:endParaRPr>
          </a:p>
        </p:txBody>
      </p:sp>
      <p:sp>
        <p:nvSpPr>
          <p:cNvPr id="74" name="Shape 2"/>
          <p:cNvSpPr/>
          <p:nvPr/>
        </p:nvSpPr>
        <p:spPr>
          <a:xfrm>
            <a:off x="651600" y="2543760"/>
            <a:ext cx="7840080" cy="111132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Shape 3"/>
          <p:cNvSpPr/>
          <p:nvPr/>
        </p:nvSpPr>
        <p:spPr>
          <a:xfrm>
            <a:off x="628560" y="2543760"/>
            <a:ext cx="90360" cy="111132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6" name="Text 4"/>
          <p:cNvSpPr/>
          <p:nvPr/>
        </p:nvSpPr>
        <p:spPr>
          <a:xfrm>
            <a:off x="905760" y="2729520"/>
            <a:ext cx="2815560" cy="23796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sz="1450" b="1">
                <a:solidFill>
                  <a:srgbClr val="FFFFFF"/>
                </a:solidFill>
                <a:latin typeface="Montserrat Bold"/>
              </a:rPr>
              <a:t>🕐 Неточные оценки</a:t>
            </a:r>
            <a:endParaRPr b="0" lang="en-US" sz="1450" spc="-1" strike="noStrike">
              <a:solidFill>
                <a:srgbClr val="000000"/>
              </a:solidFill>
              <a:latin typeface="Arial"/>
            </a:endParaRPr>
          </a:p>
        </p:txBody>
      </p:sp>
      <p:sp>
        <p:nvSpPr>
          <p:cNvPr id="77" name="Text 5"/>
          <p:cNvSpPr/>
          <p:nvPr/>
        </p:nvSpPr>
        <p:spPr>
          <a:xfrm>
            <a:off x="905760" y="3042000"/>
            <a:ext cx="7399800" cy="42732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FFFFFF"/>
                </a:solidFill>
                <a:latin typeface="Source Sans 3"/>
                <a:ea typeface="Source Sans 3"/>
              </a:rPr>
              <a:t>Vaxt və büdcə proqnozları çox zaman intuisiyaya əsaslanır, sistemli analiz yox. Bu isə həm büdcə aşımlarına, həm də gecikmiş çatdırılmalara gətirib çıxarır.</a:t>
            </a:r>
            <a:endParaRPr b="0" lang="en-US" sz="1250" spc="-1" strike="noStrike">
              <a:solidFill>
                <a:srgbClr val="000000"/>
              </a:solidFill>
              <a:latin typeface="Arial"/>
            </a:endParaRPr>
          </a:p>
        </p:txBody>
      </p:sp>
      <p:sp>
        <p:nvSpPr>
          <p:cNvPr id="78" name="Shape 6"/>
          <p:cNvSpPr/>
          <p:nvPr/>
        </p:nvSpPr>
        <p:spPr>
          <a:xfrm>
            <a:off x="651600" y="3778920"/>
            <a:ext cx="7840080" cy="111132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 name="Shape 7"/>
          <p:cNvSpPr/>
          <p:nvPr/>
        </p:nvSpPr>
        <p:spPr>
          <a:xfrm>
            <a:off x="628560" y="3778920"/>
            <a:ext cx="90360" cy="111132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 name="Text 8"/>
          <p:cNvSpPr/>
          <p:nvPr/>
        </p:nvSpPr>
        <p:spPr>
          <a:xfrm>
            <a:off x="905760" y="3964680"/>
            <a:ext cx="3360240" cy="23796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sz="1450" b="1">
                <a:solidFill>
                  <a:srgbClr val="FFFFFF"/>
                </a:solidFill>
                <a:latin typeface="Montserrat Bold"/>
              </a:rPr>
              <a:t>⚠️ Позднее выявление рисков</a:t>
            </a:r>
            <a:endParaRPr b="0" lang="en-US" sz="1450" spc="-1" strike="noStrike">
              <a:solidFill>
                <a:srgbClr val="000000"/>
              </a:solidFill>
              <a:latin typeface="Arial"/>
            </a:endParaRPr>
          </a:p>
        </p:txBody>
      </p:sp>
      <p:sp>
        <p:nvSpPr>
          <p:cNvPr id="81" name="Text 9"/>
          <p:cNvSpPr/>
          <p:nvPr/>
        </p:nvSpPr>
        <p:spPr>
          <a:xfrm>
            <a:off x="905760" y="4277160"/>
            <a:ext cx="7399800" cy="42732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FFFFFF"/>
                </a:solidFill>
                <a:latin typeface="Source Sans 3"/>
                <a:ea typeface="Source Sans 3"/>
              </a:rPr>
              <a:t>Problemlər çox vaxt kritik mərhələyə çatdıqda üzə çıxır. Erkən xəbərdarlıq mexanizmləri olmadan komandalar reaktiv rejimə düşür.</a:t>
            </a:r>
            <a:endParaRPr b="0" lang="en-US" sz="1250" spc="-1" strike="noStrike">
              <a:solidFill>
                <a:srgbClr val="000000"/>
              </a:solidFill>
              <a:latin typeface="Arial"/>
            </a:endParaRPr>
          </a:p>
        </p:txBody>
      </p:sp>
      <p:sp>
        <p:nvSpPr>
          <p:cNvPr id="82" name="Shape 10"/>
          <p:cNvSpPr/>
          <p:nvPr/>
        </p:nvSpPr>
        <p:spPr>
          <a:xfrm>
            <a:off x="651600" y="5014080"/>
            <a:ext cx="7840080" cy="111132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 name="Shape 11"/>
          <p:cNvSpPr/>
          <p:nvPr/>
        </p:nvSpPr>
        <p:spPr>
          <a:xfrm>
            <a:off x="628560" y="5014080"/>
            <a:ext cx="90360" cy="111132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4" name="Text 12"/>
          <p:cNvSpPr/>
          <p:nvPr/>
        </p:nvSpPr>
        <p:spPr>
          <a:xfrm>
            <a:off x="905760" y="5199840"/>
            <a:ext cx="1988640" cy="23796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sz="1450" b="1">
                <a:solidFill>
                  <a:srgbClr val="FFFFFF"/>
                </a:solidFill>
                <a:latin typeface="Montserrat Bold"/>
              </a:rPr>
              <a:t>👥 Дисбаланс ресурсов</a:t>
            </a:r>
            <a:endParaRPr b="0" lang="en-US" sz="1450" spc="-1" strike="noStrike">
              <a:solidFill>
                <a:srgbClr val="000000"/>
              </a:solidFill>
              <a:latin typeface="Arial"/>
            </a:endParaRPr>
          </a:p>
        </p:txBody>
      </p:sp>
      <p:sp>
        <p:nvSpPr>
          <p:cNvPr id="85" name="Text 13"/>
          <p:cNvSpPr/>
          <p:nvPr/>
        </p:nvSpPr>
        <p:spPr>
          <a:xfrm>
            <a:off x="905760" y="5512680"/>
            <a:ext cx="7399800" cy="42732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FFFFFF"/>
                </a:solidFill>
                <a:latin typeface="Source Sans 3"/>
                <a:ea typeface="Source Sans 3"/>
              </a:rPr>
              <a:t>Bəzi komanda üzvləri həddindən artıq yüklənərkən digərləri boş qalır. Bu da həm məhsuldarlığı, həm də mənəviyyatı aşağı salır.</a:t>
            </a:r>
            <a:endParaRPr b="0" lang="en-US" sz="1250" spc="-1" strike="noStrike">
              <a:solidFill>
                <a:srgbClr val="000000"/>
              </a:solidFill>
              <a:latin typeface="Arial"/>
            </a:endParaRPr>
          </a:p>
        </p:txBody>
      </p:sp>
      <p:sp>
        <p:nvSpPr>
          <p:cNvPr id="86" name="Shape 14"/>
          <p:cNvSpPr/>
          <p:nvPr/>
        </p:nvSpPr>
        <p:spPr>
          <a:xfrm>
            <a:off x="651600" y="6249600"/>
            <a:ext cx="7840080" cy="111132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 name="Shape 15"/>
          <p:cNvSpPr/>
          <p:nvPr/>
        </p:nvSpPr>
        <p:spPr>
          <a:xfrm>
            <a:off x="628560" y="6249600"/>
            <a:ext cx="90360" cy="111132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8" name="Text 16"/>
          <p:cNvSpPr/>
          <p:nvPr/>
        </p:nvSpPr>
        <p:spPr>
          <a:xfrm>
            <a:off x="905760" y="6435360"/>
            <a:ext cx="2671560" cy="23796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sz="1450" b="1">
                <a:solidFill>
                  <a:srgbClr val="FFFFFF"/>
                </a:solidFill>
                <a:latin typeface="Montserrat Bold"/>
              </a:rPr>
              <a:t>📊 Сложности масштабирования</a:t>
            </a:r>
            <a:endParaRPr b="0" lang="en-US" sz="1450" spc="-1" strike="noStrike">
              <a:solidFill>
                <a:srgbClr val="000000"/>
              </a:solidFill>
              <a:latin typeface="Arial"/>
            </a:endParaRPr>
          </a:p>
        </p:txBody>
      </p:sp>
      <p:sp>
        <p:nvSpPr>
          <p:cNvPr id="89" name="Text 17"/>
          <p:cNvSpPr/>
          <p:nvPr/>
        </p:nvSpPr>
        <p:spPr>
          <a:xfrm>
            <a:off x="905760" y="6747840"/>
            <a:ext cx="7399800" cy="42732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FFFFFF"/>
                </a:solidFill>
                <a:latin typeface="Source Sans 3"/>
                <a:ea typeface="Source Sans 3"/>
              </a:rPr>
              <a:t>Bir neçə layihəni eyni vaxtda idarə edərkən portfel üzrə adaptasiya miqyaslandırma demək olar ki, əl ilə mümkünsüz olur.</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Text 0"/>
          <p:cNvSpPr/>
          <p:nvPr/>
        </p:nvSpPr>
        <p:spPr>
          <a:xfrm>
            <a:off x="961920" y="1040400"/>
            <a:ext cx="11758320" cy="502200"/>
          </a:xfrm>
          <a:prstGeom prst="rect">
            <a:avLst/>
          </a:prstGeom>
          <a:noFill/>
          <a:ln w="0">
            <a:noFill/>
          </a:ln>
        </p:spPr>
        <p:style>
          <a:lnRef idx="0"/>
          <a:fillRef idx="0"/>
          <a:effectRef idx="0"/>
          <a:fontRef idx="minor"/>
        </p:style>
        <p:txBody>
          <a:bodyPr wrap="none" lIns="0" rIns="0" tIns="0" bIns="0" anchor="t">
            <a:noAutofit/>
          </a:bodyPr>
          <a:p>
            <a:pPr>
              <a:lnSpc>
                <a:spcPts val="3949"/>
              </a:lnSpc>
              <a:tabLst>
                <a:tab algn="l" pos="0"/>
              </a:tabLst>
            </a:pPr>
            <a:r>
              <a:rPr sz="3150" b="1">
                <a:solidFill>
                  <a:srgbClr val="FFFFFF"/>
                </a:solidFill>
                <a:latin typeface="Montserrat Bold"/>
              </a:rPr>
              <a:t>Как искусственный интеллект улучшает управление проектами?</a:t>
            </a:r>
            <a:endParaRPr b="0" lang="en-US" sz="3150" spc="-1" strike="noStrike">
              <a:solidFill>
                <a:srgbClr val="000000"/>
              </a:solidFill>
              <a:latin typeface="Arial"/>
            </a:endParaRPr>
          </a:p>
        </p:txBody>
      </p:sp>
      <p:sp>
        <p:nvSpPr>
          <p:cNvPr id="91" name="Shape 1"/>
          <p:cNvSpPr/>
          <p:nvPr/>
        </p:nvSpPr>
        <p:spPr>
          <a:xfrm>
            <a:off x="834120" y="1761840"/>
            <a:ext cx="6391080" cy="5426280"/>
          </a:xfrm>
          <a:prstGeom prst="roundRect">
            <a:avLst>
              <a:gd name="adj" fmla="val 490"/>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 name="Text 2"/>
          <p:cNvSpPr/>
          <p:nvPr/>
        </p:nvSpPr>
        <p:spPr>
          <a:xfrm>
            <a:off x="1011600" y="1907280"/>
            <a:ext cx="224172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FFFFFF"/>
                </a:solidFill>
                <a:latin typeface="Montserrat Bold"/>
                <a:ea typeface="Montserrat Bold"/>
              </a:rPr>
              <a:t>SI-nin Gətirdiyi Dəyər</a:t>
            </a:r>
            <a:endParaRPr b="0" lang="en-US" sz="1550" spc="-1" strike="noStrike">
              <a:solidFill>
                <a:srgbClr val="000000"/>
              </a:solidFill>
              <a:latin typeface="Arial"/>
            </a:endParaRPr>
          </a:p>
        </p:txBody>
      </p:sp>
      <p:sp>
        <p:nvSpPr>
          <p:cNvPr id="93" name="Text 3"/>
          <p:cNvSpPr/>
          <p:nvPr/>
        </p:nvSpPr>
        <p:spPr>
          <a:xfrm>
            <a:off x="1011600" y="2304360"/>
            <a:ext cx="6036840" cy="483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FFFFFF"/>
                </a:solidFill>
                <a:latin typeface="Source Sans 3"/>
                <a:ea typeface="Source Sans 3"/>
              </a:rPr>
              <a:t>Süni intellekt layihə idarəetməsinin üç əsas zəif nöqtəsini birbaşa hədəf alır: proqnoz dəqiqliyi, real vaxtlı görünürlük və resurs optimallığı.</a:t>
            </a:r>
            <a:endParaRPr b="0" lang="en-US" sz="1350" spc="-1" strike="noStrike">
              <a:solidFill>
                <a:srgbClr val="000000"/>
              </a:solidFill>
              <a:latin typeface="Arial"/>
            </a:endParaRPr>
          </a:p>
        </p:txBody>
      </p:sp>
      <p:sp>
        <p:nvSpPr>
          <p:cNvPr id="94" name="Text 4"/>
          <p:cNvSpPr/>
          <p:nvPr/>
        </p:nvSpPr>
        <p:spPr>
          <a:xfrm>
            <a:off x="1011600" y="2919240"/>
            <a:ext cx="6036840" cy="826920"/>
          </a:xfrm>
          <a:prstGeom prst="rect">
            <a:avLst/>
          </a:prstGeom>
          <a:noFill/>
          <a:ln w="0">
            <a:noFill/>
          </a:ln>
        </p:spPr>
        <p:style>
          <a:lnRef idx="0"/>
          <a:fillRef idx="0"/>
          <a:effectRef idx="0"/>
          <a:fontRef idx="minor"/>
        </p:style>
        <p:txBody>
          <a:bodyPr lIns="0" rIns="0" tIns="0" bIns="0" anchor="t">
            <a:noAutofit/>
          </a:bodyPr>
          <a:p>
            <a:pPr marL="343080" indent="-343080">
              <a:lnSpc>
                <a:spcPts val="1899"/>
              </a:lnSpc>
              <a:buClr>
                <a:srgbClr val="e2e6e9"/>
              </a:buClr>
              <a:buFont typeface="Symbol" charset="2"/>
              <a:buChar char=""/>
            </a:pPr>
            <a:r>
              <a:rPr b="0" lang="en-US" sz="1350" spc="-1" strike="noStrike">
                <a:solidFill>
                  <a:srgbClr val="FFFFFF"/>
                </a:solidFill>
                <a:latin typeface="Source Sans 3"/>
                <a:ea typeface="Source Sans 3"/>
              </a:rPr>
              <a:t>Tarixi məlumatlar → daha dəqiq qiymətləndirmələr</a:t>
            </a:r>
            <a:endParaRPr b="0" lang="en-US" sz="1350" spc="-1" strike="noStrike">
              <a:solidFill>
                <a:srgbClr val="000000"/>
              </a:solidFill>
              <a:latin typeface="Arial"/>
            </a:endParaRPr>
          </a:p>
          <a:p>
            <a:pPr marL="343080" indent="-343080">
              <a:lnSpc>
                <a:spcPts val="1899"/>
              </a:lnSpc>
              <a:buClr>
                <a:srgbClr val="e2e6e9"/>
              </a:buClr>
              <a:buFont typeface="Symbol" charset="2"/>
              <a:buChar char=""/>
            </a:pPr>
            <a:r>
              <a:rPr b="0" lang="en-US" sz="1350" spc="-1" strike="noStrike">
                <a:solidFill>
                  <a:srgbClr val="FFFFFF"/>
                </a:solidFill>
                <a:latin typeface="Source Sans 3"/>
                <a:ea typeface="Source Sans 3"/>
              </a:rPr>
              <a:t>Real vaxt monitorinqu → erkən xəbərdarlıq</a:t>
            </a:r>
            <a:endParaRPr b="0" lang="en-US" sz="1350" spc="-1" strike="noStrike">
              <a:solidFill>
                <a:srgbClr val="000000"/>
              </a:solidFill>
              <a:latin typeface="Arial"/>
            </a:endParaRPr>
          </a:p>
          <a:p>
            <a:pPr marL="343080" indent="-343080">
              <a:lnSpc>
                <a:spcPts val="1899"/>
              </a:lnSpc>
              <a:buClr>
                <a:srgbClr val="e2e6e9"/>
              </a:buClr>
              <a:buFont typeface="Symbol" charset="2"/>
              <a:buChar char=""/>
            </a:pPr>
            <a:r>
              <a:rPr b="0" lang="en-US" sz="1350" spc="-1" strike="noStrike">
                <a:solidFill>
                  <a:srgbClr val="FFFFFF"/>
                </a:solidFill>
                <a:latin typeface="Source Sans 3"/>
                <a:ea typeface="Source Sans 3"/>
              </a:rPr>
              <a:t>Bacarıq əsaslı tapşırıq bölgüsü</a:t>
            </a:r>
            <a:endParaRPr b="0" lang="en-US" sz="1350" spc="-1" strike="noStrike">
              <a:solidFill>
                <a:srgbClr val="000000"/>
              </a:solidFill>
              <a:latin typeface="Arial"/>
            </a:endParaRPr>
          </a:p>
        </p:txBody>
      </p:sp>
      <p:pic>
        <p:nvPicPr>
          <p:cNvPr id="95" name="Image 0" descr="preencoded.png"/>
          <p:cNvPicPr/>
          <p:nvPr/>
        </p:nvPicPr>
        <p:blipFill>
          <a:blip r:embed="rId1">
            <a:extLst>
              <a:ext uri="{96DAC541-7B7A-43D3-8B79-37D633B846F1}">
                <asvg:svgBlip xmlns:asvg="http://schemas.microsoft.com/office/drawing/2016/SVG/main" r:embed="rId2"/>
              </a:ext>
            </a:extLst>
          </a:blip>
          <a:stretch/>
        </p:blipFill>
        <p:spPr>
          <a:xfrm>
            <a:off x="7538760" y="1925640"/>
            <a:ext cx="442080" cy="442080"/>
          </a:xfrm>
          <a:prstGeom prst="rect">
            <a:avLst/>
          </a:prstGeom>
          <a:ln w="0">
            <a:noFill/>
          </a:ln>
        </p:spPr>
      </p:pic>
      <p:sp>
        <p:nvSpPr>
          <p:cNvPr id="96" name="Text 5"/>
          <p:cNvSpPr/>
          <p:nvPr/>
        </p:nvSpPr>
        <p:spPr>
          <a:xfrm>
            <a:off x="7538760" y="2550240"/>
            <a:ext cx="201312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sz="1550" b="1">
                <a:solidFill>
                  <a:srgbClr val="FFFFFF"/>
                </a:solidFill>
                <a:latin typeface="Montserrat Bold"/>
              </a:rPr>
              <a:t>Точный прогноз</a:t>
            </a:r>
            <a:endParaRPr b="0" lang="en-US" sz="1550" spc="-1" strike="noStrike">
              <a:solidFill>
                <a:srgbClr val="000000"/>
              </a:solidFill>
              <a:latin typeface="Arial"/>
            </a:endParaRPr>
          </a:p>
        </p:txBody>
      </p:sp>
      <p:sp>
        <p:nvSpPr>
          <p:cNvPr id="97" name="Text 6"/>
          <p:cNvSpPr/>
          <p:nvPr/>
        </p:nvSpPr>
        <p:spPr>
          <a:xfrm>
            <a:off x="7538760" y="2947680"/>
            <a:ext cx="6135840" cy="483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FFFFFF"/>
                </a:solidFill>
                <a:latin typeface="Source Sans 3"/>
                <a:ea typeface="Source Sans 3"/>
              </a:rPr>
              <a:t>Keçmiş sprint məlumatlarından öyrənərək gələcək iterasiyalar üçün etibarlı zaman cədvəlləri yaradır.</a:t>
            </a:r>
            <a:endParaRPr b="0" lang="en-US" sz="1350" spc="-1" strike="noStrike">
              <a:solidFill>
                <a:srgbClr val="000000"/>
              </a:solidFill>
              <a:latin typeface="Arial"/>
            </a:endParaRPr>
          </a:p>
        </p:txBody>
      </p:sp>
      <p:pic>
        <p:nvPicPr>
          <p:cNvPr id="98" name="Image 1" descr="preencoded.png"/>
          <p:cNvPicPr/>
          <p:nvPr/>
        </p:nvPicPr>
        <p:blipFill>
          <a:blip r:embed="rId3">
            <a:extLst>
              <a:ext uri="{96DAC541-7B7A-43D3-8B79-37D633B846F1}">
                <asvg:svgBlip xmlns:asvg="http://schemas.microsoft.com/office/drawing/2016/SVG/main" r:embed="rId4"/>
              </a:ext>
            </a:extLst>
          </a:blip>
          <a:stretch/>
        </p:blipFill>
        <p:spPr>
          <a:xfrm>
            <a:off x="7538760" y="3722400"/>
            <a:ext cx="442080" cy="442080"/>
          </a:xfrm>
          <a:prstGeom prst="rect">
            <a:avLst/>
          </a:prstGeom>
          <a:ln w="0">
            <a:noFill/>
          </a:ln>
        </p:spPr>
      </p:pic>
      <p:sp>
        <p:nvSpPr>
          <p:cNvPr id="99" name="Text 7"/>
          <p:cNvSpPr/>
          <p:nvPr/>
        </p:nvSpPr>
        <p:spPr>
          <a:xfrm>
            <a:off x="7538760" y="4347360"/>
            <a:ext cx="201312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sz="1550" b="1">
                <a:solidFill>
                  <a:srgbClr val="FFFFFF"/>
                </a:solidFill>
                <a:latin typeface="Montserrat Bold"/>
              </a:rPr>
              <a:t>Раннее предупреждение</a:t>
            </a:r>
            <a:endParaRPr b="0" lang="en-US" sz="1550" spc="-1" strike="noStrike">
              <a:solidFill>
                <a:srgbClr val="000000"/>
              </a:solidFill>
              <a:latin typeface="Arial"/>
            </a:endParaRPr>
          </a:p>
        </p:txBody>
      </p:sp>
      <p:sp>
        <p:nvSpPr>
          <p:cNvPr id="100" name="Text 8"/>
          <p:cNvSpPr/>
          <p:nvPr/>
        </p:nvSpPr>
        <p:spPr>
          <a:xfrm>
            <a:off x="7538760" y="4744440"/>
            <a:ext cx="6135840" cy="483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FFFFFF"/>
                </a:solidFill>
                <a:latin typeface="Source Sans 3"/>
                <a:ea typeface="Source Sans 3"/>
              </a:rPr>
              <a:t>Son tarixlərin pozulmasından əvvəl komandanı xəbərdar edərək düzəldici tədbirlər görülməsinə imkan verir.</a:t>
            </a:r>
            <a:endParaRPr b="0" lang="en-US" sz="1350" spc="-1" strike="noStrike">
              <a:solidFill>
                <a:srgbClr val="000000"/>
              </a:solidFill>
              <a:latin typeface="Arial"/>
            </a:endParaRPr>
          </a:p>
        </p:txBody>
      </p:sp>
      <p:pic>
        <p:nvPicPr>
          <p:cNvPr id="101" name="Image 2" descr="preencoded.png"/>
          <p:cNvPicPr/>
          <p:nvPr/>
        </p:nvPicPr>
        <p:blipFill>
          <a:blip r:embed="rId5">
            <a:extLst>
              <a:ext uri="{96DAC541-7B7A-43D3-8B79-37D633B846F1}">
                <asvg:svgBlip xmlns:asvg="http://schemas.microsoft.com/office/drawing/2016/SVG/main" r:embed="rId6"/>
              </a:ext>
            </a:extLst>
          </a:blip>
          <a:stretch/>
        </p:blipFill>
        <p:spPr>
          <a:xfrm>
            <a:off x="7538760" y="5519520"/>
            <a:ext cx="442080" cy="442080"/>
          </a:xfrm>
          <a:prstGeom prst="rect">
            <a:avLst/>
          </a:prstGeom>
          <a:ln w="0">
            <a:noFill/>
          </a:ln>
        </p:spPr>
      </p:pic>
      <p:sp>
        <p:nvSpPr>
          <p:cNvPr id="102" name="Text 9"/>
          <p:cNvSpPr/>
          <p:nvPr/>
        </p:nvSpPr>
        <p:spPr>
          <a:xfrm>
            <a:off x="7538760" y="6144480"/>
            <a:ext cx="201312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sz="1550" b="1">
                <a:solidFill>
                  <a:srgbClr val="FFFFFF"/>
                </a:solidFill>
                <a:latin typeface="Montserrat Bold"/>
              </a:rPr>
              <a:t>Оптимальное распределение</a:t>
            </a:r>
            <a:endParaRPr b="0" lang="en-US" sz="1550" spc="-1" strike="noStrike">
              <a:solidFill>
                <a:srgbClr val="000000"/>
              </a:solidFill>
              <a:latin typeface="Arial"/>
            </a:endParaRPr>
          </a:p>
        </p:txBody>
      </p:sp>
      <p:sp>
        <p:nvSpPr>
          <p:cNvPr id="103" name="Text 10"/>
          <p:cNvSpPr/>
          <p:nvPr/>
        </p:nvSpPr>
        <p:spPr>
          <a:xfrm>
            <a:off x="7538760" y="6541560"/>
            <a:ext cx="6135840" cy="48312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FFFFFF"/>
                </a:solidFill>
                <a:latin typeface="Source Sans 3"/>
                <a:ea typeface="Source Sans 3"/>
              </a:rPr>
              <a:t>Hər komanda üzvünün bacarıq profili və mövcud iş yüküne görə tapşırıqları ağıllı şəkildə paylaşdırır.</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 0"/>
          <p:cNvSpPr/>
          <p:nvPr/>
        </p:nvSpPr>
        <p:spPr>
          <a:xfrm>
            <a:off x="804240" y="579600"/>
            <a:ext cx="11919600" cy="570240"/>
          </a:xfrm>
          <a:prstGeom prst="rect">
            <a:avLst/>
          </a:prstGeom>
          <a:noFill/>
          <a:ln w="0">
            <a:noFill/>
          </a:ln>
        </p:spPr>
        <p:style>
          <a:lnRef idx="0"/>
          <a:fillRef idx="0"/>
          <a:effectRef idx="0"/>
          <a:fontRef idx="minor"/>
        </p:style>
        <p:txBody>
          <a:bodyPr wrap="none" lIns="0" rIns="0" tIns="0" bIns="0" anchor="t">
            <a:noAutofit/>
          </a:bodyPr>
          <a:p>
            <a:pPr>
              <a:lnSpc>
                <a:spcPts val="4450"/>
              </a:lnSpc>
              <a:tabLst>
                <a:tab algn="l" pos="0"/>
              </a:tabLst>
            </a:pPr>
            <a:r>
              <a:rPr b="1" lang="en-US" sz="3550" spc="-1" strike="noStrike">
                <a:solidFill>
                  <a:srgbClr val="FFFFFF"/>
                </a:solidFill>
                <a:latin typeface="Montserrat Bold"/>
                <a:ea typeface="Montserrat Bold"/>
              </a:rPr>
              <a:t>Süni İntellekt Tapşırıqların Qiymətləndirilməsində</a:t>
            </a:r>
            <a:endParaRPr b="0" lang="en-US" sz="3550" spc="-1" strike="noStrike">
              <a:solidFill>
                <a:srgbClr val="000000"/>
              </a:solidFill>
              <a:latin typeface="Arial"/>
            </a:endParaRPr>
          </a:p>
        </p:txBody>
      </p:sp>
      <p:sp>
        <p:nvSpPr>
          <p:cNvPr id="105" name="Text 1"/>
          <p:cNvSpPr/>
          <p:nvPr/>
        </p:nvSpPr>
        <p:spPr>
          <a:xfrm>
            <a:off x="804240" y="1524960"/>
            <a:ext cx="13020840" cy="58140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FFFFFF"/>
                </a:solidFill>
                <a:latin typeface="Source Sans 3"/>
                <a:ea typeface="Source Sans 3"/>
              </a:rPr>
              <a:t>Müasir layihə idarəetmə platformaları artıq süni intellektlə inteqrasiya olunur. Bu inteqrasiya, keçmiş sprint məlumatlarından öyrənərək gələcək tapşırıqlar üçün daha dəqiq qiymətləndirmələr təklif edir.</a:t>
            </a:r>
            <a:endParaRPr b="0" lang="en-US" sz="1550" spc="-1" strike="noStrike">
              <a:solidFill>
                <a:srgbClr val="000000"/>
              </a:solidFill>
              <a:latin typeface="Arial"/>
            </a:endParaRPr>
          </a:p>
        </p:txBody>
      </p:sp>
      <p:pic>
        <p:nvPicPr>
          <p:cNvPr id="106" name="Image 0" descr="preencoded.png"/>
          <p:cNvPicPr/>
          <p:nvPr/>
        </p:nvPicPr>
        <p:blipFill>
          <a:blip r:embed="rId1"/>
          <a:stretch/>
        </p:blipFill>
        <p:spPr>
          <a:xfrm>
            <a:off x="3491280" y="2318040"/>
            <a:ext cx="7647120" cy="4538160"/>
          </a:xfrm>
          <a:prstGeom prst="rect">
            <a:avLst/>
          </a:prstGeom>
          <a:ln w="0">
            <a:noFill/>
          </a:ln>
        </p:spPr>
      </p:pic>
      <p:pic>
        <p:nvPicPr>
          <p:cNvPr id="107" name="Image 1" descr="preencoded.png"/>
          <p:cNvPicPr/>
          <p:nvPr/>
        </p:nvPicPr>
        <p:blipFill>
          <a:blip r:embed="rId2">
            <a:extLst>
              <a:ext uri="{96DAC541-7B7A-43D3-8B79-37D633B846F1}">
                <asvg:svgBlip xmlns:asvg="http://schemas.microsoft.com/office/drawing/2016/SVG/main" r:embed="rId3"/>
              </a:ext>
            </a:extLst>
          </a:blip>
          <a:stretch/>
        </p:blipFill>
        <p:spPr>
          <a:xfrm>
            <a:off x="9394560" y="3427200"/>
            <a:ext cx="650160" cy="650160"/>
          </a:xfrm>
          <a:prstGeom prst="rect">
            <a:avLst/>
          </a:prstGeom>
          <a:ln w="0">
            <a:noFill/>
          </a:ln>
        </p:spPr>
      </p:pic>
      <p:sp>
        <p:nvSpPr>
          <p:cNvPr id="108" name="Text 2"/>
          <p:cNvSpPr/>
          <p:nvPr/>
        </p:nvSpPr>
        <p:spPr>
          <a:xfrm>
            <a:off x="8814240" y="5820840"/>
            <a:ext cx="1900080" cy="33192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FFFFFF"/>
                </a:solidFill>
                <a:latin typeface="Montserrat Bold"/>
                <a:ea typeface="Montserrat Bold"/>
              </a:rPr>
              <a:t>Tahmin Üret</a:t>
            </a:r>
            <a:endParaRPr b="0" lang="en-US" sz="2050" spc="-1" strike="noStrike">
              <a:solidFill>
                <a:srgbClr val="000000"/>
              </a:solidFill>
              <a:latin typeface="Arial"/>
            </a:endParaRPr>
          </a:p>
        </p:txBody>
      </p:sp>
      <p:pic>
        <p:nvPicPr>
          <p:cNvPr id="109" name="Image 2" descr="preencoded.png"/>
          <p:cNvPicPr/>
          <p:nvPr/>
        </p:nvPicPr>
        <p:blipFill>
          <a:blip r:embed="rId4">
            <a:extLst>
              <a:ext uri="{96DAC541-7B7A-43D3-8B79-37D633B846F1}">
                <asvg:svgBlip xmlns:asvg="http://schemas.microsoft.com/office/drawing/2016/SVG/main" r:embed="rId5"/>
              </a:ext>
            </a:extLst>
          </a:blip>
          <a:stretch/>
        </p:blipFill>
        <p:spPr>
          <a:xfrm>
            <a:off x="7011000" y="3428640"/>
            <a:ext cx="650160" cy="650160"/>
          </a:xfrm>
          <a:prstGeom prst="rect">
            <a:avLst/>
          </a:prstGeom>
          <a:ln w="0">
            <a:noFill/>
          </a:ln>
        </p:spPr>
      </p:pic>
      <p:sp>
        <p:nvSpPr>
          <p:cNvPr id="110" name="Text 3"/>
          <p:cNvSpPr/>
          <p:nvPr/>
        </p:nvSpPr>
        <p:spPr>
          <a:xfrm>
            <a:off x="6418440" y="5820840"/>
            <a:ext cx="1900080" cy="33192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FFFFFF"/>
                </a:solidFill>
                <a:latin typeface="Montserrat Bold"/>
                <a:ea typeface="Montserrat Bold"/>
              </a:rPr>
              <a:t>Desenleri Bul</a:t>
            </a:r>
            <a:endParaRPr b="0" lang="en-US" sz="2050" spc="-1" strike="noStrike">
              <a:solidFill>
                <a:srgbClr val="000000"/>
              </a:solidFill>
              <a:latin typeface="Arial"/>
            </a:endParaRPr>
          </a:p>
        </p:txBody>
      </p:sp>
      <p:pic>
        <p:nvPicPr>
          <p:cNvPr id="111" name="Image 3" descr="preencoded.png"/>
          <p:cNvPicPr/>
          <p:nvPr/>
        </p:nvPicPr>
        <p:blipFill>
          <a:blip r:embed="rId6">
            <a:extLst>
              <a:ext uri="{96DAC541-7B7A-43D3-8B79-37D633B846F1}">
                <asvg:svgBlip xmlns:asvg="http://schemas.microsoft.com/office/drawing/2016/SVG/main" r:embed="rId7"/>
              </a:ext>
            </a:extLst>
          </a:blip>
          <a:stretch/>
        </p:blipFill>
        <p:spPr>
          <a:xfrm>
            <a:off x="4614840" y="3428640"/>
            <a:ext cx="650160" cy="650160"/>
          </a:xfrm>
          <a:prstGeom prst="rect">
            <a:avLst/>
          </a:prstGeom>
          <a:ln w="0">
            <a:noFill/>
          </a:ln>
        </p:spPr>
      </p:pic>
      <p:sp>
        <p:nvSpPr>
          <p:cNvPr id="112" name="Text 4"/>
          <p:cNvSpPr/>
          <p:nvPr/>
        </p:nvSpPr>
        <p:spPr>
          <a:xfrm>
            <a:off x="3983400" y="5820840"/>
            <a:ext cx="1900080" cy="33192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FFFFFF"/>
                </a:solidFill>
                <a:latin typeface="Montserrat Bold"/>
                <a:ea typeface="Montserrat Bold"/>
              </a:rPr>
              <a:t>Veri Topla</a:t>
            </a:r>
            <a:endParaRPr b="0" lang="en-US" sz="2050" spc="-1" strike="noStrike">
              <a:solidFill>
                <a:srgbClr val="000000"/>
              </a:solidFill>
              <a:latin typeface="Arial"/>
            </a:endParaRPr>
          </a:p>
        </p:txBody>
      </p:sp>
      <p:sp>
        <p:nvSpPr>
          <p:cNvPr id="113" name="Text 5"/>
          <p:cNvSpPr/>
          <p:nvPr/>
        </p:nvSpPr>
        <p:spPr>
          <a:xfrm>
            <a:off x="804240" y="7067520"/>
            <a:ext cx="13020840" cy="58140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FFFFFF"/>
                </a:solidFill>
                <a:latin typeface="Source Sans 3"/>
                <a:ea typeface="Source Sans 3"/>
              </a:rPr>
              <a:t>SI sistemi keçmiş sprintlərdəki oxşar tapşırıqların faktiki müddətini, blokerlərini və asılılıqlarını analiz edərək yeni tapşırıqlar üçün realist, məlumat əsaslı qiymətləndirmələr formalaşdırır. Bu yanaşma sezgisel qiymətləndirmənin məruz qaldığı "optimizm yanlılığı"nı əhəmiyyətli dərəcədə azaldır.</a:t>
            </a:r>
            <a:endParaRPr b="0" lang="en-US"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4" name="Image 0" descr="preencoded.png"/>
          <p:cNvPicPr/>
          <p:nvPr/>
        </p:nvPicPr>
        <p:blipFill>
          <a:blip r:embed="rId1"/>
          <a:stretch/>
        </p:blipFill>
        <p:spPr>
          <a:xfrm>
            <a:off x="0" y="0"/>
            <a:ext cx="5485320" cy="8228520"/>
          </a:xfrm>
          <a:prstGeom prst="rect">
            <a:avLst/>
          </a:prstGeom>
          <a:ln w="0">
            <a:noFill/>
          </a:ln>
        </p:spPr>
      </p:pic>
      <p:sp>
        <p:nvSpPr>
          <p:cNvPr id="115" name="Text 0"/>
          <p:cNvSpPr/>
          <p:nvPr/>
        </p:nvSpPr>
        <p:spPr>
          <a:xfrm>
            <a:off x="6343920" y="755640"/>
            <a:ext cx="5965560" cy="608040"/>
          </a:xfrm>
          <a:prstGeom prst="rect">
            <a:avLst/>
          </a:prstGeom>
          <a:noFill/>
          <a:ln w="0">
            <a:noFill/>
          </a:ln>
        </p:spPr>
        <p:style>
          <a:lnRef idx="0"/>
          <a:fillRef idx="0"/>
          <a:effectRef idx="0"/>
          <a:fontRef idx="minor"/>
        </p:style>
        <p:txBody>
          <a:bodyPr wrap="none" lIns="0" rIns="0" tIns="0" bIns="0" anchor="t">
            <a:noAutofit/>
          </a:bodyPr>
          <a:p>
            <a:pPr>
              <a:lnSpc>
                <a:spcPts val="4751"/>
              </a:lnSpc>
              <a:tabLst>
                <a:tab algn="l" pos="0"/>
              </a:tabLst>
            </a:pPr>
            <a:r>
              <a:rPr sz="3800" b="1">
                <a:solidFill>
                  <a:srgbClr val="FFFFFF"/>
                </a:solidFill>
                <a:latin typeface="Montserrat Bold"/>
              </a:rPr>
              <a:t>Прогнозирование рисков</a:t>
            </a:r>
            <a:endParaRPr b="0" lang="en-US" sz="3800" spc="-1" strike="noStrike">
              <a:solidFill>
                <a:srgbClr val="000000"/>
              </a:solidFill>
              <a:latin typeface="Arial"/>
            </a:endParaRPr>
          </a:p>
        </p:txBody>
      </p:sp>
      <p:sp>
        <p:nvSpPr>
          <p:cNvPr id="116" name="Text 1"/>
          <p:cNvSpPr/>
          <p:nvPr/>
        </p:nvSpPr>
        <p:spPr>
          <a:xfrm>
            <a:off x="6343920" y="1683720"/>
            <a:ext cx="7427880" cy="6397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FFFFFF"/>
                </a:solidFill>
                <a:latin typeface="Source Sans 3"/>
                <a:ea typeface="Source Sans 3"/>
              </a:rPr>
              <a:t>Süni intellekt yalnız mövcud vəziyyəti izləmir — gələcək problemləri </a:t>
            </a:r>
            <a:r>
              <a:rPr b="1" lang="en-US" sz="1650" spc="-1" strike="noStrike">
                <a:solidFill>
                  <a:srgbClr val="FFFFFF"/>
                </a:solidFill>
                <a:latin typeface="Source Sans 3"/>
                <a:ea typeface="Source Sans 3"/>
              </a:rPr>
              <a:t>proaktiv şəkildə</a:t>
            </a:r>
            <a:r>
              <a:rPr b="0" lang="en-US" sz="1650" spc="-1" strike="noStrike">
                <a:solidFill>
                  <a:srgbClr val="FFFFFF"/>
                </a:solidFill>
                <a:latin typeface="Source Sans 3"/>
                <a:ea typeface="Source Sans 3"/>
              </a:rPr>
              <a:t> müəyyənləşdirir. Nümunələri tanıyaraq domino effektini vaxtında görür.</a:t>
            </a:r>
            <a:endParaRPr b="0" lang="en-US" sz="1650" spc="-1" strike="noStrike">
              <a:solidFill>
                <a:srgbClr val="000000"/>
              </a:solidFill>
              <a:latin typeface="Arial"/>
            </a:endParaRPr>
          </a:p>
        </p:txBody>
      </p:sp>
      <p:sp>
        <p:nvSpPr>
          <p:cNvPr id="117" name="Text 2"/>
          <p:cNvSpPr/>
          <p:nvPr/>
        </p:nvSpPr>
        <p:spPr>
          <a:xfrm>
            <a:off x="6665400" y="2803320"/>
            <a:ext cx="7106400" cy="6397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FFFFFF"/>
                </a:solidFill>
                <a:latin typeface="Source Sans 3"/>
                <a:ea typeface="Source Sans 3"/>
              </a:rPr>
              <a:t>"Əgər A tapşırığı 2 gündən çox gecikirsə, bütün sprintin pozulması ehtimalı </a:t>
            </a:r>
            <a:r>
              <a:rPr b="1" lang="en-US" sz="1650" spc="-1" strike="noStrike">
                <a:solidFill>
                  <a:srgbClr val="FFFFFF"/>
                </a:solidFill>
                <a:latin typeface="Source Sans 3"/>
                <a:ea typeface="Source Sans 3"/>
              </a:rPr>
              <a:t>70%</a:t>
            </a:r>
            <a:r>
              <a:rPr b="0" lang="en-US" sz="1650" spc="-1" strike="noStrike">
                <a:solidFill>
                  <a:srgbClr val="FFFFFF"/>
                </a:solidFill>
                <a:latin typeface="Source Sans 3"/>
                <a:ea typeface="Source Sans 3"/>
              </a:rPr>
              <a:t>-dir."</a:t>
            </a:r>
            <a:endParaRPr b="0" lang="en-US" sz="1650" spc="-1" strike="noStrike">
              <a:solidFill>
                <a:srgbClr val="000000"/>
              </a:solidFill>
              <a:latin typeface="Arial"/>
            </a:endParaRPr>
          </a:p>
        </p:txBody>
      </p:sp>
      <p:sp>
        <p:nvSpPr>
          <p:cNvPr id="118" name="Shape 3"/>
          <p:cNvSpPr/>
          <p:nvPr/>
        </p:nvSpPr>
        <p:spPr>
          <a:xfrm>
            <a:off x="6343920" y="2563920"/>
            <a:ext cx="29520" cy="11185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9" name="Shape 4"/>
          <p:cNvSpPr/>
          <p:nvPr/>
        </p:nvSpPr>
        <p:spPr>
          <a:xfrm>
            <a:off x="6343920" y="3922560"/>
            <a:ext cx="3606840" cy="1828440"/>
          </a:xfrm>
          <a:prstGeom prst="roundRect">
            <a:avLst>
              <a:gd name="adj" fmla="val 175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 name="Text 5"/>
          <p:cNvSpPr/>
          <p:nvPr/>
        </p:nvSpPr>
        <p:spPr>
          <a:xfrm>
            <a:off x="6558120" y="4137120"/>
            <a:ext cx="2491920" cy="311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sz="1900" b="1">
                <a:solidFill>
                  <a:srgbClr val="FFFFFF"/>
                </a:solidFill>
                <a:latin typeface="Montserrat Bold"/>
              </a:rPr>
              <a:t>🔍 Распознавание шаблонов</a:t>
            </a:r>
            <a:endParaRPr b="0" lang="en-US" sz="1900" spc="-1" strike="noStrike">
              <a:solidFill>
                <a:srgbClr val="000000"/>
              </a:solidFill>
              <a:latin typeface="Arial"/>
            </a:endParaRPr>
          </a:p>
        </p:txBody>
      </p:sp>
      <p:sp>
        <p:nvSpPr>
          <p:cNvPr id="121" name="Text 6"/>
          <p:cNvSpPr/>
          <p:nvPr/>
        </p:nvSpPr>
        <p:spPr>
          <a:xfrm>
            <a:off x="6558120" y="4576680"/>
            <a:ext cx="3178440" cy="9601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FFFFFF"/>
                </a:solidFill>
                <a:latin typeface="Source Sans 3"/>
                <a:ea typeface="Source Sans 3"/>
              </a:rPr>
              <a:t>Yüzlərlə keçmiş sprint üzərindən öyrənilmiş gecikмə nümunələri real vaxtda yeni layihələrə tətbiq edilir.</a:t>
            </a:r>
            <a:endParaRPr b="0" lang="en-US" sz="1650" spc="-1" strike="noStrike">
              <a:solidFill>
                <a:srgbClr val="000000"/>
              </a:solidFill>
              <a:latin typeface="Arial"/>
            </a:endParaRPr>
          </a:p>
        </p:txBody>
      </p:sp>
      <p:sp>
        <p:nvSpPr>
          <p:cNvPr id="122" name="Shape 7"/>
          <p:cNvSpPr/>
          <p:nvPr/>
        </p:nvSpPr>
        <p:spPr>
          <a:xfrm>
            <a:off x="10164600" y="3922560"/>
            <a:ext cx="3607200" cy="1828440"/>
          </a:xfrm>
          <a:prstGeom prst="roundRect">
            <a:avLst>
              <a:gd name="adj" fmla="val 175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 name="Text 8"/>
          <p:cNvSpPr/>
          <p:nvPr/>
        </p:nvSpPr>
        <p:spPr>
          <a:xfrm>
            <a:off x="10379160" y="4137120"/>
            <a:ext cx="3060720" cy="311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sz="1900" b="1">
                <a:solidFill>
                  <a:srgbClr val="FFFFFF"/>
                </a:solidFill>
                <a:latin typeface="Montserrat Bold"/>
              </a:rPr>
              <a:t>📉 Расчёт вероятности</a:t>
            </a:r>
            <a:endParaRPr b="0" lang="en-US" sz="1900" spc="-1" strike="noStrike">
              <a:solidFill>
                <a:srgbClr val="000000"/>
              </a:solidFill>
              <a:latin typeface="Arial"/>
            </a:endParaRPr>
          </a:p>
        </p:txBody>
      </p:sp>
      <p:sp>
        <p:nvSpPr>
          <p:cNvPr id="124" name="Text 9"/>
          <p:cNvSpPr/>
          <p:nvPr/>
        </p:nvSpPr>
        <p:spPr>
          <a:xfrm>
            <a:off x="10379160" y="4576680"/>
            <a:ext cx="3178440" cy="9601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FFFFFF"/>
                </a:solidFill>
                <a:latin typeface="Source Sans 3"/>
                <a:ea typeface="Source Sans 3"/>
              </a:rPr>
              <a:t>Hər riskin baş vermə ehtimalı faizlə göstərilir ki, komanda prioritetlərini düzgün müəyyənləşdirsin.</a:t>
            </a:r>
            <a:endParaRPr b="0" lang="en-US" sz="1650" spc="-1" strike="noStrike">
              <a:solidFill>
                <a:srgbClr val="000000"/>
              </a:solidFill>
              <a:latin typeface="Arial"/>
            </a:endParaRPr>
          </a:p>
        </p:txBody>
      </p:sp>
      <p:sp>
        <p:nvSpPr>
          <p:cNvPr id="125" name="Shape 10"/>
          <p:cNvSpPr/>
          <p:nvPr/>
        </p:nvSpPr>
        <p:spPr>
          <a:xfrm>
            <a:off x="6343920" y="5964840"/>
            <a:ext cx="7427880" cy="1508040"/>
          </a:xfrm>
          <a:prstGeom prst="roundRect">
            <a:avLst>
              <a:gd name="adj" fmla="val 213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 name="Text 11"/>
          <p:cNvSpPr/>
          <p:nvPr/>
        </p:nvSpPr>
        <p:spPr>
          <a:xfrm>
            <a:off x="6558120" y="6179400"/>
            <a:ext cx="2833560" cy="311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sz="1900" b="1">
                <a:solidFill>
                  <a:srgbClr val="FFFFFF"/>
                </a:solidFill>
                <a:latin typeface="Montserrat Bold"/>
              </a:rPr>
              <a:t>🛡️ Рекомендации по снижению рисков</a:t>
            </a:r>
            <a:endParaRPr b="0" lang="en-US" sz="1900" spc="-1" strike="noStrike">
              <a:solidFill>
                <a:srgbClr val="000000"/>
              </a:solidFill>
              <a:latin typeface="Arial"/>
            </a:endParaRPr>
          </a:p>
        </p:txBody>
      </p:sp>
      <p:sp>
        <p:nvSpPr>
          <p:cNvPr id="127" name="Text 12"/>
          <p:cNvSpPr/>
          <p:nvPr/>
        </p:nvSpPr>
        <p:spPr>
          <a:xfrm>
            <a:off x="6558120" y="6618960"/>
            <a:ext cx="6999480" cy="6397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FFFFFF"/>
                </a:solidFill>
                <a:latin typeface="Source Sans 3"/>
                <a:ea typeface="Source Sans 3"/>
              </a:rPr>
              <a:t>Yalnız xəbərdarlıq etməklə kifayətlənmir — risk azaltma üçün konkret tədbirlər də təklif edir.</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Text 0"/>
          <p:cNvSpPr/>
          <p:nvPr/>
        </p:nvSpPr>
        <p:spPr>
          <a:xfrm>
            <a:off x="863640" y="1803240"/>
            <a:ext cx="850824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adaptasiya Təcrübələrdə Süni İntellekt</a:t>
            </a:r>
            <a:endParaRPr b="0" lang="en-US" sz="3850" spc="-1" strike="noStrike">
              <a:solidFill>
                <a:srgbClr val="000000"/>
              </a:solidFill>
              <a:latin typeface="Arial"/>
            </a:endParaRPr>
          </a:p>
        </p:txBody>
      </p:sp>
      <p:sp>
        <p:nvSpPr>
          <p:cNvPr id="129" name="Text 1"/>
          <p:cNvSpPr/>
          <p:nvPr/>
        </p:nvSpPr>
        <p:spPr>
          <a:xfrm>
            <a:off x="863640" y="284868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Scrum və Kanban kimi adaptasiya çərçivələr insan əməkdaşlığını mərkəzə alsa da, süni intellekt bu prosesləri daha sürətli, daha məlumatlı və daha effektiv edir.</a:t>
            </a:r>
            <a:endParaRPr b="0" lang="en-US" sz="1700" spc="-1" strike="noStrike">
              <a:solidFill>
                <a:srgbClr val="000000"/>
              </a:solidFill>
              <a:latin typeface="Arial"/>
            </a:endParaRPr>
          </a:p>
        </p:txBody>
      </p:sp>
      <p:pic>
        <p:nvPicPr>
          <p:cNvPr id="130" name="Image 0" descr="preencoded.png"/>
          <p:cNvPicPr/>
          <p:nvPr/>
        </p:nvPicPr>
        <p:blipFill>
          <a:blip r:embed="rId1"/>
          <a:stretch/>
        </p:blipFill>
        <p:spPr>
          <a:xfrm>
            <a:off x="863640" y="3739680"/>
            <a:ext cx="905400" cy="905400"/>
          </a:xfrm>
          <a:prstGeom prst="rect">
            <a:avLst/>
          </a:prstGeom>
          <a:ln w="0">
            <a:noFill/>
          </a:ln>
        </p:spPr>
      </p:pic>
      <p:sp>
        <p:nvSpPr>
          <p:cNvPr id="131" name="Text 2"/>
          <p:cNvSpPr/>
          <p:nvPr/>
        </p:nvSpPr>
        <p:spPr>
          <a:xfrm>
            <a:off x="2040120" y="3739680"/>
            <a:ext cx="294336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SI Dəstəkli Retrospektivlər</a:t>
            </a:r>
            <a:endParaRPr b="0" lang="en-US" sz="1900" spc="-1" strike="noStrike">
              <a:solidFill>
                <a:srgbClr val="000000"/>
              </a:solidFill>
              <a:latin typeface="Arial"/>
            </a:endParaRPr>
          </a:p>
        </p:txBody>
      </p:sp>
      <p:sp>
        <p:nvSpPr>
          <p:cNvPr id="132" name="Text 3"/>
          <p:cNvSpPr/>
          <p:nvPr/>
        </p:nvSpPr>
        <p:spPr>
          <a:xfrm>
            <a:off x="2040120" y="4482360"/>
            <a:ext cx="2943360" cy="19425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Komanda rəylərini, sprint məlumatlarını və performance metriklərini analiz edərək </a:t>
            </a:r>
            <a:r>
              <a:rPr b="1" lang="en-US" sz="1700" spc="-1" strike="noStrike">
                <a:solidFill>
                  <a:srgbClr val="FFFFFF"/>
                </a:solidFill>
                <a:latin typeface="Source Sans 3"/>
                <a:ea typeface="Source Sans 3"/>
              </a:rPr>
              <a:t>avtomatik retrospektiv gündəlik</a:t>
            </a:r>
            <a:r>
              <a:rPr b="0" lang="en-US" sz="1700" spc="-1" strike="noStrike">
                <a:solidFill>
                  <a:srgbClr val="FFFFFF"/>
                </a:solidFill>
                <a:latin typeface="Source Sans 3"/>
                <a:ea typeface="Source Sans 3"/>
              </a:rPr>
              <a:t> yaradır. Ən kritik müzakirə mövzuları üzə çıxarılır.</a:t>
            </a:r>
            <a:endParaRPr b="0" lang="en-US" sz="1700" spc="-1" strike="noStrike">
              <a:solidFill>
                <a:srgbClr val="000000"/>
              </a:solidFill>
              <a:latin typeface="Arial"/>
            </a:endParaRPr>
          </a:p>
        </p:txBody>
      </p:sp>
      <p:pic>
        <p:nvPicPr>
          <p:cNvPr id="133" name="Image 1" descr="preencoded.png"/>
          <p:cNvPicPr/>
          <p:nvPr/>
        </p:nvPicPr>
        <p:blipFill>
          <a:blip r:embed="rId2"/>
          <a:stretch/>
        </p:blipFill>
        <p:spPr>
          <a:xfrm>
            <a:off x="5254560" y="3739680"/>
            <a:ext cx="905400" cy="905400"/>
          </a:xfrm>
          <a:prstGeom prst="rect">
            <a:avLst/>
          </a:prstGeom>
          <a:ln w="0">
            <a:noFill/>
          </a:ln>
        </p:spPr>
      </p:pic>
      <p:sp>
        <p:nvSpPr>
          <p:cNvPr id="134" name="Text 4"/>
          <p:cNvSpPr/>
          <p:nvPr/>
        </p:nvSpPr>
        <p:spPr>
          <a:xfrm>
            <a:off x="6431040" y="3739680"/>
            <a:ext cx="290088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Ağıllı Prioritetləşdirmə</a:t>
            </a:r>
            <a:endParaRPr b="0" lang="en-US" sz="1900" spc="-1" strike="noStrike">
              <a:solidFill>
                <a:srgbClr val="000000"/>
              </a:solidFill>
              <a:latin typeface="Arial"/>
            </a:endParaRPr>
          </a:p>
        </p:txBody>
      </p:sp>
      <p:sp>
        <p:nvSpPr>
          <p:cNvPr id="135" name="Text 5"/>
          <p:cNvSpPr/>
          <p:nvPr/>
        </p:nvSpPr>
        <p:spPr>
          <a:xfrm>
            <a:off x="6431040" y="4175640"/>
            <a:ext cx="2943360" cy="1618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Backlogdakı tapşırıqlar </a:t>
            </a:r>
            <a:r>
              <a:rPr b="1" lang="en-US" sz="1700" spc="-1" strike="noStrike">
                <a:solidFill>
                  <a:srgbClr val="FFFFFF"/>
                </a:solidFill>
                <a:latin typeface="Source Sans 3"/>
                <a:ea typeface="Source Sans 3"/>
              </a:rPr>
              <a:t>iş dəyəri</a:t>
            </a:r>
            <a:r>
              <a:rPr b="0" lang="en-US" sz="1700" spc="-1" strike="noStrike">
                <a:solidFill>
                  <a:srgbClr val="FFFFFF"/>
                </a:solidFill>
                <a:latin typeface="Source Sans 3"/>
                <a:ea typeface="Source Sans 3"/>
              </a:rPr>
              <a:t> və tələb olunan </a:t>
            </a:r>
            <a:r>
              <a:rPr b="1" lang="en-US" sz="1700" spc="-1" strike="noStrike">
                <a:solidFill>
                  <a:srgbClr val="FFFFFF"/>
                </a:solidFill>
                <a:latin typeface="Source Sans 3"/>
                <a:ea typeface="Source Sans 3"/>
              </a:rPr>
              <a:t>səy</a:t>
            </a:r>
            <a:r>
              <a:rPr b="0" lang="en-US" sz="1700" spc="-1" strike="noStrike">
                <a:solidFill>
                  <a:srgbClr val="FFFFFF"/>
                </a:solidFill>
                <a:latin typeface="Source Sans 3"/>
                <a:ea typeface="Source Sans 3"/>
              </a:rPr>
              <a:t> nisbətinə görə avtomatik sıralanır. Yüksək dəyərli, az səy tələb edən tapşırıqlar növbədə önə keçir.</a:t>
            </a:r>
            <a:endParaRPr b="0" lang="en-US" sz="1700" spc="-1" strike="noStrike">
              <a:solidFill>
                <a:srgbClr val="000000"/>
              </a:solidFill>
              <a:latin typeface="Arial"/>
            </a:endParaRPr>
          </a:p>
        </p:txBody>
      </p:sp>
      <p:pic>
        <p:nvPicPr>
          <p:cNvPr id="136" name="Image 2" descr="preencoded.png"/>
          <p:cNvPicPr/>
          <p:nvPr/>
        </p:nvPicPr>
        <p:blipFill>
          <a:blip r:embed="rId3"/>
          <a:stretch/>
        </p:blipFill>
        <p:spPr>
          <a:xfrm>
            <a:off x="9645480" y="3739680"/>
            <a:ext cx="905400" cy="905400"/>
          </a:xfrm>
          <a:prstGeom prst="rect">
            <a:avLst/>
          </a:prstGeom>
          <a:ln w="0">
            <a:noFill/>
          </a:ln>
        </p:spPr>
      </p:pic>
      <p:sp>
        <p:nvSpPr>
          <p:cNvPr id="137" name="Text 6"/>
          <p:cNvSpPr/>
          <p:nvPr/>
        </p:nvSpPr>
        <p:spPr>
          <a:xfrm>
            <a:off x="10821960" y="3739680"/>
            <a:ext cx="294336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Komanda Onboarding Çatbotu</a:t>
            </a:r>
            <a:endParaRPr b="0" lang="en-US" sz="1900" spc="-1" strike="noStrike">
              <a:solidFill>
                <a:srgbClr val="000000"/>
              </a:solidFill>
              <a:latin typeface="Arial"/>
            </a:endParaRPr>
          </a:p>
        </p:txBody>
      </p:sp>
      <p:sp>
        <p:nvSpPr>
          <p:cNvPr id="138" name="Text 7"/>
          <p:cNvSpPr/>
          <p:nvPr/>
        </p:nvSpPr>
        <p:spPr>
          <a:xfrm>
            <a:off x="10821960" y="4482360"/>
            <a:ext cx="2943360" cy="1618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Yeni komanda üzvlərinin suallarını </a:t>
            </a:r>
            <a:r>
              <a:rPr b="1" lang="en-US" sz="1700" spc="-1" strike="noStrike">
                <a:solidFill>
                  <a:srgbClr val="FFFFFF"/>
                </a:solidFill>
                <a:latin typeface="Source Sans 3"/>
                <a:ea typeface="Source Sans 3"/>
              </a:rPr>
              <a:t>7/24</a:t>
            </a:r>
            <a:r>
              <a:rPr b="0" lang="en-US" sz="1700" spc="-1" strike="noStrike">
                <a:solidFill>
                  <a:srgbClr val="FFFFFF"/>
                </a:solidFill>
                <a:latin typeface="Source Sans 3"/>
                <a:ea typeface="Source Sans 3"/>
              </a:rPr>
              <a:t> cavablandıran SI çatbotu — prosedurlar, keçmiş qərarlar və layihə konteksti barədə dərhal məlumat verir.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Text 0"/>
          <p:cNvSpPr/>
          <p:nvPr/>
        </p:nvSpPr>
        <p:spPr>
          <a:xfrm>
            <a:off x="863640" y="682560"/>
            <a:ext cx="490752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sz="3850" b="1">
                <a:solidFill>
                  <a:srgbClr val="FFFFFF"/>
                </a:solidFill>
                <a:latin typeface="Montserrat Bold"/>
              </a:rPr>
              <a:t>Основные инструменты</a:t>
            </a:r>
            <a:endParaRPr b="0" lang="en-US" sz="3850" spc="-1" strike="noStrike">
              <a:solidFill>
                <a:srgbClr val="000000"/>
              </a:solidFill>
              <a:latin typeface="Arial"/>
            </a:endParaRPr>
          </a:p>
        </p:txBody>
      </p:sp>
      <p:sp>
        <p:nvSpPr>
          <p:cNvPr id="140" name="Text 1"/>
          <p:cNvSpPr/>
          <p:nvPr/>
        </p:nvSpPr>
        <p:spPr>
          <a:xfrm>
            <a:off x="863640" y="172800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Bu gün bazarda bir sıra güclü SI-dəstəkli layihə idarəetmə platformaları mövcuddur. Hər biri müxtəlif komanda ölçüləri və iş axınları üçün optimallaşdırılmışdır.</a:t>
            </a:r>
            <a:endParaRPr b="0" lang="en-US" sz="1700" spc="-1" strike="noStrike">
              <a:solidFill>
                <a:srgbClr val="000000"/>
              </a:solidFill>
              <a:latin typeface="Arial"/>
            </a:endParaRPr>
          </a:p>
        </p:txBody>
      </p:sp>
      <p:sp>
        <p:nvSpPr>
          <p:cNvPr id="141" name="Shape 2"/>
          <p:cNvSpPr/>
          <p:nvPr/>
        </p:nvSpPr>
        <p:spPr>
          <a:xfrm>
            <a:off x="863640" y="2942640"/>
            <a:ext cx="6342480" cy="1869120"/>
          </a:xfrm>
          <a:prstGeom prst="roundRect">
            <a:avLst>
              <a:gd name="adj" fmla="val 7822"/>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 name="Shape 3"/>
          <p:cNvSpPr/>
          <p:nvPr/>
        </p:nvSpPr>
        <p:spPr>
          <a:xfrm>
            <a:off x="863640" y="2912040"/>
            <a:ext cx="6342480" cy="1209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3" name="Shape 4"/>
          <p:cNvSpPr/>
          <p:nvPr/>
        </p:nvSpPr>
        <p:spPr>
          <a:xfrm>
            <a:off x="3711600" y="2618640"/>
            <a:ext cx="646560" cy="64656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44" name="Image 0" descr="preencoded.png"/>
          <p:cNvPicPr/>
          <p:nvPr/>
        </p:nvPicPr>
        <p:blipFill>
          <a:blip r:embed="rId1">
            <a:extLst>
              <a:ext uri="{96DAC541-7B7A-43D3-8B79-37D633B846F1}">
                <asvg:svgBlip xmlns:asvg="http://schemas.microsoft.com/office/drawing/2016/SVG/main" r:embed="rId2"/>
              </a:ext>
            </a:extLst>
          </a:blip>
          <a:stretch/>
        </p:blipFill>
        <p:spPr>
          <a:xfrm>
            <a:off x="3906000" y="2813040"/>
            <a:ext cx="258120" cy="258120"/>
          </a:xfrm>
          <a:prstGeom prst="rect">
            <a:avLst/>
          </a:prstGeom>
          <a:ln w="0">
            <a:noFill/>
          </a:ln>
        </p:spPr>
      </p:pic>
      <p:sp>
        <p:nvSpPr>
          <p:cNvPr id="145" name="Text 5"/>
          <p:cNvSpPr/>
          <p:nvPr/>
        </p:nvSpPr>
        <p:spPr>
          <a:xfrm>
            <a:off x="1110240" y="3482280"/>
            <a:ext cx="340488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sz="1900" b="1">
                <a:solidFill>
                  <a:srgbClr val="FFFFFF"/>
                </a:solidFill>
                <a:latin typeface="Montserrat Bold"/>
              </a:rPr>
              <a:t>Microsoft Project + Copilot</a:t>
            </a:r>
            <a:endParaRPr b="0" lang="en-US" sz="1900" spc="-1" strike="noStrike">
              <a:solidFill>
                <a:srgbClr val="000000"/>
              </a:solidFill>
              <a:latin typeface="Arial"/>
            </a:endParaRPr>
          </a:p>
        </p:txBody>
      </p:sp>
      <p:sp>
        <p:nvSpPr>
          <p:cNvPr id="146" name="Text 6"/>
          <p:cNvSpPr/>
          <p:nvPr/>
        </p:nvSpPr>
        <p:spPr>
          <a:xfrm>
            <a:off x="1110240" y="3918600"/>
            <a:ext cx="584964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Korporativ mühit üçün ideal. Copilot ilə qiymətləndirmə, hesabat yazma və risk analizi avtomatlaşdırılır.</a:t>
            </a:r>
            <a:endParaRPr b="0" lang="en-US" sz="1700" spc="-1" strike="noStrike">
              <a:solidFill>
                <a:srgbClr val="000000"/>
              </a:solidFill>
              <a:latin typeface="Arial"/>
            </a:endParaRPr>
          </a:p>
        </p:txBody>
      </p:sp>
      <p:sp>
        <p:nvSpPr>
          <p:cNvPr id="147" name="Shape 7"/>
          <p:cNvSpPr/>
          <p:nvPr/>
        </p:nvSpPr>
        <p:spPr>
          <a:xfrm>
            <a:off x="7423200" y="2942640"/>
            <a:ext cx="6342480" cy="1869120"/>
          </a:xfrm>
          <a:prstGeom prst="roundRect">
            <a:avLst>
              <a:gd name="adj" fmla="val 7822"/>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 name="Shape 8"/>
          <p:cNvSpPr/>
          <p:nvPr/>
        </p:nvSpPr>
        <p:spPr>
          <a:xfrm>
            <a:off x="7423200" y="2912040"/>
            <a:ext cx="6342480" cy="1209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9" name="Shape 9"/>
          <p:cNvSpPr/>
          <p:nvPr/>
        </p:nvSpPr>
        <p:spPr>
          <a:xfrm>
            <a:off x="10270800" y="2618640"/>
            <a:ext cx="646560" cy="64656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0" name="Image 1" descr="preencoded.png"/>
          <p:cNvPicPr/>
          <p:nvPr/>
        </p:nvPicPr>
        <p:blipFill>
          <a:blip r:embed="rId3">
            <a:extLst>
              <a:ext uri="{96DAC541-7B7A-43D3-8B79-37D633B846F1}">
                <asvg:svgBlip xmlns:asvg="http://schemas.microsoft.com/office/drawing/2016/SVG/main" r:embed="rId4"/>
              </a:ext>
            </a:extLst>
          </a:blip>
          <a:stretch/>
        </p:blipFill>
        <p:spPr>
          <a:xfrm>
            <a:off x="10465200" y="2813040"/>
            <a:ext cx="258120" cy="258120"/>
          </a:xfrm>
          <a:prstGeom prst="rect">
            <a:avLst/>
          </a:prstGeom>
          <a:ln w="0">
            <a:noFill/>
          </a:ln>
        </p:spPr>
      </p:pic>
      <p:sp>
        <p:nvSpPr>
          <p:cNvPr id="151" name="Text 10"/>
          <p:cNvSpPr/>
          <p:nvPr/>
        </p:nvSpPr>
        <p:spPr>
          <a:xfrm>
            <a:off x="7669440" y="348228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sz="1900" b="1">
                <a:solidFill>
                  <a:srgbClr val="FFFFFF"/>
                </a:solidFill>
                <a:latin typeface="Montserrat Bold"/>
              </a:rPr>
              <a:t>ClickUp AI</a:t>
            </a:r>
            <a:endParaRPr b="0" lang="en-US" sz="1900" spc="-1" strike="noStrike">
              <a:solidFill>
                <a:srgbClr val="000000"/>
              </a:solidFill>
              <a:latin typeface="Arial"/>
            </a:endParaRPr>
          </a:p>
        </p:txBody>
      </p:sp>
      <p:sp>
        <p:nvSpPr>
          <p:cNvPr id="152" name="Text 11"/>
          <p:cNvSpPr/>
          <p:nvPr/>
        </p:nvSpPr>
        <p:spPr>
          <a:xfrm>
            <a:off x="7669440" y="3918600"/>
            <a:ext cx="584964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Hər ölçülü komanda üçün uyğun. Avtomatik tapşırıq yaratma, sprint planlaşdırma və məhsuldarlıq analitikası təklif edir.</a:t>
            </a:r>
            <a:endParaRPr b="0" lang="en-US" sz="1700" spc="-1" strike="noStrike">
              <a:solidFill>
                <a:srgbClr val="000000"/>
              </a:solidFill>
              <a:latin typeface="Arial"/>
            </a:endParaRPr>
          </a:p>
        </p:txBody>
      </p:sp>
      <p:sp>
        <p:nvSpPr>
          <p:cNvPr id="153" name="Shape 12"/>
          <p:cNvSpPr/>
          <p:nvPr/>
        </p:nvSpPr>
        <p:spPr>
          <a:xfrm>
            <a:off x="863640" y="5352840"/>
            <a:ext cx="6342480" cy="2193120"/>
          </a:xfrm>
          <a:prstGeom prst="roundRect">
            <a:avLst>
              <a:gd name="adj" fmla="val 6667"/>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 name="Shape 13"/>
          <p:cNvSpPr/>
          <p:nvPr/>
        </p:nvSpPr>
        <p:spPr>
          <a:xfrm>
            <a:off x="863640" y="5322240"/>
            <a:ext cx="6342480" cy="1209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5" name="Shape 14"/>
          <p:cNvSpPr/>
          <p:nvPr/>
        </p:nvSpPr>
        <p:spPr>
          <a:xfrm>
            <a:off x="3711600" y="5028840"/>
            <a:ext cx="646560" cy="64656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6" name="Image 2" descr="preencoded.png"/>
          <p:cNvPicPr/>
          <p:nvPr/>
        </p:nvPicPr>
        <p:blipFill>
          <a:blip r:embed="rId5">
            <a:extLst>
              <a:ext uri="{96DAC541-7B7A-43D3-8B79-37D633B846F1}">
                <asvg:svgBlip xmlns:asvg="http://schemas.microsoft.com/office/drawing/2016/SVG/main" r:embed="rId6"/>
              </a:ext>
            </a:extLst>
          </a:blip>
          <a:stretch/>
        </p:blipFill>
        <p:spPr>
          <a:xfrm>
            <a:off x="3906000" y="5223240"/>
            <a:ext cx="258120" cy="258120"/>
          </a:xfrm>
          <a:prstGeom prst="rect">
            <a:avLst/>
          </a:prstGeom>
          <a:ln w="0">
            <a:noFill/>
          </a:ln>
        </p:spPr>
      </p:pic>
      <p:sp>
        <p:nvSpPr>
          <p:cNvPr id="157" name="Text 15"/>
          <p:cNvSpPr/>
          <p:nvPr/>
        </p:nvSpPr>
        <p:spPr>
          <a:xfrm>
            <a:off x="1110240" y="589248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sz="1900" b="1">
                <a:solidFill>
                  <a:srgbClr val="FFFFFF"/>
                </a:solidFill>
                <a:latin typeface="Montserrat Bold"/>
              </a:rPr>
              <a:t>Jira + AI Плагины</a:t>
            </a:r>
            <a:endParaRPr b="0" lang="en-US" sz="1900" spc="-1" strike="noStrike">
              <a:solidFill>
                <a:srgbClr val="000000"/>
              </a:solidFill>
              <a:latin typeface="Arial"/>
            </a:endParaRPr>
          </a:p>
        </p:txBody>
      </p:sp>
      <p:sp>
        <p:nvSpPr>
          <p:cNvPr id="158" name="Text 16"/>
          <p:cNvSpPr/>
          <p:nvPr/>
        </p:nvSpPr>
        <p:spPr>
          <a:xfrm>
            <a:off x="1110240" y="6328800"/>
            <a:ext cx="584964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adaptasiya komandaların standart seçimi. AI plaginləri sprint proqnozu, tapşırıq əlaqəliliyi və avtomatlaşdırma qaydaları əlavə edir.</a:t>
            </a:r>
            <a:endParaRPr b="0" lang="en-US" sz="1700" spc="-1" strike="noStrike">
              <a:solidFill>
                <a:srgbClr val="000000"/>
              </a:solidFill>
              <a:latin typeface="Arial"/>
            </a:endParaRPr>
          </a:p>
        </p:txBody>
      </p:sp>
      <p:sp>
        <p:nvSpPr>
          <p:cNvPr id="159" name="Shape 17"/>
          <p:cNvSpPr/>
          <p:nvPr/>
        </p:nvSpPr>
        <p:spPr>
          <a:xfrm>
            <a:off x="7423200" y="5352840"/>
            <a:ext cx="6342480" cy="2193120"/>
          </a:xfrm>
          <a:prstGeom prst="roundRect">
            <a:avLst>
              <a:gd name="adj" fmla="val 6667"/>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 name="Shape 18"/>
          <p:cNvSpPr/>
          <p:nvPr/>
        </p:nvSpPr>
        <p:spPr>
          <a:xfrm>
            <a:off x="7423200" y="5322240"/>
            <a:ext cx="6342480" cy="1209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1" name="Shape 19"/>
          <p:cNvSpPr/>
          <p:nvPr/>
        </p:nvSpPr>
        <p:spPr>
          <a:xfrm>
            <a:off x="10270800" y="5028840"/>
            <a:ext cx="646560" cy="64656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62" name="Image 3" descr="preencoded.png"/>
          <p:cNvPicPr/>
          <p:nvPr/>
        </p:nvPicPr>
        <p:blipFill>
          <a:blip r:embed="rId7">
            <a:extLst>
              <a:ext uri="{96DAC541-7B7A-43D3-8B79-37D633B846F1}">
                <asvg:svgBlip xmlns:asvg="http://schemas.microsoft.com/office/drawing/2016/SVG/main" r:embed="rId8"/>
              </a:ext>
            </a:extLst>
          </a:blip>
          <a:stretch/>
        </p:blipFill>
        <p:spPr>
          <a:xfrm>
            <a:off x="10465200" y="5223240"/>
            <a:ext cx="258120" cy="258120"/>
          </a:xfrm>
          <a:prstGeom prst="rect">
            <a:avLst/>
          </a:prstGeom>
          <a:ln w="0">
            <a:noFill/>
          </a:ln>
        </p:spPr>
      </p:pic>
      <p:sp>
        <p:nvSpPr>
          <p:cNvPr id="163" name="Text 20"/>
          <p:cNvSpPr/>
          <p:nvPr/>
        </p:nvSpPr>
        <p:spPr>
          <a:xfrm>
            <a:off x="7669440" y="589248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sz="1900" b="1">
                <a:solidFill>
                  <a:srgbClr val="FFFFFF"/>
                </a:solidFill>
                <a:latin typeface="Montserrat Bold"/>
              </a:rPr>
              <a:t>Monday.com AI</a:t>
            </a:r>
            <a:endParaRPr b="0" lang="en-US" sz="1900" spc="-1" strike="noStrike">
              <a:solidFill>
                <a:srgbClr val="000000"/>
              </a:solidFill>
              <a:latin typeface="Arial"/>
            </a:endParaRPr>
          </a:p>
        </p:txBody>
      </p:sp>
      <p:sp>
        <p:nvSpPr>
          <p:cNvPr id="164" name="Text 21"/>
          <p:cNvSpPr/>
          <p:nvPr/>
        </p:nvSpPr>
        <p:spPr>
          <a:xfrm>
            <a:off x="7669440" y="6328800"/>
            <a:ext cx="584964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Vizual iş axınları üçün güclü platform. AI xüsusiyyətləri avtomatik yenilənən cədvəllər və resurs balanslaşdırması təmin edir.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 0"/>
          <p:cNvSpPr/>
          <p:nvPr/>
        </p:nvSpPr>
        <p:spPr>
          <a:xfrm>
            <a:off x="863640" y="959760"/>
            <a:ext cx="12901680" cy="122580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Tədqiqat Nümunəsi: İT Layihələrinin İdarə Edilməsində Süni İntellekt</a:t>
            </a:r>
            <a:endParaRPr b="0" lang="en-US" sz="3850" spc="-1" strike="noStrike">
              <a:solidFill>
                <a:srgbClr val="000000"/>
              </a:solidFill>
              <a:latin typeface="Arial"/>
            </a:endParaRPr>
          </a:p>
        </p:txBody>
      </p:sp>
      <p:sp>
        <p:nvSpPr>
          <p:cNvPr id="166" name="Text 1"/>
          <p:cNvSpPr/>
          <p:nvPr/>
        </p:nvSpPr>
        <p:spPr>
          <a:xfrm>
            <a:off x="863640" y="272628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sz="1900" b="1">
                <a:solidFill>
                  <a:srgbClr val="FFFFFF"/>
                </a:solidFill>
                <a:latin typeface="Montserrat Bold"/>
              </a:rPr>
              <a:t>Ситуация</a:t>
            </a:r>
            <a:endParaRPr b="0" lang="en-US" sz="1900" spc="-1" strike="noStrike">
              <a:solidFill>
                <a:srgbClr val="000000"/>
              </a:solidFill>
              <a:latin typeface="Arial"/>
            </a:endParaRPr>
          </a:p>
        </p:txBody>
      </p:sp>
      <p:sp>
        <p:nvSpPr>
          <p:cNvPr id="167" name="Text 2"/>
          <p:cNvSpPr/>
          <p:nvPr/>
        </p:nvSpPr>
        <p:spPr>
          <a:xfrm>
            <a:off x="863640" y="3249000"/>
            <a:ext cx="685836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Bir inkişaf qrupu adaptasiya sprint prosesini daha effektiv idarə etmək üçün süni intellekt platformasını tətbiq etdi. Məqsəd: insan xətalarını azaltmaq və proqnozlama dəqiqliyini artırmaq.</a:t>
            </a:r>
            <a:endParaRPr b="0" lang="en-US" sz="1700" spc="-1" strike="noStrike">
              <a:solidFill>
                <a:srgbClr val="000000"/>
              </a:solidFill>
              <a:latin typeface="Arial"/>
            </a:endParaRPr>
          </a:p>
        </p:txBody>
      </p:sp>
      <p:sp>
        <p:nvSpPr>
          <p:cNvPr id="168" name="Text 3"/>
          <p:cNvSpPr/>
          <p:nvPr/>
        </p:nvSpPr>
        <p:spPr>
          <a:xfrm>
            <a:off x="863640" y="443664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Tətbiq Sahələri</a:t>
            </a:r>
            <a:endParaRPr b="0" lang="en-US" sz="1900" spc="-1" strike="noStrike">
              <a:solidFill>
                <a:srgbClr val="000000"/>
              </a:solidFill>
              <a:latin typeface="Arial"/>
            </a:endParaRPr>
          </a:p>
        </p:txBody>
      </p:sp>
      <p:sp>
        <p:nvSpPr>
          <p:cNvPr id="169" name="Text 4"/>
          <p:cNvSpPr/>
          <p:nvPr/>
        </p:nvSpPr>
        <p:spPr>
          <a:xfrm>
            <a:off x="863640" y="4959360"/>
            <a:ext cx="6858360" cy="20937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FFFFFF"/>
                </a:solidFill>
                <a:latin typeface="Source Sans 3"/>
                <a:ea typeface="Source Sans 3"/>
              </a:rPr>
              <a:t>İstifadəçi hekayəsi reytinqləri:</a:t>
            </a:r>
            <a:r>
              <a:rPr b="0" lang="en-US" sz="1700" spc="-1" strike="noStrike">
                <a:solidFill>
                  <a:srgbClr val="FFFFFF"/>
                </a:solidFill>
                <a:latin typeface="Source Sans 3"/>
                <a:ea typeface="Source Sans 3"/>
              </a:rPr>
              <a:t> SI story pointləri avtomatik qiymətləndirdi</a:t>
            </a:r>
            <a:endParaRPr b="0" lang="en-US" sz="1700" spc="-1" strike="noStrike">
              <a:solidFill>
                <a:srgbClr val="000000"/>
              </a:solidFill>
              <a:latin typeface="Arial"/>
            </a:endParaRPr>
          </a:p>
          <a:p>
            <a:pPr>
              <a:lnSpc>
                <a:spcPts val="2551"/>
              </a:lnSpc>
              <a:tabLst>
                <a:tab algn="l" pos="0"/>
              </a:tabLst>
            </a:pPr>
            <a:r>
              <a:rPr b="1" lang="en-US" sz="1700" spc="-1" strike="noStrike">
                <a:solidFill>
                  <a:srgbClr val="FFFFFF"/>
                </a:solidFill>
                <a:latin typeface="Source Sans 3"/>
                <a:ea typeface="Source Sans 3"/>
              </a:rPr>
              <a:t>İş yükünün balanslaşdırılması:</a:t>
            </a:r>
            <a:r>
              <a:rPr b="0" lang="en-US" sz="1700" spc="-1" strike="noStrike">
                <a:solidFill>
                  <a:srgbClr val="FFFFFF"/>
                </a:solidFill>
                <a:latin typeface="Source Sans 3"/>
                <a:ea typeface="Source Sans 3"/>
              </a:rPr>
              <a:t> Komanda üzvlərinin həftəlik iş yükü optimallaşdırıldı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FFFFFF"/>
                </a:solidFill>
                <a:latin typeface="Source Sans 3"/>
                <a:ea typeface="Source Sans 3"/>
              </a:rPr>
              <a:t>Buraxılış tarixi proqnozu:</a:t>
            </a:r>
            <a:r>
              <a:rPr b="0" lang="en-US" sz="1700" spc="-1" strike="noStrike">
                <a:solidFill>
                  <a:srgbClr val="FFFFFF"/>
                </a:solidFill>
                <a:latin typeface="Source Sans 3"/>
                <a:ea typeface="Source Sans 3"/>
              </a:rPr>
              <a:t> Etibarlılıq intervalları ilə dəqiq milestone proqnozları</a:t>
            </a:r>
            <a:endParaRPr b="0" lang="en-US" sz="1700" spc="-1" strike="noStrike">
              <a:solidFill>
                <a:srgbClr val="000000"/>
              </a:solidFill>
              <a:latin typeface="Arial"/>
            </a:endParaRPr>
          </a:p>
        </p:txBody>
      </p:sp>
      <p:sp>
        <p:nvSpPr>
          <p:cNvPr id="170" name="Shape 5"/>
          <p:cNvSpPr/>
          <p:nvPr/>
        </p:nvSpPr>
        <p:spPr>
          <a:xfrm>
            <a:off x="8102160" y="2510640"/>
            <a:ext cx="5826600" cy="4758480"/>
          </a:xfrm>
          <a:prstGeom prst="roundRect">
            <a:avLst>
              <a:gd name="adj" fmla="val 681"/>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 name="Text 6"/>
          <p:cNvSpPr/>
          <p:nvPr/>
        </p:nvSpPr>
        <p:spPr>
          <a:xfrm>
            <a:off x="8317800" y="272628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sz="1900" b="1">
                <a:solidFill>
                  <a:srgbClr val="FFFFFF"/>
                </a:solidFill>
                <a:latin typeface="Montserrat Bold"/>
              </a:rPr>
              <a:t>Результат</a:t>
            </a:r>
            <a:endParaRPr b="0" lang="en-US" sz="1900" spc="-1" strike="noStrike">
              <a:solidFill>
                <a:srgbClr val="000000"/>
              </a:solidFill>
              <a:latin typeface="Arial"/>
            </a:endParaRPr>
          </a:p>
        </p:txBody>
      </p:sp>
      <p:sp>
        <p:nvSpPr>
          <p:cNvPr id="172" name="Text 7"/>
          <p:cNvSpPr/>
          <p:nvPr/>
        </p:nvSpPr>
        <p:spPr>
          <a:xfrm>
            <a:off x="8317800" y="3384000"/>
            <a:ext cx="5394960" cy="711720"/>
          </a:xfrm>
          <a:prstGeom prst="rect">
            <a:avLst/>
          </a:prstGeom>
          <a:noFill/>
          <a:ln w="0">
            <a:noFill/>
          </a:ln>
        </p:spPr>
        <p:style>
          <a:lnRef idx="0"/>
          <a:fillRef idx="0"/>
          <a:effectRef idx="0"/>
          <a:fontRef idx="minor"/>
        </p:style>
        <p:txBody>
          <a:bodyPr wrap="none" lIns="0" rIns="0" tIns="0" bIns="0" anchor="t">
            <a:noAutofit/>
          </a:bodyPr>
          <a:p>
            <a:pPr algn="ctr">
              <a:lnSpc>
                <a:spcPts val="5601"/>
              </a:lnSpc>
              <a:tabLst>
                <a:tab algn="l" pos="0"/>
              </a:tabLst>
            </a:pPr>
            <a:r>
              <a:rPr b="1" lang="en-US" sz="5600" spc="-1" strike="noStrike">
                <a:solidFill>
                  <a:srgbClr val="FFFFFF"/>
                </a:solidFill>
                <a:latin typeface="Montserrat Bold"/>
                <a:ea typeface="Montserrat Bold"/>
              </a:rPr>
              <a:t>40%</a:t>
            </a:r>
            <a:endParaRPr b="0" lang="en-US" sz="5600" spc="-1" strike="noStrike">
              <a:solidFill>
                <a:srgbClr val="000000"/>
              </a:solidFill>
              <a:latin typeface="Arial"/>
            </a:endParaRPr>
          </a:p>
        </p:txBody>
      </p:sp>
      <p:sp>
        <p:nvSpPr>
          <p:cNvPr id="173" name="Text 8"/>
          <p:cNvSpPr/>
          <p:nvPr/>
        </p:nvSpPr>
        <p:spPr>
          <a:xfrm>
            <a:off x="9402120" y="4366440"/>
            <a:ext cx="3226320" cy="305640"/>
          </a:xfrm>
          <a:prstGeom prst="rect">
            <a:avLst/>
          </a:prstGeom>
          <a:noFill/>
          <a:ln w="0">
            <a:noFill/>
          </a:ln>
        </p:spPr>
        <p:style>
          <a:lnRef idx="0"/>
          <a:fillRef idx="0"/>
          <a:effectRef idx="0"/>
          <a:fontRef idx="minor"/>
        </p:style>
        <p:txBody>
          <a:bodyPr wrap="none" lIns="0" rIns="0" tIns="0" bIns="0" anchor="t">
            <a:noAutofit/>
          </a:bodyPr>
          <a:p>
            <a:pPr algn="ctr">
              <a:lnSpc>
                <a:spcPts val="2401"/>
              </a:lnSpc>
              <a:tabLst>
                <a:tab algn="l" pos="0"/>
              </a:tabLst>
            </a:pPr>
            <a:r>
              <a:rPr b="1" lang="en-US" sz="1900" spc="-1" strike="noStrike">
                <a:solidFill>
                  <a:srgbClr val="FFFFFF"/>
                </a:solidFill>
                <a:latin typeface="Montserrat Bold"/>
                <a:ea typeface="Montserrat Bold"/>
              </a:rPr>
              <a:t>Məhsuldarlıq İtkisi Azaldı</a:t>
            </a:r>
            <a:endParaRPr b="0" lang="en-US" sz="1900" spc="-1" strike="noStrike">
              <a:solidFill>
                <a:srgbClr val="000000"/>
              </a:solidFill>
              <a:latin typeface="Arial"/>
            </a:endParaRPr>
          </a:p>
        </p:txBody>
      </p:sp>
      <p:sp>
        <p:nvSpPr>
          <p:cNvPr id="174" name="Text 9"/>
          <p:cNvSpPr/>
          <p:nvPr/>
        </p:nvSpPr>
        <p:spPr>
          <a:xfrm>
            <a:off x="8317800" y="4888800"/>
            <a:ext cx="5394960" cy="646920"/>
          </a:xfrm>
          <a:prstGeom prst="rect">
            <a:avLst/>
          </a:prstGeom>
          <a:noFill/>
          <a:ln w="0">
            <a:noFill/>
          </a:ln>
        </p:spPr>
        <p:style>
          <a:lnRef idx="0"/>
          <a:fillRef idx="0"/>
          <a:effectRef idx="0"/>
          <a:fontRef idx="minor"/>
        </p:style>
        <p:txBody>
          <a:bodyPr lIns="0" rIns="0" tIns="0" bIns="0" anchor="t">
            <a:noAutofit/>
          </a:bodyPr>
          <a:p>
            <a:pPr algn="ctr">
              <a:lnSpc>
                <a:spcPts val="2551"/>
              </a:lnSpc>
              <a:tabLst>
                <a:tab algn="l" pos="0"/>
              </a:tabLst>
            </a:pPr>
            <a:r>
              <a:rPr b="0" lang="en-US" sz="1700" spc="-1" strike="noStrike">
                <a:solidFill>
                  <a:srgbClr val="FFFFFF"/>
                </a:solidFill>
                <a:latin typeface="Source Sans 3"/>
                <a:ea typeface="Source Sans 3"/>
              </a:rPr>
              <a:t>Yenidən planlaşdırma səbəbindən yaranan məhsuldarlıq itkisinin 40% azalması qeydə alındı.</a:t>
            </a:r>
            <a:endParaRPr b="0" lang="en-US" sz="1700" spc="-1" strike="noStrike">
              <a:solidFill>
                <a:srgbClr val="000000"/>
              </a:solidFill>
              <a:latin typeface="Arial"/>
            </a:endParaRPr>
          </a:p>
        </p:txBody>
      </p:sp>
      <p:sp>
        <p:nvSpPr>
          <p:cNvPr id="175" name="Text 10"/>
          <p:cNvSpPr/>
          <p:nvPr/>
        </p:nvSpPr>
        <p:spPr>
          <a:xfrm>
            <a:off x="8317800" y="5779800"/>
            <a:ext cx="5394960" cy="1294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FFFFFF"/>
                </a:solidFill>
                <a:latin typeface="Source Sans 3"/>
                <a:ea typeface="Source Sans 3"/>
              </a:rPr>
              <a:t>Komanda daha az vaxtını yenidən planlaşdırmaya, daha çox vaxtını isə faktiki inkişafa həsr etdi. SI sisteminin proaktiv xəbərdarlıqları sayəsində sprint pozulmaları minimuma endirildi.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Image 0" descr="preencoded.png"/>
          <p:cNvPicPr/>
          <p:nvPr/>
        </p:nvPicPr>
        <p:blipFill>
          <a:blip r:embed="rId1"/>
          <a:stretch/>
        </p:blipFill>
        <p:spPr>
          <a:xfrm>
            <a:off x="9144000" y="0"/>
            <a:ext cx="5485320" cy="8228520"/>
          </a:xfrm>
          <a:prstGeom prst="rect">
            <a:avLst/>
          </a:prstGeom>
          <a:ln w="0">
            <a:noFill/>
          </a:ln>
        </p:spPr>
      </p:pic>
      <p:sp>
        <p:nvSpPr>
          <p:cNvPr id="177" name="Text 0"/>
          <p:cNvSpPr/>
          <p:nvPr/>
        </p:nvSpPr>
        <p:spPr>
          <a:xfrm>
            <a:off x="828000" y="791280"/>
            <a:ext cx="7487280" cy="1174680"/>
          </a:xfrm>
          <a:prstGeom prst="rect">
            <a:avLst/>
          </a:prstGeom>
          <a:noFill/>
          <a:ln w="0">
            <a:noFill/>
          </a:ln>
        </p:spPr>
        <p:style>
          <a:lnRef idx="0"/>
          <a:fillRef idx="0"/>
          <a:effectRef idx="0"/>
          <a:fontRef idx="minor"/>
        </p:style>
        <p:txBody>
          <a:bodyPr lIns="0" rIns="0" tIns="0" bIns="0" anchor="t">
            <a:noAutofit/>
          </a:bodyPr>
          <a:p>
            <a:pPr>
              <a:lnSpc>
                <a:spcPts val="4601"/>
              </a:lnSpc>
              <a:tabLst>
                <a:tab algn="l" pos="0"/>
              </a:tabLst>
            </a:pPr>
            <a:r>
              <a:rPr sz="3700" b="1">
                <a:solidFill>
                  <a:srgbClr val="FFFFFF"/>
                </a:solidFill>
                <a:latin typeface="Montserrat Bold"/>
              </a:rPr>
              <a:t>Ограничения и лучшие практики</a:t>
            </a:r>
            <a:endParaRPr b="0" lang="en-US" sz="3700" spc="-1" strike="noStrike">
              <a:solidFill>
                <a:srgbClr val="000000"/>
              </a:solidFill>
              <a:latin typeface="Arial"/>
            </a:endParaRPr>
          </a:p>
        </p:txBody>
      </p:sp>
      <p:sp>
        <p:nvSpPr>
          <p:cNvPr id="178" name="Text 1"/>
          <p:cNvSpPr/>
          <p:nvPr/>
        </p:nvSpPr>
        <p:spPr>
          <a:xfrm>
            <a:off x="828000" y="2264400"/>
            <a:ext cx="7487280" cy="60660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FFFFFF"/>
                </a:solidFill>
                <a:latin typeface="Source Sans 3"/>
                <a:ea typeface="Source Sans 3"/>
              </a:rPr>
              <a:t>Süni intellekt güclü bir alətdir — lakin hər alət kimi, onu düzgün istifadə etmək üçün onun həm imkanlarını, həm də hüdudlarını bilmək lazımdır.</a:t>
            </a:r>
            <a:endParaRPr b="0" lang="en-US" sz="1600" spc="-1" strike="noStrike">
              <a:solidFill>
                <a:srgbClr val="000000"/>
              </a:solidFill>
              <a:latin typeface="Arial"/>
            </a:endParaRPr>
          </a:p>
        </p:txBody>
      </p:sp>
      <p:sp>
        <p:nvSpPr>
          <p:cNvPr id="179" name="Shape 2"/>
          <p:cNvSpPr/>
          <p:nvPr/>
        </p:nvSpPr>
        <p:spPr>
          <a:xfrm>
            <a:off x="828000" y="3095280"/>
            <a:ext cx="7487280" cy="4341960"/>
          </a:xfrm>
          <a:prstGeom prst="roundRect">
            <a:avLst>
              <a:gd name="adj" fmla="val 715"/>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 name="Shape 3"/>
          <p:cNvSpPr/>
          <p:nvPr/>
        </p:nvSpPr>
        <p:spPr>
          <a:xfrm>
            <a:off x="828000" y="3095280"/>
            <a:ext cx="3742920" cy="2925000"/>
          </a:xfrm>
          <a:prstGeom prst="roundRect">
            <a:avLst>
              <a:gd name="adj" fmla="val 106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 name="Text 4"/>
          <p:cNvSpPr/>
          <p:nvPr/>
        </p:nvSpPr>
        <p:spPr>
          <a:xfrm>
            <a:off x="1026000" y="3293640"/>
            <a:ext cx="2350800" cy="29268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FFFFFF"/>
                </a:solidFill>
                <a:latin typeface="Montserrat Bold"/>
                <a:ea typeface="Montserrat Bold"/>
              </a:rPr>
              <a:t>İnsanı Əvəz Etmir</a:t>
            </a:r>
            <a:endParaRPr b="0" lang="en-US" sz="1850" spc="-1" strike="noStrike">
              <a:solidFill>
                <a:srgbClr val="000000"/>
              </a:solidFill>
              <a:latin typeface="Arial"/>
            </a:endParaRPr>
          </a:p>
        </p:txBody>
      </p:sp>
      <p:sp>
        <p:nvSpPr>
          <p:cNvPr id="182" name="Text 5"/>
          <p:cNvSpPr/>
          <p:nvPr/>
        </p:nvSpPr>
        <p:spPr>
          <a:xfrm>
            <a:off x="1026000" y="3706200"/>
            <a:ext cx="3049200" cy="151812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FFFFFF"/>
                </a:solidFill>
                <a:latin typeface="Source Sans 3"/>
                <a:ea typeface="Source Sans 3"/>
              </a:rPr>
              <a:t>SI komanda ünsiyyətini, empatini və kreativ problem həllini əvəz edə bilməz. O, komandanı daha yaxşı qərar verməyə </a:t>
            </a:r>
            <a:r>
              <a:rPr b="1" lang="en-US" sz="1600" spc="-1" strike="noStrike">
                <a:solidFill>
                  <a:srgbClr val="FFFFFF"/>
                </a:solidFill>
                <a:latin typeface="Source Sans 3"/>
                <a:ea typeface="Source Sans 3"/>
              </a:rPr>
              <a:t>kömək edir</a:t>
            </a:r>
            <a:r>
              <a:rPr b="0" lang="en-US" sz="1600" spc="-1" strike="noStrike">
                <a:solidFill>
                  <a:srgbClr val="FFFFFF"/>
                </a:solidFill>
                <a:latin typeface="Source Sans 3"/>
                <a:ea typeface="Source Sans 3"/>
              </a:rPr>
              <a:t>, qərarları özü vermir.</a:t>
            </a:r>
            <a:endParaRPr b="0" lang="en-US" sz="1600" spc="-1" strike="noStrike">
              <a:solidFill>
                <a:srgbClr val="000000"/>
              </a:solidFill>
              <a:latin typeface="Arial"/>
            </a:endParaRPr>
          </a:p>
        </p:txBody>
      </p:sp>
      <p:sp>
        <p:nvSpPr>
          <p:cNvPr id="183" name="Shape 6"/>
          <p:cNvSpPr/>
          <p:nvPr/>
        </p:nvSpPr>
        <p:spPr>
          <a:xfrm>
            <a:off x="4572000" y="3095280"/>
            <a:ext cx="3742920" cy="292500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 name="Shape 7"/>
          <p:cNvSpPr/>
          <p:nvPr/>
        </p:nvSpPr>
        <p:spPr>
          <a:xfrm>
            <a:off x="4572000" y="3095280"/>
            <a:ext cx="21960" cy="2925000"/>
          </a:xfrm>
          <a:prstGeom prst="roundRect">
            <a:avLst>
              <a:gd name="adj" fmla="val 135808"/>
            </a:avLst>
          </a:prstGeom>
          <a:solidFill>
            <a:srgbClr val="494a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 name="Text 8"/>
          <p:cNvSpPr/>
          <p:nvPr/>
        </p:nvSpPr>
        <p:spPr>
          <a:xfrm>
            <a:off x="5067720" y="3293640"/>
            <a:ext cx="3049200" cy="58644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1" lang="en-US" sz="1850" spc="-1" strike="noStrike">
                <a:solidFill>
                  <a:srgbClr val="FFFFFF"/>
                </a:solidFill>
                <a:latin typeface="Montserrat Bold"/>
                <a:ea typeface="Montserrat Bold"/>
              </a:rPr>
              <a:t>Keyfiyyətli Məlumat Tələb Olunur</a:t>
            </a:r>
            <a:endParaRPr b="0" lang="en-US" sz="1850" spc="-1" strike="noStrike">
              <a:solidFill>
                <a:srgbClr val="000000"/>
              </a:solidFill>
              <a:latin typeface="Arial"/>
            </a:endParaRPr>
          </a:p>
        </p:txBody>
      </p:sp>
      <p:sp>
        <p:nvSpPr>
          <p:cNvPr id="186" name="Text 9"/>
          <p:cNvSpPr/>
          <p:nvPr/>
        </p:nvSpPr>
        <p:spPr>
          <a:xfrm>
            <a:off x="5067720" y="4000320"/>
            <a:ext cx="3049200" cy="182196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FFFFFF"/>
                </a:solidFill>
                <a:latin typeface="Source Sans 3"/>
                <a:ea typeface="Source Sans 3"/>
              </a:rPr>
              <a:t>SI-nin proqnozları yalnız mövcud məlumatlar qədər dəqiqdir. Zəif, natamam və ya köhnəlmiş məlumatlar yanlış nəticələrə gətirib çıxarır — "zibil girər, zibil çıxar."</a:t>
            </a:r>
            <a:endParaRPr b="0" lang="en-US" sz="1600" spc="-1" strike="noStrike">
              <a:solidFill>
                <a:srgbClr val="000000"/>
              </a:solidFill>
              <a:latin typeface="Arial"/>
            </a:endParaRPr>
          </a:p>
        </p:txBody>
      </p:sp>
      <p:sp>
        <p:nvSpPr>
          <p:cNvPr id="187" name="Shape 10"/>
          <p:cNvSpPr/>
          <p:nvPr/>
        </p:nvSpPr>
        <p:spPr>
          <a:xfrm>
            <a:off x="4313520" y="4299480"/>
            <a:ext cx="516240" cy="516240"/>
          </a:xfrm>
          <a:prstGeom prst="roundRect">
            <a:avLst>
              <a:gd name="adj" fmla="val 6001"/>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8" name="Image 1" descr="preencoded.png"/>
          <p:cNvPicPr/>
          <p:nvPr/>
        </p:nvPicPr>
        <p:blipFill>
          <a:blip r:embed="rId2">
            <a:extLst>
              <a:ext uri="{96DAC541-7B7A-43D3-8B79-37D633B846F1}">
                <asvg:svgBlip xmlns:asvg="http://schemas.microsoft.com/office/drawing/2016/SVG/main" r:embed="rId3"/>
              </a:ext>
            </a:extLst>
          </a:blip>
          <a:stretch/>
        </p:blipFill>
        <p:spPr>
          <a:xfrm>
            <a:off x="4442760" y="4429080"/>
            <a:ext cx="257400" cy="257400"/>
          </a:xfrm>
          <a:prstGeom prst="rect">
            <a:avLst/>
          </a:prstGeom>
          <a:ln w="0">
            <a:noFill/>
          </a:ln>
        </p:spPr>
      </p:pic>
      <p:sp>
        <p:nvSpPr>
          <p:cNvPr id="189" name="Shape 11"/>
          <p:cNvSpPr/>
          <p:nvPr/>
        </p:nvSpPr>
        <p:spPr>
          <a:xfrm>
            <a:off x="828000" y="6021360"/>
            <a:ext cx="7487280" cy="14158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 name="Shape 12"/>
          <p:cNvSpPr/>
          <p:nvPr/>
        </p:nvSpPr>
        <p:spPr>
          <a:xfrm>
            <a:off x="828000" y="6021360"/>
            <a:ext cx="7487280" cy="21960"/>
          </a:xfrm>
          <a:prstGeom prst="roundRect">
            <a:avLst>
              <a:gd name="adj" fmla="val 135808"/>
            </a:avLst>
          </a:prstGeom>
          <a:solidFill>
            <a:srgbClr val="494a4b"/>
          </a:solidFill>
          <a:ln w="0">
            <a:noFill/>
          </a:ln>
        </p:spPr>
        <p:style>
          <a:lnRef idx="0"/>
          <a:fillRef idx="0"/>
          <a:effectRef idx="0"/>
          <a:fontRef idx="minor"/>
        </p:style>
        <p:txBody>
          <a:bodyPr lIns="90000" rIns="90000" tIns="-28800" bIns="-28800" anchor="t">
            <a:noAutofit/>
          </a:bodyPr>
          <a:p>
            <a:pPr>
              <a:lnSpc>
                <a:spcPct val="100000"/>
              </a:lnSpc>
            </a:pPr>
            <a:endParaRPr b="0" lang="en-US" sz="1800" spc="-1" strike="noStrike">
              <a:solidFill>
                <a:srgbClr val="ffffff"/>
              </a:solidFill>
              <a:latin typeface="Arial"/>
            </a:endParaRPr>
          </a:p>
        </p:txBody>
      </p:sp>
      <p:sp>
        <p:nvSpPr>
          <p:cNvPr id="191" name="Text 13"/>
          <p:cNvSpPr/>
          <p:nvPr/>
        </p:nvSpPr>
        <p:spPr>
          <a:xfrm>
            <a:off x="1026000" y="6219720"/>
            <a:ext cx="2350800" cy="29268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FFFFFF"/>
                </a:solidFill>
                <a:latin typeface="Montserrat Bold"/>
                <a:ea typeface="Montserrat Bold"/>
              </a:rPr>
              <a:t>Şəffaflıq Vacibdir</a:t>
            </a:r>
            <a:endParaRPr b="0" lang="en-US" sz="1850" spc="-1" strike="noStrike">
              <a:solidFill>
                <a:srgbClr val="000000"/>
              </a:solidFill>
              <a:latin typeface="Arial"/>
            </a:endParaRPr>
          </a:p>
        </p:txBody>
      </p:sp>
      <p:sp>
        <p:nvSpPr>
          <p:cNvPr id="192" name="Text 14"/>
          <p:cNvSpPr/>
          <p:nvPr/>
        </p:nvSpPr>
        <p:spPr>
          <a:xfrm>
            <a:off x="1026000" y="6632640"/>
            <a:ext cx="6793200" cy="60660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FFFFFF"/>
                </a:solidFill>
                <a:latin typeface="Source Sans 3"/>
                <a:ea typeface="Source Sans 3"/>
              </a:rPr>
              <a:t>Komanda SI-nin necə qərar verdiyini başa düşməlidir. "Qara qutu" sistemlərə etibar aşağı olur. Açıqlana bilən SI modelləri komanda qəbulunu artırır.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Text 0"/>
          <p:cNvSpPr/>
          <p:nvPr/>
        </p:nvSpPr>
        <p:spPr>
          <a:xfrm>
            <a:off x="838080" y="622440"/>
            <a:ext cx="4761720" cy="594360"/>
          </a:xfrm>
          <a:prstGeom prst="rect">
            <a:avLst/>
          </a:prstGeom>
          <a:noFill/>
          <a:ln w="0">
            <a:noFill/>
          </a:ln>
        </p:spPr>
        <p:style>
          <a:lnRef idx="0"/>
          <a:fillRef idx="0"/>
          <a:effectRef idx="0"/>
          <a:fontRef idx="minor"/>
        </p:style>
        <p:txBody>
          <a:bodyPr wrap="none" lIns="0" rIns="0" tIns="0" bIns="0" anchor="t">
            <a:noAutofit/>
          </a:bodyPr>
          <a:p>
            <a:pPr>
              <a:lnSpc>
                <a:spcPts val="4649"/>
              </a:lnSpc>
              <a:tabLst>
                <a:tab algn="l" pos="0"/>
              </a:tabLst>
            </a:pPr>
            <a:r>
              <a:rPr sz="3750" b="1">
                <a:solidFill>
                  <a:srgbClr val="FFFFFF"/>
                </a:solidFill>
                <a:latin typeface="Montserrat Bold"/>
              </a:rPr>
              <a:t>Практическое задание</a:t>
            </a:r>
            <a:endParaRPr b="0" lang="en-US" sz="3750" spc="-1" strike="noStrike">
              <a:solidFill>
                <a:srgbClr val="000000"/>
              </a:solidFill>
              <a:latin typeface="Arial"/>
            </a:endParaRPr>
          </a:p>
        </p:txBody>
      </p:sp>
      <p:sp>
        <p:nvSpPr>
          <p:cNvPr id="194" name="Shape 1"/>
          <p:cNvSpPr/>
          <p:nvPr/>
        </p:nvSpPr>
        <p:spPr>
          <a:xfrm>
            <a:off x="687240" y="1522800"/>
            <a:ext cx="6522120" cy="6083640"/>
          </a:xfrm>
          <a:prstGeom prst="roundRect">
            <a:avLst>
              <a:gd name="adj" fmla="val 517"/>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 name="Text 2"/>
          <p:cNvSpPr/>
          <p:nvPr/>
        </p:nvSpPr>
        <p:spPr>
          <a:xfrm>
            <a:off x="896760" y="1726200"/>
            <a:ext cx="2380320" cy="2966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sz="1850" b="1">
                <a:solidFill>
                  <a:srgbClr val="FFFFFF"/>
                </a:solidFill>
                <a:latin typeface="Montserrat Bold"/>
              </a:rPr>
              <a:t>📝 Задание</a:t>
            </a:r>
            <a:endParaRPr b="0" lang="en-US" sz="1850" spc="-1" strike="noStrike">
              <a:solidFill>
                <a:srgbClr val="000000"/>
              </a:solidFill>
              <a:latin typeface="Arial"/>
            </a:endParaRPr>
          </a:p>
        </p:txBody>
      </p:sp>
      <p:sp>
        <p:nvSpPr>
          <p:cNvPr id="196" name="Text 3"/>
          <p:cNvSpPr/>
          <p:nvPr/>
        </p:nvSpPr>
        <p:spPr>
          <a:xfrm>
            <a:off x="896760" y="2226960"/>
            <a:ext cx="6102720" cy="3085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FFFFFF"/>
                </a:solidFill>
                <a:latin typeface="Source Sans 3"/>
                <a:ea typeface="Source Sans 3"/>
              </a:rPr>
              <a:t>Cari və ya keçmiş bir layihənizi seçin. Aşağıdakı suallara cavab verin:</a:t>
            </a:r>
            <a:endParaRPr b="0" lang="en-US" sz="1650" spc="-1" strike="noStrike">
              <a:solidFill>
                <a:srgbClr val="000000"/>
              </a:solidFill>
              <a:latin typeface="Arial"/>
            </a:endParaRPr>
          </a:p>
        </p:txBody>
      </p:sp>
      <p:sp>
        <p:nvSpPr>
          <p:cNvPr id="197" name="Text 4"/>
          <p:cNvSpPr/>
          <p:nvPr/>
        </p:nvSpPr>
        <p:spPr>
          <a:xfrm>
            <a:off x="896760" y="2719800"/>
            <a:ext cx="6102720" cy="16887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50" spc="-1" strike="noStrike">
                <a:solidFill>
                  <a:srgbClr val="FFFFFF"/>
                </a:solidFill>
                <a:latin typeface="Source Sans 3"/>
                <a:ea typeface="Source Sans 3"/>
              </a:rPr>
              <a:t>Bu layihədə </a:t>
            </a:r>
            <a:r>
              <a:rPr b="1" lang="en-US" sz="1650" spc="-1" strike="noStrike">
                <a:solidFill>
                  <a:srgbClr val="FFFFFF"/>
                </a:solidFill>
                <a:latin typeface="Source Sans 3"/>
                <a:ea typeface="Source Sans 3"/>
              </a:rPr>
              <a:t>hansı 2-3 tapşırığı</a:t>
            </a:r>
            <a:r>
              <a:rPr b="0" lang="en-US" sz="1650" spc="-1" strike="noStrike">
                <a:solidFill>
                  <a:srgbClr val="FFFFFF"/>
                </a:solidFill>
                <a:latin typeface="Source Sans 3"/>
                <a:ea typeface="Source Sans 3"/>
              </a:rPr>
              <a:t> süni intellektdən istifadə edərək daha yaxşı idarə etmək mümkün olardı?</a:t>
            </a:r>
            <a:endParaRPr b="0" lang="en-US" sz="1650" spc="-1" strike="noStrike">
              <a:solidFill>
                <a:srgbClr val="000000"/>
              </a:solidFill>
              <a:latin typeface="Arial"/>
            </a:endParaRPr>
          </a:p>
          <a:p>
            <a:pPr>
              <a:lnSpc>
                <a:spcPts val="2401"/>
              </a:lnSpc>
              <a:tabLst>
                <a:tab algn="l" pos="0"/>
              </a:tabLst>
            </a:pPr>
            <a:r>
              <a:rPr b="0" lang="en-US" sz="1650" spc="-1" strike="noStrike">
                <a:solidFill>
                  <a:srgbClr val="FFFFFF"/>
                </a:solidFill>
                <a:latin typeface="Source Sans 3"/>
                <a:ea typeface="Source Sans 3"/>
              </a:rPr>
              <a:t>Bu problemlər üçün </a:t>
            </a:r>
            <a:r>
              <a:rPr b="1" lang="en-US" sz="1650" spc="-1" strike="noStrike">
                <a:solidFill>
                  <a:srgbClr val="FFFFFF"/>
                </a:solidFill>
                <a:latin typeface="Source Sans 3"/>
                <a:ea typeface="Source Sans 3"/>
              </a:rPr>
              <a:t>hansı aləti</a:t>
            </a:r>
            <a:r>
              <a:rPr b="0" lang="en-US" sz="1650" spc="-1" strike="noStrike">
                <a:solidFill>
                  <a:srgbClr val="FFFFFF"/>
                </a:solidFill>
                <a:latin typeface="Source Sans 3"/>
                <a:ea typeface="Source Sans 3"/>
              </a:rPr>
              <a:t> seçərdiniz — Jira AI, ClickUp, Monday.com yoxsa başqa bir platforma?</a:t>
            </a:r>
            <a:endParaRPr b="0" lang="en-US" sz="1650" spc="-1" strike="noStrike">
              <a:solidFill>
                <a:srgbClr val="000000"/>
              </a:solidFill>
              <a:latin typeface="Arial"/>
            </a:endParaRPr>
          </a:p>
          <a:p>
            <a:pPr>
              <a:lnSpc>
                <a:spcPts val="2401"/>
              </a:lnSpc>
              <a:tabLst>
                <a:tab algn="l" pos="0"/>
              </a:tabLst>
            </a:pPr>
            <a:r>
              <a:rPr b="0" lang="en-US" sz="1650" spc="-1" strike="noStrike">
                <a:solidFill>
                  <a:srgbClr val="FFFFFF"/>
                </a:solidFill>
                <a:latin typeface="Source Sans 3"/>
                <a:ea typeface="Source Sans 3"/>
              </a:rPr>
              <a:t>SI tətbiqindən </a:t>
            </a:r>
            <a:r>
              <a:rPr b="1" lang="en-US" sz="1650" spc="-1" strike="noStrike">
                <a:solidFill>
                  <a:srgbClr val="FFFFFF"/>
                </a:solidFill>
                <a:latin typeface="Source Sans 3"/>
                <a:ea typeface="Source Sans 3"/>
              </a:rPr>
              <a:t>hansı nəticəni</a:t>
            </a:r>
            <a:r>
              <a:rPr b="0" lang="en-US" sz="1650" spc="-1" strike="noStrike">
                <a:solidFill>
                  <a:srgbClr val="FFFFFF"/>
                </a:solidFill>
                <a:latin typeface="Source Sans 3"/>
                <a:ea typeface="Source Sans 3"/>
              </a:rPr>
              <a:t> gözlərdiniz?</a:t>
            </a:r>
            <a:endParaRPr b="0" lang="en-US" sz="1650" spc="-1" strike="noStrike">
              <a:solidFill>
                <a:srgbClr val="000000"/>
              </a:solidFill>
              <a:latin typeface="Arial"/>
            </a:endParaRPr>
          </a:p>
        </p:txBody>
      </p:sp>
      <p:sp>
        <p:nvSpPr>
          <p:cNvPr id="198" name="Text 5"/>
          <p:cNvSpPr/>
          <p:nvPr/>
        </p:nvSpPr>
        <p:spPr>
          <a:xfrm>
            <a:off x="7578360" y="1726200"/>
            <a:ext cx="2380320" cy="2966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sz="1850" b="1">
                <a:solidFill>
                  <a:srgbClr val="FFFFFF"/>
                </a:solidFill>
                <a:latin typeface="Montserrat Bold"/>
              </a:rPr>
              <a:t>💡 Подумайте</a:t>
            </a:r>
            <a:endParaRPr b="0" lang="en-US" sz="1850" spc="-1" strike="noStrike">
              <a:solidFill>
                <a:srgbClr val="000000"/>
              </a:solidFill>
              <a:latin typeface="Arial"/>
            </a:endParaRPr>
          </a:p>
        </p:txBody>
      </p:sp>
      <p:pic>
        <p:nvPicPr>
          <p:cNvPr id="199" name="Image 0" descr="preencoded.png"/>
          <p:cNvPicPr/>
          <p:nvPr/>
        </p:nvPicPr>
        <p:blipFill>
          <a:blip r:embed="rId1">
            <a:extLst>
              <a:ext uri="{96DAC541-7B7A-43D3-8B79-37D633B846F1}">
                <asvg:svgBlip xmlns:asvg="http://schemas.microsoft.com/office/drawing/2016/SVG/main" r:embed="rId2"/>
              </a:ext>
            </a:extLst>
          </a:blip>
          <a:stretch/>
        </p:blipFill>
        <p:spPr>
          <a:xfrm>
            <a:off x="7657200" y="2252520"/>
            <a:ext cx="313200" cy="313200"/>
          </a:xfrm>
          <a:prstGeom prst="rect">
            <a:avLst/>
          </a:prstGeom>
          <a:ln w="0">
            <a:noFill/>
          </a:ln>
        </p:spPr>
      </p:pic>
      <p:sp>
        <p:nvSpPr>
          <p:cNvPr id="200" name="Text 6"/>
          <p:cNvSpPr/>
          <p:nvPr/>
        </p:nvSpPr>
        <p:spPr>
          <a:xfrm>
            <a:off x="8259480" y="2252520"/>
            <a:ext cx="5539320" cy="3085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FFFFFF"/>
                </a:solidFill>
                <a:latin typeface="Source Sans 3"/>
                <a:ea typeface="Source Sans 3"/>
              </a:rPr>
              <a:t>Layihədə ən çox vaxt itirən mərhələ hansı idi?</a:t>
            </a:r>
            <a:endParaRPr b="0" lang="en-US" sz="1650" spc="-1" strike="noStrike">
              <a:solidFill>
                <a:srgbClr val="000000"/>
              </a:solidFill>
              <a:latin typeface="Arial"/>
            </a:endParaRPr>
          </a:p>
        </p:txBody>
      </p:sp>
      <p:pic>
        <p:nvPicPr>
          <p:cNvPr id="201" name="Image 1" descr="preencoded.png"/>
          <p:cNvPicPr/>
          <p:nvPr/>
        </p:nvPicPr>
        <p:blipFill>
          <a:blip r:embed="rId3">
            <a:extLst>
              <a:ext uri="{96DAC541-7B7A-43D3-8B79-37D633B846F1}">
                <asvg:svgBlip xmlns:asvg="http://schemas.microsoft.com/office/drawing/2016/SVG/main" r:embed="rId4"/>
              </a:ext>
            </a:extLst>
          </a:blip>
          <a:stretch/>
        </p:blipFill>
        <p:spPr>
          <a:xfrm>
            <a:off x="7657200" y="3287880"/>
            <a:ext cx="313200" cy="313200"/>
          </a:xfrm>
          <a:prstGeom prst="rect">
            <a:avLst/>
          </a:prstGeom>
          <a:ln w="0">
            <a:noFill/>
          </a:ln>
        </p:spPr>
      </p:pic>
      <p:sp>
        <p:nvSpPr>
          <p:cNvPr id="202" name="Text 7"/>
          <p:cNvSpPr/>
          <p:nvPr/>
        </p:nvSpPr>
        <p:spPr>
          <a:xfrm>
            <a:off x="8259480" y="3287880"/>
            <a:ext cx="5539320" cy="3085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FFFFFF"/>
                </a:solidFill>
                <a:latin typeface="Source Sans 3"/>
                <a:ea typeface="Source Sans 3"/>
              </a:rPr>
              <a:t>Hansı risklər gec müəyyənləşdirilmişdi?</a:t>
            </a:r>
            <a:endParaRPr b="0" lang="en-US" sz="1650" spc="-1" strike="noStrike">
              <a:solidFill>
                <a:srgbClr val="000000"/>
              </a:solidFill>
              <a:latin typeface="Arial"/>
            </a:endParaRPr>
          </a:p>
        </p:txBody>
      </p:sp>
      <p:pic>
        <p:nvPicPr>
          <p:cNvPr id="203" name="Image 2" descr="preencoded.png"/>
          <p:cNvPicPr/>
          <p:nvPr/>
        </p:nvPicPr>
        <p:blipFill>
          <a:blip r:embed="rId5">
            <a:extLst>
              <a:ext uri="{96DAC541-7B7A-43D3-8B79-37D633B846F1}">
                <asvg:svgBlip xmlns:asvg="http://schemas.microsoft.com/office/drawing/2016/SVG/main" r:embed="rId6"/>
              </a:ext>
            </a:extLst>
          </a:blip>
          <a:stretch/>
        </p:blipFill>
        <p:spPr>
          <a:xfrm>
            <a:off x="7657200" y="4323240"/>
            <a:ext cx="313200" cy="313200"/>
          </a:xfrm>
          <a:prstGeom prst="rect">
            <a:avLst/>
          </a:prstGeom>
          <a:ln w="0">
            <a:noFill/>
          </a:ln>
        </p:spPr>
      </p:pic>
      <p:sp>
        <p:nvSpPr>
          <p:cNvPr id="204" name="Text 8"/>
          <p:cNvSpPr/>
          <p:nvPr/>
        </p:nvSpPr>
        <p:spPr>
          <a:xfrm>
            <a:off x="8259480" y="4323240"/>
            <a:ext cx="5539320" cy="3085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FFFFFF"/>
                </a:solidFill>
                <a:latin typeface="Source Sans 3"/>
                <a:ea typeface="Source Sans 3"/>
              </a:rPr>
              <a:t>Resurs bölgüsü ədalətli və effektiv idimi?</a:t>
            </a:r>
            <a:endParaRPr b="0" lang="en-US" sz="1650" spc="-1" strike="noStrike">
              <a:solidFill>
                <a:srgbClr val="000000"/>
              </a:solidFill>
              <a:latin typeface="Arial"/>
            </a:endParaRPr>
          </a:p>
        </p:txBody>
      </p:sp>
      <p:pic>
        <p:nvPicPr>
          <p:cNvPr id="205" name="Image 3" descr="preencoded.png"/>
          <p:cNvPicPr/>
          <p:nvPr/>
        </p:nvPicPr>
        <p:blipFill>
          <a:blip r:embed="rId7">
            <a:extLst>
              <a:ext uri="{96DAC541-7B7A-43D3-8B79-37D633B846F1}">
                <asvg:svgBlip xmlns:asvg="http://schemas.microsoft.com/office/drawing/2016/SVG/main" r:embed="rId8"/>
              </a:ext>
            </a:extLst>
          </a:blip>
          <a:stretch/>
        </p:blipFill>
        <p:spPr>
          <a:xfrm>
            <a:off x="7657200" y="5358600"/>
            <a:ext cx="313200" cy="313200"/>
          </a:xfrm>
          <a:prstGeom prst="rect">
            <a:avLst/>
          </a:prstGeom>
          <a:ln w="0">
            <a:noFill/>
          </a:ln>
        </p:spPr>
      </p:pic>
      <p:sp>
        <p:nvSpPr>
          <p:cNvPr id="206" name="Text 9"/>
          <p:cNvSpPr/>
          <p:nvPr/>
        </p:nvSpPr>
        <p:spPr>
          <a:xfrm>
            <a:off x="8259480" y="5358600"/>
            <a:ext cx="5539320" cy="3085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FFFFFF"/>
                </a:solidFill>
                <a:latin typeface="Source Sans 3"/>
                <a:ea typeface="Source Sans 3"/>
              </a:rPr>
              <a:t>SI bu problemlərin hansını həll edə bilərdi?</a:t>
            </a:r>
            <a:endParaRPr b="0" lang="en-US" sz="1650" spc="-1" strike="noStrike">
              <a:solidFill>
                <a:srgbClr val="000000"/>
              </a:solidFill>
              <a:latin typeface="Arial"/>
            </a:endParaRPr>
          </a:p>
        </p:txBody>
      </p:sp>
      <p:sp>
        <p:nvSpPr>
          <p:cNvPr id="207" name="Shape 10"/>
          <p:cNvSpPr/>
          <p:nvPr/>
        </p:nvSpPr>
        <p:spPr>
          <a:xfrm>
            <a:off x="7578360" y="6215760"/>
            <a:ext cx="6220440" cy="1161720"/>
          </a:xfrm>
          <a:prstGeom prst="roundRect">
            <a:avLst>
              <a:gd name="adj" fmla="val 2704"/>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08" name="Image 4" descr="preencoded.png"/>
          <p:cNvPicPr/>
          <p:nvPr/>
        </p:nvPicPr>
        <p:blipFill>
          <a:blip r:embed="rId9"/>
          <a:stretch/>
        </p:blipFill>
        <p:spPr>
          <a:xfrm>
            <a:off x="7787880" y="6507720"/>
            <a:ext cx="261000" cy="208440"/>
          </a:xfrm>
          <a:prstGeom prst="rect">
            <a:avLst/>
          </a:prstGeom>
          <a:ln w="0">
            <a:noFill/>
          </a:ln>
        </p:spPr>
      </p:pic>
      <p:sp>
        <p:nvSpPr>
          <p:cNvPr id="209" name="Text 11"/>
          <p:cNvSpPr/>
          <p:nvPr/>
        </p:nvSpPr>
        <p:spPr>
          <a:xfrm>
            <a:off x="8259480" y="6471720"/>
            <a:ext cx="5329800" cy="61812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50" spc="-1" strike="noStrike">
                <a:solidFill>
                  <a:srgbClr val="FFFFFF"/>
                </a:solidFill>
                <a:latin typeface="Source Sans 3"/>
                <a:ea typeface="Source Sans 3"/>
              </a:rPr>
              <a:t>Bu tapşırığı gələn həftəki seminar müzakirəsini hazırlamaq üçün tamamlayın.</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
          <p:cNvSpPr/>
          <p:nvPr/>
        </p:nvSpPr>
        <p:spPr>
          <a:xfrm>
            <a:off x="5029200" y="84600"/>
            <a:ext cx="3428280" cy="600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sz="2950" b="1">
                <a:solidFill>
                  <a:srgbClr val="FFFFFF"/>
                </a:solidFill>
                <a:latin typeface="Montserrat Bold"/>
              </a:rPr>
              <a:t>Тестовое задание L11</a:t>
            </a:r>
            <a:endParaRPr b="0" lang="en-US" sz="2950" spc="-1" strike="noStrike">
              <a:solidFill>
                <a:srgbClr val="000000"/>
              </a:solidFill>
              <a:latin typeface="Arial"/>
            </a:endParaRPr>
          </a:p>
        </p:txBody>
      </p:sp>
      <p:pic>
        <p:nvPicPr>
          <p:cNvPr id="211" name="" descr=""/>
          <p:cNvPicPr/>
          <p:nvPr/>
        </p:nvPicPr>
        <p:blipFill>
          <a:blip r:embed="rId1"/>
          <a:stretch/>
        </p:blipFill>
        <p:spPr>
          <a:xfrm>
            <a:off x="3200400" y="685800"/>
            <a:ext cx="7275240" cy="72752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2026-03-27T15:14:24Z</dcterms:created>
  <dc:creator/>
  <dc:description/>
  <dc:language>en-US</dc:language>
  <cp:lastModifiedBy/>
  <dcterms:modified xsi:type="dcterms:W3CDTF">2026-05-10T22:15:56Z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