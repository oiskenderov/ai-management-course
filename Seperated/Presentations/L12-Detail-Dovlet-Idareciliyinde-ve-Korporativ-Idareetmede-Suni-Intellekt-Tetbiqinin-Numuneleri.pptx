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svg" ContentType="image/svg"/>
  <Override PartName="/ppt/media/image12.png" ContentType="image/png"/>
  <Override PartName="/ppt/media/image3.png" ContentType="image/png"/>
  <Override PartName="/ppt/media/image23.svg" ContentType="image/svg"/>
  <Override PartName="/ppt/media/image8.png" ContentType="image/png"/>
  <Override PartName="/ppt/media/image11.svg" ContentType="image/svg"/>
  <Override PartName="/ppt/media/image7.svg" ContentType="image/svg"/>
  <Override PartName="/ppt/media/image10.png" ContentType="image/png"/>
  <Override PartName="/ppt/media/image1.png" ContentType="image/png"/>
  <Override PartName="/ppt/media/image19.svg" ContentType="image/svg"/>
  <Override PartName="/ppt/media/image21.svg" ContentType="image/svg"/>
  <Override PartName="/ppt/media/image6.png" ContentType="image/png"/>
  <Override PartName="/ppt/media/image15.png" ContentType="image/png"/>
  <Override PartName="/ppt/media/image28.png" ContentType="image/png"/>
  <Override PartName="/ppt/media/image16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2.png" ContentType="image/png"/>
  <Override PartName="/ppt/media/image20.png" ContentType="image/png"/>
  <Override PartName="/ppt/media/image18.png" ContentType="image/png"/>
  <Override PartName="/ppt/media/image17.svg" ContentType="image/svg"/>
  <Override PartName="/ppt/media/image2.png" ContentType="image/png"/>
  <Override PartName="/ppt/media/image14.png" ContentType="image/png"/>
  <Override PartName="/ppt/media/image5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move the slide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C62B906-2419-4907-9B28-DB029DE8B9F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7855C14-D348-4B92-9A3E-4C14722A91D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C7C588-7E71-4834-B65F-6D4AA1381E0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4817695-1102-4127-8BB3-9AE0A4EBF3B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1C36E13-4B25-4C3E-BFC0-32E82EA6710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C1FE6CB-9D0C-4EF1-8C58-9E7EC453842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87D487F-3D0F-49C1-B2A6-400F41AA20B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E3221B5-D679-4810-94D7-EF3614B6BA9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04AE625-EFB4-445F-BD1F-7817B986A97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0BCB557-6A17-48AA-8562-D1170275430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33D52FA-11C3-4A75-9652-4C12C86FD81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CA2E5C-4964-42A8-ACDC-83C67A16D4B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edit the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edit the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sv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10.png"/><Relationship Id="rId6" Type="http://schemas.openxmlformats.org/officeDocument/2006/relationships/image" Target="../media/image11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svg"/><Relationship Id="rId3" Type="http://schemas.openxmlformats.org/officeDocument/2006/relationships/image" Target="../media/image18.png"/><Relationship Id="rId4" Type="http://schemas.openxmlformats.org/officeDocument/2006/relationships/image" Target="../media/image19.svg"/><Relationship Id="rId5" Type="http://schemas.openxmlformats.org/officeDocument/2006/relationships/image" Target="../media/image20.png"/><Relationship Id="rId6" Type="http://schemas.openxmlformats.org/officeDocument/2006/relationships/image" Target="../media/image21.svg"/><Relationship Id="rId7" Type="http://schemas.openxmlformats.org/officeDocument/2006/relationships/image" Target="../media/image22.png"/><Relationship Id="rId8" Type="http://schemas.openxmlformats.org/officeDocument/2006/relationships/image" Target="../media/image23.svg"/><Relationship Id="rId9" Type="http://schemas.openxmlformats.org/officeDocument/2006/relationships/slideLayout" Target="../slideLayouts/slideLayout12.xml"/><Relationship Id="rId10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51" name="Text 0"/>
          <p:cNvSpPr/>
          <p:nvPr/>
        </p:nvSpPr>
        <p:spPr>
          <a:xfrm>
            <a:off x="863640" y="2240280"/>
            <a:ext cx="7416000" cy="24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Dövlət İdarəçiliyində və Korporativ İdarəetmədə Süni İntellekt Tətbiqinin Nümunələri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863640" y="5018400"/>
            <a:ext cx="7416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12-ci Sessiya · İdarəçilik və Süni İntellekt Proqramı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863640" y="5585400"/>
            <a:ext cx="1740960" cy="403560"/>
          </a:xfrm>
          <a:prstGeom prst="roundRect">
            <a:avLst>
              <a:gd name="adj" fmla="val 6417"/>
            </a:avLst>
          </a:prstGeom>
          <a:noFill/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1000800" y="5657760"/>
            <a:ext cx="146664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MÜQAYISƏLI TƏHLIL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2712960" y="5585400"/>
            <a:ext cx="2235600" cy="403560"/>
          </a:xfrm>
          <a:prstGeom prst="roundRect">
            <a:avLst>
              <a:gd name="adj" fmla="val 6417"/>
            </a:avLst>
          </a:prstGeom>
          <a:noFill/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2850120" y="5657760"/>
            <a:ext cx="196128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REAL DÜNYA NÜMUNƏLƏRI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863640" y="1429560"/>
            <a:ext cx="27514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Bu Dərsin Məqsədləri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863640" y="1822680"/>
            <a:ext cx="665568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Bu gün nəyi öyrənəcəyik?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863640" y="276012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sessiyada süni intellektin nazirliklərdən tutmuş çoxmillətli korporasiyalara qədər böyük sistemlərdə necə tətbiq edildiyini real nümunələr vasitəsilə araşdıracağıq. Nəzəriyyədən praktikaya keçid edirik.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863640" y="3974760"/>
            <a:ext cx="4156560" cy="2824560"/>
          </a:xfrm>
          <a:prstGeom prst="roundRect">
            <a:avLst>
              <a:gd name="adj" fmla="val 5179"/>
            </a:avLst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863640" y="3944160"/>
            <a:ext cx="4156560" cy="12168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2618280" y="3650760"/>
            <a:ext cx="647280" cy="647280"/>
          </a:xfrm>
          <a:prstGeom prst="roundRect">
            <a:avLst>
              <a:gd name="adj" fmla="val 14115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2812680" y="3812760"/>
            <a:ext cx="258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05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1110240" y="4514760"/>
            <a:ext cx="366408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Real Nümunələri Təhlil Etmək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1110240" y="5257440"/>
            <a:ext cx="366408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Estoniya, Sinqapur, Unilever və Maersk kimi öncül təşkilatların SI tətbiqlərini öyrənmək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5236560" y="3974760"/>
            <a:ext cx="4156560" cy="2824560"/>
          </a:xfrm>
          <a:prstGeom prst="roundRect">
            <a:avLst>
              <a:gd name="adj" fmla="val 5179"/>
            </a:avLst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5236560" y="3944160"/>
            <a:ext cx="4156560" cy="12168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1"/>
          <p:cNvSpPr/>
          <p:nvPr/>
        </p:nvSpPr>
        <p:spPr>
          <a:xfrm>
            <a:off x="6991200" y="3650760"/>
            <a:ext cx="647280" cy="647280"/>
          </a:xfrm>
          <a:prstGeom prst="roundRect">
            <a:avLst>
              <a:gd name="adj" fmla="val 14115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7185600" y="3812760"/>
            <a:ext cx="258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05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5482800" y="4514760"/>
            <a:ext cx="366408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Uğur Amillərini Müəyyənləşdirmək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5482800" y="5257440"/>
            <a:ext cx="366408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Hansı amillərin SI layihələrini müvəffəqiyyətli etdiyini və hansı amillərin uğursuzluğa gətirib çıxardığını anlamaq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5"/>
          <p:cNvSpPr/>
          <p:nvPr/>
        </p:nvSpPr>
        <p:spPr>
          <a:xfrm>
            <a:off x="9609480" y="3974760"/>
            <a:ext cx="4156560" cy="2824560"/>
          </a:xfrm>
          <a:prstGeom prst="roundRect">
            <a:avLst>
              <a:gd name="adj" fmla="val 5179"/>
            </a:avLst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16"/>
          <p:cNvSpPr/>
          <p:nvPr/>
        </p:nvSpPr>
        <p:spPr>
          <a:xfrm>
            <a:off x="9609480" y="3944160"/>
            <a:ext cx="4156560" cy="12168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7"/>
          <p:cNvSpPr/>
          <p:nvPr/>
        </p:nvSpPr>
        <p:spPr>
          <a:xfrm>
            <a:off x="11364120" y="3650760"/>
            <a:ext cx="647280" cy="647280"/>
          </a:xfrm>
          <a:prstGeom prst="roundRect">
            <a:avLst>
              <a:gd name="adj" fmla="val 14115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8"/>
          <p:cNvSpPr/>
          <p:nvPr/>
        </p:nvSpPr>
        <p:spPr>
          <a:xfrm>
            <a:off x="11558520" y="3812760"/>
            <a:ext cx="258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05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9855720" y="4514760"/>
            <a:ext cx="29368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Praktik Tətbiq Bacarığı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9855720" y="4950720"/>
            <a:ext cx="366408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Öz təşkilatınıza və ya ölkənizə uyğun SI həllərini adaptasiya etmək üçün çərçivə yaratmaq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79" name="Text 0"/>
          <p:cNvSpPr/>
          <p:nvPr/>
        </p:nvSpPr>
        <p:spPr>
          <a:xfrm>
            <a:off x="863640" y="1514880"/>
            <a:ext cx="66218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Niyə nümunələr vacibdir?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708120" y="2451960"/>
            <a:ext cx="4152600" cy="4262400"/>
          </a:xfrm>
          <a:prstGeom prst="roundRect">
            <a:avLst>
              <a:gd name="adj" fmla="val 780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924120" y="2667960"/>
            <a:ext cx="30171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Nəzəriyyənin Hüdudları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924120" y="3190680"/>
            <a:ext cx="3720960" cy="22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Nəzəriyyə bizə çərçivə verir, lakin real dünya mürəkkəblikləri — siyasi mühit, insan davranışı, məlumat keyfiyyəti — yalnız praktikada üzə çıxır. Uğurlu nümunələr ən yaxşı yolları göstərir; uğursuz nümunələr isə ən dəyərli dərsləri verir.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5240160" y="2667960"/>
            <a:ext cx="30470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Nümunədən Çıxarılan Dərslər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5240160" y="3497400"/>
            <a:ext cx="3047040" cy="31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Kontekstin SI tətbiqi üçün nə qədər vacib olduğu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Texnoloji həllin tək başına kifayət etmədiyini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Maraqlı tərəflər idarəçiliyinin uğura təsirini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Etik məsələlərin layihə idarəçiliyinin ayrılmaz hissəsi olduğunu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863640" y="1248480"/>
            <a:ext cx="1062720" cy="388440"/>
          </a:xfrm>
          <a:prstGeom prst="roundRect">
            <a:avLst>
              <a:gd name="adj" fmla="val 6669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993240" y="1313280"/>
            <a:ext cx="80352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NÜMUNƏ 1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2"/>
          <p:cNvSpPr/>
          <p:nvPr/>
        </p:nvSpPr>
        <p:spPr>
          <a:xfrm>
            <a:off x="863640" y="1723320"/>
            <a:ext cx="919656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Estoniya — Rəqəmsal Dövlət Modeli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863640" y="266076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Estoniya dünyada ən inkişaf etmiş rəqəmsal dövlət infrastrukturuna malik ölkələrdən biridir. 1990-lardan başlayan rəqəmsallaşma yolçuluğu bu gün tam entegrasiya olunmuş bir ekosistemə çevrilmişdir.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Image 0" descr="preencoded.png"/>
          <p:cNvPicPr/>
          <p:nvPr/>
        </p:nvPicPr>
        <p:blipFill>
          <a:blip r:embed="rId1"/>
          <a:stretch/>
        </p:blipFill>
        <p:spPr>
          <a:xfrm>
            <a:off x="863640" y="3551760"/>
            <a:ext cx="1812960" cy="1120320"/>
          </a:xfrm>
          <a:prstGeom prst="rect">
            <a:avLst/>
          </a:prstGeom>
          <a:ln w="0">
            <a:noFill/>
          </a:ln>
        </p:spPr>
      </p:pic>
      <p:sp>
        <p:nvSpPr>
          <p:cNvPr id="90" name="Text 4"/>
          <p:cNvSpPr/>
          <p:nvPr/>
        </p:nvSpPr>
        <p:spPr>
          <a:xfrm>
            <a:off x="863640" y="4942080"/>
            <a:ext cx="30675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e-Rezidentura Proqramı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863640" y="5378400"/>
            <a:ext cx="412056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Dünyada ilk ölkə olaraq Estoniya qeyri-vətəndaşlara rəqəmsal kimlik verməyə başladı. Bu, 100.000-dən çox e-rezidentin Avropa İttifaqı bazarına çıxışını mümkün etdi.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Image 1" descr="preencoded.png"/>
          <p:cNvPicPr/>
          <p:nvPr/>
        </p:nvPicPr>
        <p:blipFill>
          <a:blip r:embed="rId2"/>
          <a:stretch/>
        </p:blipFill>
        <p:spPr>
          <a:xfrm>
            <a:off x="5254560" y="3551760"/>
            <a:ext cx="1812960" cy="1120320"/>
          </a:xfrm>
          <a:prstGeom prst="rect">
            <a:avLst/>
          </a:prstGeom>
          <a:ln w="0">
            <a:noFill/>
          </a:ln>
        </p:spPr>
      </p:pic>
      <p:sp>
        <p:nvSpPr>
          <p:cNvPr id="93" name="Text 6"/>
          <p:cNvSpPr/>
          <p:nvPr/>
        </p:nvSpPr>
        <p:spPr>
          <a:xfrm>
            <a:off x="5254560" y="4942080"/>
            <a:ext cx="412056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Avtomatlaşdırılmış Dövlət Xidmətləri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5254560" y="5685120"/>
            <a:ext cx="412056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Vergi bəyannaməsinin 98%-i onlayn təqdim edilir. Xəstəxana qeydiyyatı, hüquq xidmətləri və dövlət müavinətləri tam rəqəmsal platformada idarə olunur.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Image 2" descr="preencoded.png"/>
          <p:cNvPicPr/>
          <p:nvPr/>
        </p:nvPicPr>
        <p:blipFill>
          <a:blip r:embed="rId3"/>
          <a:stretch/>
        </p:blipFill>
        <p:spPr>
          <a:xfrm>
            <a:off x="9645480" y="3551760"/>
            <a:ext cx="1812960" cy="1120320"/>
          </a:xfrm>
          <a:prstGeom prst="rect">
            <a:avLst/>
          </a:prstGeom>
          <a:ln w="0">
            <a:noFill/>
          </a:ln>
        </p:spPr>
      </p:pic>
      <p:sp>
        <p:nvSpPr>
          <p:cNvPr id="96" name="Text 8"/>
          <p:cNvSpPr/>
          <p:nvPr/>
        </p:nvSpPr>
        <p:spPr>
          <a:xfrm>
            <a:off x="9645480" y="4942080"/>
            <a:ext cx="33494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SI ilə Sosial Risk Proqnozu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9645480" y="5378400"/>
            <a:ext cx="412056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Məktəbdən yayınma, uşaq yoxsulluğu və sosial böhranları erkən aşkarlamaq üçün SI modellərindən istifadə edilir. Bu, dövlət müdaxiləsini daha effektiv edir.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863640" y="1134000"/>
            <a:ext cx="1062720" cy="388440"/>
          </a:xfrm>
          <a:prstGeom prst="roundRect">
            <a:avLst>
              <a:gd name="adj" fmla="val 6669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993240" y="1198800"/>
            <a:ext cx="80352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NÜMUNƏ 2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863640" y="1608840"/>
            <a:ext cx="914148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Sinqapur — Ağıllı Millət Strategiyası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863640" y="254628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Sinqapur 2014-cü ildə elan etdiyi "Smart Nation" proqramı ilə şəhər idarəçiliyini kökündən dəyişdirdi. Dövlət, özəl sektor və akademik dünya arasındakı əməkdaşlıq bu uğurun əsasını təşkil edir.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4"/>
          <p:cNvSpPr/>
          <p:nvPr/>
        </p:nvSpPr>
        <p:spPr>
          <a:xfrm>
            <a:off x="863640" y="3437280"/>
            <a:ext cx="4156560" cy="3657960"/>
          </a:xfrm>
          <a:prstGeom prst="roundRect">
            <a:avLst>
              <a:gd name="adj" fmla="val 886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5"/>
          <p:cNvSpPr/>
          <p:nvPr/>
        </p:nvSpPr>
        <p:spPr>
          <a:xfrm>
            <a:off x="1079640" y="3652920"/>
            <a:ext cx="647280" cy="647280"/>
          </a:xfrm>
          <a:prstGeom prst="roundRect">
            <a:avLst>
              <a:gd name="adj" fmla="val 1411364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257840" y="3831120"/>
            <a:ext cx="291240" cy="291240"/>
          </a:xfrm>
          <a:prstGeom prst="rect">
            <a:avLst/>
          </a:prstGeom>
          <a:ln w="0">
            <a:noFill/>
          </a:ln>
        </p:spPr>
      </p:pic>
      <p:sp>
        <p:nvSpPr>
          <p:cNvPr id="105" name="Text 6"/>
          <p:cNvSpPr/>
          <p:nvPr/>
        </p:nvSpPr>
        <p:spPr>
          <a:xfrm>
            <a:off x="1079640" y="4516920"/>
            <a:ext cx="372492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Nəqliyyat və Enerji İdarəetməsi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7"/>
          <p:cNvSpPr/>
          <p:nvPr/>
        </p:nvSpPr>
        <p:spPr>
          <a:xfrm>
            <a:off x="1079640" y="5259600"/>
            <a:ext cx="3724920" cy="16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 sistemləri trafik sıxlığını real vaxt rejimində idarə edir, enerji istehlakını optimallaşdırır və şəhər infrastrukturunu dinamik şəkildə koordinasiya edir. Nəticədə tıxaclar 30% azalmışdır.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8"/>
          <p:cNvSpPr/>
          <p:nvPr/>
        </p:nvSpPr>
        <p:spPr>
          <a:xfrm>
            <a:off x="5236560" y="3437280"/>
            <a:ext cx="4156560" cy="3657960"/>
          </a:xfrm>
          <a:prstGeom prst="roundRect">
            <a:avLst>
              <a:gd name="adj" fmla="val 886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9"/>
          <p:cNvSpPr/>
          <p:nvPr/>
        </p:nvSpPr>
        <p:spPr>
          <a:xfrm>
            <a:off x="5452560" y="3652920"/>
            <a:ext cx="647280" cy="647280"/>
          </a:xfrm>
          <a:prstGeom prst="roundRect">
            <a:avLst>
              <a:gd name="adj" fmla="val 1411364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630760" y="3831120"/>
            <a:ext cx="291240" cy="291240"/>
          </a:xfrm>
          <a:prstGeom prst="rect">
            <a:avLst/>
          </a:prstGeom>
          <a:ln w="0">
            <a:noFill/>
          </a:ln>
        </p:spPr>
      </p:pic>
      <p:sp>
        <p:nvSpPr>
          <p:cNvPr id="110" name="Text 10"/>
          <p:cNvSpPr/>
          <p:nvPr/>
        </p:nvSpPr>
        <p:spPr>
          <a:xfrm>
            <a:off x="5452560" y="4516920"/>
            <a:ext cx="372492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İnfrastrukturun Rəqəmsal Əkizləri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1"/>
          <p:cNvSpPr/>
          <p:nvPr/>
        </p:nvSpPr>
        <p:spPr>
          <a:xfrm>
            <a:off x="5452560" y="5259600"/>
            <a:ext cx="3724920" cy="16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Bütün şəhərin virtual modeli yaradılmışdır. Bu rəqəmsal əkiz sayəsində infrastruktur problemləri gerçəkdə baş verməzdən əvvəl simulyasiya yolu ilə aşkarlanır.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12"/>
          <p:cNvSpPr/>
          <p:nvPr/>
        </p:nvSpPr>
        <p:spPr>
          <a:xfrm>
            <a:off x="9609480" y="3437280"/>
            <a:ext cx="4156560" cy="3657960"/>
          </a:xfrm>
          <a:prstGeom prst="roundRect">
            <a:avLst>
              <a:gd name="adj" fmla="val 886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13"/>
          <p:cNvSpPr/>
          <p:nvPr/>
        </p:nvSpPr>
        <p:spPr>
          <a:xfrm>
            <a:off x="9825480" y="3652920"/>
            <a:ext cx="647280" cy="647280"/>
          </a:xfrm>
          <a:prstGeom prst="roundRect">
            <a:avLst>
              <a:gd name="adj" fmla="val 1411364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0003680" y="3831120"/>
            <a:ext cx="291240" cy="291240"/>
          </a:xfrm>
          <a:prstGeom prst="rect">
            <a:avLst/>
          </a:prstGeom>
          <a:ln w="0">
            <a:noFill/>
          </a:ln>
        </p:spPr>
      </p:pic>
      <p:sp>
        <p:nvSpPr>
          <p:cNvPr id="115" name="Text 14"/>
          <p:cNvSpPr/>
          <p:nvPr/>
        </p:nvSpPr>
        <p:spPr>
          <a:xfrm>
            <a:off x="9825480" y="451692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Etik SI Çərçivəsi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9825480" y="4952880"/>
            <a:ext cx="3724920" cy="16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Sinqapur dövlət sektorunda SI tətbiqləri üçün aydın etik prinsiplər, şəffaflıq tələbləri və müstəqil audit mexanizmləri müəyyən etmişdir. Bu, beynəlxalq nümunəyə çevrilmişdir.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18" name="Shape 0"/>
          <p:cNvSpPr/>
          <p:nvPr/>
        </p:nvSpPr>
        <p:spPr>
          <a:xfrm>
            <a:off x="768600" y="1261800"/>
            <a:ext cx="945360" cy="332640"/>
          </a:xfrm>
          <a:prstGeom prst="roundRect">
            <a:avLst>
              <a:gd name="adj" fmla="val 6924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883800" y="1319400"/>
            <a:ext cx="7149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NÜMUNƏ 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768600" y="1663200"/>
            <a:ext cx="7606440" cy="10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249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Unilever — Korporativ İdarəetmədə SI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3"/>
          <p:cNvSpPr/>
          <p:nvPr/>
        </p:nvSpPr>
        <p:spPr>
          <a:xfrm>
            <a:off x="768600" y="3011040"/>
            <a:ext cx="760644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Dünyada 190-dan çox ölkədə fəaliyyət göstərən Unilever, korporativ idarəetmə proseslərini köklü şəkildə transformasiya etmək üçün süni intellekti strateji alət kimi tətbiq etmişdir.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768600" y="3918960"/>
            <a:ext cx="2183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ESG Risk Təhlili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768600" y="4362840"/>
            <a:ext cx="2196000" cy="245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 platformaları milyonlarla məlumat nöqtəsini analiz edərək ətraf mühit, sosial məsuliyyət və idarəetmə risklərini real vaxt rejimində qiymətləndirir. Bu, direktorlar şurasının daha məlumatlı qərar qəbul etməsini təmin edir.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3440880" y="3918960"/>
            <a:ext cx="21960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Region Üzrə Tələb Proqnozu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3440880" y="4635720"/>
            <a:ext cx="2196000" cy="21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Maşın öyrənməsi modelləri istehlakçı trendlərini, mövsümi dəyişiklikləri və bazardakı dalğalanmaları əvvəlcədən proqnozlaşdıraraq ehtiyat artıqlığını 20%-dən çox azaltmışdır.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6113520" y="3918960"/>
            <a:ext cx="227664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Avtomatlaşdırılmış Hesabat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6113520" y="4635720"/>
            <a:ext cx="2276640" cy="19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Direktorlar şurasına təqdim olunan performans hesabatları SI tərəfindən avtomatik generasiya edilir. Bu, hesabat hazırlama vaxtını həftələrdən saatlara endirmişdir.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863640" y="827280"/>
            <a:ext cx="1062720" cy="388440"/>
          </a:xfrm>
          <a:prstGeom prst="roundRect">
            <a:avLst>
              <a:gd name="adj" fmla="val 6669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993240" y="892080"/>
            <a:ext cx="80352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NÜMUNƏ 4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863640" y="1302120"/>
            <a:ext cx="12902400" cy="12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Maersk — Logistika və Təchizat Zəncirinin İdarə Edilməsi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3"/>
          <p:cNvSpPr/>
          <p:nvPr/>
        </p:nvSpPr>
        <p:spPr>
          <a:xfrm>
            <a:off x="863640" y="285300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Dünyanın ən böyük konteyner şirkəti olan Maersk, qlobal ticarətin 20%-ni daşıyır. SI tətbiqləri şirkətin həm əməliyyat effektivliyini, həm də rəqabət üstünlüyünü əhəmiyyətli dərəcədə artırmışdır.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Image 0" descr="preencoded.png"/>
          <p:cNvPicPr/>
          <p:nvPr/>
        </p:nvPicPr>
        <p:blipFill>
          <a:blip r:embed="rId1"/>
          <a:stretch/>
        </p:blipFill>
        <p:spPr>
          <a:xfrm>
            <a:off x="863640" y="3744000"/>
            <a:ext cx="4300560" cy="863280"/>
          </a:xfrm>
          <a:prstGeom prst="rect">
            <a:avLst/>
          </a:prstGeom>
          <a:ln w="0">
            <a:noFill/>
          </a:ln>
        </p:spPr>
      </p:pic>
      <p:sp>
        <p:nvSpPr>
          <p:cNvPr id="133" name="Text 4"/>
          <p:cNvSpPr/>
          <p:nvPr/>
        </p:nvSpPr>
        <p:spPr>
          <a:xfrm>
            <a:off x="1079640" y="4823640"/>
            <a:ext cx="386892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Gəmi Marşrutunun Optimallaşdırılması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1079640" y="5566680"/>
            <a:ext cx="386892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SI, hava şəraiti, yanacaq qiymətləri, liman tutumu və trafiki real vaxt rejimində analiz edərək ən optimal marşrutu müəyyən edir. Bu, yanacaq xərclərini 15% azaldıb.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Image 1" descr="preencoded.png"/>
          <p:cNvPicPr/>
          <p:nvPr/>
        </p:nvPicPr>
        <p:blipFill>
          <a:blip r:embed="rId2"/>
          <a:stretch/>
        </p:blipFill>
        <p:spPr>
          <a:xfrm>
            <a:off x="5164560" y="3744000"/>
            <a:ext cx="4300560" cy="863280"/>
          </a:xfrm>
          <a:prstGeom prst="rect">
            <a:avLst/>
          </a:prstGeom>
          <a:ln w="0">
            <a:noFill/>
          </a:ln>
        </p:spPr>
      </p:pic>
      <p:sp>
        <p:nvSpPr>
          <p:cNvPr id="136" name="Text 6"/>
          <p:cNvSpPr/>
          <p:nvPr/>
        </p:nvSpPr>
        <p:spPr>
          <a:xfrm>
            <a:off x="5380560" y="4823640"/>
            <a:ext cx="35564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Gömrük Gecikmə Proqnozu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5380560" y="5259960"/>
            <a:ext cx="386892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Müxtəlif ölkələrdəki gömrük prosedurlarını öyrənən SI modeli mümkün gecikmələri əvvəlcədən xəbər verir. Müştərilər logistika planlamasını daha dəqiq edə bilir.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Image 2" descr="preencoded.png"/>
          <p:cNvPicPr/>
          <p:nvPr/>
        </p:nvPicPr>
        <p:blipFill>
          <a:blip r:embed="rId3"/>
          <a:stretch/>
        </p:blipFill>
        <p:spPr>
          <a:xfrm>
            <a:off x="9465480" y="3744000"/>
            <a:ext cx="4300560" cy="863280"/>
          </a:xfrm>
          <a:prstGeom prst="rect">
            <a:avLst/>
          </a:prstGeom>
          <a:ln w="0">
            <a:noFill/>
          </a:ln>
        </p:spPr>
      </p:pic>
      <p:sp>
        <p:nvSpPr>
          <p:cNvPr id="139" name="Text 8"/>
          <p:cNvSpPr/>
          <p:nvPr/>
        </p:nvSpPr>
        <p:spPr>
          <a:xfrm>
            <a:off x="9681480" y="4823640"/>
            <a:ext cx="386892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Qlobal Şəbəkənin Rəqəmsal Əkizi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9681480" y="5566680"/>
            <a:ext cx="3868920" cy="16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Bütün qlobal logistika şəbəkəsinin virtual modeli yaradılmışdır. Bu model vasitəsilə tədarük zəncirindəki pozulmalar simulyasiya edilərək fövqəladə planlar hazırlanır.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793440" y="937800"/>
            <a:ext cx="6597720" cy="5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399"/>
              </a:lnSpc>
              <a:tabLst>
                <a:tab algn="l" pos="0"/>
              </a:tabLst>
            </a:pPr>
            <a:r>
              <a:rPr b="1" lang="en-US" sz="35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Uğurun Ümumi Nümunələri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793440" y="1865520"/>
            <a:ext cx="130435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Bütün uğurlu nümunələri müqayisə etdikdə, onları birləşdirən dörd əsas amil aşkar olunur. Bu amillər SI tətbiqinin "qızıl standartı" hesab edilə bilər.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"/>
          <p:cNvSpPr/>
          <p:nvPr/>
        </p:nvSpPr>
        <p:spPr>
          <a:xfrm>
            <a:off x="1090800" y="2851560"/>
            <a:ext cx="6132960" cy="198000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3"/>
          <p:cNvSpPr/>
          <p:nvPr/>
        </p:nvSpPr>
        <p:spPr>
          <a:xfrm>
            <a:off x="793440" y="2652840"/>
            <a:ext cx="594720" cy="594720"/>
          </a:xfrm>
          <a:prstGeom prst="roundRect">
            <a:avLst>
              <a:gd name="adj" fmla="val 76846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5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42120" y="2801880"/>
            <a:ext cx="297000" cy="297000"/>
          </a:xfrm>
          <a:prstGeom prst="rect">
            <a:avLst/>
          </a:prstGeom>
          <a:ln w="0">
            <a:noFill/>
          </a:ln>
        </p:spPr>
      </p:pic>
      <p:sp>
        <p:nvSpPr>
          <p:cNvPr id="146" name="Text 4"/>
          <p:cNvSpPr/>
          <p:nvPr/>
        </p:nvSpPr>
        <p:spPr>
          <a:xfrm>
            <a:off x="991440" y="3430080"/>
            <a:ext cx="265968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Aydın Biznes Problemi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991440" y="3821040"/>
            <a:ext cx="6033960" cy="5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"Süni intellekt üçün" deyil, konkret problemin həlli üçün SI seçilir. Layihə başlamazdan əvvəl "SI nəyi həll etməlidir?" sualı aydın cavablanır.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6"/>
          <p:cNvSpPr/>
          <p:nvPr/>
        </p:nvSpPr>
        <p:spPr>
          <a:xfrm>
            <a:off x="7703640" y="2553840"/>
            <a:ext cx="6132960" cy="198000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7"/>
          <p:cNvSpPr/>
          <p:nvPr/>
        </p:nvSpPr>
        <p:spPr>
          <a:xfrm>
            <a:off x="7406280" y="2355480"/>
            <a:ext cx="594720" cy="594720"/>
          </a:xfrm>
          <a:prstGeom prst="roundRect">
            <a:avLst>
              <a:gd name="adj" fmla="val 76846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0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554960" y="2504160"/>
            <a:ext cx="297000" cy="297000"/>
          </a:xfrm>
          <a:prstGeom prst="rect">
            <a:avLst/>
          </a:prstGeom>
          <a:ln w="0">
            <a:noFill/>
          </a:ln>
        </p:spPr>
      </p:pic>
      <p:sp>
        <p:nvSpPr>
          <p:cNvPr id="151" name="Text 8"/>
          <p:cNvSpPr/>
          <p:nvPr/>
        </p:nvSpPr>
        <p:spPr>
          <a:xfrm>
            <a:off x="7604280" y="3132720"/>
            <a:ext cx="372096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Tədricən Tətbiq: Pilot → Miqyaslı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9"/>
          <p:cNvSpPr/>
          <p:nvPr/>
        </p:nvSpPr>
        <p:spPr>
          <a:xfrm>
            <a:off x="7604280" y="3523680"/>
            <a:ext cx="6033960" cy="8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Heç bir uğurlu nümunə birbaşa tam miqyaslı tətbiqlə başlamamışdır. Kiçik pilotdan öyrənmək, düzəltmək, sonra genişləndirmək əsas prinsipdir.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0"/>
          <p:cNvSpPr/>
          <p:nvPr/>
        </p:nvSpPr>
        <p:spPr>
          <a:xfrm>
            <a:off x="1090800" y="5267880"/>
            <a:ext cx="6132960" cy="198000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11"/>
          <p:cNvSpPr/>
          <p:nvPr/>
        </p:nvSpPr>
        <p:spPr>
          <a:xfrm>
            <a:off x="793440" y="5069520"/>
            <a:ext cx="594720" cy="594720"/>
          </a:xfrm>
          <a:prstGeom prst="roundRect">
            <a:avLst>
              <a:gd name="adj" fmla="val 76846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5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42120" y="5218200"/>
            <a:ext cx="297000" cy="297000"/>
          </a:xfrm>
          <a:prstGeom prst="rect">
            <a:avLst/>
          </a:prstGeom>
          <a:ln w="0">
            <a:noFill/>
          </a:ln>
        </p:spPr>
      </p:pic>
      <p:sp>
        <p:nvSpPr>
          <p:cNvPr id="156" name="Text 12"/>
          <p:cNvSpPr/>
          <p:nvPr/>
        </p:nvSpPr>
        <p:spPr>
          <a:xfrm>
            <a:off x="991440" y="5846400"/>
            <a:ext cx="262080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İcraçı Səviyyəli Dəstək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991440" y="6237360"/>
            <a:ext cx="6033960" cy="8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Uğurlu layihələrin hamısında ən yüksək rəhbərlik tərəfindən aktiv dəstək mövcuddur. Rəhbərliyin öhdəliyi resurs ayırma və mədəni dəyişikliyi mümkün edir.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4"/>
          <p:cNvSpPr/>
          <p:nvPr/>
        </p:nvSpPr>
        <p:spPr>
          <a:xfrm>
            <a:off x="7703640" y="4970520"/>
            <a:ext cx="6132960" cy="198000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15"/>
          <p:cNvSpPr/>
          <p:nvPr/>
        </p:nvSpPr>
        <p:spPr>
          <a:xfrm>
            <a:off x="7406280" y="4771800"/>
            <a:ext cx="594720" cy="594720"/>
          </a:xfrm>
          <a:prstGeom prst="roundRect">
            <a:avLst>
              <a:gd name="adj" fmla="val 76846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0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554960" y="4920840"/>
            <a:ext cx="297000" cy="297000"/>
          </a:xfrm>
          <a:prstGeom prst="rect">
            <a:avLst/>
          </a:prstGeom>
          <a:ln w="0">
            <a:noFill/>
          </a:ln>
        </p:spPr>
      </p:pic>
      <p:sp>
        <p:nvSpPr>
          <p:cNvPr id="161" name="Text 16"/>
          <p:cNvSpPr/>
          <p:nvPr/>
        </p:nvSpPr>
        <p:spPr>
          <a:xfrm>
            <a:off x="7604280" y="5549040"/>
            <a:ext cx="244440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Etik və Hüquqi Audit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7"/>
          <p:cNvSpPr/>
          <p:nvPr/>
        </p:nvSpPr>
        <p:spPr>
          <a:xfrm>
            <a:off x="7604280" y="5940000"/>
            <a:ext cx="6033960" cy="5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 sistemləri tətbiq öncəsində, zamanı və sonrasında etik prinsiplər, məxfilik qanunları və şəffaflıq tələbləri baxımından audita tabi tutulur.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863640" y="1137960"/>
            <a:ext cx="621072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Uğursuzluğun Səbəbləri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863640" y="218340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 layihələrinin böyük hissəsi texnoloji deyil, idarəçilik problemləri üzündən uğursuz olur. Bu riskləri erkən tanımaq layihə müvəffəqiyyəti üçün həlledicidir.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863640" y="3074040"/>
            <a:ext cx="6343200" cy="1900440"/>
          </a:xfrm>
          <a:prstGeom prst="roundRect">
            <a:avLst>
              <a:gd name="adj" fmla="val 7697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833400" y="3074040"/>
            <a:ext cx="121680" cy="190044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1201680" y="3320280"/>
            <a:ext cx="27478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Keyfiyyətsiz Məlumat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1201680" y="3756600"/>
            <a:ext cx="575892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 yalnız mövcud məlumat qədər yaxşıdır. Natamam, köhnə və ya qərəzli məlumatlar modelin nəticələrini korlar. "Zibil içəri, zibil çölə" prinsipi burada tam olaraq tətbiq olunur.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6"/>
          <p:cNvSpPr/>
          <p:nvPr/>
        </p:nvSpPr>
        <p:spPr>
          <a:xfrm>
            <a:off x="7423200" y="3074040"/>
            <a:ext cx="6343200" cy="1900440"/>
          </a:xfrm>
          <a:prstGeom prst="roundRect">
            <a:avLst>
              <a:gd name="adj" fmla="val 7697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7392600" y="3074040"/>
            <a:ext cx="121680" cy="190044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7760880" y="3320280"/>
            <a:ext cx="26092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İşçilərin Müqaviməti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7760880" y="3756600"/>
            <a:ext cx="575892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İşini itirmək qorxusu, yeni texnologiyaya adaptsasiya çətinliyi və dəyişiklik idarəetməsinin zəifliyi tətbiqin önündə ən böyük maneədir. İnsan amili həmişə texniki amildən üstündür.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0"/>
          <p:cNvSpPr/>
          <p:nvPr/>
        </p:nvSpPr>
        <p:spPr>
          <a:xfrm>
            <a:off x="863640" y="5190840"/>
            <a:ext cx="6343200" cy="1900440"/>
          </a:xfrm>
          <a:prstGeom prst="roundRect">
            <a:avLst>
              <a:gd name="adj" fmla="val 7697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11"/>
          <p:cNvSpPr/>
          <p:nvPr/>
        </p:nvSpPr>
        <p:spPr>
          <a:xfrm>
            <a:off x="833400" y="5190840"/>
            <a:ext cx="121680" cy="190044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1201680" y="5437080"/>
            <a:ext cx="32385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Real Olmayan Gözləntilər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3"/>
          <p:cNvSpPr/>
          <p:nvPr/>
        </p:nvSpPr>
        <p:spPr>
          <a:xfrm>
            <a:off x="1201680" y="5873400"/>
            <a:ext cx="575892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"SI hər şeyi həll edəcək" mentaliteti layihəni başlamazdan məhv edir. SI güclü, lakin spesifik bir alətdir — sehrli çubuq deyil. Ölçülə bilən, realist hədəflər vacibdir.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4"/>
          <p:cNvSpPr/>
          <p:nvPr/>
        </p:nvSpPr>
        <p:spPr>
          <a:xfrm>
            <a:off x="7423200" y="5190840"/>
            <a:ext cx="6343200" cy="1900440"/>
          </a:xfrm>
          <a:prstGeom prst="roundRect">
            <a:avLst>
              <a:gd name="adj" fmla="val 7697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15"/>
          <p:cNvSpPr/>
          <p:nvPr/>
        </p:nvSpPr>
        <p:spPr>
          <a:xfrm>
            <a:off x="7392600" y="5190840"/>
            <a:ext cx="121680" cy="190044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6"/>
          <p:cNvSpPr/>
          <p:nvPr/>
        </p:nvSpPr>
        <p:spPr>
          <a:xfrm>
            <a:off x="7760880" y="5437080"/>
            <a:ext cx="31546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Etikayı Nəzərə Almamaq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7"/>
          <p:cNvSpPr/>
          <p:nvPr/>
        </p:nvSpPr>
        <p:spPr>
          <a:xfrm>
            <a:off x="7760880" y="5873400"/>
            <a:ext cx="575892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Şəffaflıq, məxfilik və ədalətlilik məsələlərini göz ardı etmək ictimai etibarı sarsıdır, hüquqi risklər yaradır və layihənin tamamilə dayandırılmasına gətirib çıxara bilər.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2252520" y="401400"/>
            <a:ext cx="688356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149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Təşkilatın SI Yetkinlik Qiymətləndirilməsi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2252520" y="987480"/>
            <a:ext cx="1012500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 tətbiqinə başlamazdan əvvəl hər bir təşkilat özünə bu dörd əsas sualı verməlidir. Bu suallar həm dövlət qurumları, həm də özəl korporasiyalar üçün eyni dərəcədə aktualdır.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3" name="Image 0" descr="preencoded.png"/>
          <p:cNvPicPr/>
          <p:nvPr/>
        </p:nvPicPr>
        <p:blipFill>
          <a:blip r:embed="rId1"/>
          <a:stretch/>
        </p:blipFill>
        <p:spPr>
          <a:xfrm>
            <a:off x="2252520" y="1441440"/>
            <a:ext cx="10125000" cy="5650920"/>
          </a:xfrm>
          <a:prstGeom prst="rect">
            <a:avLst/>
          </a:prstGeom>
          <a:ln w="0">
            <a:noFill/>
          </a:ln>
        </p:spPr>
      </p:pic>
      <p:pic>
        <p:nvPicPr>
          <p:cNvPr id="184" name="Image 1" descr="preencoded.png"/>
          <p:cNvPicPr/>
          <p:nvPr/>
        </p:nvPicPr>
        <p:blipFill>
          <a:blip r:embed="rId2"/>
          <a:stretch/>
        </p:blipFill>
        <p:spPr>
          <a:xfrm>
            <a:off x="2252520" y="1441440"/>
            <a:ext cx="10125000" cy="5650920"/>
          </a:xfrm>
          <a:prstGeom prst="rect">
            <a:avLst/>
          </a:prstGeom>
          <a:ln w="0">
            <a:noFill/>
          </a:ln>
        </p:spPr>
      </p:pic>
      <p:sp>
        <p:nvSpPr>
          <p:cNvPr id="185" name="Shape 2"/>
          <p:cNvSpPr/>
          <p:nvPr/>
        </p:nvSpPr>
        <p:spPr>
          <a:xfrm>
            <a:off x="2252520" y="7196760"/>
            <a:ext cx="10125000" cy="631080"/>
          </a:xfrm>
          <a:prstGeom prst="roundRect">
            <a:avLst>
              <a:gd name="adj" fmla="val 3355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6" name="Image 2" descr="preencoded.png"/>
          <p:cNvPicPr/>
          <p:nvPr/>
        </p:nvPicPr>
        <p:blipFill>
          <a:blip r:embed="rId3"/>
          <a:stretch/>
        </p:blipFill>
        <p:spPr>
          <a:xfrm>
            <a:off x="2393640" y="7378920"/>
            <a:ext cx="176040" cy="140760"/>
          </a:xfrm>
          <a:prstGeom prst="rect">
            <a:avLst/>
          </a:prstGeom>
          <a:ln w="0">
            <a:noFill/>
          </a:ln>
        </p:spPr>
      </p:pic>
      <p:sp>
        <p:nvSpPr>
          <p:cNvPr id="187" name="Text 3"/>
          <p:cNvSpPr/>
          <p:nvPr/>
        </p:nvSpPr>
        <p:spPr>
          <a:xfrm>
            <a:off x="2711160" y="7324200"/>
            <a:ext cx="9524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Bu qiymətləndirmə çərçivəsi bir test deyil — başlanğıc nöqtəsini müəyyən etmək üçün bir güzgüdür. Bütün cavablar "hə" olmadan da SI yolçuluğuna başlamaq mümkündür, lakin zəif sahələri bilmək strategiyanı formalaşdırır.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89" name="Text 0"/>
          <p:cNvSpPr/>
          <p:nvPr/>
        </p:nvSpPr>
        <p:spPr>
          <a:xfrm>
            <a:off x="765360" y="1234800"/>
            <a:ext cx="4348440" cy="54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249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Praktik Tapşırıq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1052280" y="2223360"/>
            <a:ext cx="7326000" cy="5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"Müzakirə olunan dörd nümunədən birini seçin. Hansı elementlər sizin təşkilatınıza və ya ölkənizə uyğunlaşdırıla bilər? Hansı maneələri aradan qaldırmaq lazımdır?"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765360" y="2032920"/>
            <a:ext cx="22680" cy="921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3"/>
          <p:cNvSpPr/>
          <p:nvPr/>
        </p:nvSpPr>
        <p:spPr>
          <a:xfrm>
            <a:off x="765360" y="3146040"/>
            <a:ext cx="2424600" cy="2381760"/>
          </a:xfrm>
          <a:prstGeom prst="roundRect">
            <a:avLst>
              <a:gd name="adj" fmla="val 1205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956520" y="3337200"/>
            <a:ext cx="204192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Addım 1: Nümunə Seçin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956520" y="3982320"/>
            <a:ext cx="204192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Estoniya, Sinqapur, Unilever və ya Maersk nümunələrindən öz kontekstinizə ən uyğun olanını seçin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6"/>
          <p:cNvSpPr/>
          <p:nvPr/>
        </p:nvSpPr>
        <p:spPr>
          <a:xfrm>
            <a:off x="3359520" y="3146040"/>
            <a:ext cx="2424600" cy="2381760"/>
          </a:xfrm>
          <a:prstGeom prst="roundRect">
            <a:avLst>
              <a:gd name="adj" fmla="val 1205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3551040" y="3337200"/>
            <a:ext cx="2041920" cy="81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Addım 2: Uyğunluğu Qiymətləndirin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3551040" y="4254120"/>
            <a:ext cx="2041920" cy="10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Seçdiyiniz nümunənin hansı elementlərinin öz mühitinizdə tətbiq oluna biləcəyini müəyyən edin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9"/>
          <p:cNvSpPr/>
          <p:nvPr/>
        </p:nvSpPr>
        <p:spPr>
          <a:xfrm>
            <a:off x="5953680" y="3146040"/>
            <a:ext cx="2424600" cy="2381760"/>
          </a:xfrm>
          <a:prstGeom prst="roundRect">
            <a:avLst>
              <a:gd name="adj" fmla="val 1205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10"/>
          <p:cNvSpPr/>
          <p:nvPr/>
        </p:nvSpPr>
        <p:spPr>
          <a:xfrm>
            <a:off x="6145200" y="3337200"/>
            <a:ext cx="2041920" cy="81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Addım 3: Maneələri Müəyyən Edin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1"/>
          <p:cNvSpPr/>
          <p:nvPr/>
        </p:nvSpPr>
        <p:spPr>
          <a:xfrm>
            <a:off x="6145200" y="4254120"/>
            <a:ext cx="2041920" cy="10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Tətbiq yolundakı əsas çətinlikləri — texnoloji, insan, hüquqi — sıralayın və prioritetləşdirin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2"/>
          <p:cNvSpPr/>
          <p:nvPr/>
        </p:nvSpPr>
        <p:spPr>
          <a:xfrm>
            <a:off x="765360" y="5697360"/>
            <a:ext cx="7612920" cy="1297080"/>
          </a:xfrm>
          <a:prstGeom prst="roundRect">
            <a:avLst>
              <a:gd name="adj" fmla="val 2212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3"/>
          <p:cNvSpPr/>
          <p:nvPr/>
        </p:nvSpPr>
        <p:spPr>
          <a:xfrm>
            <a:off x="956520" y="5888520"/>
            <a:ext cx="2954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Addım 4: Qrup Müzakirəsi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14"/>
          <p:cNvSpPr/>
          <p:nvPr/>
        </p:nvSpPr>
        <p:spPr>
          <a:xfrm>
            <a:off x="956520" y="6261840"/>
            <a:ext cx="7230240" cy="5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Nəticələrinizi qrupla paylaşın. Müxtəlif kontekstlər üçün müxtəlif həll yollarını müqayisə edin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>
            <a:off x="5029200" y="84600"/>
            <a:ext cx="3429000" cy="6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9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Test Tapşırığı L12</a:t>
            </a:r>
            <a:endParaRPr b="0" lang="en-US" sz="2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" descr=""/>
          <p:cNvPicPr/>
          <p:nvPr/>
        </p:nvPicPr>
        <p:blipFill>
          <a:blip r:embed="rId1"/>
          <a:stretch/>
        </p:blipFill>
        <p:spPr>
          <a:xfrm>
            <a:off x="3239640" y="685800"/>
            <a:ext cx="7275960" cy="7275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2026-03-27T15:14:44Z</dcterms:created>
  <dc:creator/>
  <dc:description/>
  <dc:language>en-US</dc:language>
  <cp:lastModifiedBy/>
  <dcterms:modified xsi:type="dcterms:W3CDTF">2026-03-27T19:25:05Z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