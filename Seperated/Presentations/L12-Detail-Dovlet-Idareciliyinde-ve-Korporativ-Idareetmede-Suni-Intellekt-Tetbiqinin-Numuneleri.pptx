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theme/theme3.xml" ContentType="application/vnd.openxmlformats-officedocument.theme+xml"/>
  <Override PartName="/ppt/slideLayouts/slideLayout4.xml" ContentType="application/vnd.openxmlformats-officedocument.presentationml.slideLayout+xml"/>
  <Override PartName="/ppt/theme/theme4.xml" ContentType="application/vnd.openxmlformats-officedocument.theme+xml"/>
  <Override PartName="/ppt/slideLayouts/slideLayout5.xml" ContentType="application/vnd.openxmlformats-officedocument.presentationml.slideLayout+xml"/>
  <Override PartName="/ppt/theme/theme5.xml" ContentType="application/vnd.openxmlformats-officedocument.theme+xml"/>
  <Override PartName="/ppt/slideLayouts/slideLayout6.xml" ContentType="application/vnd.openxmlformats-officedocument.presentationml.slideLayout+xml"/>
  <Override PartName="/ppt/theme/theme6.xml" ContentType="application/vnd.openxmlformats-officedocument.theme+xml"/>
  <Override PartName="/ppt/slideLayouts/slideLayout7.xml" ContentType="application/vnd.openxmlformats-officedocument.presentationml.slideLayout+xml"/>
  <Override PartName="/ppt/theme/theme7.xml" ContentType="application/vnd.openxmlformats-officedocument.theme+xml"/>
  <Override PartName="/ppt/slideLayouts/slideLayout8.xml" ContentType="application/vnd.openxmlformats-officedocument.presentationml.slideLayout+xml"/>
  <Override PartName="/ppt/theme/theme8.xml" ContentType="application/vnd.openxmlformats-officedocument.theme+xml"/>
  <Override PartName="/ppt/slideLayouts/slideLayout9.xml" ContentType="application/vnd.openxmlformats-officedocument.presentationml.slideLayout+xml"/>
  <Override PartName="/ppt/theme/theme9.xml" ContentType="application/vnd.openxmlformats-officedocument.theme+xml"/>
  <Override PartName="/ppt/slideLayouts/slideLayout10.xml" ContentType="application/vnd.openxmlformats-officedocument.presentationml.slideLayout+xml"/>
  <Override PartName="/ppt/theme/theme10.xml" ContentType="application/vnd.openxmlformats-officedocument.theme+xml"/>
  <Override PartName="/ppt/slideLayouts/slideLayout11.xml" ContentType="application/vnd.openxmlformats-officedocument.presentationml.slideLayout+xml"/>
  <Override PartName="/ppt/theme/theme11.xml" ContentType="application/vnd.openxmlformats-officedocument.theme+xml"/>
  <Override PartName="/ppt/slideLayouts/slideLayout12.xml" ContentType="application/vnd.openxmlformats-officedocument.presentationml.slideLayout+xml"/>
  <Override PartName="/ppt/theme/theme12.xml" ContentType="application/vnd.openxmlformats-officedocument.theme+xml"/>
  <Override PartName="/ppt/theme/theme1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  <p:sldMasterId id="2147483670" r:id="rId12"/>
  </p:sldMasterIdLst>
  <p:notesMasterIdLst>
    <p:notesMasterId r:id="rId25"/>
  </p:notes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</p:sldIdLst>
  <p:sldSz cx="14630400" cy="8229600"/>
  <p:notesSz cx="8229600" cy="14630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8" d="100"/>
          <a:sy n="88" d="100"/>
        </p:scale>
        <p:origin x="76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1.xml"/><Relationship Id="rId18" Type="http://schemas.openxmlformats.org/officeDocument/2006/relationships/slide" Target="slides/slide6.xml"/><Relationship Id="rId26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9.xml"/><Relationship Id="rId7" Type="http://schemas.openxmlformats.org/officeDocument/2006/relationships/slideMaster" Target="slideMasters/slideMaster7.xml"/><Relationship Id="rId12" Type="http://schemas.openxmlformats.org/officeDocument/2006/relationships/slideMaster" Target="slideMasters/slideMaster12.xml"/><Relationship Id="rId17" Type="http://schemas.openxmlformats.org/officeDocument/2006/relationships/slide" Target="slides/slide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4.xml"/><Relationship Id="rId20" Type="http://schemas.openxmlformats.org/officeDocument/2006/relationships/slide" Target="slides/slide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24" Type="http://schemas.openxmlformats.org/officeDocument/2006/relationships/slide" Target="slides/slide12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3.xml"/><Relationship Id="rId23" Type="http://schemas.openxmlformats.org/officeDocument/2006/relationships/slide" Target="slides/slide11.xml"/><Relationship Id="rId28" Type="http://schemas.openxmlformats.org/officeDocument/2006/relationships/theme" Target="theme/theme1.xml"/><Relationship Id="rId10" Type="http://schemas.openxmlformats.org/officeDocument/2006/relationships/slideMaster" Target="slideMasters/slideMaster10.xml"/><Relationship Id="rId19" Type="http://schemas.openxmlformats.org/officeDocument/2006/relationships/slide" Target="slides/slide7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2.xml"/><Relationship Id="rId22" Type="http://schemas.openxmlformats.org/officeDocument/2006/relationships/slide" Target="slides/slide10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/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move the slide</a:t>
            </a: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-2160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4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4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4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4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3C62B906-2419-4907-9B28-DB029DE8B9F9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7855C14-D348-4B92-9A3E-4C14722A91DE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EC7C588-7E71-4834-B65F-6D4AA1381E06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2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4817695-1102-4127-8BB3-9AE0A4EBF3B3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3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1C36E13-4B25-4C3E-BFC0-32E82EA67108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4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C1FE6CB-9D0C-4EF1-8C58-9E7EC4538424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5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87D487F-3D0F-49C1-B2A6-400F41AA20BE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6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E3221B5-D679-4810-94D7-EF3614B6BA9D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7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04AE625-EFB4-445F-BD1F-7817B986A979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8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0BCB557-6A17-48AA-8562-D11702754309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9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2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33D52FA-11C3-4A75-9652-4C12C86FD81A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10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16000" indent="-216000">
              <a:buNone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3CA2E5C-4964-42A8-ACDC-83C67A16D4B5}" type="slidenum">
              <a:rPr lang="en-US" sz="1200" b="0" strike="noStrike" spc="-1">
                <a:solidFill>
                  <a:srgbClr val="000000"/>
                </a:solidFill>
                <a:latin typeface="Times New Roman"/>
              </a:rPr>
              <a:t>11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1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3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4.xml"/></Relationships>
</file>

<file path=ppt/slideMasters/_rels/slideMaster5.xml.rels><?xml version="1.0" encoding="UTF-8" standalone="yes"?>
<Relationships xmlns="http://schemas.openxmlformats.org/package/2006/relationships"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5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6.xml"/></Relationships>
</file>

<file path=ppt/slideMasters/_rels/slideMaster7.xml.rels><?xml version="1.0" encoding="UTF-8" standalone="yes"?>
<Relationships xmlns="http://schemas.openxmlformats.org/package/2006/relationships"><Relationship Id="rId2" Type="http://schemas.openxmlformats.org/officeDocument/2006/relationships/theme" Target="../theme/theme7.xml"/><Relationship Id="rId1" Type="http://schemas.openxmlformats.org/officeDocument/2006/relationships/slideLayout" Target="../slideLayouts/slideLayout7.xml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theme" Target="../theme/theme8.xml"/><Relationship Id="rId1" Type="http://schemas.openxmlformats.org/officeDocument/2006/relationships/slideLayout" Target="../slideLayouts/slideLayout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theme" Target="../theme/theme9.xml"/><Relationship Id="rId1" Type="http://schemas.openxmlformats.org/officeDocument/2006/relationships/slideLayout" Target="../slideLayouts/slideLayout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theme" Target="../theme/theme10.xml"/><Relationship Id="rId1" Type="http://schemas.openxmlformats.org/officeDocument/2006/relationships/slideLayout" Target="../slideLayouts/slideLayout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1.xml"/><Relationship Id="rId1" Type="http://schemas.openxmlformats.org/officeDocument/2006/relationships/slideLayout" Target="../slideLayouts/slideLayout11.xml"/></Relationships>
</file>

<file path=ppt/slideMasters/_rels/slideMaster12.xml.rels><?xml version="1.0" encoding="UTF-8" standalone="yes"?>
<Relationships xmlns="http://schemas.openxmlformats.org/package/2006/relationships"><Relationship Id="rId2" Type="http://schemas.openxmlformats.org/officeDocument/2006/relationships/theme" Target="../theme/theme1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5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81A1B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 algn="ctr">
              <a:buNone/>
            </a:pPr>
            <a:r>
              <a:rPr lang="en-US" sz="4400" b="0" strike="noStrike" spc="-1">
                <a:solidFill>
                  <a:schemeClr val="dk1"/>
                </a:solidFill>
                <a:latin typeface="Calibri Light"/>
              </a:rPr>
              <a:t>Click to edit the title text format</a:t>
            </a: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chemeClr val="dk1"/>
                </a:solidFill>
                <a:latin typeface="Calibri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solidFill>
                  <a:schemeClr val="dk1"/>
                </a:solidFill>
                <a:latin typeface="Calibri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chemeClr val="dk1"/>
                </a:solidFill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Image 0" descr="preencoded.png"/>
          <p:cNvPicPr/>
          <p:nvPr/>
        </p:nvPicPr>
        <p:blipFill>
          <a:blip r:embed="rId3"/>
          <a:stretch/>
        </p:blipFill>
        <p:spPr>
          <a:xfrm>
            <a:off x="914400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51" name="Text 0"/>
          <p:cNvSpPr/>
          <p:nvPr/>
        </p:nvSpPr>
        <p:spPr>
          <a:xfrm>
            <a:off x="863640" y="2240280"/>
            <a:ext cx="7416000" cy="2453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en-US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Dövlət İdarəçiliyində və Korporativ İdarəetmədə Süni İntellekt Tətbiqinin Nümunələri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863640" y="5018400"/>
            <a:ext cx="7416000" cy="32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12-ci Sessiya · İdarəçilik və Süni İntellekt Proqramı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Shape 2"/>
          <p:cNvSpPr/>
          <p:nvPr/>
        </p:nvSpPr>
        <p:spPr>
          <a:xfrm>
            <a:off x="863640" y="5585400"/>
            <a:ext cx="1740960" cy="403560"/>
          </a:xfrm>
          <a:prstGeom prst="roundRect">
            <a:avLst>
              <a:gd name="adj" fmla="val 6417"/>
            </a:avLst>
          </a:prstGeom>
          <a:noFill/>
          <a:ln w="762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3"/>
          <p:cNvSpPr/>
          <p:nvPr/>
        </p:nvSpPr>
        <p:spPr>
          <a:xfrm>
            <a:off x="1000800" y="5657760"/>
            <a:ext cx="1466640" cy="25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001"/>
              </a:lnSpc>
              <a:tabLst>
                <a:tab pos="0" algn="l"/>
              </a:tabLst>
            </a:pPr>
            <a:r>
              <a:rPr lang="en-US" sz="1350" b="0" strike="noStrike" spc="-1">
                <a:solidFill>
                  <a:srgbClr val="FFFFFF"/>
                </a:solidFill>
                <a:latin typeface="Source Sans 3"/>
                <a:ea typeface="Source Sans 3"/>
              </a:rPr>
              <a:t>MÜQAYISƏLI TƏHLIL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Shape 4"/>
          <p:cNvSpPr/>
          <p:nvPr/>
        </p:nvSpPr>
        <p:spPr>
          <a:xfrm>
            <a:off x="2712960" y="5585400"/>
            <a:ext cx="2235600" cy="403560"/>
          </a:xfrm>
          <a:prstGeom prst="roundRect">
            <a:avLst>
              <a:gd name="adj" fmla="val 6417"/>
            </a:avLst>
          </a:prstGeom>
          <a:noFill/>
          <a:ln w="7620">
            <a:solidFill>
              <a:srgbClr val="FFFFF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5"/>
          <p:cNvSpPr/>
          <p:nvPr/>
        </p:nvSpPr>
        <p:spPr>
          <a:xfrm>
            <a:off x="2850120" y="5657760"/>
            <a:ext cx="1961280" cy="25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001"/>
              </a:lnSpc>
              <a:tabLst>
                <a:tab pos="0" algn="l"/>
              </a:tabLst>
            </a:pPr>
            <a:r>
              <a:rPr lang="en-US" sz="1350" b="0" strike="noStrike" spc="-1">
                <a:solidFill>
                  <a:srgbClr val="FFFFFF"/>
                </a:solidFill>
                <a:latin typeface="Source Sans 3"/>
                <a:ea typeface="Source Sans 3"/>
              </a:rPr>
              <a:t>REAL DÜNYA NÜMUNƏLƏRI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 0"/>
          <p:cNvSpPr/>
          <p:nvPr/>
        </p:nvSpPr>
        <p:spPr>
          <a:xfrm>
            <a:off x="863640" y="1429560"/>
            <a:ext cx="275148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Bu Dərsin Məqsədləri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1"/>
          <p:cNvSpPr/>
          <p:nvPr/>
        </p:nvSpPr>
        <p:spPr>
          <a:xfrm>
            <a:off x="863640" y="1822680"/>
            <a:ext cx="665568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en-US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Bu gün nəyi öyrənəcəyik?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2"/>
          <p:cNvSpPr/>
          <p:nvPr/>
        </p:nvSpPr>
        <p:spPr>
          <a:xfrm>
            <a:off x="863640" y="2760120"/>
            <a:ext cx="12902400" cy="64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Bu sessiyada süni intellektin nazirliklərdən tutmuş çoxmillətli korporasiyalara qədər böyük sistemlərdə necə tətbiq edildiyini real nümunələr vasitəsilə araşdıracağıq. Nəzəriyyədən praktikaya keçid edirik.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3"/>
          <p:cNvSpPr/>
          <p:nvPr/>
        </p:nvSpPr>
        <p:spPr>
          <a:xfrm>
            <a:off x="863640" y="3974760"/>
            <a:ext cx="4156560" cy="2824560"/>
          </a:xfrm>
          <a:prstGeom prst="roundRect">
            <a:avLst>
              <a:gd name="adj" fmla="val 5179"/>
            </a:avLst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Shape 4"/>
          <p:cNvSpPr/>
          <p:nvPr/>
        </p:nvSpPr>
        <p:spPr>
          <a:xfrm>
            <a:off x="863640" y="3944160"/>
            <a:ext cx="4156560" cy="121680"/>
          </a:xfrm>
          <a:prstGeom prst="roundRect">
            <a:avLst>
              <a:gd name="adj" fmla="val 26572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5"/>
          <p:cNvSpPr/>
          <p:nvPr/>
        </p:nvSpPr>
        <p:spPr>
          <a:xfrm>
            <a:off x="2618280" y="3650760"/>
            <a:ext cx="647280" cy="647280"/>
          </a:xfrm>
          <a:prstGeom prst="roundRect">
            <a:avLst>
              <a:gd name="adj" fmla="val 141151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2812680" y="3812760"/>
            <a:ext cx="258840" cy="32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3050"/>
              </a:lnSpc>
              <a:tabLst>
                <a:tab pos="0" algn="l"/>
              </a:tabLst>
            </a:pPr>
            <a:r>
              <a:rPr lang="en-US" sz="2000" b="1" strike="noStrike" spc="-1">
                <a:solidFill>
                  <a:srgbClr val="000000"/>
                </a:solidFill>
                <a:latin typeface="Montserrat Bold"/>
                <a:ea typeface="Montserrat Bold"/>
              </a:rPr>
              <a:t>1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1110240" y="4514760"/>
            <a:ext cx="366408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Real Nümunələri Təhlil Etmək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Text 8"/>
          <p:cNvSpPr/>
          <p:nvPr/>
        </p:nvSpPr>
        <p:spPr>
          <a:xfrm>
            <a:off x="1110240" y="5257440"/>
            <a:ext cx="3664080" cy="9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Estoniya, Sinqapur, Unilever və Maersk kimi öncül təşkilatların SI tətbiqlərini öyrənmək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9"/>
          <p:cNvSpPr/>
          <p:nvPr/>
        </p:nvSpPr>
        <p:spPr>
          <a:xfrm>
            <a:off x="5236560" y="3974760"/>
            <a:ext cx="4156560" cy="2824560"/>
          </a:xfrm>
          <a:prstGeom prst="roundRect">
            <a:avLst>
              <a:gd name="adj" fmla="val 5179"/>
            </a:avLst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Shape 10"/>
          <p:cNvSpPr/>
          <p:nvPr/>
        </p:nvSpPr>
        <p:spPr>
          <a:xfrm>
            <a:off x="5236560" y="3944160"/>
            <a:ext cx="4156560" cy="121680"/>
          </a:xfrm>
          <a:prstGeom prst="roundRect">
            <a:avLst>
              <a:gd name="adj" fmla="val 26572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1"/>
          <p:cNvSpPr/>
          <p:nvPr/>
        </p:nvSpPr>
        <p:spPr>
          <a:xfrm>
            <a:off x="6991200" y="3650760"/>
            <a:ext cx="647280" cy="647280"/>
          </a:xfrm>
          <a:prstGeom prst="roundRect">
            <a:avLst>
              <a:gd name="adj" fmla="val 141151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7185600" y="3812760"/>
            <a:ext cx="258840" cy="32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3050"/>
              </a:lnSpc>
              <a:tabLst>
                <a:tab pos="0" algn="l"/>
              </a:tabLst>
            </a:pPr>
            <a:r>
              <a:rPr lang="en-US" sz="2000" b="1" strike="noStrike" spc="-1">
                <a:solidFill>
                  <a:srgbClr val="000000"/>
                </a:solidFill>
                <a:latin typeface="Montserrat Bold"/>
                <a:ea typeface="Montserrat Bold"/>
              </a:rPr>
              <a:t>2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13"/>
          <p:cNvSpPr/>
          <p:nvPr/>
        </p:nvSpPr>
        <p:spPr>
          <a:xfrm>
            <a:off x="5482800" y="4514760"/>
            <a:ext cx="366408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Uğur Amillərini Müəyyənləşdirmək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14"/>
          <p:cNvSpPr/>
          <p:nvPr/>
        </p:nvSpPr>
        <p:spPr>
          <a:xfrm>
            <a:off x="5482800" y="5257440"/>
            <a:ext cx="3664080" cy="129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Hansı amillərin SI layihələrini müvəffəqiyyətli etdiyini və hansı amillərin uğursuzluğa gətirib çıxardığını anlamaq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5"/>
          <p:cNvSpPr/>
          <p:nvPr/>
        </p:nvSpPr>
        <p:spPr>
          <a:xfrm>
            <a:off x="9609480" y="3974760"/>
            <a:ext cx="4156560" cy="2824560"/>
          </a:xfrm>
          <a:prstGeom prst="roundRect">
            <a:avLst>
              <a:gd name="adj" fmla="val 5179"/>
            </a:avLst>
          </a:prstGeom>
          <a:solidFill>
            <a:srgbClr val="111213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" name="Shape 16"/>
          <p:cNvSpPr/>
          <p:nvPr/>
        </p:nvSpPr>
        <p:spPr>
          <a:xfrm>
            <a:off x="9609480" y="3944160"/>
            <a:ext cx="4156560" cy="121680"/>
          </a:xfrm>
          <a:prstGeom prst="roundRect">
            <a:avLst>
              <a:gd name="adj" fmla="val 26572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7"/>
          <p:cNvSpPr/>
          <p:nvPr/>
        </p:nvSpPr>
        <p:spPr>
          <a:xfrm>
            <a:off x="11364120" y="3650760"/>
            <a:ext cx="647280" cy="647280"/>
          </a:xfrm>
          <a:prstGeom prst="roundRect">
            <a:avLst>
              <a:gd name="adj" fmla="val 141151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18"/>
          <p:cNvSpPr/>
          <p:nvPr/>
        </p:nvSpPr>
        <p:spPr>
          <a:xfrm>
            <a:off x="11558520" y="3812760"/>
            <a:ext cx="258840" cy="323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3050"/>
              </a:lnSpc>
              <a:tabLst>
                <a:tab pos="0" algn="l"/>
              </a:tabLst>
            </a:pPr>
            <a:r>
              <a:rPr lang="en-US" sz="2000" b="1" strike="noStrike" spc="-1">
                <a:solidFill>
                  <a:srgbClr val="000000"/>
                </a:solidFill>
                <a:latin typeface="Montserrat Bold"/>
                <a:ea typeface="Montserrat Bold"/>
              </a:rPr>
              <a:t>3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19"/>
          <p:cNvSpPr/>
          <p:nvPr/>
        </p:nvSpPr>
        <p:spPr>
          <a:xfrm>
            <a:off x="9855720" y="4514760"/>
            <a:ext cx="293688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Praktik Tətbiq Bacarığı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20"/>
          <p:cNvSpPr/>
          <p:nvPr/>
        </p:nvSpPr>
        <p:spPr>
          <a:xfrm>
            <a:off x="9855720" y="4950720"/>
            <a:ext cx="3664080" cy="9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Öz təşkilatınıza və ya ölkənizə uyğun SI həllərini adaptasiya etmək üçün çərçivə yaratmaq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Image 0" descr="preencoded.png"/>
          <p:cNvPicPr/>
          <p:nvPr/>
        </p:nvPicPr>
        <p:blipFill>
          <a:blip r:embed="rId3"/>
          <a:stretch/>
        </p:blipFill>
        <p:spPr>
          <a:xfrm>
            <a:off x="914400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79" name="Text 0"/>
          <p:cNvSpPr/>
          <p:nvPr/>
        </p:nvSpPr>
        <p:spPr>
          <a:xfrm>
            <a:off x="863640" y="1514880"/>
            <a:ext cx="662184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en-US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Niyə nümunələr vacibdir?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1"/>
          <p:cNvSpPr/>
          <p:nvPr/>
        </p:nvSpPr>
        <p:spPr>
          <a:xfrm>
            <a:off x="708120" y="2451960"/>
            <a:ext cx="4152600" cy="4262400"/>
          </a:xfrm>
          <a:prstGeom prst="roundRect">
            <a:avLst>
              <a:gd name="adj" fmla="val 780"/>
            </a:avLst>
          </a:prstGeom>
          <a:solidFill>
            <a:srgbClr val="1D1F2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Text 2"/>
          <p:cNvSpPr/>
          <p:nvPr/>
        </p:nvSpPr>
        <p:spPr>
          <a:xfrm>
            <a:off x="924120" y="2667960"/>
            <a:ext cx="301716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Nəzəriyyənin Hüdudları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Text 3"/>
          <p:cNvSpPr/>
          <p:nvPr/>
        </p:nvSpPr>
        <p:spPr>
          <a:xfrm>
            <a:off x="924120" y="3190680"/>
            <a:ext cx="3720960" cy="2267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Nəzəriyyə bizə çərçivə verir, lakin real dünya mürəkkəblikləri — siyasi mühit, insan davranışı, məlumat keyfiyyəti — yalnız praktikada üzə çıxır. Uğurlu nümunələr ən yaxşı yolları göstərir; uğursuz nümunələr isə ən dəyərli dərsləri verir.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4"/>
          <p:cNvSpPr/>
          <p:nvPr/>
        </p:nvSpPr>
        <p:spPr>
          <a:xfrm>
            <a:off x="5240160" y="2667960"/>
            <a:ext cx="304704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Nümunədən Çıxarılan Dərslər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5"/>
          <p:cNvSpPr/>
          <p:nvPr/>
        </p:nvSpPr>
        <p:spPr>
          <a:xfrm>
            <a:off x="5240160" y="3497400"/>
            <a:ext cx="3047040" cy="3141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 marL="343080" indent="-34308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Kontekstin SI tətbiqi üçün nə qədər vacib olduğu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Texnoloji həllin tək başına kifayət etmədiyini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Maraqlı tərəflər idarəçiliyinin uğura təsirini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  <a:p>
            <a:pPr marL="343080" indent="-343080">
              <a:lnSpc>
                <a:spcPts val="2551"/>
              </a:lnSpc>
              <a:buClr>
                <a:srgbClr val="E2E6E9"/>
              </a:buClr>
              <a:buFont typeface="Symbol" charset="2"/>
              <a:buChar char=""/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Etik məsələlərin layihə idarəçiliyinin ayrılmaz hissəsi olduğunu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Shape 0"/>
          <p:cNvSpPr/>
          <p:nvPr/>
        </p:nvSpPr>
        <p:spPr>
          <a:xfrm>
            <a:off x="863640" y="1248480"/>
            <a:ext cx="1062720" cy="388440"/>
          </a:xfrm>
          <a:prstGeom prst="roundRect">
            <a:avLst>
              <a:gd name="adj" fmla="val 6669"/>
            </a:avLst>
          </a:prstGeom>
          <a:solidFill>
            <a:srgbClr val="26262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Text 1"/>
          <p:cNvSpPr/>
          <p:nvPr/>
        </p:nvSpPr>
        <p:spPr>
          <a:xfrm>
            <a:off x="993240" y="1313280"/>
            <a:ext cx="803520" cy="25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001"/>
              </a:lnSpc>
              <a:tabLst>
                <a:tab pos="0" algn="l"/>
              </a:tabLst>
            </a:pPr>
            <a:r>
              <a:rPr lang="en-US" sz="13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NÜMUNƏ 1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 2"/>
          <p:cNvSpPr/>
          <p:nvPr/>
        </p:nvSpPr>
        <p:spPr>
          <a:xfrm>
            <a:off x="863640" y="1723320"/>
            <a:ext cx="919656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en-US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Estoniya — Rəqəmsal Dövlət Modeli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3"/>
          <p:cNvSpPr/>
          <p:nvPr/>
        </p:nvSpPr>
        <p:spPr>
          <a:xfrm>
            <a:off x="863640" y="2660760"/>
            <a:ext cx="12902400" cy="64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Estoniya dünyada ən inkişaf etmiş rəqəmsal dövlət infrastrukturuna malik ölkələrdən biridir. 1990-lardan başlayan rəqəmsallaşma yolçuluğu bu gün tam entegrasiya olunmuş bir ekosistemə çevrilmişdir.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9" name="Image 0" descr="preencoded.png"/>
          <p:cNvPicPr/>
          <p:nvPr/>
        </p:nvPicPr>
        <p:blipFill>
          <a:blip r:embed="rId3"/>
          <a:stretch/>
        </p:blipFill>
        <p:spPr>
          <a:xfrm>
            <a:off x="863640" y="3551760"/>
            <a:ext cx="1812960" cy="1120320"/>
          </a:xfrm>
          <a:prstGeom prst="rect">
            <a:avLst/>
          </a:prstGeom>
          <a:ln w="0">
            <a:noFill/>
          </a:ln>
        </p:spPr>
      </p:pic>
      <p:sp>
        <p:nvSpPr>
          <p:cNvPr id="90" name="Text 4"/>
          <p:cNvSpPr/>
          <p:nvPr/>
        </p:nvSpPr>
        <p:spPr>
          <a:xfrm>
            <a:off x="863640" y="4942080"/>
            <a:ext cx="306756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e-Rezidentura Proqramı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Text 5"/>
          <p:cNvSpPr/>
          <p:nvPr/>
        </p:nvSpPr>
        <p:spPr>
          <a:xfrm>
            <a:off x="863640" y="5378400"/>
            <a:ext cx="4120560" cy="129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Dünyada ilk ölkə olaraq Estoniya qeyri-vətəndaşlara rəqəmsal kimlik verməyə başladı. Bu, 100.000-dən çox e-rezidentin Avropa İttifaqı bazarına çıxışını mümkün etdi.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2" name="Image 1" descr="preencoded.png"/>
          <p:cNvPicPr/>
          <p:nvPr/>
        </p:nvPicPr>
        <p:blipFill>
          <a:blip r:embed="rId4"/>
          <a:stretch/>
        </p:blipFill>
        <p:spPr>
          <a:xfrm>
            <a:off x="5254560" y="3551760"/>
            <a:ext cx="1812960" cy="1120320"/>
          </a:xfrm>
          <a:prstGeom prst="rect">
            <a:avLst/>
          </a:prstGeom>
          <a:ln w="0">
            <a:noFill/>
          </a:ln>
        </p:spPr>
      </p:pic>
      <p:sp>
        <p:nvSpPr>
          <p:cNvPr id="93" name="Text 6"/>
          <p:cNvSpPr/>
          <p:nvPr/>
        </p:nvSpPr>
        <p:spPr>
          <a:xfrm>
            <a:off x="5254560" y="4942080"/>
            <a:ext cx="412056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Avtomatlaşdırılmış Dövlət Xidmətləri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 7"/>
          <p:cNvSpPr/>
          <p:nvPr/>
        </p:nvSpPr>
        <p:spPr>
          <a:xfrm>
            <a:off x="5254560" y="5685120"/>
            <a:ext cx="4120560" cy="129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Vergi bəyannaməsinin 98%-i onlayn təqdim edilir. Xəstəxana qeydiyyatı, hüquq xidmətləri və dövlət müavinətləri tam rəqəmsal platformada idarə olunur.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5" name="Image 2" descr="preencoded.png"/>
          <p:cNvPicPr/>
          <p:nvPr/>
        </p:nvPicPr>
        <p:blipFill>
          <a:blip r:embed="rId5"/>
          <a:stretch/>
        </p:blipFill>
        <p:spPr>
          <a:xfrm>
            <a:off x="9645480" y="3551760"/>
            <a:ext cx="1812960" cy="1120320"/>
          </a:xfrm>
          <a:prstGeom prst="rect">
            <a:avLst/>
          </a:prstGeom>
          <a:ln w="0">
            <a:noFill/>
          </a:ln>
        </p:spPr>
      </p:pic>
      <p:sp>
        <p:nvSpPr>
          <p:cNvPr id="96" name="Text 8"/>
          <p:cNvSpPr/>
          <p:nvPr/>
        </p:nvSpPr>
        <p:spPr>
          <a:xfrm>
            <a:off x="9645480" y="4942080"/>
            <a:ext cx="334944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SI ilə Sosial Risk Proqnozu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9"/>
          <p:cNvSpPr/>
          <p:nvPr/>
        </p:nvSpPr>
        <p:spPr>
          <a:xfrm>
            <a:off x="9645480" y="5378400"/>
            <a:ext cx="4120560" cy="129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Məktəbdən yayınma, uşaq yoxsulluğu və sosial böhranları erkən aşkarlamaq üçün SI modellərindən istifadə edilir. Bu, dövlət müdaxiləsini daha effektiv edir.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Shape 0"/>
          <p:cNvSpPr/>
          <p:nvPr/>
        </p:nvSpPr>
        <p:spPr>
          <a:xfrm>
            <a:off x="863640" y="1134000"/>
            <a:ext cx="1062720" cy="388440"/>
          </a:xfrm>
          <a:prstGeom prst="roundRect">
            <a:avLst>
              <a:gd name="adj" fmla="val 6669"/>
            </a:avLst>
          </a:prstGeom>
          <a:solidFill>
            <a:srgbClr val="26262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" name="Text 1"/>
          <p:cNvSpPr/>
          <p:nvPr/>
        </p:nvSpPr>
        <p:spPr>
          <a:xfrm>
            <a:off x="993240" y="1198800"/>
            <a:ext cx="803520" cy="25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001"/>
              </a:lnSpc>
              <a:tabLst>
                <a:tab pos="0" algn="l"/>
              </a:tabLst>
            </a:pPr>
            <a:r>
              <a:rPr lang="en-US" sz="13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NÜMUNƏ 2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2"/>
          <p:cNvSpPr/>
          <p:nvPr/>
        </p:nvSpPr>
        <p:spPr>
          <a:xfrm>
            <a:off x="863640" y="1608840"/>
            <a:ext cx="914148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en-US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Sinqapur — Ağıllı Millət Strategiyası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3"/>
          <p:cNvSpPr/>
          <p:nvPr/>
        </p:nvSpPr>
        <p:spPr>
          <a:xfrm>
            <a:off x="863640" y="2546280"/>
            <a:ext cx="12902400" cy="64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Sinqapur 2014-cü ildə elan etdiyi "Smart Nation" proqramı ilə şəhər idarəçiliyini kökündən dəyişdirdi. Dövlət, özəl sektor və akademik dünya arasındakı əməkdaşlıq bu uğurun əsasını təşkil edir.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Shape 4"/>
          <p:cNvSpPr/>
          <p:nvPr/>
        </p:nvSpPr>
        <p:spPr>
          <a:xfrm>
            <a:off x="863640" y="3437280"/>
            <a:ext cx="4156560" cy="3657960"/>
          </a:xfrm>
          <a:prstGeom prst="roundRect">
            <a:avLst>
              <a:gd name="adj" fmla="val 886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" name="Shape 5"/>
          <p:cNvSpPr/>
          <p:nvPr/>
        </p:nvSpPr>
        <p:spPr>
          <a:xfrm>
            <a:off x="1079640" y="3652920"/>
            <a:ext cx="647280" cy="647280"/>
          </a:xfrm>
          <a:prstGeom prst="roundRect">
            <a:avLst>
              <a:gd name="adj" fmla="val 14113642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4" name="Image 0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1257840" y="383112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105" name="Text 6"/>
          <p:cNvSpPr/>
          <p:nvPr/>
        </p:nvSpPr>
        <p:spPr>
          <a:xfrm>
            <a:off x="1079640" y="4516920"/>
            <a:ext cx="372492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Nəqliyyat və Enerji İdarəetməsi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7"/>
          <p:cNvSpPr/>
          <p:nvPr/>
        </p:nvSpPr>
        <p:spPr>
          <a:xfrm>
            <a:off x="1079640" y="5259600"/>
            <a:ext cx="3724920" cy="161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SI sistemləri trafik sıxlığını real vaxt rejimində idarə edir, enerji istehlakını optimallaşdırır və şəhər infrastrukturunu dinamik şəkildə koordinasiya edir. Nəticədə tıxaclar 30% azalmışdır.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Shape 8"/>
          <p:cNvSpPr/>
          <p:nvPr/>
        </p:nvSpPr>
        <p:spPr>
          <a:xfrm>
            <a:off x="5236560" y="3437280"/>
            <a:ext cx="4156560" cy="3657960"/>
          </a:xfrm>
          <a:prstGeom prst="roundRect">
            <a:avLst>
              <a:gd name="adj" fmla="val 886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Shape 9"/>
          <p:cNvSpPr/>
          <p:nvPr/>
        </p:nvSpPr>
        <p:spPr>
          <a:xfrm>
            <a:off x="5452560" y="3652920"/>
            <a:ext cx="647280" cy="647280"/>
          </a:xfrm>
          <a:prstGeom prst="roundRect">
            <a:avLst>
              <a:gd name="adj" fmla="val 14113642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9" name="Image 1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5630760" y="383112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110" name="Text 10"/>
          <p:cNvSpPr/>
          <p:nvPr/>
        </p:nvSpPr>
        <p:spPr>
          <a:xfrm>
            <a:off x="5452560" y="4516920"/>
            <a:ext cx="372492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İnfrastrukturun Rəqəmsal Əkizləri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11"/>
          <p:cNvSpPr/>
          <p:nvPr/>
        </p:nvSpPr>
        <p:spPr>
          <a:xfrm>
            <a:off x="5452560" y="5259600"/>
            <a:ext cx="3724920" cy="161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Bütün şəhərin virtual modeli yaradılmışdır. Bu rəqəmsal əkiz sayəsində infrastruktur problemləri gerçəkdə baş verməzdən əvvəl simulyasiya yolu ilə aşkarlanır.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12"/>
          <p:cNvSpPr/>
          <p:nvPr/>
        </p:nvSpPr>
        <p:spPr>
          <a:xfrm>
            <a:off x="9609480" y="3437280"/>
            <a:ext cx="4156560" cy="3657960"/>
          </a:xfrm>
          <a:prstGeom prst="roundRect">
            <a:avLst>
              <a:gd name="adj" fmla="val 886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" name="Shape 13"/>
          <p:cNvSpPr/>
          <p:nvPr/>
        </p:nvSpPr>
        <p:spPr>
          <a:xfrm>
            <a:off x="9825480" y="3652920"/>
            <a:ext cx="647280" cy="647280"/>
          </a:xfrm>
          <a:prstGeom prst="roundRect">
            <a:avLst>
              <a:gd name="adj" fmla="val 14113642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4" name="Image 2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10003680" y="3831120"/>
            <a:ext cx="291240" cy="291240"/>
          </a:xfrm>
          <a:prstGeom prst="rect">
            <a:avLst/>
          </a:prstGeom>
          <a:ln w="0">
            <a:noFill/>
          </a:ln>
        </p:spPr>
      </p:pic>
      <p:sp>
        <p:nvSpPr>
          <p:cNvPr id="115" name="Text 14"/>
          <p:cNvSpPr/>
          <p:nvPr/>
        </p:nvSpPr>
        <p:spPr>
          <a:xfrm>
            <a:off x="9825480" y="4516920"/>
            <a:ext cx="245376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Etik SI Çərçivəsi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15"/>
          <p:cNvSpPr/>
          <p:nvPr/>
        </p:nvSpPr>
        <p:spPr>
          <a:xfrm>
            <a:off x="9825480" y="4952880"/>
            <a:ext cx="3724920" cy="161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Sinqapur dövlət sektorunda SI tətbiqləri üçün aydın etik prinsiplər, şəffaflıq tələbləri və müstəqil audit mexanizmləri müəyyən etmişdir. Bu, beynəlxalq nümunəyə çevrilmişdir.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Image 0" descr="preencoded.png"/>
          <p:cNvPicPr/>
          <p:nvPr/>
        </p:nvPicPr>
        <p:blipFill>
          <a:blip r:embed="rId3"/>
          <a:stretch/>
        </p:blipFill>
        <p:spPr>
          <a:xfrm>
            <a:off x="914400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118" name="Shape 0"/>
          <p:cNvSpPr/>
          <p:nvPr/>
        </p:nvSpPr>
        <p:spPr>
          <a:xfrm>
            <a:off x="768600" y="1261800"/>
            <a:ext cx="945360" cy="332640"/>
          </a:xfrm>
          <a:prstGeom prst="roundRect">
            <a:avLst>
              <a:gd name="adj" fmla="val 6924"/>
            </a:avLst>
          </a:prstGeom>
          <a:solidFill>
            <a:srgbClr val="26262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883800" y="1319400"/>
            <a:ext cx="714960" cy="217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1701"/>
              </a:lnSpc>
              <a:tabLst>
                <a:tab pos="0" algn="l"/>
              </a:tabLst>
            </a:pPr>
            <a:r>
              <a:rPr lang="en-US" sz="12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NÜMUNƏ 3</a:t>
            </a:r>
            <a:endParaRPr lang="en-US" sz="12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2"/>
          <p:cNvSpPr/>
          <p:nvPr/>
        </p:nvSpPr>
        <p:spPr>
          <a:xfrm>
            <a:off x="768600" y="1663200"/>
            <a:ext cx="7606440" cy="109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4249"/>
              </a:lnSpc>
              <a:tabLst>
                <a:tab pos="0" algn="l"/>
              </a:tabLst>
            </a:pPr>
            <a:r>
              <a:rPr lang="en-US" sz="34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Unilever — Korporativ İdarəetmədə SI</a:t>
            </a:r>
            <a:endParaRPr lang="en-US" sz="3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3"/>
          <p:cNvSpPr/>
          <p:nvPr/>
        </p:nvSpPr>
        <p:spPr>
          <a:xfrm>
            <a:off x="768600" y="3011040"/>
            <a:ext cx="7606440" cy="544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1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Dünyada 190-dan çox ölkədə fəaliyyət göstərən Unilever, korporativ idarəetmə proseslərini köklü şəkildə transformasiya etmək üçün süni intellekti strateji alət kimi tətbiq etmişdir.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4"/>
          <p:cNvSpPr/>
          <p:nvPr/>
        </p:nvSpPr>
        <p:spPr>
          <a:xfrm>
            <a:off x="768600" y="3918960"/>
            <a:ext cx="2183040" cy="27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1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ESG Risk Təhlili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5"/>
          <p:cNvSpPr/>
          <p:nvPr/>
        </p:nvSpPr>
        <p:spPr>
          <a:xfrm>
            <a:off x="768600" y="4362840"/>
            <a:ext cx="2196000" cy="245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1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SI platformaları milyonlarla məlumat nöqtəsini analiz edərək ətraf mühit, sosial məsuliyyət və idarəetmə risklərini real vaxt rejimində qiymətləndirir. Bu, direktorlar şurasının daha məlumatlı qərar qəbul etməsini təmin edir.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6"/>
          <p:cNvSpPr/>
          <p:nvPr/>
        </p:nvSpPr>
        <p:spPr>
          <a:xfrm>
            <a:off x="3440880" y="3918960"/>
            <a:ext cx="2196000" cy="54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1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Region Üzrə Tələb Proqnozu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7"/>
          <p:cNvSpPr/>
          <p:nvPr/>
        </p:nvSpPr>
        <p:spPr>
          <a:xfrm>
            <a:off x="3440880" y="4635720"/>
            <a:ext cx="2196000" cy="2178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1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Maşın öyrənməsi modelləri istehlakçı trendlərini, mövsümi dəyişiklikləri və bazardakı dalğalanmaları əvvəlcədən proqnozlaşdıraraq ehtiyat artıqlığını 20%-dən çox azaltmışdır.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8"/>
          <p:cNvSpPr/>
          <p:nvPr/>
        </p:nvSpPr>
        <p:spPr>
          <a:xfrm>
            <a:off x="6113520" y="3918960"/>
            <a:ext cx="2276640" cy="545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1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Avtomatlaşdırılmış Hesabat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Text 9"/>
          <p:cNvSpPr/>
          <p:nvPr/>
        </p:nvSpPr>
        <p:spPr>
          <a:xfrm>
            <a:off x="6113520" y="4635720"/>
            <a:ext cx="2276640" cy="190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1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Direktorlar şurasına təqdim olunan performans hesabatları SI tərəfindən avtomatik generasiya edilir. Bu, hesabat hazırlama vaxtını həftələrdən saatlara endirmişdir.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hape 0"/>
          <p:cNvSpPr/>
          <p:nvPr/>
        </p:nvSpPr>
        <p:spPr>
          <a:xfrm>
            <a:off x="863640" y="827280"/>
            <a:ext cx="1062720" cy="388440"/>
          </a:xfrm>
          <a:prstGeom prst="roundRect">
            <a:avLst>
              <a:gd name="adj" fmla="val 6669"/>
            </a:avLst>
          </a:prstGeom>
          <a:solidFill>
            <a:srgbClr val="26262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Text 1"/>
          <p:cNvSpPr/>
          <p:nvPr/>
        </p:nvSpPr>
        <p:spPr>
          <a:xfrm>
            <a:off x="993240" y="892080"/>
            <a:ext cx="803520" cy="258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001"/>
              </a:lnSpc>
              <a:tabLst>
                <a:tab pos="0" algn="l"/>
              </a:tabLst>
            </a:pPr>
            <a:r>
              <a:rPr lang="en-US" sz="13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NÜMUNƏ 4</a:t>
            </a:r>
            <a:endParaRPr lang="en-US" sz="13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Text 2"/>
          <p:cNvSpPr/>
          <p:nvPr/>
        </p:nvSpPr>
        <p:spPr>
          <a:xfrm>
            <a:off x="863640" y="1302120"/>
            <a:ext cx="12902400" cy="1226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en-US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Maersk — Logistika və Təchizat Zəncirinin İdarə Edilməsi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3"/>
          <p:cNvSpPr/>
          <p:nvPr/>
        </p:nvSpPr>
        <p:spPr>
          <a:xfrm>
            <a:off x="863640" y="2853000"/>
            <a:ext cx="12902400" cy="64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Dünyanın ən böyük konteyner şirkəti olan Maersk, qlobal ticarətin 20%-ni daşıyır. SI tətbiqləri şirkətin həm əməliyyat effektivliyini, həm də rəqabət üstünlüyünü əhəmiyyətli dərəcədə artırmışdır.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2" name="Image 0" descr="preencoded.png"/>
          <p:cNvPicPr/>
          <p:nvPr/>
        </p:nvPicPr>
        <p:blipFill>
          <a:blip r:embed="rId3"/>
          <a:stretch/>
        </p:blipFill>
        <p:spPr>
          <a:xfrm>
            <a:off x="863640" y="3744000"/>
            <a:ext cx="4300560" cy="863280"/>
          </a:xfrm>
          <a:prstGeom prst="rect">
            <a:avLst/>
          </a:prstGeom>
          <a:ln w="0">
            <a:noFill/>
          </a:ln>
        </p:spPr>
      </p:pic>
      <p:sp>
        <p:nvSpPr>
          <p:cNvPr id="133" name="Text 4"/>
          <p:cNvSpPr/>
          <p:nvPr/>
        </p:nvSpPr>
        <p:spPr>
          <a:xfrm>
            <a:off x="1079640" y="4823640"/>
            <a:ext cx="386892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Gəmi Marşrutunun Optimallaşdırılması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Text 5"/>
          <p:cNvSpPr/>
          <p:nvPr/>
        </p:nvSpPr>
        <p:spPr>
          <a:xfrm>
            <a:off x="1079640" y="5566680"/>
            <a:ext cx="3868920" cy="129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SI, hava şəraiti, yanacaq qiymətləri, liman tutumu və trafiki real vaxt rejimində analiz edərək ən optimal marşrutu müəyyən edir. Bu, yanacaq xərclərini 15% azaldıb.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5" name="Image 1" descr="preencoded.png"/>
          <p:cNvPicPr/>
          <p:nvPr/>
        </p:nvPicPr>
        <p:blipFill>
          <a:blip r:embed="rId4"/>
          <a:stretch/>
        </p:blipFill>
        <p:spPr>
          <a:xfrm>
            <a:off x="5164560" y="3744000"/>
            <a:ext cx="4300560" cy="863280"/>
          </a:xfrm>
          <a:prstGeom prst="rect">
            <a:avLst/>
          </a:prstGeom>
          <a:ln w="0">
            <a:noFill/>
          </a:ln>
        </p:spPr>
      </p:pic>
      <p:sp>
        <p:nvSpPr>
          <p:cNvPr id="136" name="Text 6"/>
          <p:cNvSpPr/>
          <p:nvPr/>
        </p:nvSpPr>
        <p:spPr>
          <a:xfrm>
            <a:off x="5380560" y="4823640"/>
            <a:ext cx="355644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Gömrük Gecikmə Proqnozu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5380560" y="5259960"/>
            <a:ext cx="3868920" cy="1295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Müxtəlif ölkələrdəki gömrük prosedurlarını öyrənən SI modeli mümkün gecikmələri əvvəlcədən xəbər verir. Müştərilər logistika planlamasını daha dəqiq edə bilir.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8" name="Image 2" descr="preencoded.png"/>
          <p:cNvPicPr/>
          <p:nvPr/>
        </p:nvPicPr>
        <p:blipFill>
          <a:blip r:embed="rId5"/>
          <a:stretch/>
        </p:blipFill>
        <p:spPr>
          <a:xfrm>
            <a:off x="9465480" y="3744000"/>
            <a:ext cx="4300560" cy="863280"/>
          </a:xfrm>
          <a:prstGeom prst="rect">
            <a:avLst/>
          </a:prstGeom>
          <a:ln w="0">
            <a:noFill/>
          </a:ln>
        </p:spPr>
      </p:pic>
      <p:sp>
        <p:nvSpPr>
          <p:cNvPr id="139" name="Text 8"/>
          <p:cNvSpPr/>
          <p:nvPr/>
        </p:nvSpPr>
        <p:spPr>
          <a:xfrm>
            <a:off x="9681480" y="4823640"/>
            <a:ext cx="386892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Qlobal Şəbəkənin Rəqəmsal Əkizi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Text 9"/>
          <p:cNvSpPr/>
          <p:nvPr/>
        </p:nvSpPr>
        <p:spPr>
          <a:xfrm>
            <a:off x="9681480" y="5566680"/>
            <a:ext cx="3868920" cy="1619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Bütün qlobal logistika şəbəkəsinin virtual modeli yaradılmışdır. Bu model vasitəsilə tədarük zəncirindəki pozulmalar simulyasiya edilərək fövqəladə planlar hazırlanır.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 0"/>
          <p:cNvSpPr/>
          <p:nvPr/>
        </p:nvSpPr>
        <p:spPr>
          <a:xfrm>
            <a:off x="793440" y="937800"/>
            <a:ext cx="6597720" cy="563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399"/>
              </a:lnSpc>
              <a:tabLst>
                <a:tab pos="0" algn="l"/>
              </a:tabLst>
            </a:pPr>
            <a:r>
              <a:rPr lang="en-US" sz="35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Uğurun Ümumi Nümunələri</a:t>
            </a:r>
            <a:endParaRPr lang="en-US" sz="3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 1"/>
          <p:cNvSpPr/>
          <p:nvPr/>
        </p:nvSpPr>
        <p:spPr>
          <a:xfrm>
            <a:off x="793440" y="1865520"/>
            <a:ext cx="13043520" cy="285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200"/>
              </a:lnSpc>
              <a:tabLst>
                <a:tab pos="0" algn="l"/>
              </a:tabLst>
            </a:pPr>
            <a:r>
              <a:rPr lang="en-US" sz="15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Bütün uğurlu nümunələri müqayisə etdikdə, onları birləşdirən dörd əsas amil aşkar olunur. Bu amillər SI tətbiqinin "qızıl standartı" hesab edilə bilər.</a:t>
            </a:r>
            <a:endParaRPr lang="en-US" sz="15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"/>
          <p:cNvSpPr/>
          <p:nvPr/>
        </p:nvSpPr>
        <p:spPr>
          <a:xfrm>
            <a:off x="1090800" y="2851560"/>
            <a:ext cx="6132960" cy="198000"/>
          </a:xfrm>
          <a:prstGeom prst="roundRect">
            <a:avLst>
              <a:gd name="adj" fmla="val 15008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Shape 3"/>
          <p:cNvSpPr/>
          <p:nvPr/>
        </p:nvSpPr>
        <p:spPr>
          <a:xfrm>
            <a:off x="793440" y="2652840"/>
            <a:ext cx="594720" cy="594720"/>
          </a:xfrm>
          <a:prstGeom prst="roundRect">
            <a:avLst>
              <a:gd name="adj" fmla="val 76846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45" name="Image 0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/>
        </p:blipFill>
        <p:spPr>
          <a:xfrm>
            <a:off x="942120" y="2801880"/>
            <a:ext cx="297000" cy="297000"/>
          </a:xfrm>
          <a:prstGeom prst="rect">
            <a:avLst/>
          </a:prstGeom>
          <a:ln w="0">
            <a:noFill/>
          </a:ln>
        </p:spPr>
      </p:pic>
      <p:sp>
        <p:nvSpPr>
          <p:cNvPr id="146" name="Text 4"/>
          <p:cNvSpPr/>
          <p:nvPr/>
        </p:nvSpPr>
        <p:spPr>
          <a:xfrm>
            <a:off x="991440" y="3430080"/>
            <a:ext cx="2659680" cy="28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200"/>
              </a:lnSpc>
              <a:tabLst>
                <a:tab pos="0" algn="l"/>
              </a:tabLst>
            </a:pPr>
            <a:r>
              <a:rPr lang="en-US" sz="175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Aydın Biznes Problemi</a:t>
            </a:r>
            <a:endParaRPr lang="en-US" sz="17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Text 5"/>
          <p:cNvSpPr/>
          <p:nvPr/>
        </p:nvSpPr>
        <p:spPr>
          <a:xfrm>
            <a:off x="991440" y="3821040"/>
            <a:ext cx="6033960" cy="570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200"/>
              </a:lnSpc>
              <a:tabLst>
                <a:tab pos="0" algn="l"/>
              </a:tabLst>
            </a:pPr>
            <a:r>
              <a:rPr lang="en-US" sz="15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"Süni intellekt üçün" deyil, konkret problemin həlli üçün SI seçilir. Layihə başlamazdan əvvəl "SI nəyi həll etməlidir?" sualı aydın cavablanır.</a:t>
            </a:r>
            <a:endParaRPr lang="en-US" sz="15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6"/>
          <p:cNvSpPr/>
          <p:nvPr/>
        </p:nvSpPr>
        <p:spPr>
          <a:xfrm>
            <a:off x="7703640" y="2858641"/>
            <a:ext cx="6132960" cy="198000"/>
          </a:xfrm>
          <a:prstGeom prst="roundRect">
            <a:avLst>
              <a:gd name="adj" fmla="val 15008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Shape 7"/>
          <p:cNvSpPr/>
          <p:nvPr/>
        </p:nvSpPr>
        <p:spPr>
          <a:xfrm>
            <a:off x="7406280" y="2660281"/>
            <a:ext cx="594720" cy="594720"/>
          </a:xfrm>
          <a:prstGeom prst="roundRect">
            <a:avLst>
              <a:gd name="adj" fmla="val 76846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0" name="Image 1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>
          <a:xfrm>
            <a:off x="7554960" y="2808961"/>
            <a:ext cx="297000" cy="297000"/>
          </a:xfrm>
          <a:prstGeom prst="rect">
            <a:avLst/>
          </a:prstGeom>
          <a:ln w="0">
            <a:noFill/>
          </a:ln>
        </p:spPr>
      </p:pic>
      <p:sp>
        <p:nvSpPr>
          <p:cNvPr id="151" name="Text 8"/>
          <p:cNvSpPr/>
          <p:nvPr/>
        </p:nvSpPr>
        <p:spPr>
          <a:xfrm>
            <a:off x="7604280" y="3437521"/>
            <a:ext cx="3720960" cy="28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200"/>
              </a:lnSpc>
              <a:tabLst>
                <a:tab pos="0" algn="l"/>
              </a:tabLst>
            </a:pPr>
            <a:r>
              <a:rPr lang="en-US" sz="175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Tədricən Tətbiq: Pilot → Miqyaslı</a:t>
            </a:r>
            <a:endParaRPr lang="en-US" sz="17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9"/>
          <p:cNvSpPr/>
          <p:nvPr/>
        </p:nvSpPr>
        <p:spPr>
          <a:xfrm>
            <a:off x="7604280" y="3828481"/>
            <a:ext cx="6033960" cy="85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200"/>
              </a:lnSpc>
              <a:tabLst>
                <a:tab pos="0" algn="l"/>
              </a:tabLst>
            </a:pPr>
            <a:r>
              <a:rPr lang="en-US" sz="15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Heç bir uğurlu nümunə birbaşa tam miqyaslı tətbiqlə başlamamışdır. Kiçik pilotdan öyrənmək, düzəltmək, sonra genişləndirmək əsas prinsipdir.</a:t>
            </a:r>
            <a:endParaRPr lang="en-US" sz="15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10"/>
          <p:cNvSpPr/>
          <p:nvPr/>
        </p:nvSpPr>
        <p:spPr>
          <a:xfrm>
            <a:off x="1090800" y="5267880"/>
            <a:ext cx="6132960" cy="198000"/>
          </a:xfrm>
          <a:prstGeom prst="roundRect">
            <a:avLst>
              <a:gd name="adj" fmla="val 15008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Shape 11"/>
          <p:cNvSpPr/>
          <p:nvPr/>
        </p:nvSpPr>
        <p:spPr>
          <a:xfrm>
            <a:off x="793440" y="5069520"/>
            <a:ext cx="594720" cy="594720"/>
          </a:xfrm>
          <a:prstGeom prst="roundRect">
            <a:avLst>
              <a:gd name="adj" fmla="val 76846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55" name="Image 2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942120" y="5218200"/>
            <a:ext cx="297000" cy="297000"/>
          </a:xfrm>
          <a:prstGeom prst="rect">
            <a:avLst/>
          </a:prstGeom>
          <a:ln w="0">
            <a:noFill/>
          </a:ln>
        </p:spPr>
      </p:pic>
      <p:sp>
        <p:nvSpPr>
          <p:cNvPr id="156" name="Text 12"/>
          <p:cNvSpPr/>
          <p:nvPr/>
        </p:nvSpPr>
        <p:spPr>
          <a:xfrm>
            <a:off x="991440" y="5846400"/>
            <a:ext cx="2620800" cy="28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200"/>
              </a:lnSpc>
              <a:tabLst>
                <a:tab pos="0" algn="l"/>
              </a:tabLst>
            </a:pPr>
            <a:r>
              <a:rPr lang="en-US" sz="175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İcraçı Səviyyəli Dəstək</a:t>
            </a:r>
            <a:endParaRPr lang="en-US" sz="17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13"/>
          <p:cNvSpPr/>
          <p:nvPr/>
        </p:nvSpPr>
        <p:spPr>
          <a:xfrm>
            <a:off x="991440" y="6237360"/>
            <a:ext cx="6033960" cy="855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200"/>
              </a:lnSpc>
              <a:tabLst>
                <a:tab pos="0" algn="l"/>
              </a:tabLst>
            </a:pPr>
            <a:r>
              <a:rPr lang="en-US" sz="15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Uğurlu layihələrin hamısında ən yüksək rəhbərlik tərəfindən aktiv dəstək mövcuddur. Rəhbərliyin öhdəliyi resurs ayırma və mədəni dəyişikliyi mümkün edir.</a:t>
            </a:r>
            <a:endParaRPr lang="en-US" sz="15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14"/>
          <p:cNvSpPr/>
          <p:nvPr/>
        </p:nvSpPr>
        <p:spPr>
          <a:xfrm>
            <a:off x="7703640" y="5275321"/>
            <a:ext cx="6132960" cy="198000"/>
          </a:xfrm>
          <a:prstGeom prst="roundRect">
            <a:avLst>
              <a:gd name="adj" fmla="val 15008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Shape 15"/>
          <p:cNvSpPr/>
          <p:nvPr/>
        </p:nvSpPr>
        <p:spPr>
          <a:xfrm>
            <a:off x="7406280" y="5076601"/>
            <a:ext cx="594720" cy="594720"/>
          </a:xfrm>
          <a:prstGeom prst="roundRect">
            <a:avLst>
              <a:gd name="adj" fmla="val 76846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0" name="Image 3" descr="preencoded.png"/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>
          <a:xfrm>
            <a:off x="7554960" y="5225641"/>
            <a:ext cx="297000" cy="297000"/>
          </a:xfrm>
          <a:prstGeom prst="rect">
            <a:avLst/>
          </a:prstGeom>
          <a:ln w="0">
            <a:noFill/>
          </a:ln>
        </p:spPr>
      </p:pic>
      <p:sp>
        <p:nvSpPr>
          <p:cNvPr id="161" name="Text 16"/>
          <p:cNvSpPr/>
          <p:nvPr/>
        </p:nvSpPr>
        <p:spPr>
          <a:xfrm>
            <a:off x="7604280" y="5853841"/>
            <a:ext cx="2444400" cy="28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200"/>
              </a:lnSpc>
              <a:tabLst>
                <a:tab pos="0" algn="l"/>
              </a:tabLst>
            </a:pPr>
            <a:r>
              <a:rPr lang="en-US" sz="175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Etik və Hüquqi Audit</a:t>
            </a:r>
            <a:endParaRPr lang="en-US" sz="17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17"/>
          <p:cNvSpPr/>
          <p:nvPr/>
        </p:nvSpPr>
        <p:spPr>
          <a:xfrm>
            <a:off x="7604280" y="6244801"/>
            <a:ext cx="6033960" cy="570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200"/>
              </a:lnSpc>
              <a:tabLst>
                <a:tab pos="0" algn="l"/>
              </a:tabLst>
            </a:pPr>
            <a:r>
              <a:rPr lang="en-US" sz="155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SI sistemləri tətbiq öncəsində, zamanı və sonrasında etik prinsiplər, məxfilik qanunları və şəffaflıq tələbləri baxımından audita tabi tutulur.</a:t>
            </a:r>
            <a:endParaRPr lang="en-US" sz="155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 0"/>
          <p:cNvSpPr/>
          <p:nvPr/>
        </p:nvSpPr>
        <p:spPr>
          <a:xfrm>
            <a:off x="863640" y="1137960"/>
            <a:ext cx="6210720" cy="613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799"/>
              </a:lnSpc>
              <a:tabLst>
                <a:tab pos="0" algn="l"/>
              </a:tabLst>
            </a:pPr>
            <a:r>
              <a:rPr lang="en-US" sz="385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Uğursuzluğun Səbəbləri</a:t>
            </a:r>
            <a:endParaRPr lang="en-US" sz="385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1"/>
          <p:cNvSpPr/>
          <p:nvPr/>
        </p:nvSpPr>
        <p:spPr>
          <a:xfrm>
            <a:off x="863640" y="2183400"/>
            <a:ext cx="12902400" cy="647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SI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layihələrinin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böyük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hissəsi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texnoloji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deyil,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idarəçilik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problemləri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üzündən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uğursuz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olur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. Bu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riskləri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erkən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tanımaq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layihə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müvəffəqiyyəti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üçün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həlledicidir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.</a:t>
            </a:r>
            <a:endParaRPr lang="en-US" sz="17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2"/>
          <p:cNvSpPr/>
          <p:nvPr/>
        </p:nvSpPr>
        <p:spPr>
          <a:xfrm>
            <a:off x="863640" y="3074040"/>
            <a:ext cx="6343200" cy="1900440"/>
          </a:xfrm>
          <a:prstGeom prst="roundRect">
            <a:avLst>
              <a:gd name="adj" fmla="val 7697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Shape 3"/>
          <p:cNvSpPr/>
          <p:nvPr/>
        </p:nvSpPr>
        <p:spPr>
          <a:xfrm>
            <a:off x="833400" y="3074040"/>
            <a:ext cx="121680" cy="1900440"/>
          </a:xfrm>
          <a:prstGeom prst="roundRect">
            <a:avLst>
              <a:gd name="adj" fmla="val 26572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4"/>
          <p:cNvSpPr/>
          <p:nvPr/>
        </p:nvSpPr>
        <p:spPr>
          <a:xfrm>
            <a:off x="1201680" y="3320280"/>
            <a:ext cx="274788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Keyfiyyətsiz Məlumat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Text 5"/>
          <p:cNvSpPr/>
          <p:nvPr/>
        </p:nvSpPr>
        <p:spPr>
          <a:xfrm>
            <a:off x="1201680" y="3756600"/>
            <a:ext cx="5758920" cy="9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SI yalnız mövcud məlumat qədər yaxşıdır. Natamam, köhnə və ya qərəzli məlumatlar modelin nəticələrini korlar. "Zibil içəri, zibil çölə" prinsipi burada tam olaraq tətbiq olunur.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Shape 6"/>
          <p:cNvSpPr/>
          <p:nvPr/>
        </p:nvSpPr>
        <p:spPr>
          <a:xfrm>
            <a:off x="7423200" y="3074040"/>
            <a:ext cx="6343200" cy="1900440"/>
          </a:xfrm>
          <a:prstGeom prst="roundRect">
            <a:avLst>
              <a:gd name="adj" fmla="val 7697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Shape 7"/>
          <p:cNvSpPr/>
          <p:nvPr/>
        </p:nvSpPr>
        <p:spPr>
          <a:xfrm>
            <a:off x="7392600" y="3074040"/>
            <a:ext cx="121680" cy="1900440"/>
          </a:xfrm>
          <a:prstGeom prst="roundRect">
            <a:avLst>
              <a:gd name="adj" fmla="val 26572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Text 8"/>
          <p:cNvSpPr/>
          <p:nvPr/>
        </p:nvSpPr>
        <p:spPr>
          <a:xfrm>
            <a:off x="7760880" y="3320280"/>
            <a:ext cx="260928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İşçilərin Müqaviməti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Text 9"/>
          <p:cNvSpPr/>
          <p:nvPr/>
        </p:nvSpPr>
        <p:spPr>
          <a:xfrm>
            <a:off x="7760880" y="3756600"/>
            <a:ext cx="5758920" cy="9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İşini itirmək qorxusu, yeni texnologiyaya adaptsasiya çətinliyi və dəyişiklik idarəetməsinin zəifliyi tətbiqin önündə ən böyük maneədir. İnsan amili həmişə texniki amildən üstündür.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Shape 10"/>
          <p:cNvSpPr/>
          <p:nvPr/>
        </p:nvSpPr>
        <p:spPr>
          <a:xfrm>
            <a:off x="863640" y="5190840"/>
            <a:ext cx="6343200" cy="1900440"/>
          </a:xfrm>
          <a:prstGeom prst="roundRect">
            <a:avLst>
              <a:gd name="adj" fmla="val 7697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4" name="Shape 11"/>
          <p:cNvSpPr/>
          <p:nvPr/>
        </p:nvSpPr>
        <p:spPr>
          <a:xfrm>
            <a:off x="833400" y="5190840"/>
            <a:ext cx="121680" cy="1900440"/>
          </a:xfrm>
          <a:prstGeom prst="roundRect">
            <a:avLst>
              <a:gd name="adj" fmla="val 26572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Text 12"/>
          <p:cNvSpPr/>
          <p:nvPr/>
        </p:nvSpPr>
        <p:spPr>
          <a:xfrm>
            <a:off x="1201680" y="5437080"/>
            <a:ext cx="323856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Real Olmayan Gözləntilər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13"/>
          <p:cNvSpPr/>
          <p:nvPr/>
        </p:nvSpPr>
        <p:spPr>
          <a:xfrm>
            <a:off x="1201680" y="5873400"/>
            <a:ext cx="5758920" cy="9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"SI hər şeyi həll edəcək" mentaliteti layihəni başlamazdan məhv edir. SI güclü, lakin spesifik bir alətdir — sehrli çubuq deyil. Ölçülə bilən, realist hədəflər vacibdir.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14"/>
          <p:cNvSpPr/>
          <p:nvPr/>
        </p:nvSpPr>
        <p:spPr>
          <a:xfrm>
            <a:off x="7423200" y="5190840"/>
            <a:ext cx="6343200" cy="1900440"/>
          </a:xfrm>
          <a:prstGeom prst="roundRect">
            <a:avLst>
              <a:gd name="adj" fmla="val 7697"/>
            </a:avLst>
          </a:prstGeom>
          <a:solidFill>
            <a:srgbClr val="111213"/>
          </a:solidFill>
          <a:ln w="30480">
            <a:solidFill>
              <a:srgbClr val="494A4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Shape 15"/>
          <p:cNvSpPr/>
          <p:nvPr/>
        </p:nvSpPr>
        <p:spPr>
          <a:xfrm>
            <a:off x="7392600" y="5190840"/>
            <a:ext cx="121680" cy="1900440"/>
          </a:xfrm>
          <a:prstGeom prst="roundRect">
            <a:avLst>
              <a:gd name="adj" fmla="val 26572"/>
            </a:avLst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Text 16"/>
          <p:cNvSpPr/>
          <p:nvPr/>
        </p:nvSpPr>
        <p:spPr>
          <a:xfrm>
            <a:off x="7760880" y="5437080"/>
            <a:ext cx="3154680" cy="30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401"/>
              </a:lnSpc>
              <a:tabLst>
                <a:tab pos="0" algn="l"/>
              </a:tabLst>
            </a:pPr>
            <a:r>
              <a:rPr lang="en-US" sz="19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Etikayı Nəzərə Almamaq</a:t>
            </a:r>
            <a:endParaRPr lang="en-US" sz="19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Text 17"/>
          <p:cNvSpPr/>
          <p:nvPr/>
        </p:nvSpPr>
        <p:spPr>
          <a:xfrm>
            <a:off x="7760880" y="5873400"/>
            <a:ext cx="5758920" cy="9716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551"/>
              </a:lnSpc>
              <a:tabLst>
                <a:tab pos="0" algn="l"/>
              </a:tabLst>
            </a:pPr>
            <a:r>
              <a:rPr lang="en-US" sz="17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Şəffaflıq, məxfilik və ədalətlilik məsələlərini göz ardı etmək ictimai etibarı sarsıdır, hüquqi risklər yaradır və layihənin tamamilə dayandırılmasına gətirib çıxara bilər.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Text 0"/>
          <p:cNvSpPr/>
          <p:nvPr/>
        </p:nvSpPr>
        <p:spPr>
          <a:xfrm>
            <a:off x="2252520" y="401400"/>
            <a:ext cx="6883560" cy="401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3149"/>
              </a:lnSpc>
              <a:tabLst>
                <a:tab pos="0" algn="l"/>
              </a:tabLst>
            </a:pPr>
            <a:r>
              <a:rPr lang="en-US" sz="25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Təşkilatın SI Yetkinlik Qiymətləndirilməsi</a:t>
            </a:r>
            <a:endParaRPr lang="en-US" sz="2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1"/>
          <p:cNvSpPr/>
          <p:nvPr/>
        </p:nvSpPr>
        <p:spPr>
          <a:xfrm>
            <a:off x="925287" y="906839"/>
            <a:ext cx="12964884" cy="53460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349"/>
              </a:lnSpc>
              <a:tabLst>
                <a:tab pos="0" algn="l"/>
              </a:tabLst>
            </a:pP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SI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tətbiqinə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başlamazdan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əvvəl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hər bir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təşkilat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özünə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bu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dörd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əsas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sualı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verməlidir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. Bu suallar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həm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dövlət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qurumları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,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həm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də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özəl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korporasiyalar</a:t>
            </a:r>
            <a:br>
              <a:rPr lang="ru-RU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</a:b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üçün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eyni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dərəcədə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 </a:t>
            </a:r>
            <a:r>
              <a:rPr lang="en-US" sz="1700" b="0" strike="noStrike" spc="-1" dirty="0" err="1">
                <a:solidFill>
                  <a:srgbClr val="E2E6E9"/>
                </a:solidFill>
                <a:latin typeface="Source Sans 3"/>
                <a:ea typeface="Source Sans 3"/>
              </a:rPr>
              <a:t>aktualdır</a:t>
            </a:r>
            <a:r>
              <a:rPr lang="en-US" sz="1700" b="0" strike="noStrike" spc="-1" dirty="0">
                <a:solidFill>
                  <a:srgbClr val="E2E6E9"/>
                </a:solidFill>
                <a:latin typeface="Source Sans 3"/>
                <a:ea typeface="Source Sans 3"/>
              </a:rPr>
              <a:t>.</a:t>
            </a:r>
            <a:endParaRPr lang="en-US" sz="17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2"/>
          <p:cNvSpPr/>
          <p:nvPr/>
        </p:nvSpPr>
        <p:spPr>
          <a:xfrm>
            <a:off x="2252520" y="7196760"/>
            <a:ext cx="10125000" cy="631080"/>
          </a:xfrm>
          <a:prstGeom prst="roundRect">
            <a:avLst>
              <a:gd name="adj" fmla="val 3355"/>
            </a:avLst>
          </a:prstGeom>
          <a:solidFill>
            <a:srgbClr val="262626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86" name="Image 2" descr="preencoded.png"/>
          <p:cNvPicPr/>
          <p:nvPr/>
        </p:nvPicPr>
        <p:blipFill>
          <a:blip r:embed="rId3"/>
          <a:stretch/>
        </p:blipFill>
        <p:spPr>
          <a:xfrm>
            <a:off x="2393640" y="7378920"/>
            <a:ext cx="176040" cy="140760"/>
          </a:xfrm>
          <a:prstGeom prst="rect">
            <a:avLst/>
          </a:prstGeom>
          <a:ln w="0">
            <a:noFill/>
          </a:ln>
        </p:spPr>
      </p:pic>
      <p:sp>
        <p:nvSpPr>
          <p:cNvPr id="187" name="Text 3"/>
          <p:cNvSpPr/>
          <p:nvPr/>
        </p:nvSpPr>
        <p:spPr>
          <a:xfrm>
            <a:off x="2711160" y="7324200"/>
            <a:ext cx="9524880" cy="349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1349"/>
              </a:lnSpc>
              <a:tabLst>
                <a:tab pos="0" algn="l"/>
              </a:tabLst>
            </a:pPr>
            <a:r>
              <a:rPr lang="en-US" sz="1100" b="0" strike="noStrike" spc="-1">
                <a:solidFill>
                  <a:srgbClr val="FFFFFF"/>
                </a:solidFill>
                <a:latin typeface="Source Sans 3"/>
                <a:ea typeface="Source Sans 3"/>
              </a:rPr>
              <a:t>Bu qiymətləndirmə çərçivəsi bir test deyil — başlanğıc nöqtəsini müəyyən etmək üçün bir güzgüdür. Bütün cavablar "hə" olmadan da SI yolçuluğuna başlamaq mümkündür, lakin zəif sahələri bilmək strategiyanı formalaşdırır.</a:t>
            </a:r>
            <a:endParaRPr lang="en-US" sz="1100" b="0" strike="noStrike" spc="-1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3FCDB27-4571-DEEF-5251-1AE2AB60DC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2519" y="1545839"/>
            <a:ext cx="10124999" cy="538040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Image 0" descr="preencoded.png"/>
          <p:cNvPicPr/>
          <p:nvPr/>
        </p:nvPicPr>
        <p:blipFill>
          <a:blip r:embed="rId3"/>
          <a:stretch/>
        </p:blipFill>
        <p:spPr>
          <a:xfrm>
            <a:off x="914400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189" name="Text 0"/>
          <p:cNvSpPr/>
          <p:nvPr/>
        </p:nvSpPr>
        <p:spPr>
          <a:xfrm>
            <a:off x="765360" y="1234800"/>
            <a:ext cx="4348440" cy="543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4249"/>
              </a:lnSpc>
              <a:tabLst>
                <a:tab pos="0" algn="l"/>
              </a:tabLst>
            </a:pPr>
            <a:r>
              <a:rPr lang="en-US" sz="3400" b="1" strike="noStrike" spc="-1">
                <a:solidFill>
                  <a:srgbClr val="FFFFFF"/>
                </a:solidFill>
                <a:latin typeface="Montserrat Bold"/>
                <a:ea typeface="Montserrat Bold"/>
              </a:rPr>
              <a:t>Praktik Tapşırıq</a:t>
            </a:r>
            <a:endParaRPr lang="en-US" sz="3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Text 1"/>
          <p:cNvSpPr/>
          <p:nvPr/>
        </p:nvSpPr>
        <p:spPr>
          <a:xfrm>
            <a:off x="1052280" y="2223360"/>
            <a:ext cx="7326000" cy="54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1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"Müzakirə olunan dörd nümunədən birini seçin. Hansı elementlər sizin təşkilatınıza və ya ölkənizə uyğunlaşdırıla bilər? Hansı maneələri aradan qaldırmaq lazımdır?"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2"/>
          <p:cNvSpPr/>
          <p:nvPr/>
        </p:nvSpPr>
        <p:spPr>
          <a:xfrm>
            <a:off x="765360" y="2032920"/>
            <a:ext cx="22680" cy="92196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3"/>
          <p:cNvSpPr/>
          <p:nvPr/>
        </p:nvSpPr>
        <p:spPr>
          <a:xfrm>
            <a:off x="765360" y="3146040"/>
            <a:ext cx="2424600" cy="2381760"/>
          </a:xfrm>
          <a:prstGeom prst="roundRect">
            <a:avLst>
              <a:gd name="adj" fmla="val 1205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3" name="Text 4"/>
          <p:cNvSpPr/>
          <p:nvPr/>
        </p:nvSpPr>
        <p:spPr>
          <a:xfrm>
            <a:off x="956520" y="3337200"/>
            <a:ext cx="2041920" cy="54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1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Addım 1: Nümunə Seçin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Text 5"/>
          <p:cNvSpPr/>
          <p:nvPr/>
        </p:nvSpPr>
        <p:spPr>
          <a:xfrm>
            <a:off x="956520" y="3982320"/>
            <a:ext cx="2041920" cy="1352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1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Estoniya, Sinqapur, Unilever və ya Maersk nümunələrindən öz kontekstinizə ən uyğun olanını seçin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6"/>
          <p:cNvSpPr/>
          <p:nvPr/>
        </p:nvSpPr>
        <p:spPr>
          <a:xfrm>
            <a:off x="3359520" y="3146040"/>
            <a:ext cx="2424600" cy="2381760"/>
          </a:xfrm>
          <a:prstGeom prst="roundRect">
            <a:avLst>
              <a:gd name="adj" fmla="val 1205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 7"/>
          <p:cNvSpPr/>
          <p:nvPr/>
        </p:nvSpPr>
        <p:spPr>
          <a:xfrm>
            <a:off x="3551040" y="3337200"/>
            <a:ext cx="2041920" cy="81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1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Addım 2: Uyğunluğu Qiymətləndirin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Text 8"/>
          <p:cNvSpPr/>
          <p:nvPr/>
        </p:nvSpPr>
        <p:spPr>
          <a:xfrm>
            <a:off x="3551040" y="4254120"/>
            <a:ext cx="2041920" cy="108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1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Seçdiyiniz nümunənin hansı elementlərinin öz mühitinizdə tətbiq oluna biləcəyini müəyyən edin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9"/>
          <p:cNvSpPr/>
          <p:nvPr/>
        </p:nvSpPr>
        <p:spPr>
          <a:xfrm>
            <a:off x="5953680" y="3146040"/>
            <a:ext cx="2424600" cy="2381760"/>
          </a:xfrm>
          <a:prstGeom prst="roundRect">
            <a:avLst>
              <a:gd name="adj" fmla="val 1205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Text 10"/>
          <p:cNvSpPr/>
          <p:nvPr/>
        </p:nvSpPr>
        <p:spPr>
          <a:xfrm>
            <a:off x="6145200" y="3337200"/>
            <a:ext cx="2041920" cy="814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1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Addım 3: Maneələri Müəyyən Edin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11"/>
          <p:cNvSpPr/>
          <p:nvPr/>
        </p:nvSpPr>
        <p:spPr>
          <a:xfrm>
            <a:off x="6145200" y="4254120"/>
            <a:ext cx="2041920" cy="1082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1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Tətbiq yolundakı əsas çətinlikləri — texnoloji, insan, hüquqi — sıralayın və prioritetləşdirin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12"/>
          <p:cNvSpPr/>
          <p:nvPr/>
        </p:nvSpPr>
        <p:spPr>
          <a:xfrm>
            <a:off x="765360" y="5697360"/>
            <a:ext cx="7612920" cy="1297080"/>
          </a:xfrm>
          <a:prstGeom prst="roundRect">
            <a:avLst>
              <a:gd name="adj" fmla="val 2212"/>
            </a:avLst>
          </a:prstGeom>
          <a:solidFill>
            <a:srgbClr val="30313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Text 13"/>
          <p:cNvSpPr/>
          <p:nvPr/>
        </p:nvSpPr>
        <p:spPr>
          <a:xfrm>
            <a:off x="956520" y="5888520"/>
            <a:ext cx="2954520" cy="2714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0" tIns="0" rIns="0" bIns="0" anchor="t">
            <a:noAutofit/>
          </a:bodyPr>
          <a:lstStyle/>
          <a:p>
            <a:pPr>
              <a:lnSpc>
                <a:spcPts val="2100"/>
              </a:lnSpc>
              <a:tabLst>
                <a:tab pos="0" algn="l"/>
              </a:tabLst>
            </a:pPr>
            <a:r>
              <a:rPr lang="en-US" sz="1700" b="1" strike="noStrike" spc="-1">
                <a:solidFill>
                  <a:srgbClr val="E2E6E9"/>
                </a:solidFill>
                <a:latin typeface="Montserrat Bold"/>
                <a:ea typeface="Montserrat Bold"/>
              </a:rPr>
              <a:t>Addım 4: Qrup Müzakirəsi</a:t>
            </a:r>
            <a:endParaRPr lang="en-US" sz="17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Text 14"/>
          <p:cNvSpPr/>
          <p:nvPr/>
        </p:nvSpPr>
        <p:spPr>
          <a:xfrm>
            <a:off x="956520" y="6261840"/>
            <a:ext cx="7230240" cy="540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t">
            <a:noAutofit/>
          </a:bodyPr>
          <a:lstStyle/>
          <a:p>
            <a:pPr>
              <a:lnSpc>
                <a:spcPts val="2100"/>
              </a:lnSpc>
              <a:tabLst>
                <a:tab pos="0" algn="l"/>
              </a:tabLst>
            </a:pPr>
            <a:r>
              <a:rPr lang="en-US" sz="1500" b="0" strike="noStrike" spc="-1">
                <a:solidFill>
                  <a:srgbClr val="E2E6E9"/>
                </a:solidFill>
                <a:latin typeface="Source Sans 3"/>
                <a:ea typeface="Source Sans 3"/>
              </a:rPr>
              <a:t>Nəticələrinizi qrupla paylaşın. Müxtəlif kontekstlər üçün müxtəlif həll yollarını müqayisə edin</a:t>
            </a:r>
            <a:endParaRPr lang="en-US" sz="15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Rectangle 203"/>
          <p:cNvSpPr/>
          <p:nvPr/>
        </p:nvSpPr>
        <p:spPr>
          <a:xfrm>
            <a:off x="5029199" y="84600"/>
            <a:ext cx="4147457" cy="600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2950" b="1" strike="noStrike" spc="-1" dirty="0">
                <a:solidFill>
                  <a:srgbClr val="FFFFFF"/>
                </a:solidFill>
                <a:latin typeface="Montserrat Bold"/>
                <a:ea typeface="Montserrat Bold"/>
              </a:rPr>
              <a:t>Test </a:t>
            </a:r>
            <a:r>
              <a:rPr lang="en-US" sz="2950" b="1" strike="noStrike" spc="-1" dirty="0" err="1">
                <a:solidFill>
                  <a:srgbClr val="FFFFFF"/>
                </a:solidFill>
                <a:latin typeface="Montserrat Bold"/>
                <a:ea typeface="Montserrat Bold"/>
              </a:rPr>
              <a:t>Tapşırığı</a:t>
            </a:r>
            <a:r>
              <a:rPr lang="en-US" sz="2950" b="1" strike="noStrike" spc="-1" dirty="0">
                <a:solidFill>
                  <a:srgbClr val="FFFFFF"/>
                </a:solidFill>
                <a:latin typeface="Montserrat Bold"/>
                <a:ea typeface="Montserrat Bold"/>
              </a:rPr>
              <a:t> L12</a:t>
            </a:r>
            <a:endParaRPr lang="en-US" sz="2950" b="0" strike="noStrike" spc="-1" dirty="0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5" name="Picture 204"/>
          <p:cNvPicPr/>
          <p:nvPr/>
        </p:nvPicPr>
        <p:blipFill>
          <a:blip r:embed="rId2"/>
          <a:stretch/>
        </p:blipFill>
        <p:spPr>
          <a:xfrm>
            <a:off x="3239640" y="685800"/>
            <a:ext cx="7275960" cy="72759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</TotalTime>
  <Words>1112</Words>
  <Application>Microsoft Office PowerPoint</Application>
  <PresentationFormat>Custom</PresentationFormat>
  <Paragraphs>105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12</vt:i4>
      </vt:variant>
      <vt:variant>
        <vt:lpstr>Slide Titles</vt:lpstr>
      </vt:variant>
      <vt:variant>
        <vt:i4>12</vt:i4>
      </vt:variant>
    </vt:vector>
  </HeadingPairs>
  <TitlesOfParts>
    <vt:vector size="32" baseType="lpstr">
      <vt:lpstr>Arial</vt:lpstr>
      <vt:lpstr>Calibri</vt:lpstr>
      <vt:lpstr>Calibri Light</vt:lpstr>
      <vt:lpstr>Montserrat Bold</vt:lpstr>
      <vt:lpstr>Source Sans 3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Orkhan Iskandarov</cp:lastModifiedBy>
  <cp:revision>4</cp:revision>
  <dcterms:created xsi:type="dcterms:W3CDTF">2026-03-27T15:14:44Z</dcterms:created>
  <dcterms:modified xsi:type="dcterms:W3CDTF">2026-05-18T08:03:09Z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11</vt:i4>
  </property>
  <property fmtid="{D5CDD505-2E9C-101B-9397-08002B2CF9AE}" pid="3" name="PresentationFormat">
    <vt:lpwstr>On-screen Show (16:9)</vt:lpwstr>
  </property>
  <property fmtid="{D5CDD505-2E9C-101B-9397-08002B2CF9AE}" pid="4" name="Slides">
    <vt:i4>11</vt:i4>
  </property>
</Properties>
</file>