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0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12.svg" ContentType="image/svg"/>
  <Override PartName="/ppt/media/image8.svg" ContentType="image/svg"/>
  <Override PartName="/ppt/media/image22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14.svg" ContentType="image/svg"/>
  <Override PartName="/ppt/media/image1.png" ContentType="image/png"/>
  <Override PartName="/ppt/media/image3.png" ContentType="image/png"/>
  <Override PartName="/ppt/media/image6.png" ContentType="image/png"/>
  <Override PartName="/ppt/media/image15.png" ContentType="image/png"/>
  <Override PartName="/ppt/media/image1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0086636-49C5-4BAD-B030-D3AA92B39CC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A7F3F0-7BED-4A8C-BB52-9B05465F3A2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CA59F3-E709-4382-9660-AB271B64B79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38EACB-9AF7-49AE-8B8B-A22A8EC00D3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A34783-01E8-4D2F-9DF6-D551C0BC778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F78BE4-C5D6-4462-9CBA-426AD95FC80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D84679-366F-48B6-94D6-222A7047556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E45F1F-4E5D-4BFB-9D28-F4F4E5CDDD7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2C71C2-7E41-4DFD-B5CA-784615A3941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68D366-EDC3-4849-8D68-876AB24A4D8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B5E066-7BCA-4420-9716-370654B7B76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CE5013-C188-4431-9A07-76FF94F9B19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slideLayout" Target="../slideLayouts/slideLayout12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863640" y="2547360"/>
            <a:ext cx="7416000" cy="18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İdarəetmədə Süni İntellektin Tətbiqi üçün Yol Xəritəsinin Qurulması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63640" y="4711680"/>
            <a:ext cx="7416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Sessiya 14 — Nəzəriyyədən Tətbiqə: Təşkilatınız üçün Canlı Bir Plan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863640" y="5278680"/>
            <a:ext cx="2996280" cy="4035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1000800" y="5351040"/>
            <a:ext cx="27219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SÜNI İNTELLEKT LIDERLIYI PROQRAMI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863640" y="1449360"/>
            <a:ext cx="68461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Bu Gün Nəyi Öyrənəcəyik?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863640" y="249480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sessiyada nəzəriyyədən hərəkətə keçirik. Süni intellektin idarəetmə sisteminizə necə tətbiq olunacağına dair strukturlu, ölçülə bilən və real bir plan hazırlayacağıq.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863640" y="33854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863640" y="372204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863640" y="3890880"/>
            <a:ext cx="30380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Yol Xəritəsinin Zəruriliyi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863640" y="4327200"/>
            <a:ext cx="6343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Niyə xaotik pilot layihələr kifayət deyil — strategiyanın əhəmiyyəti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7423200" y="33854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7423200" y="372204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7423200" y="3890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 Əsas Mərhələ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7423200" y="4327200"/>
            <a:ext cx="6343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Məqsəd müəyyənləşdirmədən strategiyaya inteqrasiyaya qədər addım-addım çərçivə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863640" y="53528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863640" y="568944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863640" y="5858280"/>
            <a:ext cx="38318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Yol Xəritəsinin Komponentləri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863640" y="6294240"/>
            <a:ext cx="6343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KPI-lar, resurslar, məsuliyyətlər və dəyişikliklərin idarə edilməsi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7423200" y="5352840"/>
            <a:ext cx="215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7423200" y="5689440"/>
            <a:ext cx="6343200" cy="30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7423200" y="58582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Bank Kəsi İşi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7423200" y="6294240"/>
            <a:ext cx="6343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Real dünya nümunəsi: kredit risklərinin SI ilə idarə edilməsi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74" name="Text 0"/>
          <p:cNvSpPr/>
          <p:nvPr/>
        </p:nvSpPr>
        <p:spPr>
          <a:xfrm>
            <a:off x="863640" y="106056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Niyə Yol Xəritəsi?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863640" y="1998000"/>
            <a:ext cx="74160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Struktursuz SI tətbiqləri müəssisələrdə ən çox görülən uğursuzluq ssenarisinə gətirib çıxarır: resursların israfı, komanda yorğunluğu və idarə heyətinin inamının itməsi.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708120" y="3212640"/>
            <a:ext cx="3755520" cy="3955680"/>
          </a:xfrm>
          <a:prstGeom prst="roundRect">
            <a:avLst>
              <a:gd name="adj" fmla="val 863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924120" y="3428640"/>
            <a:ext cx="26676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Yol Xəritəsi Olmadan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924120" y="3951360"/>
            <a:ext cx="3323880" cy="31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Xaotik, bir-biri ilə əlaqəsiz pilot layihələr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Eyni səylərin müxtəlif komandalar tərəfindən təkrarlanması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Ölçülə bilməyən nəticələr və məyusluq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Büdcə artımı və zaman kəsiminin aşılması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4843080" y="34286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Yol Xəritəsi ilə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843080" y="3951360"/>
            <a:ext cx="3444480" cy="28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Strategiya: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Hər addım ümumi məqsədlə uyğunlaşır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Resurslar: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Büdcə, texnologiya və işçi heyəti optimallaşdırılır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Nəticələr: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KPI-lar vasitəsilə uğur ölçülür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Şəffaflıq: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Maraqlı tərəflər prosesin hər mərhələsini izləyir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863640" y="1495440"/>
            <a:ext cx="106221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Mərhələ 1: Məqsədin Müəyyənləşdirilməsi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863640" y="254052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uğurlu SI yol xəritəsi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konkret, ölçülə bilən məqsədlərə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əsaslanır. Məqsədsiz başlanan layihələr resursları tükədir, lakin dəyər yaratmır. Aşağıdakı nümunələr SMART məqsəd formatına uyğundur: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863640" y="3431520"/>
            <a:ext cx="4156560" cy="2163600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1079640" y="3647520"/>
            <a:ext cx="26546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📈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Proqnoz Dəqiqliyi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079640" y="4083480"/>
            <a:ext cx="3724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Satış, tələb və maliyyə proqnozlarında dəqiqliyi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30% artırmaq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sahibkar qərarlarını məlumat əsaslı etmək üçün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5236560" y="3431520"/>
            <a:ext cx="4156560" cy="2163600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5452560" y="36475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⚡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Qərar Sürəti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452560" y="4083480"/>
            <a:ext cx="37249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Orta qərar qəbul etmə müddətini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2 dəfə azaltmaq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real vaxt analitikası və avtomatik tövsiyə sistemləri ilə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9609480" y="3431520"/>
            <a:ext cx="4156560" cy="2163600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9825480" y="3647520"/>
            <a:ext cx="35791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🤖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Hesabat Avtomatlaşması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9825480" y="4083480"/>
            <a:ext cx="372492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Routine hesabatların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80%-ni avtomatlaşdırmaq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analitiklərin daha yüksək dəyərli işlərə fokuslanması üçün vaxt yaratmaq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863640" y="5838120"/>
            <a:ext cx="12902400" cy="895680"/>
          </a:xfrm>
          <a:prstGeom prst="roundRect">
            <a:avLst>
              <a:gd name="adj" fmla="val 361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1079640" y="6147720"/>
            <a:ext cx="269640" cy="215640"/>
          </a:xfrm>
          <a:prstGeom prst="rect">
            <a:avLst/>
          </a:prstGeom>
          <a:ln w="0">
            <a:noFill/>
          </a:ln>
        </p:spPr>
      </p:pic>
      <p:sp>
        <p:nvSpPr>
          <p:cNvPr id="94" name="Text 12"/>
          <p:cNvSpPr/>
          <p:nvPr/>
        </p:nvSpPr>
        <p:spPr>
          <a:xfrm>
            <a:off x="1565280" y="6108120"/>
            <a:ext cx="11985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Məqsədlər təşkilatın strateji prioritetləri ilə birbaşa əlaqəli olmalıdır — SI xatirinə SI deyil, iş nəticəsi üçün SI.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1554840" y="441720"/>
            <a:ext cx="7636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549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Mərhələ 2: Cari Vəziyyəti Qiymətləndirin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1554840" y="1137600"/>
            <a:ext cx="115200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13-cü Sessiyada təqdim edilən </a:t>
            </a:r>
            <a:r>
              <a:rPr b="1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 Yetkinlik Modeli</a:t>
            </a: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ndən istifadə edərək təşkilatınızın hazırkı vəziyyətini dürüst şəkildə qiymətləndirin. Bu mərhələdə çox vaxt gözlənilməz güclü tərəflər və gizli maneələr aşkar olunur.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1554840" y="1692360"/>
            <a:ext cx="10484640" cy="5851800"/>
          </a:xfrm>
          <a:prstGeom prst="rect">
            <a:avLst/>
          </a:prstGeom>
          <a:ln w="0">
            <a:noFill/>
          </a:ln>
        </p:spPr>
      </p:pic>
      <p:pic>
        <p:nvPicPr>
          <p:cNvPr id="98" name="Image 1" descr="preencoded.png"/>
          <p:cNvPicPr/>
          <p:nvPr/>
        </p:nvPicPr>
        <p:blipFill>
          <a:blip r:embed="rId2"/>
          <a:stretch/>
        </p:blipFill>
        <p:spPr>
          <a:xfrm>
            <a:off x="1554840" y="1692360"/>
            <a:ext cx="10484640" cy="5851800"/>
          </a:xfrm>
          <a:prstGeom prst="rect">
            <a:avLst/>
          </a:prstGeom>
          <a:ln w="0">
            <a:noFill/>
          </a:ln>
        </p:spPr>
      </p:pic>
      <p:sp>
        <p:nvSpPr>
          <p:cNvPr id="99" name="Text 2"/>
          <p:cNvSpPr/>
          <p:nvPr/>
        </p:nvSpPr>
        <p:spPr>
          <a:xfrm>
            <a:off x="1554840" y="7678800"/>
            <a:ext cx="115200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Qiymətləndirmə nəticəsi yol xəritənizin başlanğıc nöqtəsini müəyyən edir. Yüksək yetkinlik = daha cəsarətli hədəflər; aşağı yetkinlik = güclü əsas qurmağa fokuslanma.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01" name="Text 0"/>
          <p:cNvSpPr/>
          <p:nvPr/>
        </p:nvSpPr>
        <p:spPr>
          <a:xfrm>
            <a:off x="6242400" y="941760"/>
            <a:ext cx="5961960" cy="5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201"/>
              </a:lnSpc>
              <a:tabLst>
                <a:tab algn="l" pos="0"/>
              </a:tabLst>
            </a:pPr>
            <a:r>
              <a:rPr b="1" lang="en-US" sz="33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Mərhələ 3: Prioritetləşdirin</a:t>
            </a:r>
            <a:endParaRPr b="0" lang="en-US" sz="3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242400" y="1726920"/>
            <a:ext cx="763164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Bütün SI imkanlarını eyni anda həyata keçirmək mümkün deyil. </a:t>
            </a: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Təsir vs. Səy Matrisi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hansı layihəyə əvvəlcə başlamaq lazım olduğunu müəyyən etməyə kömək edir.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6242400" y="2444760"/>
            <a:ext cx="7631640" cy="4843080"/>
          </a:xfrm>
          <a:prstGeom prst="roundRect">
            <a:avLst>
              <a:gd name="adj" fmla="val 58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6242400" y="2444760"/>
            <a:ext cx="7631640" cy="1276920"/>
          </a:xfrm>
          <a:prstGeom prst="roundRect">
            <a:avLst>
              <a:gd name="adj" fmla="val 222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6431400" y="2633400"/>
            <a:ext cx="3061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🟢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Yüksək Təsir + Aşağı Səy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6431400" y="3001320"/>
            <a:ext cx="725364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Əvvəlcə Həyata Keçir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Tez qalib gəlmə (quick wins) üçün ideal. Komandanın inamını artırır və idarə heyətinin dəstəyini möhkəmləndirir.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6242400" y="3722040"/>
            <a:ext cx="7631640" cy="127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6242400" y="3722040"/>
            <a:ext cx="7631640" cy="22680"/>
          </a:xfrm>
          <a:prstGeom prst="roundRect">
            <a:avLst>
              <a:gd name="adj" fmla="val 124032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6431400" y="3910680"/>
            <a:ext cx="324828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🔵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Yüksək Təsir + Yüksək Səy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6431400" y="4278600"/>
            <a:ext cx="725364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Strateji Planla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Əsaslı hazırlıq tələb edir. 2-3-cü mərhələlər üçün qeyd et; resurs toplanandan sonra başla.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6242400" y="4999320"/>
            <a:ext cx="7631640" cy="101124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6242400" y="4999320"/>
            <a:ext cx="7631640" cy="22680"/>
          </a:xfrm>
          <a:prstGeom prst="roundRect">
            <a:avLst>
              <a:gd name="adj" fmla="val 124032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6431400" y="5188320"/>
            <a:ext cx="287532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🟡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Aşağı Təsir + Aşağı Səy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6431400" y="5555880"/>
            <a:ext cx="7253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Boş Vaxtda Bax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Kiçik, sürətli gücləndiricilər. Prioritet deyil, lakin tamamilə kənara qoyma.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6242400" y="6010560"/>
            <a:ext cx="7631640" cy="127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6242400" y="6010560"/>
            <a:ext cx="7631640" cy="22680"/>
          </a:xfrm>
          <a:prstGeom prst="roundRect">
            <a:avLst>
              <a:gd name="adj" fmla="val 124032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6431400" y="6199560"/>
            <a:ext cx="3061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🔴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Aşağı Təsir + Yüksək Səy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6431400" y="6567120"/>
            <a:ext cx="7253640" cy="5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Təxirə Sal / Rədd Et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Resursu tükədir, az dəyər yaradır. Bu kvadrantda qalıcı layihələr strategiyanı zəiflədir.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863640" y="1039320"/>
            <a:ext cx="79394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Mərhələ 4: Quruluş Mərhələləri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863640" y="208476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Uğurlu SI tətbiqi bir gecədə baş vermir. Strukturlu zaman qrafiki ilə idarə olunan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üç əsas mərhələ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təşkilatın hazırlığını artırır, riskləri azaldır və nəticələri möhkəmləndirir.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7300080" y="2975760"/>
            <a:ext cx="30240" cy="421416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6454800" y="3203280"/>
            <a:ext cx="647280" cy="3024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7072200" y="297576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7167960" y="303444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3219120" y="3049920"/>
            <a:ext cx="30160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Mərhələ 1: Əsas (0–6 ay)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863640" y="3485880"/>
            <a:ext cx="53712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Pilot layihələrin başladılması, strukturlu məlumat toplanması, komanda üçün SI savadlılıq təlimləri və ilkin texniki infrastrukturun qurulması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8"/>
          <p:cNvSpPr/>
          <p:nvPr/>
        </p:nvSpPr>
        <p:spPr>
          <a:xfrm>
            <a:off x="7527600" y="4498920"/>
            <a:ext cx="647280" cy="3024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9"/>
          <p:cNvSpPr/>
          <p:nvPr/>
        </p:nvSpPr>
        <p:spPr>
          <a:xfrm>
            <a:off x="7072200" y="427140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7167960" y="433008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8394840" y="4345560"/>
            <a:ext cx="45907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Mərhələ 2: Miqyaslandırma (6–18 ay)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8394840" y="4781520"/>
            <a:ext cx="53712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Sübut edilmiş pilotların standartlaşdırılması, 2–3 əsas biznes prosesinə genişlənmə, komandalar arası əməkdaşlıq modellərinin qurulması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3"/>
          <p:cNvSpPr/>
          <p:nvPr/>
        </p:nvSpPr>
        <p:spPr>
          <a:xfrm>
            <a:off x="6454800" y="5615640"/>
            <a:ext cx="647280" cy="3024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4"/>
          <p:cNvSpPr/>
          <p:nvPr/>
        </p:nvSpPr>
        <p:spPr>
          <a:xfrm>
            <a:off x="7072200" y="538812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5"/>
          <p:cNvSpPr/>
          <p:nvPr/>
        </p:nvSpPr>
        <p:spPr>
          <a:xfrm>
            <a:off x="7167960" y="544680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6"/>
          <p:cNvSpPr/>
          <p:nvPr/>
        </p:nvSpPr>
        <p:spPr>
          <a:xfrm>
            <a:off x="2129400" y="5462280"/>
            <a:ext cx="41058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Mərhələ 3: İnteqrasiya (18–36 ay)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7"/>
          <p:cNvSpPr/>
          <p:nvPr/>
        </p:nvSpPr>
        <p:spPr>
          <a:xfrm>
            <a:off x="863640" y="5898600"/>
            <a:ext cx="53712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SI-nin korporativ strategiyaya tam inteqrasiyası, məlumat mədəniyyətinin formalaşması, təşkilat genelinde SI liderliyi kompetensiyasının inkişafı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863640" y="1036800"/>
            <a:ext cx="90313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Yol Xəritəsinin Əsas Komponentləri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863640" y="208224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Effektiv bir SI yol xəritəsi sadəcə zaman qrafikindən ibarət deyil — o, bir neçə kritik komponentin inteqrasiya edilmiş sənədidir. Hər element digərini dəstəkləyir.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63640" y="297288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40" name="Text 2"/>
          <p:cNvSpPr/>
          <p:nvPr/>
        </p:nvSpPr>
        <p:spPr>
          <a:xfrm>
            <a:off x="863640" y="3782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Mərhələlər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863640" y="4218840"/>
            <a:ext cx="6316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mərhələ üçün aydın başlanğıc/bitmə tarixi, çatdırılacaq nəticələr və keçid meyarları müəyyənləşdirilir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50200" y="297288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43" name="Text 4"/>
          <p:cNvSpPr/>
          <p:nvPr/>
        </p:nvSpPr>
        <p:spPr>
          <a:xfrm>
            <a:off x="7450200" y="3782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Məsuliyyətlər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7450200" y="4218840"/>
            <a:ext cx="6316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RACI modeli ilə hər tapşırıq üçün Məsul, Hesabat verən, Məsləhət alan və Məlumatlandırılan şəxslər təyin edilir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3640" y="52988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46" name="Text 6"/>
          <p:cNvSpPr/>
          <p:nvPr/>
        </p:nvSpPr>
        <p:spPr>
          <a:xfrm>
            <a:off x="863640" y="6108480"/>
            <a:ext cx="29692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Tələb Olunan Resurslar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863640" y="6544800"/>
            <a:ext cx="6316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Büdcə, texnologiya lisenziyaları, xarici ekspertiza və işçi heyəti tələbləri dəqiq planlaşdırılır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450200" y="52988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49" name="Text 8"/>
          <p:cNvSpPr/>
          <p:nvPr/>
        </p:nvSpPr>
        <p:spPr>
          <a:xfrm>
            <a:off x="7450200" y="6108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Uğur KPI-ları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7450200" y="6544800"/>
            <a:ext cx="6316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ROI, proqnoz dəqiqliyi, işlənmiş proses sayı, istifadəçi məmnuniyyəti (NPS) kimi ölçülə bilən göstəricilər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52" name="Text 0"/>
          <p:cNvSpPr/>
          <p:nvPr/>
        </p:nvSpPr>
        <p:spPr>
          <a:xfrm>
            <a:off x="614880" y="1312560"/>
            <a:ext cx="530028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99"/>
              </a:lnSpc>
              <a:tabLst>
                <a:tab algn="l" pos="0"/>
              </a:tabLst>
            </a:pPr>
            <a:r>
              <a:rPr b="1" lang="en-US" sz="2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Dəyişikliklərin İdarə Edilməsi</a:t>
            </a:r>
            <a:endParaRPr b="0" lang="en-US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614880" y="1913400"/>
            <a:ext cx="79138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Texnologiya tətbiqinin ən çox diqqətdən kənarda qalan tərəfi — </a:t>
            </a: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insani amildir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 Ən yaxşı SI həlli belə, işçilərin qəbul etmədiyi bir şey kimi qala bilər. Uğurlu transformasiya dörd sütunun üzərindədir: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614880" y="2431080"/>
            <a:ext cx="7913880" cy="1038960"/>
          </a:xfrm>
          <a:prstGeom prst="roundRect">
            <a:avLst>
              <a:gd name="adj" fmla="val 10557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592200" y="2431080"/>
            <a:ext cx="91080" cy="1038960"/>
          </a:xfrm>
          <a:prstGeom prst="roundRect">
            <a:avLst>
              <a:gd name="adj" fmla="val 252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860040" y="2607840"/>
            <a:ext cx="17467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📢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Ünsiyyət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860040" y="2899440"/>
            <a:ext cx="74919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Niyə lazımdır?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İşçilərə, menecerlərə və idarə heyətinə SI-nin onların işini necə dəstəkləyəcəyini şəffaf şəkildə izah edin. Qeyri-müəyyənlik müqaviməti artırır.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614880" y="3579840"/>
            <a:ext cx="7913880" cy="1038960"/>
          </a:xfrm>
          <a:prstGeom prst="roundRect">
            <a:avLst>
              <a:gd name="adj" fmla="val 10557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592200" y="3579840"/>
            <a:ext cx="91080" cy="1038960"/>
          </a:xfrm>
          <a:prstGeom prst="roundRect">
            <a:avLst>
              <a:gd name="adj" fmla="val 252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860040" y="3756600"/>
            <a:ext cx="17467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🎓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Təlim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860040" y="4048200"/>
            <a:ext cx="74919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Necə istifadə etməli?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Hər rolun ehtiyacına uyğun fərdi öyrənmə yolları hazırlayın. Nəzəri bilik deyil, praktiki bacarıq inkişafına fokuslanın.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0"/>
          <p:cNvSpPr/>
          <p:nvPr/>
        </p:nvSpPr>
        <p:spPr>
          <a:xfrm>
            <a:off x="614880" y="4728960"/>
            <a:ext cx="7913880" cy="1038960"/>
          </a:xfrm>
          <a:prstGeom prst="roundRect">
            <a:avLst>
              <a:gd name="adj" fmla="val 10557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1"/>
          <p:cNvSpPr/>
          <p:nvPr/>
        </p:nvSpPr>
        <p:spPr>
          <a:xfrm>
            <a:off x="592200" y="4728960"/>
            <a:ext cx="91080" cy="1038960"/>
          </a:xfrm>
          <a:prstGeom prst="roundRect">
            <a:avLst>
              <a:gd name="adj" fmla="val 252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2"/>
          <p:cNvSpPr/>
          <p:nvPr/>
        </p:nvSpPr>
        <p:spPr>
          <a:xfrm>
            <a:off x="860040" y="4905360"/>
            <a:ext cx="17467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🤝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Dəstək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860040" y="5196960"/>
            <a:ext cx="74919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Kim kömək edəcək?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Daxili SI çempionları, texniki help desk və mentorluq sistemi yaradın. Tənhalıq hissi işçiləri sistemdən uzaqlaşdırır.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4"/>
          <p:cNvSpPr/>
          <p:nvPr/>
        </p:nvSpPr>
        <p:spPr>
          <a:xfrm>
            <a:off x="614880" y="5877720"/>
            <a:ext cx="7913880" cy="1038960"/>
          </a:xfrm>
          <a:prstGeom prst="roundRect">
            <a:avLst>
              <a:gd name="adj" fmla="val 10557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5"/>
          <p:cNvSpPr/>
          <p:nvPr/>
        </p:nvSpPr>
        <p:spPr>
          <a:xfrm>
            <a:off x="592200" y="5877720"/>
            <a:ext cx="91080" cy="1038960"/>
          </a:xfrm>
          <a:prstGeom prst="roundRect">
            <a:avLst>
              <a:gd name="adj" fmla="val 2522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6"/>
          <p:cNvSpPr/>
          <p:nvPr/>
        </p:nvSpPr>
        <p:spPr>
          <a:xfrm>
            <a:off x="860040" y="6054120"/>
            <a:ext cx="17467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01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🏆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Həvəsləndirmə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7"/>
          <p:cNvSpPr/>
          <p:nvPr/>
        </p:nvSpPr>
        <p:spPr>
          <a:xfrm>
            <a:off x="860040" y="6346080"/>
            <a:ext cx="74919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5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Necə motivasiya etməli?</a:t>
            </a: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SI-dən istifadəni performans qiymətləndirməsinin bir hissəsinə çevirin. Uğur hekayələrini paylaşın, erkən tərəfdarları mükafatlandırın.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760320" y="966960"/>
            <a:ext cx="818892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249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Kəsi İş: Bank Kredit Riski Yol Xəritəsi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760320" y="1841400"/>
            <a:ext cx="1310940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nümunə orta ölçülü bir bankın kredit risklərinin idarə edilməsini SI ilə necə transformasiya etdiyini göstərir. Hər mərhələ aydın nəticə və KPI-lar ilə müşayiət olunur.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0" descr="preencoded.png"/>
          <p:cNvPicPr/>
          <p:nvPr/>
        </p:nvPicPr>
        <p:blipFill>
          <a:blip r:embed="rId1"/>
          <a:stretch/>
        </p:blipFill>
        <p:spPr>
          <a:xfrm>
            <a:off x="760320" y="2297880"/>
            <a:ext cx="6554520" cy="759960"/>
          </a:xfrm>
          <a:prstGeom prst="rect">
            <a:avLst/>
          </a:prstGeom>
          <a:ln w="0">
            <a:noFill/>
          </a:ln>
        </p:spPr>
      </p:pic>
      <p:sp>
        <p:nvSpPr>
          <p:cNvPr id="173" name="Text 2"/>
          <p:cNvSpPr/>
          <p:nvPr/>
        </p:nvSpPr>
        <p:spPr>
          <a:xfrm>
            <a:off x="950400" y="3225240"/>
            <a:ext cx="2159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🎯</a:t>
            </a: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Məqsəd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950400" y="3595680"/>
            <a:ext cx="617436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Kredit risklərinin idarə edilməsini təkmilləşdirmək: qeyri-icra kreditlərini 25% azaltmaq, qərar müddətini 40% qısaltmaq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Image 1" descr="preencoded.png"/>
          <p:cNvPicPr/>
          <p:nvPr/>
        </p:nvPicPr>
        <p:blipFill>
          <a:blip r:embed="rId2"/>
          <a:stretch/>
        </p:blipFill>
        <p:spPr>
          <a:xfrm>
            <a:off x="7315200" y="2297880"/>
            <a:ext cx="6554520" cy="759960"/>
          </a:xfrm>
          <a:prstGeom prst="rect">
            <a:avLst/>
          </a:prstGeom>
          <a:ln w="0">
            <a:noFill/>
          </a:ln>
        </p:spPr>
      </p:pic>
      <p:sp>
        <p:nvSpPr>
          <p:cNvPr id="176" name="Text 4"/>
          <p:cNvSpPr/>
          <p:nvPr/>
        </p:nvSpPr>
        <p:spPr>
          <a:xfrm>
            <a:off x="7505280" y="3225240"/>
            <a:ext cx="2159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Mərhələ 1: Pilot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7505280" y="3595680"/>
            <a:ext cx="617436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Borcalanların ML modeli ilə qiymətləndirilməsi üçün pilot layihə. 500 kredit ərizəsi üzərində sınaq, model dəqiqliyi ölçülür.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2" descr="preencoded.png"/>
          <p:cNvPicPr/>
          <p:nvPr/>
        </p:nvPicPr>
        <p:blipFill>
          <a:blip r:embed="rId3"/>
          <a:stretch/>
        </p:blipFill>
        <p:spPr>
          <a:xfrm>
            <a:off x="760320" y="4321800"/>
            <a:ext cx="6554520" cy="759960"/>
          </a:xfrm>
          <a:prstGeom prst="rect">
            <a:avLst/>
          </a:prstGeom>
          <a:ln w="0">
            <a:noFill/>
          </a:ln>
        </p:spPr>
      </p:pic>
      <p:sp>
        <p:nvSpPr>
          <p:cNvPr id="179" name="Text 6"/>
          <p:cNvSpPr/>
          <p:nvPr/>
        </p:nvSpPr>
        <p:spPr>
          <a:xfrm>
            <a:off x="950400" y="5249520"/>
            <a:ext cx="24778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Mərhələ 2: İnteqrasiya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950400" y="5619960"/>
            <a:ext cx="617436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ML modelinin mövcud kredit bal sisteminə inteqrasiyası. Risk analisti komandası yeni iş axını üzrə təlim keçir.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3" descr="preencoded.png"/>
          <p:cNvPicPr/>
          <p:nvPr/>
        </p:nvPicPr>
        <p:blipFill>
          <a:blip r:embed="rId4"/>
          <a:stretch/>
        </p:blipFill>
        <p:spPr>
          <a:xfrm>
            <a:off x="7315200" y="4321800"/>
            <a:ext cx="6554520" cy="759960"/>
          </a:xfrm>
          <a:prstGeom prst="rect">
            <a:avLst/>
          </a:prstGeom>
          <a:ln w="0">
            <a:noFill/>
          </a:ln>
        </p:spPr>
      </p:pic>
      <p:sp>
        <p:nvSpPr>
          <p:cNvPr id="182" name="Text 8"/>
          <p:cNvSpPr/>
          <p:nvPr/>
        </p:nvSpPr>
        <p:spPr>
          <a:xfrm>
            <a:off x="7505280" y="5249520"/>
            <a:ext cx="25732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Mərhələ 3: Genişlənmə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7505280" y="5619960"/>
            <a:ext cx="617436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Həllin bütün kredit məhsullarına — istehlak, ipoteka, korporativ — tətbiqi. Real vaxt monitorinq paneli devreye alınır.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760320" y="6534360"/>
            <a:ext cx="13109400" cy="727920"/>
          </a:xfrm>
          <a:prstGeom prst="roundRect">
            <a:avLst>
              <a:gd name="adj" fmla="val 3915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Image 4" descr="preencoded.png"/>
          <p:cNvPicPr/>
          <p:nvPr/>
        </p:nvPicPr>
        <p:blipFill>
          <a:blip r:embed="rId5"/>
          <a:stretch/>
        </p:blipFill>
        <p:spPr>
          <a:xfrm>
            <a:off x="950400" y="679608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186" name="Text 11"/>
          <p:cNvSpPr/>
          <p:nvPr/>
        </p:nvSpPr>
        <p:spPr>
          <a:xfrm>
            <a:off x="1378080" y="6749280"/>
            <a:ext cx="1230192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Əsas dərs: Pilot mərhələsindəki model dəqiqliyi idarə heyətinin inamını qazandı və növbəti mərhələlər üçün büdcə təsdiqini sürətləndirdi.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88" name="Text 0"/>
          <p:cNvSpPr/>
          <p:nvPr/>
        </p:nvSpPr>
        <p:spPr>
          <a:xfrm>
            <a:off x="526680" y="1113120"/>
            <a:ext cx="29930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Praktik Tapşırıq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26680" y="1607760"/>
            <a:ext cx="8090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sessiyada öyrəndiklərinizi öz təşkilatınıza tətbiq edin. Tapşırıq sizin real iş mühitiniz üçün fəaliyyətə keçməyə hazır bir sənəd yaratmağa yönəldilib.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724320" y="2106000"/>
            <a:ext cx="7892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"Təşkilatınızda bir süni intellekt istiqaməti üçün layihə yol xəritəsi hazırlayın: konkret məqsəd, 3 strukturlu mərhələ, ölçülə bilən KPI-lar və əsas risklərin siyahısı."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526680" y="2016000"/>
            <a:ext cx="14760" cy="497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526680" y="2801880"/>
            <a:ext cx="8090280" cy="869760"/>
          </a:xfrm>
          <a:prstGeom prst="roundRect">
            <a:avLst>
              <a:gd name="adj" fmla="val 8406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5"/>
          <p:cNvSpPr/>
          <p:nvPr/>
        </p:nvSpPr>
        <p:spPr>
          <a:xfrm>
            <a:off x="526680" y="2786760"/>
            <a:ext cx="8090280" cy="60480"/>
          </a:xfrm>
          <a:prstGeom prst="roundRect">
            <a:avLst>
              <a:gd name="adj" fmla="val 3240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4374360" y="2604600"/>
            <a:ext cx="394560" cy="394560"/>
          </a:xfrm>
          <a:prstGeom prst="roundRect">
            <a:avLst>
              <a:gd name="adj" fmla="val 23146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4492800" y="2703240"/>
            <a:ext cx="1576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673560" y="3131280"/>
            <a:ext cx="14961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Məqsəd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673560" y="3366360"/>
            <a:ext cx="77961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SMART formatında 1 konkret SI məqsədi müəyyənləşdirin — ölçülə bilən, vaxt çərçivəli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526680" y="3949920"/>
            <a:ext cx="8090280" cy="869760"/>
          </a:xfrm>
          <a:prstGeom prst="roundRect">
            <a:avLst>
              <a:gd name="adj" fmla="val 8406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526680" y="3934800"/>
            <a:ext cx="8090280" cy="60480"/>
          </a:xfrm>
          <a:prstGeom prst="roundRect">
            <a:avLst>
              <a:gd name="adj" fmla="val 3240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4374360" y="3752640"/>
            <a:ext cx="394560" cy="394560"/>
          </a:xfrm>
          <a:prstGeom prst="roundRect">
            <a:avLst>
              <a:gd name="adj" fmla="val 23146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4492800" y="3851280"/>
            <a:ext cx="1576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673560" y="4279320"/>
            <a:ext cx="14961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 Mərhələ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673560" y="4514400"/>
            <a:ext cx="77961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Pilot, miqyaslandırma və inteqrasiya mərhələlərini öz təşkilatınıza uyğunlaşdırın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6"/>
          <p:cNvSpPr/>
          <p:nvPr/>
        </p:nvSpPr>
        <p:spPr>
          <a:xfrm>
            <a:off x="526680" y="5097960"/>
            <a:ext cx="8090280" cy="869760"/>
          </a:xfrm>
          <a:prstGeom prst="roundRect">
            <a:avLst>
              <a:gd name="adj" fmla="val 8406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17"/>
          <p:cNvSpPr/>
          <p:nvPr/>
        </p:nvSpPr>
        <p:spPr>
          <a:xfrm>
            <a:off x="526680" y="5082840"/>
            <a:ext cx="8090280" cy="60480"/>
          </a:xfrm>
          <a:prstGeom prst="roundRect">
            <a:avLst>
              <a:gd name="adj" fmla="val 3240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8"/>
          <p:cNvSpPr/>
          <p:nvPr/>
        </p:nvSpPr>
        <p:spPr>
          <a:xfrm>
            <a:off x="4374360" y="4900320"/>
            <a:ext cx="394560" cy="394560"/>
          </a:xfrm>
          <a:prstGeom prst="roundRect">
            <a:avLst>
              <a:gd name="adj" fmla="val 23146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4492800" y="4999320"/>
            <a:ext cx="1576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0"/>
          <p:cNvSpPr/>
          <p:nvPr/>
        </p:nvSpPr>
        <p:spPr>
          <a:xfrm>
            <a:off x="673560" y="5427360"/>
            <a:ext cx="14961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KPI-lar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673560" y="5662440"/>
            <a:ext cx="77961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mərhələ üçün ən azı 2 ölçülə bilən uğur göstəricisi müəyyənləşdirin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526680" y="6246000"/>
            <a:ext cx="8090280" cy="869760"/>
          </a:xfrm>
          <a:prstGeom prst="roundRect">
            <a:avLst>
              <a:gd name="adj" fmla="val 8406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3"/>
          <p:cNvSpPr/>
          <p:nvPr/>
        </p:nvSpPr>
        <p:spPr>
          <a:xfrm>
            <a:off x="526680" y="6230880"/>
            <a:ext cx="8090280" cy="60480"/>
          </a:xfrm>
          <a:prstGeom prst="roundRect">
            <a:avLst>
              <a:gd name="adj" fmla="val 3240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960" bIns="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4374360" y="6048360"/>
            <a:ext cx="394560" cy="394560"/>
          </a:xfrm>
          <a:prstGeom prst="roundRect">
            <a:avLst>
              <a:gd name="adj" fmla="val 23146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5"/>
          <p:cNvSpPr/>
          <p:nvPr/>
        </p:nvSpPr>
        <p:spPr>
          <a:xfrm>
            <a:off x="4492800" y="6147360"/>
            <a:ext cx="1576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6"/>
          <p:cNvSpPr/>
          <p:nvPr/>
        </p:nvSpPr>
        <p:spPr>
          <a:xfrm>
            <a:off x="673560" y="6575400"/>
            <a:ext cx="149616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Risklər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7"/>
          <p:cNvSpPr/>
          <p:nvPr/>
        </p:nvSpPr>
        <p:spPr>
          <a:xfrm>
            <a:off x="673560" y="6810480"/>
            <a:ext cx="779616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25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Ən böyük 3 riski və onlara qarşı ilkin azaldıcı tədbirləri qeyd edin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>
            <a:off x="5029200" y="84600"/>
            <a:ext cx="342900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L14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3200400" y="725040"/>
            <a:ext cx="7315200" cy="731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2026-03-27T15:15:28Z</dcterms:created>
  <dc:creator/>
  <dc:description/>
  <dc:language>en-US</dc:language>
  <cp:lastModifiedBy/>
  <dcterms:modified xsi:type="dcterms:W3CDTF">2026-03-27T19:26:23Z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