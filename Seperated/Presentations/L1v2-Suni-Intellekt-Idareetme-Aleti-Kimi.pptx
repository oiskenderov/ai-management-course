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ontserrat Bold" pitchFamily="2" charset="0"/>
      <p:bold r:id="rId14"/>
    </p:embeddedFont>
    <p:embeddedFont>
      <p:font typeface="Source Sans 3" panose="020B030303040302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1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45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177302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Süni İntellekt: İdarəetmə Aləti Kimi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4728210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Müasir texnologiyaların idarəetmə proseslərində tətbiqi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773436"/>
            <a:ext cx="1858447" cy="38862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3338" y="1838206"/>
            <a:ext cx="1599367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DƏRSIN MƏQSƏDLƏRI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63798" y="2248376"/>
            <a:ext cx="641246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 Gün Nə Öyrənəcəyik?</a:t>
            </a:r>
            <a:endParaRPr lang="en-US" sz="3850" dirty="0"/>
          </a:p>
        </p:txBody>
      </p:sp>
      <p:sp>
        <p:nvSpPr>
          <p:cNvPr id="5" name="Shape 3"/>
          <p:cNvSpPr/>
          <p:nvPr/>
        </p:nvSpPr>
        <p:spPr>
          <a:xfrm>
            <a:off x="863798" y="3185755"/>
            <a:ext cx="4156948" cy="237958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79659" y="3401616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7776" y="3579733"/>
            <a:ext cx="291465" cy="291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9659" y="4265295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SI-nin Mahiyyəti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79659" y="4701540"/>
            <a:ext cx="372522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Süni intellektin əsas prinsiplərini və idarəetmədə rolunu dərk edəcəyik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36607" y="3185755"/>
            <a:ext cx="4157067" cy="237958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52467" y="3401616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585" y="3579733"/>
            <a:ext cx="291465" cy="2914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2467" y="4265295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Tarixi İnkişaf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452467" y="4701540"/>
            <a:ext cx="372534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texnologiyalarının tarixini və müasir imkanlarını öyrənəcəyik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09534" y="3185755"/>
            <a:ext cx="4157067" cy="2379583"/>
          </a:xfrm>
          <a:prstGeom prst="roundRect">
            <a:avLst>
              <a:gd name="adj" fmla="val 1361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825395" y="3401616"/>
            <a:ext cx="647819" cy="647819"/>
          </a:xfrm>
          <a:prstGeom prst="roundRect">
            <a:avLst>
              <a:gd name="adj" fmla="val 141136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3512" y="3579733"/>
            <a:ext cx="291465" cy="2914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25395" y="4265295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Praktik Tətbiq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9825395" y="4701540"/>
            <a:ext cx="372534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 biznes proseslərində SI-nin istifadə sahələrini araşdıracağıq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63798" y="5808226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dərsin sonunda siz süni intellekti sadəcə texnologiya deyil, həm də güclü idarəetmə aləti kimi başa düşəcəksiniz. Praktik nümunələr və konkret hallara əsaslanaraq, SI-nin müasir təşkilatlarda necə dəyər yaratdığını öyrənəcəksiniz.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96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382328"/>
            <a:ext cx="5270540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Süni İntellekt Nədir?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4319707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Süni intellekt (SI) — kompüter sistemlərinin insanın koqnitiv funksiyalarını imitasiya etmə qabiliyyətidir. Bu funksiyalara öyrənmə, düşünmə, problemlərin həlli və təcrübədən nəticə çıxarma daxildir.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08184" y="5210532"/>
            <a:ext cx="6499146" cy="2336244"/>
          </a:xfrm>
          <a:prstGeom prst="roundRect">
            <a:avLst>
              <a:gd name="adj" fmla="val 1387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24044" y="542639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Əsas Xüsusiyyətlər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24044" y="5948958"/>
            <a:ext cx="6067425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Məlumatlardan öyrənmə qabiliyyəti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Nümunələri tanıma bacarığı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Proqnozlar və tövsiyələr vermə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Mürəkkəb məlumatların analizi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86305" y="542639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Vacib Qeyd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586305" y="5948958"/>
            <a:ext cx="6187916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≠ İnsan zəkası. Süni intellekt şüurlu deyil, lakin böyük həcmli məlumatlara əsaslanaraq məntiqli qərarlar qəbul edə bilər. O, insanın köməkçisidir, əvəzedicisi deyil.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2831" y="764619"/>
            <a:ext cx="6283404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Süni İntellektin İnkişaf Tarixi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2831" y="1611511"/>
            <a:ext cx="1314473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texnologiyalarının 70 illik səyahəti bizi sadə suallardan generativ modellərin dövrünə gətirib çıxardı. Hər mərhələ yeni imkanlar və çağırışlar gətirdi.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03770" y="2050137"/>
            <a:ext cx="22860" cy="5414843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72071" y="2247543"/>
            <a:ext cx="557093" cy="22860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06305" y="2050137"/>
            <a:ext cx="417790" cy="41779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88577" y="2100739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276487" y="2113955"/>
            <a:ext cx="2110264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1950 - Turing Testi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2831" y="2473404"/>
            <a:ext cx="5643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Alan Turing "maşınlar düşünə bilərmi?" sualını ortaya qoydu və ilk SI konsepsiyasını təqdim etdi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01235" y="3309699"/>
            <a:ext cx="557093" cy="22860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06305" y="3112294"/>
            <a:ext cx="417790" cy="41779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88577" y="3162895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243649" y="3176111"/>
            <a:ext cx="2737247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1956 - Dartmut Konfransı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243649" y="3535561"/>
            <a:ext cx="5643920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termini rəsmi olaraq yarandı və elm sahəsi kimi formalaşmağa başladı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72071" y="4244102"/>
            <a:ext cx="557093" cy="22860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06305" y="4046696"/>
            <a:ext cx="417790" cy="41779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88577" y="4097298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3098363" y="4110514"/>
            <a:ext cx="3288387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1980-1990 - Ekspert Sistemləri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2831" y="4469963"/>
            <a:ext cx="5643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İlk praktik SI tətbiqləri biznes və tibb sahələrində istifadə olunmağa başladı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501235" y="5178504"/>
            <a:ext cx="557093" cy="22860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06305" y="4981099"/>
            <a:ext cx="417790" cy="41779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88577" y="5031700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243649" y="5044916"/>
            <a:ext cx="3215997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2010-cü illər - Dərin Öyrənmə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243649" y="5404366"/>
            <a:ext cx="5643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Neyron şəbəkələri inqilabı görüntü və nitq tanıma texnologiyalarını çevirdi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572071" y="6112907"/>
            <a:ext cx="557093" cy="22860"/>
          </a:xfrm>
          <a:prstGeom prst="roundRect">
            <a:avLst>
              <a:gd name="adj" fmla="val 121859"/>
            </a:avLst>
          </a:prstGeom>
          <a:solidFill>
            <a:srgbClr val="494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06305" y="5915501"/>
            <a:ext cx="417790" cy="417790"/>
          </a:xfrm>
          <a:prstGeom prst="roundRect">
            <a:avLst>
              <a:gd name="adj" fmla="val 6668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88577" y="5966103"/>
            <a:ext cx="253127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3571756" y="5979319"/>
            <a:ext cx="2814995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2020-ci illər - Generativ SI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742831" y="6338768"/>
            <a:ext cx="56439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ChatGPT və oxşar modellər məzmun yaratma və insan-maşın əlaqəsini yenidən müəyyənləşdirdi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90412"/>
            <a:ext cx="8699540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Süni İntellektin Əsas İstiqamətləri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435781"/>
            <a:ext cx="1753433" cy="1753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4459129"/>
            <a:ext cx="2935486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Machine Learning (ML)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3798" y="4895374"/>
            <a:ext cx="3023235" cy="19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Maşın öyrənməsi — sistemlərin məlumatlardan öyrənərək performansını artırması. Avtomatik nümunə tanıma və proqnozlaşdırma əsas məqsəddir.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948" y="2435781"/>
            <a:ext cx="1753433" cy="17534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6948" y="4459129"/>
            <a:ext cx="3023235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Natural Language Processing (NLP)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4156948" y="5202079"/>
            <a:ext cx="3023235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Təbii dil emalı — maşınların insan dilini başa düşməsi və generasiya etməsi. Tərcümə, sentiment analizi və chatbot-lar bu sahəyə daxildir.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098" y="2435781"/>
            <a:ext cx="1753433" cy="17534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0098" y="4459129"/>
            <a:ext cx="275832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Computer Vision (CV)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7450098" y="4895374"/>
            <a:ext cx="3023235" cy="19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Kompüter görmə — vizual məlumatların təhlili və şəkillərdən mənalı informasiyanın çıxarılması. Üz tanıma və obyekt aşkarlama praktik tətbiqlərdir.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3248" y="2435781"/>
            <a:ext cx="1753433" cy="17534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43248" y="4459129"/>
            <a:ext cx="27590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Generative AI (GenAI)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0743248" y="4895374"/>
            <a:ext cx="3023354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Generativ SI — yeni məzmun yaratma qabiliyyəti: mətn, şəkil, video, kod. Yaradıcılıq və avtomatlaşdırmanın kəsişməsində yer alır.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980718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Avtomatlaşdırmadan İntellektuallaşdırmaya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198" y="274748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Avtomatlaşdırma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198" y="3270052"/>
            <a:ext cx="3444716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Qaydaların təkrarı və əvvəlcədən proqramlaşdırılmış addımların icrasıdır.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50198" y="4436269"/>
            <a:ext cx="3444716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Sabit alqoritmlər üzrə işləyir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Dəyişikliklərə uyğunlaşma yoxdur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İnsan müdaxiləsi tələb olunur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Yeni vəziyyətləri həll edə bilməz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73891" y="2531626"/>
            <a:ext cx="3755946" cy="3502462"/>
          </a:xfrm>
          <a:prstGeom prst="roundRect">
            <a:avLst>
              <a:gd name="adj" fmla="val 925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389751" y="2747486"/>
            <a:ext cx="258294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İntellektuallaşdırma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89751" y="3270052"/>
            <a:ext cx="3324225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Açıq təlimat olmadan yeni şərtlərə uyğunlaşma və öyrənmədir.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389751" y="4112300"/>
            <a:ext cx="3324225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Məlumatlardan öyrənir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Yeni situasiyalara uyğunlaşır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Müstəqil qərar qəbul edir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Performansını təkmilləşdirir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350198" y="6276975"/>
            <a:ext cx="7416403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İntellektuallaşdırma biznesə çeviklik verir və dəyişən bazar şəraitinə sürətli reaksiya imkanı yaradır. Bu, sadəcə prosesləri sürətləndirmək deyil, onları ağıllı etməkdir.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87460"/>
            <a:ext cx="926199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İdarəetmə Proseslərində SI-nin Rolu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632829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Süni intellekt müasir idarəetmədə dörd əsas istiqamətdə dəyər yaradır və rəqabət üstünlüyü təmin edir.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199686"/>
            <a:ext cx="3063716" cy="3442454"/>
          </a:xfrm>
          <a:prstGeom prst="roundRect">
            <a:avLst>
              <a:gd name="adj" fmla="val 105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9659" y="3415546"/>
            <a:ext cx="2631996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Qərarların Dəstəklənməsi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659" y="4158496"/>
            <a:ext cx="2631996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böyük həcmli məlumatları təhlil edərək menecerlərə dəqiq və sürətli qərar qəbul etmək üçün əsaslar təqdim edir. Real vaxt rejimində dəyişən situasiyalara uyğun tövsiyələr verir.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143375" y="3199686"/>
            <a:ext cx="3063835" cy="3442454"/>
          </a:xfrm>
          <a:prstGeom prst="roundRect">
            <a:avLst>
              <a:gd name="adj" fmla="val 105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59235" y="34155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Proqnozlaşdırma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59235" y="3851791"/>
            <a:ext cx="2632115" cy="2267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Keçmiş məlumatlar əsasında gələcək trendləri və potensial problemləri müəyyənləşdirir. Tələbat, satış və risklər üzrə dəqiq proqnozlar hazırlamağa kömək edir.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23071" y="3199686"/>
            <a:ext cx="3063835" cy="3442454"/>
          </a:xfrm>
          <a:prstGeom prst="roundRect">
            <a:avLst>
              <a:gd name="adj" fmla="val 105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8931" y="34155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Fərdiləşdirmə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638931" y="3851791"/>
            <a:ext cx="2632115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Hər müştəri, işçi və ya situasiya üçün fərdi strategiyalar və yanaşmalar təklif edir. Kütləvi xidmətləri şəxsi təcrübəyə çevirir.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702766" y="3199686"/>
            <a:ext cx="3063835" cy="3442454"/>
          </a:xfrm>
          <a:prstGeom prst="roundRect">
            <a:avLst>
              <a:gd name="adj" fmla="val 1057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18627" y="34155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Optimallaşdırma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18627" y="3851791"/>
            <a:ext cx="2632115" cy="1943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Resursların, vaxtın və büdcənin ən effektiv istifadəsini təmin edir. Mürəkkəb proseslərdə optimal həlləri tapır və xərcləri azaldır.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285399"/>
            <a:ext cx="12088773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İdarəetmədə SI İstifadəsinə Praktik Nümunələr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98" y="2330768"/>
            <a:ext cx="665083" cy="411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98796" y="2330768"/>
            <a:ext cx="208823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Retail - Tələbatın Proqnozu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798796" y="3380423"/>
            <a:ext cx="2088237" cy="356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Böyük pərakəndə şəbəkələri SI ilə məhsul tələbatını proqnozlaşdırır. Mövsümi dəyişikliklər, bayramlar və hava şəraiti nəzərə alınaraq inventar idarə edilir. Nəticə: artıq ehtiyatların 25-30% azalması.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948" y="2330768"/>
            <a:ext cx="665083" cy="4110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91946" y="2330768"/>
            <a:ext cx="2088237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Maliyyə - Kredit Risklərinin Analizi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091946" y="3380423"/>
            <a:ext cx="2088237" cy="29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Banklar SI modelləri ilə kredit müraciətlərini qiymətləndirir. Yüzlərlə parametr əsasında dəfələrlə daha sürətli və dəqiq qərar verilir. Problem kreditlərin aşkarlanma dərəcəsi 40% artır.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098" y="2330768"/>
            <a:ext cx="665083" cy="41100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85096" y="2330768"/>
            <a:ext cx="2088237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Logistika - Marşrutların Optimallaşdırılması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8385096" y="3687128"/>
            <a:ext cx="2088237" cy="291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Çatdırılma şirkətləri SI ilə ən optimal marşrutları hesablayır. Trafik, yanacaq qiymətləri və çatdırılma pəncərələri nəzərə alınır. Yanacaq xərcləri 15-20% azalır, çatdırılma vaxtı qısalır.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3248" y="2330768"/>
            <a:ext cx="665083" cy="41100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678245" y="2330768"/>
            <a:ext cx="2088356" cy="920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HR - İşçilərin İşdən Ayrılma Proqnozu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11678245" y="3380423"/>
            <a:ext cx="2088356" cy="356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Şirkətlər SI ilə hansı işçilərin işdən çıxma riskinə malik olduğunu müəyyənləşdirir. Məmnuniyyət, performans və davranış nümunələri təhlil edilir. Qiymətli kadrların saxlanması üçün proaktiv tədbirlər görülür.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34045"/>
            <a:ext cx="6397347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Məhdudiyyətlər və Miflər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087285"/>
            <a:ext cx="264818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Geniş Yayılmış Miflər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2636877"/>
            <a:ext cx="2985968" cy="1969889"/>
          </a:xfrm>
          <a:prstGeom prst="roundRect">
            <a:avLst>
              <a:gd name="adj" fmla="val 1645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0139" y="2883218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Mif 1: SI = Şüur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10139" y="3405783"/>
            <a:ext cx="2493288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"Süni intellekt düşünür və hiss edir"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65627" y="2636877"/>
            <a:ext cx="2986088" cy="1969889"/>
          </a:xfrm>
          <a:prstGeom prst="roundRect">
            <a:avLst>
              <a:gd name="adj" fmla="val 1645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11968" y="2883218"/>
            <a:ext cx="2493407" cy="61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Mif 2: Tam Avtonomluq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311968" y="3712488"/>
            <a:ext cx="2493407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"SI insan nəzarəti olmadan işləyə bilər"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3798" y="4822627"/>
            <a:ext cx="6187916" cy="1339215"/>
          </a:xfrm>
          <a:prstGeom prst="roundRect">
            <a:avLst>
              <a:gd name="adj" fmla="val 2419"/>
            </a:avLst>
          </a:prstGeom>
          <a:solidFill>
            <a:srgbClr val="111213"/>
          </a:solidFill>
          <a:ln w="3048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0139" y="5068967"/>
            <a:ext cx="321778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Mif 3: Menecerlərin Əvəzi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0139" y="5591532"/>
            <a:ext cx="569523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"SI rəhbərləri işsiz qoyacaq"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30691" y="1871424"/>
            <a:ext cx="6499146" cy="4533305"/>
          </a:xfrm>
          <a:prstGeom prst="roundRect">
            <a:avLst>
              <a:gd name="adj" fmla="val 715"/>
            </a:avLst>
          </a:prstGeom>
          <a:solidFill>
            <a:srgbClr val="1D1F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46551" y="2087285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Reallıq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46551" y="2609850"/>
            <a:ext cx="6067425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alətdir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şüurlu varlıq deyil. O, məlumat tələb edir, daimi nəzarətə ehtiyac duyur və insan interpretasiyası olmadan qərar qəbul edə bilməz.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46551" y="3776067"/>
            <a:ext cx="6067425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Uğurlu SI tətbiqi üçün lazımdır: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646551" y="4294346"/>
            <a:ext cx="6067425" cy="1522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Keyfiyyətli məlumat bazası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Mütəxəssis nəzarəti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Nəticələrin doğrulanması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Etik çərçivələrə riayət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3798" y="6647617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texnologiyası insanın qərar qəbul etmə prosesini asanlaşdırır, lakin son qərarı həmişə insan verməlidir. Texnologiya və humanitar yanaşmanın sintezi optimal nəticələr verir.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6042" y="1400889"/>
            <a:ext cx="5886450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Kontekst və Məsuliyyət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16042" y="2131933"/>
            <a:ext cx="7711916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texnologiyalarının geniş tətbiqi ciddi etik məsələlər ortaya qoyur. Bu çağırışların həlli texnologiyanın uzunmüddətli uğuru üçün kritikdir.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16042" y="2789753"/>
            <a:ext cx="2471738" cy="2965252"/>
          </a:xfrm>
          <a:prstGeom prst="roundRect">
            <a:avLst>
              <a:gd name="adj" fmla="val 44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93182" y="2789753"/>
            <a:ext cx="91440" cy="2965252"/>
          </a:xfrm>
          <a:prstGeom prst="roundRect">
            <a:avLst>
              <a:gd name="adj" fmla="val 293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6433" y="2991564"/>
            <a:ext cx="199953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Məlumatlarda Qərəz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6433" y="3589139"/>
            <a:ext cx="1999536" cy="1964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modelləri öyrəndiyi məlumatlardakı qərəzləri əks etdirir. Tarixdə diskriminasiya olubsa, SI də onu təkrarlaya bilər. Həll: müxtəlif məlumat dəstləri və daimi monitorinq.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36131" y="2789753"/>
            <a:ext cx="2471738" cy="2965252"/>
          </a:xfrm>
          <a:prstGeom prst="roundRect">
            <a:avLst>
              <a:gd name="adj" fmla="val 44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13271" y="2789753"/>
            <a:ext cx="91440" cy="2965252"/>
          </a:xfrm>
          <a:prstGeom prst="roundRect">
            <a:avLst>
              <a:gd name="adj" fmla="val 293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06522" y="2991564"/>
            <a:ext cx="199953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Qara Qutu Problemi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606522" y="3589139"/>
            <a:ext cx="1999536" cy="1718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Mürəkkəb SI sistemlərinin qərar qəbul mexanizmi anlaşılmır. "Niyə bu qərar verildi?" sualına cavab vermək çətindir. Şəffaflıq və izahedilənlik tələb olunur.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56221" y="2789753"/>
            <a:ext cx="2471738" cy="2965252"/>
          </a:xfrm>
          <a:prstGeom prst="roundRect">
            <a:avLst>
              <a:gd name="adj" fmla="val 4439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933361" y="2789753"/>
            <a:ext cx="91440" cy="2965252"/>
          </a:xfrm>
          <a:prstGeom prst="roundRect">
            <a:avLst>
              <a:gd name="adj" fmla="val 2936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26612" y="2991564"/>
            <a:ext cx="1999536" cy="508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Məsuliyyət Məsələsi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26612" y="3589139"/>
            <a:ext cx="1999536" cy="1718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səhv etdikdə kim məsuliyyət daşıyır? Proqramçı, istifadəçi, yoxsa təşkilat? Aydın hüquqi çərçivələr və sığorta mexanizmləri formalaşmalıdır.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6042" y="5921812"/>
            <a:ext cx="7711916" cy="906899"/>
          </a:xfrm>
          <a:prstGeom prst="roundRect">
            <a:avLst>
              <a:gd name="adj" fmla="val 2961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93" y="6163985"/>
            <a:ext cx="223718" cy="1789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7662" y="6114812"/>
            <a:ext cx="6951345" cy="49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Vacib:</a:t>
            </a:r>
            <a:r>
              <a:rPr lang="en-US" sz="14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Etik SI inkişafı üçün şirkətlər daxili qaydalar, nəzarət komitələri və şəffaflıq standartları yaratmalıdır. Texnoloji irəliləyiş insan dəyərləri ilə balanslaşdırılmalıdır.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3798" y="1514237"/>
            <a:ext cx="1441133" cy="38862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3338" y="1622108"/>
            <a:ext cx="172760" cy="172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418" y="1579007"/>
            <a:ext cx="92297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 TAPŞIRIĞI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63798" y="1989177"/>
            <a:ext cx="4908471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Praktik Tapşırıqlar</a:t>
            </a:r>
            <a:endParaRPr lang="en-US" sz="3850" dirty="0"/>
          </a:p>
        </p:txBody>
      </p:sp>
      <p:sp>
        <p:nvSpPr>
          <p:cNvPr id="6" name="Shape 3"/>
          <p:cNvSpPr/>
          <p:nvPr/>
        </p:nvSpPr>
        <p:spPr>
          <a:xfrm>
            <a:off x="863798" y="2926556"/>
            <a:ext cx="6343412" cy="3221831"/>
          </a:xfrm>
          <a:prstGeom prst="roundRect">
            <a:avLst>
              <a:gd name="adj" fmla="val 100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79659" y="314241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Tapşırıq 1: Tədqiqat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79659" y="3578662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Öz sahənizdə (təhsil, tibb, maliyyə, və s.) süni intellektin real istifadəsinə nümunə tapın. Araşdırın: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79659" y="4356140"/>
            <a:ext cx="5911691" cy="112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Hansı SI texnologiyası istifadə olunur?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Hansı problemi həll edir?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Nəticələr nələrdir?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423071" y="2926556"/>
            <a:ext cx="6343531" cy="3221831"/>
          </a:xfrm>
          <a:prstGeom prst="roundRect">
            <a:avLst>
              <a:gd name="adj" fmla="val 1006"/>
            </a:avLst>
          </a:prstGeom>
          <a:solidFill>
            <a:srgbClr val="3031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38931" y="314241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Tapşırıq 2: Analiz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638931" y="3578662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Düşünün və yazın: Hansı idarəetmə tapşırıqları süni intellektə həvalə edilə </a:t>
            </a:r>
            <a:r>
              <a:rPr lang="en-US" sz="1700" b="1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bilməz</a:t>
            </a: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? Niyə?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38931" y="4356140"/>
            <a:ext cx="591181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Məsələn: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638931" y="4809649"/>
            <a:ext cx="5911810" cy="112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Etik qərarlar?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Yaradıcı strategiya?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Komanda motivasiyası?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3798" y="6391275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Cavablarınızı növbəti dərsdə müzakirə edəcəyik. Konkret nümunələr və öz fikirləriniz xüsusilə dəyərlidir. Uğurlar!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475AA3-51D6-9450-DD27-549B31E9C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9587" y="228437"/>
            <a:ext cx="1987014" cy="25685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1044</Words>
  <Application>Microsoft Office PowerPoint</Application>
  <PresentationFormat>Custom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Montserrat Bold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Orkhan Iskandarov</cp:lastModifiedBy>
  <cp:revision>2</cp:revision>
  <dcterms:created xsi:type="dcterms:W3CDTF">2026-02-14T13:23:25Z</dcterms:created>
  <dcterms:modified xsi:type="dcterms:W3CDTF">2026-02-16T08:44:28Z</dcterms:modified>
</cp:coreProperties>
</file>