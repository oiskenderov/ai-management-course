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2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1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1.png" ContentType="image/png"/>
  <Override PartName="/ppt/media/image2.png" ContentType="image/png"/>
  <Override PartName="/ppt/media/image13.png" ContentType="image/png"/>
  <Override PartName="/ppt/media/image4.png" ContentType="image/png"/>
  <Override PartName="/ppt/media/image9.png" ContentType="image/png"/>
  <Override PartName="/ppt/media/image18.png" ContentType="image/png"/>
  <Override PartName="/ppt/media/image20.png" ContentType="image/png"/>
  <Override PartName="/ppt/media/image7.svg" ContentType="image/svg"/>
  <Override PartName="/ppt/media/image12.png" ContentType="image/png"/>
  <Override PartName="/ppt/media/image22.png" ContentType="image/png"/>
  <Override PartName="/ppt/media/image3.svg" ContentType="image/svg"/>
  <Override PartName="/ppt/media/image19.png" ContentType="image/png"/>
  <Override PartName="/ppt/media/image16.png" ContentType="image/png"/>
  <Override PartName="/ppt/media/image14.png" ContentType="image/png"/>
  <Override PartName="/ppt/media/image6.png" ContentType="image/png"/>
  <Override PartName="/ppt/media/image15.png" ContentType="image/png"/>
  <Override PartName="/ppt/media/image5.svg" ContentType="image/svg"/>
  <Override PartName="/ppt/media/image10.png" ContentType="image/png"/>
  <Override PartName="/ppt/media/image21.svg" ContentType="image/svg"/>
  <Override PartName="/ppt/media/image1.png" ContentType="image/png"/>
  <Override PartName="/ppt/media/image8.png" ContentType="image/png"/>
  <Override PartName="/ppt/media/image17.png" ContentType="image/png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</p:sldMasterIdLst>
  <p:notesMasterIdLst>
    <p:notesMasterId r:id="rId14"/>
  </p:notesMasterIdLst>
  <p:sldIdLst>
    <p:sldId id="256" r:id="rId15"/>
    <p:sldId id="257" r:id="rId16"/>
    <p:sldId id="258" r:id="rId17"/>
    <p:sldId id="259" r:id="rId18"/>
    <p:sldId id="260" r:id="rId19"/>
    <p:sldId id="261" r:id="rId20"/>
    <p:sldId id="262" r:id="rId21"/>
    <p:sldId id="263" r:id="rId22"/>
    <p:sldId id="264" r:id="rId23"/>
    <p:sldId id="265" r:id="rId24"/>
    <p:sldId id="266" r:id="rId25"/>
  </p:sldIdLst>
  <p:sldSz cx="14630400" cy="8229600"/>
  <p:notesSz cx="8229600" cy="14630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6E07B2E6-5DA3-4CF7-B412-D1A5A2B35F48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31E1F12-E585-4CC1-901D-78E580FD80CC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7CAB1540-3680-4E2D-9098-7667FA1D0B17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93A86937-3271-4EBE-8129-B4D1FD83711E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3E96E949-40AC-4938-A8D1-510C33DA5B97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73301798-4B7F-41FC-9702-58990066B070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F54F9FDE-4128-492A-A976-F96ACF23F89D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138B9134-31C5-4D5F-B9C2-208F2CDA91D6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D71CD84A-2E08-46D6-8D80-46917F937406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DC3D2ACC-B749-4572-931F-87D44E699250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5B715F86-806A-4649-84EE-F28176F24566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D94C6AA8-64B2-4F28-85A9-2F81CD83564E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sv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6.png"/><Relationship Id="rId6" Type="http://schemas.openxmlformats.org/officeDocument/2006/relationships/image" Target="../media/image7.svg"/><Relationship Id="rId7" Type="http://schemas.openxmlformats.org/officeDocument/2006/relationships/slideLayout" Target="../slideLayouts/slideLayout6.xml"/><Relationship Id="rId8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slideLayout" Target="../slideLayouts/slideLayout9.xml"/><Relationship Id="rId6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svg"/><Relationship Id="rId3" Type="http://schemas.openxmlformats.org/officeDocument/2006/relationships/image" Target="../media/image22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Image 0" descr="preencoded.png"/>
          <p:cNvPicPr/>
          <p:nvPr/>
        </p:nvPicPr>
        <p:blipFill>
          <a:blip r:embed="rId1"/>
          <a:stretch/>
        </p:blipFill>
        <p:spPr>
          <a:xfrm>
            <a:off x="9144000" y="0"/>
            <a:ext cx="5486040" cy="8229240"/>
          </a:xfrm>
          <a:prstGeom prst="rect">
            <a:avLst/>
          </a:prstGeom>
          <a:ln w="0">
            <a:noFill/>
          </a:ln>
        </p:spPr>
      </p:pic>
      <p:sp>
        <p:nvSpPr>
          <p:cNvPr id="51" name="Text 0"/>
          <p:cNvSpPr/>
          <p:nvPr/>
        </p:nvSpPr>
        <p:spPr>
          <a:xfrm>
            <a:off x="863640" y="3177360"/>
            <a:ext cx="7416000" cy="12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Süni İntellekt: İdarəetmə Aləti Kimi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 1"/>
          <p:cNvSpPr/>
          <p:nvPr/>
        </p:nvSpPr>
        <p:spPr>
          <a:xfrm>
            <a:off x="863640" y="4728240"/>
            <a:ext cx="741600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Müasir texnologiyaların idarəetmə proseslərində tətbiqi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hape 0"/>
          <p:cNvSpPr/>
          <p:nvPr/>
        </p:nvSpPr>
        <p:spPr>
          <a:xfrm>
            <a:off x="863640" y="1773360"/>
            <a:ext cx="1857960" cy="388440"/>
          </a:xfrm>
          <a:prstGeom prst="roundRect">
            <a:avLst>
              <a:gd name="adj" fmla="val 6669"/>
            </a:avLst>
          </a:prstGeom>
          <a:solidFill>
            <a:srgbClr val="2626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Text 1"/>
          <p:cNvSpPr/>
          <p:nvPr/>
        </p:nvSpPr>
        <p:spPr>
          <a:xfrm>
            <a:off x="849240" y="1802160"/>
            <a:ext cx="159912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DƏRSIN MƏQSƏDLƏRI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Text 2"/>
          <p:cNvSpPr/>
          <p:nvPr/>
        </p:nvSpPr>
        <p:spPr>
          <a:xfrm>
            <a:off x="863640" y="2248200"/>
            <a:ext cx="6411960" cy="61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Bu Gün Nə Öyrənəcəyik?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Shape 3"/>
          <p:cNvSpPr/>
          <p:nvPr/>
        </p:nvSpPr>
        <p:spPr>
          <a:xfrm>
            <a:off x="863640" y="3185640"/>
            <a:ext cx="4156560" cy="2379240"/>
          </a:xfrm>
          <a:prstGeom prst="roundRect">
            <a:avLst>
              <a:gd name="adj" fmla="val 1361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Shape 4"/>
          <p:cNvSpPr/>
          <p:nvPr/>
        </p:nvSpPr>
        <p:spPr>
          <a:xfrm>
            <a:off x="1079640" y="3401640"/>
            <a:ext cx="647280" cy="647280"/>
          </a:xfrm>
          <a:prstGeom prst="roundRect">
            <a:avLst>
              <a:gd name="adj" fmla="val 14113642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58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257840" y="3579840"/>
            <a:ext cx="291240" cy="291240"/>
          </a:xfrm>
          <a:prstGeom prst="rect">
            <a:avLst/>
          </a:prstGeom>
          <a:ln w="0">
            <a:noFill/>
          </a:ln>
        </p:spPr>
      </p:pic>
      <p:sp>
        <p:nvSpPr>
          <p:cNvPr id="59" name="Text 5"/>
          <p:cNvSpPr/>
          <p:nvPr/>
        </p:nvSpPr>
        <p:spPr>
          <a:xfrm>
            <a:off x="1079640" y="426528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SI-nin Mahiyyəti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 6"/>
          <p:cNvSpPr/>
          <p:nvPr/>
        </p:nvSpPr>
        <p:spPr>
          <a:xfrm>
            <a:off x="1079640" y="4701600"/>
            <a:ext cx="372492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Süni intellektin əsas prinsiplərini və idarəetmədə rolunu dərk edəcəyik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7"/>
          <p:cNvSpPr/>
          <p:nvPr/>
        </p:nvSpPr>
        <p:spPr>
          <a:xfrm>
            <a:off x="5236560" y="3185640"/>
            <a:ext cx="4156560" cy="2379240"/>
          </a:xfrm>
          <a:prstGeom prst="roundRect">
            <a:avLst>
              <a:gd name="adj" fmla="val 1361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Shape 8"/>
          <p:cNvSpPr/>
          <p:nvPr/>
        </p:nvSpPr>
        <p:spPr>
          <a:xfrm>
            <a:off x="5452560" y="3401640"/>
            <a:ext cx="647280" cy="647280"/>
          </a:xfrm>
          <a:prstGeom prst="roundRect">
            <a:avLst>
              <a:gd name="adj" fmla="val 14113642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63" name="Image 1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5630760" y="3579840"/>
            <a:ext cx="291240" cy="291240"/>
          </a:xfrm>
          <a:prstGeom prst="rect">
            <a:avLst/>
          </a:prstGeom>
          <a:ln w="0">
            <a:noFill/>
          </a:ln>
        </p:spPr>
      </p:pic>
      <p:sp>
        <p:nvSpPr>
          <p:cNvPr id="64" name="Text 9"/>
          <p:cNvSpPr/>
          <p:nvPr/>
        </p:nvSpPr>
        <p:spPr>
          <a:xfrm>
            <a:off x="5452560" y="426528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Tarixi İnkişaf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 10"/>
          <p:cNvSpPr/>
          <p:nvPr/>
        </p:nvSpPr>
        <p:spPr>
          <a:xfrm>
            <a:off x="5452560" y="4701600"/>
            <a:ext cx="372492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SI texnologiyalarının tarixini və müasir imkanlarını öyrənəcəyik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11"/>
          <p:cNvSpPr/>
          <p:nvPr/>
        </p:nvSpPr>
        <p:spPr>
          <a:xfrm>
            <a:off x="9609480" y="3185640"/>
            <a:ext cx="4156560" cy="2379240"/>
          </a:xfrm>
          <a:prstGeom prst="roundRect">
            <a:avLst>
              <a:gd name="adj" fmla="val 1361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7" name="Shape 12"/>
          <p:cNvSpPr/>
          <p:nvPr/>
        </p:nvSpPr>
        <p:spPr>
          <a:xfrm>
            <a:off x="9825480" y="3401640"/>
            <a:ext cx="647280" cy="647280"/>
          </a:xfrm>
          <a:prstGeom prst="roundRect">
            <a:avLst>
              <a:gd name="adj" fmla="val 14113642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68" name="Image 2" descr="preencoded.png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10003680" y="3579840"/>
            <a:ext cx="291240" cy="291240"/>
          </a:xfrm>
          <a:prstGeom prst="rect">
            <a:avLst/>
          </a:prstGeom>
          <a:ln w="0">
            <a:noFill/>
          </a:ln>
        </p:spPr>
      </p:pic>
      <p:sp>
        <p:nvSpPr>
          <p:cNvPr id="69" name="Text 13"/>
          <p:cNvSpPr/>
          <p:nvPr/>
        </p:nvSpPr>
        <p:spPr>
          <a:xfrm>
            <a:off x="9825480" y="426528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Praktik Tətbiq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14"/>
          <p:cNvSpPr/>
          <p:nvPr/>
        </p:nvSpPr>
        <p:spPr>
          <a:xfrm>
            <a:off x="9825480" y="4701600"/>
            <a:ext cx="372492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Real biznes proseslərində SI-nin istifadə sahələrini araşdıracağıq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 15"/>
          <p:cNvSpPr/>
          <p:nvPr/>
        </p:nvSpPr>
        <p:spPr>
          <a:xfrm>
            <a:off x="863640" y="5808240"/>
            <a:ext cx="1290240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Bu dərsin sonunda siz süni intellekti sadəcə texnologiya deyil, həm də güclü idarəetmə aləti kimi başa düşəcəksiniz. Praktik nümunələr və konkret hallara əsaslanaraq, SI-nin müasir təşkilatlarda necə dəyər yaratdığını öyrənəcəksiniz.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14630040" cy="2699280"/>
          </a:xfrm>
          <a:prstGeom prst="rect">
            <a:avLst/>
          </a:prstGeom>
          <a:ln w="0">
            <a:noFill/>
          </a:ln>
        </p:spPr>
      </p:pic>
      <p:sp>
        <p:nvSpPr>
          <p:cNvPr id="73" name="Text 0"/>
          <p:cNvSpPr/>
          <p:nvPr/>
        </p:nvSpPr>
        <p:spPr>
          <a:xfrm>
            <a:off x="863640" y="3382200"/>
            <a:ext cx="5270040" cy="61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Süni İntellekt Nədir?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 1"/>
          <p:cNvSpPr/>
          <p:nvPr/>
        </p:nvSpPr>
        <p:spPr>
          <a:xfrm>
            <a:off x="863640" y="4319640"/>
            <a:ext cx="1290240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Süni intellekt (SI) — kompüter sistemlərinin insanın koqnitiv funksiyalarını imitasiya etmə qabiliyyətidir. Bu funksiyalara öyrənmə, düşünmə, problemlərin həlli və təcrübədən nəticə çıxarma daxildir.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2"/>
          <p:cNvSpPr/>
          <p:nvPr/>
        </p:nvSpPr>
        <p:spPr>
          <a:xfrm>
            <a:off x="708120" y="5210640"/>
            <a:ext cx="6498720" cy="2336040"/>
          </a:xfrm>
          <a:prstGeom prst="roundRect">
            <a:avLst>
              <a:gd name="adj" fmla="val 1387"/>
            </a:avLst>
          </a:prstGeom>
          <a:solidFill>
            <a:srgbClr val="1d1f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6" name="Text 3"/>
          <p:cNvSpPr/>
          <p:nvPr/>
        </p:nvSpPr>
        <p:spPr>
          <a:xfrm>
            <a:off x="924120" y="542628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Əsas Xüsusiyyətlər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 4"/>
          <p:cNvSpPr/>
          <p:nvPr/>
        </p:nvSpPr>
        <p:spPr>
          <a:xfrm>
            <a:off x="924120" y="5949000"/>
            <a:ext cx="6067080" cy="152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Məlumatlardan öyrənmə qabiliyyəti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Nümunələri tanıma bacarığı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Proqnozlar və tövsiyələr vermə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Mürəkkəb məlumatların analizi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 5"/>
          <p:cNvSpPr/>
          <p:nvPr/>
        </p:nvSpPr>
        <p:spPr>
          <a:xfrm>
            <a:off x="7586280" y="542628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Vacib Qeyd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 6"/>
          <p:cNvSpPr/>
          <p:nvPr/>
        </p:nvSpPr>
        <p:spPr>
          <a:xfrm>
            <a:off x="7586280" y="5949000"/>
            <a:ext cx="6187680" cy="9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SI ≠ İnsan zəkası. Süni intellekt şüurlu deyil, lakin böyük həcmli məlumatlara əsaslanaraq məntiqli qərarlar qəbul edə bilər. O, insanın köməkçisidir, əvəzedicisi deyil.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 0"/>
          <p:cNvSpPr/>
          <p:nvPr/>
        </p:nvSpPr>
        <p:spPr>
          <a:xfrm>
            <a:off x="742680" y="764640"/>
            <a:ext cx="6283080" cy="5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4150"/>
              </a:lnSpc>
              <a:tabLst>
                <a:tab algn="l" pos="0"/>
              </a:tabLst>
            </a:pPr>
            <a:r>
              <a:rPr b="1" lang="en-US" sz="33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Süni İntellektin İnkişaf Tarixi</a:t>
            </a:r>
            <a:endParaRPr b="0" lang="en-US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 1"/>
          <p:cNvSpPr/>
          <p:nvPr/>
        </p:nvSpPr>
        <p:spPr>
          <a:xfrm>
            <a:off x="742680" y="1611360"/>
            <a:ext cx="1314432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SI texnologiyalarının 70 illik səyahəti bizi sadə suallardan generativ modellərin dövrünə gətirib çıxardı. Hər mərhələ yeni imkanlar və çağırışlar gətirdi.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2"/>
          <p:cNvSpPr/>
          <p:nvPr/>
        </p:nvSpPr>
        <p:spPr>
          <a:xfrm>
            <a:off x="7303680" y="2050200"/>
            <a:ext cx="22680" cy="5414400"/>
          </a:xfrm>
          <a:prstGeom prst="roundRect">
            <a:avLst>
              <a:gd name="adj" fmla="val 121859"/>
            </a:avLst>
          </a:prstGeom>
          <a:solidFill>
            <a:srgbClr val="494a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3" name="Shape 3"/>
          <p:cNvSpPr/>
          <p:nvPr/>
        </p:nvSpPr>
        <p:spPr>
          <a:xfrm>
            <a:off x="6572160" y="2247480"/>
            <a:ext cx="556560" cy="22680"/>
          </a:xfrm>
          <a:prstGeom prst="roundRect">
            <a:avLst>
              <a:gd name="adj" fmla="val 121859"/>
            </a:avLst>
          </a:prstGeom>
          <a:solidFill>
            <a:srgbClr val="494a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8800" bIns="-288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4" name="Shape 4"/>
          <p:cNvSpPr/>
          <p:nvPr/>
        </p:nvSpPr>
        <p:spPr>
          <a:xfrm>
            <a:off x="7106400" y="2050200"/>
            <a:ext cx="417600" cy="417600"/>
          </a:xfrm>
          <a:prstGeom prst="roundRect">
            <a:avLst>
              <a:gd name="adj" fmla="val 6668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5" name="Text 5"/>
          <p:cNvSpPr/>
          <p:nvPr/>
        </p:nvSpPr>
        <p:spPr>
          <a:xfrm>
            <a:off x="7188480" y="2100600"/>
            <a:ext cx="252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 defTabSz="914400">
              <a:lnSpc>
                <a:spcPts val="1950"/>
              </a:lnSpc>
              <a:tabLst>
                <a:tab algn="l" pos="0"/>
              </a:tabLst>
            </a:pPr>
            <a:r>
              <a:rPr b="1" lang="en-US" sz="19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1</a:t>
            </a:r>
            <a:endParaRPr b="0" lang="en-US" sz="1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Text 6"/>
          <p:cNvSpPr/>
          <p:nvPr/>
        </p:nvSpPr>
        <p:spPr>
          <a:xfrm>
            <a:off x="4276440" y="2113920"/>
            <a:ext cx="2109960" cy="26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r" defTabSz="914400">
              <a:lnSpc>
                <a:spcPts val="2049"/>
              </a:lnSpc>
              <a:tabLst>
                <a:tab algn="l" pos="0"/>
              </a:tabLst>
            </a:pPr>
            <a:r>
              <a:rPr b="1" lang="en-US" sz="16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1950 - Turing Testi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 7"/>
          <p:cNvSpPr/>
          <p:nvPr/>
        </p:nvSpPr>
        <p:spPr>
          <a:xfrm>
            <a:off x="742680" y="2473560"/>
            <a:ext cx="564372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Alan Turing "maşınlar düşünə bilərmi?" sualını ortaya qoydu və ilk SI konsepsiyasını təqdim etdi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8"/>
          <p:cNvSpPr/>
          <p:nvPr/>
        </p:nvSpPr>
        <p:spPr>
          <a:xfrm>
            <a:off x="7501320" y="3309840"/>
            <a:ext cx="556560" cy="22680"/>
          </a:xfrm>
          <a:prstGeom prst="roundRect">
            <a:avLst>
              <a:gd name="adj" fmla="val 121859"/>
            </a:avLst>
          </a:prstGeom>
          <a:solidFill>
            <a:srgbClr val="494a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8800" bIns="-288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9" name="Shape 9"/>
          <p:cNvSpPr/>
          <p:nvPr/>
        </p:nvSpPr>
        <p:spPr>
          <a:xfrm>
            <a:off x="7106400" y="3112200"/>
            <a:ext cx="417600" cy="417600"/>
          </a:xfrm>
          <a:prstGeom prst="roundRect">
            <a:avLst>
              <a:gd name="adj" fmla="val 6668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0" name="Text 10"/>
          <p:cNvSpPr/>
          <p:nvPr/>
        </p:nvSpPr>
        <p:spPr>
          <a:xfrm>
            <a:off x="7188480" y="3162960"/>
            <a:ext cx="252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 defTabSz="914400">
              <a:lnSpc>
                <a:spcPts val="1950"/>
              </a:lnSpc>
              <a:tabLst>
                <a:tab algn="l" pos="0"/>
              </a:tabLst>
            </a:pPr>
            <a:r>
              <a:rPr b="1" lang="en-US" sz="19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2</a:t>
            </a:r>
            <a:endParaRPr b="0" lang="en-US" sz="1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11"/>
          <p:cNvSpPr/>
          <p:nvPr/>
        </p:nvSpPr>
        <p:spPr>
          <a:xfrm>
            <a:off x="8243640" y="3176280"/>
            <a:ext cx="2736720" cy="26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049"/>
              </a:lnSpc>
              <a:tabLst>
                <a:tab algn="l" pos="0"/>
              </a:tabLst>
            </a:pPr>
            <a:r>
              <a:rPr b="1" lang="en-US" sz="16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1956 - Dartmut Konfransı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12"/>
          <p:cNvSpPr/>
          <p:nvPr/>
        </p:nvSpPr>
        <p:spPr>
          <a:xfrm>
            <a:off x="8243640" y="3535560"/>
            <a:ext cx="564372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SI termini rəsmi olaraq yarandı və elm sahəsi kimi formalaşmağa başladı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Shape 13"/>
          <p:cNvSpPr/>
          <p:nvPr/>
        </p:nvSpPr>
        <p:spPr>
          <a:xfrm>
            <a:off x="6572160" y="4244040"/>
            <a:ext cx="556560" cy="22680"/>
          </a:xfrm>
          <a:prstGeom prst="roundRect">
            <a:avLst>
              <a:gd name="adj" fmla="val 121859"/>
            </a:avLst>
          </a:prstGeom>
          <a:solidFill>
            <a:srgbClr val="494a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8800" bIns="-288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4" name="Shape 14"/>
          <p:cNvSpPr/>
          <p:nvPr/>
        </p:nvSpPr>
        <p:spPr>
          <a:xfrm>
            <a:off x="7106400" y="4046760"/>
            <a:ext cx="417600" cy="417600"/>
          </a:xfrm>
          <a:prstGeom prst="roundRect">
            <a:avLst>
              <a:gd name="adj" fmla="val 6668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5" name="Text 15"/>
          <p:cNvSpPr/>
          <p:nvPr/>
        </p:nvSpPr>
        <p:spPr>
          <a:xfrm>
            <a:off x="7188480" y="4097160"/>
            <a:ext cx="252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 defTabSz="914400">
              <a:lnSpc>
                <a:spcPts val="1950"/>
              </a:lnSpc>
              <a:tabLst>
                <a:tab algn="l" pos="0"/>
              </a:tabLst>
            </a:pPr>
            <a:r>
              <a:rPr b="1" lang="en-US" sz="19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3</a:t>
            </a:r>
            <a:endParaRPr b="0" lang="en-US" sz="1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 16"/>
          <p:cNvSpPr/>
          <p:nvPr/>
        </p:nvSpPr>
        <p:spPr>
          <a:xfrm>
            <a:off x="3098520" y="4110480"/>
            <a:ext cx="3287880" cy="26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r" defTabSz="914400">
              <a:lnSpc>
                <a:spcPts val="2049"/>
              </a:lnSpc>
              <a:tabLst>
                <a:tab algn="l" pos="0"/>
              </a:tabLst>
            </a:pPr>
            <a:r>
              <a:rPr b="1" lang="en-US" sz="16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1980-1990 - Ekspert Sistemləri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 17"/>
          <p:cNvSpPr/>
          <p:nvPr/>
        </p:nvSpPr>
        <p:spPr>
          <a:xfrm>
            <a:off x="742680" y="4470120"/>
            <a:ext cx="564372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İlk praktik SI tətbiqləri biznes və tibb sahələrində istifadə olunmağa başladı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Shape 18"/>
          <p:cNvSpPr/>
          <p:nvPr/>
        </p:nvSpPr>
        <p:spPr>
          <a:xfrm>
            <a:off x="7501320" y="5178600"/>
            <a:ext cx="556560" cy="22680"/>
          </a:xfrm>
          <a:prstGeom prst="roundRect">
            <a:avLst>
              <a:gd name="adj" fmla="val 121859"/>
            </a:avLst>
          </a:prstGeom>
          <a:solidFill>
            <a:srgbClr val="494a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8800" bIns="-288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9" name="Shape 19"/>
          <p:cNvSpPr/>
          <p:nvPr/>
        </p:nvSpPr>
        <p:spPr>
          <a:xfrm>
            <a:off x="7106400" y="4980960"/>
            <a:ext cx="417600" cy="417600"/>
          </a:xfrm>
          <a:prstGeom prst="roundRect">
            <a:avLst>
              <a:gd name="adj" fmla="val 6668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0" name="Text 20"/>
          <p:cNvSpPr/>
          <p:nvPr/>
        </p:nvSpPr>
        <p:spPr>
          <a:xfrm>
            <a:off x="7188480" y="5031720"/>
            <a:ext cx="252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 defTabSz="914400">
              <a:lnSpc>
                <a:spcPts val="1950"/>
              </a:lnSpc>
              <a:tabLst>
                <a:tab algn="l" pos="0"/>
              </a:tabLst>
            </a:pPr>
            <a:r>
              <a:rPr b="1" lang="en-US" sz="19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4</a:t>
            </a:r>
            <a:endParaRPr b="0" lang="en-US" sz="1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 21"/>
          <p:cNvSpPr/>
          <p:nvPr/>
        </p:nvSpPr>
        <p:spPr>
          <a:xfrm>
            <a:off x="8243640" y="5045040"/>
            <a:ext cx="3215520" cy="26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049"/>
              </a:lnSpc>
              <a:tabLst>
                <a:tab algn="l" pos="0"/>
              </a:tabLst>
            </a:pPr>
            <a:r>
              <a:rPr b="1" lang="en-US" sz="16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2010-cü illər - Dərin Öyrənmə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22"/>
          <p:cNvSpPr/>
          <p:nvPr/>
        </p:nvSpPr>
        <p:spPr>
          <a:xfrm>
            <a:off x="8243640" y="5404320"/>
            <a:ext cx="564372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Neyron şəbəkələri inqilabı görüntü və nitq tanıma texnologiyalarını çevirdi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Shape 23"/>
          <p:cNvSpPr/>
          <p:nvPr/>
        </p:nvSpPr>
        <p:spPr>
          <a:xfrm>
            <a:off x="6572160" y="6112800"/>
            <a:ext cx="556560" cy="22680"/>
          </a:xfrm>
          <a:prstGeom prst="roundRect">
            <a:avLst>
              <a:gd name="adj" fmla="val 121859"/>
            </a:avLst>
          </a:prstGeom>
          <a:solidFill>
            <a:srgbClr val="494a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8800" bIns="-288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4" name="Shape 24"/>
          <p:cNvSpPr/>
          <p:nvPr/>
        </p:nvSpPr>
        <p:spPr>
          <a:xfrm>
            <a:off x="7106400" y="5915520"/>
            <a:ext cx="417600" cy="417600"/>
          </a:xfrm>
          <a:prstGeom prst="roundRect">
            <a:avLst>
              <a:gd name="adj" fmla="val 6668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5" name="Text 25"/>
          <p:cNvSpPr/>
          <p:nvPr/>
        </p:nvSpPr>
        <p:spPr>
          <a:xfrm>
            <a:off x="7188480" y="5966280"/>
            <a:ext cx="252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 defTabSz="914400">
              <a:lnSpc>
                <a:spcPts val="1950"/>
              </a:lnSpc>
              <a:tabLst>
                <a:tab algn="l" pos="0"/>
              </a:tabLst>
            </a:pPr>
            <a:r>
              <a:rPr b="1" lang="en-US" sz="19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5</a:t>
            </a:r>
            <a:endParaRPr b="0" lang="en-US" sz="1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26"/>
          <p:cNvSpPr/>
          <p:nvPr/>
        </p:nvSpPr>
        <p:spPr>
          <a:xfrm>
            <a:off x="3571920" y="5979240"/>
            <a:ext cx="2814480" cy="26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r" defTabSz="914400">
              <a:lnSpc>
                <a:spcPts val="2049"/>
              </a:lnSpc>
              <a:tabLst>
                <a:tab algn="l" pos="0"/>
              </a:tabLst>
            </a:pPr>
            <a:r>
              <a:rPr b="1" lang="en-US" sz="16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2020-ci illər - Generativ SI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27"/>
          <p:cNvSpPr/>
          <p:nvPr/>
        </p:nvSpPr>
        <p:spPr>
          <a:xfrm>
            <a:off x="742680" y="6338880"/>
            <a:ext cx="564372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ChatGPT və oxşar modellər məzmun yaratma və insan-maşın əlaqəsini yenidən müəyyənləşdirdi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 0"/>
          <p:cNvSpPr/>
          <p:nvPr/>
        </p:nvSpPr>
        <p:spPr>
          <a:xfrm>
            <a:off x="863640" y="1390320"/>
            <a:ext cx="8699040" cy="61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Süni İntellektin Əsas İstiqamətləri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9" name="Image 0" descr="preencoded.png"/>
          <p:cNvPicPr/>
          <p:nvPr/>
        </p:nvPicPr>
        <p:blipFill>
          <a:blip r:embed="rId1"/>
          <a:stretch/>
        </p:blipFill>
        <p:spPr>
          <a:xfrm>
            <a:off x="863640" y="2435760"/>
            <a:ext cx="1753200" cy="1753200"/>
          </a:xfrm>
          <a:prstGeom prst="rect">
            <a:avLst/>
          </a:prstGeom>
          <a:ln w="0">
            <a:noFill/>
          </a:ln>
        </p:spPr>
      </p:pic>
      <p:sp>
        <p:nvSpPr>
          <p:cNvPr id="110" name="Text 1"/>
          <p:cNvSpPr/>
          <p:nvPr/>
        </p:nvSpPr>
        <p:spPr>
          <a:xfrm>
            <a:off x="863640" y="4458960"/>
            <a:ext cx="293508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Machine Learning (ML)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 2"/>
          <p:cNvSpPr/>
          <p:nvPr/>
        </p:nvSpPr>
        <p:spPr>
          <a:xfrm>
            <a:off x="863640" y="4895280"/>
            <a:ext cx="3022920" cy="194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Maşın öyrənməsi — sistemlərin məlumatlardan öyrənərək performansını artırması. Avtomatik nümunə tanıma və proqnozlaşdırma əsas məqsəddir.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2" name="Image 1" descr="preencoded.png"/>
          <p:cNvPicPr/>
          <p:nvPr/>
        </p:nvPicPr>
        <p:blipFill>
          <a:blip r:embed="rId2"/>
          <a:stretch/>
        </p:blipFill>
        <p:spPr>
          <a:xfrm>
            <a:off x="4156920" y="2435760"/>
            <a:ext cx="1753200" cy="1753200"/>
          </a:xfrm>
          <a:prstGeom prst="rect">
            <a:avLst/>
          </a:prstGeom>
          <a:ln w="0">
            <a:noFill/>
          </a:ln>
        </p:spPr>
      </p:pic>
      <p:sp>
        <p:nvSpPr>
          <p:cNvPr id="113" name="Text 3"/>
          <p:cNvSpPr/>
          <p:nvPr/>
        </p:nvSpPr>
        <p:spPr>
          <a:xfrm>
            <a:off x="4156920" y="4458960"/>
            <a:ext cx="3022920" cy="61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Natural Language Processing (NLP)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4"/>
          <p:cNvSpPr/>
          <p:nvPr/>
        </p:nvSpPr>
        <p:spPr>
          <a:xfrm>
            <a:off x="4156920" y="5202000"/>
            <a:ext cx="3022920" cy="16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Təbii dil emalı — maşınların insan dilini başa düşməsi və generasiya etməsi. Tərcümə, sentiment analizi və chatbot-lar bu sahəyə daxildir.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5" name="Image 2" descr="preencoded.png"/>
          <p:cNvPicPr/>
          <p:nvPr/>
        </p:nvPicPr>
        <p:blipFill>
          <a:blip r:embed="rId3"/>
          <a:stretch/>
        </p:blipFill>
        <p:spPr>
          <a:xfrm>
            <a:off x="7450200" y="2435760"/>
            <a:ext cx="1753200" cy="1753200"/>
          </a:xfrm>
          <a:prstGeom prst="rect">
            <a:avLst/>
          </a:prstGeom>
          <a:ln w="0">
            <a:noFill/>
          </a:ln>
        </p:spPr>
      </p:pic>
      <p:sp>
        <p:nvSpPr>
          <p:cNvPr id="116" name="Text 5"/>
          <p:cNvSpPr/>
          <p:nvPr/>
        </p:nvSpPr>
        <p:spPr>
          <a:xfrm>
            <a:off x="7450200" y="4458960"/>
            <a:ext cx="27579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Computer Vision (CV)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 6"/>
          <p:cNvSpPr/>
          <p:nvPr/>
        </p:nvSpPr>
        <p:spPr>
          <a:xfrm>
            <a:off x="7450200" y="4895280"/>
            <a:ext cx="3022920" cy="194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Kompüter görmə — vizual məlumatların təhlili və şəkillərdən mənalı informasiyanın çıxarılması. Üz tanıma və obyekt aşkarlama praktik tətbiqlərdir.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8" name="Image 3" descr="preencoded.png"/>
          <p:cNvPicPr/>
          <p:nvPr/>
        </p:nvPicPr>
        <p:blipFill>
          <a:blip r:embed="rId4"/>
          <a:stretch/>
        </p:blipFill>
        <p:spPr>
          <a:xfrm>
            <a:off x="10743120" y="2435760"/>
            <a:ext cx="1753200" cy="1753200"/>
          </a:xfrm>
          <a:prstGeom prst="rect">
            <a:avLst/>
          </a:prstGeom>
          <a:ln w="0">
            <a:noFill/>
          </a:ln>
        </p:spPr>
      </p:pic>
      <p:sp>
        <p:nvSpPr>
          <p:cNvPr id="119" name="Text 7"/>
          <p:cNvSpPr/>
          <p:nvPr/>
        </p:nvSpPr>
        <p:spPr>
          <a:xfrm>
            <a:off x="10743120" y="4458960"/>
            <a:ext cx="275868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Generative AI (GenAI)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8"/>
          <p:cNvSpPr/>
          <p:nvPr/>
        </p:nvSpPr>
        <p:spPr>
          <a:xfrm>
            <a:off x="10743120" y="4895280"/>
            <a:ext cx="3022920" cy="16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Generativ SI — yeni məzmun yaratma qabiliyyəti: mətn, şəkil, video, kod. Yaradıcılıq və avtomatlaşdırmanın kəsişməsində yer alır.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5486040" cy="8229240"/>
          </a:xfrm>
          <a:prstGeom prst="rect">
            <a:avLst/>
          </a:prstGeom>
          <a:ln w="0">
            <a:noFill/>
          </a:ln>
        </p:spPr>
      </p:pic>
      <p:sp>
        <p:nvSpPr>
          <p:cNvPr id="122" name="Text 0"/>
          <p:cNvSpPr/>
          <p:nvPr/>
        </p:nvSpPr>
        <p:spPr>
          <a:xfrm>
            <a:off x="6350040" y="980640"/>
            <a:ext cx="7416000" cy="12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Avtomatlaşdırmadan İntellektuallaşdırmaya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1"/>
          <p:cNvSpPr/>
          <p:nvPr/>
        </p:nvSpPr>
        <p:spPr>
          <a:xfrm>
            <a:off x="6350040" y="274752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Avtomatlaşdırma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 2"/>
          <p:cNvSpPr/>
          <p:nvPr/>
        </p:nvSpPr>
        <p:spPr>
          <a:xfrm>
            <a:off x="6350040" y="3269880"/>
            <a:ext cx="3444480" cy="9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Qaydaların təkrarı və əvvəlcədən proqramlaşdırılmış addımların icrasıdır.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 3"/>
          <p:cNvSpPr/>
          <p:nvPr/>
        </p:nvSpPr>
        <p:spPr>
          <a:xfrm>
            <a:off x="6350040" y="4436280"/>
            <a:ext cx="3444480" cy="152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Sabit alqoritmlər üzrə işləyir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Dəyişikliklərə uyğunlaşma yoxdur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İnsan müdaxiləsi tələb olunur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Yeni vəziyyətləri həll edə bilməz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4"/>
          <p:cNvSpPr/>
          <p:nvPr/>
        </p:nvSpPr>
        <p:spPr>
          <a:xfrm>
            <a:off x="10173960" y="2531520"/>
            <a:ext cx="3755520" cy="3502080"/>
          </a:xfrm>
          <a:prstGeom prst="roundRect">
            <a:avLst>
              <a:gd name="adj" fmla="val 925"/>
            </a:avLst>
          </a:prstGeom>
          <a:solidFill>
            <a:srgbClr val="1d1f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7" name="Text 5"/>
          <p:cNvSpPr/>
          <p:nvPr/>
        </p:nvSpPr>
        <p:spPr>
          <a:xfrm>
            <a:off x="10389600" y="2747520"/>
            <a:ext cx="258264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İntellektuallaşdırma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ext 6"/>
          <p:cNvSpPr/>
          <p:nvPr/>
        </p:nvSpPr>
        <p:spPr>
          <a:xfrm>
            <a:off x="10389600" y="3269880"/>
            <a:ext cx="332388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Açıq təlimat olmadan yeni şərtlərə uyğunlaşma və öyrənmədir.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Text 7"/>
          <p:cNvSpPr/>
          <p:nvPr/>
        </p:nvSpPr>
        <p:spPr>
          <a:xfrm>
            <a:off x="10389600" y="4112280"/>
            <a:ext cx="3323880" cy="152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Məlumatlardan öyrənir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Yeni situasiyalara uyğunlaşır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Müstəqil qərar qəbul edir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Performansını təkmilləşdirir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 8"/>
          <p:cNvSpPr/>
          <p:nvPr/>
        </p:nvSpPr>
        <p:spPr>
          <a:xfrm>
            <a:off x="6350040" y="6528960"/>
            <a:ext cx="7416000" cy="9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İntellektuallaşdırma biznesə çeviklik verir və dəyişən bazar şəraitinə sürətli reaksiya imkanı yaradır. Bu, sadəcə prosesləri sürətləndirmək deyil, onları ağıllı etməkdir.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 0"/>
          <p:cNvSpPr/>
          <p:nvPr/>
        </p:nvSpPr>
        <p:spPr>
          <a:xfrm>
            <a:off x="863640" y="1587600"/>
            <a:ext cx="9261720" cy="61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İdarəetmə Proseslərində SI-nin Rolu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 1"/>
          <p:cNvSpPr/>
          <p:nvPr/>
        </p:nvSpPr>
        <p:spPr>
          <a:xfrm>
            <a:off x="863640" y="2632680"/>
            <a:ext cx="1290240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Süni intellekt müasir idarəetmədə dörd əsas istiqamətdə dəyər yaradır və rəqabət üstünlüyü təmin edir.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2"/>
          <p:cNvSpPr/>
          <p:nvPr/>
        </p:nvSpPr>
        <p:spPr>
          <a:xfrm>
            <a:off x="863640" y="3199680"/>
            <a:ext cx="3063240" cy="3441960"/>
          </a:xfrm>
          <a:prstGeom prst="roundRect">
            <a:avLst>
              <a:gd name="adj" fmla="val 1057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4" name="Text 3"/>
          <p:cNvSpPr/>
          <p:nvPr/>
        </p:nvSpPr>
        <p:spPr>
          <a:xfrm>
            <a:off x="1079640" y="3235680"/>
            <a:ext cx="2631600" cy="61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Qərarların Dəstəklənməsi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 4"/>
          <p:cNvSpPr/>
          <p:nvPr/>
        </p:nvSpPr>
        <p:spPr>
          <a:xfrm>
            <a:off x="1079640" y="3978360"/>
            <a:ext cx="2631600" cy="226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SI böyük həcmli məlumatları təhlil edərək menecerlərə dəqiq və sürətli qərar qəbul etmək üçün əsaslar təqdim edir. Real vaxt rejimində dəyişən situasiyalara uyğun tövsiyələr verir.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5"/>
          <p:cNvSpPr/>
          <p:nvPr/>
        </p:nvSpPr>
        <p:spPr>
          <a:xfrm>
            <a:off x="4143240" y="3199680"/>
            <a:ext cx="3063600" cy="3441960"/>
          </a:xfrm>
          <a:prstGeom prst="roundRect">
            <a:avLst>
              <a:gd name="adj" fmla="val 1057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7" name="Text 6"/>
          <p:cNvSpPr/>
          <p:nvPr/>
        </p:nvSpPr>
        <p:spPr>
          <a:xfrm>
            <a:off x="4359240" y="341568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Proqnozlaşdırma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7"/>
          <p:cNvSpPr/>
          <p:nvPr/>
        </p:nvSpPr>
        <p:spPr>
          <a:xfrm>
            <a:off x="4359240" y="3851640"/>
            <a:ext cx="2631600" cy="226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Keçmiş məlumatlar əsasında gələcək trendləri və potensial problemləri müəyyənləşdirir. Tələbat, satış və risklər üzrə dəqiq proqnozlar hazırlamağa kömək edir.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8"/>
          <p:cNvSpPr/>
          <p:nvPr/>
        </p:nvSpPr>
        <p:spPr>
          <a:xfrm>
            <a:off x="7423200" y="3199680"/>
            <a:ext cx="3063600" cy="3441960"/>
          </a:xfrm>
          <a:prstGeom prst="roundRect">
            <a:avLst>
              <a:gd name="adj" fmla="val 1057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0" name="Text 9"/>
          <p:cNvSpPr/>
          <p:nvPr/>
        </p:nvSpPr>
        <p:spPr>
          <a:xfrm>
            <a:off x="7638840" y="341568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Fərdiləşdirmə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 10"/>
          <p:cNvSpPr/>
          <p:nvPr/>
        </p:nvSpPr>
        <p:spPr>
          <a:xfrm>
            <a:off x="7638840" y="3851640"/>
            <a:ext cx="2631600" cy="16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Hər müştəri, işçi və ya situasiya üçün fərdi strategiyalar və yanaşmalar təklif edir. Kütləvi xidmətləri şəxsi təcrübəyə çevirir.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11"/>
          <p:cNvSpPr/>
          <p:nvPr/>
        </p:nvSpPr>
        <p:spPr>
          <a:xfrm>
            <a:off x="10702800" y="3199680"/>
            <a:ext cx="3063600" cy="3441960"/>
          </a:xfrm>
          <a:prstGeom prst="roundRect">
            <a:avLst>
              <a:gd name="adj" fmla="val 1057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3" name="Text 12"/>
          <p:cNvSpPr/>
          <p:nvPr/>
        </p:nvSpPr>
        <p:spPr>
          <a:xfrm>
            <a:off x="10918800" y="341568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Optimallaşdırma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 13"/>
          <p:cNvSpPr/>
          <p:nvPr/>
        </p:nvSpPr>
        <p:spPr>
          <a:xfrm>
            <a:off x="10918800" y="3851640"/>
            <a:ext cx="2631600" cy="194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Resursların, vaxtın və büdcənin ən effektiv istifadəsini təmin edir. Mürəkkəb proseslərdə optimal həlləri tapır və xərcləri azaldır.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 0"/>
          <p:cNvSpPr/>
          <p:nvPr/>
        </p:nvSpPr>
        <p:spPr>
          <a:xfrm>
            <a:off x="863640" y="1285560"/>
            <a:ext cx="12088440" cy="61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İdarəetmədə SI İstifadəsinə Praktik Nümunələr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6" name="Image 0" descr="preencoded.png"/>
          <p:cNvPicPr/>
          <p:nvPr/>
        </p:nvPicPr>
        <p:blipFill>
          <a:blip r:embed="rId1"/>
          <a:stretch/>
        </p:blipFill>
        <p:spPr>
          <a:xfrm>
            <a:off x="863640" y="2330640"/>
            <a:ext cx="664560" cy="410760"/>
          </a:xfrm>
          <a:prstGeom prst="rect">
            <a:avLst/>
          </a:prstGeom>
          <a:ln w="0">
            <a:noFill/>
          </a:ln>
        </p:spPr>
      </p:pic>
      <p:sp>
        <p:nvSpPr>
          <p:cNvPr id="147" name="Text 1"/>
          <p:cNvSpPr/>
          <p:nvPr/>
        </p:nvSpPr>
        <p:spPr>
          <a:xfrm>
            <a:off x="1798920" y="2330640"/>
            <a:ext cx="2088000" cy="91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Retail - Tələbatın Proqnozu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Text 2"/>
          <p:cNvSpPr/>
          <p:nvPr/>
        </p:nvSpPr>
        <p:spPr>
          <a:xfrm>
            <a:off x="1798920" y="3380400"/>
            <a:ext cx="2088000" cy="356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Böyük pərakəndə şəbəkələri SI ilə məhsul tələbatını proqnozlaşdırır. Mövsümi dəyişikliklər, bayramlar və hava şəraiti nəzərə alınaraq inventar idarə edilir. Nəticə: artıq ehtiyatların 25-30% azalması.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9" name="Image 1" descr="preencoded.png"/>
          <p:cNvPicPr/>
          <p:nvPr/>
        </p:nvPicPr>
        <p:blipFill>
          <a:blip r:embed="rId2"/>
          <a:stretch/>
        </p:blipFill>
        <p:spPr>
          <a:xfrm>
            <a:off x="4156920" y="2330640"/>
            <a:ext cx="664560" cy="410760"/>
          </a:xfrm>
          <a:prstGeom prst="rect">
            <a:avLst/>
          </a:prstGeom>
          <a:ln w="0">
            <a:noFill/>
          </a:ln>
        </p:spPr>
      </p:pic>
      <p:sp>
        <p:nvSpPr>
          <p:cNvPr id="150" name="Text 3"/>
          <p:cNvSpPr/>
          <p:nvPr/>
        </p:nvSpPr>
        <p:spPr>
          <a:xfrm>
            <a:off x="5091840" y="2330640"/>
            <a:ext cx="2088000" cy="91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Maliyyə - Kredit Risklərinin Analizi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 4"/>
          <p:cNvSpPr/>
          <p:nvPr/>
        </p:nvSpPr>
        <p:spPr>
          <a:xfrm>
            <a:off x="5091840" y="3380400"/>
            <a:ext cx="2088000" cy="291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Banklar SI modelləri ilə kredit müraciətlərini qiymətləndirir. Yüzlərlə parametr əsasında dəfələrlə daha sürətli və dəqiq qərar verilir. Problem kreditlərin aşkarlanma dərəcəsi 40% artır.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2" name="Image 2" descr="preencoded.png"/>
          <p:cNvPicPr/>
          <p:nvPr/>
        </p:nvPicPr>
        <p:blipFill>
          <a:blip r:embed="rId3"/>
          <a:stretch/>
        </p:blipFill>
        <p:spPr>
          <a:xfrm>
            <a:off x="7450200" y="2330640"/>
            <a:ext cx="664560" cy="410760"/>
          </a:xfrm>
          <a:prstGeom prst="rect">
            <a:avLst/>
          </a:prstGeom>
          <a:ln w="0">
            <a:noFill/>
          </a:ln>
        </p:spPr>
      </p:pic>
      <p:sp>
        <p:nvSpPr>
          <p:cNvPr id="153" name="Text 5"/>
          <p:cNvSpPr/>
          <p:nvPr/>
        </p:nvSpPr>
        <p:spPr>
          <a:xfrm>
            <a:off x="8385120" y="2330640"/>
            <a:ext cx="2088000" cy="12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Logistika - Marşrutların Optimallaşdırılması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 6"/>
          <p:cNvSpPr/>
          <p:nvPr/>
        </p:nvSpPr>
        <p:spPr>
          <a:xfrm>
            <a:off x="8385120" y="3687120"/>
            <a:ext cx="2088000" cy="291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Çatdırılma şirkətləri SI ilə ən optimal marşrutları hesablayır. Trafik, yanacaq qiymətləri və çatdırılma pəncərələri nəzərə alınır. Yanacaq xərcləri 15-20% azalır, çatdırılma vaxtı qısalır.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5" name="Image 3" descr="preencoded.png"/>
          <p:cNvPicPr/>
          <p:nvPr/>
        </p:nvPicPr>
        <p:blipFill>
          <a:blip r:embed="rId4"/>
          <a:stretch/>
        </p:blipFill>
        <p:spPr>
          <a:xfrm>
            <a:off x="10743120" y="2330640"/>
            <a:ext cx="664560" cy="410760"/>
          </a:xfrm>
          <a:prstGeom prst="rect">
            <a:avLst/>
          </a:prstGeom>
          <a:ln w="0">
            <a:noFill/>
          </a:ln>
        </p:spPr>
      </p:pic>
      <p:sp>
        <p:nvSpPr>
          <p:cNvPr id="156" name="Text 7"/>
          <p:cNvSpPr/>
          <p:nvPr/>
        </p:nvSpPr>
        <p:spPr>
          <a:xfrm>
            <a:off x="11678400" y="2330640"/>
            <a:ext cx="2088000" cy="91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HR - İşçilərin İşdən Ayrılma Proqnozu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8"/>
          <p:cNvSpPr/>
          <p:nvPr/>
        </p:nvSpPr>
        <p:spPr>
          <a:xfrm>
            <a:off x="11678400" y="3380400"/>
            <a:ext cx="2088000" cy="356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Şirkətlər SI ilə hansı işçilərin işdən çıxma riskinə malik olduğunu müəyyənləşdirir. Məmnuniyyət, performans və davranış nümunələri təhlil edilir. Qiymətli kadrların saxlanması üçün proaktiv tədbirlər görülür.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 0"/>
          <p:cNvSpPr/>
          <p:nvPr/>
        </p:nvSpPr>
        <p:spPr>
          <a:xfrm>
            <a:off x="863640" y="934200"/>
            <a:ext cx="6396840" cy="61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Məhdudiyyətlər və Miflər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 1"/>
          <p:cNvSpPr/>
          <p:nvPr/>
        </p:nvSpPr>
        <p:spPr>
          <a:xfrm>
            <a:off x="863640" y="2087280"/>
            <a:ext cx="264780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Geniş Yayılmış Miflər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Shape 2"/>
          <p:cNvSpPr/>
          <p:nvPr/>
        </p:nvSpPr>
        <p:spPr>
          <a:xfrm>
            <a:off x="863640" y="2637000"/>
            <a:ext cx="2985480" cy="1969560"/>
          </a:xfrm>
          <a:prstGeom prst="roundRect">
            <a:avLst>
              <a:gd name="adj" fmla="val 1645"/>
            </a:avLst>
          </a:prstGeom>
          <a:solidFill>
            <a:srgbClr val="111213"/>
          </a:solidFill>
          <a:ln w="3048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1" name="Text 3"/>
          <p:cNvSpPr/>
          <p:nvPr/>
        </p:nvSpPr>
        <p:spPr>
          <a:xfrm>
            <a:off x="1110240" y="288324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Mif 1: SI = Şüur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4"/>
          <p:cNvSpPr/>
          <p:nvPr/>
        </p:nvSpPr>
        <p:spPr>
          <a:xfrm>
            <a:off x="1110240" y="3477960"/>
            <a:ext cx="249300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"Süni intellekt düşünür və hiss edir"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Shape 5"/>
          <p:cNvSpPr/>
          <p:nvPr/>
        </p:nvSpPr>
        <p:spPr>
          <a:xfrm>
            <a:off x="4065480" y="2637000"/>
            <a:ext cx="2985840" cy="1969560"/>
          </a:xfrm>
          <a:prstGeom prst="roundRect">
            <a:avLst>
              <a:gd name="adj" fmla="val 1645"/>
            </a:avLst>
          </a:prstGeom>
          <a:solidFill>
            <a:srgbClr val="111213"/>
          </a:solidFill>
          <a:ln w="3048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4" name="Text 6"/>
          <p:cNvSpPr/>
          <p:nvPr/>
        </p:nvSpPr>
        <p:spPr>
          <a:xfrm>
            <a:off x="4312080" y="2883240"/>
            <a:ext cx="2493000" cy="61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Mif 2: Tam Avtonomluq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 7"/>
          <p:cNvSpPr/>
          <p:nvPr/>
        </p:nvSpPr>
        <p:spPr>
          <a:xfrm>
            <a:off x="4312080" y="3712320"/>
            <a:ext cx="249300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"SI insan nəzarəti olmadan işləyə bilər"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Shape 8"/>
          <p:cNvSpPr/>
          <p:nvPr/>
        </p:nvSpPr>
        <p:spPr>
          <a:xfrm>
            <a:off x="863640" y="4822560"/>
            <a:ext cx="6187680" cy="1338840"/>
          </a:xfrm>
          <a:prstGeom prst="roundRect">
            <a:avLst>
              <a:gd name="adj" fmla="val 2419"/>
            </a:avLst>
          </a:prstGeom>
          <a:solidFill>
            <a:srgbClr val="111213"/>
          </a:solidFill>
          <a:ln w="3048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7" name="Text 9"/>
          <p:cNvSpPr/>
          <p:nvPr/>
        </p:nvSpPr>
        <p:spPr>
          <a:xfrm>
            <a:off x="1110240" y="5068800"/>
            <a:ext cx="321732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Mif 3: Menecerlərin Əvəzi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10"/>
          <p:cNvSpPr/>
          <p:nvPr/>
        </p:nvSpPr>
        <p:spPr>
          <a:xfrm>
            <a:off x="1110240" y="5591520"/>
            <a:ext cx="56948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"SI rəhbərləri işsiz qoyacaq"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Shape 11"/>
          <p:cNvSpPr/>
          <p:nvPr/>
        </p:nvSpPr>
        <p:spPr>
          <a:xfrm>
            <a:off x="7430760" y="1871280"/>
            <a:ext cx="6498720" cy="4533120"/>
          </a:xfrm>
          <a:prstGeom prst="roundRect">
            <a:avLst>
              <a:gd name="adj" fmla="val 715"/>
            </a:avLst>
          </a:prstGeom>
          <a:solidFill>
            <a:srgbClr val="1d1f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0" name="Text 12"/>
          <p:cNvSpPr/>
          <p:nvPr/>
        </p:nvSpPr>
        <p:spPr>
          <a:xfrm>
            <a:off x="7646400" y="208728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Reallıq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 13"/>
          <p:cNvSpPr/>
          <p:nvPr/>
        </p:nvSpPr>
        <p:spPr>
          <a:xfrm>
            <a:off x="7646400" y="2610000"/>
            <a:ext cx="6067080" cy="9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SI </a:t>
            </a:r>
            <a:r>
              <a:rPr b="1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alətdir</a:t>
            </a: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, şüurlu varlıq deyil. O, məlumat tələb edir, daimi nəzarətə ehtiyac duyur və insan interpretasiyası olmadan qərar qəbul edə bilməz.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Text 14"/>
          <p:cNvSpPr/>
          <p:nvPr/>
        </p:nvSpPr>
        <p:spPr>
          <a:xfrm>
            <a:off x="7646400" y="3776040"/>
            <a:ext cx="60670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Uğurlu SI tətbiqi üçün lazımdır: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Text 15"/>
          <p:cNvSpPr/>
          <p:nvPr/>
        </p:nvSpPr>
        <p:spPr>
          <a:xfrm>
            <a:off x="7646400" y="4294440"/>
            <a:ext cx="6067080" cy="152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Keyfiyyətli məlumat bazası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Mütəxəssis nəzarəti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Nəticələrin doğrulanması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Etik çərçivələrə riayət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 16"/>
          <p:cNvSpPr/>
          <p:nvPr/>
        </p:nvSpPr>
        <p:spPr>
          <a:xfrm>
            <a:off x="863640" y="6647760"/>
            <a:ext cx="1290240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SI texnologiyası insanın qərar qəbul etmə prosesini asanlaşdırır, lakin son qərarı həmişə insan verməlidir. Texnologiya və humanitar yanaşmanın sintezi optimal nəticələr verir.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Image 0" descr="preencoded.png"/>
          <p:cNvPicPr/>
          <p:nvPr/>
        </p:nvPicPr>
        <p:blipFill>
          <a:blip r:embed="rId1"/>
          <a:stretch/>
        </p:blipFill>
        <p:spPr>
          <a:xfrm>
            <a:off x="9144000" y="0"/>
            <a:ext cx="5486040" cy="8229240"/>
          </a:xfrm>
          <a:prstGeom prst="rect">
            <a:avLst/>
          </a:prstGeom>
          <a:ln w="0">
            <a:noFill/>
          </a:ln>
        </p:spPr>
      </p:pic>
      <p:sp>
        <p:nvSpPr>
          <p:cNvPr id="176" name="Text 0"/>
          <p:cNvSpPr/>
          <p:nvPr/>
        </p:nvSpPr>
        <p:spPr>
          <a:xfrm>
            <a:off x="716040" y="1400760"/>
            <a:ext cx="5886000" cy="50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4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Etik Kontekst və Məsuliyyət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 1"/>
          <p:cNvSpPr/>
          <p:nvPr/>
        </p:nvSpPr>
        <p:spPr>
          <a:xfrm>
            <a:off x="716040" y="2131920"/>
            <a:ext cx="771156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SI texnologiyalarının geniş tətbiqi ciddi etik məsələlər ortaya qoyur. Bu çağırışların həlli texnologiyanın uzunmüddətli uğuru üçün kritikdir.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Shape 2"/>
          <p:cNvSpPr/>
          <p:nvPr/>
        </p:nvSpPr>
        <p:spPr>
          <a:xfrm>
            <a:off x="716040" y="2789640"/>
            <a:ext cx="2471400" cy="2964960"/>
          </a:xfrm>
          <a:prstGeom prst="roundRect">
            <a:avLst>
              <a:gd name="adj" fmla="val 4439"/>
            </a:avLst>
          </a:prstGeom>
          <a:solidFill>
            <a:srgbClr val="111213"/>
          </a:solidFill>
          <a:ln w="2286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9" name="Shape 3"/>
          <p:cNvSpPr/>
          <p:nvPr/>
        </p:nvSpPr>
        <p:spPr>
          <a:xfrm>
            <a:off x="693360" y="2789640"/>
            <a:ext cx="91080" cy="2964960"/>
          </a:xfrm>
          <a:prstGeom prst="roundRect">
            <a:avLst>
              <a:gd name="adj" fmla="val 29366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0" name="Text 4"/>
          <p:cNvSpPr/>
          <p:nvPr/>
        </p:nvSpPr>
        <p:spPr>
          <a:xfrm>
            <a:off x="986400" y="2919600"/>
            <a:ext cx="1999080" cy="50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Məlumatlarda Qərəz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 5"/>
          <p:cNvSpPr/>
          <p:nvPr/>
        </p:nvSpPr>
        <p:spPr>
          <a:xfrm>
            <a:off x="986400" y="3517200"/>
            <a:ext cx="1999080" cy="19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SI modelləri öyrəndiyi məlumatlardakı qərəzləri əks etdirir. Tarixdə diskriminasiya olubsa, SI də onu təkrarlaya bilər. Həll: müxtəlif məlumat dəstləri və daimi monitorinq.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Shape 6"/>
          <p:cNvSpPr/>
          <p:nvPr/>
        </p:nvSpPr>
        <p:spPr>
          <a:xfrm>
            <a:off x="3336120" y="2789640"/>
            <a:ext cx="2471400" cy="2964960"/>
          </a:xfrm>
          <a:prstGeom prst="roundRect">
            <a:avLst>
              <a:gd name="adj" fmla="val 4439"/>
            </a:avLst>
          </a:prstGeom>
          <a:solidFill>
            <a:srgbClr val="111213"/>
          </a:solidFill>
          <a:ln w="2286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3" name="Shape 7"/>
          <p:cNvSpPr/>
          <p:nvPr/>
        </p:nvSpPr>
        <p:spPr>
          <a:xfrm>
            <a:off x="3313440" y="2789640"/>
            <a:ext cx="91080" cy="2964960"/>
          </a:xfrm>
          <a:prstGeom prst="roundRect">
            <a:avLst>
              <a:gd name="adj" fmla="val 29366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4" name="Text 8"/>
          <p:cNvSpPr/>
          <p:nvPr/>
        </p:nvSpPr>
        <p:spPr>
          <a:xfrm>
            <a:off x="3606480" y="2919600"/>
            <a:ext cx="1999080" cy="50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Qara Qutu Problemi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 9"/>
          <p:cNvSpPr/>
          <p:nvPr/>
        </p:nvSpPr>
        <p:spPr>
          <a:xfrm>
            <a:off x="3606480" y="3517200"/>
            <a:ext cx="1999080" cy="171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Mürəkkəb SI sistemlərinin qərar qəbul mexanizmi anlaşılmır. "Niyə bu qərar verildi?" sualına cavab vermək çətindir. Şəffaflıq və izahedilənlik tələb olunur.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Shape 10"/>
          <p:cNvSpPr/>
          <p:nvPr/>
        </p:nvSpPr>
        <p:spPr>
          <a:xfrm>
            <a:off x="5956200" y="2789640"/>
            <a:ext cx="2471400" cy="2964960"/>
          </a:xfrm>
          <a:prstGeom prst="roundRect">
            <a:avLst>
              <a:gd name="adj" fmla="val 4439"/>
            </a:avLst>
          </a:prstGeom>
          <a:solidFill>
            <a:srgbClr val="111213"/>
          </a:solidFill>
          <a:ln w="2286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7" name="Shape 11"/>
          <p:cNvSpPr/>
          <p:nvPr/>
        </p:nvSpPr>
        <p:spPr>
          <a:xfrm>
            <a:off x="5933520" y="2789640"/>
            <a:ext cx="91080" cy="2964960"/>
          </a:xfrm>
          <a:prstGeom prst="roundRect">
            <a:avLst>
              <a:gd name="adj" fmla="val 29366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8" name="Text 12"/>
          <p:cNvSpPr/>
          <p:nvPr/>
        </p:nvSpPr>
        <p:spPr>
          <a:xfrm>
            <a:off x="6226560" y="2919600"/>
            <a:ext cx="1999080" cy="50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Məsuliyyət Məsələsi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 13"/>
          <p:cNvSpPr/>
          <p:nvPr/>
        </p:nvSpPr>
        <p:spPr>
          <a:xfrm>
            <a:off x="6226560" y="3589200"/>
            <a:ext cx="1999080" cy="171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SI səhv etdikdə kim məsuliyyət daşıyır? Proqramçı, istifadəçi, yoxsa təşkilat? Aydın hüquqi çərçivələr və sığorta mexanizmləri formalaşmalıdır.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Shape 14"/>
          <p:cNvSpPr/>
          <p:nvPr/>
        </p:nvSpPr>
        <p:spPr>
          <a:xfrm>
            <a:off x="716040" y="5921640"/>
            <a:ext cx="7711560" cy="906480"/>
          </a:xfrm>
          <a:prstGeom prst="roundRect">
            <a:avLst>
              <a:gd name="adj" fmla="val 2961"/>
            </a:avLst>
          </a:prstGeom>
          <a:solidFill>
            <a:srgbClr val="2626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91" name="Image 1" descr="preencoded.png"/>
          <p:cNvPicPr/>
          <p:nvPr/>
        </p:nvPicPr>
        <p:blipFill>
          <a:blip r:embed="rId2"/>
          <a:stretch/>
        </p:blipFill>
        <p:spPr>
          <a:xfrm>
            <a:off x="894960" y="6163920"/>
            <a:ext cx="223200" cy="178560"/>
          </a:xfrm>
          <a:prstGeom prst="rect">
            <a:avLst/>
          </a:prstGeom>
          <a:ln w="0">
            <a:noFill/>
          </a:ln>
        </p:spPr>
      </p:pic>
      <p:sp>
        <p:nvSpPr>
          <p:cNvPr id="192" name="Text 15"/>
          <p:cNvSpPr/>
          <p:nvPr/>
        </p:nvSpPr>
        <p:spPr>
          <a:xfrm>
            <a:off x="1297800" y="6114960"/>
            <a:ext cx="69508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Source Sans 3"/>
                <a:ea typeface="Source Sans 3"/>
              </a:rPr>
              <a:t>Vacib:</a:t>
            </a:r>
            <a:r>
              <a:rPr b="0" lang="en-US" sz="1400" spc="-1" strike="noStrike">
                <a:solidFill>
                  <a:srgbClr val="ffffff"/>
                </a:solidFill>
                <a:latin typeface="Source Sans 3"/>
                <a:ea typeface="Source Sans 3"/>
              </a:rPr>
              <a:t> Etik SI inkişafı üçün şirkətlər daxili qaydalar, nəzarət komitələri və şəffaflıq standartları yaratmalıdır. Texnoloji irəliləyiş insan dəyərləri ilə balanslaşdırılmalıdır.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Shape 0"/>
          <p:cNvSpPr/>
          <p:nvPr/>
        </p:nvSpPr>
        <p:spPr>
          <a:xfrm>
            <a:off x="863640" y="1514160"/>
            <a:ext cx="1440720" cy="388440"/>
          </a:xfrm>
          <a:prstGeom prst="roundRect">
            <a:avLst>
              <a:gd name="adj" fmla="val 6669"/>
            </a:avLst>
          </a:prstGeom>
          <a:solidFill>
            <a:srgbClr val="2626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94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993240" y="1622160"/>
            <a:ext cx="172440" cy="172440"/>
          </a:xfrm>
          <a:prstGeom prst="rect">
            <a:avLst/>
          </a:prstGeom>
          <a:ln w="0">
            <a:noFill/>
          </a:ln>
        </p:spPr>
      </p:pic>
      <p:sp>
        <p:nvSpPr>
          <p:cNvPr id="195" name="Text 1"/>
          <p:cNvSpPr/>
          <p:nvPr/>
        </p:nvSpPr>
        <p:spPr>
          <a:xfrm>
            <a:off x="1252440" y="1578960"/>
            <a:ext cx="92268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EV TAPŞIRIĞI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 2"/>
          <p:cNvSpPr/>
          <p:nvPr/>
        </p:nvSpPr>
        <p:spPr>
          <a:xfrm>
            <a:off x="863640" y="1989000"/>
            <a:ext cx="4908240" cy="61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Praktik Tapşırıqlar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3"/>
          <p:cNvSpPr/>
          <p:nvPr/>
        </p:nvSpPr>
        <p:spPr>
          <a:xfrm>
            <a:off x="863640" y="2926440"/>
            <a:ext cx="6343200" cy="3221640"/>
          </a:xfrm>
          <a:prstGeom prst="roundRect">
            <a:avLst>
              <a:gd name="adj" fmla="val 1006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8" name="Text 4"/>
          <p:cNvSpPr/>
          <p:nvPr/>
        </p:nvSpPr>
        <p:spPr>
          <a:xfrm>
            <a:off x="1079640" y="314244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Tapşırıq 1: Tədqiqat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 5"/>
          <p:cNvSpPr/>
          <p:nvPr/>
        </p:nvSpPr>
        <p:spPr>
          <a:xfrm>
            <a:off x="1079640" y="3578760"/>
            <a:ext cx="591120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Öz sahənizdə (təhsil, tibb, maliyyə, və s.) süni intellektin real istifadəsinə nümunə tapın. Araşdırın: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 6"/>
          <p:cNvSpPr/>
          <p:nvPr/>
        </p:nvSpPr>
        <p:spPr>
          <a:xfrm>
            <a:off x="1079640" y="4356000"/>
            <a:ext cx="5911200" cy="11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Hansı SI texnologiyası istifadə olunur?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Hansı problemi həll edir?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Nəticələr nələrdir?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7"/>
          <p:cNvSpPr/>
          <p:nvPr/>
        </p:nvSpPr>
        <p:spPr>
          <a:xfrm>
            <a:off x="7423200" y="2926440"/>
            <a:ext cx="6343200" cy="3221640"/>
          </a:xfrm>
          <a:prstGeom prst="roundRect">
            <a:avLst>
              <a:gd name="adj" fmla="val 1006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02" name="Text 8"/>
          <p:cNvSpPr/>
          <p:nvPr/>
        </p:nvSpPr>
        <p:spPr>
          <a:xfrm>
            <a:off x="7638840" y="314244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Tapşırıq 2: Analiz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Text 9"/>
          <p:cNvSpPr/>
          <p:nvPr/>
        </p:nvSpPr>
        <p:spPr>
          <a:xfrm>
            <a:off x="7638840" y="3578760"/>
            <a:ext cx="591156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Düşünün və yazın: Hansı idarəetmə tapşırıqları süni intellektə həvalə edilə </a:t>
            </a:r>
            <a:r>
              <a:rPr b="1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bilməz</a:t>
            </a: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? Niyə?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 10"/>
          <p:cNvSpPr/>
          <p:nvPr/>
        </p:nvSpPr>
        <p:spPr>
          <a:xfrm>
            <a:off x="7638840" y="4356000"/>
            <a:ext cx="59115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Məsələn: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Text 11"/>
          <p:cNvSpPr/>
          <p:nvPr/>
        </p:nvSpPr>
        <p:spPr>
          <a:xfrm>
            <a:off x="7638840" y="4809600"/>
            <a:ext cx="5911560" cy="11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Etik qərarlar?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Yaradıcı strategiya?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Komanda motivasiyası?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Text 12"/>
          <p:cNvSpPr/>
          <p:nvPr/>
        </p:nvSpPr>
        <p:spPr>
          <a:xfrm>
            <a:off x="863640" y="6391440"/>
            <a:ext cx="1290240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914400"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Cavablarınızı növbəti dərsdə müzakirə edəcəyik. Konkret nümunələr və öz fikirləriniz xüsusilə dəyərlidir. Uğurlar!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7" name="Picture 16" descr=""/>
          <p:cNvPicPr/>
          <p:nvPr/>
        </p:nvPicPr>
        <p:blipFill>
          <a:blip r:embed="rId3"/>
          <a:stretch/>
        </p:blipFill>
        <p:spPr>
          <a:xfrm>
            <a:off x="11779560" y="228600"/>
            <a:ext cx="1986480" cy="2568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LibreOffice/24.2.7.2$Linux_X86_64 LibreOffice_project/420$Build-2</Application>
  <AppVersion>15.0000</AppVersion>
  <Words>1044</Words>
  <Paragraphs>129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2026-02-14T13:23:25Z</dcterms:created>
  <dc:creator/>
  <dc:description/>
  <dc:language>en-US</dc:language>
  <cp:lastModifiedBy/>
  <cp:lastPrinted>2026-03-01T16:28:47Z</cp:lastPrinted>
  <dcterms:modified xsi:type="dcterms:W3CDTF">2026-03-01T16:28:53Z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Custom</vt:lpwstr>
  </property>
  <property fmtid="{D5CDD505-2E9C-101B-9397-08002B2CF9AE}" pid="4" name="Slides">
    <vt:i4>11</vt:i4>
  </property>
</Properties>
</file>