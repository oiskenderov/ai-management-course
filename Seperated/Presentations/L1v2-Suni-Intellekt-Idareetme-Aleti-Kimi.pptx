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1.png" ContentType="image/png"/>
  <Override PartName="/ppt/media/image2.png" ContentType="image/png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7.svg" ContentType="image/svg"/>
  <Override PartName="/ppt/media/image12.png" ContentType="image/png"/>
  <Override PartName="/ppt/media/image22.png" ContentType="image/png"/>
  <Override PartName="/ppt/media/image3.svg" ContentType="image/svg"/>
  <Override PartName="/ppt/media/image19.png" ContentType="image/png"/>
  <Override PartName="/ppt/media/image16.png" ContentType="image/png"/>
  <Override PartName="/ppt/media/image14.png" ContentType="image/png"/>
  <Override PartName="/ppt/media/image6.png" ContentType="image/png"/>
  <Override PartName="/ppt/media/image15.png" ContentType="image/png"/>
  <Override PartName="/ppt/media/image5.svg" ContentType="image/svg"/>
  <Override PartName="/ppt/media/image10.png" ContentType="image/png"/>
  <Override PartName="/ppt/media/image21.svg" ContentType="image/svg"/>
  <Override PartName="/ppt/media/image1.png" ContentType="image/png"/>
  <Override PartName="/ppt/media/image8.png" ContentType="image/png"/>
  <Override PartName="/ppt/media/image17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CB533A4-F7CE-43E0-B2BE-6A44058C9E7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CC2EC3-7721-4E31-916C-B4136332E52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7BD1A7-C6DD-46D5-A412-EC676D626CC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AC3AEA-DD20-49AC-BFED-2AEE90CC258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676F30-1A51-40E2-9B7A-E83518CD014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418429-CD3A-40C8-8548-F969071F801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89429D-06D9-4BD4-A519-222D8A4A98D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4AA4AB-6BB4-4081-85C4-261554E189D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2F06EE-1C28-4112-BC0A-2E3B7ABCE28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40115E-862C-4BF8-AADF-3F9CEF80F79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5D2B7D-E294-4648-829A-A52C0E5F404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76E200-D51C-48F7-AFE2-FFA0436274C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sv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863640" y="3177360"/>
            <a:ext cx="7415640" cy="12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İntellekt: İdarəetmə Aləti Kimi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63640" y="4728240"/>
            <a:ext cx="741564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Müasir texnologiyaların idarəetmə proseslərində tətbiqi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863640" y="5376240"/>
            <a:ext cx="741528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Müəllim: [Orkhan Iskandarov]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863640" y="1773360"/>
            <a:ext cx="1857600" cy="38808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Text 1"/>
          <p:cNvSpPr/>
          <p:nvPr/>
        </p:nvSpPr>
        <p:spPr>
          <a:xfrm>
            <a:off x="849240" y="1802160"/>
            <a:ext cx="15987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DƏRSIN MƏQSƏDLƏRI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863640" y="2248200"/>
            <a:ext cx="641160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Bu Gün Nə Öyrənəcəyik?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863640" y="3185640"/>
            <a:ext cx="415620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1079640" y="340164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59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257840" y="357984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60" name="Text 5"/>
          <p:cNvSpPr/>
          <p:nvPr/>
        </p:nvSpPr>
        <p:spPr>
          <a:xfrm>
            <a:off x="1079640" y="42652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SI-nin Mahiyyəti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1079640" y="4701600"/>
            <a:ext cx="37245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intellektin əsas prinsiplərini və idarəetmədə rolunu dərk edəcəyik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5236560" y="3185640"/>
            <a:ext cx="415620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5452560" y="340164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4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630760" y="357984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65" name="Text 9"/>
          <p:cNvSpPr/>
          <p:nvPr/>
        </p:nvSpPr>
        <p:spPr>
          <a:xfrm>
            <a:off x="5452560" y="42652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Tarixi İnkişaf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0"/>
          <p:cNvSpPr/>
          <p:nvPr/>
        </p:nvSpPr>
        <p:spPr>
          <a:xfrm>
            <a:off x="5452560" y="4701600"/>
            <a:ext cx="37245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texnologiyalarının tarixini və müasir imkanlarını öyrənəcəyik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1"/>
          <p:cNvSpPr/>
          <p:nvPr/>
        </p:nvSpPr>
        <p:spPr>
          <a:xfrm>
            <a:off x="9609480" y="3185640"/>
            <a:ext cx="415620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9825480" y="340164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9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003680" y="357984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70" name="Text 13"/>
          <p:cNvSpPr/>
          <p:nvPr/>
        </p:nvSpPr>
        <p:spPr>
          <a:xfrm>
            <a:off x="9825480" y="42652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Praktik Tətbiq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9825480" y="4701600"/>
            <a:ext cx="37245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Real biznes proseslərində SI-nin istifadə sahələrini araşdıracağıq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863640" y="580824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dərsin sonunda siz süni intellekti sadəcə texnologiya deyil, həm də güclü idarəetmə aləti kimi başa düşəcəksiniz. Praktik nümunələr və konkret hallara əsaslanaraq, SI-nin müasir təşkilatlarda necə dəyər yaratdığını öyrənəcəksiniz.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4629680" cy="2698920"/>
          </a:xfrm>
          <a:prstGeom prst="rect">
            <a:avLst/>
          </a:prstGeom>
          <a:ln w="0">
            <a:noFill/>
          </a:ln>
        </p:spPr>
      </p:pic>
      <p:sp>
        <p:nvSpPr>
          <p:cNvPr id="74" name="Text 0"/>
          <p:cNvSpPr/>
          <p:nvPr/>
        </p:nvSpPr>
        <p:spPr>
          <a:xfrm>
            <a:off x="863640" y="3382200"/>
            <a:ext cx="52696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 Nədir?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863640" y="431964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(SI) — kompüter sistemlərinin insanın koqnitiv funksiyalarını imitasiya etmə qabiliyyətidir. Bu funksiyalara öyrənmə, düşünmə, problemlərin həlli və təcrübədən nəticə çıxarma daxildir.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708120" y="5210640"/>
            <a:ext cx="6498360" cy="2335680"/>
          </a:xfrm>
          <a:prstGeom prst="roundRect">
            <a:avLst>
              <a:gd name="adj" fmla="val 1387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Text 3"/>
          <p:cNvSpPr/>
          <p:nvPr/>
        </p:nvSpPr>
        <p:spPr>
          <a:xfrm>
            <a:off x="924120" y="54262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Əsas Xüsusiyyətlər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924120" y="5949000"/>
            <a:ext cx="606672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Məlumatlardan öyrənmə qabiliyyəti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Nümunələri tanıma bacarığı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Proqnozlar və tövsiyələr vermə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Mürəkkəb məlumatların analizi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7586280" y="54262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Vacib Qeyd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7586280" y="5949000"/>
            <a:ext cx="618732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≠ İnsan zəkası. Süni intellekt şüurlu deyil, lakin böyük həcmli məlumatlara əsaslanaraq məntiqli qərarlar qəbul edə bilər. O, insanın köməkçisidir, əvəzedicisi deyil.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742680" y="764640"/>
            <a:ext cx="62827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150"/>
              </a:lnSpc>
              <a:tabLst>
                <a:tab algn="l" pos="0"/>
              </a:tabLst>
            </a:pPr>
            <a:r>
              <a:rPr b="1" lang="en-US" sz="33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İntellektin İnkişaf Tarixi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42680" y="1611360"/>
            <a:ext cx="131439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texnologiyalarının 70 illik səyahəti bizi sadə suallardan generativ modellərin dövrünə gətirib çıxardı. Hər mərhələ yeni imkanlar və çağırışlar gətirdi.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7303680" y="2050200"/>
            <a:ext cx="22320" cy="541404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6572160" y="2247480"/>
            <a:ext cx="556200" cy="2232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7106400" y="2050200"/>
            <a:ext cx="417240" cy="41724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Text 5"/>
          <p:cNvSpPr/>
          <p:nvPr/>
        </p:nvSpPr>
        <p:spPr>
          <a:xfrm>
            <a:off x="7188480" y="2100600"/>
            <a:ext cx="252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4276440" y="2113920"/>
            <a:ext cx="210960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1950 - Turing Testi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742680" y="2473560"/>
            <a:ext cx="5643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Alan Turing "maşınlar düşünə bilərmi?" sualını ortaya qoydu və ilk SI konsepsiyasını təqdim etdi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8"/>
          <p:cNvSpPr/>
          <p:nvPr/>
        </p:nvSpPr>
        <p:spPr>
          <a:xfrm>
            <a:off x="7501320" y="3309840"/>
            <a:ext cx="556200" cy="2232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Shape 9"/>
          <p:cNvSpPr/>
          <p:nvPr/>
        </p:nvSpPr>
        <p:spPr>
          <a:xfrm>
            <a:off x="7106400" y="3112200"/>
            <a:ext cx="417240" cy="41724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7188480" y="3162960"/>
            <a:ext cx="252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8243640" y="3176280"/>
            <a:ext cx="273636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1956 - Dartmut Konfransı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2"/>
          <p:cNvSpPr/>
          <p:nvPr/>
        </p:nvSpPr>
        <p:spPr>
          <a:xfrm>
            <a:off x="8243640" y="3535560"/>
            <a:ext cx="56433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termini rəsmi olaraq yarandı və elm sahəsi kimi formalaşmağa başladı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3"/>
          <p:cNvSpPr/>
          <p:nvPr/>
        </p:nvSpPr>
        <p:spPr>
          <a:xfrm>
            <a:off x="6572160" y="4244040"/>
            <a:ext cx="556200" cy="2232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Shape 14"/>
          <p:cNvSpPr/>
          <p:nvPr/>
        </p:nvSpPr>
        <p:spPr>
          <a:xfrm>
            <a:off x="7106400" y="4046760"/>
            <a:ext cx="417240" cy="41724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7188480" y="4097160"/>
            <a:ext cx="252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6"/>
          <p:cNvSpPr/>
          <p:nvPr/>
        </p:nvSpPr>
        <p:spPr>
          <a:xfrm>
            <a:off x="3098520" y="4110480"/>
            <a:ext cx="32875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1980-1990 - Ekspert Sistemləri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7"/>
          <p:cNvSpPr/>
          <p:nvPr/>
        </p:nvSpPr>
        <p:spPr>
          <a:xfrm>
            <a:off x="742680" y="4470120"/>
            <a:ext cx="5643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İlk praktik SI tətbiqləri biznes və tibb sahələrində istifadə olunmağa başladı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8"/>
          <p:cNvSpPr/>
          <p:nvPr/>
        </p:nvSpPr>
        <p:spPr>
          <a:xfrm>
            <a:off x="7501320" y="5178600"/>
            <a:ext cx="556200" cy="2232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Shape 19"/>
          <p:cNvSpPr/>
          <p:nvPr/>
        </p:nvSpPr>
        <p:spPr>
          <a:xfrm>
            <a:off x="7106400" y="4980960"/>
            <a:ext cx="417240" cy="41724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7188480" y="5031720"/>
            <a:ext cx="252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1"/>
          <p:cNvSpPr/>
          <p:nvPr/>
        </p:nvSpPr>
        <p:spPr>
          <a:xfrm>
            <a:off x="8243640" y="5045040"/>
            <a:ext cx="321516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2010-cü illər - Dərin Öyrənmə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22"/>
          <p:cNvSpPr/>
          <p:nvPr/>
        </p:nvSpPr>
        <p:spPr>
          <a:xfrm>
            <a:off x="8243640" y="5404320"/>
            <a:ext cx="5643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Neyron şəbəkələri inqilabı görüntü və nitq tanıma texnologiyalarını çevirdi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23"/>
          <p:cNvSpPr/>
          <p:nvPr/>
        </p:nvSpPr>
        <p:spPr>
          <a:xfrm>
            <a:off x="6572160" y="6112800"/>
            <a:ext cx="556200" cy="2232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Shape 24"/>
          <p:cNvSpPr/>
          <p:nvPr/>
        </p:nvSpPr>
        <p:spPr>
          <a:xfrm>
            <a:off x="7106400" y="5915520"/>
            <a:ext cx="417240" cy="41724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6" name="Text 25"/>
          <p:cNvSpPr/>
          <p:nvPr/>
        </p:nvSpPr>
        <p:spPr>
          <a:xfrm>
            <a:off x="7188480" y="5966280"/>
            <a:ext cx="25236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5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6"/>
          <p:cNvSpPr/>
          <p:nvPr/>
        </p:nvSpPr>
        <p:spPr>
          <a:xfrm>
            <a:off x="3571920" y="5979240"/>
            <a:ext cx="28141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2020-ci illər - Generativ SI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7"/>
          <p:cNvSpPr/>
          <p:nvPr/>
        </p:nvSpPr>
        <p:spPr>
          <a:xfrm>
            <a:off x="742680" y="6338880"/>
            <a:ext cx="5643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ChatGPT və oxşar modellər məzmun yaratma və insan-maşın əlaqəsini yenidən müəyyənləşdirdi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863640" y="1390320"/>
            <a:ext cx="86986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İntellektin Əsas İstiqamətləri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Image 0" descr="preencoded.png"/>
          <p:cNvPicPr/>
          <p:nvPr/>
        </p:nvPicPr>
        <p:blipFill>
          <a:blip r:embed="rId1"/>
          <a:stretch/>
        </p:blipFill>
        <p:spPr>
          <a:xfrm>
            <a:off x="863640" y="2435760"/>
            <a:ext cx="1752840" cy="1752840"/>
          </a:xfrm>
          <a:prstGeom prst="rect">
            <a:avLst/>
          </a:prstGeom>
          <a:ln w="0">
            <a:noFill/>
          </a:ln>
        </p:spPr>
      </p:pic>
      <p:sp>
        <p:nvSpPr>
          <p:cNvPr id="111" name="Text 1"/>
          <p:cNvSpPr/>
          <p:nvPr/>
        </p:nvSpPr>
        <p:spPr>
          <a:xfrm>
            <a:off x="863640" y="4458960"/>
            <a:ext cx="29347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Machine Learning (ML)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863640" y="4895280"/>
            <a:ext cx="3022560" cy="19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Maşın öyrənməsi — sistemlərin məlumatlardan öyrənərək performansını artırması. Avtomatik nümunə tanıma və proqnozlaşdırma əsas məqsəddir.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Image 1" descr="preencoded.png"/>
          <p:cNvPicPr/>
          <p:nvPr/>
        </p:nvPicPr>
        <p:blipFill>
          <a:blip r:embed="rId2"/>
          <a:stretch/>
        </p:blipFill>
        <p:spPr>
          <a:xfrm>
            <a:off x="4156920" y="2435760"/>
            <a:ext cx="1752840" cy="1752840"/>
          </a:xfrm>
          <a:prstGeom prst="rect">
            <a:avLst/>
          </a:prstGeom>
          <a:ln w="0">
            <a:noFill/>
          </a:ln>
        </p:spPr>
      </p:pic>
      <p:sp>
        <p:nvSpPr>
          <p:cNvPr id="114" name="Text 3"/>
          <p:cNvSpPr/>
          <p:nvPr/>
        </p:nvSpPr>
        <p:spPr>
          <a:xfrm>
            <a:off x="4156920" y="4458960"/>
            <a:ext cx="302256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Natural Language Processing (NLP)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4156920" y="5202000"/>
            <a:ext cx="302256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Təbii dil emalı — maşınların insan dilini başa düşməsi və generasiya etməsi. Tərcümə, sentiment analizi və chatbot-lar bu sahəyə daxildir.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Image 2" descr="preencoded.png"/>
          <p:cNvPicPr/>
          <p:nvPr/>
        </p:nvPicPr>
        <p:blipFill>
          <a:blip r:embed="rId3"/>
          <a:stretch/>
        </p:blipFill>
        <p:spPr>
          <a:xfrm>
            <a:off x="7450200" y="2435760"/>
            <a:ext cx="1752840" cy="1752840"/>
          </a:xfrm>
          <a:prstGeom prst="rect">
            <a:avLst/>
          </a:prstGeom>
          <a:ln w="0">
            <a:noFill/>
          </a:ln>
        </p:spPr>
      </p:pic>
      <p:sp>
        <p:nvSpPr>
          <p:cNvPr id="117" name="Text 5"/>
          <p:cNvSpPr/>
          <p:nvPr/>
        </p:nvSpPr>
        <p:spPr>
          <a:xfrm>
            <a:off x="7450200" y="4458960"/>
            <a:ext cx="27576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Computer Vision (CV)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7450200" y="4895280"/>
            <a:ext cx="3022560" cy="19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Kompüter görmə — vizual məlumatların təhlili və şəkillərdən mənalı informasiyanın çıxarılması. Üz tanıma və obyekt aşkarlama praktik tətbiqlərdir.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Image 3" descr="preencoded.png"/>
          <p:cNvPicPr/>
          <p:nvPr/>
        </p:nvPicPr>
        <p:blipFill>
          <a:blip r:embed="rId4"/>
          <a:stretch/>
        </p:blipFill>
        <p:spPr>
          <a:xfrm>
            <a:off x="10743120" y="2435760"/>
            <a:ext cx="1752840" cy="1752840"/>
          </a:xfrm>
          <a:prstGeom prst="rect">
            <a:avLst/>
          </a:prstGeom>
          <a:ln w="0">
            <a:noFill/>
          </a:ln>
        </p:spPr>
      </p:pic>
      <p:sp>
        <p:nvSpPr>
          <p:cNvPr id="120" name="Text 7"/>
          <p:cNvSpPr/>
          <p:nvPr/>
        </p:nvSpPr>
        <p:spPr>
          <a:xfrm>
            <a:off x="10743120" y="4458960"/>
            <a:ext cx="27583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Generative AI (GenAI)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10743120" y="4895280"/>
            <a:ext cx="302256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Generativ SI — yeni məzmun yaratma qabiliyyəti: mətn, şəkil, video, kod. Yaradıcılıq və avtomatlaşdırmanın kəsişməsində yer alır.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23" name="Text 0"/>
          <p:cNvSpPr/>
          <p:nvPr/>
        </p:nvSpPr>
        <p:spPr>
          <a:xfrm>
            <a:off x="6350040" y="980640"/>
            <a:ext cx="7415640" cy="12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Avtomatlaşdırmadan İntellektuallaşdırmaya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350040" y="274752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Avtomatlaşdırma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6350040" y="3269880"/>
            <a:ext cx="344412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Qaydaların təkrarı və əvvəlcədən proqramlaşdırılmış addımların icrasıdır.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6350040" y="4436280"/>
            <a:ext cx="344412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Sabit alqoritmlər üzrə işləyir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Dəyişikliklərə uyğunlaşma yoxdur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İnsan müdaxiləsi tələb olunur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Yeni vəziyyətləri həll edə bilməz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10173960" y="2531520"/>
            <a:ext cx="3755160" cy="3501720"/>
          </a:xfrm>
          <a:prstGeom prst="roundRect">
            <a:avLst>
              <a:gd name="adj" fmla="val 925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10389600" y="2747520"/>
            <a:ext cx="25822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İntellektuallaşdırma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6"/>
          <p:cNvSpPr/>
          <p:nvPr/>
        </p:nvSpPr>
        <p:spPr>
          <a:xfrm>
            <a:off x="10389600" y="3269880"/>
            <a:ext cx="33235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Açıq təlimat olmadan yeni şərtlərə uyğunlaşma və öyrənmədir.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10389600" y="4112280"/>
            <a:ext cx="332352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Məlumatlardan öyrənir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Yeni situasiyalara uyğunlaşır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Müstəqil qərar qəbul edir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Performansını təkmilləşdirir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6350040" y="6528960"/>
            <a:ext cx="741564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İntellektuallaşdırma biznesə çeviklik verir və dəyişən bazar şəraitinə sürətli reaksiya imkanı yaradır. Bu, sadəcə prosesləri sürətləndirmək deyil, onları ağıllı etməkdir.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863640" y="1587600"/>
            <a:ext cx="926136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İdarəetmə Proseslərində SI-nin Rolu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863640" y="2632680"/>
            <a:ext cx="1290204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müasir idarəetmədə dörd əsas istiqamətdə dəyər yaradır və rəqabət üstünlüyü təmin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2"/>
          <p:cNvSpPr/>
          <p:nvPr/>
        </p:nvSpPr>
        <p:spPr>
          <a:xfrm>
            <a:off x="863640" y="3199680"/>
            <a:ext cx="3062880" cy="344160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1079640" y="3235680"/>
            <a:ext cx="26312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Qərarların Dəstəklənməsi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1079640" y="3978360"/>
            <a:ext cx="2631240" cy="22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böyük həcmli məlumatları təhlil edərək menecerlərə dəqiq və sürətli qərar qəbul etmək üçün əsaslar təqdim edir. Real vaxt rejimində dəyişən situasiyalara uyğun tövsiyələr verir.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4143240" y="3199680"/>
            <a:ext cx="3063240" cy="344160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4359240" y="3415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Proqnozlaşdırma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4359240" y="3851640"/>
            <a:ext cx="2631240" cy="22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Keçmiş məlumatlar əsasında gələcək trendləri və potensial problemləri müəyyənləşdirir. Tələbat, satış və risklər üzrə dəqiq proqnozlar hazırlamağa kömək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8"/>
          <p:cNvSpPr/>
          <p:nvPr/>
        </p:nvSpPr>
        <p:spPr>
          <a:xfrm>
            <a:off x="7423200" y="3199680"/>
            <a:ext cx="3063240" cy="344160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7638840" y="3415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Fərdiləşdirmə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10"/>
          <p:cNvSpPr/>
          <p:nvPr/>
        </p:nvSpPr>
        <p:spPr>
          <a:xfrm>
            <a:off x="7638840" y="3851640"/>
            <a:ext cx="263124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Hər müştəri, işçi və ya situasiya üçün fərdi strategiyalar və yanaşmalar təklif edir. Kütləvi xidmətləri şəxsi təcrübəyə çevirir.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1"/>
          <p:cNvSpPr/>
          <p:nvPr/>
        </p:nvSpPr>
        <p:spPr>
          <a:xfrm>
            <a:off x="10702800" y="3199680"/>
            <a:ext cx="3063240" cy="344160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10918800" y="3415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Optimallaşdırma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0918800" y="3851640"/>
            <a:ext cx="2631240" cy="19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Resursların, vaxtın və büdcənin ən effektiv istifadəsini təmin edir. Mürəkkəb proseslərdə optimal həlləri tapır və xərcləri azaldır.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863640" y="1285560"/>
            <a:ext cx="120880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İdarəetmədə SI İstifadəsinə Praktik Nümunələr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" name="Image 0" descr="preencoded.png"/>
          <p:cNvPicPr/>
          <p:nvPr/>
        </p:nvPicPr>
        <p:blipFill>
          <a:blip r:embed="rId1"/>
          <a:stretch/>
        </p:blipFill>
        <p:spPr>
          <a:xfrm>
            <a:off x="863640" y="2330640"/>
            <a:ext cx="664200" cy="410400"/>
          </a:xfrm>
          <a:prstGeom prst="rect">
            <a:avLst/>
          </a:prstGeom>
          <a:ln w="0">
            <a:noFill/>
          </a:ln>
        </p:spPr>
      </p:pic>
      <p:sp>
        <p:nvSpPr>
          <p:cNvPr id="148" name="Text 1"/>
          <p:cNvSpPr/>
          <p:nvPr/>
        </p:nvSpPr>
        <p:spPr>
          <a:xfrm>
            <a:off x="1798920" y="2330640"/>
            <a:ext cx="2087640" cy="91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Retail - Tələbatın Proqnozu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1798920" y="3380400"/>
            <a:ext cx="2087640" cy="35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Böyük pərakəndə şəbəkələri SI ilə məhsul tələbatını proqnozlaşdırır. Mövsümi dəyişikliklər, bayramlar və hava şəraiti nəzərə alınaraq inventar idarə edilir. Nəticə: artıq ehtiyatların 25-30% azalması.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" name="Image 1" descr="preencoded.png"/>
          <p:cNvPicPr/>
          <p:nvPr/>
        </p:nvPicPr>
        <p:blipFill>
          <a:blip r:embed="rId2"/>
          <a:stretch/>
        </p:blipFill>
        <p:spPr>
          <a:xfrm>
            <a:off x="4156920" y="2330640"/>
            <a:ext cx="664200" cy="410400"/>
          </a:xfrm>
          <a:prstGeom prst="rect">
            <a:avLst/>
          </a:prstGeom>
          <a:ln w="0">
            <a:noFill/>
          </a:ln>
        </p:spPr>
      </p:pic>
      <p:sp>
        <p:nvSpPr>
          <p:cNvPr id="151" name="Text 3"/>
          <p:cNvSpPr/>
          <p:nvPr/>
        </p:nvSpPr>
        <p:spPr>
          <a:xfrm>
            <a:off x="5091840" y="2330640"/>
            <a:ext cx="2087640" cy="91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Maliyyə - Kredit Risklərinin Analizi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5091840" y="3380400"/>
            <a:ext cx="2087640" cy="29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Banklar SI modelləri ilə kredit müraciətlərini qiymətləndirir. Yüzlərlə parametr əsasında dəfələrlə daha sürətli və dəqiq qərar verilir. Problem kreditlərin aşkarlanma dərəcəsi 40% artır.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" name="Image 2" descr="preencoded.png"/>
          <p:cNvPicPr/>
          <p:nvPr/>
        </p:nvPicPr>
        <p:blipFill>
          <a:blip r:embed="rId3"/>
          <a:stretch/>
        </p:blipFill>
        <p:spPr>
          <a:xfrm>
            <a:off x="7450200" y="2330640"/>
            <a:ext cx="664200" cy="410400"/>
          </a:xfrm>
          <a:prstGeom prst="rect">
            <a:avLst/>
          </a:prstGeom>
          <a:ln w="0">
            <a:noFill/>
          </a:ln>
        </p:spPr>
      </p:pic>
      <p:sp>
        <p:nvSpPr>
          <p:cNvPr id="154" name="Text 5"/>
          <p:cNvSpPr/>
          <p:nvPr/>
        </p:nvSpPr>
        <p:spPr>
          <a:xfrm>
            <a:off x="8385120" y="2330640"/>
            <a:ext cx="2087640" cy="12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Logistika - Marşrutların Optimallaşdırılması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8385120" y="3687120"/>
            <a:ext cx="2087640" cy="29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Çatdırılma şirkətləri SI ilə ən optimal marşrutları hesablayır. Trafik, yanacaq qiymətləri və çatdırılma pəncərələri nəzərə alınır. Yanacaq xərcləri 15-20% azalır, çatdırılma vaxtı qısalır.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6" name="Image 3" descr="preencoded.png"/>
          <p:cNvPicPr/>
          <p:nvPr/>
        </p:nvPicPr>
        <p:blipFill>
          <a:blip r:embed="rId4"/>
          <a:stretch/>
        </p:blipFill>
        <p:spPr>
          <a:xfrm>
            <a:off x="10743120" y="2330640"/>
            <a:ext cx="664200" cy="410400"/>
          </a:xfrm>
          <a:prstGeom prst="rect">
            <a:avLst/>
          </a:prstGeom>
          <a:ln w="0">
            <a:noFill/>
          </a:ln>
        </p:spPr>
      </p:pic>
      <p:sp>
        <p:nvSpPr>
          <p:cNvPr id="157" name="Text 7"/>
          <p:cNvSpPr/>
          <p:nvPr/>
        </p:nvSpPr>
        <p:spPr>
          <a:xfrm>
            <a:off x="11678400" y="2330640"/>
            <a:ext cx="2087640" cy="91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HR - İşçilərin İşdən Ayrılma Proqnozu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8"/>
          <p:cNvSpPr/>
          <p:nvPr/>
        </p:nvSpPr>
        <p:spPr>
          <a:xfrm>
            <a:off x="11678400" y="3380400"/>
            <a:ext cx="2087640" cy="35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Şirkətlər SI ilə hansı işçilərin işdən çıxma riskinə malik olduğunu müəyyənləşdirir. Məmnuniyyət, performans və davranış nümunələri təhlil edilir. Qiymətli kadrların saxlanması üçün proaktiv tədbirlər görülür.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863640" y="934200"/>
            <a:ext cx="63964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Məhdudiyyətlər və Miflər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863640" y="2087280"/>
            <a:ext cx="26474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Geniş Yayılmış Miflər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2"/>
          <p:cNvSpPr/>
          <p:nvPr/>
        </p:nvSpPr>
        <p:spPr>
          <a:xfrm>
            <a:off x="863640" y="2637000"/>
            <a:ext cx="2985120" cy="1969200"/>
          </a:xfrm>
          <a:prstGeom prst="roundRect">
            <a:avLst>
              <a:gd name="adj" fmla="val 1645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1110240" y="288324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Mif 1: SI = Şüur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1110240" y="3477960"/>
            <a:ext cx="24926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"Süni intellekt düşünür və hiss edir"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5"/>
          <p:cNvSpPr/>
          <p:nvPr/>
        </p:nvSpPr>
        <p:spPr>
          <a:xfrm>
            <a:off x="4065480" y="2637000"/>
            <a:ext cx="2985480" cy="1969200"/>
          </a:xfrm>
          <a:prstGeom prst="roundRect">
            <a:avLst>
              <a:gd name="adj" fmla="val 1645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4312080" y="2883240"/>
            <a:ext cx="24926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Mif 2: Tam Avtonomluq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7"/>
          <p:cNvSpPr/>
          <p:nvPr/>
        </p:nvSpPr>
        <p:spPr>
          <a:xfrm>
            <a:off x="4312080" y="3712320"/>
            <a:ext cx="24926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"SI insan nəzarəti olmadan işləyə bilər"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8"/>
          <p:cNvSpPr/>
          <p:nvPr/>
        </p:nvSpPr>
        <p:spPr>
          <a:xfrm>
            <a:off x="863640" y="4822560"/>
            <a:ext cx="6187320" cy="1338480"/>
          </a:xfrm>
          <a:prstGeom prst="roundRect">
            <a:avLst>
              <a:gd name="adj" fmla="val 2419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8" name="Text 9"/>
          <p:cNvSpPr/>
          <p:nvPr/>
        </p:nvSpPr>
        <p:spPr>
          <a:xfrm>
            <a:off x="1110240" y="5068800"/>
            <a:ext cx="321696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Mif 3: Menecerlərin Əvəzi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10"/>
          <p:cNvSpPr/>
          <p:nvPr/>
        </p:nvSpPr>
        <p:spPr>
          <a:xfrm>
            <a:off x="1110240" y="5591520"/>
            <a:ext cx="56944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"SI rəhbərləri işsiz qoyacaq"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11"/>
          <p:cNvSpPr/>
          <p:nvPr/>
        </p:nvSpPr>
        <p:spPr>
          <a:xfrm>
            <a:off x="7430760" y="1871280"/>
            <a:ext cx="6498360" cy="4532760"/>
          </a:xfrm>
          <a:prstGeom prst="roundRect">
            <a:avLst>
              <a:gd name="adj" fmla="val 715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1" name="Text 12"/>
          <p:cNvSpPr/>
          <p:nvPr/>
        </p:nvSpPr>
        <p:spPr>
          <a:xfrm>
            <a:off x="7646400" y="20872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Reallıq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13"/>
          <p:cNvSpPr/>
          <p:nvPr/>
        </p:nvSpPr>
        <p:spPr>
          <a:xfrm>
            <a:off x="7646400" y="2610000"/>
            <a:ext cx="606672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alətdir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, şüurlu varlıq deyil. O, məlumat tələb edir, daimi nəzarətə ehtiyac duyur və insan interpretasiyası olmadan qərar qəbul edə bilməz.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14"/>
          <p:cNvSpPr/>
          <p:nvPr/>
        </p:nvSpPr>
        <p:spPr>
          <a:xfrm>
            <a:off x="7646400" y="3776040"/>
            <a:ext cx="606672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Uğurlu SI tətbiqi üçün lazımdır: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5"/>
          <p:cNvSpPr/>
          <p:nvPr/>
        </p:nvSpPr>
        <p:spPr>
          <a:xfrm>
            <a:off x="7646400" y="4294440"/>
            <a:ext cx="606672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Keyfiyyətli məlumat bazası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Mütəxəssis nəzarəti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Nəticələrin doğrulanması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Etik çərçivələrə riayət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16"/>
          <p:cNvSpPr/>
          <p:nvPr/>
        </p:nvSpPr>
        <p:spPr>
          <a:xfrm>
            <a:off x="863640" y="664776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texnologiyası insanın qərar qəbul etmə prosesini asanlaşdırır, lakin son qərarı həmişə insan verməlidir. Texnologiya və humanitar yanaşmanın sintezi optimal nəticələr verir.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77" name="Text 0"/>
          <p:cNvSpPr/>
          <p:nvPr/>
        </p:nvSpPr>
        <p:spPr>
          <a:xfrm>
            <a:off x="716040" y="1400760"/>
            <a:ext cx="588564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Etik Kontekst və Məsuliyyət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716040" y="2131920"/>
            <a:ext cx="771120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texnologiyalarının geniş tətbiqi ciddi etik məsələlər ortaya qoyur. Bu çağırışların həlli texnologiyanın uzunmüddətli uğuru üçün kritikdir.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2"/>
          <p:cNvSpPr/>
          <p:nvPr/>
        </p:nvSpPr>
        <p:spPr>
          <a:xfrm>
            <a:off x="716040" y="2789640"/>
            <a:ext cx="2471040" cy="2964600"/>
          </a:xfrm>
          <a:prstGeom prst="roundRect">
            <a:avLst>
              <a:gd name="adj" fmla="val 443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693360" y="2789640"/>
            <a:ext cx="90720" cy="2964600"/>
          </a:xfrm>
          <a:prstGeom prst="roundRect">
            <a:avLst>
              <a:gd name="adj" fmla="val 2936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986400" y="2919600"/>
            <a:ext cx="199872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Məlumatlarda Qərəz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986400" y="3517200"/>
            <a:ext cx="1998720" cy="19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modelləri öyrəndiyi məlumatlardakı qərəzləri əks etdirir. Tarixdə diskriminasiya olubsa, SI də onu təkrarlaya bilər. Həll: müxtəlif məlumat dəstləri və daimi monitorinq.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6"/>
          <p:cNvSpPr/>
          <p:nvPr/>
        </p:nvSpPr>
        <p:spPr>
          <a:xfrm>
            <a:off x="3336120" y="2789640"/>
            <a:ext cx="2471040" cy="2964600"/>
          </a:xfrm>
          <a:prstGeom prst="roundRect">
            <a:avLst>
              <a:gd name="adj" fmla="val 443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4" name="Shape 7"/>
          <p:cNvSpPr/>
          <p:nvPr/>
        </p:nvSpPr>
        <p:spPr>
          <a:xfrm>
            <a:off x="3313440" y="2789640"/>
            <a:ext cx="90720" cy="2964600"/>
          </a:xfrm>
          <a:prstGeom prst="roundRect">
            <a:avLst>
              <a:gd name="adj" fmla="val 2936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3606480" y="2919600"/>
            <a:ext cx="199872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Qara Qutu Problemi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9"/>
          <p:cNvSpPr/>
          <p:nvPr/>
        </p:nvSpPr>
        <p:spPr>
          <a:xfrm>
            <a:off x="3606480" y="3517200"/>
            <a:ext cx="1998720" cy="171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Mürəkkəb SI sistemlərinin qərar qəbul mexanizmi anlaşılmır. "Niyə bu qərar verildi?" sualına cavab vermək çətindir. Şəffaflıq və izahedilənlik tələb olunur.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0"/>
          <p:cNvSpPr/>
          <p:nvPr/>
        </p:nvSpPr>
        <p:spPr>
          <a:xfrm>
            <a:off x="5956200" y="2789640"/>
            <a:ext cx="2471040" cy="2964600"/>
          </a:xfrm>
          <a:prstGeom prst="roundRect">
            <a:avLst>
              <a:gd name="adj" fmla="val 443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8" name="Shape 11"/>
          <p:cNvSpPr/>
          <p:nvPr/>
        </p:nvSpPr>
        <p:spPr>
          <a:xfrm>
            <a:off x="5933520" y="2789640"/>
            <a:ext cx="90720" cy="2964600"/>
          </a:xfrm>
          <a:prstGeom prst="roundRect">
            <a:avLst>
              <a:gd name="adj" fmla="val 2936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9" name="Text 12"/>
          <p:cNvSpPr/>
          <p:nvPr/>
        </p:nvSpPr>
        <p:spPr>
          <a:xfrm>
            <a:off x="6226560" y="2919600"/>
            <a:ext cx="199872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Məsuliyyət Məsələsi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13"/>
          <p:cNvSpPr/>
          <p:nvPr/>
        </p:nvSpPr>
        <p:spPr>
          <a:xfrm>
            <a:off x="6226560" y="3589200"/>
            <a:ext cx="1998720" cy="171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səhv etdikdə kim məsuliyyət daşıyır? Proqramçı, istifadəçi, yoxsa təşkilat? Aydın hüquqi çərçivələr və sığorta mexanizmləri formalaşmalıdır.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4"/>
          <p:cNvSpPr/>
          <p:nvPr/>
        </p:nvSpPr>
        <p:spPr>
          <a:xfrm>
            <a:off x="716040" y="5921640"/>
            <a:ext cx="7711200" cy="906120"/>
          </a:xfrm>
          <a:prstGeom prst="roundRect">
            <a:avLst>
              <a:gd name="adj" fmla="val 2961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92" name="Image 1" descr="preencoded.png"/>
          <p:cNvPicPr/>
          <p:nvPr/>
        </p:nvPicPr>
        <p:blipFill>
          <a:blip r:embed="rId2"/>
          <a:stretch/>
        </p:blipFill>
        <p:spPr>
          <a:xfrm>
            <a:off x="894960" y="6163920"/>
            <a:ext cx="222840" cy="178200"/>
          </a:xfrm>
          <a:prstGeom prst="rect">
            <a:avLst/>
          </a:prstGeom>
          <a:ln w="0">
            <a:noFill/>
          </a:ln>
        </p:spPr>
      </p:pic>
      <p:sp>
        <p:nvSpPr>
          <p:cNvPr id="193" name="Text 15"/>
          <p:cNvSpPr/>
          <p:nvPr/>
        </p:nvSpPr>
        <p:spPr>
          <a:xfrm>
            <a:off x="1297800" y="6114960"/>
            <a:ext cx="6950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Vacib:</a:t>
            </a:r>
            <a:r>
              <a:rPr b="0" lang="en-US" sz="14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Etik SI inkişafı üçün şirkətlər daxili qaydalar, nəzarət komitələri və şəffaflıq standartları yaratmalıdır. Texnoloji irəliləyiş insan dəyərləri ilə balanslaşdırılmalıdır.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863640" y="1514160"/>
            <a:ext cx="1440360" cy="38808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95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93240" y="1622160"/>
            <a:ext cx="172080" cy="172080"/>
          </a:xfrm>
          <a:prstGeom prst="rect">
            <a:avLst/>
          </a:prstGeom>
          <a:ln w="0">
            <a:noFill/>
          </a:ln>
        </p:spPr>
      </p:pic>
      <p:sp>
        <p:nvSpPr>
          <p:cNvPr id="196" name="Text 1"/>
          <p:cNvSpPr/>
          <p:nvPr/>
        </p:nvSpPr>
        <p:spPr>
          <a:xfrm>
            <a:off x="1252440" y="1578960"/>
            <a:ext cx="9223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EV TAPŞIRIĞI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2"/>
          <p:cNvSpPr/>
          <p:nvPr/>
        </p:nvSpPr>
        <p:spPr>
          <a:xfrm>
            <a:off x="863640" y="1989000"/>
            <a:ext cx="49078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Praktik Tapşırıqlar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3"/>
          <p:cNvSpPr/>
          <p:nvPr/>
        </p:nvSpPr>
        <p:spPr>
          <a:xfrm>
            <a:off x="863640" y="2926440"/>
            <a:ext cx="6342840" cy="3221280"/>
          </a:xfrm>
          <a:prstGeom prst="roundRect">
            <a:avLst>
              <a:gd name="adj" fmla="val 1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9" name="Text 4"/>
          <p:cNvSpPr/>
          <p:nvPr/>
        </p:nvSpPr>
        <p:spPr>
          <a:xfrm>
            <a:off x="1079640" y="314244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Tapşırıq 1: Tədqiqat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5"/>
          <p:cNvSpPr/>
          <p:nvPr/>
        </p:nvSpPr>
        <p:spPr>
          <a:xfrm>
            <a:off x="1079640" y="3578760"/>
            <a:ext cx="5910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Öz sahənizdə (təhsil, tibb, maliyyə, və s.) süni intellektin real istifadəsinə nümunə tapın. Araşdırın: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6"/>
          <p:cNvSpPr/>
          <p:nvPr/>
        </p:nvSpPr>
        <p:spPr>
          <a:xfrm>
            <a:off x="1079640" y="4356000"/>
            <a:ext cx="5910840" cy="11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SI texnologiyası istifadə olunur?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problemi həll edir?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Nəticələr nələrdir?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7"/>
          <p:cNvSpPr/>
          <p:nvPr/>
        </p:nvSpPr>
        <p:spPr>
          <a:xfrm>
            <a:off x="7423200" y="2926440"/>
            <a:ext cx="6342840" cy="3221280"/>
          </a:xfrm>
          <a:prstGeom prst="roundRect">
            <a:avLst>
              <a:gd name="adj" fmla="val 1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3" name="Text 8"/>
          <p:cNvSpPr/>
          <p:nvPr/>
        </p:nvSpPr>
        <p:spPr>
          <a:xfrm>
            <a:off x="7638840" y="314244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Tapşırıq 2: Analiz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9"/>
          <p:cNvSpPr/>
          <p:nvPr/>
        </p:nvSpPr>
        <p:spPr>
          <a:xfrm>
            <a:off x="7638840" y="3578760"/>
            <a:ext cx="59112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Düşünün və yazın: Hansı idarəetmə tapşırıqları süni intellektə həvalə edilə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bilməz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? Niyə?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0"/>
          <p:cNvSpPr/>
          <p:nvPr/>
        </p:nvSpPr>
        <p:spPr>
          <a:xfrm>
            <a:off x="7638840" y="4356000"/>
            <a:ext cx="59112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Məsələn: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11"/>
          <p:cNvSpPr/>
          <p:nvPr/>
        </p:nvSpPr>
        <p:spPr>
          <a:xfrm>
            <a:off x="7638840" y="4809600"/>
            <a:ext cx="5911200" cy="11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Etik qərarlar?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Yaradıcı strategiya?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Komanda motivasiyası?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12"/>
          <p:cNvSpPr/>
          <p:nvPr/>
        </p:nvSpPr>
        <p:spPr>
          <a:xfrm>
            <a:off x="863640" y="6391440"/>
            <a:ext cx="1290204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Cavablarınızı növbəti dərsdə müzakirə edəcəyik. Konkret nümunələr və öz fikirləriniz xüsusilə dəyərlidir. Uğurlar!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Picture 16" descr=""/>
          <p:cNvPicPr/>
          <p:nvPr/>
        </p:nvPicPr>
        <p:blipFill>
          <a:blip r:embed="rId3"/>
          <a:stretch/>
        </p:blipFill>
        <p:spPr>
          <a:xfrm>
            <a:off x="11779560" y="228600"/>
            <a:ext cx="1986120" cy="2567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1044</Words>
  <Paragraphs>129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2026-02-14T13:23:25Z</dcterms:created>
  <dc:creator/>
  <dc:description/>
  <dc:language>en-US</dc:language>
  <cp:lastModifiedBy/>
  <cp:lastPrinted>2026-03-01T16:28:47Z</cp:lastPrinted>
  <dcterms:modified xsi:type="dcterms:W3CDTF">2026-03-09T14:02:18Z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Custom</vt:lpwstr>
  </property>
  <property fmtid="{D5CDD505-2E9C-101B-9397-08002B2CF9AE}" pid="4" name="Slides">
    <vt:i4>11</vt:i4>
  </property>
</Properties>
</file>