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4630400" cy="8229600"/>
  <p:notesSz cx="8229600" cy="14630400"/>
  <p:embeddedFontLst>
    <p:embeddedFont>
      <p:font typeface="Montserrat"/>
      <p:regular r:id="rId18"/>
    </p:embeddedFont>
    <p:embeddedFont>
      <p:font typeface="Montserrat"/>
      <p:regular r:id="rId19"/>
    </p:embeddedFont>
    <p:embeddedFont>
      <p:font typeface="Montserrat"/>
      <p:regular r:id="rId20"/>
    </p:embeddedFont>
    <p:embeddedFont>
      <p:font typeface="Montserrat"/>
      <p:regular r:id="rId21"/>
    </p:embeddedFont>
    <p:embeddedFont>
      <p:font typeface="Source Sans 3"/>
      <p:regular r:id="rId22"/>
    </p:embeddedFont>
    <p:embeddedFont>
      <p:font typeface="Source Sans 3"/>
      <p:regular r:id="rId23"/>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slideLayout" Target="../slideLayouts/slideLayout5.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7.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8.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svg"/><Relationship Id="rId4" Type="http://schemas.openxmlformats.org/officeDocument/2006/relationships/image" Target="../media/image-8-4.png"/><Relationship Id="rId5" Type="http://schemas.openxmlformats.org/officeDocument/2006/relationships/image" Target="../media/image-8-5.svg"/><Relationship Id="rId6" Type="http://schemas.openxmlformats.org/officeDocument/2006/relationships/image" Target="../media/image-8-6.png"/><Relationship Id="rId7" Type="http://schemas.openxmlformats.org/officeDocument/2006/relationships/image" Target="../media/image-8-7.svg"/><Relationship Id="rId8" Type="http://schemas.openxmlformats.org/officeDocument/2006/relationships/image" Target="../media/image-8-8.png"/><Relationship Id="rId9" Type="http://schemas.openxmlformats.org/officeDocument/2006/relationships/image" Target="../media/image-8-9.svg"/><Relationship Id="rId10" Type="http://schemas.openxmlformats.org/officeDocument/2006/relationships/slideLayout" Target="../slideLayouts/slideLayout9.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2.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Text 0"/>
          <p:cNvSpPr/>
          <p:nvPr/>
        </p:nvSpPr>
        <p:spPr>
          <a:xfrm>
            <a:off x="863798" y="3177302"/>
            <a:ext cx="7416403" cy="1227058"/>
          </a:xfrm>
          <a:prstGeom prst="rect">
            <a:avLst/>
          </a:prstGeom>
          <a:noFill/>
          <a:ln/>
        </p:spPr>
        <p:txBody>
          <a:bodyPr wrap="squar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Süni İntellektin Növləri və İdarəetmədə Tətbiqi</a:t>
            </a:r>
            <a:endParaRPr lang="en-US" sz="3850" dirty="0"/>
          </a:p>
        </p:txBody>
      </p:sp>
      <p:sp>
        <p:nvSpPr>
          <p:cNvPr id="4" name="Text 1"/>
          <p:cNvSpPr/>
          <p:nvPr/>
        </p:nvSpPr>
        <p:spPr>
          <a:xfrm>
            <a:off x="863798" y="4728210"/>
            <a:ext cx="7416403"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Müəllim: [Adınız]</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863798" y="679252"/>
            <a:ext cx="646867" cy="388620"/>
          </a:xfrm>
          <a:prstGeom prst="roundRect">
            <a:avLst>
              <a:gd name="adj" fmla="val 6669"/>
            </a:avLst>
          </a:prstGeom>
          <a:solidFill>
            <a:srgbClr val="262626"/>
          </a:solidFill>
          <a:ln/>
        </p:spPr>
      </p:sp>
      <p:sp>
        <p:nvSpPr>
          <p:cNvPr id="3" name="Text 1"/>
          <p:cNvSpPr/>
          <p:nvPr/>
        </p:nvSpPr>
        <p:spPr>
          <a:xfrm>
            <a:off x="993338" y="744022"/>
            <a:ext cx="387787" cy="259080"/>
          </a:xfrm>
          <a:prstGeom prst="rect">
            <a:avLst/>
          </a:prstGeom>
          <a:noFill/>
          <a:ln/>
        </p:spPr>
        <p:txBody>
          <a:bodyPr wrap="none" lIns="0" tIns="0" rIns="0" bIns="0" rtlCol="0" anchor="t"/>
          <a:lstStyle/>
          <a:p>
            <a:pPr algn="l" indent="0" marL="0">
              <a:lnSpc>
                <a:spcPts val="2000"/>
              </a:lnSpc>
              <a:buNone/>
            </a:pPr>
            <a:r>
              <a:rPr lang="en-US" sz="1350" dirty="0">
                <a:solidFill>
                  <a:srgbClr val="E2E6E9"/>
                </a:solidFill>
                <a:latin typeface="Source Sans 3" pitchFamily="34" charset="0"/>
                <a:ea typeface="Source Sans 3" pitchFamily="34" charset="-122"/>
                <a:cs typeface="Source Sans 3" pitchFamily="34" charset="-120"/>
              </a:rPr>
              <a:t>GIRIŞ</a:t>
            </a:r>
            <a:endParaRPr lang="en-US" sz="1350" dirty="0"/>
          </a:p>
        </p:txBody>
      </p:sp>
      <p:sp>
        <p:nvSpPr>
          <p:cNvPr id="4" name="Text 2"/>
          <p:cNvSpPr/>
          <p:nvPr/>
        </p:nvSpPr>
        <p:spPr>
          <a:xfrm>
            <a:off x="863798" y="1154192"/>
            <a:ext cx="4908471" cy="613529"/>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Dərsin Məqsədləri</a:t>
            </a:r>
            <a:endParaRPr lang="en-US" sz="3850" dirty="0"/>
          </a:p>
        </p:txBody>
      </p:sp>
      <p:sp>
        <p:nvSpPr>
          <p:cNvPr id="5" name="Shape 3"/>
          <p:cNvSpPr/>
          <p:nvPr/>
        </p:nvSpPr>
        <p:spPr>
          <a:xfrm>
            <a:off x="708184" y="2091571"/>
            <a:ext cx="6499146" cy="5458778"/>
          </a:xfrm>
          <a:prstGeom prst="roundRect">
            <a:avLst>
              <a:gd name="adj" fmla="val 593"/>
            </a:avLst>
          </a:prstGeom>
          <a:solidFill>
            <a:srgbClr val="1D1F22"/>
          </a:solidFill>
          <a:ln/>
        </p:spPr>
      </p:sp>
      <p:sp>
        <p:nvSpPr>
          <p:cNvPr id="6" name="Text 4"/>
          <p:cNvSpPr/>
          <p:nvPr/>
        </p:nvSpPr>
        <p:spPr>
          <a:xfrm>
            <a:off x="924044" y="2307431"/>
            <a:ext cx="4175760" cy="306705"/>
          </a:xfrm>
          <a:prstGeom prst="rect">
            <a:avLst/>
          </a:prstGeom>
          <a:noFill/>
          <a:ln/>
        </p:spPr>
        <p:txBody>
          <a:bodyPr wrap="none" lIns="0" tIns="0" rIns="0" bIns="0" rtlCol="0" anchor="t"/>
          <a:lstStyle/>
          <a:p>
            <a:pPr algn="l" indent="0" marL="0">
              <a:lnSpc>
                <a:spcPts val="2400"/>
              </a:lnSpc>
              <a:buNone/>
            </a:pPr>
            <a:r>
              <a:rPr lang="en-US" sz="1900" b="1" dirty="0">
                <a:solidFill>
                  <a:srgbClr val="FFFFFF"/>
                </a:solidFill>
                <a:latin typeface="Montserrat Bold" pitchFamily="34" charset="0"/>
                <a:ea typeface="Montserrat Bold" pitchFamily="34" charset="-122"/>
                <a:cs typeface="Montserrat Bold" pitchFamily="34" charset="-120"/>
              </a:rPr>
              <a:t>Bu Gün Öyrənəcəyimiz Mövzular</a:t>
            </a:r>
            <a:endParaRPr lang="en-US" sz="1900" dirty="0"/>
          </a:p>
        </p:txBody>
      </p:sp>
      <p:sp>
        <p:nvSpPr>
          <p:cNvPr id="7" name="Text 5"/>
          <p:cNvSpPr/>
          <p:nvPr/>
        </p:nvSpPr>
        <p:spPr>
          <a:xfrm>
            <a:off x="924044" y="2829997"/>
            <a:ext cx="6067425" cy="647938"/>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Süni intellektin müxtəlif növlərini və onların idarəetmə proseslərində necə tətbiq olunduğunu ətraflı şəkildə araşdıracağıq.</a:t>
            </a:r>
            <a:endParaRPr lang="en-US" sz="1700" dirty="0"/>
          </a:p>
        </p:txBody>
      </p:sp>
      <p:sp>
        <p:nvSpPr>
          <p:cNvPr id="8" name="Text 6"/>
          <p:cNvSpPr/>
          <p:nvPr/>
        </p:nvSpPr>
        <p:spPr>
          <a:xfrm>
            <a:off x="7586305" y="2334458"/>
            <a:ext cx="215860" cy="269915"/>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Montserrat Light" pitchFamily="34" charset="0"/>
                <a:ea typeface="Montserrat Light" pitchFamily="34" charset="-122"/>
                <a:cs typeface="Montserrat Light" pitchFamily="34" charset="-120"/>
              </a:rPr>
              <a:t>01</a:t>
            </a:r>
            <a:endParaRPr lang="en-US" sz="1700" dirty="0"/>
          </a:p>
        </p:txBody>
      </p:sp>
      <p:sp>
        <p:nvSpPr>
          <p:cNvPr id="9" name="Shape 7"/>
          <p:cNvSpPr/>
          <p:nvPr/>
        </p:nvSpPr>
        <p:spPr>
          <a:xfrm>
            <a:off x="7586305" y="2670929"/>
            <a:ext cx="6187916" cy="30480"/>
          </a:xfrm>
          <a:prstGeom prst="rect">
            <a:avLst/>
          </a:prstGeom>
          <a:solidFill>
            <a:srgbClr val="FFFFFF"/>
          </a:solidFill>
          <a:ln/>
        </p:spPr>
      </p:sp>
      <p:sp>
        <p:nvSpPr>
          <p:cNvPr id="10" name="Text 8"/>
          <p:cNvSpPr/>
          <p:nvPr/>
        </p:nvSpPr>
        <p:spPr>
          <a:xfrm>
            <a:off x="7586305" y="2839760"/>
            <a:ext cx="2788206"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SI Növlərinin Təsnifatı</a:t>
            </a:r>
            <a:endParaRPr lang="en-US" sz="1900" dirty="0"/>
          </a:p>
        </p:txBody>
      </p:sp>
      <p:sp>
        <p:nvSpPr>
          <p:cNvPr id="11" name="Text 9"/>
          <p:cNvSpPr/>
          <p:nvPr/>
        </p:nvSpPr>
        <p:spPr>
          <a:xfrm>
            <a:off x="7586305" y="3362325"/>
            <a:ext cx="6187916"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Funksionallığa görə süni intellekt sistemlərinin əsas kateqoriyaları</a:t>
            </a:r>
            <a:endParaRPr lang="en-US" sz="1700" dirty="0"/>
          </a:p>
        </p:txBody>
      </p:sp>
      <p:sp>
        <p:nvSpPr>
          <p:cNvPr id="12" name="Text 10"/>
          <p:cNvSpPr/>
          <p:nvPr/>
        </p:nvSpPr>
        <p:spPr>
          <a:xfrm>
            <a:off x="7586305" y="4064079"/>
            <a:ext cx="215860" cy="269915"/>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Montserrat Light" pitchFamily="34" charset="0"/>
                <a:ea typeface="Montserrat Light" pitchFamily="34" charset="-122"/>
                <a:cs typeface="Montserrat Light" pitchFamily="34" charset="-120"/>
              </a:rPr>
              <a:t>02</a:t>
            </a:r>
            <a:endParaRPr lang="en-US" sz="1700" dirty="0"/>
          </a:p>
        </p:txBody>
      </p:sp>
      <p:sp>
        <p:nvSpPr>
          <p:cNvPr id="13" name="Shape 11"/>
          <p:cNvSpPr/>
          <p:nvPr/>
        </p:nvSpPr>
        <p:spPr>
          <a:xfrm>
            <a:off x="7586305" y="4400550"/>
            <a:ext cx="6187916" cy="30480"/>
          </a:xfrm>
          <a:prstGeom prst="rect">
            <a:avLst/>
          </a:prstGeom>
          <a:solidFill>
            <a:srgbClr val="FFFFFF"/>
          </a:solidFill>
          <a:ln/>
        </p:spPr>
      </p:sp>
      <p:sp>
        <p:nvSpPr>
          <p:cNvPr id="14" name="Text 12"/>
          <p:cNvSpPr/>
          <p:nvPr/>
        </p:nvSpPr>
        <p:spPr>
          <a:xfrm>
            <a:off x="7586305" y="4569381"/>
            <a:ext cx="2709267"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Texnoloji Yanaşmalar</a:t>
            </a:r>
            <a:endParaRPr lang="en-US" sz="1900" dirty="0"/>
          </a:p>
        </p:txBody>
      </p:sp>
      <p:sp>
        <p:nvSpPr>
          <p:cNvPr id="15" name="Text 13"/>
          <p:cNvSpPr/>
          <p:nvPr/>
        </p:nvSpPr>
        <p:spPr>
          <a:xfrm>
            <a:off x="7586305" y="5091946"/>
            <a:ext cx="6187916"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Ekspert sistemlər, maşın öyrənməsi və generativ SI-nin fərqləri</a:t>
            </a:r>
            <a:endParaRPr lang="en-US" sz="1700" dirty="0"/>
          </a:p>
        </p:txBody>
      </p:sp>
      <p:sp>
        <p:nvSpPr>
          <p:cNvPr id="16" name="Text 14"/>
          <p:cNvSpPr/>
          <p:nvPr/>
        </p:nvSpPr>
        <p:spPr>
          <a:xfrm>
            <a:off x="7586305" y="5793700"/>
            <a:ext cx="215860" cy="269915"/>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Montserrat Light" pitchFamily="34" charset="0"/>
                <a:ea typeface="Montserrat Light" pitchFamily="34" charset="-122"/>
                <a:cs typeface="Montserrat Light" pitchFamily="34" charset="-120"/>
              </a:rPr>
              <a:t>03</a:t>
            </a:r>
            <a:endParaRPr lang="en-US" sz="1700" dirty="0"/>
          </a:p>
        </p:txBody>
      </p:sp>
      <p:sp>
        <p:nvSpPr>
          <p:cNvPr id="17" name="Shape 15"/>
          <p:cNvSpPr/>
          <p:nvPr/>
        </p:nvSpPr>
        <p:spPr>
          <a:xfrm>
            <a:off x="7586305" y="6130171"/>
            <a:ext cx="6187916" cy="30480"/>
          </a:xfrm>
          <a:prstGeom prst="rect">
            <a:avLst/>
          </a:prstGeom>
          <a:solidFill>
            <a:srgbClr val="FFFFFF"/>
          </a:solidFill>
          <a:ln/>
        </p:spPr>
      </p:sp>
      <p:sp>
        <p:nvSpPr>
          <p:cNvPr id="18" name="Text 16"/>
          <p:cNvSpPr/>
          <p:nvPr/>
        </p:nvSpPr>
        <p:spPr>
          <a:xfrm>
            <a:off x="7586305" y="6299002"/>
            <a:ext cx="2454235"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Praktik Tətbiqlər</a:t>
            </a:r>
            <a:endParaRPr lang="en-US" sz="1900" dirty="0"/>
          </a:p>
        </p:txBody>
      </p:sp>
      <p:sp>
        <p:nvSpPr>
          <p:cNvPr id="19" name="Text 17"/>
          <p:cNvSpPr/>
          <p:nvPr/>
        </p:nvSpPr>
        <p:spPr>
          <a:xfrm>
            <a:off x="7586305" y="6821567"/>
            <a:ext cx="6187916"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İdarəetmə vəzifələrində konkret istifadə ssenariləri</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Shape 0"/>
          <p:cNvSpPr/>
          <p:nvPr/>
        </p:nvSpPr>
        <p:spPr>
          <a:xfrm>
            <a:off x="863798" y="660321"/>
            <a:ext cx="983694" cy="403860"/>
          </a:xfrm>
          <a:prstGeom prst="roundRect">
            <a:avLst>
              <a:gd name="adj" fmla="val 6417"/>
            </a:avLst>
          </a:prstGeom>
          <a:noFill/>
          <a:ln w="7620">
            <a:solidFill>
              <a:srgbClr val="FFFFFF"/>
            </a:solidFill>
            <a:prstDash val="solid"/>
          </a:ln>
        </p:spPr>
      </p:sp>
      <p:sp>
        <p:nvSpPr>
          <p:cNvPr id="4" name="Text 1"/>
          <p:cNvSpPr/>
          <p:nvPr/>
        </p:nvSpPr>
        <p:spPr>
          <a:xfrm>
            <a:off x="1000958" y="732711"/>
            <a:ext cx="709374" cy="259080"/>
          </a:xfrm>
          <a:prstGeom prst="rect">
            <a:avLst/>
          </a:prstGeom>
          <a:noFill/>
          <a:ln/>
        </p:spPr>
        <p:txBody>
          <a:bodyPr wrap="none" lIns="0" tIns="0" rIns="0" bIns="0" rtlCol="0" anchor="t"/>
          <a:lstStyle/>
          <a:p>
            <a:pPr algn="l" indent="0" marL="0">
              <a:lnSpc>
                <a:spcPts val="2000"/>
              </a:lnSpc>
              <a:buNone/>
            </a:pPr>
            <a:r>
              <a:rPr lang="en-US" sz="1350" dirty="0">
                <a:solidFill>
                  <a:srgbClr val="FFFFFF"/>
                </a:solidFill>
                <a:latin typeface="Source Sans 3" pitchFamily="34" charset="0"/>
                <a:ea typeface="Source Sans 3" pitchFamily="34" charset="-122"/>
                <a:cs typeface="Source Sans 3" pitchFamily="34" charset="-120"/>
              </a:rPr>
              <a:t>TƏSNIFAT</a:t>
            </a:r>
            <a:endParaRPr lang="en-US" sz="1350" dirty="0"/>
          </a:p>
        </p:txBody>
      </p:sp>
      <p:sp>
        <p:nvSpPr>
          <p:cNvPr id="5" name="Text 2"/>
          <p:cNvSpPr/>
          <p:nvPr/>
        </p:nvSpPr>
        <p:spPr>
          <a:xfrm>
            <a:off x="863798" y="1150501"/>
            <a:ext cx="7416403" cy="1227058"/>
          </a:xfrm>
          <a:prstGeom prst="rect">
            <a:avLst/>
          </a:prstGeom>
          <a:noFill/>
          <a:ln/>
        </p:spPr>
        <p:txBody>
          <a:bodyPr wrap="squar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Funksionallığa Görə Süni İntellektin Təsnifatı</a:t>
            </a:r>
            <a:endParaRPr lang="en-US" sz="3850" dirty="0"/>
          </a:p>
        </p:txBody>
      </p:sp>
      <p:sp>
        <p:nvSpPr>
          <p:cNvPr id="6" name="Shape 3"/>
          <p:cNvSpPr/>
          <p:nvPr/>
        </p:nvSpPr>
        <p:spPr>
          <a:xfrm>
            <a:off x="863798" y="2701409"/>
            <a:ext cx="2328148" cy="4867870"/>
          </a:xfrm>
          <a:prstGeom prst="roundRect">
            <a:avLst>
              <a:gd name="adj" fmla="val 1392"/>
            </a:avLst>
          </a:prstGeom>
          <a:solidFill>
            <a:srgbClr val="303132"/>
          </a:solidFill>
          <a:ln/>
        </p:spPr>
      </p:sp>
      <p:sp>
        <p:nvSpPr>
          <p:cNvPr id="7" name="Text 4"/>
          <p:cNvSpPr/>
          <p:nvPr/>
        </p:nvSpPr>
        <p:spPr>
          <a:xfrm>
            <a:off x="1079659" y="2917269"/>
            <a:ext cx="1896428" cy="613410"/>
          </a:xfrm>
          <a:prstGeom prst="rect">
            <a:avLst/>
          </a:prstGeom>
          <a:noFill/>
          <a:ln/>
        </p:spPr>
        <p:txBody>
          <a:bodyPr wrap="squar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Dar SI (Narrow AI)</a:t>
            </a:r>
            <a:endParaRPr lang="en-US" sz="1900" dirty="0"/>
          </a:p>
        </p:txBody>
      </p:sp>
      <p:sp>
        <p:nvSpPr>
          <p:cNvPr id="8" name="Text 5"/>
          <p:cNvSpPr/>
          <p:nvPr/>
        </p:nvSpPr>
        <p:spPr>
          <a:xfrm>
            <a:off x="1079659" y="3660219"/>
            <a:ext cx="1896428" cy="2267783"/>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Yalnız bir konkret tapşırığı həll edən sistemlər. Bu gün istifadə olunan bütün SI sistemləri bu kateqoriyaya aiddir.</a:t>
            </a:r>
            <a:endParaRPr lang="en-US" sz="1700" dirty="0"/>
          </a:p>
        </p:txBody>
      </p:sp>
      <p:sp>
        <p:nvSpPr>
          <p:cNvPr id="9" name="Text 6"/>
          <p:cNvSpPr/>
          <p:nvPr/>
        </p:nvSpPr>
        <p:spPr>
          <a:xfrm>
            <a:off x="1079659" y="6057543"/>
            <a:ext cx="1896428" cy="1295876"/>
          </a:xfrm>
          <a:prstGeom prst="rect">
            <a:avLst/>
          </a:prstGeom>
          <a:noFill/>
          <a:ln/>
        </p:spPr>
        <p:txBody>
          <a:bodyPr wrap="squar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Nümunələr:</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üz tanıma, mətn tərcüməsi, səs köməkçiləri</a:t>
            </a:r>
            <a:endParaRPr lang="en-US" sz="1700" dirty="0"/>
          </a:p>
        </p:txBody>
      </p:sp>
      <p:sp>
        <p:nvSpPr>
          <p:cNvPr id="10" name="Shape 7"/>
          <p:cNvSpPr/>
          <p:nvPr/>
        </p:nvSpPr>
        <p:spPr>
          <a:xfrm>
            <a:off x="3407807" y="2701409"/>
            <a:ext cx="2328267" cy="4867870"/>
          </a:xfrm>
          <a:prstGeom prst="roundRect">
            <a:avLst>
              <a:gd name="adj" fmla="val 1391"/>
            </a:avLst>
          </a:prstGeom>
          <a:solidFill>
            <a:srgbClr val="303132"/>
          </a:solidFill>
          <a:ln/>
        </p:spPr>
      </p:sp>
      <p:sp>
        <p:nvSpPr>
          <p:cNvPr id="11" name="Text 8"/>
          <p:cNvSpPr/>
          <p:nvPr/>
        </p:nvSpPr>
        <p:spPr>
          <a:xfrm>
            <a:off x="3623667" y="2917269"/>
            <a:ext cx="1896547" cy="613410"/>
          </a:xfrm>
          <a:prstGeom prst="rect">
            <a:avLst/>
          </a:prstGeom>
          <a:noFill/>
          <a:ln/>
        </p:spPr>
        <p:txBody>
          <a:bodyPr wrap="squar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Ümumi SI (AGI)</a:t>
            </a:r>
            <a:endParaRPr lang="en-US" sz="1900" dirty="0"/>
          </a:p>
        </p:txBody>
      </p:sp>
      <p:sp>
        <p:nvSpPr>
          <p:cNvPr id="12" name="Text 9"/>
          <p:cNvSpPr/>
          <p:nvPr/>
        </p:nvSpPr>
        <p:spPr>
          <a:xfrm>
            <a:off x="3623667" y="3660219"/>
            <a:ext cx="1896547" cy="1619845"/>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İnsan kimi müxtəlif sahələrdə düşünə bilən sistem. Hələ ki nəzəri konsepsiya olaraq qalır.</a:t>
            </a:r>
            <a:endParaRPr lang="en-US" sz="1700" dirty="0"/>
          </a:p>
        </p:txBody>
      </p:sp>
      <p:sp>
        <p:nvSpPr>
          <p:cNvPr id="13" name="Text 10"/>
          <p:cNvSpPr/>
          <p:nvPr/>
        </p:nvSpPr>
        <p:spPr>
          <a:xfrm>
            <a:off x="3623667" y="5409605"/>
            <a:ext cx="1896547" cy="971907"/>
          </a:xfrm>
          <a:prstGeom prst="rect">
            <a:avLst/>
          </a:prstGeom>
          <a:noFill/>
          <a:ln/>
        </p:spPr>
        <p:txBody>
          <a:bodyPr wrap="squar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Status:</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Tədqiqat mərhələsində, praktik tətbiq yoxdur</a:t>
            </a:r>
            <a:endParaRPr lang="en-US" sz="1700" dirty="0"/>
          </a:p>
        </p:txBody>
      </p:sp>
      <p:sp>
        <p:nvSpPr>
          <p:cNvPr id="14" name="Shape 11"/>
          <p:cNvSpPr/>
          <p:nvPr/>
        </p:nvSpPr>
        <p:spPr>
          <a:xfrm>
            <a:off x="5951934" y="2701409"/>
            <a:ext cx="2328267" cy="4867870"/>
          </a:xfrm>
          <a:prstGeom prst="roundRect">
            <a:avLst>
              <a:gd name="adj" fmla="val 1391"/>
            </a:avLst>
          </a:prstGeom>
          <a:solidFill>
            <a:srgbClr val="303132"/>
          </a:solidFill>
          <a:ln/>
        </p:spPr>
      </p:sp>
      <p:sp>
        <p:nvSpPr>
          <p:cNvPr id="15" name="Text 12"/>
          <p:cNvSpPr/>
          <p:nvPr/>
        </p:nvSpPr>
        <p:spPr>
          <a:xfrm>
            <a:off x="6167795" y="2917269"/>
            <a:ext cx="1896547" cy="613410"/>
          </a:xfrm>
          <a:prstGeom prst="rect">
            <a:avLst/>
          </a:prstGeom>
          <a:noFill/>
          <a:ln/>
        </p:spPr>
        <p:txBody>
          <a:bodyPr wrap="squar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Superintellekt (ASI)</a:t>
            </a:r>
            <a:endParaRPr lang="en-US" sz="1900" dirty="0"/>
          </a:p>
        </p:txBody>
      </p:sp>
      <p:sp>
        <p:nvSpPr>
          <p:cNvPr id="16" name="Text 13"/>
          <p:cNvSpPr/>
          <p:nvPr/>
        </p:nvSpPr>
        <p:spPr>
          <a:xfrm>
            <a:off x="6167795" y="3660219"/>
            <a:ext cx="1896547" cy="1619845"/>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İnsan intellektini bütün sahələrdə üstələyən hipotetik sistem. Gələcək potensial.</a:t>
            </a:r>
            <a:endParaRPr lang="en-US" sz="1700" dirty="0"/>
          </a:p>
        </p:txBody>
      </p:sp>
      <p:sp>
        <p:nvSpPr>
          <p:cNvPr id="17" name="Text 14"/>
          <p:cNvSpPr/>
          <p:nvPr/>
        </p:nvSpPr>
        <p:spPr>
          <a:xfrm>
            <a:off x="6167795" y="5409605"/>
            <a:ext cx="1896547" cy="971907"/>
          </a:xfrm>
          <a:prstGeom prst="rect">
            <a:avLst/>
          </a:prstGeom>
          <a:noFill/>
          <a:ln/>
        </p:spPr>
        <p:txBody>
          <a:bodyPr wrap="squar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Xarakter:</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Elmi-fantastik konsepsiya, uzaq perspektiv</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73906" y="532090"/>
            <a:ext cx="1376243" cy="335994"/>
          </a:xfrm>
          <a:prstGeom prst="roundRect">
            <a:avLst>
              <a:gd name="adj" fmla="val 6911"/>
            </a:avLst>
          </a:prstGeom>
          <a:solidFill>
            <a:srgbClr val="262626"/>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9992" y="622697"/>
            <a:ext cx="154781" cy="154781"/>
          </a:xfrm>
          <a:prstGeom prst="rect">
            <a:avLst/>
          </a:prstGeom>
        </p:spPr>
      </p:pic>
      <p:sp>
        <p:nvSpPr>
          <p:cNvPr id="4" name="Text 1"/>
          <p:cNvSpPr/>
          <p:nvPr/>
        </p:nvSpPr>
        <p:spPr>
          <a:xfrm>
            <a:off x="1122164" y="590074"/>
            <a:ext cx="911900" cy="220028"/>
          </a:xfrm>
          <a:prstGeom prst="rect">
            <a:avLst/>
          </a:prstGeom>
          <a:noFill/>
          <a:ln/>
        </p:spPr>
        <p:txBody>
          <a:bodyPr wrap="none" lIns="0" tIns="0" rIns="0" bIns="0" rtlCol="0" anchor="t"/>
          <a:lstStyle/>
          <a:p>
            <a:pPr algn="l" indent="0" marL="0">
              <a:lnSpc>
                <a:spcPts val="1700"/>
              </a:lnSpc>
              <a:buNone/>
            </a:pPr>
            <a:r>
              <a:rPr lang="en-US" sz="1200" dirty="0">
                <a:solidFill>
                  <a:srgbClr val="E2E6E9"/>
                </a:solidFill>
                <a:latin typeface="Source Sans 3" pitchFamily="34" charset="0"/>
                <a:ea typeface="Source Sans 3" pitchFamily="34" charset="-122"/>
                <a:cs typeface="Source Sans 3" pitchFamily="34" charset="-120"/>
              </a:rPr>
              <a:t>TEXNOLOGIYA</a:t>
            </a:r>
            <a:endParaRPr lang="en-US" sz="1200" dirty="0"/>
          </a:p>
        </p:txBody>
      </p:sp>
      <p:sp>
        <p:nvSpPr>
          <p:cNvPr id="5" name="Text 2"/>
          <p:cNvSpPr/>
          <p:nvPr/>
        </p:nvSpPr>
        <p:spPr>
          <a:xfrm>
            <a:off x="773906" y="937379"/>
            <a:ext cx="4397812" cy="549712"/>
          </a:xfrm>
          <a:prstGeom prst="rect">
            <a:avLst/>
          </a:prstGeom>
          <a:noFill/>
          <a:ln/>
        </p:spPr>
        <p:txBody>
          <a:bodyPr wrap="none" lIns="0" tIns="0" rIns="0" bIns="0" rtlCol="0" anchor="t"/>
          <a:lstStyle/>
          <a:p>
            <a:pPr algn="l" indent="0" marL="0">
              <a:lnSpc>
                <a:spcPts val="4300"/>
              </a:lnSpc>
              <a:buNone/>
            </a:pPr>
            <a:r>
              <a:rPr lang="en-US" sz="3450" b="1" dirty="0">
                <a:solidFill>
                  <a:srgbClr val="FFFFFF"/>
                </a:solidFill>
                <a:latin typeface="Montserrat Bold" pitchFamily="34" charset="0"/>
                <a:ea typeface="Montserrat Bold" pitchFamily="34" charset="-122"/>
                <a:cs typeface="Montserrat Bold" pitchFamily="34" charset="-120"/>
              </a:rPr>
              <a:t>Ekspert Sistemlər</a:t>
            </a:r>
            <a:endParaRPr lang="en-US" sz="3450" dirty="0"/>
          </a:p>
        </p:txBody>
      </p:sp>
      <p:pic>
        <p:nvPicPr>
          <p:cNvPr id="6" name="Image 1" descr="preencoded.png">    </p:cNvPr>
          <p:cNvPicPr>
            <a:picLocks noChangeAspect="1"/>
          </p:cNvPicPr>
          <p:nvPr/>
        </p:nvPicPr>
        <p:blipFill>
          <a:blip r:embed="rId3"/>
          <a:stretch>
            <a:fillRect/>
          </a:stretch>
        </p:blipFill>
        <p:spPr>
          <a:xfrm>
            <a:off x="773906" y="1942148"/>
            <a:ext cx="5627489" cy="5627489"/>
          </a:xfrm>
          <a:prstGeom prst="rect">
            <a:avLst/>
          </a:prstGeom>
        </p:spPr>
      </p:pic>
      <p:sp>
        <p:nvSpPr>
          <p:cNvPr id="7" name="Text 3"/>
          <p:cNvSpPr/>
          <p:nvPr/>
        </p:nvSpPr>
        <p:spPr>
          <a:xfrm>
            <a:off x="6880979" y="1920478"/>
            <a:ext cx="2638663" cy="329803"/>
          </a:xfrm>
          <a:prstGeom prst="rect">
            <a:avLst/>
          </a:prstGeom>
          <a:noFill/>
          <a:ln/>
        </p:spPr>
        <p:txBody>
          <a:bodyPr wrap="none" lIns="0" tIns="0" rIns="0" bIns="0" rtlCol="0" anchor="t"/>
          <a:lstStyle/>
          <a:p>
            <a:pPr algn="l" indent="0" marL="0">
              <a:lnSpc>
                <a:spcPts val="2550"/>
              </a:lnSpc>
              <a:buNone/>
            </a:pPr>
            <a:r>
              <a:rPr lang="en-US" sz="2050" b="1" dirty="0">
                <a:solidFill>
                  <a:srgbClr val="FFFFFF"/>
                </a:solidFill>
                <a:latin typeface="Montserrat Bold" pitchFamily="34" charset="0"/>
                <a:ea typeface="Montserrat Bold" pitchFamily="34" charset="-122"/>
                <a:cs typeface="Montserrat Bold" pitchFamily="34" charset="-120"/>
              </a:rPr>
              <a:t>Əsas Xüsusiyyətlər</a:t>
            </a:r>
            <a:endParaRPr lang="en-US" sz="2050" dirty="0"/>
          </a:p>
        </p:txBody>
      </p:sp>
      <p:sp>
        <p:nvSpPr>
          <p:cNvPr id="8" name="Text 4"/>
          <p:cNvSpPr/>
          <p:nvPr/>
        </p:nvSpPr>
        <p:spPr>
          <a:xfrm>
            <a:off x="6880979" y="2423636"/>
            <a:ext cx="6983016" cy="825103"/>
          </a:xfrm>
          <a:prstGeom prst="rect">
            <a:avLst/>
          </a:prstGeom>
          <a:noFill/>
          <a:ln/>
        </p:spPr>
        <p:txBody>
          <a:bodyPr wrap="square" lIns="0" tIns="0" rIns="0" bIns="0" rtlCol="0" anchor="t"/>
          <a:lstStyle/>
          <a:p>
            <a:pPr algn="l" indent="0" marL="0">
              <a:lnSpc>
                <a:spcPts val="2150"/>
              </a:lnSpc>
              <a:buNone/>
            </a:pPr>
            <a:r>
              <a:rPr lang="en-US" sz="1500" dirty="0">
                <a:solidFill>
                  <a:srgbClr val="E2E6E9"/>
                </a:solidFill>
                <a:latin typeface="Source Sans 3" pitchFamily="34" charset="0"/>
                <a:ea typeface="Source Sans 3" pitchFamily="34" charset="-122"/>
                <a:cs typeface="Source Sans 3" pitchFamily="34" charset="-120"/>
              </a:rPr>
              <a:t>Ekspert sistemlər qaydalara və bilik bazalarına əsaslanaraq mütəxəssisin qərarını imitasiya edir. Bu sistemlər "əgər-onda" (if-then) qaydaları ilə işləyir və müəyyən bir sahədə ekspert biliklərini rəqəmsallaşdırır.</a:t>
            </a:r>
            <a:endParaRPr lang="en-US" sz="1500" dirty="0"/>
          </a:p>
        </p:txBody>
      </p:sp>
      <p:sp>
        <p:nvSpPr>
          <p:cNvPr id="9" name="Shape 5"/>
          <p:cNvSpPr/>
          <p:nvPr/>
        </p:nvSpPr>
        <p:spPr>
          <a:xfrm>
            <a:off x="6880979" y="3443764"/>
            <a:ext cx="3404830" cy="1705928"/>
          </a:xfrm>
          <a:prstGeom prst="roundRect">
            <a:avLst>
              <a:gd name="adj" fmla="val 1701"/>
            </a:avLst>
          </a:prstGeom>
          <a:solidFill>
            <a:srgbClr val="111213"/>
          </a:solidFill>
          <a:ln w="22860">
            <a:solidFill>
              <a:srgbClr val="494A4B"/>
            </a:solidFill>
            <a:prstDash val="solid"/>
          </a:ln>
        </p:spPr>
      </p:sp>
      <p:sp>
        <p:nvSpPr>
          <p:cNvPr id="10" name="Text 6"/>
          <p:cNvSpPr/>
          <p:nvPr/>
        </p:nvSpPr>
        <p:spPr>
          <a:xfrm>
            <a:off x="7097316" y="3660100"/>
            <a:ext cx="2782372" cy="274796"/>
          </a:xfrm>
          <a:prstGeom prst="rect">
            <a:avLst/>
          </a:prstGeom>
          <a:noFill/>
          <a:ln/>
        </p:spPr>
        <p:txBody>
          <a:bodyPr wrap="none" lIns="0" tIns="0" rIns="0" bIns="0" rtlCol="0" anchor="t"/>
          <a:lstStyle/>
          <a:p>
            <a:pPr algn="l" indent="0" marL="0">
              <a:lnSpc>
                <a:spcPts val="2150"/>
              </a:lnSpc>
              <a:buNone/>
            </a:pPr>
            <a:r>
              <a:rPr lang="en-US" sz="1700" b="1" dirty="0">
                <a:solidFill>
                  <a:srgbClr val="E2E6E9"/>
                </a:solidFill>
                <a:latin typeface="Montserrat Bold" pitchFamily="34" charset="0"/>
                <a:ea typeface="Montserrat Bold" pitchFamily="34" charset="-122"/>
                <a:cs typeface="Montserrat Bold" pitchFamily="34" charset="-120"/>
              </a:rPr>
              <a:t>Avadanlıq Diaqnostikası</a:t>
            </a:r>
            <a:endParaRPr lang="en-US" sz="1700" dirty="0"/>
          </a:p>
        </p:txBody>
      </p:sp>
      <p:sp>
        <p:nvSpPr>
          <p:cNvPr id="11" name="Text 7"/>
          <p:cNvSpPr/>
          <p:nvPr/>
        </p:nvSpPr>
        <p:spPr>
          <a:xfrm>
            <a:off x="7097316" y="4108252"/>
            <a:ext cx="2972157" cy="825103"/>
          </a:xfrm>
          <a:prstGeom prst="rect">
            <a:avLst/>
          </a:prstGeom>
          <a:noFill/>
          <a:ln/>
        </p:spPr>
        <p:txBody>
          <a:bodyPr wrap="square" lIns="0" tIns="0" rIns="0" bIns="0" rtlCol="0" anchor="t"/>
          <a:lstStyle/>
          <a:p>
            <a:pPr algn="l" indent="0" marL="0">
              <a:lnSpc>
                <a:spcPts val="2150"/>
              </a:lnSpc>
              <a:buNone/>
            </a:pPr>
            <a:r>
              <a:rPr lang="en-US" sz="1500" dirty="0">
                <a:solidFill>
                  <a:srgbClr val="E2E6E9"/>
                </a:solidFill>
                <a:latin typeface="Source Sans 3" pitchFamily="34" charset="0"/>
                <a:ea typeface="Source Sans 3" pitchFamily="34" charset="-122"/>
                <a:cs typeface="Source Sans 3" pitchFamily="34" charset="-120"/>
              </a:rPr>
              <a:t>Texniki nasazlıqların müəyyən edilməsi və təmir tövsiyələrinin verilməsi</a:t>
            </a:r>
            <a:endParaRPr lang="en-US" sz="1500" dirty="0"/>
          </a:p>
        </p:txBody>
      </p:sp>
      <p:sp>
        <p:nvSpPr>
          <p:cNvPr id="12" name="Shape 8"/>
          <p:cNvSpPr/>
          <p:nvPr/>
        </p:nvSpPr>
        <p:spPr>
          <a:xfrm>
            <a:off x="10459164" y="3443764"/>
            <a:ext cx="3404830" cy="1705928"/>
          </a:xfrm>
          <a:prstGeom prst="roundRect">
            <a:avLst>
              <a:gd name="adj" fmla="val 1701"/>
            </a:avLst>
          </a:prstGeom>
          <a:solidFill>
            <a:srgbClr val="111213"/>
          </a:solidFill>
          <a:ln w="22860">
            <a:solidFill>
              <a:srgbClr val="494A4B"/>
            </a:solidFill>
            <a:prstDash val="solid"/>
          </a:ln>
        </p:spPr>
      </p:sp>
      <p:sp>
        <p:nvSpPr>
          <p:cNvPr id="13" name="Text 9"/>
          <p:cNvSpPr/>
          <p:nvPr/>
        </p:nvSpPr>
        <p:spPr>
          <a:xfrm>
            <a:off x="10675501" y="3660100"/>
            <a:ext cx="2198846" cy="274796"/>
          </a:xfrm>
          <a:prstGeom prst="rect">
            <a:avLst/>
          </a:prstGeom>
          <a:noFill/>
          <a:ln/>
        </p:spPr>
        <p:txBody>
          <a:bodyPr wrap="none" lIns="0" tIns="0" rIns="0" bIns="0" rtlCol="0" anchor="t"/>
          <a:lstStyle/>
          <a:p>
            <a:pPr algn="l" indent="0" marL="0">
              <a:lnSpc>
                <a:spcPts val="2150"/>
              </a:lnSpc>
              <a:buNone/>
            </a:pPr>
            <a:r>
              <a:rPr lang="en-US" sz="1700" b="1" dirty="0">
                <a:solidFill>
                  <a:srgbClr val="E2E6E9"/>
                </a:solidFill>
                <a:latin typeface="Montserrat Bold" pitchFamily="34" charset="0"/>
                <a:ea typeface="Montserrat Bold" pitchFamily="34" charset="-122"/>
                <a:cs typeface="Montserrat Bold" pitchFamily="34" charset="-120"/>
              </a:rPr>
              <a:t>Kredit Skorinqi</a:t>
            </a:r>
            <a:endParaRPr lang="en-US" sz="1700" dirty="0"/>
          </a:p>
        </p:txBody>
      </p:sp>
      <p:sp>
        <p:nvSpPr>
          <p:cNvPr id="14" name="Text 10"/>
          <p:cNvSpPr/>
          <p:nvPr/>
        </p:nvSpPr>
        <p:spPr>
          <a:xfrm>
            <a:off x="10675501" y="4108252"/>
            <a:ext cx="2972157" cy="550069"/>
          </a:xfrm>
          <a:prstGeom prst="rect">
            <a:avLst/>
          </a:prstGeom>
          <a:noFill/>
          <a:ln/>
        </p:spPr>
        <p:txBody>
          <a:bodyPr wrap="square" lIns="0" tIns="0" rIns="0" bIns="0" rtlCol="0" anchor="t"/>
          <a:lstStyle/>
          <a:p>
            <a:pPr algn="l" indent="0" marL="0">
              <a:lnSpc>
                <a:spcPts val="2150"/>
              </a:lnSpc>
              <a:buNone/>
            </a:pPr>
            <a:r>
              <a:rPr lang="en-US" sz="1500" dirty="0">
                <a:solidFill>
                  <a:srgbClr val="E2E6E9"/>
                </a:solidFill>
                <a:latin typeface="Source Sans 3" pitchFamily="34" charset="0"/>
                <a:ea typeface="Source Sans 3" pitchFamily="34" charset="-122"/>
                <a:cs typeface="Source Sans 3" pitchFamily="34" charset="-120"/>
              </a:rPr>
              <a:t>Müştərinin kredit qabiliyyətinin qiymətləndirilməsi və risk analizi</a:t>
            </a:r>
            <a:endParaRPr lang="en-US" sz="1500" dirty="0"/>
          </a:p>
        </p:txBody>
      </p:sp>
      <p:sp>
        <p:nvSpPr>
          <p:cNvPr id="15" name="Shape 11"/>
          <p:cNvSpPr/>
          <p:nvPr/>
        </p:nvSpPr>
        <p:spPr>
          <a:xfrm>
            <a:off x="6880979" y="5323046"/>
            <a:ext cx="6983016" cy="1155859"/>
          </a:xfrm>
          <a:prstGeom prst="roundRect">
            <a:avLst>
              <a:gd name="adj" fmla="val 2511"/>
            </a:avLst>
          </a:prstGeom>
          <a:solidFill>
            <a:srgbClr val="111213"/>
          </a:solidFill>
          <a:ln w="22860">
            <a:solidFill>
              <a:srgbClr val="494A4B"/>
            </a:solidFill>
            <a:prstDash val="solid"/>
          </a:ln>
        </p:spPr>
      </p:sp>
      <p:sp>
        <p:nvSpPr>
          <p:cNvPr id="16" name="Text 12"/>
          <p:cNvSpPr/>
          <p:nvPr/>
        </p:nvSpPr>
        <p:spPr>
          <a:xfrm>
            <a:off x="7097316" y="5539383"/>
            <a:ext cx="2198846" cy="274796"/>
          </a:xfrm>
          <a:prstGeom prst="rect">
            <a:avLst/>
          </a:prstGeom>
          <a:noFill/>
          <a:ln/>
        </p:spPr>
        <p:txBody>
          <a:bodyPr wrap="none" lIns="0" tIns="0" rIns="0" bIns="0" rtlCol="0" anchor="t"/>
          <a:lstStyle/>
          <a:p>
            <a:pPr algn="l" indent="0" marL="0">
              <a:lnSpc>
                <a:spcPts val="2150"/>
              </a:lnSpc>
              <a:buNone/>
            </a:pPr>
            <a:r>
              <a:rPr lang="en-US" sz="1700" b="1" dirty="0">
                <a:solidFill>
                  <a:srgbClr val="E2E6E9"/>
                </a:solidFill>
                <a:latin typeface="Montserrat Bold" pitchFamily="34" charset="0"/>
                <a:ea typeface="Montserrat Bold" pitchFamily="34" charset="-122"/>
                <a:cs typeface="Montserrat Bold" pitchFamily="34" charset="-120"/>
              </a:rPr>
              <a:t>Tibbi Diaqnostika</a:t>
            </a:r>
            <a:endParaRPr lang="en-US" sz="1700" dirty="0"/>
          </a:p>
        </p:txBody>
      </p:sp>
      <p:sp>
        <p:nvSpPr>
          <p:cNvPr id="17" name="Text 13"/>
          <p:cNvSpPr/>
          <p:nvPr/>
        </p:nvSpPr>
        <p:spPr>
          <a:xfrm>
            <a:off x="7097316" y="5987534"/>
            <a:ext cx="6550343" cy="275034"/>
          </a:xfrm>
          <a:prstGeom prst="rect">
            <a:avLst/>
          </a:prstGeom>
          <a:noFill/>
          <a:ln/>
        </p:spPr>
        <p:txBody>
          <a:bodyPr wrap="none" lIns="0" tIns="0" rIns="0" bIns="0" rtlCol="0" anchor="t"/>
          <a:lstStyle/>
          <a:p>
            <a:pPr algn="l" indent="0" marL="0">
              <a:lnSpc>
                <a:spcPts val="2150"/>
              </a:lnSpc>
              <a:buNone/>
            </a:pPr>
            <a:r>
              <a:rPr lang="en-US" sz="1500" dirty="0">
                <a:solidFill>
                  <a:srgbClr val="E2E6E9"/>
                </a:solidFill>
                <a:latin typeface="Source Sans 3" pitchFamily="34" charset="0"/>
                <a:ea typeface="Source Sans 3" pitchFamily="34" charset="-122"/>
                <a:cs typeface="Source Sans 3" pitchFamily="34" charset="-120"/>
              </a:rPr>
              <a:t>Simptomlar əsasında xəstəliklərin müəyyən edilməsi prosesi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2299454" y="412671"/>
            <a:ext cx="5061942" cy="397431"/>
          </a:xfrm>
          <a:prstGeom prst="rect">
            <a:avLst/>
          </a:prstGeom>
          <a:noFill/>
          <a:ln/>
        </p:spPr>
        <p:txBody>
          <a:bodyPr wrap="none" lIns="0" tIns="0" rIns="0" bIns="0" rtlCol="0" anchor="t"/>
          <a:lstStyle/>
          <a:p>
            <a:pPr algn="l" indent="0" marL="0">
              <a:lnSpc>
                <a:spcPts val="3100"/>
              </a:lnSpc>
              <a:buNone/>
            </a:pPr>
            <a:r>
              <a:rPr lang="en-US" sz="2500" b="1" dirty="0">
                <a:solidFill>
                  <a:srgbClr val="FFFFFF"/>
                </a:solidFill>
                <a:latin typeface="Montserrat Bold" pitchFamily="34" charset="0"/>
                <a:ea typeface="Montserrat Bold" pitchFamily="34" charset="-122"/>
                <a:cs typeface="Montserrat Bold" pitchFamily="34" charset="-120"/>
              </a:rPr>
              <a:t>Ekspert Sistemin Arxitekturası</a:t>
            </a:r>
            <a:endParaRPr lang="en-US" sz="2500" dirty="0"/>
          </a:p>
        </p:txBody>
      </p:sp>
      <p:pic>
        <p:nvPicPr>
          <p:cNvPr id="3" name="Image 0" descr="preencoded.png">    </p:cNvPr>
          <p:cNvPicPr>
            <a:picLocks noChangeAspect="1"/>
          </p:cNvPicPr>
          <p:nvPr/>
        </p:nvPicPr>
        <p:blipFill>
          <a:blip r:embed="rId1"/>
          <a:stretch>
            <a:fillRect/>
          </a:stretch>
        </p:blipFill>
        <p:spPr>
          <a:xfrm>
            <a:off x="2299454" y="991314"/>
            <a:ext cx="10031373" cy="5653207"/>
          </a:xfrm>
          <a:prstGeom prst="rect">
            <a:avLst/>
          </a:prstGeom>
        </p:spPr>
      </p:pic>
      <p:sp>
        <p:nvSpPr>
          <p:cNvPr id="4" name="Text 1"/>
          <p:cNvSpPr/>
          <p:nvPr/>
        </p:nvSpPr>
        <p:spPr>
          <a:xfrm>
            <a:off x="2536812" y="1481153"/>
            <a:ext cx="1857916" cy="252622"/>
          </a:xfrm>
          <a:prstGeom prst="rect">
            <a:avLst/>
          </a:prstGeom>
          <a:noFill/>
          <a:ln/>
        </p:spPr>
        <p:txBody>
          <a:bodyPr wrap="none" lIns="0" tIns="0" rIns="0" bIns="0" rtlCol="0" anchor="t"/>
          <a:lstStyle/>
          <a:p>
            <a:pPr algn="r"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Bilik Bazası</a:t>
            </a:r>
            <a:endParaRPr lang="en-US" sz="1550" dirty="0"/>
          </a:p>
        </p:txBody>
      </p:sp>
      <p:sp>
        <p:nvSpPr>
          <p:cNvPr id="5" name="Text 2"/>
          <p:cNvSpPr/>
          <p:nvPr/>
        </p:nvSpPr>
        <p:spPr>
          <a:xfrm>
            <a:off x="2536812" y="1812836"/>
            <a:ext cx="1857916" cy="366271"/>
          </a:xfrm>
          <a:prstGeom prst="rect">
            <a:avLst/>
          </a:prstGeom>
          <a:noFill/>
          <a:ln/>
        </p:spPr>
        <p:txBody>
          <a:bodyPr wrap="square" lIns="0" tIns="0" rIns="0" bIns="0" rtlCol="0" anchor="t"/>
          <a:lstStyle/>
          <a:p>
            <a:pPr algn="r" indent="0" marL="0">
              <a:lnSpc>
                <a:spcPts val="1400"/>
              </a:lnSpc>
              <a:buNone/>
            </a:pPr>
            <a:r>
              <a:rPr lang="en-US" sz="1400" dirty="0">
                <a:solidFill>
                  <a:srgbClr val="E2E6E9"/>
                </a:solidFill>
                <a:latin typeface="Source Sans 3" pitchFamily="34" charset="0"/>
                <a:ea typeface="Source Sans 3" pitchFamily="34" charset="-122"/>
                <a:cs typeface="Source Sans 3" pitchFamily="34" charset="-120"/>
              </a:rPr>
              <a:t>Qaydalar və faktlar saxlanır</a:t>
            </a:r>
            <a:endParaRPr lang="en-US" sz="1400" dirty="0"/>
          </a:p>
        </p:txBody>
      </p:sp>
      <p:sp>
        <p:nvSpPr>
          <p:cNvPr id="6" name="Text 3"/>
          <p:cNvSpPr/>
          <p:nvPr/>
        </p:nvSpPr>
        <p:spPr>
          <a:xfrm>
            <a:off x="10245188" y="2844943"/>
            <a:ext cx="1848033" cy="505245"/>
          </a:xfrm>
          <a:prstGeom prst="rect">
            <a:avLst/>
          </a:prstGeom>
          <a:noFill/>
          <a:ln/>
        </p:spPr>
        <p:txBody>
          <a:bodyPr wrap="square" lIns="0" tIns="0" rIns="0" bIns="0" rtlCol="0" anchor="t"/>
          <a:lstStyle/>
          <a:p>
            <a:pPr algn="l"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Çıxarış Mexanizmi</a:t>
            </a:r>
            <a:endParaRPr lang="en-US" sz="1550" dirty="0"/>
          </a:p>
        </p:txBody>
      </p:sp>
      <p:sp>
        <p:nvSpPr>
          <p:cNvPr id="7" name="Text 4"/>
          <p:cNvSpPr/>
          <p:nvPr/>
        </p:nvSpPr>
        <p:spPr>
          <a:xfrm>
            <a:off x="10245188" y="3429248"/>
            <a:ext cx="1848033" cy="366271"/>
          </a:xfrm>
          <a:prstGeom prst="rect">
            <a:avLst/>
          </a:prstGeom>
          <a:noFill/>
          <a:ln/>
        </p:spPr>
        <p:txBody>
          <a:bodyPr wrap="square" lIns="0" tIns="0" rIns="0" bIns="0" rtlCol="0" anchor="t"/>
          <a:lstStyle/>
          <a:p>
            <a:pPr algn="l" indent="0" marL="0">
              <a:lnSpc>
                <a:spcPts val="1400"/>
              </a:lnSpc>
              <a:buNone/>
            </a:pPr>
            <a:r>
              <a:rPr lang="en-US" sz="1400" dirty="0">
                <a:solidFill>
                  <a:srgbClr val="E2E6E9"/>
                </a:solidFill>
                <a:latin typeface="Source Sans 3" pitchFamily="34" charset="0"/>
                <a:ea typeface="Source Sans 3" pitchFamily="34" charset="-122"/>
                <a:cs typeface="Source Sans 3" pitchFamily="34" charset="-120"/>
              </a:rPr>
              <a:t>Məntiqi qaydalarla nəticə çıxarır</a:t>
            </a:r>
            <a:endParaRPr lang="en-US" sz="1400" dirty="0"/>
          </a:p>
        </p:txBody>
      </p:sp>
      <p:sp>
        <p:nvSpPr>
          <p:cNvPr id="8" name="Text 5"/>
          <p:cNvSpPr/>
          <p:nvPr/>
        </p:nvSpPr>
        <p:spPr>
          <a:xfrm>
            <a:off x="2606144" y="5368386"/>
            <a:ext cx="1788738" cy="505245"/>
          </a:xfrm>
          <a:prstGeom prst="rect">
            <a:avLst/>
          </a:prstGeom>
          <a:noFill/>
          <a:ln/>
        </p:spPr>
        <p:txBody>
          <a:bodyPr wrap="square" lIns="0" tIns="0" rIns="0" bIns="0" rtlCol="0" anchor="t"/>
          <a:lstStyle/>
          <a:p>
            <a:pPr algn="r"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İstifadəçi İnterfeysi</a:t>
            </a:r>
            <a:endParaRPr lang="en-US" sz="1550" dirty="0"/>
          </a:p>
        </p:txBody>
      </p:sp>
      <p:sp>
        <p:nvSpPr>
          <p:cNvPr id="9" name="Text 6"/>
          <p:cNvSpPr/>
          <p:nvPr/>
        </p:nvSpPr>
        <p:spPr>
          <a:xfrm>
            <a:off x="2606144" y="5952691"/>
            <a:ext cx="1788738" cy="183135"/>
          </a:xfrm>
          <a:prstGeom prst="rect">
            <a:avLst/>
          </a:prstGeom>
          <a:noFill/>
          <a:ln/>
        </p:spPr>
        <p:txBody>
          <a:bodyPr wrap="none" lIns="0" tIns="0" rIns="0" bIns="0" rtlCol="0" anchor="t"/>
          <a:lstStyle/>
          <a:p>
            <a:pPr algn="r" indent="0" marL="0">
              <a:lnSpc>
                <a:spcPts val="1400"/>
              </a:lnSpc>
              <a:buNone/>
            </a:pPr>
            <a:r>
              <a:rPr lang="en-US" sz="1400" dirty="0">
                <a:solidFill>
                  <a:srgbClr val="E2E6E9"/>
                </a:solidFill>
                <a:latin typeface="Source Sans 3" pitchFamily="34" charset="0"/>
                <a:ea typeface="Source Sans 3" pitchFamily="34" charset="-122"/>
                <a:cs typeface="Source Sans 3" pitchFamily="34" charset="-120"/>
              </a:rPr>
              <a:t>Giriş və çıxış üçün əlaqə</a:t>
            </a:r>
            <a:endParaRPr lang="en-US" sz="1400" dirty="0"/>
          </a:p>
        </p:txBody>
      </p:sp>
      <p:sp>
        <p:nvSpPr>
          <p:cNvPr id="10" name="Text 7"/>
          <p:cNvSpPr/>
          <p:nvPr/>
        </p:nvSpPr>
        <p:spPr>
          <a:xfrm>
            <a:off x="2299454" y="6746438"/>
            <a:ext cx="10031373" cy="345758"/>
          </a:xfrm>
          <a:prstGeom prst="rect">
            <a:avLst/>
          </a:prstGeom>
          <a:noFill/>
          <a:ln/>
        </p:spPr>
        <p:txBody>
          <a:bodyPr wrap="square" lIns="0" tIns="0" rIns="0" bIns="0" rtlCol="0" anchor="t"/>
          <a:lstStyle/>
          <a:p>
            <a:pPr algn="l" indent="0" marL="0">
              <a:lnSpc>
                <a:spcPts val="1350"/>
              </a:lnSpc>
              <a:buNone/>
            </a:pPr>
            <a:r>
              <a:rPr lang="en-US" sz="1100" dirty="0">
                <a:solidFill>
                  <a:srgbClr val="E2E6E9"/>
                </a:solidFill>
                <a:latin typeface="Source Sans 3" pitchFamily="34" charset="0"/>
                <a:ea typeface="Source Sans 3" pitchFamily="34" charset="-122"/>
                <a:cs typeface="Source Sans 3" pitchFamily="34" charset="-120"/>
              </a:rPr>
              <a:t>Ekspert sisteminin işləməsi üç əsas komponentdən asılıdır. Bilik bazası ekspert biliklərini saxlayır və qaydalar əl ilə doldurulmalıdır. Çıxarış mexanizmi bu qaydaları tətbiq edərək nəticələr əldə edir. İstifadəçi interfeysi isə sistemlə ünsiyyəti təmin edir.</a:t>
            </a:r>
            <a:endParaRPr lang="en-US" sz="1100" dirty="0"/>
          </a:p>
        </p:txBody>
      </p:sp>
      <p:sp>
        <p:nvSpPr>
          <p:cNvPr id="11" name="Shape 8"/>
          <p:cNvSpPr/>
          <p:nvPr/>
        </p:nvSpPr>
        <p:spPr>
          <a:xfrm>
            <a:off x="2299454" y="7194113"/>
            <a:ext cx="10031373" cy="622697"/>
          </a:xfrm>
          <a:prstGeom prst="roundRect">
            <a:avLst>
              <a:gd name="adj" fmla="val 3371"/>
            </a:avLst>
          </a:prstGeom>
          <a:solidFill>
            <a:srgbClr val="262626"/>
          </a:solidFill>
          <a:ln/>
        </p:spPr>
      </p:sp>
      <p:pic>
        <p:nvPicPr>
          <p:cNvPr id="12" name="Image 1" descr="preencoded.png">    </p:cNvPr>
          <p:cNvPicPr>
            <a:picLocks noChangeAspect="1"/>
          </p:cNvPicPr>
          <p:nvPr/>
        </p:nvPicPr>
        <p:blipFill>
          <a:blip r:embed="rId2"/>
          <a:stretch>
            <a:fillRect/>
          </a:stretch>
        </p:blipFill>
        <p:spPr>
          <a:xfrm>
            <a:off x="2439353" y="7375922"/>
            <a:ext cx="174903" cy="139898"/>
          </a:xfrm>
          <a:prstGeom prst="rect">
            <a:avLst/>
          </a:prstGeom>
        </p:spPr>
      </p:pic>
      <p:sp>
        <p:nvSpPr>
          <p:cNvPr id="13" name="Text 9"/>
          <p:cNvSpPr/>
          <p:nvPr/>
        </p:nvSpPr>
        <p:spPr>
          <a:xfrm>
            <a:off x="2754154" y="7319605"/>
            <a:ext cx="9436775" cy="345758"/>
          </a:xfrm>
          <a:prstGeom prst="rect">
            <a:avLst/>
          </a:prstGeom>
          <a:noFill/>
          <a:ln/>
        </p:spPr>
        <p:txBody>
          <a:bodyPr wrap="square" lIns="0" tIns="0" rIns="0" bIns="0" rtlCol="0" anchor="t"/>
          <a:lstStyle/>
          <a:p>
            <a:pPr algn="l" indent="0" marL="0">
              <a:lnSpc>
                <a:spcPts val="1350"/>
              </a:lnSpc>
              <a:buNone/>
            </a:pPr>
            <a:r>
              <a:rPr lang="en-US" sz="1100" b="1" dirty="0">
                <a:solidFill>
                  <a:srgbClr val="FFFFFF"/>
                </a:solidFill>
                <a:latin typeface="Source Sans 3" pitchFamily="34" charset="0"/>
                <a:ea typeface="Source Sans 3" pitchFamily="34" charset="-122"/>
                <a:cs typeface="Source Sans 3" pitchFamily="34" charset="-120"/>
              </a:rPr>
              <a:t>Məhdudiyyət:</a:t>
            </a:r>
            <a:pPr algn="l" indent="0" marL="0">
              <a:lnSpc>
                <a:spcPts val="1350"/>
              </a:lnSpc>
              <a:buNone/>
            </a:pPr>
            <a:r>
              <a:rPr lang="en-US" sz="1100" dirty="0">
                <a:solidFill>
                  <a:srgbClr val="FFFFFF"/>
                </a:solidFill>
                <a:latin typeface="Source Sans 3" pitchFamily="34" charset="0"/>
                <a:ea typeface="Source Sans 3" pitchFamily="34" charset="-122"/>
                <a:cs typeface="Source Sans 3" pitchFamily="34" charset="-120"/>
              </a:rPr>
              <a:t> Ekspert sistemlərin əsas çatışmazlığı bilik bazasının yaradılmasının vaxt tələb etməsi və mütəmadi yenilənməyə ehtiyac duymasıdır. Hər yeni qaydanın əl ilə əlavə edilməsi lazımdır.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863798" y="1020128"/>
            <a:ext cx="1911429" cy="388620"/>
          </a:xfrm>
          <a:prstGeom prst="roundRect">
            <a:avLst>
              <a:gd name="adj" fmla="val 6669"/>
            </a:avLst>
          </a:prstGeom>
          <a:solidFill>
            <a:srgbClr val="262626"/>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93338" y="1127998"/>
            <a:ext cx="172760" cy="172760"/>
          </a:xfrm>
          <a:prstGeom prst="rect">
            <a:avLst/>
          </a:prstGeom>
        </p:spPr>
      </p:pic>
      <p:sp>
        <p:nvSpPr>
          <p:cNvPr id="4" name="Text 1"/>
          <p:cNvSpPr/>
          <p:nvPr/>
        </p:nvSpPr>
        <p:spPr>
          <a:xfrm>
            <a:off x="1252418" y="1084898"/>
            <a:ext cx="1393269" cy="259080"/>
          </a:xfrm>
          <a:prstGeom prst="rect">
            <a:avLst/>
          </a:prstGeom>
          <a:noFill/>
          <a:ln/>
        </p:spPr>
        <p:txBody>
          <a:bodyPr wrap="none" lIns="0" tIns="0" rIns="0" bIns="0" rtlCol="0" anchor="t"/>
          <a:lstStyle/>
          <a:p>
            <a:pPr algn="l" indent="0" marL="0">
              <a:lnSpc>
                <a:spcPts val="2000"/>
              </a:lnSpc>
              <a:buNone/>
            </a:pPr>
            <a:r>
              <a:rPr lang="en-US" sz="1350" dirty="0">
                <a:solidFill>
                  <a:srgbClr val="E2E6E9"/>
                </a:solidFill>
                <a:latin typeface="Source Sans 3" pitchFamily="34" charset="0"/>
                <a:ea typeface="Source Sans 3" pitchFamily="34" charset="-122"/>
                <a:cs typeface="Source Sans 3" pitchFamily="34" charset="-120"/>
              </a:rPr>
              <a:t>MAŞIN ÖYRƏNMƏSI</a:t>
            </a:r>
            <a:endParaRPr lang="en-US" sz="1350" dirty="0"/>
          </a:p>
        </p:txBody>
      </p:sp>
      <p:sp>
        <p:nvSpPr>
          <p:cNvPr id="5" name="Text 2"/>
          <p:cNvSpPr/>
          <p:nvPr/>
        </p:nvSpPr>
        <p:spPr>
          <a:xfrm>
            <a:off x="863798" y="1495068"/>
            <a:ext cx="9564767" cy="613529"/>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Maşın Öyrənməsi (Machine Learning)</a:t>
            </a:r>
            <a:endParaRPr lang="en-US" sz="3850" dirty="0"/>
          </a:p>
        </p:txBody>
      </p:sp>
      <p:sp>
        <p:nvSpPr>
          <p:cNvPr id="6" name="Text 3"/>
          <p:cNvSpPr/>
          <p:nvPr/>
        </p:nvSpPr>
        <p:spPr>
          <a:xfrm>
            <a:off x="863798" y="2432447"/>
            <a:ext cx="12902803" cy="647938"/>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Maşın öyrənməsi məlumatlar üzərində öyrənən və öz performansını avtomatik təkmilləşdirən sistemlərdir. Ənənəvi proqramlaşdırmadan fərqli olaraq, bu sistemlər açıq qaydalar əvəzinə nümunələrdən öyrənir.</a:t>
            </a:r>
            <a:endParaRPr lang="en-US" sz="1700" dirty="0"/>
          </a:p>
        </p:txBody>
      </p:sp>
      <p:pic>
        <p:nvPicPr>
          <p:cNvPr id="7" name="Image 1" descr="preencoded.png">    </p:cNvPr>
          <p:cNvPicPr>
            <a:picLocks noChangeAspect="1"/>
          </p:cNvPicPr>
          <p:nvPr/>
        </p:nvPicPr>
        <p:blipFill>
          <a:blip r:embed="rId3"/>
          <a:stretch>
            <a:fillRect/>
          </a:stretch>
        </p:blipFill>
        <p:spPr>
          <a:xfrm>
            <a:off x="863798" y="3323273"/>
            <a:ext cx="1195030" cy="1195030"/>
          </a:xfrm>
          <a:prstGeom prst="rect">
            <a:avLst/>
          </a:prstGeom>
        </p:spPr>
      </p:pic>
      <p:sp>
        <p:nvSpPr>
          <p:cNvPr id="8" name="Text 4"/>
          <p:cNvSpPr/>
          <p:nvPr/>
        </p:nvSpPr>
        <p:spPr>
          <a:xfrm>
            <a:off x="2328743" y="3323273"/>
            <a:ext cx="2454235"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Nəzarətli Öyrənmə</a:t>
            </a:r>
            <a:endParaRPr lang="en-US" sz="1900" dirty="0"/>
          </a:p>
        </p:txBody>
      </p:sp>
      <p:sp>
        <p:nvSpPr>
          <p:cNvPr id="9" name="Text 5"/>
          <p:cNvSpPr/>
          <p:nvPr/>
        </p:nvSpPr>
        <p:spPr>
          <a:xfrm>
            <a:off x="2328743" y="3759518"/>
            <a:ext cx="2656046" cy="971907"/>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Etiketlənmiş məlumatlardan öyrənir. Giriş və çıxış arasında asılılığı müəyyən edir.</a:t>
            </a:r>
            <a:endParaRPr lang="en-US" sz="1700" dirty="0"/>
          </a:p>
        </p:txBody>
      </p:sp>
      <p:sp>
        <p:nvSpPr>
          <p:cNvPr id="10" name="Text 6"/>
          <p:cNvSpPr/>
          <p:nvPr/>
        </p:nvSpPr>
        <p:spPr>
          <a:xfrm>
            <a:off x="2328743" y="4860965"/>
            <a:ext cx="2656046" cy="647938"/>
          </a:xfrm>
          <a:prstGeom prst="rect">
            <a:avLst/>
          </a:prstGeom>
          <a:noFill/>
          <a:ln/>
        </p:spPr>
        <p:txBody>
          <a:bodyPr wrap="square" lIns="0" tIns="0" rIns="0" bIns="0" rtlCol="0" anchor="t"/>
          <a:lstStyle/>
          <a:p>
            <a:pPr algn="l" indent="0" marL="0">
              <a:lnSpc>
                <a:spcPts val="2550"/>
              </a:lnSpc>
              <a:buNone/>
            </a:pPr>
            <a:r>
              <a:rPr lang="en-US" sz="1700" i="1" dirty="0">
                <a:solidFill>
                  <a:srgbClr val="E2E6E9"/>
                </a:solidFill>
                <a:latin typeface="Source Sans 3" pitchFamily="34" charset="0"/>
                <a:ea typeface="Source Sans 3" pitchFamily="34" charset="-122"/>
                <a:cs typeface="Source Sans 3" pitchFamily="34" charset="-120"/>
              </a:rPr>
              <a:t>Tətbiq:</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Spam filtrləri, qiymət proqnozu</a:t>
            </a:r>
            <a:endParaRPr lang="en-US" sz="1700" dirty="0"/>
          </a:p>
        </p:txBody>
      </p:sp>
      <p:pic>
        <p:nvPicPr>
          <p:cNvPr id="11" name="Image 2" descr="preencoded.png">    </p:cNvPr>
          <p:cNvPicPr>
            <a:picLocks noChangeAspect="1"/>
          </p:cNvPicPr>
          <p:nvPr/>
        </p:nvPicPr>
        <p:blipFill>
          <a:blip r:embed="rId4"/>
          <a:stretch>
            <a:fillRect/>
          </a:stretch>
        </p:blipFill>
        <p:spPr>
          <a:xfrm>
            <a:off x="5254704" y="3323273"/>
            <a:ext cx="1195030" cy="1195030"/>
          </a:xfrm>
          <a:prstGeom prst="rect">
            <a:avLst/>
          </a:prstGeom>
        </p:spPr>
      </p:pic>
      <p:sp>
        <p:nvSpPr>
          <p:cNvPr id="12" name="Text 7"/>
          <p:cNvSpPr/>
          <p:nvPr/>
        </p:nvSpPr>
        <p:spPr>
          <a:xfrm>
            <a:off x="6719649" y="3323273"/>
            <a:ext cx="2601873"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Nəzarətsiz Öyrənmə</a:t>
            </a:r>
            <a:endParaRPr lang="en-US" sz="1900" dirty="0"/>
          </a:p>
        </p:txBody>
      </p:sp>
      <p:sp>
        <p:nvSpPr>
          <p:cNvPr id="13" name="Text 8"/>
          <p:cNvSpPr/>
          <p:nvPr/>
        </p:nvSpPr>
        <p:spPr>
          <a:xfrm>
            <a:off x="6719649" y="3759518"/>
            <a:ext cx="2656046" cy="971907"/>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Etiket olmadan məlumatlarda strukturlar və nümunələr axtarır.</a:t>
            </a:r>
            <a:endParaRPr lang="en-US" sz="1700" dirty="0"/>
          </a:p>
        </p:txBody>
      </p:sp>
      <p:sp>
        <p:nvSpPr>
          <p:cNvPr id="14" name="Text 9"/>
          <p:cNvSpPr/>
          <p:nvPr/>
        </p:nvSpPr>
        <p:spPr>
          <a:xfrm>
            <a:off x="6719649" y="4860965"/>
            <a:ext cx="2656046" cy="971907"/>
          </a:xfrm>
          <a:prstGeom prst="rect">
            <a:avLst/>
          </a:prstGeom>
          <a:noFill/>
          <a:ln/>
        </p:spPr>
        <p:txBody>
          <a:bodyPr wrap="square" lIns="0" tIns="0" rIns="0" bIns="0" rtlCol="0" anchor="t"/>
          <a:lstStyle/>
          <a:p>
            <a:pPr algn="l" indent="0" marL="0">
              <a:lnSpc>
                <a:spcPts val="2550"/>
              </a:lnSpc>
              <a:buNone/>
            </a:pPr>
            <a:r>
              <a:rPr lang="en-US" sz="1700" i="1" dirty="0">
                <a:solidFill>
                  <a:srgbClr val="E2E6E9"/>
                </a:solidFill>
                <a:latin typeface="Source Sans 3" pitchFamily="34" charset="0"/>
                <a:ea typeface="Source Sans 3" pitchFamily="34" charset="-122"/>
                <a:cs typeface="Source Sans 3" pitchFamily="34" charset="-120"/>
              </a:rPr>
              <a:t>Tətbiq:</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Müştəri seqmentləşdirməsi, anomaliyaların aşkarlanması</a:t>
            </a:r>
            <a:endParaRPr lang="en-US" sz="1700" dirty="0"/>
          </a:p>
        </p:txBody>
      </p:sp>
      <p:pic>
        <p:nvPicPr>
          <p:cNvPr id="15" name="Image 3" descr="preencoded.png">    </p:cNvPr>
          <p:cNvPicPr>
            <a:picLocks noChangeAspect="1"/>
          </p:cNvPicPr>
          <p:nvPr/>
        </p:nvPicPr>
        <p:blipFill>
          <a:blip r:embed="rId5"/>
          <a:stretch>
            <a:fillRect/>
          </a:stretch>
        </p:blipFill>
        <p:spPr>
          <a:xfrm>
            <a:off x="9645610" y="3323273"/>
            <a:ext cx="1195030" cy="1195030"/>
          </a:xfrm>
          <a:prstGeom prst="rect">
            <a:avLst/>
          </a:prstGeom>
        </p:spPr>
      </p:pic>
      <p:sp>
        <p:nvSpPr>
          <p:cNvPr id="16" name="Text 10"/>
          <p:cNvSpPr/>
          <p:nvPr/>
        </p:nvSpPr>
        <p:spPr>
          <a:xfrm>
            <a:off x="11110555" y="3323273"/>
            <a:ext cx="2656046" cy="613410"/>
          </a:xfrm>
          <a:prstGeom prst="rect">
            <a:avLst/>
          </a:prstGeom>
          <a:noFill/>
          <a:ln/>
        </p:spPr>
        <p:txBody>
          <a:bodyPr wrap="squar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Möhkəmləndirmə ilə Öyrənmə</a:t>
            </a:r>
            <a:endParaRPr lang="en-US" sz="1900" dirty="0"/>
          </a:p>
        </p:txBody>
      </p:sp>
      <p:sp>
        <p:nvSpPr>
          <p:cNvPr id="17" name="Text 11"/>
          <p:cNvSpPr/>
          <p:nvPr/>
        </p:nvSpPr>
        <p:spPr>
          <a:xfrm>
            <a:off x="11110555" y="4066222"/>
            <a:ext cx="2656046" cy="971907"/>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Mükafat və cəza sistemi vasitəsilə optimal strategiya öyrənir.</a:t>
            </a:r>
            <a:endParaRPr lang="en-US" sz="1700" dirty="0"/>
          </a:p>
        </p:txBody>
      </p:sp>
      <p:sp>
        <p:nvSpPr>
          <p:cNvPr id="18" name="Text 12"/>
          <p:cNvSpPr/>
          <p:nvPr/>
        </p:nvSpPr>
        <p:spPr>
          <a:xfrm>
            <a:off x="11110555" y="5167670"/>
            <a:ext cx="2656046" cy="647938"/>
          </a:xfrm>
          <a:prstGeom prst="rect">
            <a:avLst/>
          </a:prstGeom>
          <a:noFill/>
          <a:ln/>
        </p:spPr>
        <p:txBody>
          <a:bodyPr wrap="square" lIns="0" tIns="0" rIns="0" bIns="0" rtlCol="0" anchor="t"/>
          <a:lstStyle/>
          <a:p>
            <a:pPr algn="l" indent="0" marL="0">
              <a:lnSpc>
                <a:spcPts val="2550"/>
              </a:lnSpc>
              <a:buNone/>
            </a:pPr>
            <a:r>
              <a:rPr lang="en-US" sz="1700" i="1" dirty="0">
                <a:solidFill>
                  <a:srgbClr val="E2E6E9"/>
                </a:solidFill>
                <a:latin typeface="Source Sans 3" pitchFamily="34" charset="0"/>
                <a:ea typeface="Source Sans 3" pitchFamily="34" charset="-122"/>
                <a:cs typeface="Source Sans 3" pitchFamily="34" charset="-120"/>
              </a:rPr>
              <a:t>Tətbiq:</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Oyun AI, robotların idarə edilməsi</a:t>
            </a:r>
            <a:endParaRPr lang="en-US" sz="1700" dirty="0"/>
          </a:p>
        </p:txBody>
      </p:sp>
      <p:sp>
        <p:nvSpPr>
          <p:cNvPr id="19" name="Text 13"/>
          <p:cNvSpPr/>
          <p:nvPr/>
        </p:nvSpPr>
        <p:spPr>
          <a:xfrm>
            <a:off x="1187648" y="6318647"/>
            <a:ext cx="12578953" cy="647938"/>
          </a:xfrm>
          <a:prstGeom prst="rect">
            <a:avLst/>
          </a:prstGeom>
          <a:noFill/>
          <a:ln/>
        </p:spPr>
        <p:txBody>
          <a:bodyPr wrap="squar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İdarəetmədə istifadə nümunəsi:</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Müştəri itkisi proqnozu - hansı müştərilərin şirkəti tərk edə biləcəyini əvvəlcədən müəyyən etmək üçün keçmiş davranış məlumatlarından istifadə edilir.</a:t>
            </a:r>
            <a:endParaRPr lang="en-US" sz="1700" dirty="0"/>
          </a:p>
        </p:txBody>
      </p:sp>
      <p:sp>
        <p:nvSpPr>
          <p:cNvPr id="20" name="Shape 14"/>
          <p:cNvSpPr/>
          <p:nvPr/>
        </p:nvSpPr>
        <p:spPr>
          <a:xfrm>
            <a:off x="863798" y="6075759"/>
            <a:ext cx="30480" cy="1133713"/>
          </a:xfrm>
          <a:prstGeom prst="rect">
            <a:avLst/>
          </a:prstGeom>
          <a:solidFill>
            <a:srgbClr val="FFFFFF"/>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601272" y="474821"/>
            <a:ext cx="6061234" cy="452795"/>
          </a:xfrm>
          <a:prstGeom prst="rect">
            <a:avLst/>
          </a:prstGeom>
          <a:noFill/>
          <a:ln/>
        </p:spPr>
        <p:txBody>
          <a:bodyPr wrap="none" lIns="0" tIns="0" rIns="0" bIns="0" rtlCol="0" anchor="t"/>
          <a:lstStyle/>
          <a:p>
            <a:pPr algn="l" indent="0" marL="0">
              <a:lnSpc>
                <a:spcPts val="3550"/>
              </a:lnSpc>
              <a:buNone/>
            </a:pPr>
            <a:r>
              <a:rPr lang="en-US" sz="2850" b="1" dirty="0">
                <a:solidFill>
                  <a:srgbClr val="FFFFFF"/>
                </a:solidFill>
                <a:latin typeface="Montserrat Bold" pitchFamily="34" charset="0"/>
                <a:ea typeface="Montserrat Bold" pitchFamily="34" charset="-122"/>
                <a:cs typeface="Montserrat Bold" pitchFamily="34" charset="-120"/>
              </a:rPr>
              <a:t>Dərin Öyrənmə (Deep Learning)</a:t>
            </a:r>
            <a:endParaRPr lang="en-US" sz="2850" dirty="0"/>
          </a:p>
        </p:txBody>
      </p:sp>
      <p:sp>
        <p:nvSpPr>
          <p:cNvPr id="3" name="Text 1"/>
          <p:cNvSpPr/>
          <p:nvPr/>
        </p:nvSpPr>
        <p:spPr>
          <a:xfrm>
            <a:off x="1601272" y="1221700"/>
            <a:ext cx="4819293" cy="271701"/>
          </a:xfrm>
          <a:prstGeom prst="rect">
            <a:avLst/>
          </a:prstGeom>
          <a:noFill/>
          <a:ln/>
        </p:spPr>
        <p:txBody>
          <a:bodyPr wrap="none" lIns="0" tIns="0" rIns="0" bIns="0" rtlCol="0" anchor="t"/>
          <a:lstStyle/>
          <a:p>
            <a:pPr algn="l" indent="0" marL="0">
              <a:lnSpc>
                <a:spcPts val="2100"/>
              </a:lnSpc>
              <a:buNone/>
            </a:pPr>
            <a:r>
              <a:rPr lang="en-US" sz="1700" b="1" dirty="0">
                <a:solidFill>
                  <a:srgbClr val="FFFFFF"/>
                </a:solidFill>
                <a:latin typeface="Montserrat Bold" pitchFamily="34" charset="0"/>
                <a:ea typeface="Montserrat Bold" pitchFamily="34" charset="-122"/>
                <a:cs typeface="Montserrat Bold" pitchFamily="34" charset="-120"/>
              </a:rPr>
              <a:t>Neyron Şəbəkələrə Əsaslanan Texnologiya</a:t>
            </a:r>
            <a:endParaRPr lang="en-US" sz="1700" dirty="0"/>
          </a:p>
        </p:txBody>
      </p:sp>
      <p:sp>
        <p:nvSpPr>
          <p:cNvPr id="4" name="Text 2"/>
          <p:cNvSpPr/>
          <p:nvPr/>
        </p:nvSpPr>
        <p:spPr>
          <a:xfrm>
            <a:off x="1601272" y="1611035"/>
            <a:ext cx="6110168" cy="623292"/>
          </a:xfrm>
          <a:prstGeom prst="rect">
            <a:avLst/>
          </a:prstGeom>
          <a:noFill/>
          <a:ln/>
        </p:spPr>
        <p:txBody>
          <a:bodyPr wrap="squar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Dərin öyrənmə maşın öyrənməsinin inkişaf etmiş formasıdır və insan beyninin neyron strukturunu təqlid edən çoxqatlı şəbəkələrdən istifadə edir. Bu metodun əsas üstünlüyü böyük həcmli məlumatlarla işləməkdə yüksək effektivlikdir.</a:t>
            </a:r>
            <a:endParaRPr lang="en-US" sz="1250" dirty="0"/>
          </a:p>
        </p:txBody>
      </p:sp>
      <p:sp>
        <p:nvSpPr>
          <p:cNvPr id="5" name="Shape 3"/>
          <p:cNvSpPr/>
          <p:nvPr/>
        </p:nvSpPr>
        <p:spPr>
          <a:xfrm>
            <a:off x="1578412" y="2343745"/>
            <a:ext cx="45720" cy="805220"/>
          </a:xfrm>
          <a:prstGeom prst="rect">
            <a:avLst/>
          </a:prstGeom>
          <a:solidFill>
            <a:srgbClr val="FFFFFF"/>
          </a:solidFill>
          <a:ln/>
        </p:spPr>
      </p:sp>
      <p:sp>
        <p:nvSpPr>
          <p:cNvPr id="6" name="Text 4"/>
          <p:cNvSpPr/>
          <p:nvPr/>
        </p:nvSpPr>
        <p:spPr>
          <a:xfrm>
            <a:off x="1806297" y="2366605"/>
            <a:ext cx="1910358" cy="226338"/>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Şəkillərin Tanınması</a:t>
            </a:r>
            <a:endParaRPr lang="en-US" sz="1400" dirty="0"/>
          </a:p>
        </p:txBody>
      </p:sp>
      <p:sp>
        <p:nvSpPr>
          <p:cNvPr id="7" name="Text 5"/>
          <p:cNvSpPr/>
          <p:nvPr/>
        </p:nvSpPr>
        <p:spPr>
          <a:xfrm>
            <a:off x="1806297" y="2710577"/>
            <a:ext cx="5905143" cy="415528"/>
          </a:xfrm>
          <a:prstGeom prst="rect">
            <a:avLst/>
          </a:prstGeom>
          <a:noFill/>
          <a:ln/>
        </p:spPr>
        <p:txBody>
          <a:bodyPr wrap="squar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Üz tanıma, obyektlərin təsnifatı, tibbi şəkillərin analizi. Dəqiqlik dərəcəsi 95%-dən yuxarıdır.</a:t>
            </a:r>
            <a:endParaRPr lang="en-US" sz="1250" dirty="0"/>
          </a:p>
        </p:txBody>
      </p:sp>
      <p:sp>
        <p:nvSpPr>
          <p:cNvPr id="8" name="Shape 6"/>
          <p:cNvSpPr/>
          <p:nvPr/>
        </p:nvSpPr>
        <p:spPr>
          <a:xfrm>
            <a:off x="1578412" y="3338513"/>
            <a:ext cx="45720" cy="805220"/>
          </a:xfrm>
          <a:prstGeom prst="rect">
            <a:avLst/>
          </a:prstGeom>
          <a:solidFill>
            <a:srgbClr val="FFFFFF"/>
          </a:solidFill>
          <a:ln/>
        </p:spPr>
      </p:sp>
      <p:sp>
        <p:nvSpPr>
          <p:cNvPr id="9" name="Text 7"/>
          <p:cNvSpPr/>
          <p:nvPr/>
        </p:nvSpPr>
        <p:spPr>
          <a:xfrm>
            <a:off x="1806297" y="3361373"/>
            <a:ext cx="1811417" cy="226338"/>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Səsin Tanınması</a:t>
            </a:r>
            <a:endParaRPr lang="en-US" sz="1400" dirty="0"/>
          </a:p>
        </p:txBody>
      </p:sp>
      <p:sp>
        <p:nvSpPr>
          <p:cNvPr id="10" name="Text 8"/>
          <p:cNvSpPr/>
          <p:nvPr/>
        </p:nvSpPr>
        <p:spPr>
          <a:xfrm>
            <a:off x="1806297" y="3705344"/>
            <a:ext cx="5905143" cy="415528"/>
          </a:xfrm>
          <a:prstGeom prst="rect">
            <a:avLst/>
          </a:prstGeom>
          <a:noFill/>
          <a:ln/>
        </p:spPr>
        <p:txBody>
          <a:bodyPr wrap="squar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Nitq-mətn çevrilməsi, səs əmrləri, simültane tərcümə sistemləri. Real vaxt rejimində işləyir.</a:t>
            </a:r>
            <a:endParaRPr lang="en-US" sz="1250" dirty="0"/>
          </a:p>
        </p:txBody>
      </p:sp>
      <p:sp>
        <p:nvSpPr>
          <p:cNvPr id="11" name="Shape 9"/>
          <p:cNvSpPr/>
          <p:nvPr/>
        </p:nvSpPr>
        <p:spPr>
          <a:xfrm>
            <a:off x="1578412" y="4333280"/>
            <a:ext cx="45720" cy="597456"/>
          </a:xfrm>
          <a:prstGeom prst="rect">
            <a:avLst/>
          </a:prstGeom>
          <a:solidFill>
            <a:srgbClr val="FFFFFF"/>
          </a:solidFill>
          <a:ln/>
        </p:spPr>
      </p:sp>
      <p:sp>
        <p:nvSpPr>
          <p:cNvPr id="12" name="Text 10"/>
          <p:cNvSpPr/>
          <p:nvPr/>
        </p:nvSpPr>
        <p:spPr>
          <a:xfrm>
            <a:off x="1806297" y="4356140"/>
            <a:ext cx="1896070" cy="226338"/>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Təbii Dilin İşlənməsi</a:t>
            </a:r>
            <a:endParaRPr lang="en-US" sz="1400" dirty="0"/>
          </a:p>
        </p:txBody>
      </p:sp>
      <p:sp>
        <p:nvSpPr>
          <p:cNvPr id="13" name="Text 11"/>
          <p:cNvSpPr/>
          <p:nvPr/>
        </p:nvSpPr>
        <p:spPr>
          <a:xfrm>
            <a:off x="1806297" y="4700111"/>
            <a:ext cx="5905143" cy="207764"/>
          </a:xfrm>
          <a:prstGeom prst="rect">
            <a:avLst/>
          </a:prstGeom>
          <a:noFill/>
          <a:ln/>
        </p:spPr>
        <p:txBody>
          <a:bodyPr wrap="non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Mətn analizi, sentiment təyini, avtomatik məzmun yaradılması. Konteksti başa düşür.</a:t>
            </a:r>
            <a:endParaRPr lang="en-US" sz="1250" dirty="0"/>
          </a:p>
        </p:txBody>
      </p:sp>
      <p:pic>
        <p:nvPicPr>
          <p:cNvPr id="14" name="Image 0" descr="preencoded.png">    </p:cNvPr>
          <p:cNvPicPr>
            <a:picLocks noChangeAspect="1"/>
          </p:cNvPicPr>
          <p:nvPr/>
        </p:nvPicPr>
        <p:blipFill>
          <a:blip r:embed="rId1"/>
          <a:stretch>
            <a:fillRect/>
          </a:stretch>
        </p:blipFill>
        <p:spPr>
          <a:xfrm>
            <a:off x="8107918" y="1236345"/>
            <a:ext cx="4928592" cy="4928592"/>
          </a:xfrm>
          <a:prstGeom prst="rect">
            <a:avLst/>
          </a:prstGeom>
        </p:spPr>
      </p:pic>
      <p:sp>
        <p:nvSpPr>
          <p:cNvPr id="15" name="Text 12"/>
          <p:cNvSpPr/>
          <p:nvPr/>
        </p:nvSpPr>
        <p:spPr>
          <a:xfrm>
            <a:off x="8107918" y="6376868"/>
            <a:ext cx="2390775" cy="526018"/>
          </a:xfrm>
          <a:prstGeom prst="rect">
            <a:avLst/>
          </a:prstGeom>
          <a:noFill/>
          <a:ln/>
        </p:spPr>
        <p:txBody>
          <a:bodyPr wrap="none" lIns="0" tIns="0" rIns="0" bIns="0" rtlCol="0" anchor="t"/>
          <a:lstStyle/>
          <a:p>
            <a:pPr algn="ctr" indent="0" marL="0">
              <a:lnSpc>
                <a:spcPts val="4100"/>
              </a:lnSpc>
              <a:buNone/>
            </a:pPr>
            <a:r>
              <a:rPr lang="en-US" sz="4100" b="1" dirty="0">
                <a:solidFill>
                  <a:srgbClr val="E2E6E9"/>
                </a:solidFill>
                <a:latin typeface="Montserrat Bold" pitchFamily="34" charset="0"/>
                <a:ea typeface="Montserrat Bold" pitchFamily="34" charset="-122"/>
                <a:cs typeface="Montserrat Bold" pitchFamily="34" charset="-120"/>
              </a:rPr>
              <a:t>98%</a:t>
            </a:r>
            <a:endParaRPr lang="en-US" sz="4100" dirty="0"/>
          </a:p>
        </p:txBody>
      </p:sp>
      <p:sp>
        <p:nvSpPr>
          <p:cNvPr id="16" name="Text 13"/>
          <p:cNvSpPr/>
          <p:nvPr/>
        </p:nvSpPr>
        <p:spPr>
          <a:xfrm>
            <a:off x="8397597" y="7070765"/>
            <a:ext cx="1811417" cy="226338"/>
          </a:xfrm>
          <a:prstGeom prst="rect">
            <a:avLst/>
          </a:prstGeom>
          <a:noFill/>
          <a:ln/>
        </p:spPr>
        <p:txBody>
          <a:bodyPr wrap="none" lIns="0" tIns="0" rIns="0" bIns="0" rtlCol="0" anchor="t"/>
          <a:lstStyle/>
          <a:p>
            <a:pPr algn="ctr"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Dəqiqlik</a:t>
            </a:r>
            <a:endParaRPr lang="en-US" sz="1400" dirty="0"/>
          </a:p>
        </p:txBody>
      </p:sp>
      <p:sp>
        <p:nvSpPr>
          <p:cNvPr id="17" name="Text 14"/>
          <p:cNvSpPr/>
          <p:nvPr/>
        </p:nvSpPr>
        <p:spPr>
          <a:xfrm>
            <a:off x="8107918" y="7414736"/>
            <a:ext cx="2390775" cy="207764"/>
          </a:xfrm>
          <a:prstGeom prst="rect">
            <a:avLst/>
          </a:prstGeom>
          <a:noFill/>
          <a:ln/>
        </p:spPr>
        <p:txBody>
          <a:bodyPr wrap="none" lIns="0" tIns="0" rIns="0" bIns="0" rtlCol="0" anchor="t"/>
          <a:lstStyle/>
          <a:p>
            <a:pPr algn="ctr"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Şəkil tanımada</a:t>
            </a:r>
            <a:endParaRPr lang="en-US" sz="1250" dirty="0"/>
          </a:p>
        </p:txBody>
      </p:sp>
      <p:sp>
        <p:nvSpPr>
          <p:cNvPr id="18" name="Text 15"/>
          <p:cNvSpPr/>
          <p:nvPr/>
        </p:nvSpPr>
        <p:spPr>
          <a:xfrm>
            <a:off x="10645735" y="6376868"/>
            <a:ext cx="2390775" cy="526018"/>
          </a:xfrm>
          <a:prstGeom prst="rect">
            <a:avLst/>
          </a:prstGeom>
          <a:noFill/>
          <a:ln/>
        </p:spPr>
        <p:txBody>
          <a:bodyPr wrap="none" lIns="0" tIns="0" rIns="0" bIns="0" rtlCol="0" anchor="t"/>
          <a:lstStyle/>
          <a:p>
            <a:pPr algn="ctr" indent="0" marL="0">
              <a:lnSpc>
                <a:spcPts val="4100"/>
              </a:lnSpc>
              <a:buNone/>
            </a:pPr>
            <a:r>
              <a:rPr lang="en-US" sz="4100" b="1" dirty="0">
                <a:solidFill>
                  <a:srgbClr val="E2E6E9"/>
                </a:solidFill>
                <a:latin typeface="Montserrat Bold" pitchFamily="34" charset="0"/>
                <a:ea typeface="Montserrat Bold" pitchFamily="34" charset="-122"/>
                <a:cs typeface="Montserrat Bold" pitchFamily="34" charset="-120"/>
              </a:rPr>
              <a:t>50M+</a:t>
            </a:r>
            <a:endParaRPr lang="en-US" sz="4100" dirty="0"/>
          </a:p>
        </p:txBody>
      </p:sp>
      <p:sp>
        <p:nvSpPr>
          <p:cNvPr id="19" name="Text 16"/>
          <p:cNvSpPr/>
          <p:nvPr/>
        </p:nvSpPr>
        <p:spPr>
          <a:xfrm>
            <a:off x="10935414" y="7070765"/>
            <a:ext cx="1811417" cy="226338"/>
          </a:xfrm>
          <a:prstGeom prst="rect">
            <a:avLst/>
          </a:prstGeom>
          <a:noFill/>
          <a:ln/>
        </p:spPr>
        <p:txBody>
          <a:bodyPr wrap="none" lIns="0" tIns="0" rIns="0" bIns="0" rtlCol="0" anchor="t"/>
          <a:lstStyle/>
          <a:p>
            <a:pPr algn="ctr"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Parametrlər</a:t>
            </a:r>
            <a:endParaRPr lang="en-US" sz="1400" dirty="0"/>
          </a:p>
        </p:txBody>
      </p:sp>
      <p:sp>
        <p:nvSpPr>
          <p:cNvPr id="20" name="Text 17"/>
          <p:cNvSpPr/>
          <p:nvPr/>
        </p:nvSpPr>
        <p:spPr>
          <a:xfrm>
            <a:off x="10645735" y="7414736"/>
            <a:ext cx="2390775" cy="207764"/>
          </a:xfrm>
          <a:prstGeom prst="rect">
            <a:avLst/>
          </a:prstGeom>
          <a:noFill/>
          <a:ln/>
        </p:spPr>
        <p:txBody>
          <a:bodyPr wrap="none" lIns="0" tIns="0" rIns="0" bIns="0" rtlCol="0" anchor="t"/>
          <a:lstStyle/>
          <a:p>
            <a:pPr algn="ctr"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Böyük modellərdə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Shape 0"/>
          <p:cNvSpPr/>
          <p:nvPr/>
        </p:nvSpPr>
        <p:spPr>
          <a:xfrm>
            <a:off x="6115883" y="1398151"/>
            <a:ext cx="967978" cy="257532"/>
          </a:xfrm>
          <a:prstGeom prst="roundRect">
            <a:avLst>
              <a:gd name="adj" fmla="val 7334"/>
            </a:avLst>
          </a:prstGeom>
          <a:solidFill>
            <a:srgbClr val="262626"/>
          </a:solidFill>
          <a:ln/>
        </p:spPr>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210300" y="1463993"/>
            <a:ext cx="125849" cy="125849"/>
          </a:xfrm>
          <a:prstGeom prst="rect">
            <a:avLst/>
          </a:prstGeom>
        </p:spPr>
      </p:pic>
      <p:sp>
        <p:nvSpPr>
          <p:cNvPr id="5" name="Text 1"/>
          <p:cNvSpPr/>
          <p:nvPr/>
        </p:nvSpPr>
        <p:spPr>
          <a:xfrm>
            <a:off x="6399014" y="1445300"/>
            <a:ext cx="590431" cy="163235"/>
          </a:xfrm>
          <a:prstGeom prst="rect">
            <a:avLst/>
          </a:prstGeom>
          <a:noFill/>
          <a:ln/>
        </p:spPr>
        <p:txBody>
          <a:bodyPr wrap="none" lIns="0" tIns="0" rIns="0" bIns="0" rtlCol="0" anchor="t"/>
          <a:lstStyle/>
          <a:p>
            <a:pPr algn="l" indent="0" marL="0">
              <a:lnSpc>
                <a:spcPts val="1250"/>
              </a:lnSpc>
              <a:buNone/>
            </a:pPr>
            <a:r>
              <a:rPr lang="en-US" sz="950" dirty="0">
                <a:solidFill>
                  <a:srgbClr val="E2E6E9"/>
                </a:solidFill>
                <a:latin typeface="Source Sans 3" pitchFamily="34" charset="0"/>
                <a:ea typeface="Source Sans 3" pitchFamily="34" charset="-122"/>
                <a:cs typeface="Source Sans 3" pitchFamily="34" charset="-120"/>
              </a:rPr>
              <a:t>YENI NƏSIL</a:t>
            </a:r>
            <a:endParaRPr lang="en-US" sz="950" dirty="0"/>
          </a:p>
        </p:txBody>
      </p:sp>
      <p:sp>
        <p:nvSpPr>
          <p:cNvPr id="6" name="Text 2"/>
          <p:cNvSpPr/>
          <p:nvPr/>
        </p:nvSpPr>
        <p:spPr>
          <a:xfrm>
            <a:off x="6115883" y="1701522"/>
            <a:ext cx="5912287" cy="447080"/>
          </a:xfrm>
          <a:prstGeom prst="rect">
            <a:avLst/>
          </a:prstGeom>
          <a:noFill/>
          <a:ln/>
        </p:spPr>
        <p:txBody>
          <a:bodyPr wrap="none" lIns="0" tIns="0" rIns="0" bIns="0" rtlCol="0" anchor="t"/>
          <a:lstStyle/>
          <a:p>
            <a:pPr algn="l" indent="0" marL="0">
              <a:lnSpc>
                <a:spcPts val="3500"/>
              </a:lnSpc>
              <a:buNone/>
            </a:pPr>
            <a:r>
              <a:rPr lang="en-US" sz="2800" b="1" dirty="0">
                <a:solidFill>
                  <a:srgbClr val="FFFFFF"/>
                </a:solidFill>
                <a:latin typeface="Montserrat Bold" pitchFamily="34" charset="0"/>
                <a:ea typeface="Montserrat Bold" pitchFamily="34" charset="-122"/>
                <a:cs typeface="Montserrat Bold" pitchFamily="34" charset="-120"/>
              </a:rPr>
              <a:t>Generativ Süni İntellekt (GenAI)</a:t>
            </a:r>
            <a:endParaRPr lang="en-US" sz="2800" dirty="0"/>
          </a:p>
        </p:txBody>
      </p:sp>
      <p:sp>
        <p:nvSpPr>
          <p:cNvPr id="7" name="Text 3"/>
          <p:cNvSpPr/>
          <p:nvPr/>
        </p:nvSpPr>
        <p:spPr>
          <a:xfrm>
            <a:off x="6115883" y="2320647"/>
            <a:ext cx="7885033" cy="408146"/>
          </a:xfrm>
          <a:prstGeom prst="rect">
            <a:avLst/>
          </a:prstGeom>
          <a:noFill/>
          <a:ln/>
        </p:spPr>
        <p:txBody>
          <a:bodyPr wrap="square" lIns="0" tIns="0" rIns="0" bIns="0" rtlCol="0" anchor="t"/>
          <a:lstStyle/>
          <a:p>
            <a:pPr algn="l" indent="0" marL="0">
              <a:lnSpc>
                <a:spcPts val="1600"/>
              </a:lnSpc>
              <a:buNone/>
            </a:pPr>
            <a:r>
              <a:rPr lang="en-US" sz="1200" dirty="0">
                <a:solidFill>
                  <a:srgbClr val="E2E6E9"/>
                </a:solidFill>
                <a:latin typeface="Source Sans 3" pitchFamily="34" charset="0"/>
                <a:ea typeface="Source Sans 3" pitchFamily="34" charset="-122"/>
                <a:cs typeface="Source Sans 3" pitchFamily="34" charset="-120"/>
              </a:rPr>
              <a:t>Generativ SI tamamilə yeni məzmun yarada bilən inqilabi texnologiyadır. Böyük dil modellərinə (LLM - Large Language Models) əsaslanaraq, insan kimi yaradıcı məzmun formalaşdırır.</a:t>
            </a:r>
            <a:endParaRPr lang="en-US" sz="1200" dirty="0"/>
          </a:p>
        </p:txBody>
      </p:sp>
      <p:sp>
        <p:nvSpPr>
          <p:cNvPr id="8" name="Shape 4"/>
          <p:cNvSpPr/>
          <p:nvPr/>
        </p:nvSpPr>
        <p:spPr>
          <a:xfrm>
            <a:off x="6115883" y="2857738"/>
            <a:ext cx="7885033" cy="1060728"/>
          </a:xfrm>
          <a:prstGeom prst="roundRect">
            <a:avLst>
              <a:gd name="adj" fmla="val 2226"/>
            </a:avLst>
          </a:prstGeom>
          <a:solidFill>
            <a:srgbClr val="111213"/>
          </a:solidFill>
          <a:ln w="22860">
            <a:solidFill>
              <a:srgbClr val="494A4B"/>
            </a:solidFill>
            <a:prstDash val="solid"/>
          </a:ln>
        </p:spPr>
      </p:sp>
      <p:sp>
        <p:nvSpPr>
          <p:cNvPr id="9" name="Shape 5"/>
          <p:cNvSpPr/>
          <p:nvPr/>
        </p:nvSpPr>
        <p:spPr>
          <a:xfrm>
            <a:off x="6138743" y="2880598"/>
            <a:ext cx="629483" cy="1015008"/>
          </a:xfrm>
          <a:prstGeom prst="rect">
            <a:avLst/>
          </a:prstGeom>
          <a:solidFill>
            <a:srgbClr val="303132"/>
          </a:solidFill>
          <a:ln/>
        </p:spPr>
      </p:sp>
      <p:pic>
        <p:nvPicPr>
          <p:cNvPr id="10"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35435" y="3270052"/>
            <a:ext cx="235982" cy="235982"/>
          </a:xfrm>
          <a:prstGeom prst="rect">
            <a:avLst/>
          </a:prstGeom>
        </p:spPr>
      </p:pic>
      <p:sp>
        <p:nvSpPr>
          <p:cNvPr id="11" name="Text 6"/>
          <p:cNvSpPr/>
          <p:nvPr/>
        </p:nvSpPr>
        <p:spPr>
          <a:xfrm>
            <a:off x="6882884" y="3037880"/>
            <a:ext cx="1788438" cy="223480"/>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Mətn Generasiyası</a:t>
            </a:r>
            <a:endParaRPr lang="en-US" sz="1400" dirty="0"/>
          </a:p>
        </p:txBody>
      </p:sp>
      <p:sp>
        <p:nvSpPr>
          <p:cNvPr id="12" name="Text 7"/>
          <p:cNvSpPr/>
          <p:nvPr/>
        </p:nvSpPr>
        <p:spPr>
          <a:xfrm>
            <a:off x="6882884" y="3330178"/>
            <a:ext cx="6937891" cy="408146"/>
          </a:xfrm>
          <a:prstGeom prst="rect">
            <a:avLst/>
          </a:prstGeom>
          <a:noFill/>
          <a:ln/>
        </p:spPr>
        <p:txBody>
          <a:bodyPr wrap="square" lIns="0" tIns="0" rIns="0" bIns="0" rtlCol="0" anchor="t"/>
          <a:lstStyle/>
          <a:p>
            <a:pPr algn="l" indent="0" marL="0">
              <a:lnSpc>
                <a:spcPts val="1600"/>
              </a:lnSpc>
              <a:buNone/>
            </a:pPr>
            <a:r>
              <a:rPr lang="en-US" sz="1200" dirty="0">
                <a:solidFill>
                  <a:srgbClr val="E2E6E9"/>
                </a:solidFill>
                <a:latin typeface="Source Sans 3" pitchFamily="34" charset="0"/>
                <a:ea typeface="Source Sans 3" pitchFamily="34" charset="-122"/>
                <a:cs typeface="Source Sans 3" pitchFamily="34" charset="-120"/>
              </a:rPr>
              <a:t>Məqalələr, hesabatlar, e-poçt cavabları və yaradıcı məzmunun avtomatik yazılması. Kontekstə uyğun və tutarlı mətnlər yaradır.</a:t>
            </a:r>
            <a:endParaRPr lang="en-US" sz="1200" dirty="0"/>
          </a:p>
        </p:txBody>
      </p:sp>
      <p:sp>
        <p:nvSpPr>
          <p:cNvPr id="13" name="Shape 8"/>
          <p:cNvSpPr/>
          <p:nvPr/>
        </p:nvSpPr>
        <p:spPr>
          <a:xfrm>
            <a:off x="6115883" y="4033123"/>
            <a:ext cx="7885033" cy="944285"/>
          </a:xfrm>
          <a:prstGeom prst="roundRect">
            <a:avLst>
              <a:gd name="adj" fmla="val 2500"/>
            </a:avLst>
          </a:prstGeom>
          <a:solidFill>
            <a:srgbClr val="111213"/>
          </a:solidFill>
          <a:ln w="22860">
            <a:solidFill>
              <a:srgbClr val="494A4B"/>
            </a:solidFill>
            <a:prstDash val="solid"/>
          </a:ln>
        </p:spPr>
      </p:sp>
      <p:sp>
        <p:nvSpPr>
          <p:cNvPr id="14" name="Shape 9"/>
          <p:cNvSpPr/>
          <p:nvPr/>
        </p:nvSpPr>
        <p:spPr>
          <a:xfrm>
            <a:off x="6138743" y="4055983"/>
            <a:ext cx="629483" cy="898565"/>
          </a:xfrm>
          <a:prstGeom prst="rect">
            <a:avLst/>
          </a:prstGeom>
          <a:solidFill>
            <a:srgbClr val="303132"/>
          </a:solidFill>
          <a:ln/>
        </p:spPr>
      </p:sp>
      <p:pic>
        <p:nvPicPr>
          <p:cNvPr id="15"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35435" y="4387215"/>
            <a:ext cx="235982" cy="235982"/>
          </a:xfrm>
          <a:prstGeom prst="rect">
            <a:avLst/>
          </a:prstGeom>
        </p:spPr>
      </p:pic>
      <p:sp>
        <p:nvSpPr>
          <p:cNvPr id="16" name="Text 10"/>
          <p:cNvSpPr/>
          <p:nvPr/>
        </p:nvSpPr>
        <p:spPr>
          <a:xfrm>
            <a:off x="6882884" y="4213265"/>
            <a:ext cx="1788438" cy="223480"/>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Kod Yazılması</a:t>
            </a:r>
            <a:endParaRPr lang="en-US" sz="1400" dirty="0"/>
          </a:p>
        </p:txBody>
      </p:sp>
      <p:sp>
        <p:nvSpPr>
          <p:cNvPr id="17" name="Text 11"/>
          <p:cNvSpPr/>
          <p:nvPr/>
        </p:nvSpPr>
        <p:spPr>
          <a:xfrm>
            <a:off x="6882884" y="4505563"/>
            <a:ext cx="6937891" cy="204073"/>
          </a:xfrm>
          <a:prstGeom prst="rect">
            <a:avLst/>
          </a:prstGeom>
          <a:noFill/>
          <a:ln/>
        </p:spPr>
        <p:txBody>
          <a:bodyPr wrap="none" lIns="0" tIns="0" rIns="0" bIns="0" rtlCol="0" anchor="t"/>
          <a:lstStyle/>
          <a:p>
            <a:pPr algn="l" indent="0" marL="0">
              <a:lnSpc>
                <a:spcPts val="1600"/>
              </a:lnSpc>
              <a:buNone/>
            </a:pPr>
            <a:r>
              <a:rPr lang="en-US" sz="1200" dirty="0">
                <a:solidFill>
                  <a:srgbClr val="E2E6E9"/>
                </a:solidFill>
                <a:latin typeface="Source Sans 3" pitchFamily="34" charset="0"/>
                <a:ea typeface="Source Sans 3" pitchFamily="34" charset="-122"/>
                <a:cs typeface="Source Sans 3" pitchFamily="34" charset="-120"/>
              </a:rPr>
              <a:t>Proqramlaşdırma kodunun yaradılması, debug edilməsi və optimallaşdırılması. Müxtəlif dilllərdə işləyir.</a:t>
            </a:r>
            <a:endParaRPr lang="en-US" sz="1200" dirty="0"/>
          </a:p>
        </p:txBody>
      </p:sp>
      <p:sp>
        <p:nvSpPr>
          <p:cNvPr id="18" name="Shape 12"/>
          <p:cNvSpPr/>
          <p:nvPr/>
        </p:nvSpPr>
        <p:spPr>
          <a:xfrm>
            <a:off x="6115883" y="5092065"/>
            <a:ext cx="7885033" cy="944285"/>
          </a:xfrm>
          <a:prstGeom prst="roundRect">
            <a:avLst>
              <a:gd name="adj" fmla="val 2500"/>
            </a:avLst>
          </a:prstGeom>
          <a:solidFill>
            <a:srgbClr val="111213"/>
          </a:solidFill>
          <a:ln w="22860">
            <a:solidFill>
              <a:srgbClr val="494A4B"/>
            </a:solidFill>
            <a:prstDash val="solid"/>
          </a:ln>
        </p:spPr>
      </p:sp>
      <p:sp>
        <p:nvSpPr>
          <p:cNvPr id="19" name="Shape 13"/>
          <p:cNvSpPr/>
          <p:nvPr/>
        </p:nvSpPr>
        <p:spPr>
          <a:xfrm>
            <a:off x="6138743" y="5114925"/>
            <a:ext cx="629483" cy="898565"/>
          </a:xfrm>
          <a:prstGeom prst="rect">
            <a:avLst/>
          </a:prstGeom>
          <a:solidFill>
            <a:srgbClr val="303132"/>
          </a:solidFill>
          <a:ln/>
        </p:spPr>
      </p:sp>
      <p:pic>
        <p:nvPicPr>
          <p:cNvPr id="20"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335435" y="5446157"/>
            <a:ext cx="235982" cy="235982"/>
          </a:xfrm>
          <a:prstGeom prst="rect">
            <a:avLst/>
          </a:prstGeom>
        </p:spPr>
      </p:pic>
      <p:sp>
        <p:nvSpPr>
          <p:cNvPr id="21" name="Text 14"/>
          <p:cNvSpPr/>
          <p:nvPr/>
        </p:nvSpPr>
        <p:spPr>
          <a:xfrm>
            <a:off x="6882884" y="5272207"/>
            <a:ext cx="1788438" cy="223480"/>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Şəkil Yaradılması</a:t>
            </a:r>
            <a:endParaRPr lang="en-US" sz="1400" dirty="0"/>
          </a:p>
        </p:txBody>
      </p:sp>
      <p:sp>
        <p:nvSpPr>
          <p:cNvPr id="22" name="Text 15"/>
          <p:cNvSpPr/>
          <p:nvPr/>
        </p:nvSpPr>
        <p:spPr>
          <a:xfrm>
            <a:off x="6882884" y="5564505"/>
            <a:ext cx="6937891" cy="204073"/>
          </a:xfrm>
          <a:prstGeom prst="rect">
            <a:avLst/>
          </a:prstGeom>
          <a:noFill/>
          <a:ln/>
        </p:spPr>
        <p:txBody>
          <a:bodyPr wrap="none" lIns="0" tIns="0" rIns="0" bIns="0" rtlCol="0" anchor="t"/>
          <a:lstStyle/>
          <a:p>
            <a:pPr algn="l" indent="0" marL="0">
              <a:lnSpc>
                <a:spcPts val="1600"/>
              </a:lnSpc>
              <a:buNone/>
            </a:pPr>
            <a:r>
              <a:rPr lang="en-US" sz="1200" dirty="0">
                <a:solidFill>
                  <a:srgbClr val="E2E6E9"/>
                </a:solidFill>
                <a:latin typeface="Source Sans 3" pitchFamily="34" charset="0"/>
                <a:ea typeface="Source Sans 3" pitchFamily="34" charset="-122"/>
                <a:cs typeface="Source Sans 3" pitchFamily="34" charset="-120"/>
              </a:rPr>
              <a:t>Mətn təsvirinə əsasən orijinal şəkillərin, illüstrasiyaların və dizayn elementlərinin generasiyası.</a:t>
            </a:r>
            <a:endParaRPr lang="en-US" sz="1200" dirty="0"/>
          </a:p>
        </p:txBody>
      </p:sp>
      <p:sp>
        <p:nvSpPr>
          <p:cNvPr id="23" name="Text 16"/>
          <p:cNvSpPr/>
          <p:nvPr/>
        </p:nvSpPr>
        <p:spPr>
          <a:xfrm>
            <a:off x="6351865" y="6294239"/>
            <a:ext cx="7649051" cy="408146"/>
          </a:xfrm>
          <a:prstGeom prst="rect">
            <a:avLst/>
          </a:prstGeom>
          <a:noFill/>
          <a:ln/>
        </p:spPr>
        <p:txBody>
          <a:bodyPr wrap="square" lIns="0" tIns="0" rIns="0" bIns="0" rtlCol="0" anchor="t"/>
          <a:lstStyle/>
          <a:p>
            <a:pPr algn="l" indent="0" marL="0">
              <a:lnSpc>
                <a:spcPts val="1600"/>
              </a:lnSpc>
              <a:buNone/>
            </a:pPr>
            <a:r>
              <a:rPr lang="en-US" sz="1200" b="1" dirty="0">
                <a:solidFill>
                  <a:srgbClr val="E2E6E9"/>
                </a:solidFill>
                <a:latin typeface="Source Sans 3" pitchFamily="34" charset="0"/>
                <a:ea typeface="Source Sans 3" pitchFamily="34" charset="-122"/>
                <a:cs typeface="Source Sans 3" pitchFamily="34" charset="-120"/>
              </a:rPr>
              <a:t>Populyar platformalar:</a:t>
            </a:r>
            <a:pPr algn="l" indent="0" marL="0">
              <a:lnSpc>
                <a:spcPts val="1600"/>
              </a:lnSpc>
              <a:buNone/>
            </a:pPr>
            <a:r>
              <a:rPr lang="en-US" sz="1200" dirty="0">
                <a:solidFill>
                  <a:srgbClr val="E2E6E9"/>
                </a:solidFill>
                <a:latin typeface="Source Sans 3" pitchFamily="34" charset="0"/>
                <a:ea typeface="Source Sans 3" pitchFamily="34" charset="-122"/>
                <a:cs typeface="Source Sans 3" pitchFamily="34" charset="-120"/>
              </a:rPr>
              <a:t> ChatGPT (OpenAI), Claude (Anthropic), Gemini (Google) - bu sistemlər milyonlarla istifadəçi tərəfindən gündəlik işlərdə və yaradıcı proseslərdə istifadə olunur.</a:t>
            </a:r>
            <a:endParaRPr lang="en-US" sz="1200" dirty="0"/>
          </a:p>
        </p:txBody>
      </p:sp>
      <p:sp>
        <p:nvSpPr>
          <p:cNvPr id="24" name="Shape 17"/>
          <p:cNvSpPr/>
          <p:nvPr/>
        </p:nvSpPr>
        <p:spPr>
          <a:xfrm>
            <a:off x="6115883" y="6165294"/>
            <a:ext cx="22860" cy="666036"/>
          </a:xfrm>
          <a:prstGeom prst="rect">
            <a:avLst/>
          </a:prstGeom>
          <a:solidFill>
            <a:srgbClr val="FFFFFF"/>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863798" y="1207056"/>
            <a:ext cx="7227689" cy="613529"/>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Texnologiyaların Müqayisəsi</a:t>
            </a:r>
            <a:endParaRPr lang="en-US" sz="3850" dirty="0"/>
          </a:p>
        </p:txBody>
      </p:sp>
      <p:sp>
        <p:nvSpPr>
          <p:cNvPr id="3" name="Shape 1"/>
          <p:cNvSpPr/>
          <p:nvPr/>
        </p:nvSpPr>
        <p:spPr>
          <a:xfrm>
            <a:off x="863798" y="2252424"/>
            <a:ext cx="12902803" cy="4203263"/>
          </a:xfrm>
          <a:prstGeom prst="roundRect">
            <a:avLst>
              <a:gd name="adj" fmla="val 771"/>
            </a:avLst>
          </a:prstGeom>
          <a:noFill/>
          <a:ln w="7620">
            <a:solidFill>
              <a:srgbClr val="FFFFFF">
                <a:alpha val="24000"/>
              </a:srgbClr>
            </a:solidFill>
            <a:prstDash val="solid"/>
          </a:ln>
        </p:spPr>
      </p:sp>
      <p:sp>
        <p:nvSpPr>
          <p:cNvPr id="4" name="Shape 2"/>
          <p:cNvSpPr/>
          <p:nvPr/>
        </p:nvSpPr>
        <p:spPr>
          <a:xfrm>
            <a:off x="871418" y="2260044"/>
            <a:ext cx="12887563" cy="598289"/>
          </a:xfrm>
          <a:prstGeom prst="rect">
            <a:avLst/>
          </a:prstGeom>
          <a:solidFill>
            <a:srgbClr val="FFFFFF">
              <a:alpha val="4000"/>
            </a:srgbClr>
          </a:solidFill>
          <a:ln/>
        </p:spPr>
      </p:sp>
      <p:sp>
        <p:nvSpPr>
          <p:cNvPr id="5" name="Text 3"/>
          <p:cNvSpPr/>
          <p:nvPr/>
        </p:nvSpPr>
        <p:spPr>
          <a:xfrm>
            <a:off x="1087517" y="2397204"/>
            <a:ext cx="278630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Xüsusiyyət</a:t>
            </a:r>
            <a:endParaRPr lang="en-US" sz="1700" dirty="0"/>
          </a:p>
        </p:txBody>
      </p:sp>
      <p:sp>
        <p:nvSpPr>
          <p:cNvPr id="6" name="Text 4"/>
          <p:cNvSpPr/>
          <p:nvPr/>
        </p:nvSpPr>
        <p:spPr>
          <a:xfrm>
            <a:off x="4313158" y="2397204"/>
            <a:ext cx="278249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Ekspert Sistem</a:t>
            </a:r>
            <a:endParaRPr lang="en-US" sz="1700" dirty="0"/>
          </a:p>
        </p:txBody>
      </p:sp>
      <p:sp>
        <p:nvSpPr>
          <p:cNvPr id="7" name="Text 5"/>
          <p:cNvSpPr/>
          <p:nvPr/>
        </p:nvSpPr>
        <p:spPr>
          <a:xfrm>
            <a:off x="7534989" y="2397204"/>
            <a:ext cx="278249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Maşın Öyrənməsi</a:t>
            </a:r>
            <a:endParaRPr lang="en-US" sz="1700" dirty="0"/>
          </a:p>
        </p:txBody>
      </p:sp>
      <p:sp>
        <p:nvSpPr>
          <p:cNvPr id="8" name="Text 6"/>
          <p:cNvSpPr/>
          <p:nvPr/>
        </p:nvSpPr>
        <p:spPr>
          <a:xfrm>
            <a:off x="10756821" y="2397204"/>
            <a:ext cx="278630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Generativ SI</a:t>
            </a:r>
            <a:endParaRPr lang="en-US" sz="1700" dirty="0"/>
          </a:p>
        </p:txBody>
      </p:sp>
      <p:sp>
        <p:nvSpPr>
          <p:cNvPr id="9" name="Shape 7"/>
          <p:cNvSpPr/>
          <p:nvPr/>
        </p:nvSpPr>
        <p:spPr>
          <a:xfrm>
            <a:off x="871418" y="2858333"/>
            <a:ext cx="12887563" cy="598289"/>
          </a:xfrm>
          <a:prstGeom prst="rect">
            <a:avLst/>
          </a:prstGeom>
          <a:solidFill>
            <a:srgbClr val="000000">
              <a:alpha val="4000"/>
            </a:srgbClr>
          </a:solidFill>
          <a:ln/>
        </p:spPr>
      </p:sp>
      <p:sp>
        <p:nvSpPr>
          <p:cNvPr id="10" name="Text 8"/>
          <p:cNvSpPr/>
          <p:nvPr/>
        </p:nvSpPr>
        <p:spPr>
          <a:xfrm>
            <a:off x="1087517" y="2995493"/>
            <a:ext cx="278630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Məlumat növü</a:t>
            </a:r>
            <a:endParaRPr lang="en-US" sz="1700" dirty="0"/>
          </a:p>
        </p:txBody>
      </p:sp>
      <p:sp>
        <p:nvSpPr>
          <p:cNvPr id="11" name="Text 9"/>
          <p:cNvSpPr/>
          <p:nvPr/>
        </p:nvSpPr>
        <p:spPr>
          <a:xfrm>
            <a:off x="4313158" y="2995493"/>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Qaydalar və faktlar</a:t>
            </a:r>
            <a:endParaRPr lang="en-US" sz="1700" dirty="0"/>
          </a:p>
        </p:txBody>
      </p:sp>
      <p:sp>
        <p:nvSpPr>
          <p:cNvPr id="12" name="Text 10"/>
          <p:cNvSpPr/>
          <p:nvPr/>
        </p:nvSpPr>
        <p:spPr>
          <a:xfrm>
            <a:off x="7534989" y="2995493"/>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Struktur məlumatlar</a:t>
            </a:r>
            <a:endParaRPr lang="en-US" sz="1700" dirty="0"/>
          </a:p>
        </p:txBody>
      </p:sp>
      <p:sp>
        <p:nvSpPr>
          <p:cNvPr id="13" name="Text 11"/>
          <p:cNvSpPr/>
          <p:nvPr/>
        </p:nvSpPr>
        <p:spPr>
          <a:xfrm>
            <a:off x="10756821" y="2995493"/>
            <a:ext cx="278630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Böyük mətn korpusları</a:t>
            </a:r>
            <a:endParaRPr lang="en-US" sz="1700" dirty="0"/>
          </a:p>
        </p:txBody>
      </p:sp>
      <p:sp>
        <p:nvSpPr>
          <p:cNvPr id="14" name="Shape 12"/>
          <p:cNvSpPr/>
          <p:nvPr/>
        </p:nvSpPr>
        <p:spPr>
          <a:xfrm>
            <a:off x="871418" y="3456623"/>
            <a:ext cx="12887563" cy="598289"/>
          </a:xfrm>
          <a:prstGeom prst="rect">
            <a:avLst/>
          </a:prstGeom>
          <a:solidFill>
            <a:srgbClr val="FFFFFF">
              <a:alpha val="4000"/>
            </a:srgbClr>
          </a:solidFill>
          <a:ln/>
        </p:spPr>
      </p:sp>
      <p:sp>
        <p:nvSpPr>
          <p:cNvPr id="15" name="Text 13"/>
          <p:cNvSpPr/>
          <p:nvPr/>
        </p:nvSpPr>
        <p:spPr>
          <a:xfrm>
            <a:off x="1087517" y="3593783"/>
            <a:ext cx="278630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İzaholunma</a:t>
            </a:r>
            <a:endParaRPr lang="en-US" sz="1700" dirty="0"/>
          </a:p>
        </p:txBody>
      </p:sp>
      <p:sp>
        <p:nvSpPr>
          <p:cNvPr id="16" name="Text 14"/>
          <p:cNvSpPr/>
          <p:nvPr/>
        </p:nvSpPr>
        <p:spPr>
          <a:xfrm>
            <a:off x="4313158" y="3593783"/>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Tam şəffaf</a:t>
            </a:r>
            <a:endParaRPr lang="en-US" sz="1700" dirty="0"/>
          </a:p>
        </p:txBody>
      </p:sp>
      <p:sp>
        <p:nvSpPr>
          <p:cNvPr id="17" name="Text 15"/>
          <p:cNvSpPr/>
          <p:nvPr/>
        </p:nvSpPr>
        <p:spPr>
          <a:xfrm>
            <a:off x="7534989" y="3593783"/>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Orta səviyyə</a:t>
            </a:r>
            <a:endParaRPr lang="en-US" sz="1700" dirty="0"/>
          </a:p>
        </p:txBody>
      </p:sp>
      <p:sp>
        <p:nvSpPr>
          <p:cNvPr id="18" name="Text 16"/>
          <p:cNvSpPr/>
          <p:nvPr/>
        </p:nvSpPr>
        <p:spPr>
          <a:xfrm>
            <a:off x="10756821" y="3593783"/>
            <a:ext cx="278630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Məhdud şəffaflıq</a:t>
            </a:r>
            <a:endParaRPr lang="en-US" sz="1700" dirty="0"/>
          </a:p>
        </p:txBody>
      </p:sp>
      <p:sp>
        <p:nvSpPr>
          <p:cNvPr id="19" name="Shape 17"/>
          <p:cNvSpPr/>
          <p:nvPr/>
        </p:nvSpPr>
        <p:spPr>
          <a:xfrm>
            <a:off x="871418" y="4054912"/>
            <a:ext cx="12887563" cy="598289"/>
          </a:xfrm>
          <a:prstGeom prst="rect">
            <a:avLst/>
          </a:prstGeom>
          <a:solidFill>
            <a:srgbClr val="000000">
              <a:alpha val="4000"/>
            </a:srgbClr>
          </a:solidFill>
          <a:ln/>
        </p:spPr>
      </p:sp>
      <p:sp>
        <p:nvSpPr>
          <p:cNvPr id="20" name="Text 18"/>
          <p:cNvSpPr/>
          <p:nvPr/>
        </p:nvSpPr>
        <p:spPr>
          <a:xfrm>
            <a:off x="1087517" y="4192072"/>
            <a:ext cx="278630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Çeviklik</a:t>
            </a:r>
            <a:endParaRPr lang="en-US" sz="1700" dirty="0"/>
          </a:p>
        </p:txBody>
      </p:sp>
      <p:sp>
        <p:nvSpPr>
          <p:cNvPr id="21" name="Text 19"/>
          <p:cNvSpPr/>
          <p:nvPr/>
        </p:nvSpPr>
        <p:spPr>
          <a:xfrm>
            <a:off x="4313158" y="4192072"/>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Aşağı (əl ilə yeniləmə)</a:t>
            </a:r>
            <a:endParaRPr lang="en-US" sz="1700" dirty="0"/>
          </a:p>
        </p:txBody>
      </p:sp>
      <p:sp>
        <p:nvSpPr>
          <p:cNvPr id="22" name="Text 20"/>
          <p:cNvSpPr/>
          <p:nvPr/>
        </p:nvSpPr>
        <p:spPr>
          <a:xfrm>
            <a:off x="7534989" y="4192072"/>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Yüksək (avtomatik öyrənmə)</a:t>
            </a:r>
            <a:endParaRPr lang="en-US" sz="1700" dirty="0"/>
          </a:p>
        </p:txBody>
      </p:sp>
      <p:sp>
        <p:nvSpPr>
          <p:cNvPr id="23" name="Text 21"/>
          <p:cNvSpPr/>
          <p:nvPr/>
        </p:nvSpPr>
        <p:spPr>
          <a:xfrm>
            <a:off x="10756821" y="4192072"/>
            <a:ext cx="278630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Çox yüksək (adaptiv)</a:t>
            </a:r>
            <a:endParaRPr lang="en-US" sz="1700" dirty="0"/>
          </a:p>
        </p:txBody>
      </p:sp>
      <p:sp>
        <p:nvSpPr>
          <p:cNvPr id="24" name="Shape 22"/>
          <p:cNvSpPr/>
          <p:nvPr/>
        </p:nvSpPr>
        <p:spPr>
          <a:xfrm>
            <a:off x="871418" y="4653201"/>
            <a:ext cx="12887563" cy="598289"/>
          </a:xfrm>
          <a:prstGeom prst="rect">
            <a:avLst/>
          </a:prstGeom>
          <a:solidFill>
            <a:srgbClr val="FFFFFF">
              <a:alpha val="4000"/>
            </a:srgbClr>
          </a:solidFill>
          <a:ln/>
        </p:spPr>
      </p:sp>
      <p:sp>
        <p:nvSpPr>
          <p:cNvPr id="25" name="Text 23"/>
          <p:cNvSpPr/>
          <p:nvPr/>
        </p:nvSpPr>
        <p:spPr>
          <a:xfrm>
            <a:off x="1087517" y="4790361"/>
            <a:ext cx="278630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Yaradılma vaxtı</a:t>
            </a:r>
            <a:endParaRPr lang="en-US" sz="1700" dirty="0"/>
          </a:p>
        </p:txBody>
      </p:sp>
      <p:sp>
        <p:nvSpPr>
          <p:cNvPr id="26" name="Text 24"/>
          <p:cNvSpPr/>
          <p:nvPr/>
        </p:nvSpPr>
        <p:spPr>
          <a:xfrm>
            <a:off x="4313158" y="4790361"/>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Uzun (ekspert bilikləri)</a:t>
            </a:r>
            <a:endParaRPr lang="en-US" sz="1700" dirty="0"/>
          </a:p>
        </p:txBody>
      </p:sp>
      <p:sp>
        <p:nvSpPr>
          <p:cNvPr id="27" name="Text 25"/>
          <p:cNvSpPr/>
          <p:nvPr/>
        </p:nvSpPr>
        <p:spPr>
          <a:xfrm>
            <a:off x="7534989" y="4790361"/>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Orta (məlumat hazırlığı)</a:t>
            </a:r>
            <a:endParaRPr lang="en-US" sz="1700" dirty="0"/>
          </a:p>
        </p:txBody>
      </p:sp>
      <p:sp>
        <p:nvSpPr>
          <p:cNvPr id="28" name="Text 26"/>
          <p:cNvSpPr/>
          <p:nvPr/>
        </p:nvSpPr>
        <p:spPr>
          <a:xfrm>
            <a:off x="10756821" y="4790361"/>
            <a:ext cx="278630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Qısa (hazır modellər)</a:t>
            </a:r>
            <a:endParaRPr lang="en-US" sz="1700" dirty="0"/>
          </a:p>
        </p:txBody>
      </p:sp>
      <p:sp>
        <p:nvSpPr>
          <p:cNvPr id="29" name="Shape 27"/>
          <p:cNvSpPr/>
          <p:nvPr/>
        </p:nvSpPr>
        <p:spPr>
          <a:xfrm>
            <a:off x="871418" y="5251490"/>
            <a:ext cx="12887563" cy="598289"/>
          </a:xfrm>
          <a:prstGeom prst="rect">
            <a:avLst/>
          </a:prstGeom>
          <a:solidFill>
            <a:srgbClr val="000000">
              <a:alpha val="4000"/>
            </a:srgbClr>
          </a:solidFill>
          <a:ln/>
        </p:spPr>
      </p:sp>
      <p:sp>
        <p:nvSpPr>
          <p:cNvPr id="30" name="Text 28"/>
          <p:cNvSpPr/>
          <p:nvPr/>
        </p:nvSpPr>
        <p:spPr>
          <a:xfrm>
            <a:off x="1087517" y="5388650"/>
            <a:ext cx="278630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Tətbiq sahəsi</a:t>
            </a:r>
            <a:endParaRPr lang="en-US" sz="1700" dirty="0"/>
          </a:p>
        </p:txBody>
      </p:sp>
      <p:sp>
        <p:nvSpPr>
          <p:cNvPr id="31" name="Text 29"/>
          <p:cNvSpPr/>
          <p:nvPr/>
        </p:nvSpPr>
        <p:spPr>
          <a:xfrm>
            <a:off x="4313158" y="5388650"/>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Qaydaya əsaslanan proseslər</a:t>
            </a:r>
            <a:endParaRPr lang="en-US" sz="1700" dirty="0"/>
          </a:p>
        </p:txBody>
      </p:sp>
      <p:sp>
        <p:nvSpPr>
          <p:cNvPr id="32" name="Text 30"/>
          <p:cNvSpPr/>
          <p:nvPr/>
        </p:nvSpPr>
        <p:spPr>
          <a:xfrm>
            <a:off x="7534989" y="5388650"/>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Proqnozlaşdırma və təsnifat</a:t>
            </a:r>
            <a:endParaRPr lang="en-US" sz="1700" dirty="0"/>
          </a:p>
        </p:txBody>
      </p:sp>
      <p:sp>
        <p:nvSpPr>
          <p:cNvPr id="33" name="Text 31"/>
          <p:cNvSpPr/>
          <p:nvPr/>
        </p:nvSpPr>
        <p:spPr>
          <a:xfrm>
            <a:off x="10756821" y="5388650"/>
            <a:ext cx="278630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Yaradıcı məzmun və strategiya</a:t>
            </a:r>
            <a:endParaRPr lang="en-US" sz="1700" dirty="0"/>
          </a:p>
        </p:txBody>
      </p:sp>
      <p:sp>
        <p:nvSpPr>
          <p:cNvPr id="34" name="Shape 32"/>
          <p:cNvSpPr/>
          <p:nvPr/>
        </p:nvSpPr>
        <p:spPr>
          <a:xfrm>
            <a:off x="871418" y="5849779"/>
            <a:ext cx="12887563" cy="598289"/>
          </a:xfrm>
          <a:prstGeom prst="rect">
            <a:avLst/>
          </a:prstGeom>
          <a:solidFill>
            <a:srgbClr val="FFFFFF">
              <a:alpha val="4000"/>
            </a:srgbClr>
          </a:solidFill>
          <a:ln/>
        </p:spPr>
      </p:sp>
      <p:sp>
        <p:nvSpPr>
          <p:cNvPr id="35" name="Text 33"/>
          <p:cNvSpPr/>
          <p:nvPr/>
        </p:nvSpPr>
        <p:spPr>
          <a:xfrm>
            <a:off x="1087517" y="5986939"/>
            <a:ext cx="2786301" cy="323969"/>
          </a:xfrm>
          <a:prstGeom prst="rect">
            <a:avLst/>
          </a:prstGeom>
          <a:noFill/>
          <a:ln/>
        </p:spPr>
        <p:txBody>
          <a:bodyPr wrap="none" lIns="0" tIns="0" rIns="0" bIns="0" rtlCol="0" anchor="t"/>
          <a:lstStyle/>
          <a:p>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Xərc</a:t>
            </a:r>
            <a:endParaRPr lang="en-US" sz="1700" dirty="0"/>
          </a:p>
        </p:txBody>
      </p:sp>
      <p:sp>
        <p:nvSpPr>
          <p:cNvPr id="36" name="Text 34"/>
          <p:cNvSpPr/>
          <p:nvPr/>
        </p:nvSpPr>
        <p:spPr>
          <a:xfrm>
            <a:off x="4313158" y="5986939"/>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Aşağı (saxlanma)</a:t>
            </a:r>
            <a:endParaRPr lang="en-US" sz="1700" dirty="0"/>
          </a:p>
        </p:txBody>
      </p:sp>
      <p:sp>
        <p:nvSpPr>
          <p:cNvPr id="37" name="Text 35"/>
          <p:cNvSpPr/>
          <p:nvPr/>
        </p:nvSpPr>
        <p:spPr>
          <a:xfrm>
            <a:off x="7534989" y="5986939"/>
            <a:ext cx="278249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Orta (hesablama)</a:t>
            </a:r>
            <a:endParaRPr lang="en-US" sz="1700" dirty="0"/>
          </a:p>
        </p:txBody>
      </p:sp>
      <p:sp>
        <p:nvSpPr>
          <p:cNvPr id="38" name="Text 36"/>
          <p:cNvSpPr/>
          <p:nvPr/>
        </p:nvSpPr>
        <p:spPr>
          <a:xfrm>
            <a:off x="10756821" y="5986939"/>
            <a:ext cx="2786301"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Yüksək (model işlətmə)</a:t>
            </a:r>
            <a:endParaRPr lang="en-US" sz="1700" dirty="0"/>
          </a:p>
        </p:txBody>
      </p:sp>
      <p:sp>
        <p:nvSpPr>
          <p:cNvPr id="39" name="Text 37"/>
          <p:cNvSpPr/>
          <p:nvPr/>
        </p:nvSpPr>
        <p:spPr>
          <a:xfrm>
            <a:off x="863798" y="6698575"/>
            <a:ext cx="12902803"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Hər texnologiyanın öz güclü tərəfləri və optimal istifadə ssenariləri var. Düzgün seçim biznes ehtiyaclarından asılıdır.</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2109668"/>
          </a:xfrm>
          <a:prstGeom prst="rect">
            <a:avLst/>
          </a:prstGeom>
        </p:spPr>
      </p:pic>
      <p:sp>
        <p:nvSpPr>
          <p:cNvPr id="3" name="Shape 0"/>
          <p:cNvSpPr/>
          <p:nvPr/>
        </p:nvSpPr>
        <p:spPr>
          <a:xfrm>
            <a:off x="1265396" y="2837617"/>
            <a:ext cx="777121" cy="296823"/>
          </a:xfrm>
          <a:prstGeom prst="roundRect">
            <a:avLst>
              <a:gd name="adj" fmla="val 6824"/>
            </a:avLst>
          </a:prstGeom>
          <a:noFill/>
          <a:ln w="7620">
            <a:solidFill>
              <a:srgbClr val="FFFFFF"/>
            </a:solidFill>
            <a:prstDash val="solid"/>
          </a:ln>
        </p:spPr>
      </p:sp>
      <p:sp>
        <p:nvSpPr>
          <p:cNvPr id="4" name="Text 1"/>
          <p:cNvSpPr/>
          <p:nvPr/>
        </p:nvSpPr>
        <p:spPr>
          <a:xfrm>
            <a:off x="1374219" y="2895838"/>
            <a:ext cx="559475" cy="180380"/>
          </a:xfrm>
          <a:prstGeom prst="rect">
            <a:avLst/>
          </a:prstGeom>
          <a:noFill/>
          <a:ln/>
        </p:spPr>
        <p:txBody>
          <a:bodyPr wrap="none" lIns="0" tIns="0" rIns="0" bIns="0" rtlCol="0" anchor="t"/>
          <a:lstStyle/>
          <a:p>
            <a:pPr algn="l" indent="0" marL="0">
              <a:lnSpc>
                <a:spcPts val="1400"/>
              </a:lnSpc>
              <a:buNone/>
            </a:pPr>
            <a:r>
              <a:rPr lang="en-US" sz="1050" dirty="0">
                <a:solidFill>
                  <a:srgbClr val="FFFFFF"/>
                </a:solidFill>
                <a:latin typeface="Source Sans 3" pitchFamily="34" charset="0"/>
                <a:ea typeface="Source Sans 3" pitchFamily="34" charset="-122"/>
                <a:cs typeface="Source Sans 3" pitchFamily="34" charset="-120"/>
              </a:rPr>
              <a:t>PRAKTIKA</a:t>
            </a:r>
            <a:endParaRPr lang="en-US" sz="1050" dirty="0"/>
          </a:p>
        </p:txBody>
      </p:sp>
      <p:sp>
        <p:nvSpPr>
          <p:cNvPr id="5" name="Text 2"/>
          <p:cNvSpPr/>
          <p:nvPr/>
        </p:nvSpPr>
        <p:spPr>
          <a:xfrm>
            <a:off x="1265396" y="3187184"/>
            <a:ext cx="6630353" cy="479465"/>
          </a:xfrm>
          <a:prstGeom prst="rect">
            <a:avLst/>
          </a:prstGeom>
          <a:noFill/>
          <a:ln/>
        </p:spPr>
        <p:txBody>
          <a:bodyPr wrap="none" lIns="0" tIns="0" rIns="0" bIns="0" rtlCol="0" anchor="t"/>
          <a:lstStyle/>
          <a:p>
            <a:pPr algn="l" indent="0" marL="0">
              <a:lnSpc>
                <a:spcPts val="3750"/>
              </a:lnSpc>
              <a:buNone/>
            </a:pPr>
            <a:r>
              <a:rPr lang="en-US" sz="3000" b="1" dirty="0">
                <a:solidFill>
                  <a:srgbClr val="FFFFFF"/>
                </a:solidFill>
                <a:latin typeface="Montserrat Bold" pitchFamily="34" charset="0"/>
                <a:ea typeface="Montserrat Bold" pitchFamily="34" charset="-122"/>
                <a:cs typeface="Montserrat Bold" pitchFamily="34" charset="-120"/>
              </a:rPr>
              <a:t>İdarəetmə Vəzifələrinə Uyğunluq</a:t>
            </a:r>
            <a:endParaRPr lang="en-US" sz="3000" dirty="0"/>
          </a:p>
        </p:txBody>
      </p:sp>
      <p:sp>
        <p:nvSpPr>
          <p:cNvPr id="6" name="Text 3"/>
          <p:cNvSpPr/>
          <p:nvPr/>
        </p:nvSpPr>
        <p:spPr>
          <a:xfrm>
            <a:off x="1265396" y="3864412"/>
            <a:ext cx="12099608" cy="451009"/>
          </a:xfrm>
          <a:prstGeom prst="rect">
            <a:avLst/>
          </a:prstGeom>
          <a:noFill/>
          <a:ln/>
        </p:spPr>
        <p:txBody>
          <a:bodyPr wrap="square" lIns="0" tIns="0" rIns="0" bIns="0" rtlCol="0" anchor="t"/>
          <a:lstStyle/>
          <a:p>
            <a:pPr algn="l" indent="0" marL="0">
              <a:lnSpc>
                <a:spcPts val="1750"/>
              </a:lnSpc>
              <a:buNone/>
            </a:pPr>
            <a:r>
              <a:rPr lang="en-US" sz="1300" dirty="0">
                <a:solidFill>
                  <a:srgbClr val="E2E6E9"/>
                </a:solidFill>
                <a:latin typeface="Source Sans 3" pitchFamily="34" charset="0"/>
                <a:ea typeface="Source Sans 3" pitchFamily="34" charset="-122"/>
                <a:cs typeface="Source Sans 3" pitchFamily="34" charset="-120"/>
              </a:rPr>
              <a:t>Süni intellektin müxtəlif növləri müxtəlif idarəetmə vəzifələri üçün optimal həllər təqdim edir. Doğru texnologiyanın seçilməsi effektivlik və resurs optimallaşdırılması üçün kritik əhəmiyyət daşıyır.</a:t>
            </a:r>
            <a:endParaRPr lang="en-US" sz="1300" dirty="0"/>
          </a:p>
        </p:txBody>
      </p:sp>
      <p:pic>
        <p:nvPicPr>
          <p:cNvPr id="7" name="Image 1" descr="preencoded.png">    </p:cNvPr>
          <p:cNvPicPr>
            <a:picLocks noChangeAspect="1"/>
          </p:cNvPicPr>
          <p:nvPr/>
        </p:nvPicPr>
        <p:blipFill>
          <a:blip r:embed="rId2"/>
          <a:stretch>
            <a:fillRect/>
          </a:stretch>
        </p:blipFill>
        <p:spPr>
          <a:xfrm>
            <a:off x="1265396" y="4463772"/>
            <a:ext cx="843796" cy="1012627"/>
          </a:xfrm>
          <a:prstGeom prst="rect">
            <a:avLst/>
          </a:prstGeom>
        </p:spPr>
      </p:pic>
      <p:sp>
        <p:nvSpPr>
          <p:cNvPr id="8" name="Text 4"/>
          <p:cNvSpPr/>
          <p:nvPr/>
        </p:nvSpPr>
        <p:spPr>
          <a:xfrm>
            <a:off x="2240994" y="4632484"/>
            <a:ext cx="2944773" cy="239673"/>
          </a:xfrm>
          <a:prstGeom prst="rect">
            <a:avLst/>
          </a:prstGeom>
          <a:noFill/>
          <a:ln/>
        </p:spPr>
        <p:txBody>
          <a:bodyPr wrap="none" lIns="0" tIns="0" rIns="0" bIns="0" rtlCol="0" anchor="t"/>
          <a:lstStyle/>
          <a:p>
            <a:pPr algn="l" indent="0" marL="0">
              <a:lnSpc>
                <a:spcPts val="1850"/>
              </a:lnSpc>
              <a:buNone/>
            </a:pPr>
            <a:r>
              <a:rPr lang="en-US" sz="1500" b="1" dirty="0">
                <a:solidFill>
                  <a:srgbClr val="E2E6E9"/>
                </a:solidFill>
                <a:latin typeface="Montserrat Bold" pitchFamily="34" charset="0"/>
                <a:ea typeface="Montserrat Bold" pitchFamily="34" charset="-122"/>
                <a:cs typeface="Montserrat Bold" pitchFamily="34" charset="-120"/>
              </a:rPr>
              <a:t>Qaydaya Əsaslanan Proseslər</a:t>
            </a:r>
            <a:endParaRPr lang="en-US" sz="1500" dirty="0"/>
          </a:p>
        </p:txBody>
      </p:sp>
      <p:sp>
        <p:nvSpPr>
          <p:cNvPr id="9" name="Text 5"/>
          <p:cNvSpPr/>
          <p:nvPr/>
        </p:nvSpPr>
        <p:spPr>
          <a:xfrm>
            <a:off x="2240994" y="4951214"/>
            <a:ext cx="11124009" cy="225504"/>
          </a:xfrm>
          <a:prstGeom prst="rect">
            <a:avLst/>
          </a:prstGeom>
          <a:noFill/>
          <a:ln/>
        </p:spPr>
        <p:txBody>
          <a:bodyPr wrap="none" lIns="0" tIns="0" rIns="0" bIns="0" rtlCol="0" anchor="t"/>
          <a:lstStyle/>
          <a:p>
            <a:pPr algn="l" indent="0" marL="0">
              <a:lnSpc>
                <a:spcPts val="1750"/>
              </a:lnSpc>
              <a:buNone/>
            </a:pPr>
            <a:r>
              <a:rPr lang="en-US" sz="1300" b="1" dirty="0">
                <a:solidFill>
                  <a:srgbClr val="E2E6E9"/>
                </a:solidFill>
                <a:latin typeface="Source Sans 3" pitchFamily="34" charset="0"/>
                <a:ea typeface="Source Sans 3" pitchFamily="34" charset="-122"/>
                <a:cs typeface="Source Sans 3" pitchFamily="34" charset="-120"/>
              </a:rPr>
              <a:t>Ekspert Sistemlər</a:t>
            </a:r>
            <a:pPr algn="l" indent="0" marL="0">
              <a:lnSpc>
                <a:spcPts val="1750"/>
              </a:lnSpc>
              <a:buNone/>
            </a:pPr>
            <a:r>
              <a:rPr lang="en-US" sz="1300" dirty="0">
                <a:solidFill>
                  <a:srgbClr val="E2E6E9"/>
                </a:solidFill>
                <a:latin typeface="Source Sans 3" pitchFamily="34" charset="0"/>
                <a:ea typeface="Source Sans 3" pitchFamily="34" charset="-122"/>
                <a:cs typeface="Source Sans 3" pitchFamily="34" charset="-120"/>
              </a:rPr>
              <a:t> - Sənəd yoxlaması, uyğunluq monitorinqi, avtomatik qərar qəbulu. Şəffaf və izaholuna bilən nəticələr.</a:t>
            </a:r>
            <a:endParaRPr lang="en-US" sz="1300" dirty="0"/>
          </a:p>
        </p:txBody>
      </p:sp>
      <p:pic>
        <p:nvPicPr>
          <p:cNvPr id="10" name="Image 2" descr="preencoded.png">    </p:cNvPr>
          <p:cNvPicPr>
            <a:picLocks noChangeAspect="1"/>
          </p:cNvPicPr>
          <p:nvPr/>
        </p:nvPicPr>
        <p:blipFill>
          <a:blip r:embed="rId3"/>
          <a:stretch>
            <a:fillRect/>
          </a:stretch>
        </p:blipFill>
        <p:spPr>
          <a:xfrm>
            <a:off x="1265396" y="5476399"/>
            <a:ext cx="843796" cy="1012627"/>
          </a:xfrm>
          <a:prstGeom prst="rect">
            <a:avLst/>
          </a:prstGeom>
        </p:spPr>
      </p:pic>
      <p:sp>
        <p:nvSpPr>
          <p:cNvPr id="11" name="Text 6"/>
          <p:cNvSpPr/>
          <p:nvPr/>
        </p:nvSpPr>
        <p:spPr>
          <a:xfrm>
            <a:off x="2240994" y="5645110"/>
            <a:ext cx="2666286" cy="239673"/>
          </a:xfrm>
          <a:prstGeom prst="rect">
            <a:avLst/>
          </a:prstGeom>
          <a:noFill/>
          <a:ln/>
        </p:spPr>
        <p:txBody>
          <a:bodyPr wrap="none" lIns="0" tIns="0" rIns="0" bIns="0" rtlCol="0" anchor="t"/>
          <a:lstStyle/>
          <a:p>
            <a:pPr algn="l" indent="0" marL="0">
              <a:lnSpc>
                <a:spcPts val="1850"/>
              </a:lnSpc>
              <a:buNone/>
            </a:pPr>
            <a:r>
              <a:rPr lang="en-US" sz="1500" b="1" dirty="0">
                <a:solidFill>
                  <a:srgbClr val="E2E6E9"/>
                </a:solidFill>
                <a:latin typeface="Montserrat Bold" pitchFamily="34" charset="0"/>
                <a:ea typeface="Montserrat Bold" pitchFamily="34" charset="-122"/>
                <a:cs typeface="Montserrat Bold" pitchFamily="34" charset="-120"/>
              </a:rPr>
              <a:t>Proqnozlaşdırma və Analiz</a:t>
            </a:r>
            <a:endParaRPr lang="en-US" sz="1500" dirty="0"/>
          </a:p>
        </p:txBody>
      </p:sp>
      <p:sp>
        <p:nvSpPr>
          <p:cNvPr id="12" name="Text 7"/>
          <p:cNvSpPr/>
          <p:nvPr/>
        </p:nvSpPr>
        <p:spPr>
          <a:xfrm>
            <a:off x="2240994" y="5963841"/>
            <a:ext cx="11124009" cy="225504"/>
          </a:xfrm>
          <a:prstGeom prst="rect">
            <a:avLst/>
          </a:prstGeom>
          <a:noFill/>
          <a:ln/>
        </p:spPr>
        <p:txBody>
          <a:bodyPr wrap="none" lIns="0" tIns="0" rIns="0" bIns="0" rtlCol="0" anchor="t"/>
          <a:lstStyle/>
          <a:p>
            <a:pPr algn="l" indent="0" marL="0">
              <a:lnSpc>
                <a:spcPts val="1750"/>
              </a:lnSpc>
              <a:buNone/>
            </a:pPr>
            <a:r>
              <a:rPr lang="en-US" sz="1300" b="1" dirty="0">
                <a:solidFill>
                  <a:srgbClr val="E2E6E9"/>
                </a:solidFill>
                <a:latin typeface="Source Sans 3" pitchFamily="34" charset="0"/>
                <a:ea typeface="Source Sans 3" pitchFamily="34" charset="-122"/>
                <a:cs typeface="Source Sans 3" pitchFamily="34" charset="-120"/>
              </a:rPr>
              <a:t>Maşın Öyrənməsi</a:t>
            </a:r>
            <a:pPr algn="l" indent="0" marL="0">
              <a:lnSpc>
                <a:spcPts val="1750"/>
              </a:lnSpc>
              <a:buNone/>
            </a:pPr>
            <a:r>
              <a:rPr lang="en-US" sz="1300" dirty="0">
                <a:solidFill>
                  <a:srgbClr val="E2E6E9"/>
                </a:solidFill>
                <a:latin typeface="Source Sans 3" pitchFamily="34" charset="0"/>
                <a:ea typeface="Source Sans 3" pitchFamily="34" charset="-122"/>
                <a:cs typeface="Source Sans 3" pitchFamily="34" charset="-120"/>
              </a:rPr>
              <a:t> - Satış proqnozu, tələb planlaması, risk qiymətləndirməsi, müştəri davranışının təxmini. Keçmiş məlumatlardan öyrənir.</a:t>
            </a:r>
            <a:endParaRPr lang="en-US" sz="1300" dirty="0"/>
          </a:p>
        </p:txBody>
      </p:sp>
      <p:pic>
        <p:nvPicPr>
          <p:cNvPr id="13" name="Image 3" descr="preencoded.png">    </p:cNvPr>
          <p:cNvPicPr>
            <a:picLocks noChangeAspect="1"/>
          </p:cNvPicPr>
          <p:nvPr/>
        </p:nvPicPr>
        <p:blipFill>
          <a:blip r:embed="rId4"/>
          <a:stretch>
            <a:fillRect/>
          </a:stretch>
        </p:blipFill>
        <p:spPr>
          <a:xfrm>
            <a:off x="1265396" y="6489025"/>
            <a:ext cx="843796" cy="1012627"/>
          </a:xfrm>
          <a:prstGeom prst="rect">
            <a:avLst/>
          </a:prstGeom>
        </p:spPr>
      </p:pic>
      <p:sp>
        <p:nvSpPr>
          <p:cNvPr id="14" name="Text 8"/>
          <p:cNvSpPr/>
          <p:nvPr/>
        </p:nvSpPr>
        <p:spPr>
          <a:xfrm>
            <a:off x="2240994" y="6657737"/>
            <a:ext cx="2400538" cy="239673"/>
          </a:xfrm>
          <a:prstGeom prst="rect">
            <a:avLst/>
          </a:prstGeom>
          <a:noFill/>
          <a:ln/>
        </p:spPr>
        <p:txBody>
          <a:bodyPr wrap="none" lIns="0" tIns="0" rIns="0" bIns="0" rtlCol="0" anchor="t"/>
          <a:lstStyle/>
          <a:p>
            <a:pPr algn="l" indent="0" marL="0">
              <a:lnSpc>
                <a:spcPts val="1850"/>
              </a:lnSpc>
              <a:buNone/>
            </a:pPr>
            <a:r>
              <a:rPr lang="en-US" sz="1500" b="1" dirty="0">
                <a:solidFill>
                  <a:srgbClr val="E2E6E9"/>
                </a:solidFill>
                <a:latin typeface="Montserrat Bold" pitchFamily="34" charset="0"/>
                <a:ea typeface="Montserrat Bold" pitchFamily="34" charset="-122"/>
                <a:cs typeface="Montserrat Bold" pitchFamily="34" charset="-120"/>
              </a:rPr>
              <a:t>Strategiya və Yaradıcılıq</a:t>
            </a:r>
            <a:endParaRPr lang="en-US" sz="1500" dirty="0"/>
          </a:p>
        </p:txBody>
      </p:sp>
      <p:sp>
        <p:nvSpPr>
          <p:cNvPr id="15" name="Text 9"/>
          <p:cNvSpPr/>
          <p:nvPr/>
        </p:nvSpPr>
        <p:spPr>
          <a:xfrm>
            <a:off x="2240994" y="6976467"/>
            <a:ext cx="11124009" cy="225504"/>
          </a:xfrm>
          <a:prstGeom prst="rect">
            <a:avLst/>
          </a:prstGeom>
          <a:noFill/>
          <a:ln/>
        </p:spPr>
        <p:txBody>
          <a:bodyPr wrap="none" lIns="0" tIns="0" rIns="0" bIns="0" rtlCol="0" anchor="t"/>
          <a:lstStyle/>
          <a:p>
            <a:pPr algn="l" indent="0" marL="0">
              <a:lnSpc>
                <a:spcPts val="1750"/>
              </a:lnSpc>
              <a:buNone/>
            </a:pPr>
            <a:r>
              <a:rPr lang="en-US" sz="1300" b="1" dirty="0">
                <a:solidFill>
                  <a:srgbClr val="E2E6E9"/>
                </a:solidFill>
                <a:latin typeface="Source Sans 3" pitchFamily="34" charset="0"/>
                <a:ea typeface="Source Sans 3" pitchFamily="34" charset="-122"/>
                <a:cs typeface="Source Sans 3" pitchFamily="34" charset="-120"/>
              </a:rPr>
              <a:t>Generativ SI</a:t>
            </a:r>
            <a:pPr algn="l" indent="0" marL="0">
              <a:lnSpc>
                <a:spcPts val="1750"/>
              </a:lnSpc>
              <a:buNone/>
            </a:pPr>
            <a:r>
              <a:rPr lang="en-US" sz="1300" dirty="0">
                <a:solidFill>
                  <a:srgbClr val="E2E6E9"/>
                </a:solidFill>
                <a:latin typeface="Source Sans 3" pitchFamily="34" charset="0"/>
                <a:ea typeface="Source Sans 3" pitchFamily="34" charset="-122"/>
                <a:cs typeface="Source Sans 3" pitchFamily="34" charset="-120"/>
              </a:rPr>
              <a:t> - Biznes planlarının hazırlanması, marketinq məzmununun yaradılması, innovasiya ideyalarının generasiyası. Yeni perspektivlər açır.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2693432" y="763786"/>
            <a:ext cx="709732" cy="200620"/>
          </a:xfrm>
          <a:prstGeom prst="roundRect">
            <a:avLst>
              <a:gd name="adj" fmla="val 7713"/>
            </a:avLst>
          </a:prstGeom>
          <a:solidFill>
            <a:srgbClr val="262626"/>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770703" y="812483"/>
            <a:ext cx="103108" cy="103108"/>
          </a:xfrm>
          <a:prstGeom prst="rect">
            <a:avLst/>
          </a:prstGeom>
        </p:spPr>
      </p:pic>
      <p:sp>
        <p:nvSpPr>
          <p:cNvPr id="4" name="Text 1"/>
          <p:cNvSpPr/>
          <p:nvPr/>
        </p:nvSpPr>
        <p:spPr>
          <a:xfrm>
            <a:off x="2925366" y="802362"/>
            <a:ext cx="400526" cy="123468"/>
          </a:xfrm>
          <a:prstGeom prst="rect">
            <a:avLst/>
          </a:prstGeom>
          <a:noFill/>
          <a:ln/>
        </p:spPr>
        <p:txBody>
          <a:bodyPr wrap="none" lIns="0" tIns="0" rIns="0" bIns="0" rtlCol="0" anchor="t"/>
          <a:lstStyle/>
          <a:p>
            <a:pPr algn="l" indent="0" marL="0">
              <a:lnSpc>
                <a:spcPts val="950"/>
              </a:lnSpc>
              <a:buNone/>
            </a:pPr>
            <a:r>
              <a:rPr lang="en-US" sz="800" dirty="0">
                <a:solidFill>
                  <a:srgbClr val="E2E6E9"/>
                </a:solidFill>
                <a:latin typeface="Source Sans 3" pitchFamily="34" charset="0"/>
                <a:ea typeface="Source Sans 3" pitchFamily="34" charset="-122"/>
                <a:cs typeface="Source Sans 3" pitchFamily="34" charset="-120"/>
              </a:rPr>
              <a:t>TAPŞIRIQ</a:t>
            </a:r>
            <a:endParaRPr lang="en-US" sz="800" dirty="0"/>
          </a:p>
        </p:txBody>
      </p:sp>
      <p:sp>
        <p:nvSpPr>
          <p:cNvPr id="5" name="Text 2"/>
          <p:cNvSpPr/>
          <p:nvPr/>
        </p:nvSpPr>
        <p:spPr>
          <a:xfrm>
            <a:off x="2693432" y="995124"/>
            <a:ext cx="2930485" cy="366236"/>
          </a:xfrm>
          <a:prstGeom prst="rect">
            <a:avLst/>
          </a:prstGeom>
          <a:noFill/>
          <a:ln/>
        </p:spPr>
        <p:txBody>
          <a:bodyPr wrap="none" lIns="0" tIns="0" rIns="0" bIns="0" rtlCol="0" anchor="t"/>
          <a:lstStyle/>
          <a:p>
            <a:pPr algn="l" indent="0" marL="0">
              <a:lnSpc>
                <a:spcPts val="2850"/>
              </a:lnSpc>
              <a:buNone/>
            </a:pPr>
            <a:r>
              <a:rPr lang="en-US" sz="2300" b="1" dirty="0">
                <a:solidFill>
                  <a:srgbClr val="FFFFFF"/>
                </a:solidFill>
                <a:latin typeface="Montserrat Bold" pitchFamily="34" charset="0"/>
                <a:ea typeface="Montserrat Bold" pitchFamily="34" charset="-122"/>
                <a:cs typeface="Montserrat Bold" pitchFamily="34" charset="-120"/>
              </a:rPr>
              <a:t>Ev Tapşırığı</a:t>
            </a:r>
            <a:endParaRPr lang="en-US" sz="2300" dirty="0"/>
          </a:p>
        </p:txBody>
      </p:sp>
      <p:sp>
        <p:nvSpPr>
          <p:cNvPr id="6" name="Shape 3"/>
          <p:cNvSpPr/>
          <p:nvPr/>
        </p:nvSpPr>
        <p:spPr>
          <a:xfrm>
            <a:off x="2600563" y="1476732"/>
            <a:ext cx="3694390" cy="5988963"/>
          </a:xfrm>
          <a:prstGeom prst="roundRect">
            <a:avLst>
              <a:gd name="adj" fmla="val 524"/>
            </a:avLst>
          </a:prstGeom>
          <a:solidFill>
            <a:srgbClr val="1D1F22"/>
          </a:solidFill>
          <a:ln/>
        </p:spPr>
      </p:sp>
      <p:sp>
        <p:nvSpPr>
          <p:cNvPr id="7" name="Text 4"/>
          <p:cNvSpPr/>
          <p:nvPr/>
        </p:nvSpPr>
        <p:spPr>
          <a:xfrm>
            <a:off x="2729389" y="1553647"/>
            <a:ext cx="1758196" cy="219789"/>
          </a:xfrm>
          <a:prstGeom prst="rect">
            <a:avLst/>
          </a:prstGeom>
          <a:noFill/>
          <a:ln/>
        </p:spPr>
        <p:txBody>
          <a:bodyPr wrap="none" lIns="0" tIns="0" rIns="0" bIns="0" rtlCol="0" anchor="t"/>
          <a:lstStyle/>
          <a:p>
            <a:pPr algn="l" indent="0" marL="0">
              <a:lnSpc>
                <a:spcPts val="1700"/>
              </a:lnSpc>
              <a:buNone/>
            </a:pPr>
            <a:r>
              <a:rPr lang="en-US" sz="1350" b="1" dirty="0">
                <a:solidFill>
                  <a:srgbClr val="FFFFFF"/>
                </a:solidFill>
                <a:latin typeface="Montserrat Bold" pitchFamily="34" charset="0"/>
                <a:ea typeface="Montserrat Bold" pitchFamily="34" charset="-122"/>
                <a:cs typeface="Montserrat Bold" pitchFamily="34" charset="-120"/>
              </a:rPr>
              <a:t>Praktik Tapşırıq</a:t>
            </a:r>
            <a:endParaRPr lang="en-US" sz="1350" dirty="0"/>
          </a:p>
        </p:txBody>
      </p:sp>
      <p:sp>
        <p:nvSpPr>
          <p:cNvPr id="8" name="Text 5"/>
          <p:cNvSpPr/>
          <p:nvPr/>
        </p:nvSpPr>
        <p:spPr>
          <a:xfrm>
            <a:off x="2729389" y="1850350"/>
            <a:ext cx="3436739" cy="308848"/>
          </a:xfrm>
          <a:prstGeom prst="rect">
            <a:avLst/>
          </a:prstGeom>
          <a:noFill/>
          <a:ln/>
        </p:spPr>
        <p:txBody>
          <a:bodyPr wrap="square" lIns="0" tIns="0" rIns="0" bIns="0" rtlCol="0" anchor="t"/>
          <a:lstStyle/>
          <a:p>
            <a:pPr algn="l" indent="0" marL="0">
              <a:lnSpc>
                <a:spcPts val="1200"/>
              </a:lnSpc>
              <a:buNone/>
            </a:pPr>
            <a:r>
              <a:rPr lang="en-US" sz="1000" dirty="0">
                <a:solidFill>
                  <a:srgbClr val="E2E6E9"/>
                </a:solidFill>
                <a:latin typeface="Source Sans 3" pitchFamily="34" charset="0"/>
                <a:ea typeface="Source Sans 3" pitchFamily="34" charset="-122"/>
                <a:cs typeface="Source Sans 3" pitchFamily="34" charset="-120"/>
              </a:rPr>
              <a:t>Bu tapşırıq sizə öyrəndiyiniz bilikləri real biznes ssenarilərində tətbiq etmək imkanı verəcək.</a:t>
            </a:r>
            <a:endParaRPr lang="en-US" sz="1000" dirty="0"/>
          </a:p>
        </p:txBody>
      </p:sp>
      <p:sp>
        <p:nvSpPr>
          <p:cNvPr id="9" name="Text 6"/>
          <p:cNvSpPr/>
          <p:nvPr/>
        </p:nvSpPr>
        <p:spPr>
          <a:xfrm>
            <a:off x="3654623" y="3083719"/>
            <a:ext cx="1585913" cy="322302"/>
          </a:xfrm>
          <a:prstGeom prst="rect">
            <a:avLst/>
          </a:prstGeom>
          <a:noFill/>
          <a:ln/>
        </p:spPr>
        <p:txBody>
          <a:bodyPr wrap="none" lIns="0" tIns="0" rIns="0" bIns="0" rtlCol="0" anchor="t"/>
          <a:lstStyle/>
          <a:p>
            <a:pPr algn="ctr" indent="0" marL="0">
              <a:lnSpc>
                <a:spcPts val="2500"/>
              </a:lnSpc>
              <a:buNone/>
            </a:pPr>
            <a:r>
              <a:rPr lang="en-US" sz="2500" b="1" dirty="0">
                <a:solidFill>
                  <a:srgbClr val="E2E6E9"/>
                </a:solidFill>
                <a:latin typeface="Montserrat Bold" pitchFamily="34" charset="0"/>
                <a:ea typeface="Montserrat Bold" pitchFamily="34" charset="-122"/>
                <a:cs typeface="Montserrat Bold" pitchFamily="34" charset="-120"/>
              </a:rPr>
              <a:t>1/2</a:t>
            </a:r>
            <a:endParaRPr lang="en-US" sz="2500" dirty="0"/>
          </a:p>
        </p:txBody>
      </p:sp>
      <p:pic>
        <p:nvPicPr>
          <p:cNvPr id="10" name="Image 1" descr="preencoded.png">    </p:cNvPr>
          <p:cNvPicPr>
            <a:picLocks noChangeAspect="1"/>
          </p:cNvPicPr>
          <p:nvPr/>
        </p:nvPicPr>
        <p:blipFill>
          <a:blip r:embed="rId3"/>
          <a:stretch>
            <a:fillRect/>
          </a:stretch>
        </p:blipFill>
        <p:spPr>
          <a:xfrm>
            <a:off x="3480673" y="2277904"/>
            <a:ext cx="1934051" cy="1934051"/>
          </a:xfrm>
          <a:prstGeom prst="rect">
            <a:avLst/>
          </a:prstGeom>
        </p:spPr>
      </p:pic>
      <p:sp>
        <p:nvSpPr>
          <p:cNvPr id="11" name="Text 7"/>
          <p:cNvSpPr/>
          <p:nvPr/>
        </p:nvSpPr>
        <p:spPr>
          <a:xfrm>
            <a:off x="3715107" y="4321016"/>
            <a:ext cx="1465183" cy="183118"/>
          </a:xfrm>
          <a:prstGeom prst="rect">
            <a:avLst/>
          </a:prstGeom>
          <a:noFill/>
          <a:ln/>
        </p:spPr>
        <p:txBody>
          <a:bodyPr wrap="none" lIns="0" tIns="0" rIns="0" bIns="0" rtlCol="0" anchor="t"/>
          <a:lstStyle/>
          <a:p>
            <a:pPr algn="ctr" indent="0" marL="0">
              <a:lnSpc>
                <a:spcPts val="1400"/>
              </a:lnSpc>
              <a:buNone/>
            </a:pPr>
            <a:r>
              <a:rPr lang="en-US" sz="1150" b="1" dirty="0">
                <a:solidFill>
                  <a:srgbClr val="E2E6E9"/>
                </a:solidFill>
                <a:latin typeface="Montserrat Bold" pitchFamily="34" charset="0"/>
                <a:ea typeface="Montserrat Bold" pitchFamily="34" charset="-122"/>
                <a:cs typeface="Montserrat Bold" pitchFamily="34" charset="-120"/>
              </a:rPr>
              <a:t>Proses Seçimi</a:t>
            </a:r>
            <a:endParaRPr lang="en-US" sz="1150" dirty="0"/>
          </a:p>
        </p:txBody>
      </p:sp>
      <p:sp>
        <p:nvSpPr>
          <p:cNvPr id="12" name="Text 8"/>
          <p:cNvSpPr/>
          <p:nvPr/>
        </p:nvSpPr>
        <p:spPr>
          <a:xfrm>
            <a:off x="2729389" y="4581049"/>
            <a:ext cx="3436739" cy="154424"/>
          </a:xfrm>
          <a:prstGeom prst="rect">
            <a:avLst/>
          </a:prstGeom>
          <a:noFill/>
          <a:ln/>
        </p:spPr>
        <p:txBody>
          <a:bodyPr wrap="none" lIns="0" tIns="0" rIns="0" bIns="0" rtlCol="0" anchor="t"/>
          <a:lstStyle/>
          <a:p>
            <a:pPr algn="ctr" indent="0" marL="0">
              <a:lnSpc>
                <a:spcPts val="1200"/>
              </a:lnSpc>
              <a:buNone/>
            </a:pPr>
            <a:r>
              <a:rPr lang="en-US" sz="1000" dirty="0">
                <a:solidFill>
                  <a:srgbClr val="E2E6E9"/>
                </a:solidFill>
                <a:latin typeface="Source Sans 3" pitchFamily="34" charset="0"/>
                <a:ea typeface="Source Sans 3" pitchFamily="34" charset="-122"/>
                <a:cs typeface="Source Sans 3" pitchFamily="34" charset="-120"/>
              </a:rPr>
              <a:t>Biznes prosesi</a:t>
            </a:r>
            <a:endParaRPr lang="en-US" sz="1000" dirty="0"/>
          </a:p>
        </p:txBody>
      </p:sp>
      <p:sp>
        <p:nvSpPr>
          <p:cNvPr id="13" name="Text 9"/>
          <p:cNvSpPr/>
          <p:nvPr/>
        </p:nvSpPr>
        <p:spPr>
          <a:xfrm>
            <a:off x="3654623" y="5727383"/>
            <a:ext cx="1585913" cy="322302"/>
          </a:xfrm>
          <a:prstGeom prst="rect">
            <a:avLst/>
          </a:prstGeom>
          <a:noFill/>
          <a:ln/>
        </p:spPr>
        <p:txBody>
          <a:bodyPr wrap="none" lIns="0" tIns="0" rIns="0" bIns="0" rtlCol="0" anchor="t"/>
          <a:lstStyle/>
          <a:p>
            <a:pPr algn="ctr" indent="0" marL="0">
              <a:lnSpc>
                <a:spcPts val="2500"/>
              </a:lnSpc>
              <a:buNone/>
            </a:pPr>
            <a:r>
              <a:rPr lang="en-US" sz="2500" b="1" dirty="0">
                <a:solidFill>
                  <a:srgbClr val="E2E6E9"/>
                </a:solidFill>
                <a:latin typeface="Montserrat Bold" pitchFamily="34" charset="0"/>
                <a:ea typeface="Montserrat Bold" pitchFamily="34" charset="-122"/>
                <a:cs typeface="Montserrat Bold" pitchFamily="34" charset="-120"/>
              </a:rPr>
              <a:t>2/2</a:t>
            </a:r>
            <a:endParaRPr lang="en-US" sz="2500" dirty="0"/>
          </a:p>
        </p:txBody>
      </p:sp>
      <p:pic>
        <p:nvPicPr>
          <p:cNvPr id="14" name="Image 2" descr="preencoded.png">    </p:cNvPr>
          <p:cNvPicPr>
            <a:picLocks noChangeAspect="1"/>
          </p:cNvPicPr>
          <p:nvPr/>
        </p:nvPicPr>
        <p:blipFill>
          <a:blip r:embed="rId4"/>
          <a:stretch>
            <a:fillRect/>
          </a:stretch>
        </p:blipFill>
        <p:spPr>
          <a:xfrm>
            <a:off x="3480673" y="4921568"/>
            <a:ext cx="1934051" cy="1934051"/>
          </a:xfrm>
          <a:prstGeom prst="rect">
            <a:avLst/>
          </a:prstGeom>
        </p:spPr>
      </p:pic>
      <p:sp>
        <p:nvSpPr>
          <p:cNvPr id="15" name="Text 10"/>
          <p:cNvSpPr/>
          <p:nvPr/>
        </p:nvSpPr>
        <p:spPr>
          <a:xfrm>
            <a:off x="3715107" y="6964680"/>
            <a:ext cx="1465183" cy="183118"/>
          </a:xfrm>
          <a:prstGeom prst="rect">
            <a:avLst/>
          </a:prstGeom>
          <a:noFill/>
          <a:ln/>
        </p:spPr>
        <p:txBody>
          <a:bodyPr wrap="none" lIns="0" tIns="0" rIns="0" bIns="0" rtlCol="0" anchor="t"/>
          <a:lstStyle/>
          <a:p>
            <a:pPr algn="ctr" indent="0" marL="0">
              <a:lnSpc>
                <a:spcPts val="1400"/>
              </a:lnSpc>
              <a:buNone/>
            </a:pPr>
            <a:r>
              <a:rPr lang="en-US" sz="1150" b="1" dirty="0">
                <a:solidFill>
                  <a:srgbClr val="E2E6E9"/>
                </a:solidFill>
                <a:latin typeface="Montserrat Bold" pitchFamily="34" charset="0"/>
                <a:ea typeface="Montserrat Bold" pitchFamily="34" charset="-122"/>
                <a:cs typeface="Montserrat Bold" pitchFamily="34" charset="-120"/>
              </a:rPr>
              <a:t>SI Növü</a:t>
            </a:r>
            <a:endParaRPr lang="en-US" sz="1150" dirty="0"/>
          </a:p>
        </p:txBody>
      </p:sp>
      <p:sp>
        <p:nvSpPr>
          <p:cNvPr id="16" name="Text 11"/>
          <p:cNvSpPr/>
          <p:nvPr/>
        </p:nvSpPr>
        <p:spPr>
          <a:xfrm>
            <a:off x="2729389" y="7224713"/>
            <a:ext cx="3436739" cy="154424"/>
          </a:xfrm>
          <a:prstGeom prst="rect">
            <a:avLst/>
          </a:prstGeom>
          <a:noFill/>
          <a:ln/>
        </p:spPr>
        <p:txBody>
          <a:bodyPr wrap="none" lIns="0" tIns="0" rIns="0" bIns="0" rtlCol="0" anchor="t"/>
          <a:lstStyle/>
          <a:p>
            <a:pPr algn="ctr" indent="0" marL="0">
              <a:lnSpc>
                <a:spcPts val="1200"/>
              </a:lnSpc>
              <a:buNone/>
            </a:pPr>
            <a:r>
              <a:rPr lang="en-US" sz="1000" dirty="0">
                <a:solidFill>
                  <a:srgbClr val="E2E6E9"/>
                </a:solidFill>
                <a:latin typeface="Source Sans 3" pitchFamily="34" charset="0"/>
                <a:ea typeface="Source Sans 3" pitchFamily="34" charset="-122"/>
                <a:cs typeface="Source Sans 3" pitchFamily="34" charset="-120"/>
              </a:rPr>
              <a:t>Əsaslandırma</a:t>
            </a:r>
            <a:endParaRPr lang="en-US" sz="1000" dirty="0"/>
          </a:p>
        </p:txBody>
      </p:sp>
      <p:sp>
        <p:nvSpPr>
          <p:cNvPr id="17" name="Text 12"/>
          <p:cNvSpPr/>
          <p:nvPr/>
        </p:nvSpPr>
        <p:spPr>
          <a:xfrm>
            <a:off x="6524268" y="1553647"/>
            <a:ext cx="1758196" cy="219789"/>
          </a:xfrm>
          <a:prstGeom prst="rect">
            <a:avLst/>
          </a:prstGeom>
          <a:noFill/>
          <a:ln/>
        </p:spPr>
        <p:txBody>
          <a:bodyPr wrap="none" lIns="0" tIns="0" rIns="0" bIns="0" rtlCol="0" anchor="t"/>
          <a:lstStyle/>
          <a:p>
            <a:pPr algn="l" indent="0" marL="0">
              <a:lnSpc>
                <a:spcPts val="1700"/>
              </a:lnSpc>
              <a:buNone/>
            </a:pPr>
            <a:r>
              <a:rPr lang="en-US" sz="1350" b="1" dirty="0">
                <a:solidFill>
                  <a:srgbClr val="FFFFFF"/>
                </a:solidFill>
                <a:latin typeface="Montserrat Bold" pitchFamily="34" charset="0"/>
                <a:ea typeface="Montserrat Bold" pitchFamily="34" charset="-122"/>
                <a:cs typeface="Montserrat Bold" pitchFamily="34" charset="-120"/>
              </a:rPr>
              <a:t>Addımlar</a:t>
            </a:r>
            <a:endParaRPr lang="en-US" sz="1350" dirty="0"/>
          </a:p>
        </p:txBody>
      </p:sp>
      <p:sp>
        <p:nvSpPr>
          <p:cNvPr id="18" name="Shape 13"/>
          <p:cNvSpPr/>
          <p:nvPr/>
        </p:nvSpPr>
        <p:spPr>
          <a:xfrm>
            <a:off x="6524268" y="1859994"/>
            <a:ext cx="290036" cy="290036"/>
          </a:xfrm>
          <a:prstGeom prst="roundRect">
            <a:avLst>
              <a:gd name="adj" fmla="val 6669"/>
            </a:avLst>
          </a:prstGeom>
          <a:solidFill>
            <a:srgbClr val="303132"/>
          </a:solidFill>
          <a:ln/>
        </p:spPr>
      </p:sp>
      <p:sp>
        <p:nvSpPr>
          <p:cNvPr id="19" name="Text 14"/>
          <p:cNvSpPr/>
          <p:nvPr/>
        </p:nvSpPr>
        <p:spPr>
          <a:xfrm>
            <a:off x="6581418" y="1895177"/>
            <a:ext cx="175736" cy="219670"/>
          </a:xfrm>
          <a:prstGeom prst="rect">
            <a:avLst/>
          </a:prstGeom>
          <a:noFill/>
          <a:ln/>
        </p:spPr>
        <p:txBody>
          <a:bodyPr wrap="none" lIns="0" tIns="0" rIns="0" bIns="0" rtlCol="0" anchor="t"/>
          <a:lstStyle/>
          <a:p>
            <a:pPr algn="ctr" indent="0" marL="0">
              <a:lnSpc>
                <a:spcPts val="1350"/>
              </a:lnSpc>
              <a:buNone/>
            </a:pPr>
            <a:r>
              <a:rPr lang="en-US" sz="1350" b="1" dirty="0">
                <a:solidFill>
                  <a:srgbClr val="E2E6E9"/>
                </a:solidFill>
                <a:latin typeface="Montserrat Bold" pitchFamily="34" charset="0"/>
                <a:ea typeface="Montserrat Bold" pitchFamily="34" charset="-122"/>
                <a:cs typeface="Montserrat Bold" pitchFamily="34" charset="-120"/>
              </a:rPr>
              <a:t>1</a:t>
            </a:r>
            <a:endParaRPr lang="en-US" sz="1350" dirty="0"/>
          </a:p>
        </p:txBody>
      </p:sp>
      <p:sp>
        <p:nvSpPr>
          <p:cNvPr id="20" name="Text 15"/>
          <p:cNvSpPr/>
          <p:nvPr/>
        </p:nvSpPr>
        <p:spPr>
          <a:xfrm>
            <a:off x="6891218" y="1904286"/>
            <a:ext cx="1708309" cy="183118"/>
          </a:xfrm>
          <a:prstGeom prst="rect">
            <a:avLst/>
          </a:prstGeom>
          <a:noFill/>
          <a:ln/>
        </p:spPr>
        <p:txBody>
          <a:bodyPr wrap="none" lIns="0" tIns="0" rIns="0" bIns="0" rtlCol="0" anchor="t"/>
          <a:lstStyle/>
          <a:p>
            <a:pPr algn="l" indent="0" marL="0">
              <a:lnSpc>
                <a:spcPts val="1400"/>
              </a:lnSpc>
              <a:buNone/>
            </a:pPr>
            <a:r>
              <a:rPr lang="en-US" sz="1150" b="1" dirty="0">
                <a:solidFill>
                  <a:srgbClr val="E2E6E9"/>
                </a:solidFill>
                <a:latin typeface="Montserrat Bold" pitchFamily="34" charset="0"/>
                <a:ea typeface="Montserrat Bold" pitchFamily="34" charset="-122"/>
                <a:cs typeface="Montserrat Bold" pitchFamily="34" charset="-120"/>
              </a:rPr>
              <a:t>Biznes Prosesini Seçin</a:t>
            </a:r>
            <a:endParaRPr lang="en-US" sz="1150" dirty="0"/>
          </a:p>
        </p:txBody>
      </p:sp>
      <p:sp>
        <p:nvSpPr>
          <p:cNvPr id="21" name="Text 16"/>
          <p:cNvSpPr/>
          <p:nvPr/>
        </p:nvSpPr>
        <p:spPr>
          <a:xfrm>
            <a:off x="6891218" y="2164318"/>
            <a:ext cx="2295049" cy="617696"/>
          </a:xfrm>
          <a:prstGeom prst="rect">
            <a:avLst/>
          </a:prstGeom>
          <a:noFill/>
          <a:ln/>
        </p:spPr>
        <p:txBody>
          <a:bodyPr wrap="square" lIns="0" tIns="0" rIns="0" bIns="0" rtlCol="0" anchor="t"/>
          <a:lstStyle/>
          <a:p>
            <a:pPr algn="l" indent="0" marL="0">
              <a:lnSpc>
                <a:spcPts val="1200"/>
              </a:lnSpc>
              <a:buNone/>
            </a:pPr>
            <a:r>
              <a:rPr lang="en-US" sz="1000" dirty="0">
                <a:solidFill>
                  <a:srgbClr val="E2E6E9"/>
                </a:solidFill>
                <a:latin typeface="Source Sans 3" pitchFamily="34" charset="0"/>
                <a:ea typeface="Source Sans 3" pitchFamily="34" charset="-122"/>
                <a:cs typeface="Source Sans 3" pitchFamily="34" charset="-120"/>
              </a:rPr>
              <a:t>Öz təşkilatınızdan və ya məlum bir şirkətdən konkret idarəetmə prosesi seçin (məs: müştəri xidməti, inventar idarəetməsi, işə qəbul prosesi).</a:t>
            </a:r>
            <a:endParaRPr lang="en-US" sz="1000" dirty="0"/>
          </a:p>
        </p:txBody>
      </p:sp>
      <p:sp>
        <p:nvSpPr>
          <p:cNvPr id="22" name="Shape 17"/>
          <p:cNvSpPr/>
          <p:nvPr/>
        </p:nvSpPr>
        <p:spPr>
          <a:xfrm>
            <a:off x="9282470" y="1859994"/>
            <a:ext cx="290036" cy="290036"/>
          </a:xfrm>
          <a:prstGeom prst="roundRect">
            <a:avLst>
              <a:gd name="adj" fmla="val 6669"/>
            </a:avLst>
          </a:prstGeom>
          <a:solidFill>
            <a:srgbClr val="303132"/>
          </a:solidFill>
          <a:ln/>
        </p:spPr>
      </p:sp>
      <p:sp>
        <p:nvSpPr>
          <p:cNvPr id="23" name="Text 18"/>
          <p:cNvSpPr/>
          <p:nvPr/>
        </p:nvSpPr>
        <p:spPr>
          <a:xfrm>
            <a:off x="9339620" y="1895177"/>
            <a:ext cx="175736" cy="219670"/>
          </a:xfrm>
          <a:prstGeom prst="rect">
            <a:avLst/>
          </a:prstGeom>
          <a:noFill/>
          <a:ln/>
        </p:spPr>
        <p:txBody>
          <a:bodyPr wrap="none" lIns="0" tIns="0" rIns="0" bIns="0" rtlCol="0" anchor="t"/>
          <a:lstStyle/>
          <a:p>
            <a:pPr algn="ctr" indent="0" marL="0">
              <a:lnSpc>
                <a:spcPts val="1350"/>
              </a:lnSpc>
              <a:buNone/>
            </a:pPr>
            <a:r>
              <a:rPr lang="en-US" sz="1350" b="1" dirty="0">
                <a:solidFill>
                  <a:srgbClr val="E2E6E9"/>
                </a:solidFill>
                <a:latin typeface="Montserrat Bold" pitchFamily="34" charset="0"/>
                <a:ea typeface="Montserrat Bold" pitchFamily="34" charset="-122"/>
                <a:cs typeface="Montserrat Bold" pitchFamily="34" charset="-120"/>
              </a:rPr>
              <a:t>2</a:t>
            </a:r>
            <a:endParaRPr lang="en-US" sz="1350" dirty="0"/>
          </a:p>
        </p:txBody>
      </p:sp>
      <p:sp>
        <p:nvSpPr>
          <p:cNvPr id="24" name="Text 19"/>
          <p:cNvSpPr/>
          <p:nvPr/>
        </p:nvSpPr>
        <p:spPr>
          <a:xfrm>
            <a:off x="9649420" y="1904286"/>
            <a:ext cx="1534239" cy="183118"/>
          </a:xfrm>
          <a:prstGeom prst="rect">
            <a:avLst/>
          </a:prstGeom>
          <a:noFill/>
          <a:ln/>
        </p:spPr>
        <p:txBody>
          <a:bodyPr wrap="none" lIns="0" tIns="0" rIns="0" bIns="0" rtlCol="0" anchor="t"/>
          <a:lstStyle/>
          <a:p>
            <a:pPr algn="l" indent="0" marL="0">
              <a:lnSpc>
                <a:spcPts val="1400"/>
              </a:lnSpc>
              <a:buNone/>
            </a:pPr>
            <a:r>
              <a:rPr lang="en-US" sz="1150" b="1" dirty="0">
                <a:solidFill>
                  <a:srgbClr val="E2E6E9"/>
                </a:solidFill>
                <a:latin typeface="Montserrat Bold" pitchFamily="34" charset="0"/>
                <a:ea typeface="Montserrat Bold" pitchFamily="34" charset="-122"/>
                <a:cs typeface="Montserrat Bold" pitchFamily="34" charset="-120"/>
              </a:rPr>
              <a:t>Problemi Təhlil Edin</a:t>
            </a:r>
            <a:endParaRPr lang="en-US" sz="1150" dirty="0"/>
          </a:p>
        </p:txBody>
      </p:sp>
      <p:sp>
        <p:nvSpPr>
          <p:cNvPr id="25" name="Text 20"/>
          <p:cNvSpPr/>
          <p:nvPr/>
        </p:nvSpPr>
        <p:spPr>
          <a:xfrm>
            <a:off x="9649420" y="2164318"/>
            <a:ext cx="2295049" cy="308848"/>
          </a:xfrm>
          <a:prstGeom prst="rect">
            <a:avLst/>
          </a:prstGeom>
          <a:noFill/>
          <a:ln/>
        </p:spPr>
        <p:txBody>
          <a:bodyPr wrap="square" lIns="0" tIns="0" rIns="0" bIns="0" rtlCol="0" anchor="t"/>
          <a:lstStyle/>
          <a:p>
            <a:pPr algn="l" indent="0" marL="0">
              <a:lnSpc>
                <a:spcPts val="1200"/>
              </a:lnSpc>
              <a:buNone/>
            </a:pPr>
            <a:r>
              <a:rPr lang="en-US" sz="1000" dirty="0">
                <a:solidFill>
                  <a:srgbClr val="E2E6E9"/>
                </a:solidFill>
                <a:latin typeface="Source Sans 3" pitchFamily="34" charset="0"/>
                <a:ea typeface="Source Sans 3" pitchFamily="34" charset="-122"/>
                <a:cs typeface="Source Sans 3" pitchFamily="34" charset="-120"/>
              </a:rPr>
              <a:t>Prosesin əsas çətinliklərini və SI-nin həll edə biləcəyi problemləri müəyyən edin.</a:t>
            </a:r>
            <a:endParaRPr lang="en-US" sz="1000" dirty="0"/>
          </a:p>
        </p:txBody>
      </p:sp>
      <p:sp>
        <p:nvSpPr>
          <p:cNvPr id="26" name="Shape 21"/>
          <p:cNvSpPr/>
          <p:nvPr/>
        </p:nvSpPr>
        <p:spPr>
          <a:xfrm>
            <a:off x="6524268" y="2935962"/>
            <a:ext cx="290036" cy="290036"/>
          </a:xfrm>
          <a:prstGeom prst="roundRect">
            <a:avLst>
              <a:gd name="adj" fmla="val 6669"/>
            </a:avLst>
          </a:prstGeom>
          <a:solidFill>
            <a:srgbClr val="303132"/>
          </a:solidFill>
          <a:ln/>
        </p:spPr>
      </p:sp>
      <p:sp>
        <p:nvSpPr>
          <p:cNvPr id="27" name="Text 22"/>
          <p:cNvSpPr/>
          <p:nvPr/>
        </p:nvSpPr>
        <p:spPr>
          <a:xfrm>
            <a:off x="6581418" y="2971145"/>
            <a:ext cx="175736" cy="219670"/>
          </a:xfrm>
          <a:prstGeom prst="rect">
            <a:avLst/>
          </a:prstGeom>
          <a:noFill/>
          <a:ln/>
        </p:spPr>
        <p:txBody>
          <a:bodyPr wrap="none" lIns="0" tIns="0" rIns="0" bIns="0" rtlCol="0" anchor="t"/>
          <a:lstStyle/>
          <a:p>
            <a:pPr algn="ctr" indent="0" marL="0">
              <a:lnSpc>
                <a:spcPts val="1350"/>
              </a:lnSpc>
              <a:buNone/>
            </a:pPr>
            <a:r>
              <a:rPr lang="en-US" sz="1350" b="1" dirty="0">
                <a:solidFill>
                  <a:srgbClr val="E2E6E9"/>
                </a:solidFill>
                <a:latin typeface="Montserrat Bold" pitchFamily="34" charset="0"/>
                <a:ea typeface="Montserrat Bold" pitchFamily="34" charset="-122"/>
                <a:cs typeface="Montserrat Bold" pitchFamily="34" charset="-120"/>
              </a:rPr>
              <a:t>3</a:t>
            </a:r>
            <a:endParaRPr lang="en-US" sz="1350" dirty="0"/>
          </a:p>
        </p:txBody>
      </p:sp>
      <p:sp>
        <p:nvSpPr>
          <p:cNvPr id="28" name="Text 23"/>
          <p:cNvSpPr/>
          <p:nvPr/>
        </p:nvSpPr>
        <p:spPr>
          <a:xfrm>
            <a:off x="6891218" y="2980253"/>
            <a:ext cx="1781413" cy="183118"/>
          </a:xfrm>
          <a:prstGeom prst="rect">
            <a:avLst/>
          </a:prstGeom>
          <a:noFill/>
          <a:ln/>
        </p:spPr>
        <p:txBody>
          <a:bodyPr wrap="none" lIns="0" tIns="0" rIns="0" bIns="0" rtlCol="0" anchor="t"/>
          <a:lstStyle/>
          <a:p>
            <a:pPr algn="l" indent="0" marL="0">
              <a:lnSpc>
                <a:spcPts val="1400"/>
              </a:lnSpc>
              <a:buNone/>
            </a:pPr>
            <a:r>
              <a:rPr lang="en-US" sz="1150" b="1" dirty="0">
                <a:solidFill>
                  <a:srgbClr val="E2E6E9"/>
                </a:solidFill>
                <a:latin typeface="Montserrat Bold" pitchFamily="34" charset="0"/>
                <a:ea typeface="Montserrat Bold" pitchFamily="34" charset="-122"/>
                <a:cs typeface="Montserrat Bold" pitchFamily="34" charset="-120"/>
              </a:rPr>
              <a:t>SI Növünü Əsaslandırın</a:t>
            </a:r>
            <a:endParaRPr lang="en-US" sz="1150" dirty="0"/>
          </a:p>
        </p:txBody>
      </p:sp>
      <p:sp>
        <p:nvSpPr>
          <p:cNvPr id="29" name="Text 24"/>
          <p:cNvSpPr/>
          <p:nvPr/>
        </p:nvSpPr>
        <p:spPr>
          <a:xfrm>
            <a:off x="6891218" y="3240286"/>
            <a:ext cx="5053251" cy="308848"/>
          </a:xfrm>
          <a:prstGeom prst="rect">
            <a:avLst/>
          </a:prstGeom>
          <a:noFill/>
          <a:ln/>
        </p:spPr>
        <p:txBody>
          <a:bodyPr wrap="square" lIns="0" tIns="0" rIns="0" bIns="0" rtlCol="0" anchor="t"/>
          <a:lstStyle/>
          <a:p>
            <a:pPr algn="l" indent="0" marL="0">
              <a:lnSpc>
                <a:spcPts val="1200"/>
              </a:lnSpc>
              <a:buNone/>
            </a:pPr>
            <a:r>
              <a:rPr lang="en-US" sz="1000" dirty="0">
                <a:solidFill>
                  <a:srgbClr val="E2E6E9"/>
                </a:solidFill>
                <a:latin typeface="Source Sans 3" pitchFamily="34" charset="0"/>
                <a:ea typeface="Source Sans 3" pitchFamily="34" charset="-122"/>
                <a:cs typeface="Source Sans 3" pitchFamily="34" charset="-120"/>
              </a:rPr>
              <a:t>Hansı SI növünün (Ekspert Sistem, ML, və ya GenAI) bu proses üçün ən uyğun olduğunu əsaslandırın. Texnologiyanın üstünlüklərini və gözlənilən nəticələri izah edin.</a:t>
            </a:r>
            <a:endParaRPr lang="en-US" sz="1000" dirty="0"/>
          </a:p>
        </p:txBody>
      </p:sp>
      <p:sp>
        <p:nvSpPr>
          <p:cNvPr id="30" name="Shape 25"/>
          <p:cNvSpPr/>
          <p:nvPr/>
        </p:nvSpPr>
        <p:spPr>
          <a:xfrm>
            <a:off x="6524268" y="3635693"/>
            <a:ext cx="5420201" cy="551498"/>
          </a:xfrm>
          <a:prstGeom prst="roundRect">
            <a:avLst>
              <a:gd name="adj" fmla="val 3507"/>
            </a:avLst>
          </a:prstGeom>
          <a:solidFill>
            <a:srgbClr val="262626"/>
          </a:solidFill>
          <a:ln/>
        </p:spPr>
      </p:sp>
      <p:pic>
        <p:nvPicPr>
          <p:cNvPr id="31" name="Image 3" descr="preencoded.png">    </p:cNvPr>
          <p:cNvPicPr>
            <a:picLocks noChangeAspect="1"/>
          </p:cNvPicPr>
          <p:nvPr/>
        </p:nvPicPr>
        <p:blipFill>
          <a:blip r:embed="rId5"/>
          <a:stretch>
            <a:fillRect/>
          </a:stretch>
        </p:blipFill>
        <p:spPr>
          <a:xfrm>
            <a:off x="6653093" y="3798213"/>
            <a:ext cx="161092" cy="128826"/>
          </a:xfrm>
          <a:prstGeom prst="rect">
            <a:avLst/>
          </a:prstGeom>
        </p:spPr>
      </p:pic>
      <p:sp>
        <p:nvSpPr>
          <p:cNvPr id="32" name="Text 26"/>
          <p:cNvSpPr/>
          <p:nvPr/>
        </p:nvSpPr>
        <p:spPr>
          <a:xfrm>
            <a:off x="6943011" y="3744754"/>
            <a:ext cx="4872633" cy="308848"/>
          </a:xfrm>
          <a:prstGeom prst="rect">
            <a:avLst/>
          </a:prstGeom>
          <a:noFill/>
          <a:ln/>
        </p:spPr>
        <p:txBody>
          <a:bodyPr wrap="square" lIns="0" tIns="0" rIns="0" bIns="0" rtlCol="0" anchor="t"/>
          <a:lstStyle/>
          <a:p>
            <a:pPr algn="l" indent="0" marL="0">
              <a:lnSpc>
                <a:spcPts val="1200"/>
              </a:lnSpc>
              <a:buNone/>
            </a:pPr>
            <a:r>
              <a:rPr lang="en-US" sz="1000" b="1" dirty="0">
                <a:solidFill>
                  <a:srgbClr val="FFFFFF"/>
                </a:solidFill>
                <a:latin typeface="Source Sans 3" pitchFamily="34" charset="0"/>
                <a:ea typeface="Source Sans 3" pitchFamily="34" charset="-122"/>
                <a:cs typeface="Source Sans 3" pitchFamily="34" charset="-120"/>
              </a:rPr>
              <a:t>Təqdimat formatı:</a:t>
            </a:r>
            <a:pPr algn="l" indent="0" marL="0">
              <a:lnSpc>
                <a:spcPts val="1200"/>
              </a:lnSpc>
              <a:buNone/>
            </a:pPr>
            <a:r>
              <a:rPr lang="en-US" sz="1000" dirty="0">
                <a:solidFill>
                  <a:srgbClr val="FFFFFF"/>
                </a:solidFill>
                <a:latin typeface="Source Sans 3" pitchFamily="34" charset="0"/>
                <a:ea typeface="Source Sans 3" pitchFamily="34" charset="-122"/>
                <a:cs typeface="Source Sans 3" pitchFamily="34" charset="-120"/>
              </a:rPr>
              <a:t> 2-3 səhifəlik yazılı təhlil və ya 5 dəqiqəlik şifahi təqdimat. Növbəti dərsdə müzakirə edəcəyik.</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2026-02-16T09:17:22Z</dcterms:created>
  <dcterms:modified xsi:type="dcterms:W3CDTF">2026-02-16T09:17:22Z</dcterms:modified>
</cp:coreProperties>
</file>