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16.svg" ContentType="image/svg"/>
  <Override PartName="/ppt/media/image27.png" ContentType="image/png"/>
  <Override PartName="/ppt/media/image10.png" ContentType="image/png"/>
  <Override PartName="/ppt/media/image1.png" ContentType="image/png"/>
  <Override PartName="/ppt/media/image20.svg" ContentType="image/svg"/>
  <Override PartName="/ppt/media/image18.svg" ContentType="image/svg"/>
  <Override PartName="/ppt/media/image6.png" ContentType="image/png"/>
  <Override PartName="/ppt/media/image15.png" ContentType="image/png"/>
  <Override PartName="/ppt/media/image9.svg" ContentType="image/svg"/>
  <Override PartName="/ppt/media/image17.png" ContentType="image/png"/>
  <Override PartName="/ppt/media/image8.png" ContentType="image/png"/>
  <Override PartName="/ppt/media/image28.svg" ContentType="image/svg"/>
  <Override PartName="/ppt/media/image13.png" ContentType="image/png"/>
  <Override PartName="/ppt/media/image30.png" ContentType="image/png"/>
  <Override PartName="/ppt/media/image31.png" ContentType="image/png"/>
  <Override PartName="/ppt/media/image32.png" ContentType="image/png"/>
  <Override PartName="/ppt/media/image5.png" ContentType="image/png"/>
  <Override PartName="/ppt/media/image14.png" ContentType="image/png"/>
  <Override PartName="/ppt/media/image11.png" ContentType="image/png"/>
  <Override PartName="/ppt/media/image2.png" ContentType="image/png"/>
  <Override PartName="/ppt/media/image22.svg" ContentType="image/svg"/>
  <Override PartName="/ppt/media/image3.png" ContentType="image/png"/>
  <Override PartName="/ppt/media/image7.png" ContentType="image/png"/>
  <Override PartName="/ppt/media/image12.png" ContentType="image/png"/>
  <Override PartName="/ppt/media/image4.svg" ContentType="image/svg"/>
  <Override PartName="/ppt/media/image19.png" ContentType="image/png"/>
  <Override PartName="/ppt/media/image21.png" ContentType="image/png"/>
  <Override PartName="/ppt/media/image23.png" ContentType="image/png"/>
  <Override PartName="/ppt/media/image24.png" ContentType="image/png"/>
  <Override PartName="/ppt/media/image25.png" ContentType="image/png"/>
  <Override PartName="/ppt/media/image26.png" ContentType="image/png"/>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notesMaster" Target="notesMasters/notesMaster1.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45"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6"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47"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8"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9"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5758D5C7-1300-4A39-9748-8FCD197E092B}"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sldImg"/>
          </p:nvPr>
        </p:nvSpPr>
        <p:spPr>
          <a:xfrm>
            <a:off x="685800" y="1143000"/>
            <a:ext cx="5485320" cy="3085200"/>
          </a:xfrm>
          <a:prstGeom prst="rect">
            <a:avLst/>
          </a:prstGeom>
          <a:ln w="0">
            <a:noFill/>
          </a:ln>
        </p:spPr>
      </p:sp>
      <p:sp>
        <p:nvSpPr>
          <p:cNvPr id="263"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64" name="PlaceHolder 3"/>
          <p:cNvSpPr>
            <a:spLocks noGrp="1"/>
          </p:cNvSpPr>
          <p:nvPr>
            <p:ph type="sldNum" idx="4"/>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0B0F1E3-8268-48C6-86C6-7E0C23318DD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sldImg"/>
          </p:nvPr>
        </p:nvSpPr>
        <p:spPr>
          <a:xfrm>
            <a:off x="685800" y="1143000"/>
            <a:ext cx="5485320" cy="3085200"/>
          </a:xfrm>
          <a:prstGeom prst="rect">
            <a:avLst/>
          </a:prstGeom>
          <a:ln w="0">
            <a:noFill/>
          </a:ln>
        </p:spPr>
      </p:sp>
      <p:sp>
        <p:nvSpPr>
          <p:cNvPr id="26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67" name="PlaceHolder 3"/>
          <p:cNvSpPr>
            <a:spLocks noGrp="1"/>
          </p:cNvSpPr>
          <p:nvPr>
            <p:ph type="sldNum" idx="5"/>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1D7BD456-88DA-4E98-9A17-0E9429E6CED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sldImg"/>
          </p:nvPr>
        </p:nvSpPr>
        <p:spPr>
          <a:xfrm>
            <a:off x="685800" y="1143000"/>
            <a:ext cx="5485320" cy="3085200"/>
          </a:xfrm>
          <a:prstGeom prst="rect">
            <a:avLst/>
          </a:prstGeom>
          <a:ln w="0">
            <a:noFill/>
          </a:ln>
        </p:spPr>
      </p:sp>
      <p:sp>
        <p:nvSpPr>
          <p:cNvPr id="269"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0" name="PlaceHolder 3"/>
          <p:cNvSpPr>
            <a:spLocks noGrp="1"/>
          </p:cNvSpPr>
          <p:nvPr>
            <p:ph type="sldNum" idx="6"/>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A7A30C0-D8A5-428B-9BC0-04F63EC1E78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sldImg"/>
          </p:nvPr>
        </p:nvSpPr>
        <p:spPr>
          <a:xfrm>
            <a:off x="685800" y="1143000"/>
            <a:ext cx="5485320" cy="3085200"/>
          </a:xfrm>
          <a:prstGeom prst="rect">
            <a:avLst/>
          </a:prstGeom>
          <a:ln w="0">
            <a:noFill/>
          </a:ln>
        </p:spPr>
      </p:sp>
      <p:sp>
        <p:nvSpPr>
          <p:cNvPr id="27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3" name="PlaceHolder 3"/>
          <p:cNvSpPr>
            <a:spLocks noGrp="1"/>
          </p:cNvSpPr>
          <p:nvPr>
            <p:ph type="sldNum" idx="7"/>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5FCD770-6B2A-4C2B-9EAE-1236625E2DD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sldImg"/>
          </p:nvPr>
        </p:nvSpPr>
        <p:spPr>
          <a:xfrm>
            <a:off x="685800" y="1143000"/>
            <a:ext cx="5485320" cy="3085200"/>
          </a:xfrm>
          <a:prstGeom prst="rect">
            <a:avLst/>
          </a:prstGeom>
          <a:ln w="0">
            <a:noFill/>
          </a:ln>
        </p:spPr>
      </p:sp>
      <p:sp>
        <p:nvSpPr>
          <p:cNvPr id="275"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6" name="PlaceHolder 3"/>
          <p:cNvSpPr>
            <a:spLocks noGrp="1"/>
          </p:cNvSpPr>
          <p:nvPr>
            <p:ph type="sldNum" idx="8"/>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7840E00-5245-4ED1-8CA8-3F744AD841F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sldImg"/>
          </p:nvPr>
        </p:nvSpPr>
        <p:spPr>
          <a:xfrm>
            <a:off x="685800" y="1143000"/>
            <a:ext cx="5485320" cy="3085200"/>
          </a:xfrm>
          <a:prstGeom prst="rect">
            <a:avLst/>
          </a:prstGeom>
          <a:ln w="0">
            <a:noFill/>
          </a:ln>
        </p:spPr>
      </p:sp>
      <p:sp>
        <p:nvSpPr>
          <p:cNvPr id="278"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9" name="PlaceHolder 3"/>
          <p:cNvSpPr>
            <a:spLocks noGrp="1"/>
          </p:cNvSpPr>
          <p:nvPr>
            <p:ph type="sldNum" idx="9"/>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FA7143B-EF0D-4EF7-BA78-F8732DF82E8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685800" y="1143000"/>
            <a:ext cx="5485320" cy="3085200"/>
          </a:xfrm>
          <a:prstGeom prst="rect">
            <a:avLst/>
          </a:prstGeom>
          <a:ln w="0">
            <a:noFill/>
          </a:ln>
        </p:spPr>
      </p:sp>
      <p:sp>
        <p:nvSpPr>
          <p:cNvPr id="281"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2" name="PlaceHolder 3"/>
          <p:cNvSpPr>
            <a:spLocks noGrp="1"/>
          </p:cNvSpPr>
          <p:nvPr>
            <p:ph type="sldNum" idx="10"/>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ED26306-D8D2-4E79-877F-290B51D516D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sldImg"/>
          </p:nvPr>
        </p:nvSpPr>
        <p:spPr>
          <a:xfrm>
            <a:off x="685800" y="1143000"/>
            <a:ext cx="5485320" cy="3085200"/>
          </a:xfrm>
          <a:prstGeom prst="rect">
            <a:avLst/>
          </a:prstGeom>
          <a:ln w="0">
            <a:noFill/>
          </a:ln>
        </p:spPr>
      </p:sp>
      <p:sp>
        <p:nvSpPr>
          <p:cNvPr id="284"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5" name="PlaceHolder 3"/>
          <p:cNvSpPr>
            <a:spLocks noGrp="1"/>
          </p:cNvSpPr>
          <p:nvPr>
            <p:ph type="sldNum" idx="11"/>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EE5C961-3274-4C2B-B184-C8B8C67210C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sldImg"/>
          </p:nvPr>
        </p:nvSpPr>
        <p:spPr>
          <a:xfrm>
            <a:off x="685800" y="1143000"/>
            <a:ext cx="5485320" cy="3085200"/>
          </a:xfrm>
          <a:prstGeom prst="rect">
            <a:avLst/>
          </a:prstGeom>
          <a:ln w="0">
            <a:noFill/>
          </a:ln>
        </p:spPr>
      </p:sp>
      <p:sp>
        <p:nvSpPr>
          <p:cNvPr id="28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8" name="PlaceHolder 3"/>
          <p:cNvSpPr>
            <a:spLocks noGrp="1"/>
          </p:cNvSpPr>
          <p:nvPr>
            <p:ph type="sldNum" idx="12"/>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27ABED2-C081-4F1D-A081-D6BA621444D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sldImg"/>
          </p:nvPr>
        </p:nvSpPr>
        <p:spPr>
          <a:xfrm>
            <a:off x="685800" y="1143000"/>
            <a:ext cx="5485320" cy="3085200"/>
          </a:xfrm>
          <a:prstGeom prst="rect">
            <a:avLst/>
          </a:prstGeom>
          <a:ln w="0">
            <a:noFill/>
          </a:ln>
        </p:spPr>
      </p:sp>
      <p:sp>
        <p:nvSpPr>
          <p:cNvPr id="290"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1" name="PlaceHolder 3"/>
          <p:cNvSpPr>
            <a:spLocks noGrp="1"/>
          </p:cNvSpPr>
          <p:nvPr>
            <p:ph type="sldNum" idx="13"/>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125E92C-2D35-4BA6-B711-CB91E713581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Img"/>
          </p:nvPr>
        </p:nvSpPr>
        <p:spPr>
          <a:xfrm>
            <a:off x="685800" y="1143000"/>
            <a:ext cx="5485320" cy="3085200"/>
          </a:xfrm>
          <a:prstGeom prst="rect">
            <a:avLst/>
          </a:prstGeom>
          <a:ln w="0">
            <a:noFill/>
          </a:ln>
        </p:spPr>
      </p:sp>
      <p:sp>
        <p:nvSpPr>
          <p:cNvPr id="293"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4" name="PlaceHolder 3"/>
          <p:cNvSpPr>
            <a:spLocks noGrp="1"/>
          </p:cNvSpPr>
          <p:nvPr>
            <p:ph type="sldNum" idx="14"/>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C408FC6-B42C-4269-B753-DF25F8B7451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9 mast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0 master">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1 master">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 master">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2 master">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3 master">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4 master">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5 master">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6 master">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7 master">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8 master">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3"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Shape 0"/>
          <p:cNvSpPr/>
          <p:nvPr/>
        </p:nvSpPr>
        <p:spPr>
          <a:xfrm>
            <a:off x="0" y="0"/>
            <a:ext cx="14629320" cy="822852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1" name="Shape 1"/>
          <p:cNvSpPr/>
          <p:nvPr/>
        </p:nvSpPr>
        <p:spPr>
          <a:xfrm>
            <a:off x="0" y="0"/>
            <a:ext cx="14629320" cy="822852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5.png"/><Relationship Id="rId4" Type="http://schemas.openxmlformats.org/officeDocument/2006/relationships/slideLayout" Target="../slideLayouts/slideLayout8.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9.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sv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slideLayout" Target="../slideLayouts/slideLayout10.xml"/><Relationship Id="rId7"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17.png"/><Relationship Id="rId5" Type="http://schemas.openxmlformats.org/officeDocument/2006/relationships/image" Target="../media/image18.svg"/><Relationship Id="rId6" Type="http://schemas.openxmlformats.org/officeDocument/2006/relationships/image" Target="../media/image19.png"/><Relationship Id="rId7" Type="http://schemas.openxmlformats.org/officeDocument/2006/relationships/image" Target="../media/image20.svg"/><Relationship Id="rId8" Type="http://schemas.openxmlformats.org/officeDocument/2006/relationships/image" Target="../media/image21.png"/><Relationship Id="rId9" Type="http://schemas.openxmlformats.org/officeDocument/2006/relationships/image" Target="../media/image22.svg"/><Relationship Id="rId10" Type="http://schemas.openxmlformats.org/officeDocument/2006/relationships/slideLayout" Target="../slideLayouts/slideLayout12.xml"/><Relationship Id="rId11"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slideLayout" Target="../slideLayouts/slideLayout3.xml"/><Relationship Id="rId6"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sv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slideLayout" Target="../slideLayouts/slideLayout4.xml"/><Relationship Id="rId8"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 name="Image 0" descr="preencoded.png"/>
          <p:cNvPicPr/>
          <p:nvPr/>
        </p:nvPicPr>
        <p:blipFill>
          <a:blip r:embed="rId1"/>
          <a:stretch/>
        </p:blipFill>
        <p:spPr>
          <a:xfrm>
            <a:off x="9144000" y="0"/>
            <a:ext cx="5485320" cy="8228520"/>
          </a:xfrm>
          <a:prstGeom prst="rect">
            <a:avLst/>
          </a:prstGeom>
          <a:ln w="0">
            <a:noFill/>
          </a:ln>
        </p:spPr>
      </p:pic>
      <p:sp>
        <p:nvSpPr>
          <p:cNvPr id="51" name="Text 0"/>
          <p:cNvSpPr/>
          <p:nvPr/>
        </p:nvSpPr>
        <p:spPr>
          <a:xfrm>
            <a:off x="863640" y="3177360"/>
            <a:ext cx="7415280" cy="1225800"/>
          </a:xfrm>
          <a:prstGeom prst="rect">
            <a:avLst/>
          </a:prstGeom>
          <a:noFill/>
          <a:ln w="0">
            <a:noFill/>
          </a:ln>
        </p:spPr>
        <p:style>
          <a:lnRef idx="0"/>
          <a:fillRef idx="0"/>
          <a:effectRef idx="0"/>
          <a:fontRef idx="minor"/>
        </p:style>
        <p:txBody>
          <a:bodyPr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Süni İntellektin Növləri və İdarəetmədə Tətbiqi</a:t>
            </a:r>
            <a:endParaRPr b="0" lang="en-US" sz="3850" spc="-1" strike="noStrike">
              <a:solidFill>
                <a:srgbClr val="000000"/>
              </a:solidFill>
              <a:latin typeface="Arial"/>
            </a:endParaRPr>
          </a:p>
        </p:txBody>
      </p:sp>
      <p:sp>
        <p:nvSpPr>
          <p:cNvPr id="52" name="Text 1"/>
          <p:cNvSpPr/>
          <p:nvPr/>
        </p:nvSpPr>
        <p:spPr>
          <a:xfrm>
            <a:off x="863640" y="4728240"/>
            <a:ext cx="741528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Müəllim: [Orkhan Iskandarov]</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Shape 0"/>
          <p:cNvSpPr/>
          <p:nvPr/>
        </p:nvSpPr>
        <p:spPr>
          <a:xfrm>
            <a:off x="863640" y="679320"/>
            <a:ext cx="645840" cy="387720"/>
          </a:xfrm>
          <a:prstGeom prst="roundRect">
            <a:avLst>
              <a:gd name="adj" fmla="val 6669"/>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4" name="Text 1"/>
          <p:cNvSpPr/>
          <p:nvPr/>
        </p:nvSpPr>
        <p:spPr>
          <a:xfrm>
            <a:off x="993240" y="744120"/>
            <a:ext cx="386640" cy="25812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350" spc="-1" strike="noStrike">
                <a:solidFill>
                  <a:srgbClr val="e2e6e9"/>
                </a:solidFill>
                <a:latin typeface="Source Sans 3"/>
                <a:ea typeface="Source Sans 3"/>
              </a:rPr>
              <a:t>GIRIŞ</a:t>
            </a:r>
            <a:endParaRPr b="0" lang="en-US" sz="1350" spc="-1" strike="noStrike">
              <a:solidFill>
                <a:srgbClr val="000000"/>
              </a:solidFill>
              <a:latin typeface="Arial"/>
            </a:endParaRPr>
          </a:p>
        </p:txBody>
      </p:sp>
      <p:sp>
        <p:nvSpPr>
          <p:cNvPr id="55" name="Text 2"/>
          <p:cNvSpPr/>
          <p:nvPr/>
        </p:nvSpPr>
        <p:spPr>
          <a:xfrm>
            <a:off x="863640" y="1154160"/>
            <a:ext cx="4907520" cy="61236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Dərsin Məqsədləri</a:t>
            </a:r>
            <a:endParaRPr b="0" lang="en-US" sz="3850" spc="-1" strike="noStrike">
              <a:solidFill>
                <a:srgbClr val="000000"/>
              </a:solidFill>
              <a:latin typeface="Arial"/>
            </a:endParaRPr>
          </a:p>
        </p:txBody>
      </p:sp>
      <p:sp>
        <p:nvSpPr>
          <p:cNvPr id="56" name="Shape 3"/>
          <p:cNvSpPr/>
          <p:nvPr/>
        </p:nvSpPr>
        <p:spPr>
          <a:xfrm>
            <a:off x="708120" y="2091600"/>
            <a:ext cx="6498000" cy="2023200"/>
          </a:xfrm>
          <a:prstGeom prst="roundRect">
            <a:avLst>
              <a:gd name="adj" fmla="val 593"/>
            </a:avLst>
          </a:prstGeom>
          <a:solidFill>
            <a:srgbClr val="1d1f2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7" name="Text 4"/>
          <p:cNvSpPr/>
          <p:nvPr/>
        </p:nvSpPr>
        <p:spPr>
          <a:xfrm>
            <a:off x="924120" y="2307600"/>
            <a:ext cx="417456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ffffff"/>
                </a:solidFill>
                <a:latin typeface="Montserrat Bold"/>
                <a:ea typeface="Montserrat Bold"/>
              </a:rPr>
              <a:t>Bu Gün Öyrənəcəyimiz Mövzular</a:t>
            </a:r>
            <a:endParaRPr b="0" lang="en-US" sz="1900" spc="-1" strike="noStrike">
              <a:solidFill>
                <a:srgbClr val="000000"/>
              </a:solidFill>
              <a:latin typeface="Arial"/>
            </a:endParaRPr>
          </a:p>
        </p:txBody>
      </p:sp>
      <p:sp>
        <p:nvSpPr>
          <p:cNvPr id="58" name="Text 5"/>
          <p:cNvSpPr/>
          <p:nvPr/>
        </p:nvSpPr>
        <p:spPr>
          <a:xfrm>
            <a:off x="924120" y="2829960"/>
            <a:ext cx="606636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Süni intellektin müxtəlif növlərini və onların idarəetmə proseslərində necə tətbiq olunduğunu ətraflı şəkildə araşdıracağıq.</a:t>
            </a:r>
            <a:endParaRPr b="0" lang="en-US" sz="1700" spc="-1" strike="noStrike">
              <a:solidFill>
                <a:srgbClr val="000000"/>
              </a:solidFill>
              <a:latin typeface="Arial"/>
            </a:endParaRPr>
          </a:p>
        </p:txBody>
      </p:sp>
      <p:sp>
        <p:nvSpPr>
          <p:cNvPr id="59" name="Text 6"/>
          <p:cNvSpPr/>
          <p:nvPr/>
        </p:nvSpPr>
        <p:spPr>
          <a:xfrm>
            <a:off x="7586280" y="2334600"/>
            <a:ext cx="214920" cy="268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Montserrat Light"/>
                <a:ea typeface="Montserrat Light"/>
              </a:rPr>
              <a:t>01</a:t>
            </a:r>
            <a:endParaRPr b="0" lang="en-US" sz="1700" spc="-1" strike="noStrike">
              <a:solidFill>
                <a:srgbClr val="000000"/>
              </a:solidFill>
              <a:latin typeface="Arial"/>
            </a:endParaRPr>
          </a:p>
        </p:txBody>
      </p:sp>
      <p:sp>
        <p:nvSpPr>
          <p:cNvPr id="60" name="Shape 7"/>
          <p:cNvSpPr/>
          <p:nvPr/>
        </p:nvSpPr>
        <p:spPr>
          <a:xfrm>
            <a:off x="7586280" y="2670840"/>
            <a:ext cx="6186960" cy="29520"/>
          </a:xfrm>
          <a:prstGeom prst="rect">
            <a:avLst/>
          </a:prstGeom>
          <a:solidFill>
            <a:srgbClr val="ffffff"/>
          </a:solidFill>
          <a:ln w="0">
            <a:noFill/>
          </a:ln>
        </p:spPr>
        <p:style>
          <a:lnRef idx="0"/>
          <a:fillRef idx="0"/>
          <a:effectRef idx="0"/>
          <a:fontRef idx="minor"/>
        </p:style>
        <p:txBody>
          <a:bodyPr lIns="90000" rIns="90000" tIns="-14400" bIns="-14400" anchor="t">
            <a:noAutofit/>
          </a:bodyPr>
          <a:p>
            <a:pPr>
              <a:lnSpc>
                <a:spcPct val="100000"/>
              </a:lnSpc>
            </a:pPr>
            <a:endParaRPr b="0" lang="en-US" sz="1800" spc="-1" strike="noStrike">
              <a:solidFill>
                <a:srgbClr val="000000"/>
              </a:solidFill>
              <a:latin typeface="Arial"/>
            </a:endParaRPr>
          </a:p>
        </p:txBody>
      </p:sp>
      <p:sp>
        <p:nvSpPr>
          <p:cNvPr id="61" name="Text 8"/>
          <p:cNvSpPr/>
          <p:nvPr/>
        </p:nvSpPr>
        <p:spPr>
          <a:xfrm>
            <a:off x="7586280" y="2839680"/>
            <a:ext cx="278712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SI Növlərinin Təsnifatı</a:t>
            </a:r>
            <a:endParaRPr b="0" lang="en-US" sz="1900" spc="-1" strike="noStrike">
              <a:solidFill>
                <a:srgbClr val="000000"/>
              </a:solidFill>
              <a:latin typeface="Arial"/>
            </a:endParaRPr>
          </a:p>
        </p:txBody>
      </p:sp>
      <p:sp>
        <p:nvSpPr>
          <p:cNvPr id="62" name="Text 9"/>
          <p:cNvSpPr/>
          <p:nvPr/>
        </p:nvSpPr>
        <p:spPr>
          <a:xfrm>
            <a:off x="7586280" y="3362400"/>
            <a:ext cx="618696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Funksionallığa görə süni intellekt sistemlərinin əsas kateqoriyaları</a:t>
            </a:r>
            <a:endParaRPr b="0" lang="en-US" sz="1700" spc="-1" strike="noStrike">
              <a:solidFill>
                <a:srgbClr val="000000"/>
              </a:solidFill>
              <a:latin typeface="Arial"/>
            </a:endParaRPr>
          </a:p>
        </p:txBody>
      </p:sp>
      <p:sp>
        <p:nvSpPr>
          <p:cNvPr id="63" name="Text 10"/>
          <p:cNvSpPr/>
          <p:nvPr/>
        </p:nvSpPr>
        <p:spPr>
          <a:xfrm>
            <a:off x="7586280" y="4064040"/>
            <a:ext cx="214920" cy="268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Montserrat Light"/>
                <a:ea typeface="Montserrat Light"/>
              </a:rPr>
              <a:t>02</a:t>
            </a:r>
            <a:endParaRPr b="0" lang="en-US" sz="1700" spc="-1" strike="noStrike">
              <a:solidFill>
                <a:srgbClr val="000000"/>
              </a:solidFill>
              <a:latin typeface="Arial"/>
            </a:endParaRPr>
          </a:p>
        </p:txBody>
      </p:sp>
      <p:sp>
        <p:nvSpPr>
          <p:cNvPr id="64" name="Shape 11"/>
          <p:cNvSpPr/>
          <p:nvPr/>
        </p:nvSpPr>
        <p:spPr>
          <a:xfrm>
            <a:off x="7586280" y="4400640"/>
            <a:ext cx="6186960" cy="29520"/>
          </a:xfrm>
          <a:prstGeom prst="rect">
            <a:avLst/>
          </a:prstGeom>
          <a:solidFill>
            <a:srgbClr val="ffffff"/>
          </a:solidFill>
          <a:ln w="0">
            <a:noFill/>
          </a:ln>
        </p:spPr>
        <p:style>
          <a:lnRef idx="0"/>
          <a:fillRef idx="0"/>
          <a:effectRef idx="0"/>
          <a:fontRef idx="minor"/>
        </p:style>
        <p:txBody>
          <a:bodyPr lIns="90000" rIns="90000" tIns="-14400" bIns="-14400" anchor="t">
            <a:noAutofit/>
          </a:bodyPr>
          <a:p>
            <a:pPr>
              <a:lnSpc>
                <a:spcPct val="100000"/>
              </a:lnSpc>
            </a:pPr>
            <a:endParaRPr b="0" lang="en-US" sz="1800" spc="-1" strike="noStrike">
              <a:solidFill>
                <a:srgbClr val="000000"/>
              </a:solidFill>
              <a:latin typeface="Arial"/>
            </a:endParaRPr>
          </a:p>
        </p:txBody>
      </p:sp>
      <p:sp>
        <p:nvSpPr>
          <p:cNvPr id="65" name="Text 12"/>
          <p:cNvSpPr/>
          <p:nvPr/>
        </p:nvSpPr>
        <p:spPr>
          <a:xfrm>
            <a:off x="7586280" y="4569480"/>
            <a:ext cx="270828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Texnoloji Yanaşmalar</a:t>
            </a:r>
            <a:endParaRPr b="0" lang="en-US" sz="1900" spc="-1" strike="noStrike">
              <a:solidFill>
                <a:srgbClr val="000000"/>
              </a:solidFill>
              <a:latin typeface="Arial"/>
            </a:endParaRPr>
          </a:p>
        </p:txBody>
      </p:sp>
      <p:sp>
        <p:nvSpPr>
          <p:cNvPr id="66" name="Text 13"/>
          <p:cNvSpPr/>
          <p:nvPr/>
        </p:nvSpPr>
        <p:spPr>
          <a:xfrm>
            <a:off x="7586280" y="5091840"/>
            <a:ext cx="618696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Ekspert sistemlər, maşın öyrənməsi və generativ SI-nin fərqləri</a:t>
            </a:r>
            <a:endParaRPr b="0" lang="en-US" sz="1700" spc="-1" strike="noStrike">
              <a:solidFill>
                <a:srgbClr val="000000"/>
              </a:solidFill>
              <a:latin typeface="Arial"/>
            </a:endParaRPr>
          </a:p>
        </p:txBody>
      </p:sp>
      <p:sp>
        <p:nvSpPr>
          <p:cNvPr id="67" name="Text 14"/>
          <p:cNvSpPr/>
          <p:nvPr/>
        </p:nvSpPr>
        <p:spPr>
          <a:xfrm>
            <a:off x="7586280" y="5793840"/>
            <a:ext cx="214920" cy="268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Montserrat Light"/>
                <a:ea typeface="Montserrat Light"/>
              </a:rPr>
              <a:t>03</a:t>
            </a:r>
            <a:endParaRPr b="0" lang="en-US" sz="1700" spc="-1" strike="noStrike">
              <a:solidFill>
                <a:srgbClr val="000000"/>
              </a:solidFill>
              <a:latin typeface="Arial"/>
            </a:endParaRPr>
          </a:p>
        </p:txBody>
      </p:sp>
      <p:sp>
        <p:nvSpPr>
          <p:cNvPr id="68" name="Shape 15"/>
          <p:cNvSpPr/>
          <p:nvPr/>
        </p:nvSpPr>
        <p:spPr>
          <a:xfrm>
            <a:off x="7586280" y="6130080"/>
            <a:ext cx="6186960" cy="29520"/>
          </a:xfrm>
          <a:prstGeom prst="rect">
            <a:avLst/>
          </a:prstGeom>
          <a:solidFill>
            <a:srgbClr val="ffffff"/>
          </a:solidFill>
          <a:ln w="0">
            <a:noFill/>
          </a:ln>
        </p:spPr>
        <p:style>
          <a:lnRef idx="0"/>
          <a:fillRef idx="0"/>
          <a:effectRef idx="0"/>
          <a:fontRef idx="minor"/>
        </p:style>
        <p:txBody>
          <a:bodyPr lIns="90000" rIns="90000" tIns="-14400" bIns="-14400" anchor="t">
            <a:noAutofit/>
          </a:bodyPr>
          <a:p>
            <a:pPr>
              <a:lnSpc>
                <a:spcPct val="100000"/>
              </a:lnSpc>
            </a:pPr>
            <a:endParaRPr b="0" lang="en-US" sz="1800" spc="-1" strike="noStrike">
              <a:solidFill>
                <a:srgbClr val="000000"/>
              </a:solidFill>
              <a:latin typeface="Arial"/>
            </a:endParaRPr>
          </a:p>
        </p:txBody>
      </p:sp>
      <p:sp>
        <p:nvSpPr>
          <p:cNvPr id="69" name="Text 16"/>
          <p:cNvSpPr/>
          <p:nvPr/>
        </p:nvSpPr>
        <p:spPr>
          <a:xfrm>
            <a:off x="7586280" y="6298920"/>
            <a:ext cx="245304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Praktik Tətbiqlər</a:t>
            </a:r>
            <a:endParaRPr b="0" lang="en-US" sz="1900" spc="-1" strike="noStrike">
              <a:solidFill>
                <a:srgbClr val="000000"/>
              </a:solidFill>
              <a:latin typeface="Arial"/>
            </a:endParaRPr>
          </a:p>
        </p:txBody>
      </p:sp>
      <p:sp>
        <p:nvSpPr>
          <p:cNvPr id="70" name="Text 17"/>
          <p:cNvSpPr/>
          <p:nvPr/>
        </p:nvSpPr>
        <p:spPr>
          <a:xfrm>
            <a:off x="7586280" y="6821640"/>
            <a:ext cx="618696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İdarəetmə vəzifələrində konkret istifadə ssenariləri</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1" name="Image 0" descr="preencoded.png"/>
          <p:cNvPicPr/>
          <p:nvPr/>
        </p:nvPicPr>
        <p:blipFill>
          <a:blip r:embed="rId1"/>
          <a:stretch/>
        </p:blipFill>
        <p:spPr>
          <a:xfrm>
            <a:off x="9144000" y="0"/>
            <a:ext cx="5485320" cy="8228520"/>
          </a:xfrm>
          <a:prstGeom prst="rect">
            <a:avLst/>
          </a:prstGeom>
          <a:ln w="0">
            <a:noFill/>
          </a:ln>
        </p:spPr>
      </p:pic>
      <p:sp>
        <p:nvSpPr>
          <p:cNvPr id="72" name="Shape 0"/>
          <p:cNvSpPr/>
          <p:nvPr/>
        </p:nvSpPr>
        <p:spPr>
          <a:xfrm>
            <a:off x="863640" y="660240"/>
            <a:ext cx="982440" cy="402840"/>
          </a:xfrm>
          <a:prstGeom prst="roundRect">
            <a:avLst>
              <a:gd name="adj" fmla="val 6417"/>
            </a:avLst>
          </a:prstGeom>
          <a:no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3" name="Text 1"/>
          <p:cNvSpPr/>
          <p:nvPr/>
        </p:nvSpPr>
        <p:spPr>
          <a:xfrm>
            <a:off x="1000800" y="732600"/>
            <a:ext cx="708120" cy="25812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350" spc="-1" strike="noStrike">
                <a:solidFill>
                  <a:srgbClr val="ffffff"/>
                </a:solidFill>
                <a:latin typeface="Source Sans 3"/>
                <a:ea typeface="Source Sans 3"/>
              </a:rPr>
              <a:t>TƏSNIFAT</a:t>
            </a:r>
            <a:endParaRPr b="0" lang="en-US" sz="1350" spc="-1" strike="noStrike">
              <a:solidFill>
                <a:srgbClr val="000000"/>
              </a:solidFill>
              <a:latin typeface="Arial"/>
            </a:endParaRPr>
          </a:p>
        </p:txBody>
      </p:sp>
      <p:sp>
        <p:nvSpPr>
          <p:cNvPr id="74" name="Text 2"/>
          <p:cNvSpPr/>
          <p:nvPr/>
        </p:nvSpPr>
        <p:spPr>
          <a:xfrm>
            <a:off x="863640" y="1150560"/>
            <a:ext cx="7415280" cy="1225800"/>
          </a:xfrm>
          <a:prstGeom prst="rect">
            <a:avLst/>
          </a:prstGeom>
          <a:noFill/>
          <a:ln w="0">
            <a:noFill/>
          </a:ln>
        </p:spPr>
        <p:style>
          <a:lnRef idx="0"/>
          <a:fillRef idx="0"/>
          <a:effectRef idx="0"/>
          <a:fontRef idx="minor"/>
        </p:style>
        <p:txBody>
          <a:bodyPr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Funksionallığa Görə Süni İntellektin Təsnifatı</a:t>
            </a:r>
            <a:endParaRPr b="0" lang="en-US" sz="3850" spc="-1" strike="noStrike">
              <a:solidFill>
                <a:srgbClr val="000000"/>
              </a:solidFill>
              <a:latin typeface="Arial"/>
            </a:endParaRPr>
          </a:p>
        </p:txBody>
      </p:sp>
      <p:sp>
        <p:nvSpPr>
          <p:cNvPr id="75" name="Shape 3"/>
          <p:cNvSpPr/>
          <p:nvPr/>
        </p:nvSpPr>
        <p:spPr>
          <a:xfrm>
            <a:off x="863640" y="2701440"/>
            <a:ext cx="2327040" cy="4866840"/>
          </a:xfrm>
          <a:prstGeom prst="roundRect">
            <a:avLst>
              <a:gd name="adj" fmla="val 1392"/>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6" name="Text 4"/>
          <p:cNvSpPr/>
          <p:nvPr/>
        </p:nvSpPr>
        <p:spPr>
          <a:xfrm>
            <a:off x="1079640" y="2917440"/>
            <a:ext cx="1895400" cy="6123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Dar SI (Narrow AI)</a:t>
            </a:r>
            <a:endParaRPr b="0" lang="en-US" sz="1900" spc="-1" strike="noStrike">
              <a:solidFill>
                <a:srgbClr val="000000"/>
              </a:solidFill>
              <a:latin typeface="Arial"/>
            </a:endParaRPr>
          </a:p>
        </p:txBody>
      </p:sp>
      <p:sp>
        <p:nvSpPr>
          <p:cNvPr id="77" name="Text 5"/>
          <p:cNvSpPr/>
          <p:nvPr/>
        </p:nvSpPr>
        <p:spPr>
          <a:xfrm>
            <a:off x="1079640" y="3660120"/>
            <a:ext cx="1895400" cy="226656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Yalnız bir konkret tapşırığı həll edən sistemlər. Bu gün istifadə olunan bütün SI sistemləri bu kateqoriyaya aiddir.</a:t>
            </a:r>
            <a:endParaRPr b="0" lang="en-US" sz="1700" spc="-1" strike="noStrike">
              <a:solidFill>
                <a:srgbClr val="000000"/>
              </a:solidFill>
              <a:latin typeface="Arial"/>
            </a:endParaRPr>
          </a:p>
        </p:txBody>
      </p:sp>
      <p:sp>
        <p:nvSpPr>
          <p:cNvPr id="78" name="Text 6"/>
          <p:cNvSpPr/>
          <p:nvPr/>
        </p:nvSpPr>
        <p:spPr>
          <a:xfrm>
            <a:off x="1079640" y="6237720"/>
            <a:ext cx="1895400" cy="1294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1" lang="en-US" sz="1700" spc="-1" strike="noStrike">
                <a:solidFill>
                  <a:srgbClr val="e2e6e9"/>
                </a:solidFill>
                <a:latin typeface="Source Sans 3"/>
                <a:ea typeface="Source Sans 3"/>
              </a:rPr>
              <a:t>Nümunələr:</a:t>
            </a:r>
            <a:r>
              <a:rPr b="0" lang="en-US" sz="1700" spc="-1" strike="noStrike">
                <a:solidFill>
                  <a:srgbClr val="e2e6e9"/>
                </a:solidFill>
                <a:latin typeface="Source Sans 3"/>
                <a:ea typeface="Source Sans 3"/>
              </a:rPr>
              <a:t> üz tanıma, mətn tərcüməsi, səs köməkçiləri</a:t>
            </a:r>
            <a:endParaRPr b="0" lang="en-US" sz="1700" spc="-1" strike="noStrike">
              <a:solidFill>
                <a:srgbClr val="000000"/>
              </a:solidFill>
              <a:latin typeface="Arial"/>
            </a:endParaRPr>
          </a:p>
        </p:txBody>
      </p:sp>
      <p:sp>
        <p:nvSpPr>
          <p:cNvPr id="79" name="Shape 7"/>
          <p:cNvSpPr/>
          <p:nvPr/>
        </p:nvSpPr>
        <p:spPr>
          <a:xfrm>
            <a:off x="3407760" y="2701440"/>
            <a:ext cx="2327040" cy="4866840"/>
          </a:xfrm>
          <a:prstGeom prst="roundRect">
            <a:avLst>
              <a:gd name="adj" fmla="val 1391"/>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0" name="Text 8"/>
          <p:cNvSpPr/>
          <p:nvPr/>
        </p:nvSpPr>
        <p:spPr>
          <a:xfrm>
            <a:off x="3623760" y="2917440"/>
            <a:ext cx="1895400" cy="6123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Ümumi SI (AGI)</a:t>
            </a:r>
            <a:endParaRPr b="0" lang="en-US" sz="1900" spc="-1" strike="noStrike">
              <a:solidFill>
                <a:srgbClr val="000000"/>
              </a:solidFill>
              <a:latin typeface="Arial"/>
            </a:endParaRPr>
          </a:p>
        </p:txBody>
      </p:sp>
      <p:sp>
        <p:nvSpPr>
          <p:cNvPr id="81" name="Text 9"/>
          <p:cNvSpPr/>
          <p:nvPr/>
        </p:nvSpPr>
        <p:spPr>
          <a:xfrm>
            <a:off x="3623760" y="3660120"/>
            <a:ext cx="1895400" cy="1618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İnsan kimi müxtəlif sahələrdə düşünə bilən sistem. Hələ ki nəzəri konsepsiya olaraq qalır.</a:t>
            </a:r>
            <a:endParaRPr b="0" lang="en-US" sz="1700" spc="-1" strike="noStrike">
              <a:solidFill>
                <a:srgbClr val="000000"/>
              </a:solidFill>
              <a:latin typeface="Arial"/>
            </a:endParaRPr>
          </a:p>
        </p:txBody>
      </p:sp>
      <p:sp>
        <p:nvSpPr>
          <p:cNvPr id="82" name="Text 10"/>
          <p:cNvSpPr/>
          <p:nvPr/>
        </p:nvSpPr>
        <p:spPr>
          <a:xfrm>
            <a:off x="3623760" y="5661720"/>
            <a:ext cx="1895400" cy="970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1" lang="en-US" sz="1700" spc="-1" strike="noStrike">
                <a:solidFill>
                  <a:srgbClr val="e2e6e9"/>
                </a:solidFill>
                <a:latin typeface="Source Sans 3"/>
                <a:ea typeface="Source Sans 3"/>
              </a:rPr>
              <a:t>Status:</a:t>
            </a:r>
            <a:r>
              <a:rPr b="0" lang="en-US" sz="1700" spc="-1" strike="noStrike">
                <a:solidFill>
                  <a:srgbClr val="e2e6e9"/>
                </a:solidFill>
                <a:latin typeface="Source Sans 3"/>
                <a:ea typeface="Source Sans 3"/>
              </a:rPr>
              <a:t> Tədqiqat mərhələsində, praktik tətbiq yoxdur</a:t>
            </a:r>
            <a:endParaRPr b="0" lang="en-US" sz="1700" spc="-1" strike="noStrike">
              <a:solidFill>
                <a:srgbClr val="000000"/>
              </a:solidFill>
              <a:latin typeface="Arial"/>
            </a:endParaRPr>
          </a:p>
        </p:txBody>
      </p:sp>
      <p:sp>
        <p:nvSpPr>
          <p:cNvPr id="83" name="Shape 11"/>
          <p:cNvSpPr/>
          <p:nvPr/>
        </p:nvSpPr>
        <p:spPr>
          <a:xfrm>
            <a:off x="5951880" y="2701440"/>
            <a:ext cx="2327040" cy="4866840"/>
          </a:xfrm>
          <a:prstGeom prst="roundRect">
            <a:avLst>
              <a:gd name="adj" fmla="val 1391"/>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4" name="Text 12"/>
          <p:cNvSpPr/>
          <p:nvPr/>
        </p:nvSpPr>
        <p:spPr>
          <a:xfrm>
            <a:off x="6167880" y="2917440"/>
            <a:ext cx="1895400" cy="6123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Superintellekt (ASI)</a:t>
            </a:r>
            <a:endParaRPr b="0" lang="en-US" sz="1900" spc="-1" strike="noStrike">
              <a:solidFill>
                <a:srgbClr val="000000"/>
              </a:solidFill>
              <a:latin typeface="Arial"/>
            </a:endParaRPr>
          </a:p>
        </p:txBody>
      </p:sp>
      <p:sp>
        <p:nvSpPr>
          <p:cNvPr id="85" name="Text 13"/>
          <p:cNvSpPr/>
          <p:nvPr/>
        </p:nvSpPr>
        <p:spPr>
          <a:xfrm>
            <a:off x="6167880" y="3660120"/>
            <a:ext cx="1895400" cy="1618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İnsan intellektini bütün sahələrdə üstələyən hipotetik sistem. Gələcək potensial.</a:t>
            </a:r>
            <a:endParaRPr b="0" lang="en-US" sz="1700" spc="-1" strike="noStrike">
              <a:solidFill>
                <a:srgbClr val="000000"/>
              </a:solidFill>
              <a:latin typeface="Arial"/>
            </a:endParaRPr>
          </a:p>
        </p:txBody>
      </p:sp>
      <p:sp>
        <p:nvSpPr>
          <p:cNvPr id="86" name="Text 14"/>
          <p:cNvSpPr/>
          <p:nvPr/>
        </p:nvSpPr>
        <p:spPr>
          <a:xfrm>
            <a:off x="6167880" y="5409720"/>
            <a:ext cx="1895400" cy="970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1" lang="en-US" sz="1700" spc="-1" strike="noStrike">
                <a:solidFill>
                  <a:srgbClr val="e2e6e9"/>
                </a:solidFill>
                <a:latin typeface="Source Sans 3"/>
                <a:ea typeface="Source Sans 3"/>
              </a:rPr>
              <a:t>Xarakter:</a:t>
            </a:r>
            <a:r>
              <a:rPr b="0" lang="en-US" sz="1700" spc="-1" strike="noStrike">
                <a:solidFill>
                  <a:srgbClr val="e2e6e9"/>
                </a:solidFill>
                <a:latin typeface="Source Sans 3"/>
                <a:ea typeface="Source Sans 3"/>
              </a:rPr>
              <a:t> Elmi-fantastik konsepsiya, uzaq perspektiv</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Shape 0"/>
          <p:cNvSpPr/>
          <p:nvPr/>
        </p:nvSpPr>
        <p:spPr>
          <a:xfrm>
            <a:off x="774000" y="532080"/>
            <a:ext cx="1375200" cy="334800"/>
          </a:xfrm>
          <a:prstGeom prst="roundRect">
            <a:avLst>
              <a:gd name="adj" fmla="val 6911"/>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88" name="Image 0" descr="preencoded.png"/>
          <p:cNvPicPr/>
          <p:nvPr/>
        </p:nvPicPr>
        <p:blipFill>
          <a:blip r:embed="rId1">
            <a:extLst>
              <a:ext uri="{96DAC541-7B7A-43D3-8B79-37D633B846F1}">
                <asvg:svgBlip xmlns:asvg="http://schemas.microsoft.com/office/drawing/2016/SVG/main" r:embed="rId2"/>
              </a:ext>
            </a:extLst>
          </a:blip>
          <a:stretch/>
        </p:blipFill>
        <p:spPr>
          <a:xfrm>
            <a:off x="889920" y="622800"/>
            <a:ext cx="153720" cy="153720"/>
          </a:xfrm>
          <a:prstGeom prst="rect">
            <a:avLst/>
          </a:prstGeom>
          <a:ln w="0">
            <a:noFill/>
          </a:ln>
        </p:spPr>
      </p:pic>
      <p:sp>
        <p:nvSpPr>
          <p:cNvPr id="89" name="Text 1"/>
          <p:cNvSpPr/>
          <p:nvPr/>
        </p:nvSpPr>
        <p:spPr>
          <a:xfrm>
            <a:off x="1122120" y="590040"/>
            <a:ext cx="910800" cy="21888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0" lang="en-US" sz="1200" spc="-1" strike="noStrike">
                <a:solidFill>
                  <a:srgbClr val="e2e6e9"/>
                </a:solidFill>
                <a:latin typeface="Source Sans 3"/>
                <a:ea typeface="Source Sans 3"/>
              </a:rPr>
              <a:t>TEXNOLOGIYA</a:t>
            </a:r>
            <a:endParaRPr b="0" lang="en-US" sz="1200" spc="-1" strike="noStrike">
              <a:solidFill>
                <a:srgbClr val="000000"/>
              </a:solidFill>
              <a:latin typeface="Arial"/>
            </a:endParaRPr>
          </a:p>
        </p:txBody>
      </p:sp>
      <p:sp>
        <p:nvSpPr>
          <p:cNvPr id="90" name="Text 2"/>
          <p:cNvSpPr/>
          <p:nvPr/>
        </p:nvSpPr>
        <p:spPr>
          <a:xfrm>
            <a:off x="774000" y="937440"/>
            <a:ext cx="4396680" cy="548640"/>
          </a:xfrm>
          <a:prstGeom prst="rect">
            <a:avLst/>
          </a:prstGeom>
          <a:noFill/>
          <a:ln w="0">
            <a:noFill/>
          </a:ln>
        </p:spPr>
        <p:style>
          <a:lnRef idx="0"/>
          <a:fillRef idx="0"/>
          <a:effectRef idx="0"/>
          <a:fontRef idx="minor"/>
        </p:style>
        <p:txBody>
          <a:bodyPr wrap="none" lIns="0" rIns="0" tIns="0" bIns="0" anchor="t">
            <a:noAutofit/>
          </a:bodyPr>
          <a:p>
            <a:pPr>
              <a:lnSpc>
                <a:spcPts val="4300"/>
              </a:lnSpc>
              <a:tabLst>
                <a:tab algn="l" pos="0"/>
              </a:tabLst>
            </a:pPr>
            <a:r>
              <a:rPr b="1" lang="en-US" sz="3450" spc="-1" strike="noStrike">
                <a:solidFill>
                  <a:srgbClr val="ffffff"/>
                </a:solidFill>
                <a:latin typeface="Montserrat Bold"/>
                <a:ea typeface="Montserrat Bold"/>
              </a:rPr>
              <a:t>Ekspert Sistemlər</a:t>
            </a:r>
            <a:endParaRPr b="0" lang="en-US" sz="3450" spc="-1" strike="noStrike">
              <a:solidFill>
                <a:srgbClr val="000000"/>
              </a:solidFill>
              <a:latin typeface="Arial"/>
            </a:endParaRPr>
          </a:p>
        </p:txBody>
      </p:sp>
      <p:pic>
        <p:nvPicPr>
          <p:cNvPr id="91" name="Image 1" descr="preencoded.png"/>
          <p:cNvPicPr/>
          <p:nvPr/>
        </p:nvPicPr>
        <p:blipFill>
          <a:blip r:embed="rId3"/>
          <a:stretch/>
        </p:blipFill>
        <p:spPr>
          <a:xfrm>
            <a:off x="774000" y="1942200"/>
            <a:ext cx="5626440" cy="5626440"/>
          </a:xfrm>
          <a:prstGeom prst="rect">
            <a:avLst/>
          </a:prstGeom>
          <a:ln w="0">
            <a:noFill/>
          </a:ln>
        </p:spPr>
      </p:pic>
      <p:sp>
        <p:nvSpPr>
          <p:cNvPr id="92" name="Text 3"/>
          <p:cNvSpPr/>
          <p:nvPr/>
        </p:nvSpPr>
        <p:spPr>
          <a:xfrm>
            <a:off x="6881040" y="1920600"/>
            <a:ext cx="2637720" cy="32868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1" lang="en-US" sz="2050" spc="-1" strike="noStrike">
                <a:solidFill>
                  <a:srgbClr val="ffffff"/>
                </a:solidFill>
                <a:latin typeface="Montserrat Bold"/>
                <a:ea typeface="Montserrat Bold"/>
              </a:rPr>
              <a:t>Əsas Xüsusiyyətlər</a:t>
            </a:r>
            <a:endParaRPr b="0" lang="en-US" sz="2050" spc="-1" strike="noStrike">
              <a:solidFill>
                <a:srgbClr val="000000"/>
              </a:solidFill>
              <a:latin typeface="Arial"/>
            </a:endParaRPr>
          </a:p>
        </p:txBody>
      </p:sp>
      <p:sp>
        <p:nvSpPr>
          <p:cNvPr id="93" name="Text 4"/>
          <p:cNvSpPr/>
          <p:nvPr/>
        </p:nvSpPr>
        <p:spPr>
          <a:xfrm>
            <a:off x="6881040" y="2423520"/>
            <a:ext cx="6981840" cy="824040"/>
          </a:xfrm>
          <a:prstGeom prst="rect">
            <a:avLst/>
          </a:prstGeom>
          <a:noFill/>
          <a:ln w="0">
            <a:noFill/>
          </a:ln>
        </p:spPr>
        <p:style>
          <a:lnRef idx="0"/>
          <a:fillRef idx="0"/>
          <a:effectRef idx="0"/>
          <a:fontRef idx="minor"/>
        </p:style>
        <p:txBody>
          <a:bodyPr lIns="0" rIns="0" tIns="0" bIns="0" anchor="t">
            <a:noAutofit/>
          </a:bodyPr>
          <a:p>
            <a:pPr>
              <a:lnSpc>
                <a:spcPts val="2149"/>
              </a:lnSpc>
              <a:tabLst>
                <a:tab algn="l" pos="0"/>
              </a:tabLst>
            </a:pPr>
            <a:r>
              <a:rPr b="0" lang="en-US" sz="1500" spc="-1" strike="noStrike">
                <a:solidFill>
                  <a:srgbClr val="e2e6e9"/>
                </a:solidFill>
                <a:latin typeface="Source Sans 3"/>
                <a:ea typeface="Source Sans 3"/>
              </a:rPr>
              <a:t>Ekspert sistemlər qaydalara və bilik bazalarına əsaslanaraq mütəxəssisin qərarını imitasiya edir. Bu sistemlər "əgər-onda" (if-then) qaydaları ilə işləyir və müəyyən bir sahədə ekspert biliklərini rəqəmsallaşdırır.</a:t>
            </a:r>
            <a:endParaRPr b="0" lang="en-US" sz="1500" spc="-1" strike="noStrike">
              <a:solidFill>
                <a:srgbClr val="000000"/>
              </a:solidFill>
              <a:latin typeface="Arial"/>
            </a:endParaRPr>
          </a:p>
        </p:txBody>
      </p:sp>
      <p:sp>
        <p:nvSpPr>
          <p:cNvPr id="94" name="Shape 5"/>
          <p:cNvSpPr/>
          <p:nvPr/>
        </p:nvSpPr>
        <p:spPr>
          <a:xfrm>
            <a:off x="6881040" y="3443760"/>
            <a:ext cx="3403800" cy="1704960"/>
          </a:xfrm>
          <a:prstGeom prst="roundRect">
            <a:avLst>
              <a:gd name="adj" fmla="val 1701"/>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5" name="Text 6"/>
          <p:cNvSpPr/>
          <p:nvPr/>
        </p:nvSpPr>
        <p:spPr>
          <a:xfrm>
            <a:off x="7097400" y="3660120"/>
            <a:ext cx="2781360" cy="273600"/>
          </a:xfrm>
          <a:prstGeom prst="rect">
            <a:avLst/>
          </a:prstGeom>
          <a:noFill/>
          <a:ln w="0">
            <a:noFill/>
          </a:ln>
        </p:spPr>
        <p:style>
          <a:lnRef idx="0"/>
          <a:fillRef idx="0"/>
          <a:effectRef idx="0"/>
          <a:fontRef idx="minor"/>
        </p:style>
        <p:txBody>
          <a:bodyPr wrap="none" lIns="0" rIns="0" tIns="0" bIns="0" anchor="t">
            <a:noAutofit/>
          </a:bodyPr>
          <a:p>
            <a:pPr>
              <a:lnSpc>
                <a:spcPts val="2149"/>
              </a:lnSpc>
              <a:tabLst>
                <a:tab algn="l" pos="0"/>
              </a:tabLst>
            </a:pPr>
            <a:r>
              <a:rPr b="1" lang="en-US" sz="1700" spc="-1" strike="noStrike">
                <a:solidFill>
                  <a:srgbClr val="e2e6e9"/>
                </a:solidFill>
                <a:latin typeface="Montserrat Bold"/>
                <a:ea typeface="Montserrat Bold"/>
              </a:rPr>
              <a:t>Avadanlıq Diaqnostikası</a:t>
            </a:r>
            <a:endParaRPr b="0" lang="en-US" sz="1700" spc="-1" strike="noStrike">
              <a:solidFill>
                <a:srgbClr val="000000"/>
              </a:solidFill>
              <a:latin typeface="Arial"/>
            </a:endParaRPr>
          </a:p>
        </p:txBody>
      </p:sp>
      <p:sp>
        <p:nvSpPr>
          <p:cNvPr id="96" name="Text 7"/>
          <p:cNvSpPr/>
          <p:nvPr/>
        </p:nvSpPr>
        <p:spPr>
          <a:xfrm>
            <a:off x="7097400" y="4108320"/>
            <a:ext cx="2971080" cy="824040"/>
          </a:xfrm>
          <a:prstGeom prst="rect">
            <a:avLst/>
          </a:prstGeom>
          <a:noFill/>
          <a:ln w="0">
            <a:noFill/>
          </a:ln>
        </p:spPr>
        <p:style>
          <a:lnRef idx="0"/>
          <a:fillRef idx="0"/>
          <a:effectRef idx="0"/>
          <a:fontRef idx="minor"/>
        </p:style>
        <p:txBody>
          <a:bodyPr lIns="0" rIns="0" tIns="0" bIns="0" anchor="t">
            <a:noAutofit/>
          </a:bodyPr>
          <a:p>
            <a:pPr>
              <a:lnSpc>
                <a:spcPts val="2149"/>
              </a:lnSpc>
              <a:tabLst>
                <a:tab algn="l" pos="0"/>
              </a:tabLst>
            </a:pPr>
            <a:r>
              <a:rPr b="0" lang="en-US" sz="1500" spc="-1" strike="noStrike">
                <a:solidFill>
                  <a:srgbClr val="e2e6e9"/>
                </a:solidFill>
                <a:latin typeface="Source Sans 3"/>
                <a:ea typeface="Source Sans 3"/>
              </a:rPr>
              <a:t>Texniki nasazlıqların müəyyən edilməsi və təmir tövsiyələrinin verilməsi</a:t>
            </a:r>
            <a:endParaRPr b="0" lang="en-US" sz="1500" spc="-1" strike="noStrike">
              <a:solidFill>
                <a:srgbClr val="000000"/>
              </a:solidFill>
              <a:latin typeface="Arial"/>
            </a:endParaRPr>
          </a:p>
        </p:txBody>
      </p:sp>
      <p:sp>
        <p:nvSpPr>
          <p:cNvPr id="97" name="Shape 8"/>
          <p:cNvSpPr/>
          <p:nvPr/>
        </p:nvSpPr>
        <p:spPr>
          <a:xfrm>
            <a:off x="10459080" y="3443760"/>
            <a:ext cx="3403800" cy="1704960"/>
          </a:xfrm>
          <a:prstGeom prst="roundRect">
            <a:avLst>
              <a:gd name="adj" fmla="val 1701"/>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8" name="Text 9"/>
          <p:cNvSpPr/>
          <p:nvPr/>
        </p:nvSpPr>
        <p:spPr>
          <a:xfrm>
            <a:off x="10675440" y="3660120"/>
            <a:ext cx="2197800" cy="273600"/>
          </a:xfrm>
          <a:prstGeom prst="rect">
            <a:avLst/>
          </a:prstGeom>
          <a:noFill/>
          <a:ln w="0">
            <a:noFill/>
          </a:ln>
        </p:spPr>
        <p:style>
          <a:lnRef idx="0"/>
          <a:fillRef idx="0"/>
          <a:effectRef idx="0"/>
          <a:fontRef idx="minor"/>
        </p:style>
        <p:txBody>
          <a:bodyPr wrap="none" lIns="0" rIns="0" tIns="0" bIns="0" anchor="t">
            <a:noAutofit/>
          </a:bodyPr>
          <a:p>
            <a:pPr>
              <a:lnSpc>
                <a:spcPts val="2149"/>
              </a:lnSpc>
              <a:tabLst>
                <a:tab algn="l" pos="0"/>
              </a:tabLst>
            </a:pPr>
            <a:r>
              <a:rPr b="1" lang="en-US" sz="1700" spc="-1" strike="noStrike">
                <a:solidFill>
                  <a:srgbClr val="e2e6e9"/>
                </a:solidFill>
                <a:latin typeface="Montserrat Bold"/>
                <a:ea typeface="Montserrat Bold"/>
              </a:rPr>
              <a:t>Kredit Skorinqi</a:t>
            </a:r>
            <a:endParaRPr b="0" lang="en-US" sz="1700" spc="-1" strike="noStrike">
              <a:solidFill>
                <a:srgbClr val="000000"/>
              </a:solidFill>
              <a:latin typeface="Arial"/>
            </a:endParaRPr>
          </a:p>
        </p:txBody>
      </p:sp>
      <p:sp>
        <p:nvSpPr>
          <p:cNvPr id="99" name="Text 10"/>
          <p:cNvSpPr/>
          <p:nvPr/>
        </p:nvSpPr>
        <p:spPr>
          <a:xfrm>
            <a:off x="10675440" y="4108320"/>
            <a:ext cx="2971080" cy="549000"/>
          </a:xfrm>
          <a:prstGeom prst="rect">
            <a:avLst/>
          </a:prstGeom>
          <a:noFill/>
          <a:ln w="0">
            <a:noFill/>
          </a:ln>
        </p:spPr>
        <p:style>
          <a:lnRef idx="0"/>
          <a:fillRef idx="0"/>
          <a:effectRef idx="0"/>
          <a:fontRef idx="minor"/>
        </p:style>
        <p:txBody>
          <a:bodyPr lIns="0" rIns="0" tIns="0" bIns="0" anchor="t">
            <a:noAutofit/>
          </a:bodyPr>
          <a:p>
            <a:pPr>
              <a:lnSpc>
                <a:spcPts val="2149"/>
              </a:lnSpc>
              <a:tabLst>
                <a:tab algn="l" pos="0"/>
              </a:tabLst>
            </a:pPr>
            <a:r>
              <a:rPr b="0" lang="en-US" sz="1500" spc="-1" strike="noStrike">
                <a:solidFill>
                  <a:srgbClr val="e2e6e9"/>
                </a:solidFill>
                <a:latin typeface="Source Sans 3"/>
                <a:ea typeface="Source Sans 3"/>
              </a:rPr>
              <a:t>Müştərinin kredit qabiliyyətinin qiymətləndirilməsi və risk analizi</a:t>
            </a:r>
            <a:endParaRPr b="0" lang="en-US" sz="1500" spc="-1" strike="noStrike">
              <a:solidFill>
                <a:srgbClr val="000000"/>
              </a:solidFill>
              <a:latin typeface="Arial"/>
            </a:endParaRPr>
          </a:p>
        </p:txBody>
      </p:sp>
      <p:sp>
        <p:nvSpPr>
          <p:cNvPr id="100" name="Shape 11"/>
          <p:cNvSpPr/>
          <p:nvPr/>
        </p:nvSpPr>
        <p:spPr>
          <a:xfrm>
            <a:off x="6881040" y="5322960"/>
            <a:ext cx="6981840" cy="1154880"/>
          </a:xfrm>
          <a:prstGeom prst="roundRect">
            <a:avLst>
              <a:gd name="adj" fmla="val 2511"/>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1" name="Text 12"/>
          <p:cNvSpPr/>
          <p:nvPr/>
        </p:nvSpPr>
        <p:spPr>
          <a:xfrm>
            <a:off x="7097400" y="5539320"/>
            <a:ext cx="2197800" cy="273600"/>
          </a:xfrm>
          <a:prstGeom prst="rect">
            <a:avLst/>
          </a:prstGeom>
          <a:noFill/>
          <a:ln w="0">
            <a:noFill/>
          </a:ln>
        </p:spPr>
        <p:style>
          <a:lnRef idx="0"/>
          <a:fillRef idx="0"/>
          <a:effectRef idx="0"/>
          <a:fontRef idx="minor"/>
        </p:style>
        <p:txBody>
          <a:bodyPr wrap="none" lIns="0" rIns="0" tIns="0" bIns="0" anchor="t">
            <a:noAutofit/>
          </a:bodyPr>
          <a:p>
            <a:pPr>
              <a:lnSpc>
                <a:spcPts val="2149"/>
              </a:lnSpc>
              <a:tabLst>
                <a:tab algn="l" pos="0"/>
              </a:tabLst>
            </a:pPr>
            <a:r>
              <a:rPr b="1" lang="en-US" sz="1700" spc="-1" strike="noStrike">
                <a:solidFill>
                  <a:srgbClr val="e2e6e9"/>
                </a:solidFill>
                <a:latin typeface="Montserrat Bold"/>
                <a:ea typeface="Montserrat Bold"/>
              </a:rPr>
              <a:t>Tibbi Diaqnostika</a:t>
            </a:r>
            <a:endParaRPr b="0" lang="en-US" sz="1700" spc="-1" strike="noStrike">
              <a:solidFill>
                <a:srgbClr val="000000"/>
              </a:solidFill>
              <a:latin typeface="Arial"/>
            </a:endParaRPr>
          </a:p>
        </p:txBody>
      </p:sp>
      <p:sp>
        <p:nvSpPr>
          <p:cNvPr id="102" name="Text 13"/>
          <p:cNvSpPr/>
          <p:nvPr/>
        </p:nvSpPr>
        <p:spPr>
          <a:xfrm>
            <a:off x="7097400" y="5987520"/>
            <a:ext cx="6549120" cy="273960"/>
          </a:xfrm>
          <a:prstGeom prst="rect">
            <a:avLst/>
          </a:prstGeom>
          <a:noFill/>
          <a:ln w="0">
            <a:noFill/>
          </a:ln>
        </p:spPr>
        <p:style>
          <a:lnRef idx="0"/>
          <a:fillRef idx="0"/>
          <a:effectRef idx="0"/>
          <a:fontRef idx="minor"/>
        </p:style>
        <p:txBody>
          <a:bodyPr wrap="none" lIns="0" rIns="0" tIns="0" bIns="0" anchor="t">
            <a:noAutofit/>
          </a:bodyPr>
          <a:p>
            <a:pPr>
              <a:lnSpc>
                <a:spcPts val="2149"/>
              </a:lnSpc>
              <a:tabLst>
                <a:tab algn="l" pos="0"/>
              </a:tabLst>
            </a:pPr>
            <a:r>
              <a:rPr b="0" lang="en-US" sz="1500" spc="-1" strike="noStrike">
                <a:solidFill>
                  <a:srgbClr val="e2e6e9"/>
                </a:solidFill>
                <a:latin typeface="Source Sans 3"/>
                <a:ea typeface="Source Sans 3"/>
              </a:rPr>
              <a:t>Simptomlar əsasında xəstəliklərin müəyyən edilməsi prosesi</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Text 0"/>
          <p:cNvSpPr/>
          <p:nvPr/>
        </p:nvSpPr>
        <p:spPr>
          <a:xfrm>
            <a:off x="2299320" y="412560"/>
            <a:ext cx="5060880" cy="396360"/>
          </a:xfrm>
          <a:prstGeom prst="rect">
            <a:avLst/>
          </a:prstGeom>
          <a:noFill/>
          <a:ln w="0">
            <a:noFill/>
          </a:ln>
        </p:spPr>
        <p:style>
          <a:lnRef idx="0"/>
          <a:fillRef idx="0"/>
          <a:effectRef idx="0"/>
          <a:fontRef idx="minor"/>
        </p:style>
        <p:txBody>
          <a:bodyPr wrap="none" lIns="0" rIns="0" tIns="0" bIns="0" anchor="t">
            <a:noAutofit/>
          </a:bodyPr>
          <a:p>
            <a:pPr>
              <a:lnSpc>
                <a:spcPts val="3101"/>
              </a:lnSpc>
              <a:tabLst>
                <a:tab algn="l" pos="0"/>
              </a:tabLst>
            </a:pPr>
            <a:r>
              <a:rPr b="1" lang="en-US" sz="2500" spc="-1" strike="noStrike">
                <a:solidFill>
                  <a:srgbClr val="ffffff"/>
                </a:solidFill>
                <a:latin typeface="Montserrat Bold"/>
                <a:ea typeface="Montserrat Bold"/>
              </a:rPr>
              <a:t>Ekspert Sistemin Arxitekturası</a:t>
            </a:r>
            <a:endParaRPr b="0" lang="en-US" sz="2500" spc="-1" strike="noStrike">
              <a:solidFill>
                <a:srgbClr val="000000"/>
              </a:solidFill>
              <a:latin typeface="Arial"/>
            </a:endParaRPr>
          </a:p>
        </p:txBody>
      </p:sp>
      <p:pic>
        <p:nvPicPr>
          <p:cNvPr id="104" name="Image 0" descr="preencoded.png"/>
          <p:cNvPicPr/>
          <p:nvPr/>
        </p:nvPicPr>
        <p:blipFill>
          <a:blip r:embed="rId1"/>
          <a:stretch/>
        </p:blipFill>
        <p:spPr>
          <a:xfrm>
            <a:off x="2299320" y="991440"/>
            <a:ext cx="10030320" cy="5652000"/>
          </a:xfrm>
          <a:prstGeom prst="rect">
            <a:avLst/>
          </a:prstGeom>
          <a:ln w="0">
            <a:noFill/>
          </a:ln>
        </p:spPr>
      </p:pic>
      <p:sp>
        <p:nvSpPr>
          <p:cNvPr id="105" name="Text 1"/>
          <p:cNvSpPr/>
          <p:nvPr/>
        </p:nvSpPr>
        <p:spPr>
          <a:xfrm>
            <a:off x="2536920" y="1481040"/>
            <a:ext cx="1856880" cy="251640"/>
          </a:xfrm>
          <a:prstGeom prst="rect">
            <a:avLst/>
          </a:prstGeom>
          <a:noFill/>
          <a:ln w="0">
            <a:noFill/>
          </a:ln>
        </p:spPr>
        <p:style>
          <a:lnRef idx="0"/>
          <a:fillRef idx="0"/>
          <a:effectRef idx="0"/>
          <a:fontRef idx="minor"/>
        </p:style>
        <p:txBody>
          <a:bodyPr wrap="none" lIns="0" rIns="0" tIns="0" bIns="0" anchor="t">
            <a:noAutofit/>
          </a:bodyPr>
          <a:p>
            <a:pPr algn="r">
              <a:lnSpc>
                <a:spcPts val="1950"/>
              </a:lnSpc>
              <a:tabLst>
                <a:tab algn="l" pos="0"/>
              </a:tabLst>
            </a:pPr>
            <a:r>
              <a:rPr b="1" lang="en-US" sz="1550" spc="-1" strike="noStrike">
                <a:solidFill>
                  <a:srgbClr val="e2e6e9"/>
                </a:solidFill>
                <a:latin typeface="Montserrat Bold"/>
                <a:ea typeface="Montserrat Bold"/>
              </a:rPr>
              <a:t>Bilik Bazası</a:t>
            </a:r>
            <a:endParaRPr b="0" lang="en-US" sz="1550" spc="-1" strike="noStrike">
              <a:solidFill>
                <a:srgbClr val="000000"/>
              </a:solidFill>
              <a:latin typeface="Arial"/>
            </a:endParaRPr>
          </a:p>
        </p:txBody>
      </p:sp>
      <p:sp>
        <p:nvSpPr>
          <p:cNvPr id="106" name="Text 2"/>
          <p:cNvSpPr/>
          <p:nvPr/>
        </p:nvSpPr>
        <p:spPr>
          <a:xfrm>
            <a:off x="2536920" y="1812960"/>
            <a:ext cx="1856880" cy="365040"/>
          </a:xfrm>
          <a:prstGeom prst="rect">
            <a:avLst/>
          </a:prstGeom>
          <a:noFill/>
          <a:ln w="0">
            <a:noFill/>
          </a:ln>
        </p:spPr>
        <p:style>
          <a:lnRef idx="0"/>
          <a:fillRef idx="0"/>
          <a:effectRef idx="0"/>
          <a:fontRef idx="minor"/>
        </p:style>
        <p:txBody>
          <a:bodyPr lIns="0" rIns="0" tIns="0" bIns="0" anchor="t">
            <a:noAutofit/>
          </a:bodyPr>
          <a:p>
            <a:pPr algn="r">
              <a:lnSpc>
                <a:spcPts val="1400"/>
              </a:lnSpc>
              <a:tabLst>
                <a:tab algn="l" pos="0"/>
              </a:tabLst>
            </a:pPr>
            <a:r>
              <a:rPr b="0" lang="en-US" sz="1400" spc="-1" strike="noStrike">
                <a:solidFill>
                  <a:srgbClr val="e2e6e9"/>
                </a:solidFill>
                <a:latin typeface="Source Sans 3"/>
                <a:ea typeface="Source Sans 3"/>
              </a:rPr>
              <a:t>Qaydalar və faktlar saxlanır</a:t>
            </a:r>
            <a:endParaRPr b="0" lang="en-US" sz="1400" spc="-1" strike="noStrike">
              <a:solidFill>
                <a:srgbClr val="000000"/>
              </a:solidFill>
              <a:latin typeface="Arial"/>
            </a:endParaRPr>
          </a:p>
        </p:txBody>
      </p:sp>
      <p:sp>
        <p:nvSpPr>
          <p:cNvPr id="107" name="Text 3"/>
          <p:cNvSpPr/>
          <p:nvPr/>
        </p:nvSpPr>
        <p:spPr>
          <a:xfrm>
            <a:off x="10245240" y="2845080"/>
            <a:ext cx="1846800" cy="504000"/>
          </a:xfrm>
          <a:prstGeom prst="rect">
            <a:avLst/>
          </a:prstGeom>
          <a:noFill/>
          <a:ln w="0">
            <a:noFill/>
          </a:ln>
        </p:spPr>
        <p:style>
          <a:lnRef idx="0"/>
          <a:fillRef idx="0"/>
          <a:effectRef idx="0"/>
          <a:fontRef idx="minor"/>
        </p:style>
        <p:txBody>
          <a:bodyPr lIns="0" rIns="0" tIns="0" bIns="0" anchor="t">
            <a:noAutofit/>
          </a:bodyPr>
          <a:p>
            <a:pPr>
              <a:lnSpc>
                <a:spcPts val="1950"/>
              </a:lnSpc>
              <a:tabLst>
                <a:tab algn="l" pos="0"/>
              </a:tabLst>
            </a:pPr>
            <a:r>
              <a:rPr b="1" lang="en-US" sz="1550" spc="-1" strike="noStrike">
                <a:solidFill>
                  <a:srgbClr val="e2e6e9"/>
                </a:solidFill>
                <a:latin typeface="Montserrat Bold"/>
                <a:ea typeface="Montserrat Bold"/>
              </a:rPr>
              <a:t>Çıxarış Mexanizmi</a:t>
            </a:r>
            <a:endParaRPr b="0" lang="en-US" sz="1550" spc="-1" strike="noStrike">
              <a:solidFill>
                <a:srgbClr val="000000"/>
              </a:solidFill>
              <a:latin typeface="Arial"/>
            </a:endParaRPr>
          </a:p>
        </p:txBody>
      </p:sp>
      <p:sp>
        <p:nvSpPr>
          <p:cNvPr id="108" name="Text 4"/>
          <p:cNvSpPr/>
          <p:nvPr/>
        </p:nvSpPr>
        <p:spPr>
          <a:xfrm>
            <a:off x="10245240" y="3429360"/>
            <a:ext cx="1846800" cy="365040"/>
          </a:xfrm>
          <a:prstGeom prst="rect">
            <a:avLst/>
          </a:prstGeom>
          <a:noFill/>
          <a:ln w="0">
            <a:noFill/>
          </a:ln>
        </p:spPr>
        <p:style>
          <a:lnRef idx="0"/>
          <a:fillRef idx="0"/>
          <a:effectRef idx="0"/>
          <a:fontRef idx="minor"/>
        </p:style>
        <p:txBody>
          <a:bodyPr lIns="0" rIns="0" tIns="0" bIns="0" anchor="t">
            <a:noAutofit/>
          </a:bodyPr>
          <a:p>
            <a:pPr>
              <a:lnSpc>
                <a:spcPts val="1400"/>
              </a:lnSpc>
              <a:tabLst>
                <a:tab algn="l" pos="0"/>
              </a:tabLst>
            </a:pPr>
            <a:r>
              <a:rPr b="0" lang="en-US" sz="1400" spc="-1" strike="noStrike">
                <a:solidFill>
                  <a:srgbClr val="e2e6e9"/>
                </a:solidFill>
                <a:latin typeface="Source Sans 3"/>
                <a:ea typeface="Source Sans 3"/>
              </a:rPr>
              <a:t>Məntiqi qaydalarla nəticə çıxarır</a:t>
            </a:r>
            <a:endParaRPr b="0" lang="en-US" sz="1400" spc="-1" strike="noStrike">
              <a:solidFill>
                <a:srgbClr val="000000"/>
              </a:solidFill>
              <a:latin typeface="Arial"/>
            </a:endParaRPr>
          </a:p>
        </p:txBody>
      </p:sp>
      <p:sp>
        <p:nvSpPr>
          <p:cNvPr id="109" name="Text 5"/>
          <p:cNvSpPr/>
          <p:nvPr/>
        </p:nvSpPr>
        <p:spPr>
          <a:xfrm>
            <a:off x="2606040" y="5368320"/>
            <a:ext cx="1787760" cy="504000"/>
          </a:xfrm>
          <a:prstGeom prst="rect">
            <a:avLst/>
          </a:prstGeom>
          <a:noFill/>
          <a:ln w="0">
            <a:noFill/>
          </a:ln>
        </p:spPr>
        <p:style>
          <a:lnRef idx="0"/>
          <a:fillRef idx="0"/>
          <a:effectRef idx="0"/>
          <a:fontRef idx="minor"/>
        </p:style>
        <p:txBody>
          <a:bodyPr lIns="0" rIns="0" tIns="0" bIns="0" anchor="t">
            <a:noAutofit/>
          </a:bodyPr>
          <a:p>
            <a:pPr algn="r">
              <a:lnSpc>
                <a:spcPts val="1950"/>
              </a:lnSpc>
              <a:tabLst>
                <a:tab algn="l" pos="0"/>
              </a:tabLst>
            </a:pPr>
            <a:r>
              <a:rPr b="1" lang="en-US" sz="1550" spc="-1" strike="noStrike">
                <a:solidFill>
                  <a:srgbClr val="e2e6e9"/>
                </a:solidFill>
                <a:latin typeface="Montserrat Bold"/>
                <a:ea typeface="Montserrat Bold"/>
              </a:rPr>
              <a:t>İstifadəçi İnterfeysi</a:t>
            </a:r>
            <a:endParaRPr b="0" lang="en-US" sz="1550" spc="-1" strike="noStrike">
              <a:solidFill>
                <a:srgbClr val="000000"/>
              </a:solidFill>
              <a:latin typeface="Arial"/>
            </a:endParaRPr>
          </a:p>
        </p:txBody>
      </p:sp>
      <p:sp>
        <p:nvSpPr>
          <p:cNvPr id="110" name="Text 6"/>
          <p:cNvSpPr/>
          <p:nvPr/>
        </p:nvSpPr>
        <p:spPr>
          <a:xfrm>
            <a:off x="2606040" y="5952600"/>
            <a:ext cx="1787760" cy="182160"/>
          </a:xfrm>
          <a:prstGeom prst="rect">
            <a:avLst/>
          </a:prstGeom>
          <a:noFill/>
          <a:ln w="0">
            <a:noFill/>
          </a:ln>
        </p:spPr>
        <p:style>
          <a:lnRef idx="0"/>
          <a:fillRef idx="0"/>
          <a:effectRef idx="0"/>
          <a:fontRef idx="minor"/>
        </p:style>
        <p:txBody>
          <a:bodyPr wrap="none" lIns="0" rIns="0" tIns="0" bIns="0" anchor="t">
            <a:noAutofit/>
          </a:bodyPr>
          <a:p>
            <a:pPr algn="r">
              <a:lnSpc>
                <a:spcPts val="1400"/>
              </a:lnSpc>
              <a:tabLst>
                <a:tab algn="l" pos="0"/>
              </a:tabLst>
            </a:pPr>
            <a:r>
              <a:rPr b="0" lang="en-US" sz="1400" spc="-1" strike="noStrike">
                <a:solidFill>
                  <a:srgbClr val="e2e6e9"/>
                </a:solidFill>
                <a:latin typeface="Source Sans 3"/>
                <a:ea typeface="Source Sans 3"/>
              </a:rPr>
              <a:t>Giriş və çıxış üçün əlaqə</a:t>
            </a:r>
            <a:endParaRPr b="0" lang="en-US" sz="1400" spc="-1" strike="noStrike">
              <a:solidFill>
                <a:srgbClr val="000000"/>
              </a:solidFill>
              <a:latin typeface="Arial"/>
            </a:endParaRPr>
          </a:p>
        </p:txBody>
      </p:sp>
      <p:sp>
        <p:nvSpPr>
          <p:cNvPr id="111" name="Text 7"/>
          <p:cNvSpPr/>
          <p:nvPr/>
        </p:nvSpPr>
        <p:spPr>
          <a:xfrm>
            <a:off x="2299320" y="6746400"/>
            <a:ext cx="10030320" cy="344520"/>
          </a:xfrm>
          <a:prstGeom prst="rect">
            <a:avLst/>
          </a:prstGeom>
          <a:noFill/>
          <a:ln w="0">
            <a:noFill/>
          </a:ln>
        </p:spPr>
        <p:style>
          <a:lnRef idx="0"/>
          <a:fillRef idx="0"/>
          <a:effectRef idx="0"/>
          <a:fontRef idx="minor"/>
        </p:style>
        <p:txBody>
          <a:bodyPr lIns="0" rIns="0" tIns="0" bIns="0" anchor="t">
            <a:noAutofit/>
          </a:bodyPr>
          <a:p>
            <a:pPr>
              <a:lnSpc>
                <a:spcPts val="1349"/>
              </a:lnSpc>
              <a:tabLst>
                <a:tab algn="l" pos="0"/>
              </a:tabLst>
            </a:pPr>
            <a:r>
              <a:rPr b="0" lang="en-US" sz="1100" spc="-1" strike="noStrike">
                <a:solidFill>
                  <a:srgbClr val="e2e6e9"/>
                </a:solidFill>
                <a:latin typeface="Source Sans 3"/>
                <a:ea typeface="Source Sans 3"/>
              </a:rPr>
              <a:t>Ekspert sisteminin işləməsi üç əsas komponentdən asılıdır. Bilik bazası ekspert biliklərini saxlayır və qaydalar əl ilə doldurulmalıdır. Çıxarış mexanizmi bu qaydaları tətbiq edərək nəticələr əldə edir. İstifadəçi interfeysi isə sistemlə ünsiyyəti təmin edir.</a:t>
            </a:r>
            <a:endParaRPr b="0" lang="en-US" sz="1100" spc="-1" strike="noStrike">
              <a:solidFill>
                <a:srgbClr val="000000"/>
              </a:solidFill>
              <a:latin typeface="Arial"/>
            </a:endParaRPr>
          </a:p>
        </p:txBody>
      </p:sp>
      <p:sp>
        <p:nvSpPr>
          <p:cNvPr id="112" name="Shape 8"/>
          <p:cNvSpPr/>
          <p:nvPr/>
        </p:nvSpPr>
        <p:spPr>
          <a:xfrm>
            <a:off x="2299320" y="7194240"/>
            <a:ext cx="10030320" cy="621720"/>
          </a:xfrm>
          <a:prstGeom prst="roundRect">
            <a:avLst>
              <a:gd name="adj" fmla="val 3371"/>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13" name="Image 1" descr="preencoded.png"/>
          <p:cNvPicPr/>
          <p:nvPr/>
        </p:nvPicPr>
        <p:blipFill>
          <a:blip r:embed="rId2"/>
          <a:stretch/>
        </p:blipFill>
        <p:spPr>
          <a:xfrm>
            <a:off x="2439360" y="7376040"/>
            <a:ext cx="173880" cy="138960"/>
          </a:xfrm>
          <a:prstGeom prst="rect">
            <a:avLst/>
          </a:prstGeom>
          <a:ln w="0">
            <a:noFill/>
          </a:ln>
        </p:spPr>
      </p:pic>
      <p:sp>
        <p:nvSpPr>
          <p:cNvPr id="114" name="Text 9"/>
          <p:cNvSpPr/>
          <p:nvPr/>
        </p:nvSpPr>
        <p:spPr>
          <a:xfrm>
            <a:off x="2754000" y="7319520"/>
            <a:ext cx="9435600" cy="344520"/>
          </a:xfrm>
          <a:prstGeom prst="rect">
            <a:avLst/>
          </a:prstGeom>
          <a:noFill/>
          <a:ln w="0">
            <a:noFill/>
          </a:ln>
        </p:spPr>
        <p:style>
          <a:lnRef idx="0"/>
          <a:fillRef idx="0"/>
          <a:effectRef idx="0"/>
          <a:fontRef idx="minor"/>
        </p:style>
        <p:txBody>
          <a:bodyPr lIns="0" rIns="0" tIns="0" bIns="0" anchor="t">
            <a:noAutofit/>
          </a:bodyPr>
          <a:p>
            <a:pPr>
              <a:lnSpc>
                <a:spcPts val="1349"/>
              </a:lnSpc>
              <a:tabLst>
                <a:tab algn="l" pos="0"/>
              </a:tabLst>
            </a:pPr>
            <a:r>
              <a:rPr b="1" lang="en-US" sz="1100" spc="-1" strike="noStrike">
                <a:solidFill>
                  <a:srgbClr val="ffffff"/>
                </a:solidFill>
                <a:latin typeface="Source Sans 3"/>
                <a:ea typeface="Source Sans 3"/>
              </a:rPr>
              <a:t>Məhdudiyyət:</a:t>
            </a:r>
            <a:r>
              <a:rPr b="0" lang="en-US" sz="1100" spc="-1" strike="noStrike">
                <a:solidFill>
                  <a:srgbClr val="ffffff"/>
                </a:solidFill>
                <a:latin typeface="Source Sans 3"/>
                <a:ea typeface="Source Sans 3"/>
              </a:rPr>
              <a:t> Ekspert sistemlərin əsas çatışmazlığı bilik bazasının yaradılmasının vaxt tələb etməsi və mütəmadi yenilənməyə ehtiyac duymasıdır. Hər yeni qaydanın əl ilə əlavə edilməsi lazımdır.</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Shape 0"/>
          <p:cNvSpPr/>
          <p:nvPr/>
        </p:nvSpPr>
        <p:spPr>
          <a:xfrm>
            <a:off x="863640" y="1020240"/>
            <a:ext cx="1910520" cy="387720"/>
          </a:xfrm>
          <a:prstGeom prst="roundRect">
            <a:avLst>
              <a:gd name="adj" fmla="val 6669"/>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16" name="Image 0" descr="preencoded.png"/>
          <p:cNvPicPr/>
          <p:nvPr/>
        </p:nvPicPr>
        <p:blipFill>
          <a:blip r:embed="rId1">
            <a:extLst>
              <a:ext uri="{96DAC541-7B7A-43D3-8B79-37D633B846F1}">
                <asvg:svgBlip xmlns:asvg="http://schemas.microsoft.com/office/drawing/2016/SVG/main" r:embed="rId2"/>
              </a:ext>
            </a:extLst>
          </a:blip>
          <a:stretch/>
        </p:blipFill>
        <p:spPr>
          <a:xfrm>
            <a:off x="993240" y="1127880"/>
            <a:ext cx="171720" cy="171720"/>
          </a:xfrm>
          <a:prstGeom prst="rect">
            <a:avLst/>
          </a:prstGeom>
          <a:ln w="0">
            <a:noFill/>
          </a:ln>
        </p:spPr>
      </p:pic>
      <p:sp>
        <p:nvSpPr>
          <p:cNvPr id="117" name="Text 1"/>
          <p:cNvSpPr/>
          <p:nvPr/>
        </p:nvSpPr>
        <p:spPr>
          <a:xfrm>
            <a:off x="1252440" y="1085040"/>
            <a:ext cx="1392120" cy="25812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350" spc="-1" strike="noStrike">
                <a:solidFill>
                  <a:srgbClr val="e2e6e9"/>
                </a:solidFill>
                <a:latin typeface="Source Sans 3"/>
                <a:ea typeface="Source Sans 3"/>
              </a:rPr>
              <a:t>MAŞIN ÖYRƏNMƏSI</a:t>
            </a:r>
            <a:endParaRPr b="0" lang="en-US" sz="1350" spc="-1" strike="noStrike">
              <a:solidFill>
                <a:srgbClr val="000000"/>
              </a:solidFill>
              <a:latin typeface="Arial"/>
            </a:endParaRPr>
          </a:p>
        </p:txBody>
      </p:sp>
      <p:sp>
        <p:nvSpPr>
          <p:cNvPr id="118" name="Text 2"/>
          <p:cNvSpPr/>
          <p:nvPr/>
        </p:nvSpPr>
        <p:spPr>
          <a:xfrm>
            <a:off x="863640" y="1495080"/>
            <a:ext cx="9563760" cy="61236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Maşın Öyrənməsi (Machine Learning)</a:t>
            </a:r>
            <a:endParaRPr b="0" lang="en-US" sz="3850" spc="-1" strike="noStrike">
              <a:solidFill>
                <a:srgbClr val="000000"/>
              </a:solidFill>
              <a:latin typeface="Arial"/>
            </a:endParaRPr>
          </a:p>
        </p:txBody>
      </p:sp>
      <p:sp>
        <p:nvSpPr>
          <p:cNvPr id="119" name="Text 3"/>
          <p:cNvSpPr/>
          <p:nvPr/>
        </p:nvSpPr>
        <p:spPr>
          <a:xfrm>
            <a:off x="863640" y="2432520"/>
            <a:ext cx="1290168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Maşın öyrənməsi məlumatlar üzərində öyrənən və öz performansını avtomatik təkmilləşdirən sistemlərdir. Ənənəvi proqramlaşdırmadan fərqli olaraq, bu sistemlər açıq qaydalar əvəzinə nümunələrdən öyrənir.</a:t>
            </a:r>
            <a:endParaRPr b="0" lang="en-US" sz="1700" spc="-1" strike="noStrike">
              <a:solidFill>
                <a:srgbClr val="000000"/>
              </a:solidFill>
              <a:latin typeface="Arial"/>
            </a:endParaRPr>
          </a:p>
        </p:txBody>
      </p:sp>
      <p:pic>
        <p:nvPicPr>
          <p:cNvPr id="120" name="Image 1" descr="preencoded.png"/>
          <p:cNvPicPr/>
          <p:nvPr/>
        </p:nvPicPr>
        <p:blipFill>
          <a:blip r:embed="rId3"/>
          <a:stretch/>
        </p:blipFill>
        <p:spPr>
          <a:xfrm>
            <a:off x="863640" y="3323160"/>
            <a:ext cx="1194120" cy="1194120"/>
          </a:xfrm>
          <a:prstGeom prst="rect">
            <a:avLst/>
          </a:prstGeom>
          <a:ln w="0">
            <a:noFill/>
          </a:ln>
        </p:spPr>
      </p:pic>
      <p:sp>
        <p:nvSpPr>
          <p:cNvPr id="121" name="Text 4"/>
          <p:cNvSpPr/>
          <p:nvPr/>
        </p:nvSpPr>
        <p:spPr>
          <a:xfrm>
            <a:off x="2328840" y="3323160"/>
            <a:ext cx="245304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Nəzarətli Öyrənmə</a:t>
            </a:r>
            <a:endParaRPr b="0" lang="en-US" sz="1900" spc="-1" strike="noStrike">
              <a:solidFill>
                <a:srgbClr val="000000"/>
              </a:solidFill>
              <a:latin typeface="Arial"/>
            </a:endParaRPr>
          </a:p>
        </p:txBody>
      </p:sp>
      <p:sp>
        <p:nvSpPr>
          <p:cNvPr id="122" name="Text 5"/>
          <p:cNvSpPr/>
          <p:nvPr/>
        </p:nvSpPr>
        <p:spPr>
          <a:xfrm>
            <a:off x="2328840" y="3759480"/>
            <a:ext cx="2655000" cy="970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Etiketlənmiş məlumatlardan öyrənir. Giriş və çıxış arasında asılılığı müəyyən edir.</a:t>
            </a:r>
            <a:endParaRPr b="0" lang="en-US" sz="1700" spc="-1" strike="noStrike">
              <a:solidFill>
                <a:srgbClr val="000000"/>
              </a:solidFill>
              <a:latin typeface="Arial"/>
            </a:endParaRPr>
          </a:p>
        </p:txBody>
      </p:sp>
      <p:sp>
        <p:nvSpPr>
          <p:cNvPr id="123" name="Text 6"/>
          <p:cNvSpPr/>
          <p:nvPr/>
        </p:nvSpPr>
        <p:spPr>
          <a:xfrm>
            <a:off x="2328840" y="5221080"/>
            <a:ext cx="265500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i="1" lang="en-US" sz="1700" spc="-1" strike="noStrike">
                <a:solidFill>
                  <a:srgbClr val="e2e6e9"/>
                </a:solidFill>
                <a:latin typeface="Source Sans 3"/>
                <a:ea typeface="Source Sans 3"/>
              </a:rPr>
              <a:t>Tətbiq:</a:t>
            </a:r>
            <a:r>
              <a:rPr b="0" lang="en-US" sz="1700" spc="-1" strike="noStrike">
                <a:solidFill>
                  <a:srgbClr val="e2e6e9"/>
                </a:solidFill>
                <a:latin typeface="Source Sans 3"/>
                <a:ea typeface="Source Sans 3"/>
              </a:rPr>
              <a:t> Spam filtrləri, qiymət proqnozu</a:t>
            </a:r>
            <a:endParaRPr b="0" lang="en-US" sz="1700" spc="-1" strike="noStrike">
              <a:solidFill>
                <a:srgbClr val="000000"/>
              </a:solidFill>
              <a:latin typeface="Arial"/>
            </a:endParaRPr>
          </a:p>
        </p:txBody>
      </p:sp>
      <p:pic>
        <p:nvPicPr>
          <p:cNvPr id="124" name="Image 2" descr="preencoded.png"/>
          <p:cNvPicPr/>
          <p:nvPr/>
        </p:nvPicPr>
        <p:blipFill>
          <a:blip r:embed="rId4"/>
          <a:stretch/>
        </p:blipFill>
        <p:spPr>
          <a:xfrm>
            <a:off x="5254560" y="3323160"/>
            <a:ext cx="1194120" cy="1194120"/>
          </a:xfrm>
          <a:prstGeom prst="rect">
            <a:avLst/>
          </a:prstGeom>
          <a:ln w="0">
            <a:noFill/>
          </a:ln>
        </p:spPr>
      </p:pic>
      <p:sp>
        <p:nvSpPr>
          <p:cNvPr id="125" name="Text 7"/>
          <p:cNvSpPr/>
          <p:nvPr/>
        </p:nvSpPr>
        <p:spPr>
          <a:xfrm>
            <a:off x="6719760" y="3323160"/>
            <a:ext cx="2600640" cy="3056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Nəzarətsiz Öyrənmə</a:t>
            </a:r>
            <a:endParaRPr b="0" lang="en-US" sz="1900" spc="-1" strike="noStrike">
              <a:solidFill>
                <a:srgbClr val="000000"/>
              </a:solidFill>
              <a:latin typeface="Arial"/>
            </a:endParaRPr>
          </a:p>
        </p:txBody>
      </p:sp>
      <p:sp>
        <p:nvSpPr>
          <p:cNvPr id="126" name="Text 8"/>
          <p:cNvSpPr/>
          <p:nvPr/>
        </p:nvSpPr>
        <p:spPr>
          <a:xfrm>
            <a:off x="6719760" y="3759480"/>
            <a:ext cx="2655000" cy="970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Etiket olmadan məlumatlarda strukturlar və nümunələr axtarır.</a:t>
            </a:r>
            <a:endParaRPr b="0" lang="en-US" sz="1700" spc="-1" strike="noStrike">
              <a:solidFill>
                <a:srgbClr val="000000"/>
              </a:solidFill>
              <a:latin typeface="Arial"/>
            </a:endParaRPr>
          </a:p>
        </p:txBody>
      </p:sp>
      <p:sp>
        <p:nvSpPr>
          <p:cNvPr id="127" name="Text 9"/>
          <p:cNvSpPr/>
          <p:nvPr/>
        </p:nvSpPr>
        <p:spPr>
          <a:xfrm>
            <a:off x="6719760" y="4861080"/>
            <a:ext cx="2655000" cy="970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i="1" lang="en-US" sz="1700" spc="-1" strike="noStrike">
                <a:solidFill>
                  <a:srgbClr val="e2e6e9"/>
                </a:solidFill>
                <a:latin typeface="Source Sans 3"/>
                <a:ea typeface="Source Sans 3"/>
              </a:rPr>
              <a:t>Tətbiq:</a:t>
            </a:r>
            <a:r>
              <a:rPr b="0" lang="en-US" sz="1700" spc="-1" strike="noStrike">
                <a:solidFill>
                  <a:srgbClr val="e2e6e9"/>
                </a:solidFill>
                <a:latin typeface="Source Sans 3"/>
                <a:ea typeface="Source Sans 3"/>
              </a:rPr>
              <a:t> Müştəri seqmentləşdirməsi, anomaliyaların aşkarlanması</a:t>
            </a:r>
            <a:endParaRPr b="0" lang="en-US" sz="1700" spc="-1" strike="noStrike">
              <a:solidFill>
                <a:srgbClr val="000000"/>
              </a:solidFill>
              <a:latin typeface="Arial"/>
            </a:endParaRPr>
          </a:p>
        </p:txBody>
      </p:sp>
      <p:pic>
        <p:nvPicPr>
          <p:cNvPr id="128" name="Image 3" descr="preencoded.png"/>
          <p:cNvPicPr/>
          <p:nvPr/>
        </p:nvPicPr>
        <p:blipFill>
          <a:blip r:embed="rId5"/>
          <a:stretch/>
        </p:blipFill>
        <p:spPr>
          <a:xfrm>
            <a:off x="9645480" y="3323160"/>
            <a:ext cx="1194120" cy="1194120"/>
          </a:xfrm>
          <a:prstGeom prst="rect">
            <a:avLst/>
          </a:prstGeom>
          <a:ln w="0">
            <a:noFill/>
          </a:ln>
        </p:spPr>
      </p:pic>
      <p:sp>
        <p:nvSpPr>
          <p:cNvPr id="129" name="Text 10"/>
          <p:cNvSpPr/>
          <p:nvPr/>
        </p:nvSpPr>
        <p:spPr>
          <a:xfrm>
            <a:off x="11110680" y="3323160"/>
            <a:ext cx="2655000" cy="6123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Möhkəmləndirmə ilə Öyrənmə</a:t>
            </a:r>
            <a:endParaRPr b="0" lang="en-US" sz="1900" spc="-1" strike="noStrike">
              <a:solidFill>
                <a:srgbClr val="000000"/>
              </a:solidFill>
              <a:latin typeface="Arial"/>
            </a:endParaRPr>
          </a:p>
        </p:txBody>
      </p:sp>
      <p:sp>
        <p:nvSpPr>
          <p:cNvPr id="130" name="Text 11"/>
          <p:cNvSpPr/>
          <p:nvPr/>
        </p:nvSpPr>
        <p:spPr>
          <a:xfrm>
            <a:off x="11110680" y="4066200"/>
            <a:ext cx="2655000" cy="970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Mükafat və cəza sistemi vasitəsilə optimal strategiya öyrənir.</a:t>
            </a:r>
            <a:endParaRPr b="0" lang="en-US" sz="1700" spc="-1" strike="noStrike">
              <a:solidFill>
                <a:srgbClr val="000000"/>
              </a:solidFill>
              <a:latin typeface="Arial"/>
            </a:endParaRPr>
          </a:p>
        </p:txBody>
      </p:sp>
      <p:sp>
        <p:nvSpPr>
          <p:cNvPr id="131" name="Text 12"/>
          <p:cNvSpPr/>
          <p:nvPr/>
        </p:nvSpPr>
        <p:spPr>
          <a:xfrm>
            <a:off x="11110680" y="5167800"/>
            <a:ext cx="265500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i="1" lang="en-US" sz="1700" spc="-1" strike="noStrike">
                <a:solidFill>
                  <a:srgbClr val="e2e6e9"/>
                </a:solidFill>
                <a:latin typeface="Source Sans 3"/>
                <a:ea typeface="Source Sans 3"/>
              </a:rPr>
              <a:t>Tətbiq:</a:t>
            </a:r>
            <a:r>
              <a:rPr b="0" lang="en-US" sz="1700" spc="-1" strike="noStrike">
                <a:solidFill>
                  <a:srgbClr val="e2e6e9"/>
                </a:solidFill>
                <a:latin typeface="Source Sans 3"/>
                <a:ea typeface="Source Sans 3"/>
              </a:rPr>
              <a:t> Oyun AI, robotların idarə edilməsi</a:t>
            </a:r>
            <a:endParaRPr b="0" lang="en-US" sz="1700" spc="-1" strike="noStrike">
              <a:solidFill>
                <a:srgbClr val="000000"/>
              </a:solidFill>
              <a:latin typeface="Arial"/>
            </a:endParaRPr>
          </a:p>
        </p:txBody>
      </p:sp>
      <p:sp>
        <p:nvSpPr>
          <p:cNvPr id="132" name="Text 13"/>
          <p:cNvSpPr/>
          <p:nvPr/>
        </p:nvSpPr>
        <p:spPr>
          <a:xfrm>
            <a:off x="1187640" y="6318720"/>
            <a:ext cx="12578040" cy="64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1" lang="en-US" sz="1700" spc="-1" strike="noStrike">
                <a:solidFill>
                  <a:srgbClr val="e2e6e9"/>
                </a:solidFill>
                <a:latin typeface="Source Sans 3"/>
                <a:ea typeface="Source Sans 3"/>
              </a:rPr>
              <a:t>İdarəetmədə istifadə nümunəsi:</a:t>
            </a:r>
            <a:r>
              <a:rPr b="0" lang="en-US" sz="1700" spc="-1" strike="noStrike">
                <a:solidFill>
                  <a:srgbClr val="e2e6e9"/>
                </a:solidFill>
                <a:latin typeface="Source Sans 3"/>
                <a:ea typeface="Source Sans 3"/>
              </a:rPr>
              <a:t> Müştəri itkisi proqnozu - hansı müştərilərin şirkəti tərk edə biləcəyini əvvəlcədən müəyyən etmək üçün keçmiş davranış məlumatlarından istifadə edilir.</a:t>
            </a:r>
            <a:endParaRPr b="0" lang="en-US" sz="1700" spc="-1" strike="noStrike">
              <a:solidFill>
                <a:srgbClr val="000000"/>
              </a:solidFill>
              <a:latin typeface="Arial"/>
            </a:endParaRPr>
          </a:p>
        </p:txBody>
      </p:sp>
      <p:sp>
        <p:nvSpPr>
          <p:cNvPr id="133" name="Shape 14"/>
          <p:cNvSpPr/>
          <p:nvPr/>
        </p:nvSpPr>
        <p:spPr>
          <a:xfrm>
            <a:off x="863640" y="6075720"/>
            <a:ext cx="29520" cy="113256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Text 0"/>
          <p:cNvSpPr/>
          <p:nvPr/>
        </p:nvSpPr>
        <p:spPr>
          <a:xfrm>
            <a:off x="1601280" y="474840"/>
            <a:ext cx="6060240" cy="451800"/>
          </a:xfrm>
          <a:prstGeom prst="rect">
            <a:avLst/>
          </a:prstGeom>
          <a:noFill/>
          <a:ln w="0">
            <a:noFill/>
          </a:ln>
        </p:spPr>
        <p:style>
          <a:lnRef idx="0"/>
          <a:fillRef idx="0"/>
          <a:effectRef idx="0"/>
          <a:fontRef idx="minor"/>
        </p:style>
        <p:txBody>
          <a:bodyPr wrap="none" lIns="0" rIns="0" tIns="0" bIns="0" anchor="t">
            <a:noAutofit/>
          </a:bodyPr>
          <a:p>
            <a:pPr>
              <a:lnSpc>
                <a:spcPts val="3549"/>
              </a:lnSpc>
              <a:tabLst>
                <a:tab algn="l" pos="0"/>
              </a:tabLst>
            </a:pPr>
            <a:r>
              <a:rPr b="1" lang="en-US" sz="2850" spc="-1" strike="noStrike">
                <a:solidFill>
                  <a:srgbClr val="ffffff"/>
                </a:solidFill>
                <a:latin typeface="Montserrat Bold"/>
                <a:ea typeface="Montserrat Bold"/>
              </a:rPr>
              <a:t>Dərin Öyrənmə (Deep Learning)</a:t>
            </a:r>
            <a:endParaRPr b="0" lang="en-US" sz="2850" spc="-1" strike="noStrike">
              <a:solidFill>
                <a:srgbClr val="000000"/>
              </a:solidFill>
              <a:latin typeface="Arial"/>
            </a:endParaRPr>
          </a:p>
        </p:txBody>
      </p:sp>
      <p:sp>
        <p:nvSpPr>
          <p:cNvPr id="135" name="Text 1"/>
          <p:cNvSpPr/>
          <p:nvPr/>
        </p:nvSpPr>
        <p:spPr>
          <a:xfrm>
            <a:off x="1601280" y="1221840"/>
            <a:ext cx="4818240" cy="27072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1" lang="en-US" sz="1700" spc="-1" strike="noStrike">
                <a:solidFill>
                  <a:srgbClr val="ffffff"/>
                </a:solidFill>
                <a:latin typeface="Montserrat Bold"/>
                <a:ea typeface="Montserrat Bold"/>
              </a:rPr>
              <a:t>Neyron Şəbəkələrə Əsaslanan Texnologiya</a:t>
            </a:r>
            <a:endParaRPr b="0" lang="en-US" sz="1700" spc="-1" strike="noStrike">
              <a:solidFill>
                <a:srgbClr val="000000"/>
              </a:solidFill>
              <a:latin typeface="Arial"/>
            </a:endParaRPr>
          </a:p>
        </p:txBody>
      </p:sp>
      <p:sp>
        <p:nvSpPr>
          <p:cNvPr id="136" name="Text 2"/>
          <p:cNvSpPr/>
          <p:nvPr/>
        </p:nvSpPr>
        <p:spPr>
          <a:xfrm>
            <a:off x="1601280" y="1611000"/>
            <a:ext cx="6109200" cy="622080"/>
          </a:xfrm>
          <a:prstGeom prst="rect">
            <a:avLst/>
          </a:prstGeom>
          <a:noFill/>
          <a:ln w="0">
            <a:noFill/>
          </a:ln>
        </p:spPr>
        <p:style>
          <a:lnRef idx="0"/>
          <a:fillRef idx="0"/>
          <a:effectRef idx="0"/>
          <a:fontRef idx="minor"/>
        </p:style>
        <p:txBody>
          <a:bodyPr lIns="0" rIns="0" tIns="0" bIns="0" anchor="t">
            <a:noAutofit/>
          </a:bodyPr>
          <a:p>
            <a:pPr>
              <a:lnSpc>
                <a:spcPts val="1599"/>
              </a:lnSpc>
              <a:tabLst>
                <a:tab algn="l" pos="0"/>
              </a:tabLst>
            </a:pPr>
            <a:r>
              <a:rPr b="0" lang="en-US" sz="1250" spc="-1" strike="noStrike">
                <a:solidFill>
                  <a:srgbClr val="e2e6e9"/>
                </a:solidFill>
                <a:latin typeface="Source Sans 3"/>
                <a:ea typeface="Source Sans 3"/>
              </a:rPr>
              <a:t>Dərin öyrənmə maşın öyrənməsinin inkişaf etmiş formasıdır və insan beyninin neyron strukturunu təqlid edən çoxqatlı şəbəkələrdən istifadə edir. Bu metodun əsas üstünlüyü böyük həcmli məlumatlarla işləməkdə yüksək effektivlikdir.</a:t>
            </a:r>
            <a:endParaRPr b="0" lang="en-US" sz="1250" spc="-1" strike="noStrike">
              <a:solidFill>
                <a:srgbClr val="000000"/>
              </a:solidFill>
              <a:latin typeface="Arial"/>
            </a:endParaRPr>
          </a:p>
        </p:txBody>
      </p:sp>
      <p:sp>
        <p:nvSpPr>
          <p:cNvPr id="137" name="Shape 3"/>
          <p:cNvSpPr/>
          <p:nvPr/>
        </p:nvSpPr>
        <p:spPr>
          <a:xfrm>
            <a:off x="1578240" y="2343600"/>
            <a:ext cx="44640" cy="804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8" name="Text 4"/>
          <p:cNvSpPr/>
          <p:nvPr/>
        </p:nvSpPr>
        <p:spPr>
          <a:xfrm>
            <a:off x="1806120" y="2366640"/>
            <a:ext cx="1909440" cy="225360"/>
          </a:xfrm>
          <a:prstGeom prst="rect">
            <a:avLst/>
          </a:prstGeom>
          <a:noFill/>
          <a:ln w="0">
            <a:noFill/>
          </a:ln>
        </p:spPr>
        <p:style>
          <a:lnRef idx="0"/>
          <a:fillRef idx="0"/>
          <a:effectRef idx="0"/>
          <a:fontRef idx="minor"/>
        </p:style>
        <p:txBody>
          <a:bodyPr wrap="none" lIns="0" rIns="0" tIns="0" bIns="0" anchor="t">
            <a:noAutofit/>
          </a:bodyPr>
          <a:p>
            <a:pPr>
              <a:lnSpc>
                <a:spcPts val="1749"/>
              </a:lnSpc>
              <a:tabLst>
                <a:tab algn="l" pos="0"/>
              </a:tabLst>
            </a:pPr>
            <a:r>
              <a:rPr b="1" lang="en-US" sz="1400" spc="-1" strike="noStrike">
                <a:solidFill>
                  <a:srgbClr val="e2e6e9"/>
                </a:solidFill>
                <a:latin typeface="Montserrat Bold"/>
                <a:ea typeface="Montserrat Bold"/>
              </a:rPr>
              <a:t>Şəkillərin Tanınması</a:t>
            </a:r>
            <a:endParaRPr b="0" lang="en-US" sz="1400" spc="-1" strike="noStrike">
              <a:solidFill>
                <a:srgbClr val="000000"/>
              </a:solidFill>
              <a:latin typeface="Arial"/>
            </a:endParaRPr>
          </a:p>
        </p:txBody>
      </p:sp>
      <p:sp>
        <p:nvSpPr>
          <p:cNvPr id="139" name="Text 5"/>
          <p:cNvSpPr/>
          <p:nvPr/>
        </p:nvSpPr>
        <p:spPr>
          <a:xfrm>
            <a:off x="1806120" y="2710440"/>
            <a:ext cx="5904000" cy="414360"/>
          </a:xfrm>
          <a:prstGeom prst="rect">
            <a:avLst/>
          </a:prstGeom>
          <a:noFill/>
          <a:ln w="0">
            <a:noFill/>
          </a:ln>
        </p:spPr>
        <p:style>
          <a:lnRef idx="0"/>
          <a:fillRef idx="0"/>
          <a:effectRef idx="0"/>
          <a:fontRef idx="minor"/>
        </p:style>
        <p:txBody>
          <a:bodyPr lIns="0" rIns="0" tIns="0" bIns="0" anchor="t">
            <a:noAutofit/>
          </a:bodyPr>
          <a:p>
            <a:pPr>
              <a:lnSpc>
                <a:spcPts val="1599"/>
              </a:lnSpc>
              <a:tabLst>
                <a:tab algn="l" pos="0"/>
              </a:tabLst>
            </a:pPr>
            <a:r>
              <a:rPr b="0" lang="en-US" sz="1250" spc="-1" strike="noStrike">
                <a:solidFill>
                  <a:srgbClr val="e2e6e9"/>
                </a:solidFill>
                <a:latin typeface="Source Sans 3"/>
                <a:ea typeface="Source Sans 3"/>
              </a:rPr>
              <a:t>Üz tanıma, obyektlərin təsnifatı, tibbi şəkillərin analizi. Dəqiqlik dərəcəsi 95%-dən yuxarıdır.</a:t>
            </a:r>
            <a:endParaRPr b="0" lang="en-US" sz="1250" spc="-1" strike="noStrike">
              <a:solidFill>
                <a:srgbClr val="000000"/>
              </a:solidFill>
              <a:latin typeface="Arial"/>
            </a:endParaRPr>
          </a:p>
        </p:txBody>
      </p:sp>
      <p:sp>
        <p:nvSpPr>
          <p:cNvPr id="140" name="Shape 6"/>
          <p:cNvSpPr/>
          <p:nvPr/>
        </p:nvSpPr>
        <p:spPr>
          <a:xfrm>
            <a:off x="1578240" y="3338640"/>
            <a:ext cx="44640" cy="8042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1" name="Text 7"/>
          <p:cNvSpPr/>
          <p:nvPr/>
        </p:nvSpPr>
        <p:spPr>
          <a:xfrm>
            <a:off x="1806120" y="3361320"/>
            <a:ext cx="1810440" cy="225360"/>
          </a:xfrm>
          <a:prstGeom prst="rect">
            <a:avLst/>
          </a:prstGeom>
          <a:noFill/>
          <a:ln w="0">
            <a:noFill/>
          </a:ln>
        </p:spPr>
        <p:style>
          <a:lnRef idx="0"/>
          <a:fillRef idx="0"/>
          <a:effectRef idx="0"/>
          <a:fontRef idx="minor"/>
        </p:style>
        <p:txBody>
          <a:bodyPr wrap="none" lIns="0" rIns="0" tIns="0" bIns="0" anchor="t">
            <a:noAutofit/>
          </a:bodyPr>
          <a:p>
            <a:pPr>
              <a:lnSpc>
                <a:spcPts val="1749"/>
              </a:lnSpc>
              <a:tabLst>
                <a:tab algn="l" pos="0"/>
              </a:tabLst>
            </a:pPr>
            <a:r>
              <a:rPr b="1" lang="en-US" sz="1400" spc="-1" strike="noStrike">
                <a:solidFill>
                  <a:srgbClr val="e2e6e9"/>
                </a:solidFill>
                <a:latin typeface="Montserrat Bold"/>
                <a:ea typeface="Montserrat Bold"/>
              </a:rPr>
              <a:t>Səsin Tanınması</a:t>
            </a:r>
            <a:endParaRPr b="0" lang="en-US" sz="1400" spc="-1" strike="noStrike">
              <a:solidFill>
                <a:srgbClr val="000000"/>
              </a:solidFill>
              <a:latin typeface="Arial"/>
            </a:endParaRPr>
          </a:p>
        </p:txBody>
      </p:sp>
      <p:sp>
        <p:nvSpPr>
          <p:cNvPr id="142" name="Text 8"/>
          <p:cNvSpPr/>
          <p:nvPr/>
        </p:nvSpPr>
        <p:spPr>
          <a:xfrm>
            <a:off x="1806120" y="3705480"/>
            <a:ext cx="5904000" cy="414360"/>
          </a:xfrm>
          <a:prstGeom prst="rect">
            <a:avLst/>
          </a:prstGeom>
          <a:noFill/>
          <a:ln w="0">
            <a:noFill/>
          </a:ln>
        </p:spPr>
        <p:style>
          <a:lnRef idx="0"/>
          <a:fillRef idx="0"/>
          <a:effectRef idx="0"/>
          <a:fontRef idx="minor"/>
        </p:style>
        <p:txBody>
          <a:bodyPr lIns="0" rIns="0" tIns="0" bIns="0" anchor="t">
            <a:noAutofit/>
          </a:bodyPr>
          <a:p>
            <a:pPr>
              <a:lnSpc>
                <a:spcPts val="1599"/>
              </a:lnSpc>
              <a:tabLst>
                <a:tab algn="l" pos="0"/>
              </a:tabLst>
            </a:pPr>
            <a:r>
              <a:rPr b="0" lang="en-US" sz="1250" spc="-1" strike="noStrike">
                <a:solidFill>
                  <a:srgbClr val="e2e6e9"/>
                </a:solidFill>
                <a:latin typeface="Source Sans 3"/>
                <a:ea typeface="Source Sans 3"/>
              </a:rPr>
              <a:t>Nitq-mətn çevrilməsi, səs əmrləri, simulate tərcümə sistemləri. Real vaxt rejimində işləyir.</a:t>
            </a:r>
            <a:endParaRPr b="0" lang="en-US" sz="1250" spc="-1" strike="noStrike">
              <a:solidFill>
                <a:srgbClr val="000000"/>
              </a:solidFill>
              <a:latin typeface="Arial"/>
            </a:endParaRPr>
          </a:p>
        </p:txBody>
      </p:sp>
      <p:sp>
        <p:nvSpPr>
          <p:cNvPr id="143" name="Shape 9"/>
          <p:cNvSpPr/>
          <p:nvPr/>
        </p:nvSpPr>
        <p:spPr>
          <a:xfrm>
            <a:off x="1578240" y="4333320"/>
            <a:ext cx="44640" cy="59652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4" name="Text 10"/>
          <p:cNvSpPr/>
          <p:nvPr/>
        </p:nvSpPr>
        <p:spPr>
          <a:xfrm>
            <a:off x="1806120" y="4356000"/>
            <a:ext cx="1895040" cy="225360"/>
          </a:xfrm>
          <a:prstGeom prst="rect">
            <a:avLst/>
          </a:prstGeom>
          <a:noFill/>
          <a:ln w="0">
            <a:noFill/>
          </a:ln>
        </p:spPr>
        <p:style>
          <a:lnRef idx="0"/>
          <a:fillRef idx="0"/>
          <a:effectRef idx="0"/>
          <a:fontRef idx="minor"/>
        </p:style>
        <p:txBody>
          <a:bodyPr wrap="none" lIns="0" rIns="0" tIns="0" bIns="0" anchor="t">
            <a:noAutofit/>
          </a:bodyPr>
          <a:p>
            <a:pPr>
              <a:lnSpc>
                <a:spcPts val="1749"/>
              </a:lnSpc>
              <a:tabLst>
                <a:tab algn="l" pos="0"/>
              </a:tabLst>
            </a:pPr>
            <a:r>
              <a:rPr b="1" lang="en-US" sz="1400" spc="-1" strike="noStrike">
                <a:solidFill>
                  <a:srgbClr val="e2e6e9"/>
                </a:solidFill>
                <a:latin typeface="Montserrat Bold"/>
                <a:ea typeface="Montserrat Bold"/>
              </a:rPr>
              <a:t>Təbii Dilin İşlənməsi</a:t>
            </a:r>
            <a:endParaRPr b="0" lang="en-US" sz="1400" spc="-1" strike="noStrike">
              <a:solidFill>
                <a:srgbClr val="000000"/>
              </a:solidFill>
              <a:latin typeface="Arial"/>
            </a:endParaRPr>
          </a:p>
        </p:txBody>
      </p:sp>
      <p:sp>
        <p:nvSpPr>
          <p:cNvPr id="145" name="Text 11"/>
          <p:cNvSpPr/>
          <p:nvPr/>
        </p:nvSpPr>
        <p:spPr>
          <a:xfrm>
            <a:off x="1806120" y="4700160"/>
            <a:ext cx="5904000" cy="20664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b="0" lang="en-US" sz="1250" spc="-1" strike="noStrike">
                <a:solidFill>
                  <a:srgbClr val="e2e6e9"/>
                </a:solidFill>
                <a:latin typeface="Source Sans 3"/>
                <a:ea typeface="Source Sans 3"/>
              </a:rPr>
              <a:t>Mətn analizi, sentiment təyini, avtomatik məzmun yaradılması. Konteksti başa düşür.</a:t>
            </a:r>
            <a:endParaRPr b="0" lang="en-US" sz="1250" spc="-1" strike="noStrike">
              <a:solidFill>
                <a:srgbClr val="000000"/>
              </a:solidFill>
              <a:latin typeface="Arial"/>
            </a:endParaRPr>
          </a:p>
        </p:txBody>
      </p:sp>
      <p:pic>
        <p:nvPicPr>
          <p:cNvPr id="146" name="Image 0" descr="preencoded.png"/>
          <p:cNvPicPr/>
          <p:nvPr/>
        </p:nvPicPr>
        <p:blipFill>
          <a:blip r:embed="rId1"/>
          <a:stretch/>
        </p:blipFill>
        <p:spPr>
          <a:xfrm>
            <a:off x="8107920" y="1236240"/>
            <a:ext cx="4927680" cy="4927680"/>
          </a:xfrm>
          <a:prstGeom prst="rect">
            <a:avLst/>
          </a:prstGeom>
          <a:ln w="0">
            <a:noFill/>
          </a:ln>
        </p:spPr>
      </p:pic>
      <p:sp>
        <p:nvSpPr>
          <p:cNvPr id="147" name="Text 12"/>
          <p:cNvSpPr/>
          <p:nvPr/>
        </p:nvSpPr>
        <p:spPr>
          <a:xfrm>
            <a:off x="8107920" y="6377040"/>
            <a:ext cx="2389680" cy="524880"/>
          </a:xfrm>
          <a:prstGeom prst="rect">
            <a:avLst/>
          </a:prstGeom>
          <a:noFill/>
          <a:ln w="0">
            <a:noFill/>
          </a:ln>
        </p:spPr>
        <p:style>
          <a:lnRef idx="0"/>
          <a:fillRef idx="0"/>
          <a:effectRef idx="0"/>
          <a:fontRef idx="minor"/>
        </p:style>
        <p:txBody>
          <a:bodyPr wrap="none" lIns="0" rIns="0" tIns="0" bIns="0" anchor="t">
            <a:noAutofit/>
          </a:bodyPr>
          <a:p>
            <a:pPr algn="ctr">
              <a:lnSpc>
                <a:spcPts val="4099"/>
              </a:lnSpc>
              <a:tabLst>
                <a:tab algn="l" pos="0"/>
              </a:tabLst>
            </a:pPr>
            <a:r>
              <a:rPr b="1" lang="en-US" sz="4100" spc="-1" strike="noStrike">
                <a:solidFill>
                  <a:srgbClr val="e2e6e9"/>
                </a:solidFill>
                <a:latin typeface="Montserrat Bold"/>
                <a:ea typeface="Montserrat Bold"/>
              </a:rPr>
              <a:t>98%</a:t>
            </a:r>
            <a:endParaRPr b="0" lang="en-US" sz="4100" spc="-1" strike="noStrike">
              <a:solidFill>
                <a:srgbClr val="000000"/>
              </a:solidFill>
              <a:latin typeface="Arial"/>
            </a:endParaRPr>
          </a:p>
        </p:txBody>
      </p:sp>
      <p:sp>
        <p:nvSpPr>
          <p:cNvPr id="148" name="Text 13"/>
          <p:cNvSpPr/>
          <p:nvPr/>
        </p:nvSpPr>
        <p:spPr>
          <a:xfrm>
            <a:off x="8397720" y="7070760"/>
            <a:ext cx="1810440" cy="225360"/>
          </a:xfrm>
          <a:prstGeom prst="rect">
            <a:avLst/>
          </a:prstGeom>
          <a:noFill/>
          <a:ln w="0">
            <a:noFill/>
          </a:ln>
        </p:spPr>
        <p:style>
          <a:lnRef idx="0"/>
          <a:fillRef idx="0"/>
          <a:effectRef idx="0"/>
          <a:fontRef idx="minor"/>
        </p:style>
        <p:txBody>
          <a:bodyPr wrap="none" lIns="0" rIns="0" tIns="0" bIns="0" anchor="t">
            <a:noAutofit/>
          </a:bodyPr>
          <a:p>
            <a:pPr algn="ctr">
              <a:lnSpc>
                <a:spcPts val="1749"/>
              </a:lnSpc>
              <a:tabLst>
                <a:tab algn="l" pos="0"/>
              </a:tabLst>
            </a:pPr>
            <a:r>
              <a:rPr b="1" lang="en-US" sz="1400" spc="-1" strike="noStrike">
                <a:solidFill>
                  <a:srgbClr val="e2e6e9"/>
                </a:solidFill>
                <a:latin typeface="Montserrat Bold"/>
                <a:ea typeface="Montserrat Bold"/>
              </a:rPr>
              <a:t>Dəqiqlik</a:t>
            </a:r>
            <a:endParaRPr b="0" lang="en-US" sz="1400" spc="-1" strike="noStrike">
              <a:solidFill>
                <a:srgbClr val="000000"/>
              </a:solidFill>
              <a:latin typeface="Arial"/>
            </a:endParaRPr>
          </a:p>
        </p:txBody>
      </p:sp>
      <p:sp>
        <p:nvSpPr>
          <p:cNvPr id="149" name="Text 14"/>
          <p:cNvSpPr/>
          <p:nvPr/>
        </p:nvSpPr>
        <p:spPr>
          <a:xfrm>
            <a:off x="8107920" y="7414560"/>
            <a:ext cx="2389680" cy="206640"/>
          </a:xfrm>
          <a:prstGeom prst="rect">
            <a:avLst/>
          </a:prstGeom>
          <a:noFill/>
          <a:ln w="0">
            <a:noFill/>
          </a:ln>
        </p:spPr>
        <p:style>
          <a:lnRef idx="0"/>
          <a:fillRef idx="0"/>
          <a:effectRef idx="0"/>
          <a:fontRef idx="minor"/>
        </p:style>
        <p:txBody>
          <a:bodyPr wrap="none" lIns="0" rIns="0" tIns="0" bIns="0" anchor="t">
            <a:noAutofit/>
          </a:bodyPr>
          <a:p>
            <a:pPr algn="ctr">
              <a:lnSpc>
                <a:spcPts val="1599"/>
              </a:lnSpc>
              <a:tabLst>
                <a:tab algn="l" pos="0"/>
              </a:tabLst>
            </a:pPr>
            <a:r>
              <a:rPr b="0" lang="en-US" sz="1250" spc="-1" strike="noStrike">
                <a:solidFill>
                  <a:srgbClr val="e2e6e9"/>
                </a:solidFill>
                <a:latin typeface="Source Sans 3"/>
                <a:ea typeface="Source Sans 3"/>
              </a:rPr>
              <a:t>Şəkil tanımada</a:t>
            </a:r>
            <a:endParaRPr b="0" lang="en-US" sz="1250" spc="-1" strike="noStrike">
              <a:solidFill>
                <a:srgbClr val="000000"/>
              </a:solidFill>
              <a:latin typeface="Arial"/>
            </a:endParaRPr>
          </a:p>
        </p:txBody>
      </p:sp>
      <p:sp>
        <p:nvSpPr>
          <p:cNvPr id="150" name="Text 15"/>
          <p:cNvSpPr/>
          <p:nvPr/>
        </p:nvSpPr>
        <p:spPr>
          <a:xfrm>
            <a:off x="10645560" y="6377040"/>
            <a:ext cx="2389680" cy="524880"/>
          </a:xfrm>
          <a:prstGeom prst="rect">
            <a:avLst/>
          </a:prstGeom>
          <a:noFill/>
          <a:ln w="0">
            <a:noFill/>
          </a:ln>
        </p:spPr>
        <p:style>
          <a:lnRef idx="0"/>
          <a:fillRef idx="0"/>
          <a:effectRef idx="0"/>
          <a:fontRef idx="minor"/>
        </p:style>
        <p:txBody>
          <a:bodyPr wrap="none" lIns="0" rIns="0" tIns="0" bIns="0" anchor="t">
            <a:noAutofit/>
          </a:bodyPr>
          <a:p>
            <a:pPr algn="ctr">
              <a:lnSpc>
                <a:spcPts val="4099"/>
              </a:lnSpc>
              <a:tabLst>
                <a:tab algn="l" pos="0"/>
              </a:tabLst>
            </a:pPr>
            <a:r>
              <a:rPr b="1" lang="en-US" sz="4100" spc="-1" strike="noStrike">
                <a:solidFill>
                  <a:srgbClr val="e2e6e9"/>
                </a:solidFill>
                <a:latin typeface="Montserrat Bold"/>
                <a:ea typeface="Montserrat Bold"/>
              </a:rPr>
              <a:t>50M+</a:t>
            </a:r>
            <a:endParaRPr b="0" lang="en-US" sz="4100" spc="-1" strike="noStrike">
              <a:solidFill>
                <a:srgbClr val="000000"/>
              </a:solidFill>
              <a:latin typeface="Arial"/>
            </a:endParaRPr>
          </a:p>
        </p:txBody>
      </p:sp>
      <p:sp>
        <p:nvSpPr>
          <p:cNvPr id="151" name="Text 16"/>
          <p:cNvSpPr/>
          <p:nvPr/>
        </p:nvSpPr>
        <p:spPr>
          <a:xfrm>
            <a:off x="10935360" y="7070760"/>
            <a:ext cx="1810440" cy="225360"/>
          </a:xfrm>
          <a:prstGeom prst="rect">
            <a:avLst/>
          </a:prstGeom>
          <a:noFill/>
          <a:ln w="0">
            <a:noFill/>
          </a:ln>
        </p:spPr>
        <p:style>
          <a:lnRef idx="0"/>
          <a:fillRef idx="0"/>
          <a:effectRef idx="0"/>
          <a:fontRef idx="minor"/>
        </p:style>
        <p:txBody>
          <a:bodyPr wrap="none" lIns="0" rIns="0" tIns="0" bIns="0" anchor="t">
            <a:noAutofit/>
          </a:bodyPr>
          <a:p>
            <a:pPr algn="ctr">
              <a:lnSpc>
                <a:spcPts val="1749"/>
              </a:lnSpc>
              <a:tabLst>
                <a:tab algn="l" pos="0"/>
              </a:tabLst>
            </a:pPr>
            <a:r>
              <a:rPr b="1" lang="en-US" sz="1400" spc="-1" strike="noStrike">
                <a:solidFill>
                  <a:srgbClr val="e2e6e9"/>
                </a:solidFill>
                <a:latin typeface="Montserrat Bold"/>
                <a:ea typeface="Montserrat Bold"/>
              </a:rPr>
              <a:t>Parametrlər</a:t>
            </a:r>
            <a:endParaRPr b="0" lang="en-US" sz="1400" spc="-1" strike="noStrike">
              <a:solidFill>
                <a:srgbClr val="000000"/>
              </a:solidFill>
              <a:latin typeface="Arial"/>
            </a:endParaRPr>
          </a:p>
        </p:txBody>
      </p:sp>
      <p:sp>
        <p:nvSpPr>
          <p:cNvPr id="152" name="Text 17"/>
          <p:cNvSpPr/>
          <p:nvPr/>
        </p:nvSpPr>
        <p:spPr>
          <a:xfrm>
            <a:off x="10645560" y="7414560"/>
            <a:ext cx="2389680" cy="206640"/>
          </a:xfrm>
          <a:prstGeom prst="rect">
            <a:avLst/>
          </a:prstGeom>
          <a:noFill/>
          <a:ln w="0">
            <a:noFill/>
          </a:ln>
        </p:spPr>
        <p:style>
          <a:lnRef idx="0"/>
          <a:fillRef idx="0"/>
          <a:effectRef idx="0"/>
          <a:fontRef idx="minor"/>
        </p:style>
        <p:txBody>
          <a:bodyPr wrap="none" lIns="0" rIns="0" tIns="0" bIns="0" anchor="t">
            <a:noAutofit/>
          </a:bodyPr>
          <a:p>
            <a:pPr algn="ctr">
              <a:lnSpc>
                <a:spcPts val="1599"/>
              </a:lnSpc>
              <a:tabLst>
                <a:tab algn="l" pos="0"/>
              </a:tabLst>
            </a:pPr>
            <a:r>
              <a:rPr b="0" lang="en-US" sz="1250" spc="-1" strike="noStrike">
                <a:solidFill>
                  <a:srgbClr val="e2e6e9"/>
                </a:solidFill>
                <a:latin typeface="Source Sans 3"/>
                <a:ea typeface="Source Sans 3"/>
              </a:rPr>
              <a:t>Böyük modellərdə</a:t>
            </a:r>
            <a:endParaRPr b="0" lang="en-US" sz="1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3" name="Image 0" descr="preencoded.png"/>
          <p:cNvPicPr/>
          <p:nvPr/>
        </p:nvPicPr>
        <p:blipFill>
          <a:blip r:embed="rId1"/>
          <a:stretch/>
        </p:blipFill>
        <p:spPr>
          <a:xfrm>
            <a:off x="0" y="0"/>
            <a:ext cx="5485320" cy="8228520"/>
          </a:xfrm>
          <a:prstGeom prst="rect">
            <a:avLst/>
          </a:prstGeom>
          <a:ln w="0">
            <a:noFill/>
          </a:ln>
        </p:spPr>
      </p:pic>
      <p:sp>
        <p:nvSpPr>
          <p:cNvPr id="154" name="Shape 0"/>
          <p:cNvSpPr/>
          <p:nvPr/>
        </p:nvSpPr>
        <p:spPr>
          <a:xfrm>
            <a:off x="6116040" y="1398240"/>
            <a:ext cx="966960" cy="256320"/>
          </a:xfrm>
          <a:prstGeom prst="roundRect">
            <a:avLst>
              <a:gd name="adj" fmla="val 7334"/>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55" name="Image 1" descr="preencoded.png"/>
          <p:cNvPicPr/>
          <p:nvPr/>
        </p:nvPicPr>
        <p:blipFill>
          <a:blip r:embed="rId2">
            <a:extLst>
              <a:ext uri="{96DAC541-7B7A-43D3-8B79-37D633B846F1}">
                <asvg:svgBlip xmlns:asvg="http://schemas.microsoft.com/office/drawing/2016/SVG/main" r:embed="rId3"/>
              </a:ext>
            </a:extLst>
          </a:blip>
          <a:stretch/>
        </p:blipFill>
        <p:spPr>
          <a:xfrm>
            <a:off x="6210360" y="1464120"/>
            <a:ext cx="124920" cy="124920"/>
          </a:xfrm>
          <a:prstGeom prst="rect">
            <a:avLst/>
          </a:prstGeom>
          <a:ln w="0">
            <a:noFill/>
          </a:ln>
        </p:spPr>
      </p:pic>
      <p:sp>
        <p:nvSpPr>
          <p:cNvPr id="156" name="Text 1"/>
          <p:cNvSpPr/>
          <p:nvPr/>
        </p:nvSpPr>
        <p:spPr>
          <a:xfrm>
            <a:off x="6399000" y="1445400"/>
            <a:ext cx="589320" cy="162000"/>
          </a:xfrm>
          <a:prstGeom prst="rect">
            <a:avLst/>
          </a:prstGeom>
          <a:noFill/>
          <a:ln w="0">
            <a:noFill/>
          </a:ln>
        </p:spPr>
        <p:style>
          <a:lnRef idx="0"/>
          <a:fillRef idx="0"/>
          <a:effectRef idx="0"/>
          <a:fontRef idx="minor"/>
        </p:style>
        <p:txBody>
          <a:bodyPr wrap="none" lIns="0" rIns="0" tIns="0" bIns="0" anchor="t">
            <a:noAutofit/>
          </a:bodyPr>
          <a:p>
            <a:pPr>
              <a:lnSpc>
                <a:spcPts val="1250"/>
              </a:lnSpc>
              <a:tabLst>
                <a:tab algn="l" pos="0"/>
              </a:tabLst>
            </a:pPr>
            <a:r>
              <a:rPr b="0" lang="en-US" sz="950" spc="-1" strike="noStrike">
                <a:solidFill>
                  <a:srgbClr val="e2e6e9"/>
                </a:solidFill>
                <a:latin typeface="Source Sans 3"/>
                <a:ea typeface="Source Sans 3"/>
              </a:rPr>
              <a:t>YENI NƏSIL</a:t>
            </a:r>
            <a:endParaRPr b="0" lang="en-US" sz="950" spc="-1" strike="noStrike">
              <a:solidFill>
                <a:srgbClr val="000000"/>
              </a:solidFill>
              <a:latin typeface="Arial"/>
            </a:endParaRPr>
          </a:p>
        </p:txBody>
      </p:sp>
      <p:sp>
        <p:nvSpPr>
          <p:cNvPr id="157" name="Text 2"/>
          <p:cNvSpPr/>
          <p:nvPr/>
        </p:nvSpPr>
        <p:spPr>
          <a:xfrm>
            <a:off x="6116040" y="1701360"/>
            <a:ext cx="5911200" cy="446040"/>
          </a:xfrm>
          <a:prstGeom prst="rect">
            <a:avLst/>
          </a:prstGeom>
          <a:noFill/>
          <a:ln w="0">
            <a:noFill/>
          </a:ln>
        </p:spPr>
        <p:style>
          <a:lnRef idx="0"/>
          <a:fillRef idx="0"/>
          <a:effectRef idx="0"/>
          <a:fontRef idx="minor"/>
        </p:style>
        <p:txBody>
          <a:bodyPr wrap="none" lIns="0" rIns="0" tIns="0" bIns="0" anchor="t">
            <a:noAutofit/>
          </a:bodyPr>
          <a:p>
            <a:pPr>
              <a:lnSpc>
                <a:spcPts val="3501"/>
              </a:lnSpc>
              <a:tabLst>
                <a:tab algn="l" pos="0"/>
              </a:tabLst>
            </a:pPr>
            <a:r>
              <a:rPr b="1" lang="en-US" sz="2800" spc="-1" strike="noStrike">
                <a:solidFill>
                  <a:srgbClr val="ffffff"/>
                </a:solidFill>
                <a:latin typeface="Montserrat Bold"/>
                <a:ea typeface="Montserrat Bold"/>
              </a:rPr>
              <a:t>Generativ Süni İntellekt (GenAI)</a:t>
            </a:r>
            <a:endParaRPr b="0" lang="en-US" sz="2800" spc="-1" strike="noStrike">
              <a:solidFill>
                <a:srgbClr val="000000"/>
              </a:solidFill>
              <a:latin typeface="Arial"/>
            </a:endParaRPr>
          </a:p>
        </p:txBody>
      </p:sp>
      <p:sp>
        <p:nvSpPr>
          <p:cNvPr id="158" name="Text 3"/>
          <p:cNvSpPr/>
          <p:nvPr/>
        </p:nvSpPr>
        <p:spPr>
          <a:xfrm>
            <a:off x="6116040" y="2320560"/>
            <a:ext cx="7884000" cy="407160"/>
          </a:xfrm>
          <a:prstGeom prst="rect">
            <a:avLst/>
          </a:prstGeom>
          <a:noFill/>
          <a:ln w="0">
            <a:noFill/>
          </a:ln>
        </p:spPr>
        <p:style>
          <a:lnRef idx="0"/>
          <a:fillRef idx="0"/>
          <a:effectRef idx="0"/>
          <a:fontRef idx="minor"/>
        </p:style>
        <p:txBody>
          <a:bodyPr lIns="0" rIns="0" tIns="0" bIns="0" anchor="t">
            <a:noAutofit/>
          </a:bodyPr>
          <a:p>
            <a:pPr>
              <a:lnSpc>
                <a:spcPts val="1599"/>
              </a:lnSpc>
              <a:tabLst>
                <a:tab algn="l" pos="0"/>
              </a:tabLst>
            </a:pPr>
            <a:r>
              <a:rPr b="0" lang="en-US" sz="1200" spc="-1" strike="noStrike">
                <a:solidFill>
                  <a:srgbClr val="e2e6e9"/>
                </a:solidFill>
                <a:latin typeface="Source Sans 3"/>
                <a:ea typeface="Source Sans 3"/>
              </a:rPr>
              <a:t>Generativ SI tamamilə yeni məzmun yarada bilən inqilabi texnologiyadır. Böyük dil modellərinə (LLM - Large Language Models) əsaslanaraq, insan kimi yaradıcı məzmun formalaşdırır.</a:t>
            </a:r>
            <a:endParaRPr b="0" lang="en-US" sz="1200" spc="-1" strike="noStrike">
              <a:solidFill>
                <a:srgbClr val="000000"/>
              </a:solidFill>
              <a:latin typeface="Arial"/>
            </a:endParaRPr>
          </a:p>
        </p:txBody>
      </p:sp>
      <p:sp>
        <p:nvSpPr>
          <p:cNvPr id="159" name="Shape 4"/>
          <p:cNvSpPr/>
          <p:nvPr/>
        </p:nvSpPr>
        <p:spPr>
          <a:xfrm>
            <a:off x="6116040" y="2857680"/>
            <a:ext cx="7884000" cy="1059480"/>
          </a:xfrm>
          <a:prstGeom prst="roundRect">
            <a:avLst>
              <a:gd name="adj" fmla="val 2226"/>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0" name="Shape 5"/>
          <p:cNvSpPr/>
          <p:nvPr/>
        </p:nvSpPr>
        <p:spPr>
          <a:xfrm>
            <a:off x="6138720" y="2880720"/>
            <a:ext cx="628560" cy="1013760"/>
          </a:xfrm>
          <a:prstGeom prst="rect">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61" name="Image 2" descr="preencoded.png"/>
          <p:cNvPicPr/>
          <p:nvPr/>
        </p:nvPicPr>
        <p:blipFill>
          <a:blip r:embed="rId4">
            <a:extLst>
              <a:ext uri="{96DAC541-7B7A-43D3-8B79-37D633B846F1}">
                <asvg:svgBlip xmlns:asvg="http://schemas.microsoft.com/office/drawing/2016/SVG/main" r:embed="rId5"/>
              </a:ext>
            </a:extLst>
          </a:blip>
          <a:stretch/>
        </p:blipFill>
        <p:spPr>
          <a:xfrm>
            <a:off x="6335280" y="3269880"/>
            <a:ext cx="235080" cy="235080"/>
          </a:xfrm>
          <a:prstGeom prst="rect">
            <a:avLst/>
          </a:prstGeom>
          <a:ln w="0">
            <a:noFill/>
          </a:ln>
        </p:spPr>
      </p:pic>
      <p:sp>
        <p:nvSpPr>
          <p:cNvPr id="162" name="Text 6"/>
          <p:cNvSpPr/>
          <p:nvPr/>
        </p:nvSpPr>
        <p:spPr>
          <a:xfrm>
            <a:off x="6882840" y="3038040"/>
            <a:ext cx="1787400" cy="222480"/>
          </a:xfrm>
          <a:prstGeom prst="rect">
            <a:avLst/>
          </a:prstGeom>
          <a:noFill/>
          <a:ln w="0">
            <a:noFill/>
          </a:ln>
        </p:spPr>
        <p:style>
          <a:lnRef idx="0"/>
          <a:fillRef idx="0"/>
          <a:effectRef idx="0"/>
          <a:fontRef idx="minor"/>
        </p:style>
        <p:txBody>
          <a:bodyPr wrap="none" lIns="0" rIns="0" tIns="0" bIns="0" anchor="t">
            <a:noAutofit/>
          </a:bodyPr>
          <a:p>
            <a:pPr>
              <a:lnSpc>
                <a:spcPts val="1749"/>
              </a:lnSpc>
              <a:tabLst>
                <a:tab algn="l" pos="0"/>
              </a:tabLst>
            </a:pPr>
            <a:r>
              <a:rPr b="1" lang="en-US" sz="1400" spc="-1" strike="noStrike">
                <a:solidFill>
                  <a:srgbClr val="e2e6e9"/>
                </a:solidFill>
                <a:latin typeface="Montserrat Bold"/>
                <a:ea typeface="Montserrat Bold"/>
              </a:rPr>
              <a:t>Mətn Generasiyası</a:t>
            </a:r>
            <a:endParaRPr b="0" lang="en-US" sz="1400" spc="-1" strike="noStrike">
              <a:solidFill>
                <a:srgbClr val="000000"/>
              </a:solidFill>
              <a:latin typeface="Arial"/>
            </a:endParaRPr>
          </a:p>
        </p:txBody>
      </p:sp>
      <p:sp>
        <p:nvSpPr>
          <p:cNvPr id="163" name="Text 7"/>
          <p:cNvSpPr/>
          <p:nvPr/>
        </p:nvSpPr>
        <p:spPr>
          <a:xfrm>
            <a:off x="6882840" y="3330000"/>
            <a:ext cx="6936840" cy="407160"/>
          </a:xfrm>
          <a:prstGeom prst="rect">
            <a:avLst/>
          </a:prstGeom>
          <a:noFill/>
          <a:ln w="0">
            <a:noFill/>
          </a:ln>
        </p:spPr>
        <p:style>
          <a:lnRef idx="0"/>
          <a:fillRef idx="0"/>
          <a:effectRef idx="0"/>
          <a:fontRef idx="minor"/>
        </p:style>
        <p:txBody>
          <a:bodyPr lIns="0" rIns="0" tIns="0" bIns="0" anchor="t">
            <a:noAutofit/>
          </a:bodyPr>
          <a:p>
            <a:pPr>
              <a:lnSpc>
                <a:spcPts val="1599"/>
              </a:lnSpc>
              <a:tabLst>
                <a:tab algn="l" pos="0"/>
              </a:tabLst>
            </a:pPr>
            <a:r>
              <a:rPr b="0" lang="en-US" sz="1200" spc="-1" strike="noStrike">
                <a:solidFill>
                  <a:srgbClr val="e2e6e9"/>
                </a:solidFill>
                <a:latin typeface="Source Sans 3"/>
                <a:ea typeface="Source Sans 3"/>
              </a:rPr>
              <a:t>Məqalələr, hesabatlar, e-poçt cavabları və yaradıcı məzmunun avtomatik yazılması. Kontekstə uyğun və tutarlı mətnlər yaradır.</a:t>
            </a:r>
            <a:endParaRPr b="0" lang="en-US" sz="1200" spc="-1" strike="noStrike">
              <a:solidFill>
                <a:srgbClr val="000000"/>
              </a:solidFill>
              <a:latin typeface="Arial"/>
            </a:endParaRPr>
          </a:p>
        </p:txBody>
      </p:sp>
      <p:sp>
        <p:nvSpPr>
          <p:cNvPr id="164" name="Shape 8"/>
          <p:cNvSpPr/>
          <p:nvPr/>
        </p:nvSpPr>
        <p:spPr>
          <a:xfrm>
            <a:off x="6116040" y="4033080"/>
            <a:ext cx="7884000" cy="943200"/>
          </a:xfrm>
          <a:prstGeom prst="roundRect">
            <a:avLst>
              <a:gd name="adj" fmla="val 2500"/>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5" name="Shape 9"/>
          <p:cNvSpPr/>
          <p:nvPr/>
        </p:nvSpPr>
        <p:spPr>
          <a:xfrm>
            <a:off x="6138720" y="4056120"/>
            <a:ext cx="628560" cy="897480"/>
          </a:xfrm>
          <a:prstGeom prst="rect">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66" name="Image 3" descr="preencoded.png"/>
          <p:cNvPicPr/>
          <p:nvPr/>
        </p:nvPicPr>
        <p:blipFill>
          <a:blip r:embed="rId6">
            <a:extLst>
              <a:ext uri="{96DAC541-7B7A-43D3-8B79-37D633B846F1}">
                <asvg:svgBlip xmlns:asvg="http://schemas.microsoft.com/office/drawing/2016/SVG/main" r:embed="rId7"/>
              </a:ext>
            </a:extLst>
          </a:blip>
          <a:stretch/>
        </p:blipFill>
        <p:spPr>
          <a:xfrm>
            <a:off x="6335280" y="4387320"/>
            <a:ext cx="235080" cy="235080"/>
          </a:xfrm>
          <a:prstGeom prst="rect">
            <a:avLst/>
          </a:prstGeom>
          <a:ln w="0">
            <a:noFill/>
          </a:ln>
        </p:spPr>
      </p:pic>
      <p:sp>
        <p:nvSpPr>
          <p:cNvPr id="167" name="Text 10"/>
          <p:cNvSpPr/>
          <p:nvPr/>
        </p:nvSpPr>
        <p:spPr>
          <a:xfrm>
            <a:off x="6882840" y="4213440"/>
            <a:ext cx="1787400" cy="222480"/>
          </a:xfrm>
          <a:prstGeom prst="rect">
            <a:avLst/>
          </a:prstGeom>
          <a:noFill/>
          <a:ln w="0">
            <a:noFill/>
          </a:ln>
        </p:spPr>
        <p:style>
          <a:lnRef idx="0"/>
          <a:fillRef idx="0"/>
          <a:effectRef idx="0"/>
          <a:fontRef idx="minor"/>
        </p:style>
        <p:txBody>
          <a:bodyPr wrap="none" lIns="0" rIns="0" tIns="0" bIns="0" anchor="t">
            <a:noAutofit/>
          </a:bodyPr>
          <a:p>
            <a:pPr>
              <a:lnSpc>
                <a:spcPts val="1749"/>
              </a:lnSpc>
              <a:tabLst>
                <a:tab algn="l" pos="0"/>
              </a:tabLst>
            </a:pPr>
            <a:r>
              <a:rPr b="1" lang="en-US" sz="1400" spc="-1" strike="noStrike">
                <a:solidFill>
                  <a:srgbClr val="e2e6e9"/>
                </a:solidFill>
                <a:latin typeface="Montserrat Bold"/>
                <a:ea typeface="Montserrat Bold"/>
              </a:rPr>
              <a:t>Kod Yazılması</a:t>
            </a:r>
            <a:endParaRPr b="0" lang="en-US" sz="1400" spc="-1" strike="noStrike">
              <a:solidFill>
                <a:srgbClr val="000000"/>
              </a:solidFill>
              <a:latin typeface="Arial"/>
            </a:endParaRPr>
          </a:p>
        </p:txBody>
      </p:sp>
      <p:sp>
        <p:nvSpPr>
          <p:cNvPr id="168" name="Text 11"/>
          <p:cNvSpPr/>
          <p:nvPr/>
        </p:nvSpPr>
        <p:spPr>
          <a:xfrm>
            <a:off x="6882840" y="4508640"/>
            <a:ext cx="6936840" cy="20304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b="0" lang="en-US" sz="1200" spc="-1" strike="noStrike">
                <a:solidFill>
                  <a:srgbClr val="e2e6e9"/>
                </a:solidFill>
                <a:latin typeface="Source Sans 3"/>
                <a:ea typeface="Source Sans 3"/>
              </a:rPr>
              <a:t>Proqramlaşdırma kodunun yaradılması, debug edilməsi və optimallaşdırılması. </a:t>
            </a:r>
            <a:endParaRPr b="0" lang="en-US" sz="1200" spc="-1" strike="noStrike">
              <a:solidFill>
                <a:srgbClr val="000000"/>
              </a:solidFill>
              <a:latin typeface="Arial"/>
            </a:endParaRPr>
          </a:p>
          <a:p>
            <a:pPr>
              <a:lnSpc>
                <a:spcPts val="1599"/>
              </a:lnSpc>
              <a:tabLst>
                <a:tab algn="l" pos="0"/>
              </a:tabLst>
            </a:pPr>
            <a:r>
              <a:rPr b="0" lang="en-US" sz="1200" spc="-1" strike="noStrike">
                <a:solidFill>
                  <a:srgbClr val="e2e6e9"/>
                </a:solidFill>
                <a:latin typeface="Source Sans 3"/>
                <a:ea typeface="Source Sans 3"/>
              </a:rPr>
              <a:t>Müxtəlif dilllərdə işləyir.</a:t>
            </a:r>
            <a:endParaRPr b="0" lang="en-US" sz="1200" spc="-1" strike="noStrike">
              <a:solidFill>
                <a:srgbClr val="000000"/>
              </a:solidFill>
              <a:latin typeface="Arial"/>
            </a:endParaRPr>
          </a:p>
        </p:txBody>
      </p:sp>
      <p:sp>
        <p:nvSpPr>
          <p:cNvPr id="169" name="Shape 12"/>
          <p:cNvSpPr/>
          <p:nvPr/>
        </p:nvSpPr>
        <p:spPr>
          <a:xfrm>
            <a:off x="6116040" y="5092200"/>
            <a:ext cx="7884000" cy="943200"/>
          </a:xfrm>
          <a:prstGeom prst="roundRect">
            <a:avLst>
              <a:gd name="adj" fmla="val 2500"/>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0" name="Shape 13"/>
          <p:cNvSpPr/>
          <p:nvPr/>
        </p:nvSpPr>
        <p:spPr>
          <a:xfrm>
            <a:off x="6138720" y="5114880"/>
            <a:ext cx="628560" cy="897480"/>
          </a:xfrm>
          <a:prstGeom prst="rect">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71" name="Image 4" descr="preencoded.png"/>
          <p:cNvPicPr/>
          <p:nvPr/>
        </p:nvPicPr>
        <p:blipFill>
          <a:blip r:embed="rId8">
            <a:extLst>
              <a:ext uri="{96DAC541-7B7A-43D3-8B79-37D633B846F1}">
                <asvg:svgBlip xmlns:asvg="http://schemas.microsoft.com/office/drawing/2016/SVG/main" r:embed="rId9"/>
              </a:ext>
            </a:extLst>
          </a:blip>
          <a:stretch/>
        </p:blipFill>
        <p:spPr>
          <a:xfrm>
            <a:off x="6335280" y="5446080"/>
            <a:ext cx="235080" cy="235080"/>
          </a:xfrm>
          <a:prstGeom prst="rect">
            <a:avLst/>
          </a:prstGeom>
          <a:ln w="0">
            <a:noFill/>
          </a:ln>
        </p:spPr>
      </p:pic>
      <p:sp>
        <p:nvSpPr>
          <p:cNvPr id="172" name="Text 14"/>
          <p:cNvSpPr/>
          <p:nvPr/>
        </p:nvSpPr>
        <p:spPr>
          <a:xfrm>
            <a:off x="6882840" y="5272200"/>
            <a:ext cx="1787400" cy="222480"/>
          </a:xfrm>
          <a:prstGeom prst="rect">
            <a:avLst/>
          </a:prstGeom>
          <a:noFill/>
          <a:ln w="0">
            <a:noFill/>
          </a:ln>
        </p:spPr>
        <p:style>
          <a:lnRef idx="0"/>
          <a:fillRef idx="0"/>
          <a:effectRef idx="0"/>
          <a:fontRef idx="minor"/>
        </p:style>
        <p:txBody>
          <a:bodyPr wrap="none" lIns="0" rIns="0" tIns="0" bIns="0" anchor="t">
            <a:noAutofit/>
          </a:bodyPr>
          <a:p>
            <a:pPr>
              <a:lnSpc>
                <a:spcPts val="1749"/>
              </a:lnSpc>
              <a:tabLst>
                <a:tab algn="l" pos="0"/>
              </a:tabLst>
            </a:pPr>
            <a:r>
              <a:rPr b="1" lang="en-US" sz="1400" spc="-1" strike="noStrike">
                <a:solidFill>
                  <a:srgbClr val="e2e6e9"/>
                </a:solidFill>
                <a:latin typeface="Montserrat Bold"/>
                <a:ea typeface="Montserrat Bold"/>
              </a:rPr>
              <a:t>Şəkil Yaradılması</a:t>
            </a:r>
            <a:endParaRPr b="0" lang="en-US" sz="1400" spc="-1" strike="noStrike">
              <a:solidFill>
                <a:srgbClr val="000000"/>
              </a:solidFill>
              <a:latin typeface="Arial"/>
            </a:endParaRPr>
          </a:p>
        </p:txBody>
      </p:sp>
      <p:sp>
        <p:nvSpPr>
          <p:cNvPr id="173" name="Text 15"/>
          <p:cNvSpPr/>
          <p:nvPr/>
        </p:nvSpPr>
        <p:spPr>
          <a:xfrm>
            <a:off x="6882840" y="5564520"/>
            <a:ext cx="6936840" cy="20304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b="0" lang="en-US" sz="1200" spc="-1" strike="noStrike">
                <a:solidFill>
                  <a:srgbClr val="e2e6e9"/>
                </a:solidFill>
                <a:latin typeface="Source Sans 3"/>
                <a:ea typeface="Source Sans 3"/>
              </a:rPr>
              <a:t>Mətn təsvirinə əsasən orijinal şəkillərin, illüstrasiyaların və dizayn elementlərinin generasiyası.</a:t>
            </a:r>
            <a:endParaRPr b="0" lang="en-US" sz="1200" spc="-1" strike="noStrike">
              <a:solidFill>
                <a:srgbClr val="000000"/>
              </a:solidFill>
              <a:latin typeface="Arial"/>
            </a:endParaRPr>
          </a:p>
        </p:txBody>
      </p:sp>
      <p:sp>
        <p:nvSpPr>
          <p:cNvPr id="174" name="Text 16"/>
          <p:cNvSpPr/>
          <p:nvPr/>
        </p:nvSpPr>
        <p:spPr>
          <a:xfrm>
            <a:off x="6351840" y="6294240"/>
            <a:ext cx="7647840" cy="407160"/>
          </a:xfrm>
          <a:prstGeom prst="rect">
            <a:avLst/>
          </a:prstGeom>
          <a:noFill/>
          <a:ln w="0">
            <a:noFill/>
          </a:ln>
        </p:spPr>
        <p:style>
          <a:lnRef idx="0"/>
          <a:fillRef idx="0"/>
          <a:effectRef idx="0"/>
          <a:fontRef idx="minor"/>
        </p:style>
        <p:txBody>
          <a:bodyPr lIns="0" rIns="0" tIns="0" bIns="0" anchor="t">
            <a:noAutofit/>
          </a:bodyPr>
          <a:p>
            <a:pPr>
              <a:lnSpc>
                <a:spcPts val="1599"/>
              </a:lnSpc>
              <a:tabLst>
                <a:tab algn="l" pos="0"/>
              </a:tabLst>
            </a:pPr>
            <a:r>
              <a:rPr b="1" lang="en-US" sz="1200" spc="-1" strike="noStrike">
                <a:solidFill>
                  <a:srgbClr val="e2e6e9"/>
                </a:solidFill>
                <a:latin typeface="Source Sans 3"/>
                <a:ea typeface="Source Sans 3"/>
              </a:rPr>
              <a:t>Populyar platformalar:</a:t>
            </a:r>
            <a:r>
              <a:rPr b="0" lang="en-US" sz="1200" spc="-1" strike="noStrike">
                <a:solidFill>
                  <a:srgbClr val="e2e6e9"/>
                </a:solidFill>
                <a:latin typeface="Source Sans 3"/>
                <a:ea typeface="Source Sans 3"/>
              </a:rPr>
              <a:t> ChatGPT (OpenAI), Claude (Anthropic), Gemini (Google) - bu sistemlər milyonlarla istifadəçi tərəfindən gündəlik işlərdə və yaradıcı proseslərdə istifadə olunur.</a:t>
            </a:r>
            <a:endParaRPr b="0" lang="en-US" sz="1200" spc="-1" strike="noStrike">
              <a:solidFill>
                <a:srgbClr val="000000"/>
              </a:solidFill>
              <a:latin typeface="Arial"/>
            </a:endParaRPr>
          </a:p>
        </p:txBody>
      </p:sp>
      <p:sp>
        <p:nvSpPr>
          <p:cNvPr id="175" name="Shape 17"/>
          <p:cNvSpPr/>
          <p:nvPr/>
        </p:nvSpPr>
        <p:spPr>
          <a:xfrm>
            <a:off x="6116040" y="6165360"/>
            <a:ext cx="21960" cy="66492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Text 0"/>
          <p:cNvSpPr/>
          <p:nvPr/>
        </p:nvSpPr>
        <p:spPr>
          <a:xfrm>
            <a:off x="863640" y="1207080"/>
            <a:ext cx="7226640" cy="61236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Texnologiyaların Müqayisəsi</a:t>
            </a:r>
            <a:endParaRPr b="0" lang="en-US" sz="3850" spc="-1" strike="noStrike">
              <a:solidFill>
                <a:srgbClr val="000000"/>
              </a:solidFill>
              <a:latin typeface="Arial"/>
            </a:endParaRPr>
          </a:p>
        </p:txBody>
      </p:sp>
      <p:sp>
        <p:nvSpPr>
          <p:cNvPr id="177" name="Shape 1"/>
          <p:cNvSpPr/>
          <p:nvPr/>
        </p:nvSpPr>
        <p:spPr>
          <a:xfrm>
            <a:off x="863640" y="2252520"/>
            <a:ext cx="12901680" cy="4202280"/>
          </a:xfrm>
          <a:prstGeom prst="roundRect">
            <a:avLst>
              <a:gd name="adj" fmla="val 771"/>
            </a:avLst>
          </a:prstGeom>
          <a:noFill/>
          <a:ln w="7620">
            <a:solidFill>
              <a:srgbClr val="ffffff">
                <a:alpha val="2400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78" name="Shape 2"/>
          <p:cNvSpPr/>
          <p:nvPr/>
        </p:nvSpPr>
        <p:spPr>
          <a:xfrm>
            <a:off x="871560" y="2260080"/>
            <a:ext cx="12886560" cy="597240"/>
          </a:xfrm>
          <a:prstGeom prst="rect">
            <a:avLst/>
          </a:prstGeom>
          <a:solidFill>
            <a:srgbClr val="ffffff">
              <a:alpha val="4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79" name="Text 3"/>
          <p:cNvSpPr/>
          <p:nvPr/>
        </p:nvSpPr>
        <p:spPr>
          <a:xfrm>
            <a:off x="1087560" y="2397240"/>
            <a:ext cx="278532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1" lang="en-US" sz="1700" spc="-1" strike="noStrike">
                <a:solidFill>
                  <a:srgbClr val="e2e6e9"/>
                </a:solidFill>
                <a:latin typeface="Source Sans 3"/>
                <a:ea typeface="Source Sans 3"/>
              </a:rPr>
              <a:t>Xüsusiyyət</a:t>
            </a:r>
            <a:endParaRPr b="0" lang="en-US" sz="1700" spc="-1" strike="noStrike">
              <a:solidFill>
                <a:srgbClr val="000000"/>
              </a:solidFill>
              <a:latin typeface="Arial"/>
            </a:endParaRPr>
          </a:p>
        </p:txBody>
      </p:sp>
      <p:sp>
        <p:nvSpPr>
          <p:cNvPr id="180" name="Text 4"/>
          <p:cNvSpPr/>
          <p:nvPr/>
        </p:nvSpPr>
        <p:spPr>
          <a:xfrm>
            <a:off x="4313160" y="2397240"/>
            <a:ext cx="278136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1" lang="en-US" sz="1700" spc="-1" strike="noStrike">
                <a:solidFill>
                  <a:srgbClr val="e2e6e9"/>
                </a:solidFill>
                <a:latin typeface="Source Sans 3"/>
                <a:ea typeface="Source Sans 3"/>
              </a:rPr>
              <a:t>Ekspert Sistem</a:t>
            </a:r>
            <a:endParaRPr b="0" lang="en-US" sz="1700" spc="-1" strike="noStrike">
              <a:solidFill>
                <a:srgbClr val="000000"/>
              </a:solidFill>
              <a:latin typeface="Arial"/>
            </a:endParaRPr>
          </a:p>
        </p:txBody>
      </p:sp>
      <p:sp>
        <p:nvSpPr>
          <p:cNvPr id="181" name="Text 5"/>
          <p:cNvSpPr/>
          <p:nvPr/>
        </p:nvSpPr>
        <p:spPr>
          <a:xfrm>
            <a:off x="7535160" y="2397240"/>
            <a:ext cx="278136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1" lang="en-US" sz="1700" spc="-1" strike="noStrike">
                <a:solidFill>
                  <a:srgbClr val="e2e6e9"/>
                </a:solidFill>
                <a:latin typeface="Source Sans 3"/>
                <a:ea typeface="Source Sans 3"/>
              </a:rPr>
              <a:t>Maşın Öyrənməsi</a:t>
            </a:r>
            <a:endParaRPr b="0" lang="en-US" sz="1700" spc="-1" strike="noStrike">
              <a:solidFill>
                <a:srgbClr val="000000"/>
              </a:solidFill>
              <a:latin typeface="Arial"/>
            </a:endParaRPr>
          </a:p>
        </p:txBody>
      </p:sp>
      <p:sp>
        <p:nvSpPr>
          <p:cNvPr id="182" name="Text 6"/>
          <p:cNvSpPr/>
          <p:nvPr/>
        </p:nvSpPr>
        <p:spPr>
          <a:xfrm>
            <a:off x="10756800" y="2397240"/>
            <a:ext cx="278532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1" lang="en-US" sz="1700" spc="-1" strike="noStrike">
                <a:solidFill>
                  <a:srgbClr val="e2e6e9"/>
                </a:solidFill>
                <a:latin typeface="Source Sans 3"/>
                <a:ea typeface="Source Sans 3"/>
              </a:rPr>
              <a:t>Generativ SI</a:t>
            </a:r>
            <a:endParaRPr b="0" lang="en-US" sz="1700" spc="-1" strike="noStrike">
              <a:solidFill>
                <a:srgbClr val="000000"/>
              </a:solidFill>
              <a:latin typeface="Arial"/>
            </a:endParaRPr>
          </a:p>
        </p:txBody>
      </p:sp>
      <p:sp>
        <p:nvSpPr>
          <p:cNvPr id="183" name="Shape 7"/>
          <p:cNvSpPr/>
          <p:nvPr/>
        </p:nvSpPr>
        <p:spPr>
          <a:xfrm>
            <a:off x="871560" y="2858400"/>
            <a:ext cx="12886560" cy="597240"/>
          </a:xfrm>
          <a:prstGeom prst="rect">
            <a:avLst/>
          </a:prstGeom>
          <a:solidFill>
            <a:srgbClr val="000000">
              <a:alpha val="4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4" name="Text 8"/>
          <p:cNvSpPr/>
          <p:nvPr/>
        </p:nvSpPr>
        <p:spPr>
          <a:xfrm>
            <a:off x="1087560" y="2995560"/>
            <a:ext cx="278532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1" lang="en-US" sz="1700" spc="-1" strike="noStrike">
                <a:solidFill>
                  <a:srgbClr val="e2e6e9"/>
                </a:solidFill>
                <a:latin typeface="Source Sans 3"/>
                <a:ea typeface="Source Sans 3"/>
              </a:rPr>
              <a:t>Məlumat növü</a:t>
            </a:r>
            <a:endParaRPr b="0" lang="en-US" sz="1700" spc="-1" strike="noStrike">
              <a:solidFill>
                <a:srgbClr val="000000"/>
              </a:solidFill>
              <a:latin typeface="Arial"/>
            </a:endParaRPr>
          </a:p>
        </p:txBody>
      </p:sp>
      <p:sp>
        <p:nvSpPr>
          <p:cNvPr id="185" name="Text 9"/>
          <p:cNvSpPr/>
          <p:nvPr/>
        </p:nvSpPr>
        <p:spPr>
          <a:xfrm>
            <a:off x="4313160" y="2995560"/>
            <a:ext cx="278136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Qaydalar və faktlar</a:t>
            </a:r>
            <a:endParaRPr b="0" lang="en-US" sz="1700" spc="-1" strike="noStrike">
              <a:solidFill>
                <a:srgbClr val="000000"/>
              </a:solidFill>
              <a:latin typeface="Arial"/>
            </a:endParaRPr>
          </a:p>
        </p:txBody>
      </p:sp>
      <p:sp>
        <p:nvSpPr>
          <p:cNvPr id="186" name="Text 10"/>
          <p:cNvSpPr/>
          <p:nvPr/>
        </p:nvSpPr>
        <p:spPr>
          <a:xfrm>
            <a:off x="7535160" y="2995560"/>
            <a:ext cx="278136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Struktur məlumatlar</a:t>
            </a:r>
            <a:endParaRPr b="0" lang="en-US" sz="1700" spc="-1" strike="noStrike">
              <a:solidFill>
                <a:srgbClr val="000000"/>
              </a:solidFill>
              <a:latin typeface="Arial"/>
            </a:endParaRPr>
          </a:p>
        </p:txBody>
      </p:sp>
      <p:sp>
        <p:nvSpPr>
          <p:cNvPr id="187" name="Text 11"/>
          <p:cNvSpPr/>
          <p:nvPr/>
        </p:nvSpPr>
        <p:spPr>
          <a:xfrm>
            <a:off x="10756800" y="2995560"/>
            <a:ext cx="278532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Böyük mətn korpusları</a:t>
            </a:r>
            <a:endParaRPr b="0" lang="en-US" sz="1700" spc="-1" strike="noStrike">
              <a:solidFill>
                <a:srgbClr val="000000"/>
              </a:solidFill>
              <a:latin typeface="Arial"/>
            </a:endParaRPr>
          </a:p>
        </p:txBody>
      </p:sp>
      <p:sp>
        <p:nvSpPr>
          <p:cNvPr id="188" name="Shape 12"/>
          <p:cNvSpPr/>
          <p:nvPr/>
        </p:nvSpPr>
        <p:spPr>
          <a:xfrm>
            <a:off x="871560" y="3456720"/>
            <a:ext cx="12886560" cy="597240"/>
          </a:xfrm>
          <a:prstGeom prst="rect">
            <a:avLst/>
          </a:prstGeom>
          <a:solidFill>
            <a:srgbClr val="ffffff">
              <a:alpha val="4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89" name="Text 13"/>
          <p:cNvSpPr/>
          <p:nvPr/>
        </p:nvSpPr>
        <p:spPr>
          <a:xfrm>
            <a:off x="1087560" y="3593880"/>
            <a:ext cx="278532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1" lang="en-US" sz="1700" spc="-1" strike="noStrike">
                <a:solidFill>
                  <a:srgbClr val="e2e6e9"/>
                </a:solidFill>
                <a:latin typeface="Source Sans 3"/>
                <a:ea typeface="Source Sans 3"/>
              </a:rPr>
              <a:t>İzaholunma</a:t>
            </a:r>
            <a:endParaRPr b="0" lang="en-US" sz="1700" spc="-1" strike="noStrike">
              <a:solidFill>
                <a:srgbClr val="000000"/>
              </a:solidFill>
              <a:latin typeface="Arial"/>
            </a:endParaRPr>
          </a:p>
        </p:txBody>
      </p:sp>
      <p:sp>
        <p:nvSpPr>
          <p:cNvPr id="190" name="Text 14"/>
          <p:cNvSpPr/>
          <p:nvPr/>
        </p:nvSpPr>
        <p:spPr>
          <a:xfrm>
            <a:off x="4313160" y="3593880"/>
            <a:ext cx="278136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Tam şəffaf</a:t>
            </a:r>
            <a:endParaRPr b="0" lang="en-US" sz="1700" spc="-1" strike="noStrike">
              <a:solidFill>
                <a:srgbClr val="000000"/>
              </a:solidFill>
              <a:latin typeface="Arial"/>
            </a:endParaRPr>
          </a:p>
        </p:txBody>
      </p:sp>
      <p:sp>
        <p:nvSpPr>
          <p:cNvPr id="191" name="Text 15"/>
          <p:cNvSpPr/>
          <p:nvPr/>
        </p:nvSpPr>
        <p:spPr>
          <a:xfrm>
            <a:off x="7535160" y="3593880"/>
            <a:ext cx="278136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Orta səviyyə</a:t>
            </a:r>
            <a:endParaRPr b="0" lang="en-US" sz="1700" spc="-1" strike="noStrike">
              <a:solidFill>
                <a:srgbClr val="000000"/>
              </a:solidFill>
              <a:latin typeface="Arial"/>
            </a:endParaRPr>
          </a:p>
        </p:txBody>
      </p:sp>
      <p:sp>
        <p:nvSpPr>
          <p:cNvPr id="192" name="Text 16"/>
          <p:cNvSpPr/>
          <p:nvPr/>
        </p:nvSpPr>
        <p:spPr>
          <a:xfrm>
            <a:off x="10756800" y="3593880"/>
            <a:ext cx="278532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Məhdud şəffaflıq</a:t>
            </a:r>
            <a:endParaRPr b="0" lang="en-US" sz="1700" spc="-1" strike="noStrike">
              <a:solidFill>
                <a:srgbClr val="000000"/>
              </a:solidFill>
              <a:latin typeface="Arial"/>
            </a:endParaRPr>
          </a:p>
        </p:txBody>
      </p:sp>
      <p:sp>
        <p:nvSpPr>
          <p:cNvPr id="193" name="Shape 17"/>
          <p:cNvSpPr/>
          <p:nvPr/>
        </p:nvSpPr>
        <p:spPr>
          <a:xfrm>
            <a:off x="871560" y="4055040"/>
            <a:ext cx="12886560" cy="597240"/>
          </a:xfrm>
          <a:prstGeom prst="rect">
            <a:avLst/>
          </a:prstGeom>
          <a:solidFill>
            <a:srgbClr val="000000">
              <a:alpha val="4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4" name="Text 18"/>
          <p:cNvSpPr/>
          <p:nvPr/>
        </p:nvSpPr>
        <p:spPr>
          <a:xfrm>
            <a:off x="1087560" y="4192200"/>
            <a:ext cx="278532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1" lang="en-US" sz="1700" spc="-1" strike="noStrike">
                <a:solidFill>
                  <a:srgbClr val="e2e6e9"/>
                </a:solidFill>
                <a:latin typeface="Source Sans 3"/>
                <a:ea typeface="Source Sans 3"/>
              </a:rPr>
              <a:t>Çeviklik</a:t>
            </a:r>
            <a:endParaRPr b="0" lang="en-US" sz="1700" spc="-1" strike="noStrike">
              <a:solidFill>
                <a:srgbClr val="000000"/>
              </a:solidFill>
              <a:latin typeface="Arial"/>
            </a:endParaRPr>
          </a:p>
        </p:txBody>
      </p:sp>
      <p:sp>
        <p:nvSpPr>
          <p:cNvPr id="195" name="Text 19"/>
          <p:cNvSpPr/>
          <p:nvPr/>
        </p:nvSpPr>
        <p:spPr>
          <a:xfrm>
            <a:off x="4313160" y="4192200"/>
            <a:ext cx="278136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Aşağı (əl ilə yeniləmə)</a:t>
            </a:r>
            <a:endParaRPr b="0" lang="en-US" sz="1700" spc="-1" strike="noStrike">
              <a:solidFill>
                <a:srgbClr val="000000"/>
              </a:solidFill>
              <a:latin typeface="Arial"/>
            </a:endParaRPr>
          </a:p>
        </p:txBody>
      </p:sp>
      <p:sp>
        <p:nvSpPr>
          <p:cNvPr id="196" name="Text 20"/>
          <p:cNvSpPr/>
          <p:nvPr/>
        </p:nvSpPr>
        <p:spPr>
          <a:xfrm>
            <a:off x="7535160" y="4192200"/>
            <a:ext cx="278136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Yüksək (avtomatik öyrənmə)</a:t>
            </a:r>
            <a:endParaRPr b="0" lang="en-US" sz="1700" spc="-1" strike="noStrike">
              <a:solidFill>
                <a:srgbClr val="000000"/>
              </a:solidFill>
              <a:latin typeface="Arial"/>
            </a:endParaRPr>
          </a:p>
        </p:txBody>
      </p:sp>
      <p:sp>
        <p:nvSpPr>
          <p:cNvPr id="197" name="Text 21"/>
          <p:cNvSpPr/>
          <p:nvPr/>
        </p:nvSpPr>
        <p:spPr>
          <a:xfrm>
            <a:off x="10756800" y="4192200"/>
            <a:ext cx="278532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Çox yüksək (adaptiv)</a:t>
            </a:r>
            <a:endParaRPr b="0" lang="en-US" sz="1700" spc="-1" strike="noStrike">
              <a:solidFill>
                <a:srgbClr val="000000"/>
              </a:solidFill>
              <a:latin typeface="Arial"/>
            </a:endParaRPr>
          </a:p>
        </p:txBody>
      </p:sp>
      <p:sp>
        <p:nvSpPr>
          <p:cNvPr id="198" name="Shape 22"/>
          <p:cNvSpPr/>
          <p:nvPr/>
        </p:nvSpPr>
        <p:spPr>
          <a:xfrm>
            <a:off x="871560" y="4653360"/>
            <a:ext cx="12886560" cy="597240"/>
          </a:xfrm>
          <a:prstGeom prst="rect">
            <a:avLst/>
          </a:prstGeom>
          <a:solidFill>
            <a:srgbClr val="ffffff">
              <a:alpha val="4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99" name="Text 23"/>
          <p:cNvSpPr/>
          <p:nvPr/>
        </p:nvSpPr>
        <p:spPr>
          <a:xfrm>
            <a:off x="1087560" y="4790520"/>
            <a:ext cx="278532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1" lang="en-US" sz="1700" spc="-1" strike="noStrike">
                <a:solidFill>
                  <a:srgbClr val="e2e6e9"/>
                </a:solidFill>
                <a:latin typeface="Source Sans 3"/>
                <a:ea typeface="Source Sans 3"/>
              </a:rPr>
              <a:t>Yaradılma vaxtı</a:t>
            </a:r>
            <a:endParaRPr b="0" lang="en-US" sz="1700" spc="-1" strike="noStrike">
              <a:solidFill>
                <a:srgbClr val="000000"/>
              </a:solidFill>
              <a:latin typeface="Arial"/>
            </a:endParaRPr>
          </a:p>
        </p:txBody>
      </p:sp>
      <p:sp>
        <p:nvSpPr>
          <p:cNvPr id="200" name="Text 24"/>
          <p:cNvSpPr/>
          <p:nvPr/>
        </p:nvSpPr>
        <p:spPr>
          <a:xfrm>
            <a:off x="4313160" y="4790520"/>
            <a:ext cx="278136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Uzun (ekspert bilikləri)</a:t>
            </a:r>
            <a:endParaRPr b="0" lang="en-US" sz="1700" spc="-1" strike="noStrike">
              <a:solidFill>
                <a:srgbClr val="000000"/>
              </a:solidFill>
              <a:latin typeface="Arial"/>
            </a:endParaRPr>
          </a:p>
        </p:txBody>
      </p:sp>
      <p:sp>
        <p:nvSpPr>
          <p:cNvPr id="201" name="Text 25"/>
          <p:cNvSpPr/>
          <p:nvPr/>
        </p:nvSpPr>
        <p:spPr>
          <a:xfrm>
            <a:off x="7535160" y="4790520"/>
            <a:ext cx="278136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Orta (məlumat hazırlığı)</a:t>
            </a:r>
            <a:endParaRPr b="0" lang="en-US" sz="1700" spc="-1" strike="noStrike">
              <a:solidFill>
                <a:srgbClr val="000000"/>
              </a:solidFill>
              <a:latin typeface="Arial"/>
            </a:endParaRPr>
          </a:p>
        </p:txBody>
      </p:sp>
      <p:sp>
        <p:nvSpPr>
          <p:cNvPr id="202" name="Text 26"/>
          <p:cNvSpPr/>
          <p:nvPr/>
        </p:nvSpPr>
        <p:spPr>
          <a:xfrm>
            <a:off x="10756800" y="4790520"/>
            <a:ext cx="278532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Qısa (hazır modellər)</a:t>
            </a:r>
            <a:endParaRPr b="0" lang="en-US" sz="1700" spc="-1" strike="noStrike">
              <a:solidFill>
                <a:srgbClr val="000000"/>
              </a:solidFill>
              <a:latin typeface="Arial"/>
            </a:endParaRPr>
          </a:p>
        </p:txBody>
      </p:sp>
      <p:sp>
        <p:nvSpPr>
          <p:cNvPr id="203" name="Shape 27"/>
          <p:cNvSpPr/>
          <p:nvPr/>
        </p:nvSpPr>
        <p:spPr>
          <a:xfrm>
            <a:off x="871560" y="5251320"/>
            <a:ext cx="12886560" cy="597240"/>
          </a:xfrm>
          <a:prstGeom prst="rect">
            <a:avLst/>
          </a:prstGeom>
          <a:solidFill>
            <a:srgbClr val="000000">
              <a:alpha val="4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4" name="Text 28"/>
          <p:cNvSpPr/>
          <p:nvPr/>
        </p:nvSpPr>
        <p:spPr>
          <a:xfrm>
            <a:off x="1087560" y="5388480"/>
            <a:ext cx="278532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1" lang="en-US" sz="1700" spc="-1" strike="noStrike">
                <a:solidFill>
                  <a:srgbClr val="e2e6e9"/>
                </a:solidFill>
                <a:latin typeface="Source Sans 3"/>
                <a:ea typeface="Source Sans 3"/>
              </a:rPr>
              <a:t>Tətbiq sahəsi</a:t>
            </a:r>
            <a:endParaRPr b="0" lang="en-US" sz="1700" spc="-1" strike="noStrike">
              <a:solidFill>
                <a:srgbClr val="000000"/>
              </a:solidFill>
              <a:latin typeface="Arial"/>
            </a:endParaRPr>
          </a:p>
        </p:txBody>
      </p:sp>
      <p:sp>
        <p:nvSpPr>
          <p:cNvPr id="205" name="Text 29"/>
          <p:cNvSpPr/>
          <p:nvPr/>
        </p:nvSpPr>
        <p:spPr>
          <a:xfrm>
            <a:off x="4313160" y="5388480"/>
            <a:ext cx="278136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Qaydaya əsaslanan proseslər</a:t>
            </a:r>
            <a:endParaRPr b="0" lang="en-US" sz="1700" spc="-1" strike="noStrike">
              <a:solidFill>
                <a:srgbClr val="000000"/>
              </a:solidFill>
              <a:latin typeface="Arial"/>
            </a:endParaRPr>
          </a:p>
        </p:txBody>
      </p:sp>
      <p:sp>
        <p:nvSpPr>
          <p:cNvPr id="206" name="Text 30"/>
          <p:cNvSpPr/>
          <p:nvPr/>
        </p:nvSpPr>
        <p:spPr>
          <a:xfrm>
            <a:off x="7535160" y="5388480"/>
            <a:ext cx="278136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Proqnozlaşdırma və təsnifat</a:t>
            </a:r>
            <a:endParaRPr b="0" lang="en-US" sz="1700" spc="-1" strike="noStrike">
              <a:solidFill>
                <a:srgbClr val="000000"/>
              </a:solidFill>
              <a:latin typeface="Arial"/>
            </a:endParaRPr>
          </a:p>
        </p:txBody>
      </p:sp>
      <p:sp>
        <p:nvSpPr>
          <p:cNvPr id="207" name="Text 31"/>
          <p:cNvSpPr/>
          <p:nvPr/>
        </p:nvSpPr>
        <p:spPr>
          <a:xfrm>
            <a:off x="10756800" y="5388480"/>
            <a:ext cx="278532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Yaradıcı məzmun və strategiya</a:t>
            </a:r>
            <a:endParaRPr b="0" lang="en-US" sz="1700" spc="-1" strike="noStrike">
              <a:solidFill>
                <a:srgbClr val="000000"/>
              </a:solidFill>
              <a:latin typeface="Arial"/>
            </a:endParaRPr>
          </a:p>
        </p:txBody>
      </p:sp>
      <p:sp>
        <p:nvSpPr>
          <p:cNvPr id="208" name="Shape 32"/>
          <p:cNvSpPr/>
          <p:nvPr/>
        </p:nvSpPr>
        <p:spPr>
          <a:xfrm>
            <a:off x="871560" y="5849640"/>
            <a:ext cx="12886560" cy="597240"/>
          </a:xfrm>
          <a:prstGeom prst="rect">
            <a:avLst/>
          </a:prstGeom>
          <a:solidFill>
            <a:srgbClr val="ffffff">
              <a:alpha val="4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09" name="Text 33"/>
          <p:cNvSpPr/>
          <p:nvPr/>
        </p:nvSpPr>
        <p:spPr>
          <a:xfrm>
            <a:off x="1087560" y="5986800"/>
            <a:ext cx="278532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1" lang="en-US" sz="1700" spc="-1" strike="noStrike">
                <a:solidFill>
                  <a:srgbClr val="e2e6e9"/>
                </a:solidFill>
                <a:latin typeface="Source Sans 3"/>
                <a:ea typeface="Source Sans 3"/>
              </a:rPr>
              <a:t>Xərc</a:t>
            </a:r>
            <a:endParaRPr b="0" lang="en-US" sz="1700" spc="-1" strike="noStrike">
              <a:solidFill>
                <a:srgbClr val="000000"/>
              </a:solidFill>
              <a:latin typeface="Arial"/>
            </a:endParaRPr>
          </a:p>
        </p:txBody>
      </p:sp>
      <p:sp>
        <p:nvSpPr>
          <p:cNvPr id="210" name="Text 34"/>
          <p:cNvSpPr/>
          <p:nvPr/>
        </p:nvSpPr>
        <p:spPr>
          <a:xfrm>
            <a:off x="4313160" y="5986800"/>
            <a:ext cx="278136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Aşağı (saxlanma)</a:t>
            </a:r>
            <a:endParaRPr b="0" lang="en-US" sz="1700" spc="-1" strike="noStrike">
              <a:solidFill>
                <a:srgbClr val="000000"/>
              </a:solidFill>
              <a:latin typeface="Arial"/>
            </a:endParaRPr>
          </a:p>
        </p:txBody>
      </p:sp>
      <p:sp>
        <p:nvSpPr>
          <p:cNvPr id="211" name="Text 35"/>
          <p:cNvSpPr/>
          <p:nvPr/>
        </p:nvSpPr>
        <p:spPr>
          <a:xfrm>
            <a:off x="7535160" y="5986800"/>
            <a:ext cx="278136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Orta (hesablama)</a:t>
            </a:r>
            <a:endParaRPr b="0" lang="en-US" sz="1700" spc="-1" strike="noStrike">
              <a:solidFill>
                <a:srgbClr val="000000"/>
              </a:solidFill>
              <a:latin typeface="Arial"/>
            </a:endParaRPr>
          </a:p>
        </p:txBody>
      </p:sp>
      <p:sp>
        <p:nvSpPr>
          <p:cNvPr id="212" name="Text 36"/>
          <p:cNvSpPr/>
          <p:nvPr/>
        </p:nvSpPr>
        <p:spPr>
          <a:xfrm>
            <a:off x="10756800" y="5986800"/>
            <a:ext cx="278532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Yüksək (model işlətmə)</a:t>
            </a:r>
            <a:endParaRPr b="0" lang="en-US" sz="1700" spc="-1" strike="noStrike">
              <a:solidFill>
                <a:srgbClr val="000000"/>
              </a:solidFill>
              <a:latin typeface="Arial"/>
            </a:endParaRPr>
          </a:p>
        </p:txBody>
      </p:sp>
      <p:sp>
        <p:nvSpPr>
          <p:cNvPr id="213" name="Text 37"/>
          <p:cNvSpPr/>
          <p:nvPr/>
        </p:nvSpPr>
        <p:spPr>
          <a:xfrm>
            <a:off x="863640" y="6698520"/>
            <a:ext cx="12901680" cy="32292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Hər texnologiyanın öz güclü tərəfləri və optimal istifadə ssenariləri var. Düzgün seçim biznes ehtiyaclarından asılıdır.</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4" name="Image 0" descr="preencoded.png"/>
          <p:cNvPicPr/>
          <p:nvPr/>
        </p:nvPicPr>
        <p:blipFill>
          <a:blip r:embed="rId1"/>
          <a:stretch/>
        </p:blipFill>
        <p:spPr>
          <a:xfrm>
            <a:off x="0" y="0"/>
            <a:ext cx="14629320" cy="2108520"/>
          </a:xfrm>
          <a:prstGeom prst="rect">
            <a:avLst/>
          </a:prstGeom>
          <a:ln w="0">
            <a:noFill/>
          </a:ln>
        </p:spPr>
      </p:pic>
      <p:sp>
        <p:nvSpPr>
          <p:cNvPr id="215" name="Shape 0"/>
          <p:cNvSpPr/>
          <p:nvPr/>
        </p:nvSpPr>
        <p:spPr>
          <a:xfrm>
            <a:off x="1265400" y="2837520"/>
            <a:ext cx="776160" cy="295920"/>
          </a:xfrm>
          <a:prstGeom prst="roundRect">
            <a:avLst>
              <a:gd name="adj" fmla="val 6824"/>
            </a:avLst>
          </a:prstGeom>
          <a:no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6" name="Text 1"/>
          <p:cNvSpPr/>
          <p:nvPr/>
        </p:nvSpPr>
        <p:spPr>
          <a:xfrm>
            <a:off x="1374120" y="2895840"/>
            <a:ext cx="558360" cy="179280"/>
          </a:xfrm>
          <a:prstGeom prst="rect">
            <a:avLst/>
          </a:prstGeom>
          <a:noFill/>
          <a:ln w="0">
            <a:noFill/>
          </a:ln>
        </p:spPr>
        <p:style>
          <a:lnRef idx="0"/>
          <a:fillRef idx="0"/>
          <a:effectRef idx="0"/>
          <a:fontRef idx="minor"/>
        </p:style>
        <p:txBody>
          <a:bodyPr wrap="none" lIns="0" rIns="0" tIns="0" bIns="0" anchor="t">
            <a:noAutofit/>
          </a:bodyPr>
          <a:p>
            <a:pPr>
              <a:lnSpc>
                <a:spcPts val="1400"/>
              </a:lnSpc>
              <a:tabLst>
                <a:tab algn="l" pos="0"/>
              </a:tabLst>
            </a:pPr>
            <a:r>
              <a:rPr b="0" lang="en-US" sz="1050" spc="-1" strike="noStrike">
                <a:solidFill>
                  <a:srgbClr val="ffffff"/>
                </a:solidFill>
                <a:latin typeface="Source Sans 3"/>
                <a:ea typeface="Source Sans 3"/>
              </a:rPr>
              <a:t>PRAKTIKA</a:t>
            </a:r>
            <a:endParaRPr b="0" lang="en-US" sz="1050" spc="-1" strike="noStrike">
              <a:solidFill>
                <a:srgbClr val="000000"/>
              </a:solidFill>
              <a:latin typeface="Arial"/>
            </a:endParaRPr>
          </a:p>
        </p:txBody>
      </p:sp>
      <p:sp>
        <p:nvSpPr>
          <p:cNvPr id="217" name="Text 2"/>
          <p:cNvSpPr/>
          <p:nvPr/>
        </p:nvSpPr>
        <p:spPr>
          <a:xfrm>
            <a:off x="1265400" y="3187080"/>
            <a:ext cx="6629400" cy="478440"/>
          </a:xfrm>
          <a:prstGeom prst="rect">
            <a:avLst/>
          </a:prstGeom>
          <a:noFill/>
          <a:ln w="0">
            <a:noFill/>
          </a:ln>
        </p:spPr>
        <p:style>
          <a:lnRef idx="0"/>
          <a:fillRef idx="0"/>
          <a:effectRef idx="0"/>
          <a:fontRef idx="minor"/>
        </p:style>
        <p:txBody>
          <a:bodyPr wrap="none" lIns="0" rIns="0" tIns="0" bIns="0" anchor="t">
            <a:noAutofit/>
          </a:bodyPr>
          <a:p>
            <a:pPr>
              <a:lnSpc>
                <a:spcPts val="3750"/>
              </a:lnSpc>
              <a:tabLst>
                <a:tab algn="l" pos="0"/>
              </a:tabLst>
            </a:pPr>
            <a:r>
              <a:rPr b="1" lang="en-US" sz="3000" spc="-1" strike="noStrike">
                <a:solidFill>
                  <a:srgbClr val="ffffff"/>
                </a:solidFill>
                <a:latin typeface="Montserrat Bold"/>
                <a:ea typeface="Montserrat Bold"/>
              </a:rPr>
              <a:t>İdarəetmə Vəzifələrinə Uyğunluq</a:t>
            </a:r>
            <a:endParaRPr b="0" lang="en-US" sz="3000" spc="-1" strike="noStrike">
              <a:solidFill>
                <a:srgbClr val="000000"/>
              </a:solidFill>
              <a:latin typeface="Arial"/>
            </a:endParaRPr>
          </a:p>
        </p:txBody>
      </p:sp>
      <p:sp>
        <p:nvSpPr>
          <p:cNvPr id="218" name="Text 3"/>
          <p:cNvSpPr/>
          <p:nvPr/>
        </p:nvSpPr>
        <p:spPr>
          <a:xfrm>
            <a:off x="1265400" y="3864240"/>
            <a:ext cx="12098520" cy="450000"/>
          </a:xfrm>
          <a:prstGeom prst="rect">
            <a:avLst/>
          </a:prstGeom>
          <a:noFill/>
          <a:ln w="0">
            <a:noFill/>
          </a:ln>
        </p:spPr>
        <p:style>
          <a:lnRef idx="0"/>
          <a:fillRef idx="0"/>
          <a:effectRef idx="0"/>
          <a:fontRef idx="minor"/>
        </p:style>
        <p:txBody>
          <a:bodyPr lIns="0" rIns="0" tIns="0" bIns="0" anchor="t">
            <a:noAutofit/>
          </a:bodyPr>
          <a:p>
            <a:pPr>
              <a:lnSpc>
                <a:spcPts val="1749"/>
              </a:lnSpc>
              <a:tabLst>
                <a:tab algn="l" pos="0"/>
              </a:tabLst>
            </a:pPr>
            <a:r>
              <a:rPr b="0" lang="en-US" sz="1300" spc="-1" strike="noStrike">
                <a:solidFill>
                  <a:srgbClr val="e2e6e9"/>
                </a:solidFill>
                <a:latin typeface="Source Sans 3"/>
                <a:ea typeface="Source Sans 3"/>
              </a:rPr>
              <a:t>Süni intellektin müxtəlif növləri müxtəlif idarəetmə vəzifələri üçün optimal həllər təqdim edir. Doğru texnologiyanın seçilməsi effektivlik və resurs optimallaşdırılması üçün kritik əhəmiyyət daşıyır.</a:t>
            </a:r>
            <a:endParaRPr b="0" lang="en-US" sz="1300" spc="-1" strike="noStrike">
              <a:solidFill>
                <a:srgbClr val="000000"/>
              </a:solidFill>
              <a:latin typeface="Arial"/>
            </a:endParaRPr>
          </a:p>
        </p:txBody>
      </p:sp>
      <p:pic>
        <p:nvPicPr>
          <p:cNvPr id="219" name="Image 1" descr="preencoded.png"/>
          <p:cNvPicPr/>
          <p:nvPr/>
        </p:nvPicPr>
        <p:blipFill>
          <a:blip r:embed="rId2"/>
          <a:stretch/>
        </p:blipFill>
        <p:spPr>
          <a:xfrm>
            <a:off x="1265400" y="4463640"/>
            <a:ext cx="842760" cy="1011600"/>
          </a:xfrm>
          <a:prstGeom prst="rect">
            <a:avLst/>
          </a:prstGeom>
          <a:ln w="0">
            <a:noFill/>
          </a:ln>
        </p:spPr>
      </p:pic>
      <p:sp>
        <p:nvSpPr>
          <p:cNvPr id="220" name="Text 4"/>
          <p:cNvSpPr/>
          <p:nvPr/>
        </p:nvSpPr>
        <p:spPr>
          <a:xfrm>
            <a:off x="2241000" y="4632480"/>
            <a:ext cx="2943720" cy="23868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1" lang="en-US" sz="1500" spc="-1" strike="noStrike">
                <a:solidFill>
                  <a:srgbClr val="e2e6e9"/>
                </a:solidFill>
                <a:latin typeface="Montserrat Bold"/>
                <a:ea typeface="Montserrat Bold"/>
              </a:rPr>
              <a:t>Qaydaya Əsaslanan Proseslər</a:t>
            </a:r>
            <a:endParaRPr b="0" lang="en-US" sz="1500" spc="-1" strike="noStrike">
              <a:solidFill>
                <a:srgbClr val="000000"/>
              </a:solidFill>
              <a:latin typeface="Arial"/>
            </a:endParaRPr>
          </a:p>
        </p:txBody>
      </p:sp>
      <p:sp>
        <p:nvSpPr>
          <p:cNvPr id="221" name="Text 5"/>
          <p:cNvSpPr/>
          <p:nvPr/>
        </p:nvSpPr>
        <p:spPr>
          <a:xfrm>
            <a:off x="2241000" y="4951080"/>
            <a:ext cx="11122920" cy="224280"/>
          </a:xfrm>
          <a:prstGeom prst="rect">
            <a:avLst/>
          </a:prstGeom>
          <a:noFill/>
          <a:ln w="0">
            <a:noFill/>
          </a:ln>
        </p:spPr>
        <p:style>
          <a:lnRef idx="0"/>
          <a:fillRef idx="0"/>
          <a:effectRef idx="0"/>
          <a:fontRef idx="minor"/>
        </p:style>
        <p:txBody>
          <a:bodyPr wrap="none" lIns="0" rIns="0" tIns="0" bIns="0" anchor="t">
            <a:noAutofit/>
          </a:bodyPr>
          <a:p>
            <a:pPr>
              <a:lnSpc>
                <a:spcPts val="1749"/>
              </a:lnSpc>
              <a:tabLst>
                <a:tab algn="l" pos="0"/>
              </a:tabLst>
            </a:pPr>
            <a:r>
              <a:rPr b="1" lang="en-US" sz="1300" spc="-1" strike="noStrike">
                <a:solidFill>
                  <a:srgbClr val="e2e6e9"/>
                </a:solidFill>
                <a:latin typeface="Source Sans 3"/>
                <a:ea typeface="Source Sans 3"/>
              </a:rPr>
              <a:t>Ekspert Sistemlər</a:t>
            </a:r>
            <a:r>
              <a:rPr b="0" lang="en-US" sz="1300" spc="-1" strike="noStrike">
                <a:solidFill>
                  <a:srgbClr val="e2e6e9"/>
                </a:solidFill>
                <a:latin typeface="Source Sans 3"/>
                <a:ea typeface="Source Sans 3"/>
              </a:rPr>
              <a:t> - Sənəd yoxlaması, uyğunluq monitorinqi, avtomatik qərar qəbulu. Şəffaf və izaholuna bilən nəticələr.</a:t>
            </a:r>
            <a:endParaRPr b="0" lang="en-US" sz="1300" spc="-1" strike="noStrike">
              <a:solidFill>
                <a:srgbClr val="000000"/>
              </a:solidFill>
              <a:latin typeface="Arial"/>
            </a:endParaRPr>
          </a:p>
        </p:txBody>
      </p:sp>
      <p:pic>
        <p:nvPicPr>
          <p:cNvPr id="222" name="Image 2" descr="preencoded.png"/>
          <p:cNvPicPr/>
          <p:nvPr/>
        </p:nvPicPr>
        <p:blipFill>
          <a:blip r:embed="rId3"/>
          <a:stretch/>
        </p:blipFill>
        <p:spPr>
          <a:xfrm>
            <a:off x="1265400" y="5476320"/>
            <a:ext cx="842760" cy="1011600"/>
          </a:xfrm>
          <a:prstGeom prst="rect">
            <a:avLst/>
          </a:prstGeom>
          <a:ln w="0">
            <a:noFill/>
          </a:ln>
        </p:spPr>
      </p:pic>
      <p:sp>
        <p:nvSpPr>
          <p:cNvPr id="223" name="Text 6"/>
          <p:cNvSpPr/>
          <p:nvPr/>
        </p:nvSpPr>
        <p:spPr>
          <a:xfrm>
            <a:off x="2241000" y="5645160"/>
            <a:ext cx="2665080" cy="23868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1" lang="en-US" sz="1500" spc="-1" strike="noStrike">
                <a:solidFill>
                  <a:srgbClr val="e2e6e9"/>
                </a:solidFill>
                <a:latin typeface="Montserrat Bold"/>
                <a:ea typeface="Montserrat Bold"/>
              </a:rPr>
              <a:t>Proqnozlaşdırma və Analiz</a:t>
            </a:r>
            <a:endParaRPr b="0" lang="en-US" sz="1500" spc="-1" strike="noStrike">
              <a:solidFill>
                <a:srgbClr val="000000"/>
              </a:solidFill>
              <a:latin typeface="Arial"/>
            </a:endParaRPr>
          </a:p>
        </p:txBody>
      </p:sp>
      <p:sp>
        <p:nvSpPr>
          <p:cNvPr id="224" name="Text 7"/>
          <p:cNvSpPr/>
          <p:nvPr/>
        </p:nvSpPr>
        <p:spPr>
          <a:xfrm>
            <a:off x="2241000" y="5963760"/>
            <a:ext cx="11122920" cy="224280"/>
          </a:xfrm>
          <a:prstGeom prst="rect">
            <a:avLst/>
          </a:prstGeom>
          <a:noFill/>
          <a:ln w="0">
            <a:noFill/>
          </a:ln>
        </p:spPr>
        <p:style>
          <a:lnRef idx="0"/>
          <a:fillRef idx="0"/>
          <a:effectRef idx="0"/>
          <a:fontRef idx="minor"/>
        </p:style>
        <p:txBody>
          <a:bodyPr wrap="none" lIns="0" rIns="0" tIns="0" bIns="0" anchor="t">
            <a:noAutofit/>
          </a:bodyPr>
          <a:p>
            <a:pPr>
              <a:lnSpc>
                <a:spcPts val="1749"/>
              </a:lnSpc>
              <a:tabLst>
                <a:tab algn="l" pos="0"/>
              </a:tabLst>
            </a:pPr>
            <a:r>
              <a:rPr b="1" lang="en-US" sz="1300" spc="-1" strike="noStrike">
                <a:solidFill>
                  <a:srgbClr val="e2e6e9"/>
                </a:solidFill>
                <a:latin typeface="Source Sans 3"/>
                <a:ea typeface="Source Sans 3"/>
              </a:rPr>
              <a:t>Maşın Öyrənməsi</a:t>
            </a:r>
            <a:r>
              <a:rPr b="0" lang="en-US" sz="1300" spc="-1" strike="noStrike">
                <a:solidFill>
                  <a:srgbClr val="e2e6e9"/>
                </a:solidFill>
                <a:latin typeface="Source Sans 3"/>
                <a:ea typeface="Source Sans 3"/>
              </a:rPr>
              <a:t> - Satış proqnozu, tələb planlaması, risk qiymətləndirməsi, müştəri davranışının təxmini. Keçmiş məlumatlardan öyrənir.</a:t>
            </a:r>
            <a:endParaRPr b="0" lang="en-US" sz="1300" spc="-1" strike="noStrike">
              <a:solidFill>
                <a:srgbClr val="000000"/>
              </a:solidFill>
              <a:latin typeface="Arial"/>
            </a:endParaRPr>
          </a:p>
        </p:txBody>
      </p:sp>
      <p:pic>
        <p:nvPicPr>
          <p:cNvPr id="225" name="Image 3" descr="preencoded.png"/>
          <p:cNvPicPr/>
          <p:nvPr/>
        </p:nvPicPr>
        <p:blipFill>
          <a:blip r:embed="rId4"/>
          <a:stretch/>
        </p:blipFill>
        <p:spPr>
          <a:xfrm>
            <a:off x="1265400" y="6489000"/>
            <a:ext cx="842760" cy="1011600"/>
          </a:xfrm>
          <a:prstGeom prst="rect">
            <a:avLst/>
          </a:prstGeom>
          <a:ln w="0">
            <a:noFill/>
          </a:ln>
        </p:spPr>
      </p:pic>
      <p:sp>
        <p:nvSpPr>
          <p:cNvPr id="226" name="Text 8"/>
          <p:cNvSpPr/>
          <p:nvPr/>
        </p:nvSpPr>
        <p:spPr>
          <a:xfrm>
            <a:off x="2241000" y="6657840"/>
            <a:ext cx="2399400" cy="23868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1" lang="en-US" sz="1500" spc="-1" strike="noStrike">
                <a:solidFill>
                  <a:srgbClr val="e2e6e9"/>
                </a:solidFill>
                <a:latin typeface="Montserrat Bold"/>
                <a:ea typeface="Montserrat Bold"/>
              </a:rPr>
              <a:t>Strategiya və Yaradıcılıq</a:t>
            </a:r>
            <a:endParaRPr b="0" lang="en-US" sz="1500" spc="-1" strike="noStrike">
              <a:solidFill>
                <a:srgbClr val="000000"/>
              </a:solidFill>
              <a:latin typeface="Arial"/>
            </a:endParaRPr>
          </a:p>
        </p:txBody>
      </p:sp>
      <p:sp>
        <p:nvSpPr>
          <p:cNvPr id="227" name="Text 9"/>
          <p:cNvSpPr/>
          <p:nvPr/>
        </p:nvSpPr>
        <p:spPr>
          <a:xfrm>
            <a:off x="2241000" y="6976440"/>
            <a:ext cx="11122920" cy="224280"/>
          </a:xfrm>
          <a:prstGeom prst="rect">
            <a:avLst/>
          </a:prstGeom>
          <a:noFill/>
          <a:ln w="0">
            <a:noFill/>
          </a:ln>
        </p:spPr>
        <p:style>
          <a:lnRef idx="0"/>
          <a:fillRef idx="0"/>
          <a:effectRef idx="0"/>
          <a:fontRef idx="minor"/>
        </p:style>
        <p:txBody>
          <a:bodyPr wrap="none" lIns="0" rIns="0" tIns="0" bIns="0" anchor="t">
            <a:noAutofit/>
          </a:bodyPr>
          <a:p>
            <a:pPr>
              <a:lnSpc>
                <a:spcPts val="1749"/>
              </a:lnSpc>
              <a:tabLst>
                <a:tab algn="l" pos="0"/>
              </a:tabLst>
            </a:pPr>
            <a:r>
              <a:rPr b="1" lang="en-US" sz="1300" spc="-1" strike="noStrike">
                <a:solidFill>
                  <a:srgbClr val="e2e6e9"/>
                </a:solidFill>
                <a:latin typeface="Source Sans 3"/>
                <a:ea typeface="Source Sans 3"/>
              </a:rPr>
              <a:t>Generativ SI</a:t>
            </a:r>
            <a:r>
              <a:rPr b="0" lang="en-US" sz="1300" spc="-1" strike="noStrike">
                <a:solidFill>
                  <a:srgbClr val="e2e6e9"/>
                </a:solidFill>
                <a:latin typeface="Source Sans 3"/>
                <a:ea typeface="Source Sans 3"/>
              </a:rPr>
              <a:t> - Biznes planlarının hazırlanması, marketinq məzmununun yaradılması, innovasiya ideyalarının generasiyası. Yeni perspektivlər açır.</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Shape 0"/>
          <p:cNvSpPr/>
          <p:nvPr/>
        </p:nvSpPr>
        <p:spPr>
          <a:xfrm>
            <a:off x="2693520" y="763920"/>
            <a:ext cx="708480" cy="199440"/>
          </a:xfrm>
          <a:prstGeom prst="roundRect">
            <a:avLst>
              <a:gd name="adj" fmla="val 7713"/>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29" name="Image 0" descr="preencoded.png"/>
          <p:cNvPicPr/>
          <p:nvPr/>
        </p:nvPicPr>
        <p:blipFill>
          <a:blip r:embed="rId1">
            <a:extLst>
              <a:ext uri="{96DAC541-7B7A-43D3-8B79-37D633B846F1}">
                <asvg:svgBlip xmlns:asvg="http://schemas.microsoft.com/office/drawing/2016/SVG/main" r:embed="rId2"/>
              </a:ext>
            </a:extLst>
          </a:blip>
          <a:stretch/>
        </p:blipFill>
        <p:spPr>
          <a:xfrm>
            <a:off x="2770560" y="812520"/>
            <a:ext cx="101880" cy="101880"/>
          </a:xfrm>
          <a:prstGeom prst="rect">
            <a:avLst/>
          </a:prstGeom>
          <a:ln w="0">
            <a:noFill/>
          </a:ln>
        </p:spPr>
      </p:pic>
      <p:sp>
        <p:nvSpPr>
          <p:cNvPr id="230" name="Text 1"/>
          <p:cNvSpPr/>
          <p:nvPr/>
        </p:nvSpPr>
        <p:spPr>
          <a:xfrm>
            <a:off x="2925360" y="802440"/>
            <a:ext cx="399600" cy="122400"/>
          </a:xfrm>
          <a:prstGeom prst="rect">
            <a:avLst/>
          </a:prstGeom>
          <a:noFill/>
          <a:ln w="0">
            <a:noFill/>
          </a:ln>
        </p:spPr>
        <p:style>
          <a:lnRef idx="0"/>
          <a:fillRef idx="0"/>
          <a:effectRef idx="0"/>
          <a:fontRef idx="minor"/>
        </p:style>
        <p:txBody>
          <a:bodyPr wrap="none" lIns="0" rIns="0" tIns="0" bIns="0" anchor="t">
            <a:noAutofit/>
          </a:bodyPr>
          <a:p>
            <a:pPr>
              <a:lnSpc>
                <a:spcPts val="950"/>
              </a:lnSpc>
              <a:tabLst>
                <a:tab algn="l" pos="0"/>
              </a:tabLst>
            </a:pPr>
            <a:r>
              <a:rPr b="0" lang="en-US" sz="800" spc="-1" strike="noStrike">
                <a:solidFill>
                  <a:srgbClr val="e2e6e9"/>
                </a:solidFill>
                <a:latin typeface="Source Sans 3"/>
                <a:ea typeface="Source Sans 3"/>
              </a:rPr>
              <a:t>TAPŞIRIQ</a:t>
            </a:r>
            <a:endParaRPr b="0" lang="en-US" sz="800" spc="-1" strike="noStrike">
              <a:solidFill>
                <a:srgbClr val="000000"/>
              </a:solidFill>
              <a:latin typeface="Arial"/>
            </a:endParaRPr>
          </a:p>
        </p:txBody>
      </p:sp>
      <p:sp>
        <p:nvSpPr>
          <p:cNvPr id="231" name="Text 2"/>
          <p:cNvSpPr/>
          <p:nvPr/>
        </p:nvSpPr>
        <p:spPr>
          <a:xfrm>
            <a:off x="2693520" y="995040"/>
            <a:ext cx="2929320" cy="365040"/>
          </a:xfrm>
          <a:prstGeom prst="rect">
            <a:avLst/>
          </a:prstGeom>
          <a:noFill/>
          <a:ln w="0">
            <a:noFill/>
          </a:ln>
        </p:spPr>
        <p:style>
          <a:lnRef idx="0"/>
          <a:fillRef idx="0"/>
          <a:effectRef idx="0"/>
          <a:fontRef idx="minor"/>
        </p:style>
        <p:txBody>
          <a:bodyPr wrap="none" lIns="0" rIns="0" tIns="0" bIns="0" anchor="t">
            <a:noAutofit/>
          </a:bodyPr>
          <a:p>
            <a:pPr>
              <a:lnSpc>
                <a:spcPts val="2849"/>
              </a:lnSpc>
              <a:tabLst>
                <a:tab algn="l" pos="0"/>
              </a:tabLst>
            </a:pPr>
            <a:r>
              <a:rPr b="1" lang="en-US" sz="2300" spc="-1" strike="noStrike">
                <a:solidFill>
                  <a:srgbClr val="ffffff"/>
                </a:solidFill>
                <a:latin typeface="Montserrat Bold"/>
                <a:ea typeface="Montserrat Bold"/>
              </a:rPr>
              <a:t>Ev Tapşırığı</a:t>
            </a:r>
            <a:endParaRPr b="0" lang="en-US" sz="2300" spc="-1" strike="noStrike">
              <a:solidFill>
                <a:srgbClr val="000000"/>
              </a:solidFill>
              <a:latin typeface="Arial"/>
            </a:endParaRPr>
          </a:p>
        </p:txBody>
      </p:sp>
      <p:sp>
        <p:nvSpPr>
          <p:cNvPr id="232" name="Shape 3"/>
          <p:cNvSpPr/>
          <p:nvPr/>
        </p:nvSpPr>
        <p:spPr>
          <a:xfrm>
            <a:off x="2600640" y="1476720"/>
            <a:ext cx="3693240" cy="5987880"/>
          </a:xfrm>
          <a:prstGeom prst="roundRect">
            <a:avLst>
              <a:gd name="adj" fmla="val 524"/>
            </a:avLst>
          </a:prstGeom>
          <a:solidFill>
            <a:srgbClr val="1d1f2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3" name="Text 4"/>
          <p:cNvSpPr/>
          <p:nvPr/>
        </p:nvSpPr>
        <p:spPr>
          <a:xfrm>
            <a:off x="2729520" y="1553760"/>
            <a:ext cx="1757160" cy="21888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1" lang="en-US" sz="1350" spc="-1" strike="noStrike">
                <a:solidFill>
                  <a:srgbClr val="ffffff"/>
                </a:solidFill>
                <a:latin typeface="Montserrat Bold"/>
                <a:ea typeface="Montserrat Bold"/>
              </a:rPr>
              <a:t>Praktik Tapşırıq</a:t>
            </a:r>
            <a:endParaRPr b="0" lang="en-US" sz="1350" spc="-1" strike="noStrike">
              <a:solidFill>
                <a:srgbClr val="000000"/>
              </a:solidFill>
              <a:latin typeface="Arial"/>
            </a:endParaRPr>
          </a:p>
        </p:txBody>
      </p:sp>
      <p:sp>
        <p:nvSpPr>
          <p:cNvPr id="234" name="Text 5"/>
          <p:cNvSpPr/>
          <p:nvPr/>
        </p:nvSpPr>
        <p:spPr>
          <a:xfrm>
            <a:off x="2729520" y="1850400"/>
            <a:ext cx="3435480" cy="307800"/>
          </a:xfrm>
          <a:prstGeom prst="rect">
            <a:avLst/>
          </a:prstGeom>
          <a:noFill/>
          <a:ln w="0">
            <a:noFill/>
          </a:ln>
        </p:spPr>
        <p:style>
          <a:lnRef idx="0"/>
          <a:fillRef idx="0"/>
          <a:effectRef idx="0"/>
          <a:fontRef idx="minor"/>
        </p:style>
        <p:txBody>
          <a:bodyPr lIns="0" rIns="0" tIns="0" bIns="0" anchor="t">
            <a:noAutofit/>
          </a:bodyPr>
          <a:p>
            <a:pPr>
              <a:lnSpc>
                <a:spcPts val="1199"/>
              </a:lnSpc>
              <a:tabLst>
                <a:tab algn="l" pos="0"/>
              </a:tabLst>
            </a:pPr>
            <a:r>
              <a:rPr b="0" lang="en-US" sz="1000" spc="-1" strike="noStrike">
                <a:solidFill>
                  <a:srgbClr val="e2e6e9"/>
                </a:solidFill>
                <a:latin typeface="Source Sans 3"/>
                <a:ea typeface="Source Sans 3"/>
              </a:rPr>
              <a:t>Bu tapşırıq sizə öyrəndiyiniz bilikləri real biznes ssenarilərində tətbiq etmək imkanı verəcək.</a:t>
            </a:r>
            <a:endParaRPr b="0" lang="en-US" sz="1000" spc="-1" strike="noStrike">
              <a:solidFill>
                <a:srgbClr val="000000"/>
              </a:solidFill>
              <a:latin typeface="Arial"/>
            </a:endParaRPr>
          </a:p>
        </p:txBody>
      </p:sp>
      <p:sp>
        <p:nvSpPr>
          <p:cNvPr id="235" name="Text 6"/>
          <p:cNvSpPr/>
          <p:nvPr/>
        </p:nvSpPr>
        <p:spPr>
          <a:xfrm>
            <a:off x="3654720" y="3083760"/>
            <a:ext cx="1584720" cy="321120"/>
          </a:xfrm>
          <a:prstGeom prst="rect">
            <a:avLst/>
          </a:prstGeom>
          <a:noFill/>
          <a:ln w="0">
            <a:noFill/>
          </a:ln>
        </p:spPr>
        <p:style>
          <a:lnRef idx="0"/>
          <a:fillRef idx="0"/>
          <a:effectRef idx="0"/>
          <a:fontRef idx="minor"/>
        </p:style>
        <p:txBody>
          <a:bodyPr wrap="none" lIns="0" rIns="0" tIns="0" bIns="0" anchor="t">
            <a:noAutofit/>
          </a:bodyPr>
          <a:p>
            <a:pPr algn="ctr">
              <a:lnSpc>
                <a:spcPts val="2500"/>
              </a:lnSpc>
              <a:tabLst>
                <a:tab algn="l" pos="0"/>
              </a:tabLst>
            </a:pPr>
            <a:r>
              <a:rPr b="1" lang="en-US" sz="2500" spc="-1" strike="noStrike">
                <a:solidFill>
                  <a:srgbClr val="e2e6e9"/>
                </a:solidFill>
                <a:latin typeface="Montserrat Bold"/>
                <a:ea typeface="Montserrat Bold"/>
              </a:rPr>
              <a:t>1/2</a:t>
            </a:r>
            <a:endParaRPr b="0" lang="en-US" sz="2500" spc="-1" strike="noStrike">
              <a:solidFill>
                <a:srgbClr val="000000"/>
              </a:solidFill>
              <a:latin typeface="Arial"/>
            </a:endParaRPr>
          </a:p>
        </p:txBody>
      </p:sp>
      <p:pic>
        <p:nvPicPr>
          <p:cNvPr id="236" name="Image 1" descr="preencoded.png"/>
          <p:cNvPicPr/>
          <p:nvPr/>
        </p:nvPicPr>
        <p:blipFill>
          <a:blip r:embed="rId3"/>
          <a:stretch/>
        </p:blipFill>
        <p:spPr>
          <a:xfrm>
            <a:off x="3480840" y="2278080"/>
            <a:ext cx="1932840" cy="1932840"/>
          </a:xfrm>
          <a:prstGeom prst="rect">
            <a:avLst/>
          </a:prstGeom>
          <a:ln w="0">
            <a:noFill/>
          </a:ln>
        </p:spPr>
      </p:pic>
      <p:sp>
        <p:nvSpPr>
          <p:cNvPr id="237" name="Text 7"/>
          <p:cNvSpPr/>
          <p:nvPr/>
        </p:nvSpPr>
        <p:spPr>
          <a:xfrm>
            <a:off x="3715200" y="4321080"/>
            <a:ext cx="1464120" cy="182160"/>
          </a:xfrm>
          <a:prstGeom prst="rect">
            <a:avLst/>
          </a:prstGeom>
          <a:noFill/>
          <a:ln w="0">
            <a:noFill/>
          </a:ln>
        </p:spPr>
        <p:style>
          <a:lnRef idx="0"/>
          <a:fillRef idx="0"/>
          <a:effectRef idx="0"/>
          <a:fontRef idx="minor"/>
        </p:style>
        <p:txBody>
          <a:bodyPr wrap="none" lIns="0" rIns="0" tIns="0" bIns="0" anchor="t">
            <a:noAutofit/>
          </a:bodyPr>
          <a:p>
            <a:pPr algn="ctr">
              <a:lnSpc>
                <a:spcPts val="1400"/>
              </a:lnSpc>
              <a:tabLst>
                <a:tab algn="l" pos="0"/>
              </a:tabLst>
            </a:pPr>
            <a:r>
              <a:rPr b="1" lang="en-US" sz="1150" spc="-1" strike="noStrike">
                <a:solidFill>
                  <a:srgbClr val="e2e6e9"/>
                </a:solidFill>
                <a:latin typeface="Montserrat Bold"/>
                <a:ea typeface="Montserrat Bold"/>
              </a:rPr>
              <a:t>Proses Seçimi</a:t>
            </a:r>
            <a:endParaRPr b="0" lang="en-US" sz="1150" spc="-1" strike="noStrike">
              <a:solidFill>
                <a:srgbClr val="000000"/>
              </a:solidFill>
              <a:latin typeface="Arial"/>
            </a:endParaRPr>
          </a:p>
        </p:txBody>
      </p:sp>
      <p:sp>
        <p:nvSpPr>
          <p:cNvPr id="238" name="Text 8"/>
          <p:cNvSpPr/>
          <p:nvPr/>
        </p:nvSpPr>
        <p:spPr>
          <a:xfrm>
            <a:off x="2729520" y="4581000"/>
            <a:ext cx="3435480" cy="153360"/>
          </a:xfrm>
          <a:prstGeom prst="rect">
            <a:avLst/>
          </a:prstGeom>
          <a:noFill/>
          <a:ln w="0">
            <a:noFill/>
          </a:ln>
        </p:spPr>
        <p:style>
          <a:lnRef idx="0"/>
          <a:fillRef idx="0"/>
          <a:effectRef idx="0"/>
          <a:fontRef idx="minor"/>
        </p:style>
        <p:txBody>
          <a:bodyPr wrap="none" lIns="0" rIns="0" tIns="0" bIns="0" anchor="t">
            <a:noAutofit/>
          </a:bodyPr>
          <a:p>
            <a:pPr algn="ctr">
              <a:lnSpc>
                <a:spcPts val="1199"/>
              </a:lnSpc>
              <a:tabLst>
                <a:tab algn="l" pos="0"/>
              </a:tabLst>
            </a:pPr>
            <a:r>
              <a:rPr b="0" lang="en-US" sz="1000" spc="-1" strike="noStrike">
                <a:solidFill>
                  <a:srgbClr val="e2e6e9"/>
                </a:solidFill>
                <a:latin typeface="Source Sans 3"/>
                <a:ea typeface="Source Sans 3"/>
              </a:rPr>
              <a:t>Biznes prosesi</a:t>
            </a:r>
            <a:endParaRPr b="0" lang="en-US" sz="1000" spc="-1" strike="noStrike">
              <a:solidFill>
                <a:srgbClr val="000000"/>
              </a:solidFill>
              <a:latin typeface="Arial"/>
            </a:endParaRPr>
          </a:p>
        </p:txBody>
      </p:sp>
      <p:sp>
        <p:nvSpPr>
          <p:cNvPr id="239" name="Text 9"/>
          <p:cNvSpPr/>
          <p:nvPr/>
        </p:nvSpPr>
        <p:spPr>
          <a:xfrm>
            <a:off x="3654720" y="5727240"/>
            <a:ext cx="1584720" cy="321120"/>
          </a:xfrm>
          <a:prstGeom prst="rect">
            <a:avLst/>
          </a:prstGeom>
          <a:noFill/>
          <a:ln w="0">
            <a:noFill/>
          </a:ln>
        </p:spPr>
        <p:style>
          <a:lnRef idx="0"/>
          <a:fillRef idx="0"/>
          <a:effectRef idx="0"/>
          <a:fontRef idx="minor"/>
        </p:style>
        <p:txBody>
          <a:bodyPr wrap="none" lIns="0" rIns="0" tIns="0" bIns="0" anchor="t">
            <a:noAutofit/>
          </a:bodyPr>
          <a:p>
            <a:pPr algn="ctr">
              <a:lnSpc>
                <a:spcPts val="2500"/>
              </a:lnSpc>
              <a:tabLst>
                <a:tab algn="l" pos="0"/>
              </a:tabLst>
            </a:pPr>
            <a:r>
              <a:rPr b="1" lang="en-US" sz="2500" spc="-1" strike="noStrike">
                <a:solidFill>
                  <a:srgbClr val="e2e6e9"/>
                </a:solidFill>
                <a:latin typeface="Montserrat Bold"/>
                <a:ea typeface="Montserrat Bold"/>
              </a:rPr>
              <a:t>2/2</a:t>
            </a:r>
            <a:endParaRPr b="0" lang="en-US" sz="2500" spc="-1" strike="noStrike">
              <a:solidFill>
                <a:srgbClr val="000000"/>
              </a:solidFill>
              <a:latin typeface="Arial"/>
            </a:endParaRPr>
          </a:p>
        </p:txBody>
      </p:sp>
      <p:pic>
        <p:nvPicPr>
          <p:cNvPr id="240" name="Image 2" descr="preencoded.png"/>
          <p:cNvPicPr/>
          <p:nvPr/>
        </p:nvPicPr>
        <p:blipFill>
          <a:blip r:embed="rId4"/>
          <a:stretch/>
        </p:blipFill>
        <p:spPr>
          <a:xfrm>
            <a:off x="3480840" y="4921560"/>
            <a:ext cx="1932840" cy="1932840"/>
          </a:xfrm>
          <a:prstGeom prst="rect">
            <a:avLst/>
          </a:prstGeom>
          <a:ln w="0">
            <a:noFill/>
          </a:ln>
        </p:spPr>
      </p:pic>
      <p:sp>
        <p:nvSpPr>
          <p:cNvPr id="241" name="Text 10"/>
          <p:cNvSpPr/>
          <p:nvPr/>
        </p:nvSpPr>
        <p:spPr>
          <a:xfrm>
            <a:off x="3715200" y="6964560"/>
            <a:ext cx="1464120" cy="182160"/>
          </a:xfrm>
          <a:prstGeom prst="rect">
            <a:avLst/>
          </a:prstGeom>
          <a:noFill/>
          <a:ln w="0">
            <a:noFill/>
          </a:ln>
        </p:spPr>
        <p:style>
          <a:lnRef idx="0"/>
          <a:fillRef idx="0"/>
          <a:effectRef idx="0"/>
          <a:fontRef idx="minor"/>
        </p:style>
        <p:txBody>
          <a:bodyPr wrap="none" lIns="0" rIns="0" tIns="0" bIns="0" anchor="t">
            <a:noAutofit/>
          </a:bodyPr>
          <a:p>
            <a:pPr algn="ctr">
              <a:lnSpc>
                <a:spcPts val="1400"/>
              </a:lnSpc>
              <a:tabLst>
                <a:tab algn="l" pos="0"/>
              </a:tabLst>
            </a:pPr>
            <a:r>
              <a:rPr b="1" lang="en-US" sz="1150" spc="-1" strike="noStrike">
                <a:solidFill>
                  <a:srgbClr val="e2e6e9"/>
                </a:solidFill>
                <a:latin typeface="Montserrat Bold"/>
                <a:ea typeface="Montserrat Bold"/>
              </a:rPr>
              <a:t>SI Növü</a:t>
            </a:r>
            <a:endParaRPr b="0" lang="en-US" sz="1150" spc="-1" strike="noStrike">
              <a:solidFill>
                <a:srgbClr val="000000"/>
              </a:solidFill>
              <a:latin typeface="Arial"/>
            </a:endParaRPr>
          </a:p>
        </p:txBody>
      </p:sp>
      <p:sp>
        <p:nvSpPr>
          <p:cNvPr id="242" name="Text 11"/>
          <p:cNvSpPr/>
          <p:nvPr/>
        </p:nvSpPr>
        <p:spPr>
          <a:xfrm>
            <a:off x="2729520" y="7224840"/>
            <a:ext cx="3435480" cy="153360"/>
          </a:xfrm>
          <a:prstGeom prst="rect">
            <a:avLst/>
          </a:prstGeom>
          <a:noFill/>
          <a:ln w="0">
            <a:noFill/>
          </a:ln>
        </p:spPr>
        <p:style>
          <a:lnRef idx="0"/>
          <a:fillRef idx="0"/>
          <a:effectRef idx="0"/>
          <a:fontRef idx="minor"/>
        </p:style>
        <p:txBody>
          <a:bodyPr wrap="none" lIns="0" rIns="0" tIns="0" bIns="0" anchor="t">
            <a:noAutofit/>
          </a:bodyPr>
          <a:p>
            <a:pPr algn="ctr">
              <a:lnSpc>
                <a:spcPts val="1199"/>
              </a:lnSpc>
              <a:tabLst>
                <a:tab algn="l" pos="0"/>
              </a:tabLst>
            </a:pPr>
            <a:r>
              <a:rPr b="0" lang="en-US" sz="1000" spc="-1" strike="noStrike">
                <a:solidFill>
                  <a:srgbClr val="e2e6e9"/>
                </a:solidFill>
                <a:latin typeface="Source Sans 3"/>
                <a:ea typeface="Source Sans 3"/>
              </a:rPr>
              <a:t>Əsaslandırma</a:t>
            </a:r>
            <a:endParaRPr b="0" lang="en-US" sz="1000" spc="-1" strike="noStrike">
              <a:solidFill>
                <a:srgbClr val="000000"/>
              </a:solidFill>
              <a:latin typeface="Arial"/>
            </a:endParaRPr>
          </a:p>
        </p:txBody>
      </p:sp>
      <p:sp>
        <p:nvSpPr>
          <p:cNvPr id="243" name="Text 12"/>
          <p:cNvSpPr/>
          <p:nvPr/>
        </p:nvSpPr>
        <p:spPr>
          <a:xfrm>
            <a:off x="6524280" y="1553760"/>
            <a:ext cx="1757160" cy="218880"/>
          </a:xfrm>
          <a:prstGeom prst="rect">
            <a:avLst/>
          </a:prstGeom>
          <a:noFill/>
          <a:ln w="0">
            <a:noFill/>
          </a:ln>
        </p:spPr>
        <p:style>
          <a:lnRef idx="0"/>
          <a:fillRef idx="0"/>
          <a:effectRef idx="0"/>
          <a:fontRef idx="minor"/>
        </p:style>
        <p:txBody>
          <a:bodyPr wrap="none" lIns="0" rIns="0" tIns="0" bIns="0" anchor="t">
            <a:noAutofit/>
          </a:bodyPr>
          <a:p>
            <a:pPr>
              <a:lnSpc>
                <a:spcPts val="1701"/>
              </a:lnSpc>
              <a:tabLst>
                <a:tab algn="l" pos="0"/>
              </a:tabLst>
            </a:pPr>
            <a:r>
              <a:rPr b="1" lang="en-US" sz="1350" spc="-1" strike="noStrike">
                <a:solidFill>
                  <a:srgbClr val="ffffff"/>
                </a:solidFill>
                <a:latin typeface="Montserrat Bold"/>
                <a:ea typeface="Montserrat Bold"/>
              </a:rPr>
              <a:t>Addımlar</a:t>
            </a:r>
            <a:endParaRPr b="0" lang="en-US" sz="1350" spc="-1" strike="noStrike">
              <a:solidFill>
                <a:srgbClr val="000000"/>
              </a:solidFill>
              <a:latin typeface="Arial"/>
            </a:endParaRPr>
          </a:p>
        </p:txBody>
      </p:sp>
      <p:sp>
        <p:nvSpPr>
          <p:cNvPr id="244" name="Shape 13"/>
          <p:cNvSpPr/>
          <p:nvPr/>
        </p:nvSpPr>
        <p:spPr>
          <a:xfrm>
            <a:off x="6524280" y="1860120"/>
            <a:ext cx="289080" cy="289080"/>
          </a:xfrm>
          <a:prstGeom prst="roundRect">
            <a:avLst>
              <a:gd name="adj" fmla="val 6669"/>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5" name="Text 14"/>
          <p:cNvSpPr/>
          <p:nvPr/>
        </p:nvSpPr>
        <p:spPr>
          <a:xfrm>
            <a:off x="6581520" y="1895040"/>
            <a:ext cx="174600" cy="218520"/>
          </a:xfrm>
          <a:prstGeom prst="rect">
            <a:avLst/>
          </a:prstGeom>
          <a:noFill/>
          <a:ln w="0">
            <a:noFill/>
          </a:ln>
        </p:spPr>
        <p:style>
          <a:lnRef idx="0"/>
          <a:fillRef idx="0"/>
          <a:effectRef idx="0"/>
          <a:fontRef idx="minor"/>
        </p:style>
        <p:txBody>
          <a:bodyPr wrap="none" lIns="0" rIns="0" tIns="0" bIns="0" anchor="t">
            <a:noAutofit/>
          </a:bodyPr>
          <a:p>
            <a:pPr algn="ctr">
              <a:lnSpc>
                <a:spcPts val="1349"/>
              </a:lnSpc>
              <a:tabLst>
                <a:tab algn="l" pos="0"/>
              </a:tabLst>
            </a:pPr>
            <a:r>
              <a:rPr b="1" lang="en-US" sz="1350" spc="-1" strike="noStrike">
                <a:solidFill>
                  <a:srgbClr val="e2e6e9"/>
                </a:solidFill>
                <a:latin typeface="Montserrat Bold"/>
                <a:ea typeface="Montserrat Bold"/>
              </a:rPr>
              <a:t>1</a:t>
            </a:r>
            <a:endParaRPr b="0" lang="en-US" sz="1350" spc="-1" strike="noStrike">
              <a:solidFill>
                <a:srgbClr val="000000"/>
              </a:solidFill>
              <a:latin typeface="Arial"/>
            </a:endParaRPr>
          </a:p>
        </p:txBody>
      </p:sp>
      <p:sp>
        <p:nvSpPr>
          <p:cNvPr id="246" name="Text 15"/>
          <p:cNvSpPr/>
          <p:nvPr/>
        </p:nvSpPr>
        <p:spPr>
          <a:xfrm>
            <a:off x="6891120" y="1904400"/>
            <a:ext cx="1707120" cy="182160"/>
          </a:xfrm>
          <a:prstGeom prst="rect">
            <a:avLst/>
          </a:prstGeom>
          <a:noFill/>
          <a:ln w="0">
            <a:noFill/>
          </a:ln>
        </p:spPr>
        <p:style>
          <a:lnRef idx="0"/>
          <a:fillRef idx="0"/>
          <a:effectRef idx="0"/>
          <a:fontRef idx="minor"/>
        </p:style>
        <p:txBody>
          <a:bodyPr wrap="none" lIns="0" rIns="0" tIns="0" bIns="0" anchor="t">
            <a:noAutofit/>
          </a:bodyPr>
          <a:p>
            <a:pPr>
              <a:lnSpc>
                <a:spcPts val="1400"/>
              </a:lnSpc>
              <a:tabLst>
                <a:tab algn="l" pos="0"/>
              </a:tabLst>
            </a:pPr>
            <a:r>
              <a:rPr b="1" lang="en-US" sz="1150" spc="-1" strike="noStrike">
                <a:solidFill>
                  <a:srgbClr val="e2e6e9"/>
                </a:solidFill>
                <a:latin typeface="Montserrat Bold"/>
                <a:ea typeface="Montserrat Bold"/>
              </a:rPr>
              <a:t>Biznes Prosesini Seçin</a:t>
            </a:r>
            <a:endParaRPr b="0" lang="en-US" sz="1150" spc="-1" strike="noStrike">
              <a:solidFill>
                <a:srgbClr val="000000"/>
              </a:solidFill>
              <a:latin typeface="Arial"/>
            </a:endParaRPr>
          </a:p>
        </p:txBody>
      </p:sp>
      <p:sp>
        <p:nvSpPr>
          <p:cNvPr id="247" name="Text 16"/>
          <p:cNvSpPr/>
          <p:nvPr/>
        </p:nvSpPr>
        <p:spPr>
          <a:xfrm>
            <a:off x="6891120" y="2164320"/>
            <a:ext cx="2293920" cy="616680"/>
          </a:xfrm>
          <a:prstGeom prst="rect">
            <a:avLst/>
          </a:prstGeom>
          <a:noFill/>
          <a:ln w="0">
            <a:noFill/>
          </a:ln>
        </p:spPr>
        <p:style>
          <a:lnRef idx="0"/>
          <a:fillRef idx="0"/>
          <a:effectRef idx="0"/>
          <a:fontRef idx="minor"/>
        </p:style>
        <p:txBody>
          <a:bodyPr lIns="0" rIns="0" tIns="0" bIns="0" anchor="t">
            <a:noAutofit/>
          </a:bodyPr>
          <a:p>
            <a:pPr>
              <a:lnSpc>
                <a:spcPts val="1199"/>
              </a:lnSpc>
              <a:tabLst>
                <a:tab algn="l" pos="0"/>
              </a:tabLst>
            </a:pPr>
            <a:r>
              <a:rPr b="0" lang="en-US" sz="1000" spc="-1" strike="noStrike">
                <a:solidFill>
                  <a:srgbClr val="e2e6e9"/>
                </a:solidFill>
                <a:latin typeface="Source Sans 3"/>
                <a:ea typeface="Source Sans 3"/>
              </a:rPr>
              <a:t>Öz təşkilatınızdan və ya məlum bir şirkətdən konkret idarəetmə prosesi seçin (məs: müştəri xidməti, inventar idarəetməsi, işə qəbul prosesi).</a:t>
            </a:r>
            <a:endParaRPr b="0" lang="en-US" sz="1000" spc="-1" strike="noStrike">
              <a:solidFill>
                <a:srgbClr val="000000"/>
              </a:solidFill>
              <a:latin typeface="Arial"/>
            </a:endParaRPr>
          </a:p>
        </p:txBody>
      </p:sp>
      <p:sp>
        <p:nvSpPr>
          <p:cNvPr id="248" name="Shape 17"/>
          <p:cNvSpPr/>
          <p:nvPr/>
        </p:nvSpPr>
        <p:spPr>
          <a:xfrm>
            <a:off x="9282600" y="1860120"/>
            <a:ext cx="289080" cy="289080"/>
          </a:xfrm>
          <a:prstGeom prst="roundRect">
            <a:avLst>
              <a:gd name="adj" fmla="val 6669"/>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9" name="Text 18"/>
          <p:cNvSpPr/>
          <p:nvPr/>
        </p:nvSpPr>
        <p:spPr>
          <a:xfrm>
            <a:off x="9339480" y="1895040"/>
            <a:ext cx="174600" cy="218520"/>
          </a:xfrm>
          <a:prstGeom prst="rect">
            <a:avLst/>
          </a:prstGeom>
          <a:noFill/>
          <a:ln w="0">
            <a:noFill/>
          </a:ln>
        </p:spPr>
        <p:style>
          <a:lnRef idx="0"/>
          <a:fillRef idx="0"/>
          <a:effectRef idx="0"/>
          <a:fontRef idx="minor"/>
        </p:style>
        <p:txBody>
          <a:bodyPr wrap="none" lIns="0" rIns="0" tIns="0" bIns="0" anchor="t">
            <a:noAutofit/>
          </a:bodyPr>
          <a:p>
            <a:pPr algn="ctr">
              <a:lnSpc>
                <a:spcPts val="1349"/>
              </a:lnSpc>
              <a:tabLst>
                <a:tab algn="l" pos="0"/>
              </a:tabLst>
            </a:pPr>
            <a:r>
              <a:rPr b="1" lang="en-US" sz="1350" spc="-1" strike="noStrike">
                <a:solidFill>
                  <a:srgbClr val="e2e6e9"/>
                </a:solidFill>
                <a:latin typeface="Montserrat Bold"/>
                <a:ea typeface="Montserrat Bold"/>
              </a:rPr>
              <a:t>2</a:t>
            </a:r>
            <a:endParaRPr b="0" lang="en-US" sz="1350" spc="-1" strike="noStrike">
              <a:solidFill>
                <a:srgbClr val="000000"/>
              </a:solidFill>
              <a:latin typeface="Arial"/>
            </a:endParaRPr>
          </a:p>
        </p:txBody>
      </p:sp>
      <p:sp>
        <p:nvSpPr>
          <p:cNvPr id="250" name="Text 19"/>
          <p:cNvSpPr/>
          <p:nvPr/>
        </p:nvSpPr>
        <p:spPr>
          <a:xfrm>
            <a:off x="9649440" y="1904400"/>
            <a:ext cx="1533240" cy="182160"/>
          </a:xfrm>
          <a:prstGeom prst="rect">
            <a:avLst/>
          </a:prstGeom>
          <a:noFill/>
          <a:ln w="0">
            <a:noFill/>
          </a:ln>
        </p:spPr>
        <p:style>
          <a:lnRef idx="0"/>
          <a:fillRef idx="0"/>
          <a:effectRef idx="0"/>
          <a:fontRef idx="minor"/>
        </p:style>
        <p:txBody>
          <a:bodyPr wrap="none" lIns="0" rIns="0" tIns="0" bIns="0" anchor="t">
            <a:noAutofit/>
          </a:bodyPr>
          <a:p>
            <a:pPr>
              <a:lnSpc>
                <a:spcPts val="1400"/>
              </a:lnSpc>
              <a:tabLst>
                <a:tab algn="l" pos="0"/>
              </a:tabLst>
            </a:pPr>
            <a:r>
              <a:rPr b="1" lang="en-US" sz="1150" spc="-1" strike="noStrike">
                <a:solidFill>
                  <a:srgbClr val="e2e6e9"/>
                </a:solidFill>
                <a:latin typeface="Montserrat Bold"/>
                <a:ea typeface="Montserrat Bold"/>
              </a:rPr>
              <a:t>Problemi Təhlil Edin</a:t>
            </a:r>
            <a:endParaRPr b="0" lang="en-US" sz="1150" spc="-1" strike="noStrike">
              <a:solidFill>
                <a:srgbClr val="000000"/>
              </a:solidFill>
              <a:latin typeface="Arial"/>
            </a:endParaRPr>
          </a:p>
        </p:txBody>
      </p:sp>
      <p:sp>
        <p:nvSpPr>
          <p:cNvPr id="251" name="Text 20"/>
          <p:cNvSpPr/>
          <p:nvPr/>
        </p:nvSpPr>
        <p:spPr>
          <a:xfrm>
            <a:off x="9649440" y="2164320"/>
            <a:ext cx="2293920" cy="307800"/>
          </a:xfrm>
          <a:prstGeom prst="rect">
            <a:avLst/>
          </a:prstGeom>
          <a:noFill/>
          <a:ln w="0">
            <a:noFill/>
          </a:ln>
        </p:spPr>
        <p:style>
          <a:lnRef idx="0"/>
          <a:fillRef idx="0"/>
          <a:effectRef idx="0"/>
          <a:fontRef idx="minor"/>
        </p:style>
        <p:txBody>
          <a:bodyPr lIns="0" rIns="0" tIns="0" bIns="0" anchor="t">
            <a:noAutofit/>
          </a:bodyPr>
          <a:p>
            <a:pPr>
              <a:lnSpc>
                <a:spcPts val="1199"/>
              </a:lnSpc>
              <a:tabLst>
                <a:tab algn="l" pos="0"/>
              </a:tabLst>
            </a:pPr>
            <a:r>
              <a:rPr b="0" lang="en-US" sz="1000" spc="-1" strike="noStrike">
                <a:solidFill>
                  <a:srgbClr val="e2e6e9"/>
                </a:solidFill>
                <a:latin typeface="Source Sans 3"/>
                <a:ea typeface="Source Sans 3"/>
              </a:rPr>
              <a:t>Prosesin əsas çətinliklərini və SI-nin həll edə biləcəyi problemləri müəyyən edin.</a:t>
            </a:r>
            <a:endParaRPr b="0" lang="en-US" sz="1000" spc="-1" strike="noStrike">
              <a:solidFill>
                <a:srgbClr val="000000"/>
              </a:solidFill>
              <a:latin typeface="Arial"/>
            </a:endParaRPr>
          </a:p>
        </p:txBody>
      </p:sp>
      <p:sp>
        <p:nvSpPr>
          <p:cNvPr id="252" name="Shape 21"/>
          <p:cNvSpPr/>
          <p:nvPr/>
        </p:nvSpPr>
        <p:spPr>
          <a:xfrm>
            <a:off x="6524280" y="2935800"/>
            <a:ext cx="289080" cy="289080"/>
          </a:xfrm>
          <a:prstGeom prst="roundRect">
            <a:avLst>
              <a:gd name="adj" fmla="val 6669"/>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3" name="Text 22"/>
          <p:cNvSpPr/>
          <p:nvPr/>
        </p:nvSpPr>
        <p:spPr>
          <a:xfrm>
            <a:off x="6581520" y="2971080"/>
            <a:ext cx="174600" cy="218520"/>
          </a:xfrm>
          <a:prstGeom prst="rect">
            <a:avLst/>
          </a:prstGeom>
          <a:noFill/>
          <a:ln w="0">
            <a:noFill/>
          </a:ln>
        </p:spPr>
        <p:style>
          <a:lnRef idx="0"/>
          <a:fillRef idx="0"/>
          <a:effectRef idx="0"/>
          <a:fontRef idx="minor"/>
        </p:style>
        <p:txBody>
          <a:bodyPr wrap="none" lIns="0" rIns="0" tIns="0" bIns="0" anchor="t">
            <a:noAutofit/>
          </a:bodyPr>
          <a:p>
            <a:pPr algn="ctr">
              <a:lnSpc>
                <a:spcPts val="1349"/>
              </a:lnSpc>
              <a:tabLst>
                <a:tab algn="l" pos="0"/>
              </a:tabLst>
            </a:pPr>
            <a:r>
              <a:rPr b="1" lang="en-US" sz="1350" spc="-1" strike="noStrike">
                <a:solidFill>
                  <a:srgbClr val="e2e6e9"/>
                </a:solidFill>
                <a:latin typeface="Montserrat Bold"/>
                <a:ea typeface="Montserrat Bold"/>
              </a:rPr>
              <a:t>3</a:t>
            </a:r>
            <a:endParaRPr b="0" lang="en-US" sz="1350" spc="-1" strike="noStrike">
              <a:solidFill>
                <a:srgbClr val="000000"/>
              </a:solidFill>
              <a:latin typeface="Arial"/>
            </a:endParaRPr>
          </a:p>
        </p:txBody>
      </p:sp>
      <p:sp>
        <p:nvSpPr>
          <p:cNvPr id="254" name="Text 23"/>
          <p:cNvSpPr/>
          <p:nvPr/>
        </p:nvSpPr>
        <p:spPr>
          <a:xfrm>
            <a:off x="6891120" y="2980080"/>
            <a:ext cx="1780200" cy="182160"/>
          </a:xfrm>
          <a:prstGeom prst="rect">
            <a:avLst/>
          </a:prstGeom>
          <a:noFill/>
          <a:ln w="0">
            <a:noFill/>
          </a:ln>
        </p:spPr>
        <p:style>
          <a:lnRef idx="0"/>
          <a:fillRef idx="0"/>
          <a:effectRef idx="0"/>
          <a:fontRef idx="minor"/>
        </p:style>
        <p:txBody>
          <a:bodyPr wrap="none" lIns="0" rIns="0" tIns="0" bIns="0" anchor="t">
            <a:noAutofit/>
          </a:bodyPr>
          <a:p>
            <a:pPr>
              <a:lnSpc>
                <a:spcPts val="1400"/>
              </a:lnSpc>
              <a:tabLst>
                <a:tab algn="l" pos="0"/>
              </a:tabLst>
            </a:pPr>
            <a:r>
              <a:rPr b="1" lang="en-US" sz="1150" spc="-1" strike="noStrike">
                <a:solidFill>
                  <a:srgbClr val="e2e6e9"/>
                </a:solidFill>
                <a:latin typeface="Montserrat Bold"/>
                <a:ea typeface="Montserrat Bold"/>
              </a:rPr>
              <a:t>SI Növünü Əsaslandırın</a:t>
            </a:r>
            <a:endParaRPr b="0" lang="en-US" sz="1150" spc="-1" strike="noStrike">
              <a:solidFill>
                <a:srgbClr val="000000"/>
              </a:solidFill>
              <a:latin typeface="Arial"/>
            </a:endParaRPr>
          </a:p>
        </p:txBody>
      </p:sp>
      <p:sp>
        <p:nvSpPr>
          <p:cNvPr id="255" name="Text 24"/>
          <p:cNvSpPr/>
          <p:nvPr/>
        </p:nvSpPr>
        <p:spPr>
          <a:xfrm>
            <a:off x="6891120" y="3240360"/>
            <a:ext cx="5052240" cy="307800"/>
          </a:xfrm>
          <a:prstGeom prst="rect">
            <a:avLst/>
          </a:prstGeom>
          <a:noFill/>
          <a:ln w="0">
            <a:noFill/>
          </a:ln>
        </p:spPr>
        <p:style>
          <a:lnRef idx="0"/>
          <a:fillRef idx="0"/>
          <a:effectRef idx="0"/>
          <a:fontRef idx="minor"/>
        </p:style>
        <p:txBody>
          <a:bodyPr lIns="0" rIns="0" tIns="0" bIns="0" anchor="t">
            <a:noAutofit/>
          </a:bodyPr>
          <a:p>
            <a:pPr>
              <a:lnSpc>
                <a:spcPts val="1199"/>
              </a:lnSpc>
              <a:tabLst>
                <a:tab algn="l" pos="0"/>
              </a:tabLst>
            </a:pPr>
            <a:r>
              <a:rPr b="0" lang="en-US" sz="1000" spc="-1" strike="noStrike">
                <a:solidFill>
                  <a:srgbClr val="e2e6e9"/>
                </a:solidFill>
                <a:latin typeface="Source Sans 3"/>
                <a:ea typeface="Source Sans 3"/>
              </a:rPr>
              <a:t>Hansı SI növünün (Ekspert Sistem, ML, və ya GenAI) bu proses üçün ən uyğun olduğunu əsaslandırın. Texnologiyanın üstünlüklərini və gözlənilən nəticələri izah edin.</a:t>
            </a:r>
            <a:endParaRPr b="0" lang="en-US" sz="1000" spc="-1" strike="noStrike">
              <a:solidFill>
                <a:srgbClr val="000000"/>
              </a:solidFill>
              <a:latin typeface="Arial"/>
            </a:endParaRPr>
          </a:p>
        </p:txBody>
      </p:sp>
      <p:sp>
        <p:nvSpPr>
          <p:cNvPr id="256" name="Shape 25"/>
          <p:cNvSpPr/>
          <p:nvPr/>
        </p:nvSpPr>
        <p:spPr>
          <a:xfrm>
            <a:off x="6524280" y="3743640"/>
            <a:ext cx="5419080" cy="550440"/>
          </a:xfrm>
          <a:prstGeom prst="roundRect">
            <a:avLst>
              <a:gd name="adj" fmla="val 3507"/>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57" name="Image 3" descr="preencoded.png"/>
          <p:cNvPicPr/>
          <p:nvPr/>
        </p:nvPicPr>
        <p:blipFill>
          <a:blip r:embed="rId5"/>
          <a:stretch/>
        </p:blipFill>
        <p:spPr>
          <a:xfrm>
            <a:off x="6653160" y="3870360"/>
            <a:ext cx="159840" cy="127800"/>
          </a:xfrm>
          <a:prstGeom prst="rect">
            <a:avLst/>
          </a:prstGeom>
          <a:ln w="0">
            <a:noFill/>
          </a:ln>
        </p:spPr>
      </p:pic>
      <p:sp>
        <p:nvSpPr>
          <p:cNvPr id="258" name="Text 26"/>
          <p:cNvSpPr/>
          <p:nvPr/>
        </p:nvSpPr>
        <p:spPr>
          <a:xfrm>
            <a:off x="6942960" y="3852720"/>
            <a:ext cx="4871520" cy="307800"/>
          </a:xfrm>
          <a:prstGeom prst="rect">
            <a:avLst/>
          </a:prstGeom>
          <a:noFill/>
          <a:ln w="0">
            <a:noFill/>
          </a:ln>
        </p:spPr>
        <p:style>
          <a:lnRef idx="0"/>
          <a:fillRef idx="0"/>
          <a:effectRef idx="0"/>
          <a:fontRef idx="minor"/>
        </p:style>
        <p:txBody>
          <a:bodyPr lIns="0" rIns="0" tIns="0" bIns="0" anchor="t">
            <a:noAutofit/>
          </a:bodyPr>
          <a:p>
            <a:pPr>
              <a:lnSpc>
                <a:spcPts val="1199"/>
              </a:lnSpc>
              <a:tabLst>
                <a:tab algn="l" pos="0"/>
              </a:tabLst>
            </a:pPr>
            <a:r>
              <a:rPr b="1" lang="en-US" sz="1000" spc="-1" strike="noStrike">
                <a:solidFill>
                  <a:srgbClr val="ffffff"/>
                </a:solidFill>
                <a:latin typeface="Source Sans 3"/>
                <a:ea typeface="Source Sans 3"/>
              </a:rPr>
              <a:t>Təqdimat formatı:</a:t>
            </a:r>
            <a:r>
              <a:rPr b="0" lang="en-US" sz="1000" spc="-1" strike="noStrike">
                <a:solidFill>
                  <a:srgbClr val="ffffff"/>
                </a:solidFill>
                <a:latin typeface="Source Sans 3"/>
                <a:ea typeface="Source Sans 3"/>
              </a:rPr>
              <a:t> 2-3 səhifəlik yazılı təhlil və ya 5 dəqiqəlik şifahi təqdimat. Növbəti dərsdə müzakirə edəcəyik.</a:t>
            </a:r>
            <a:endParaRPr b="0" lang="en-US" sz="1000" spc="-1" strike="noStrike">
              <a:solidFill>
                <a:srgbClr val="000000"/>
              </a:solidFill>
              <a:latin typeface="Arial"/>
            </a:endParaRPr>
          </a:p>
        </p:txBody>
      </p:sp>
      <p:pic>
        <p:nvPicPr>
          <p:cNvPr id="259" name="" descr=""/>
          <p:cNvPicPr/>
          <p:nvPr/>
        </p:nvPicPr>
        <p:blipFill>
          <a:blip r:embed="rId6"/>
          <a:stretch/>
        </p:blipFill>
        <p:spPr>
          <a:xfrm>
            <a:off x="-4343400" y="6400800"/>
            <a:ext cx="2513880" cy="280296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0" name="" descr=""/>
          <p:cNvPicPr/>
          <p:nvPr/>
        </p:nvPicPr>
        <p:blipFill>
          <a:blip r:embed="rId1"/>
          <a:stretch/>
        </p:blipFill>
        <p:spPr>
          <a:xfrm>
            <a:off x="3657600" y="1389600"/>
            <a:ext cx="5714280" cy="6371280"/>
          </a:xfrm>
          <a:prstGeom prst="rect">
            <a:avLst/>
          </a:prstGeom>
          <a:ln w="0">
            <a:noFill/>
          </a:ln>
        </p:spPr>
      </p:pic>
      <p:sp>
        <p:nvSpPr>
          <p:cNvPr id="261" name="Text 32"/>
          <p:cNvSpPr/>
          <p:nvPr/>
        </p:nvSpPr>
        <p:spPr>
          <a:xfrm>
            <a:off x="2070000" y="397800"/>
            <a:ext cx="6629400" cy="478440"/>
          </a:xfrm>
          <a:prstGeom prst="rect">
            <a:avLst/>
          </a:prstGeom>
          <a:noFill/>
          <a:ln w="0">
            <a:noFill/>
          </a:ln>
        </p:spPr>
        <p:style>
          <a:lnRef idx="0"/>
          <a:fillRef idx="0"/>
          <a:effectRef idx="0"/>
          <a:fontRef idx="minor"/>
        </p:style>
        <p:txBody>
          <a:bodyPr wrap="none" lIns="0" rIns="0" tIns="0" bIns="0" anchor="t">
            <a:noAutofit/>
          </a:bodyPr>
          <a:p>
            <a:pPr>
              <a:lnSpc>
                <a:spcPts val="3750"/>
              </a:lnSpc>
              <a:tabLst>
                <a:tab algn="l" pos="0"/>
              </a:tabLst>
            </a:pPr>
            <a:r>
              <a:rPr b="1" lang="en-US" sz="3000" spc="-1" strike="noStrike">
                <a:solidFill>
                  <a:srgbClr val="ffffff"/>
                </a:solidFill>
                <a:latin typeface="Montserrat Bold"/>
                <a:ea typeface="Montserrat Bold"/>
              </a:rPr>
              <a:t>Suallara cavab verə bilmək üçün QR skan edin</a:t>
            </a:r>
            <a:endParaRPr b="0" lang="en-US"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16</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2026-02-16T09:17:22Z</dcterms:created>
  <dc:creator/>
  <dc:description/>
  <dc:language>en-US</dc:language>
  <cp:lastModifiedBy/>
  <dcterms:modified xsi:type="dcterms:W3CDTF">2026-03-09T14:03:45Z</dcterms:modified>
  <cp:revision>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(16:9)</vt:lpwstr>
  </property>
  <property fmtid="{D5CDD505-2E9C-101B-9397-08002B2CF9AE}" pid="4" name="Slides">
    <vt:i4>11</vt:i4>
  </property>
</Properties>
</file>