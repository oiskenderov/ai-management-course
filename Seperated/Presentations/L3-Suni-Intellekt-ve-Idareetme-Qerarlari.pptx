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23.svg" ContentType="image/svg"/>
  <Override PartName="/ppt/media/image8.png" ContentType="image/png"/>
  <Override PartName="/ppt/media/image11.png" ContentType="image/png"/>
  <Override PartName="/ppt/media/image2.png" ContentType="image/png"/>
  <Override PartName="/ppt/media/image7.png" ContentType="image/png"/>
  <Override PartName="/ppt/media/image16.png" ContentType="image/png"/>
  <Override PartName="/ppt/media/image26.png" ContentType="image/png"/>
  <Override PartName="/ppt/media/image24.png" ContentType="image/png"/>
  <Override PartName="/ppt/media/image22.png" ContentType="image/png"/>
  <Override PartName="/ppt/media/image21.png" ContentType="image/png"/>
  <Override PartName="/ppt/media/image19.png" ContentType="image/png"/>
  <Override PartName="/ppt/media/image17.svg" ContentType="image/svg"/>
  <Override PartName="/ppt/media/image14.svg" ContentType="image/svg"/>
  <Override PartName="/ppt/media/image5.png" ContentType="image/png"/>
  <Override PartName="/ppt/media/image25.svg" ContentType="image/svg"/>
  <Override PartName="/ppt/media/image6.png" ContentType="image/png"/>
  <Override PartName="/ppt/media/image15.png" ContentType="image/png"/>
  <Override PartName="/ppt/media/image10.png" ContentType="image/png"/>
  <Override PartName="/ppt/media/image1.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470EC24-8D32-4B44-9B14-CBAD099BC8B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4240" cy="3084120"/>
          </a:xfrm>
          <a:prstGeom prst="rect">
            <a:avLst/>
          </a:prstGeom>
          <a:ln w="0">
            <a:noFill/>
          </a:ln>
        </p:spPr>
      </p:sp>
      <p:sp>
        <p:nvSpPr>
          <p:cNvPr id="275"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 name="PlaceHolder 3"/>
          <p:cNvSpPr>
            <a:spLocks noGrp="1"/>
          </p:cNvSpPr>
          <p:nvPr>
            <p:ph type="sldNum" idx="4"/>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9DC2D4E-1C9E-4649-B46F-317A9F150D2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4240" cy="3084120"/>
          </a:xfrm>
          <a:prstGeom prst="rect">
            <a:avLst/>
          </a:prstGeom>
          <a:ln w="0">
            <a:noFill/>
          </a:ln>
        </p:spPr>
      </p:sp>
      <p:sp>
        <p:nvSpPr>
          <p:cNvPr id="278"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 name="PlaceHolder 3"/>
          <p:cNvSpPr>
            <a:spLocks noGrp="1"/>
          </p:cNvSpPr>
          <p:nvPr>
            <p:ph type="sldNum" idx="5"/>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2CFCBA8-C2CB-43B3-A511-330A0C9186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4240" cy="3084120"/>
          </a:xfrm>
          <a:prstGeom prst="rect">
            <a:avLst/>
          </a:prstGeom>
          <a:ln w="0">
            <a:noFill/>
          </a:ln>
        </p:spPr>
      </p:sp>
      <p:sp>
        <p:nvSpPr>
          <p:cNvPr id="281"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 name="PlaceHolder 3"/>
          <p:cNvSpPr>
            <a:spLocks noGrp="1"/>
          </p:cNvSpPr>
          <p:nvPr>
            <p:ph type="sldNum" idx="6"/>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FB9B0A0-B16D-46E6-BA84-D018FBFF274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4240" cy="3084120"/>
          </a:xfrm>
          <a:prstGeom prst="rect">
            <a:avLst/>
          </a:prstGeom>
          <a:ln w="0">
            <a:noFill/>
          </a:ln>
        </p:spPr>
      </p:sp>
      <p:sp>
        <p:nvSpPr>
          <p:cNvPr id="284"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 name="PlaceHolder 3"/>
          <p:cNvSpPr>
            <a:spLocks noGrp="1"/>
          </p:cNvSpPr>
          <p:nvPr>
            <p:ph type="sldNum" idx="7"/>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FB05613-223E-4B2C-AB45-42C515075F7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4240" cy="3084120"/>
          </a:xfrm>
          <a:prstGeom prst="rect">
            <a:avLst/>
          </a:prstGeom>
          <a:ln w="0">
            <a:noFill/>
          </a:ln>
        </p:spPr>
      </p:sp>
      <p:sp>
        <p:nvSpPr>
          <p:cNvPr id="287"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 name="PlaceHolder 3"/>
          <p:cNvSpPr>
            <a:spLocks noGrp="1"/>
          </p:cNvSpPr>
          <p:nvPr>
            <p:ph type="sldNum" idx="8"/>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7555403-7E44-46A4-AB02-1BEA3EC78DE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4240" cy="3084120"/>
          </a:xfrm>
          <a:prstGeom prst="rect">
            <a:avLst/>
          </a:prstGeom>
          <a:ln w="0">
            <a:noFill/>
          </a:ln>
        </p:spPr>
      </p:sp>
      <p:sp>
        <p:nvSpPr>
          <p:cNvPr id="290"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 name="PlaceHolder 3"/>
          <p:cNvSpPr>
            <a:spLocks noGrp="1"/>
          </p:cNvSpPr>
          <p:nvPr>
            <p:ph type="sldNum" idx="9"/>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3D08823-C0FF-4F1A-8865-316AE83D9E1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4240" cy="3084120"/>
          </a:xfrm>
          <a:prstGeom prst="rect">
            <a:avLst/>
          </a:prstGeom>
          <a:ln w="0">
            <a:noFill/>
          </a:ln>
        </p:spPr>
      </p:sp>
      <p:sp>
        <p:nvSpPr>
          <p:cNvPr id="293"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 name="PlaceHolder 3"/>
          <p:cNvSpPr>
            <a:spLocks noGrp="1"/>
          </p:cNvSpPr>
          <p:nvPr>
            <p:ph type="sldNum" idx="10"/>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D449CBF-735C-4EF2-8E09-6FDC030E1BB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685800" y="1143000"/>
            <a:ext cx="5484240" cy="3084120"/>
          </a:xfrm>
          <a:prstGeom prst="rect">
            <a:avLst/>
          </a:prstGeom>
          <a:ln w="0">
            <a:noFill/>
          </a:ln>
        </p:spPr>
      </p:sp>
      <p:sp>
        <p:nvSpPr>
          <p:cNvPr id="296"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 name="PlaceHolder 3"/>
          <p:cNvSpPr>
            <a:spLocks noGrp="1"/>
          </p:cNvSpPr>
          <p:nvPr>
            <p:ph type="sldNum" idx="11"/>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9E44761-D76C-4621-99FE-71BB1C1F9E0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4240" cy="3084120"/>
          </a:xfrm>
          <a:prstGeom prst="rect">
            <a:avLst/>
          </a:prstGeom>
          <a:ln w="0">
            <a:noFill/>
          </a:ln>
        </p:spPr>
      </p:sp>
      <p:sp>
        <p:nvSpPr>
          <p:cNvPr id="299"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 name="PlaceHolder 3"/>
          <p:cNvSpPr>
            <a:spLocks noGrp="1"/>
          </p:cNvSpPr>
          <p:nvPr>
            <p:ph type="sldNum" idx="12"/>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2118437-291E-4FA6-934F-41ACE9F0BB4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4240" cy="3084120"/>
          </a:xfrm>
          <a:prstGeom prst="rect">
            <a:avLst/>
          </a:prstGeom>
          <a:ln w="0">
            <a:noFill/>
          </a:ln>
        </p:spPr>
      </p:sp>
      <p:sp>
        <p:nvSpPr>
          <p:cNvPr id="302"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 name="PlaceHolder 3"/>
          <p:cNvSpPr>
            <a:spLocks noGrp="1"/>
          </p:cNvSpPr>
          <p:nvPr>
            <p:ph type="sldNum" idx="13"/>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379152F-DBE4-4D4F-B885-320D9E38B5F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4240" cy="3084120"/>
          </a:xfrm>
          <a:prstGeom prst="rect">
            <a:avLst/>
          </a:prstGeom>
          <a:ln w="0">
            <a:noFill/>
          </a:ln>
        </p:spPr>
      </p:sp>
      <p:sp>
        <p:nvSpPr>
          <p:cNvPr id="305"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 name="PlaceHolder 3"/>
          <p:cNvSpPr>
            <a:spLocks noGrp="1"/>
          </p:cNvSpPr>
          <p:nvPr>
            <p:ph type="sldNum" idx="14"/>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20C6D14-71A5-4A98-9DEA-C2A0129B9C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8240" cy="822744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8240" cy="822744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7.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8.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9.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10.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sv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slideLayout" Target="../slideLayouts/slideLayout12.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svg"/><Relationship Id="rId3" Type="http://schemas.openxmlformats.org/officeDocument/2006/relationships/slideLayout" Target="../slideLayouts/slideLayout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image" Target="../media/image26.png"/><Relationship Id="rId4"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0" y="0"/>
            <a:ext cx="5484240" cy="8227440"/>
          </a:xfrm>
          <a:prstGeom prst="rect">
            <a:avLst/>
          </a:prstGeom>
          <a:ln w="0">
            <a:noFill/>
          </a:ln>
        </p:spPr>
      </p:pic>
      <p:sp>
        <p:nvSpPr>
          <p:cNvPr id="51" name="Text 0"/>
          <p:cNvSpPr/>
          <p:nvPr/>
        </p:nvSpPr>
        <p:spPr>
          <a:xfrm>
            <a:off x="6350040" y="2894040"/>
            <a:ext cx="7414200" cy="122472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Süni İntellekt və İdarəetmə Qərarları</a:t>
            </a:r>
            <a:endParaRPr b="0" lang="en-US" sz="3850" spc="-1" strike="noStrike">
              <a:solidFill>
                <a:srgbClr val="000000"/>
              </a:solidFill>
              <a:latin typeface="Arial"/>
            </a:endParaRPr>
          </a:p>
        </p:txBody>
      </p:sp>
      <p:pic>
        <p:nvPicPr>
          <p:cNvPr id="52" name="" descr=""/>
          <p:cNvPicPr/>
          <p:nvPr/>
        </p:nvPicPr>
        <p:blipFill>
          <a:blip r:embed="rId2"/>
          <a:stretch/>
        </p:blipFill>
        <p:spPr>
          <a:xfrm>
            <a:off x="6292800" y="4358160"/>
            <a:ext cx="7419600" cy="323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Shape 0"/>
          <p:cNvSpPr/>
          <p:nvPr/>
        </p:nvSpPr>
        <p:spPr>
          <a:xfrm>
            <a:off x="863640" y="1869840"/>
            <a:ext cx="1856160" cy="38664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 name="Text 1"/>
          <p:cNvSpPr/>
          <p:nvPr/>
        </p:nvSpPr>
        <p:spPr>
          <a:xfrm>
            <a:off x="885240" y="1934640"/>
            <a:ext cx="1597320" cy="25704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e2e6e9"/>
                </a:solidFill>
                <a:latin typeface="Source Sans 3"/>
                <a:ea typeface="Source Sans 3"/>
              </a:rPr>
              <a:t>DƏRSIN MƏQSƏDLƏRI</a:t>
            </a:r>
            <a:endParaRPr b="0" lang="en-US" sz="1350" spc="-1" strike="noStrike">
              <a:solidFill>
                <a:srgbClr val="000000"/>
              </a:solidFill>
              <a:latin typeface="Arial"/>
            </a:endParaRPr>
          </a:p>
        </p:txBody>
      </p:sp>
      <p:sp>
        <p:nvSpPr>
          <p:cNvPr id="55" name="Text 2"/>
          <p:cNvSpPr/>
          <p:nvPr/>
        </p:nvSpPr>
        <p:spPr>
          <a:xfrm>
            <a:off x="863640" y="2345040"/>
            <a:ext cx="8353440" cy="6112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Gün Öyrənəcəyimiz Mövzular</a:t>
            </a:r>
            <a:endParaRPr b="0" lang="en-US" sz="3850" spc="-1" strike="noStrike">
              <a:solidFill>
                <a:srgbClr val="000000"/>
              </a:solidFill>
              <a:latin typeface="Arial"/>
            </a:endParaRPr>
          </a:p>
        </p:txBody>
      </p:sp>
      <p:sp>
        <p:nvSpPr>
          <p:cNvPr id="56" name="Shape 3"/>
          <p:cNvSpPr/>
          <p:nvPr/>
        </p:nvSpPr>
        <p:spPr>
          <a:xfrm>
            <a:off x="708120" y="3282480"/>
            <a:ext cx="6496920" cy="3075120"/>
          </a:xfrm>
          <a:prstGeom prst="roundRect">
            <a:avLst>
              <a:gd name="adj" fmla="val 1053"/>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 name="Text 4"/>
          <p:cNvSpPr/>
          <p:nvPr/>
        </p:nvSpPr>
        <p:spPr>
          <a:xfrm>
            <a:off x="924120" y="3498120"/>
            <a:ext cx="2451960" cy="3045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Əsas Məqsəd</a:t>
            </a:r>
            <a:endParaRPr b="0" lang="en-US" sz="1900" spc="-1" strike="noStrike">
              <a:solidFill>
                <a:srgbClr val="000000"/>
              </a:solidFill>
              <a:latin typeface="Arial"/>
            </a:endParaRPr>
          </a:p>
        </p:txBody>
      </p:sp>
      <p:sp>
        <p:nvSpPr>
          <p:cNvPr id="58" name="Text 5"/>
          <p:cNvSpPr/>
          <p:nvPr/>
        </p:nvSpPr>
        <p:spPr>
          <a:xfrm>
            <a:off x="924120" y="4020840"/>
            <a:ext cx="6065280" cy="969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Süni İntellektin idarəetmə qərarlarının mahiyyətini necə dəyişdirdiyini anlayacağıq və praktiki tətbiq imkanlarını öyrənəcəyik.</a:t>
            </a:r>
            <a:endParaRPr b="0" lang="en-US" sz="1700" spc="-1" strike="noStrike">
              <a:solidFill>
                <a:srgbClr val="000000"/>
              </a:solidFill>
              <a:latin typeface="Arial"/>
            </a:endParaRPr>
          </a:p>
        </p:txBody>
      </p:sp>
      <p:sp>
        <p:nvSpPr>
          <p:cNvPr id="59" name="Shape 6"/>
          <p:cNvSpPr/>
          <p:nvPr/>
        </p:nvSpPr>
        <p:spPr>
          <a:xfrm>
            <a:off x="7586280" y="3633120"/>
            <a:ext cx="105840" cy="105840"/>
          </a:xfrm>
          <a:prstGeom prst="roundRect">
            <a:avLst>
              <a:gd name="adj" fmla="val 423840"/>
            </a:avLst>
          </a:prstGeom>
          <a:solidFill>
            <a:srgbClr val="ffffff"/>
          </a:solidFill>
          <a:ln w="0">
            <a:noFill/>
          </a:ln>
        </p:spPr>
        <p:style>
          <a:lnRef idx="0"/>
          <a:fillRef idx="0"/>
          <a:effectRef idx="0"/>
          <a:fontRef idx="minor"/>
        </p:style>
        <p:txBody>
          <a:bodyPr lIns="90000" rIns="90000" tIns="31680" bIns="31680" anchor="t">
            <a:noAutofit/>
          </a:bodyPr>
          <a:p>
            <a:pPr>
              <a:lnSpc>
                <a:spcPct val="100000"/>
              </a:lnSpc>
            </a:pPr>
            <a:endParaRPr b="0" lang="en-US" sz="1800" spc="-1" strike="noStrike">
              <a:solidFill>
                <a:srgbClr val="000000"/>
              </a:solidFill>
              <a:latin typeface="Arial"/>
            </a:endParaRPr>
          </a:p>
        </p:txBody>
      </p:sp>
      <p:sp>
        <p:nvSpPr>
          <p:cNvPr id="60" name="Text 7"/>
          <p:cNvSpPr/>
          <p:nvPr/>
        </p:nvSpPr>
        <p:spPr>
          <a:xfrm>
            <a:off x="7909920" y="3525120"/>
            <a:ext cx="5861880" cy="3218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Klassik və müasir qərar modelləri</a:t>
            </a:r>
            <a:endParaRPr b="0" lang="en-US" sz="1700" spc="-1" strike="noStrike">
              <a:solidFill>
                <a:srgbClr val="000000"/>
              </a:solidFill>
              <a:latin typeface="Arial"/>
            </a:endParaRPr>
          </a:p>
        </p:txBody>
      </p:sp>
      <p:sp>
        <p:nvSpPr>
          <p:cNvPr id="61" name="Shape 8"/>
          <p:cNvSpPr/>
          <p:nvPr/>
        </p:nvSpPr>
        <p:spPr>
          <a:xfrm>
            <a:off x="7586280" y="4389120"/>
            <a:ext cx="105840" cy="105840"/>
          </a:xfrm>
          <a:prstGeom prst="roundRect">
            <a:avLst>
              <a:gd name="adj" fmla="val 423840"/>
            </a:avLst>
          </a:prstGeom>
          <a:solidFill>
            <a:srgbClr val="ffffff"/>
          </a:solidFill>
          <a:ln w="0">
            <a:noFill/>
          </a:ln>
        </p:spPr>
        <p:style>
          <a:lnRef idx="0"/>
          <a:fillRef idx="0"/>
          <a:effectRef idx="0"/>
          <a:fontRef idx="minor"/>
        </p:style>
        <p:txBody>
          <a:bodyPr lIns="90000" rIns="90000" tIns="31680" bIns="31680" anchor="t">
            <a:noAutofit/>
          </a:bodyPr>
          <a:p>
            <a:pPr>
              <a:lnSpc>
                <a:spcPct val="100000"/>
              </a:lnSpc>
            </a:pPr>
            <a:endParaRPr b="0" lang="en-US" sz="1800" spc="-1" strike="noStrike">
              <a:solidFill>
                <a:srgbClr val="000000"/>
              </a:solidFill>
              <a:latin typeface="Arial"/>
            </a:endParaRPr>
          </a:p>
        </p:txBody>
      </p:sp>
      <p:sp>
        <p:nvSpPr>
          <p:cNvPr id="62" name="Text 9"/>
          <p:cNvSpPr/>
          <p:nvPr/>
        </p:nvSpPr>
        <p:spPr>
          <a:xfrm>
            <a:off x="7909920" y="4281120"/>
            <a:ext cx="5861880" cy="3218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SI-nin qərarvermə proseslərinə təsiri</a:t>
            </a:r>
            <a:endParaRPr b="0" lang="en-US" sz="1700" spc="-1" strike="noStrike">
              <a:solidFill>
                <a:srgbClr val="000000"/>
              </a:solidFill>
              <a:latin typeface="Arial"/>
            </a:endParaRPr>
          </a:p>
        </p:txBody>
      </p:sp>
      <p:sp>
        <p:nvSpPr>
          <p:cNvPr id="63" name="Shape 10"/>
          <p:cNvSpPr/>
          <p:nvPr/>
        </p:nvSpPr>
        <p:spPr>
          <a:xfrm>
            <a:off x="7586280" y="5144760"/>
            <a:ext cx="105840" cy="105840"/>
          </a:xfrm>
          <a:prstGeom prst="roundRect">
            <a:avLst>
              <a:gd name="adj" fmla="val 423840"/>
            </a:avLst>
          </a:prstGeom>
          <a:solidFill>
            <a:srgbClr val="ffffff"/>
          </a:solidFill>
          <a:ln w="0">
            <a:noFill/>
          </a:ln>
        </p:spPr>
        <p:style>
          <a:lnRef idx="0"/>
          <a:fillRef idx="0"/>
          <a:effectRef idx="0"/>
          <a:fontRef idx="minor"/>
        </p:style>
        <p:txBody>
          <a:bodyPr lIns="90000" rIns="90000" tIns="31680" bIns="31680" anchor="t">
            <a:noAutofit/>
          </a:bodyPr>
          <a:p>
            <a:pPr>
              <a:lnSpc>
                <a:spcPct val="100000"/>
              </a:lnSpc>
            </a:pPr>
            <a:endParaRPr b="0" lang="en-US" sz="1800" spc="-1" strike="noStrike">
              <a:solidFill>
                <a:srgbClr val="000000"/>
              </a:solidFill>
              <a:latin typeface="Arial"/>
            </a:endParaRPr>
          </a:p>
        </p:txBody>
      </p:sp>
      <p:sp>
        <p:nvSpPr>
          <p:cNvPr id="64" name="Text 11"/>
          <p:cNvSpPr/>
          <p:nvPr/>
        </p:nvSpPr>
        <p:spPr>
          <a:xfrm>
            <a:off x="7909920" y="5036760"/>
            <a:ext cx="5861880" cy="3218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Hibrid yanaşmaların üstünlükləri və riskləri</a:t>
            </a:r>
            <a:endParaRPr b="0" lang="en-US" sz="1700" spc="-1" strike="noStrike">
              <a:solidFill>
                <a:srgbClr val="000000"/>
              </a:solidFill>
              <a:latin typeface="Arial"/>
            </a:endParaRPr>
          </a:p>
        </p:txBody>
      </p:sp>
      <p:sp>
        <p:nvSpPr>
          <p:cNvPr id="65" name="Shape 12"/>
          <p:cNvSpPr/>
          <p:nvPr/>
        </p:nvSpPr>
        <p:spPr>
          <a:xfrm>
            <a:off x="7586280" y="5900760"/>
            <a:ext cx="105840" cy="105840"/>
          </a:xfrm>
          <a:prstGeom prst="roundRect">
            <a:avLst>
              <a:gd name="adj" fmla="val 423840"/>
            </a:avLst>
          </a:prstGeom>
          <a:solidFill>
            <a:srgbClr val="ffffff"/>
          </a:solidFill>
          <a:ln w="0">
            <a:noFill/>
          </a:ln>
        </p:spPr>
        <p:style>
          <a:lnRef idx="0"/>
          <a:fillRef idx="0"/>
          <a:effectRef idx="0"/>
          <a:fontRef idx="minor"/>
        </p:style>
        <p:txBody>
          <a:bodyPr lIns="90000" rIns="90000" tIns="31680" bIns="31680" anchor="t">
            <a:noAutofit/>
          </a:bodyPr>
          <a:p>
            <a:pPr>
              <a:lnSpc>
                <a:spcPct val="100000"/>
              </a:lnSpc>
            </a:pPr>
            <a:endParaRPr b="0" lang="en-US" sz="1800" spc="-1" strike="noStrike">
              <a:solidFill>
                <a:srgbClr val="000000"/>
              </a:solidFill>
              <a:latin typeface="Arial"/>
            </a:endParaRPr>
          </a:p>
        </p:txBody>
      </p:sp>
      <p:sp>
        <p:nvSpPr>
          <p:cNvPr id="66" name="Text 13"/>
          <p:cNvSpPr/>
          <p:nvPr/>
        </p:nvSpPr>
        <p:spPr>
          <a:xfrm>
            <a:off x="7909920" y="5792760"/>
            <a:ext cx="5861880" cy="3218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Real idarəetmə situasiyalarında tətbiq</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 0"/>
          <p:cNvSpPr/>
          <p:nvPr/>
        </p:nvSpPr>
        <p:spPr>
          <a:xfrm>
            <a:off x="1385640" y="618480"/>
            <a:ext cx="8103600" cy="467640"/>
          </a:xfrm>
          <a:prstGeom prst="rect">
            <a:avLst/>
          </a:prstGeom>
          <a:noFill/>
          <a:ln w="0">
            <a:noFill/>
          </a:ln>
        </p:spPr>
        <p:style>
          <a:lnRef idx="0"/>
          <a:fillRef idx="0"/>
          <a:effectRef idx="0"/>
          <a:fontRef idx="minor"/>
        </p:style>
        <p:txBody>
          <a:bodyPr wrap="none" lIns="0" rIns="0" tIns="0" bIns="0" anchor="t">
            <a:noAutofit/>
          </a:bodyPr>
          <a:p>
            <a:pPr>
              <a:lnSpc>
                <a:spcPts val="3699"/>
              </a:lnSpc>
              <a:tabLst>
                <a:tab algn="l" pos="0"/>
              </a:tabLst>
            </a:pPr>
            <a:r>
              <a:rPr b="1" lang="en-US" sz="2950" spc="-1" strike="noStrike">
                <a:solidFill>
                  <a:srgbClr val="ffffff"/>
                </a:solidFill>
                <a:latin typeface="Montserrat Bold"/>
                <a:ea typeface="Montserrat Bold"/>
              </a:rPr>
              <a:t>Klassik Model: Rasional Qərar Qəbuletmə</a:t>
            </a:r>
            <a:endParaRPr b="0" lang="en-US" sz="2950" spc="-1" strike="noStrike">
              <a:solidFill>
                <a:srgbClr val="000000"/>
              </a:solidFill>
              <a:latin typeface="Arial"/>
            </a:endParaRPr>
          </a:p>
        </p:txBody>
      </p:sp>
      <p:sp>
        <p:nvSpPr>
          <p:cNvPr id="68" name="Text 1"/>
          <p:cNvSpPr/>
          <p:nvPr/>
        </p:nvSpPr>
        <p:spPr>
          <a:xfrm>
            <a:off x="1385640" y="1342080"/>
            <a:ext cx="11857320" cy="43560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Klassik rasional qərar modeli ideallaşdırılmış bir yanaşmadır. Bu model qərar qəbul edənin tam məlumata sahib olduğunu və tamamilə məntiqli şəkildə hərəkət etdiyini fərz edir.</a:t>
            </a:r>
            <a:endParaRPr b="0" lang="en-US" sz="1300" spc="-1" strike="noStrike">
              <a:solidFill>
                <a:srgbClr val="000000"/>
              </a:solidFill>
              <a:latin typeface="Arial"/>
            </a:endParaRPr>
          </a:p>
        </p:txBody>
      </p:sp>
      <p:pic>
        <p:nvPicPr>
          <p:cNvPr id="69" name="Image 0" descr="preencoded.png"/>
          <p:cNvPicPr/>
          <p:nvPr/>
        </p:nvPicPr>
        <p:blipFill>
          <a:blip r:embed="rId1"/>
          <a:stretch/>
        </p:blipFill>
        <p:spPr>
          <a:xfrm>
            <a:off x="1385640" y="1922400"/>
            <a:ext cx="825120" cy="990360"/>
          </a:xfrm>
          <a:prstGeom prst="rect">
            <a:avLst/>
          </a:prstGeom>
          <a:ln w="0">
            <a:noFill/>
          </a:ln>
        </p:spPr>
      </p:pic>
      <p:sp>
        <p:nvSpPr>
          <p:cNvPr id="70" name="Text 2"/>
          <p:cNvSpPr/>
          <p:nvPr/>
        </p:nvSpPr>
        <p:spPr>
          <a:xfrm>
            <a:off x="2339280" y="2087640"/>
            <a:ext cx="2863440" cy="2329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Problemin Müəyyən Edilməsi</a:t>
            </a:r>
            <a:endParaRPr b="0" lang="en-US" sz="1450" spc="-1" strike="noStrike">
              <a:solidFill>
                <a:srgbClr val="000000"/>
              </a:solidFill>
              <a:latin typeface="Arial"/>
            </a:endParaRPr>
          </a:p>
        </p:txBody>
      </p:sp>
      <p:sp>
        <p:nvSpPr>
          <p:cNvPr id="71" name="Text 3"/>
          <p:cNvSpPr/>
          <p:nvPr/>
        </p:nvSpPr>
        <p:spPr>
          <a:xfrm>
            <a:off x="2339280" y="2398680"/>
            <a:ext cx="109033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Həll edilməli məsələnin dəqiq təyini</a:t>
            </a:r>
            <a:endParaRPr b="0" lang="en-US" sz="1300" spc="-1" strike="noStrike">
              <a:solidFill>
                <a:srgbClr val="000000"/>
              </a:solidFill>
              <a:latin typeface="Arial"/>
            </a:endParaRPr>
          </a:p>
        </p:txBody>
      </p:sp>
      <p:pic>
        <p:nvPicPr>
          <p:cNvPr id="72" name="Image 1" descr="preencoded.png"/>
          <p:cNvPicPr/>
          <p:nvPr/>
        </p:nvPicPr>
        <p:blipFill>
          <a:blip r:embed="rId2"/>
          <a:stretch/>
        </p:blipFill>
        <p:spPr>
          <a:xfrm>
            <a:off x="1385640" y="2914920"/>
            <a:ext cx="825120" cy="990360"/>
          </a:xfrm>
          <a:prstGeom prst="rect">
            <a:avLst/>
          </a:prstGeom>
          <a:ln w="0">
            <a:noFill/>
          </a:ln>
        </p:spPr>
      </p:pic>
      <p:sp>
        <p:nvSpPr>
          <p:cNvPr id="73" name="Text 4"/>
          <p:cNvSpPr/>
          <p:nvPr/>
        </p:nvSpPr>
        <p:spPr>
          <a:xfrm>
            <a:off x="2339280" y="3080160"/>
            <a:ext cx="2498760" cy="2329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Məlumatların Toplanması</a:t>
            </a:r>
            <a:endParaRPr b="0" lang="en-US" sz="1450" spc="-1" strike="noStrike">
              <a:solidFill>
                <a:srgbClr val="000000"/>
              </a:solidFill>
              <a:latin typeface="Arial"/>
            </a:endParaRPr>
          </a:p>
        </p:txBody>
      </p:sp>
      <p:sp>
        <p:nvSpPr>
          <p:cNvPr id="74" name="Text 5"/>
          <p:cNvSpPr/>
          <p:nvPr/>
        </p:nvSpPr>
        <p:spPr>
          <a:xfrm>
            <a:off x="2339280" y="3391200"/>
            <a:ext cx="109033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Ətraflı və tam informasiya əldə edilməsi</a:t>
            </a:r>
            <a:endParaRPr b="0" lang="en-US" sz="1300" spc="-1" strike="noStrike">
              <a:solidFill>
                <a:srgbClr val="000000"/>
              </a:solidFill>
              <a:latin typeface="Arial"/>
            </a:endParaRPr>
          </a:p>
        </p:txBody>
      </p:sp>
      <p:pic>
        <p:nvPicPr>
          <p:cNvPr id="75" name="Image 2" descr="preencoded.png"/>
          <p:cNvPicPr/>
          <p:nvPr/>
        </p:nvPicPr>
        <p:blipFill>
          <a:blip r:embed="rId3"/>
          <a:stretch/>
        </p:blipFill>
        <p:spPr>
          <a:xfrm>
            <a:off x="1385640" y="3907440"/>
            <a:ext cx="825120" cy="990360"/>
          </a:xfrm>
          <a:prstGeom prst="rect">
            <a:avLst/>
          </a:prstGeom>
          <a:ln w="0">
            <a:noFill/>
          </a:ln>
        </p:spPr>
      </p:pic>
      <p:sp>
        <p:nvSpPr>
          <p:cNvPr id="76" name="Text 6"/>
          <p:cNvSpPr/>
          <p:nvPr/>
        </p:nvSpPr>
        <p:spPr>
          <a:xfrm>
            <a:off x="2339280" y="4072680"/>
            <a:ext cx="2705760" cy="2329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Alternativlərin Generasiyası</a:t>
            </a:r>
            <a:endParaRPr b="0" lang="en-US" sz="1450" spc="-1" strike="noStrike">
              <a:solidFill>
                <a:srgbClr val="000000"/>
              </a:solidFill>
              <a:latin typeface="Arial"/>
            </a:endParaRPr>
          </a:p>
        </p:txBody>
      </p:sp>
      <p:sp>
        <p:nvSpPr>
          <p:cNvPr id="77" name="Text 7"/>
          <p:cNvSpPr/>
          <p:nvPr/>
        </p:nvSpPr>
        <p:spPr>
          <a:xfrm>
            <a:off x="2339280" y="4383720"/>
            <a:ext cx="109033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Bütün mümkün həll yollarının yaradılması</a:t>
            </a:r>
            <a:endParaRPr b="0" lang="en-US" sz="1300" spc="-1" strike="noStrike">
              <a:solidFill>
                <a:srgbClr val="000000"/>
              </a:solidFill>
              <a:latin typeface="Arial"/>
            </a:endParaRPr>
          </a:p>
        </p:txBody>
      </p:sp>
      <p:pic>
        <p:nvPicPr>
          <p:cNvPr id="78" name="Image 3" descr="preencoded.png"/>
          <p:cNvPicPr/>
          <p:nvPr/>
        </p:nvPicPr>
        <p:blipFill>
          <a:blip r:embed="rId4"/>
          <a:stretch/>
        </p:blipFill>
        <p:spPr>
          <a:xfrm>
            <a:off x="1385640" y="4899960"/>
            <a:ext cx="825120" cy="990360"/>
          </a:xfrm>
          <a:prstGeom prst="rect">
            <a:avLst/>
          </a:prstGeom>
          <a:ln w="0">
            <a:noFill/>
          </a:ln>
        </p:spPr>
      </p:pic>
      <p:sp>
        <p:nvSpPr>
          <p:cNvPr id="79" name="Text 8"/>
          <p:cNvSpPr/>
          <p:nvPr/>
        </p:nvSpPr>
        <p:spPr>
          <a:xfrm>
            <a:off x="2339280" y="5065200"/>
            <a:ext cx="1877760" cy="2329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Optimal Seçim</a:t>
            </a:r>
            <a:endParaRPr b="0" lang="en-US" sz="1450" spc="-1" strike="noStrike">
              <a:solidFill>
                <a:srgbClr val="000000"/>
              </a:solidFill>
              <a:latin typeface="Arial"/>
            </a:endParaRPr>
          </a:p>
        </p:txBody>
      </p:sp>
      <p:sp>
        <p:nvSpPr>
          <p:cNvPr id="80" name="Text 9"/>
          <p:cNvSpPr/>
          <p:nvPr/>
        </p:nvSpPr>
        <p:spPr>
          <a:xfrm>
            <a:off x="2339280" y="5376240"/>
            <a:ext cx="109033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Ən yaxşı variantın müəyyənləşdirilməsi</a:t>
            </a:r>
            <a:endParaRPr b="0" lang="en-US" sz="1300" spc="-1" strike="noStrike">
              <a:solidFill>
                <a:srgbClr val="000000"/>
              </a:solidFill>
              <a:latin typeface="Arial"/>
            </a:endParaRPr>
          </a:p>
        </p:txBody>
      </p:sp>
      <p:pic>
        <p:nvPicPr>
          <p:cNvPr id="81" name="Image 4" descr="preencoded.png"/>
          <p:cNvPicPr/>
          <p:nvPr/>
        </p:nvPicPr>
        <p:blipFill>
          <a:blip r:embed="rId5"/>
          <a:stretch/>
        </p:blipFill>
        <p:spPr>
          <a:xfrm>
            <a:off x="1385640" y="5892480"/>
            <a:ext cx="825120" cy="990360"/>
          </a:xfrm>
          <a:prstGeom prst="rect">
            <a:avLst/>
          </a:prstGeom>
          <a:ln w="0">
            <a:noFill/>
          </a:ln>
        </p:spPr>
      </p:pic>
      <p:sp>
        <p:nvSpPr>
          <p:cNvPr id="82" name="Text 10"/>
          <p:cNvSpPr/>
          <p:nvPr/>
        </p:nvSpPr>
        <p:spPr>
          <a:xfrm>
            <a:off x="2339280" y="6057720"/>
            <a:ext cx="1877760" cy="2329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Həyata Keçirilmə</a:t>
            </a:r>
            <a:endParaRPr b="0" lang="en-US" sz="1450" spc="-1" strike="noStrike">
              <a:solidFill>
                <a:srgbClr val="000000"/>
              </a:solidFill>
              <a:latin typeface="Arial"/>
            </a:endParaRPr>
          </a:p>
        </p:txBody>
      </p:sp>
      <p:sp>
        <p:nvSpPr>
          <p:cNvPr id="83" name="Text 11"/>
          <p:cNvSpPr/>
          <p:nvPr/>
        </p:nvSpPr>
        <p:spPr>
          <a:xfrm>
            <a:off x="2339280" y="6368760"/>
            <a:ext cx="109033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Seçilmiş qərarın tətbiqi və nəticələr</a:t>
            </a:r>
            <a:endParaRPr b="0" lang="en-US" sz="1300" spc="-1" strike="noStrike">
              <a:solidFill>
                <a:srgbClr val="000000"/>
              </a:solidFill>
              <a:latin typeface="Arial"/>
            </a:endParaRPr>
          </a:p>
        </p:txBody>
      </p:sp>
      <p:sp>
        <p:nvSpPr>
          <p:cNvPr id="84" name="Shape 12"/>
          <p:cNvSpPr/>
          <p:nvPr/>
        </p:nvSpPr>
        <p:spPr>
          <a:xfrm>
            <a:off x="1385640" y="7027560"/>
            <a:ext cx="11857320" cy="581400"/>
          </a:xfrm>
          <a:prstGeom prst="roundRect">
            <a:avLst>
              <a:gd name="adj" fmla="val 4253"/>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5" name="Image 5" descr="preencoded.png"/>
          <p:cNvPicPr/>
          <p:nvPr/>
        </p:nvPicPr>
        <p:blipFill>
          <a:blip r:embed="rId6"/>
          <a:stretch/>
        </p:blipFill>
        <p:spPr>
          <a:xfrm>
            <a:off x="1550880" y="7241760"/>
            <a:ext cx="204480" cy="163080"/>
          </a:xfrm>
          <a:prstGeom prst="rect">
            <a:avLst/>
          </a:prstGeom>
          <a:ln w="0">
            <a:noFill/>
          </a:ln>
        </p:spPr>
      </p:pic>
      <p:sp>
        <p:nvSpPr>
          <p:cNvPr id="86" name="Text 13"/>
          <p:cNvSpPr/>
          <p:nvPr/>
        </p:nvSpPr>
        <p:spPr>
          <a:xfrm>
            <a:off x="1923120" y="7195320"/>
            <a:ext cx="1115424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ffffff"/>
                </a:solidFill>
                <a:latin typeface="Source Sans 3"/>
                <a:ea typeface="Source Sans 3"/>
              </a:rPr>
              <a:t>Bu model nəzəri cəhətdən mükəmməldir, lakin real həyatda tam məlumat və sonsuz analiz vaxtı nadir hallarda mövcud olur.</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 0"/>
          <p:cNvSpPr/>
          <p:nvPr/>
        </p:nvSpPr>
        <p:spPr>
          <a:xfrm>
            <a:off x="863640" y="645120"/>
            <a:ext cx="11974680" cy="6112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Herbert Saymonun Modeli: Məhdud Rasionalıq</a:t>
            </a:r>
            <a:endParaRPr b="0" lang="en-US" sz="3850" spc="-1" strike="noStrike">
              <a:solidFill>
                <a:srgbClr val="000000"/>
              </a:solidFill>
              <a:latin typeface="Arial"/>
            </a:endParaRPr>
          </a:p>
        </p:txBody>
      </p:sp>
      <p:pic>
        <p:nvPicPr>
          <p:cNvPr id="88" name="Image 0" descr="preencoded.png"/>
          <p:cNvPicPr/>
          <p:nvPr/>
        </p:nvPicPr>
        <p:blipFill>
          <a:blip r:embed="rId1"/>
          <a:stretch/>
        </p:blipFill>
        <p:spPr>
          <a:xfrm>
            <a:off x="863640" y="1825200"/>
            <a:ext cx="5514120" cy="5514120"/>
          </a:xfrm>
          <a:prstGeom prst="rect">
            <a:avLst/>
          </a:prstGeom>
          <a:ln w="0">
            <a:noFill/>
          </a:ln>
        </p:spPr>
      </p:pic>
      <p:sp>
        <p:nvSpPr>
          <p:cNvPr id="89" name="Text 1"/>
          <p:cNvSpPr/>
          <p:nvPr/>
        </p:nvSpPr>
        <p:spPr>
          <a:xfrm>
            <a:off x="6914880" y="1776600"/>
            <a:ext cx="6857280" cy="969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Nobel mükafatı laureatı Herbert Saymon qərar qəbuletmənin daha realist modelini təqdim etdi. O, insanların koqnitiv məhdudiyyətlərə malik olduğunu və bütün məlumatı emal edə bilmədiyini göstərdi.</a:t>
            </a:r>
            <a:endParaRPr b="0" lang="en-US" sz="1700" spc="-1" strike="noStrike">
              <a:solidFill>
                <a:srgbClr val="000000"/>
              </a:solidFill>
              <a:latin typeface="Arial"/>
            </a:endParaRPr>
          </a:p>
        </p:txBody>
      </p:sp>
      <p:sp>
        <p:nvSpPr>
          <p:cNvPr id="90" name="Shape 2"/>
          <p:cNvSpPr/>
          <p:nvPr/>
        </p:nvSpPr>
        <p:spPr>
          <a:xfrm>
            <a:off x="6914880" y="2991600"/>
            <a:ext cx="3319560" cy="1906920"/>
          </a:xfrm>
          <a:prstGeom prst="roundRect">
            <a:avLst>
              <a:gd name="adj" fmla="val 169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 name="Text 3"/>
          <p:cNvSpPr/>
          <p:nvPr/>
        </p:nvSpPr>
        <p:spPr>
          <a:xfrm>
            <a:off x="7130520" y="3207240"/>
            <a:ext cx="2451960" cy="3045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Məhdud Məlumat</a:t>
            </a:r>
            <a:endParaRPr b="0" lang="en-US" sz="1900" spc="-1" strike="noStrike">
              <a:solidFill>
                <a:srgbClr val="000000"/>
              </a:solidFill>
              <a:latin typeface="Arial"/>
            </a:endParaRPr>
          </a:p>
        </p:txBody>
      </p:sp>
      <p:sp>
        <p:nvSpPr>
          <p:cNvPr id="92" name="Text 4"/>
          <p:cNvSpPr/>
          <p:nvPr/>
        </p:nvSpPr>
        <p:spPr>
          <a:xfrm>
            <a:off x="7130520" y="3729960"/>
            <a:ext cx="2887920" cy="645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Bütün məlumatı toplamaq mümkün deyil</a:t>
            </a:r>
            <a:endParaRPr b="0" lang="en-US" sz="1700" spc="-1" strike="noStrike">
              <a:solidFill>
                <a:srgbClr val="000000"/>
              </a:solidFill>
              <a:latin typeface="Arial"/>
            </a:endParaRPr>
          </a:p>
        </p:txBody>
      </p:sp>
      <p:sp>
        <p:nvSpPr>
          <p:cNvPr id="93" name="Shape 5"/>
          <p:cNvSpPr/>
          <p:nvPr/>
        </p:nvSpPr>
        <p:spPr>
          <a:xfrm>
            <a:off x="10452240" y="2991600"/>
            <a:ext cx="3319560" cy="1906920"/>
          </a:xfrm>
          <a:prstGeom prst="roundRect">
            <a:avLst>
              <a:gd name="adj" fmla="val 169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 name="Text 6"/>
          <p:cNvSpPr/>
          <p:nvPr/>
        </p:nvSpPr>
        <p:spPr>
          <a:xfrm>
            <a:off x="10668240" y="3207240"/>
            <a:ext cx="2887920" cy="6112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Koqnitiv Məhdudiyyətlər</a:t>
            </a:r>
            <a:endParaRPr b="0" lang="en-US" sz="1900" spc="-1" strike="noStrike">
              <a:solidFill>
                <a:srgbClr val="000000"/>
              </a:solidFill>
              <a:latin typeface="Arial"/>
            </a:endParaRPr>
          </a:p>
        </p:txBody>
      </p:sp>
      <p:sp>
        <p:nvSpPr>
          <p:cNvPr id="95" name="Text 7"/>
          <p:cNvSpPr/>
          <p:nvPr/>
        </p:nvSpPr>
        <p:spPr>
          <a:xfrm>
            <a:off x="10668240" y="4036680"/>
            <a:ext cx="2887920" cy="645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İnsan beyni sonsuz alternativ analiz edə bilmir</a:t>
            </a:r>
            <a:endParaRPr b="0" lang="en-US" sz="1700" spc="-1" strike="noStrike">
              <a:solidFill>
                <a:srgbClr val="000000"/>
              </a:solidFill>
              <a:latin typeface="Arial"/>
            </a:endParaRPr>
          </a:p>
        </p:txBody>
      </p:sp>
      <p:sp>
        <p:nvSpPr>
          <p:cNvPr id="96" name="Shape 8"/>
          <p:cNvSpPr/>
          <p:nvPr/>
        </p:nvSpPr>
        <p:spPr>
          <a:xfrm>
            <a:off x="6914880" y="5116320"/>
            <a:ext cx="6857280" cy="1276200"/>
          </a:xfrm>
          <a:prstGeom prst="roundRect">
            <a:avLst>
              <a:gd name="adj" fmla="val 2534"/>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7" name="Text 9"/>
          <p:cNvSpPr/>
          <p:nvPr/>
        </p:nvSpPr>
        <p:spPr>
          <a:xfrm>
            <a:off x="7130520" y="5331960"/>
            <a:ext cx="2693160" cy="3045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"Kifayət Qədər Yaxşı"</a:t>
            </a:r>
            <a:endParaRPr b="0" lang="en-US" sz="1900" spc="-1" strike="noStrike">
              <a:solidFill>
                <a:srgbClr val="000000"/>
              </a:solidFill>
              <a:latin typeface="Arial"/>
            </a:endParaRPr>
          </a:p>
        </p:txBody>
      </p:sp>
      <p:sp>
        <p:nvSpPr>
          <p:cNvPr id="98" name="Text 10"/>
          <p:cNvSpPr/>
          <p:nvPr/>
        </p:nvSpPr>
        <p:spPr>
          <a:xfrm>
            <a:off x="7130520" y="5854680"/>
            <a:ext cx="6425280" cy="3218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İnsanlar optimal deyil, məqbul həll axtarırlar</a:t>
            </a:r>
            <a:endParaRPr b="0" lang="en-US" sz="1700" spc="-1" strike="noStrike">
              <a:solidFill>
                <a:srgbClr val="000000"/>
              </a:solidFill>
              <a:latin typeface="Arial"/>
            </a:endParaRPr>
          </a:p>
        </p:txBody>
      </p:sp>
      <p:sp>
        <p:nvSpPr>
          <p:cNvPr id="99" name="Text 11"/>
          <p:cNvSpPr/>
          <p:nvPr/>
        </p:nvSpPr>
        <p:spPr>
          <a:xfrm>
            <a:off x="6914880" y="6637320"/>
            <a:ext cx="6857280" cy="645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model real idarəetmə təcrübəsinə daha uyğundur və qərar qəbul edənlərin praktiki davranışlarını daha yaxşı izah edir.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 0"/>
          <p:cNvSpPr/>
          <p:nvPr/>
        </p:nvSpPr>
        <p:spPr>
          <a:xfrm>
            <a:off x="862200" y="592920"/>
            <a:ext cx="6444000" cy="61020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İntuitiv Qərar Qəbuletmə</a:t>
            </a:r>
            <a:endParaRPr b="0" lang="en-US" sz="3850" spc="-1" strike="noStrike">
              <a:solidFill>
                <a:srgbClr val="000000"/>
              </a:solidFill>
              <a:latin typeface="Arial"/>
            </a:endParaRPr>
          </a:p>
        </p:txBody>
      </p:sp>
      <p:sp>
        <p:nvSpPr>
          <p:cNvPr id="101" name="Text 1"/>
          <p:cNvSpPr/>
          <p:nvPr/>
        </p:nvSpPr>
        <p:spPr>
          <a:xfrm>
            <a:off x="862200" y="1635480"/>
            <a:ext cx="12903840" cy="6440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İntuitiv qərar qəbuletmə təcrübəyə, tanınmış nümunələrə və şüuraltı siqnallara əsaslanır. Bu yanaşma xüsusilə vaxt məhdudiyyəti və qeyri-müəyyənlik şəraitində kritik əhəmiyyət kəsb edir.</a:t>
            </a:r>
            <a:endParaRPr b="0" lang="en-US" sz="1650" spc="-1" strike="noStrike">
              <a:solidFill>
                <a:srgbClr val="000000"/>
              </a:solidFill>
              <a:latin typeface="Arial"/>
            </a:endParaRPr>
          </a:p>
        </p:txBody>
      </p:sp>
      <p:pic>
        <p:nvPicPr>
          <p:cNvPr id="102" name="Image 0" descr="preencoded.png"/>
          <p:cNvPicPr/>
          <p:nvPr/>
        </p:nvPicPr>
        <p:blipFill>
          <a:blip r:embed="rId1"/>
          <a:stretch/>
        </p:blipFill>
        <p:spPr>
          <a:xfrm>
            <a:off x="862200" y="2523600"/>
            <a:ext cx="2388960" cy="2388960"/>
          </a:xfrm>
          <a:prstGeom prst="rect">
            <a:avLst/>
          </a:prstGeom>
          <a:ln w="0">
            <a:noFill/>
          </a:ln>
        </p:spPr>
      </p:pic>
      <p:sp>
        <p:nvSpPr>
          <p:cNvPr id="103" name="Text 2"/>
          <p:cNvSpPr/>
          <p:nvPr/>
        </p:nvSpPr>
        <p:spPr>
          <a:xfrm>
            <a:off x="862200" y="5183640"/>
            <a:ext cx="2814480" cy="3042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Təcrübə və Ekspertiza</a:t>
            </a:r>
            <a:endParaRPr b="0" lang="en-US" sz="1900" spc="-1" strike="noStrike">
              <a:solidFill>
                <a:srgbClr val="000000"/>
              </a:solidFill>
              <a:latin typeface="Arial"/>
            </a:endParaRPr>
          </a:p>
        </p:txBody>
      </p:sp>
      <p:sp>
        <p:nvSpPr>
          <p:cNvPr id="104" name="Text 3"/>
          <p:cNvSpPr/>
          <p:nvPr/>
        </p:nvSpPr>
        <p:spPr>
          <a:xfrm>
            <a:off x="862200" y="5618880"/>
            <a:ext cx="4120560" cy="96696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Uzun illər ərzində toplanmış bilik və təcrübə intuisiyanın əsasını təşkil edir. Ekspertlər oxşar situasiyaları sürətlə tanıyır.</a:t>
            </a:r>
            <a:endParaRPr b="0" lang="en-US" sz="1650" spc="-1" strike="noStrike">
              <a:solidFill>
                <a:srgbClr val="000000"/>
              </a:solidFill>
              <a:latin typeface="Arial"/>
            </a:endParaRPr>
          </a:p>
        </p:txBody>
      </p:sp>
      <p:pic>
        <p:nvPicPr>
          <p:cNvPr id="105" name="Image 1" descr="preencoded.png"/>
          <p:cNvPicPr/>
          <p:nvPr/>
        </p:nvPicPr>
        <p:blipFill>
          <a:blip r:embed="rId2"/>
          <a:stretch/>
        </p:blipFill>
        <p:spPr>
          <a:xfrm>
            <a:off x="5253840" y="2523600"/>
            <a:ext cx="2388960" cy="2388960"/>
          </a:xfrm>
          <a:prstGeom prst="rect">
            <a:avLst/>
          </a:prstGeom>
          <a:ln w="0">
            <a:noFill/>
          </a:ln>
        </p:spPr>
      </p:pic>
      <p:sp>
        <p:nvSpPr>
          <p:cNvPr id="106" name="Text 4"/>
          <p:cNvSpPr/>
          <p:nvPr/>
        </p:nvSpPr>
        <p:spPr>
          <a:xfrm>
            <a:off x="5253840" y="5183640"/>
            <a:ext cx="2922480" cy="3042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Patternlərin Tanınması</a:t>
            </a:r>
            <a:endParaRPr b="0" lang="en-US" sz="1900" spc="-1" strike="noStrike">
              <a:solidFill>
                <a:srgbClr val="000000"/>
              </a:solidFill>
              <a:latin typeface="Arial"/>
            </a:endParaRPr>
          </a:p>
        </p:txBody>
      </p:sp>
      <p:sp>
        <p:nvSpPr>
          <p:cNvPr id="107" name="Text 5"/>
          <p:cNvSpPr/>
          <p:nvPr/>
        </p:nvSpPr>
        <p:spPr>
          <a:xfrm>
            <a:off x="5253840" y="5618880"/>
            <a:ext cx="4120560" cy="96696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Beyinimiz keçmiş situasiyalardan nümunələr çıxarır və onları yeni hallara tətbiq edir. Bu proses şüuraltı səviyyədə baş verir.</a:t>
            </a:r>
            <a:endParaRPr b="0" lang="en-US" sz="1650" spc="-1" strike="noStrike">
              <a:solidFill>
                <a:srgbClr val="000000"/>
              </a:solidFill>
              <a:latin typeface="Arial"/>
            </a:endParaRPr>
          </a:p>
        </p:txBody>
      </p:sp>
      <p:pic>
        <p:nvPicPr>
          <p:cNvPr id="108" name="Image 2" descr="preencoded.png"/>
          <p:cNvPicPr/>
          <p:nvPr/>
        </p:nvPicPr>
        <p:blipFill>
          <a:blip r:embed="rId3"/>
          <a:stretch/>
        </p:blipFill>
        <p:spPr>
          <a:xfrm>
            <a:off x="9645480" y="2523600"/>
            <a:ext cx="2388960" cy="2388960"/>
          </a:xfrm>
          <a:prstGeom prst="rect">
            <a:avLst/>
          </a:prstGeom>
          <a:ln w="0">
            <a:noFill/>
          </a:ln>
        </p:spPr>
      </p:pic>
      <p:sp>
        <p:nvSpPr>
          <p:cNvPr id="109" name="Text 6"/>
          <p:cNvSpPr/>
          <p:nvPr/>
        </p:nvSpPr>
        <p:spPr>
          <a:xfrm>
            <a:off x="9645480" y="5183640"/>
            <a:ext cx="2447640" cy="3042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Şüuraltı Siqnallar</a:t>
            </a:r>
            <a:endParaRPr b="0" lang="en-US" sz="1900" spc="-1" strike="noStrike">
              <a:solidFill>
                <a:srgbClr val="000000"/>
              </a:solidFill>
              <a:latin typeface="Arial"/>
            </a:endParaRPr>
          </a:p>
        </p:txBody>
      </p:sp>
      <p:sp>
        <p:nvSpPr>
          <p:cNvPr id="110" name="Text 7"/>
          <p:cNvSpPr/>
          <p:nvPr/>
        </p:nvSpPr>
        <p:spPr>
          <a:xfrm>
            <a:off x="9645480" y="5618880"/>
            <a:ext cx="4120560" cy="96696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Bədənimiz və beyinimiz ətrafdakı gizli məlumatları qəbul edərək qərar prosesində istifadə edir.</a:t>
            </a:r>
            <a:endParaRPr b="0" lang="en-US" sz="1650" spc="-1" strike="noStrike">
              <a:solidFill>
                <a:srgbClr val="000000"/>
              </a:solidFill>
              <a:latin typeface="Arial"/>
            </a:endParaRPr>
          </a:p>
        </p:txBody>
      </p:sp>
      <p:sp>
        <p:nvSpPr>
          <p:cNvPr id="111" name="Text 8"/>
          <p:cNvSpPr/>
          <p:nvPr/>
        </p:nvSpPr>
        <p:spPr>
          <a:xfrm>
            <a:off x="1077480" y="7324200"/>
            <a:ext cx="12580560" cy="32076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1650" spc="-1" strike="noStrike">
                <a:solidFill>
                  <a:srgbClr val="e2e6e9"/>
                </a:solidFill>
                <a:latin typeface="Source Sans 3"/>
                <a:ea typeface="Source Sans 3"/>
              </a:rPr>
              <a:t>Qeyri-müəyyənlik və sürətli reaksiya tələb edən hallarda intuitiv qərar qəbuletmə ən effektiv üsul ola bilər.</a:t>
            </a:r>
            <a:endParaRPr b="0" lang="en-US" sz="1650" spc="-1" strike="noStrike">
              <a:solidFill>
                <a:srgbClr val="000000"/>
              </a:solidFill>
              <a:latin typeface="Arial"/>
            </a:endParaRPr>
          </a:p>
        </p:txBody>
      </p:sp>
      <p:sp>
        <p:nvSpPr>
          <p:cNvPr id="112" name="Shape 9"/>
          <p:cNvSpPr/>
          <p:nvPr/>
        </p:nvSpPr>
        <p:spPr>
          <a:xfrm>
            <a:off x="862200" y="7081920"/>
            <a:ext cx="28440" cy="8049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Shape 0"/>
          <p:cNvSpPr/>
          <p:nvPr/>
        </p:nvSpPr>
        <p:spPr>
          <a:xfrm>
            <a:off x="685800" y="685800"/>
            <a:ext cx="1455120" cy="272520"/>
          </a:xfrm>
          <a:prstGeom prst="roundRect">
            <a:avLst>
              <a:gd name="adj" fmla="val 7520"/>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pic>
        <p:nvPicPr>
          <p:cNvPr id="114" name="Image 0" descr="preencoded.png"/>
          <p:cNvPicPr/>
          <p:nvPr/>
        </p:nvPicPr>
        <p:blipFill>
          <a:blip r:embed="rId1">
            <a:extLst>
              <a:ext uri="{96DAC541-7B7A-43D3-8B79-37D633B846F1}">
                <asvg:svgBlip xmlns:asvg="http://schemas.microsoft.com/office/drawing/2016/SVG/main" r:embed="rId2"/>
              </a:ext>
            </a:extLst>
          </a:blip>
          <a:stretch/>
        </p:blipFill>
        <p:spPr>
          <a:xfrm>
            <a:off x="796320" y="754200"/>
            <a:ext cx="145440" cy="135720"/>
          </a:xfrm>
          <a:prstGeom prst="rect">
            <a:avLst/>
          </a:prstGeom>
          <a:ln w="0">
            <a:noFill/>
          </a:ln>
        </p:spPr>
      </p:pic>
      <p:sp>
        <p:nvSpPr>
          <p:cNvPr id="115" name="Text 1"/>
          <p:cNvSpPr/>
          <p:nvPr/>
        </p:nvSpPr>
        <p:spPr>
          <a:xfrm>
            <a:off x="1018800" y="737280"/>
            <a:ext cx="1011240" cy="169560"/>
          </a:xfrm>
          <a:prstGeom prst="rect">
            <a:avLst/>
          </a:prstGeom>
          <a:noFill/>
          <a:ln w="0">
            <a:noFill/>
          </a:ln>
        </p:spPr>
        <p:style>
          <a:lnRef idx="0"/>
          <a:fillRef idx="0"/>
          <a:effectRef idx="0"/>
          <a:fontRef idx="minor"/>
        </p:style>
        <p:txBody>
          <a:bodyPr wrap="none" lIns="0" rIns="0" tIns="0" bIns="0" anchor="t">
            <a:noAutofit/>
          </a:bodyPr>
          <a:p>
            <a:pPr>
              <a:lnSpc>
                <a:spcPts val="1100"/>
              </a:lnSpc>
              <a:tabLst>
                <a:tab algn="l" pos="0"/>
              </a:tabLst>
            </a:pPr>
            <a:r>
              <a:rPr b="0" lang="en-US" sz="1100" spc="-1" strike="noStrike">
                <a:solidFill>
                  <a:srgbClr val="e2e6e9"/>
                </a:solidFill>
                <a:latin typeface="Source Sans 3"/>
                <a:ea typeface="Source Sans 3"/>
              </a:rPr>
              <a:t>SÜNI İNTELLEKT</a:t>
            </a:r>
            <a:endParaRPr b="0" lang="en-US" sz="1100" spc="-1" strike="noStrike">
              <a:solidFill>
                <a:srgbClr val="000000"/>
              </a:solidFill>
              <a:latin typeface="Arial"/>
            </a:endParaRPr>
          </a:p>
        </p:txBody>
      </p:sp>
      <p:sp>
        <p:nvSpPr>
          <p:cNvPr id="116" name="Text 2"/>
          <p:cNvSpPr/>
          <p:nvPr/>
        </p:nvSpPr>
        <p:spPr>
          <a:xfrm>
            <a:off x="685800" y="1006200"/>
            <a:ext cx="7362720" cy="487080"/>
          </a:xfrm>
          <a:prstGeom prst="rect">
            <a:avLst/>
          </a:prstGeom>
          <a:noFill/>
          <a:ln w="0">
            <a:noFill/>
          </a:ln>
        </p:spPr>
        <p:style>
          <a:lnRef idx="0"/>
          <a:fillRef idx="0"/>
          <a:effectRef idx="0"/>
          <a:fontRef idx="minor"/>
        </p:style>
        <p:txBody>
          <a:bodyPr wrap="none" lIns="0" rIns="0" tIns="0" bIns="0" anchor="t">
            <a:noAutofit/>
          </a:bodyPr>
          <a:p>
            <a:pPr>
              <a:lnSpc>
                <a:spcPts val="3200"/>
              </a:lnSpc>
              <a:tabLst>
                <a:tab algn="l" pos="0"/>
              </a:tabLst>
            </a:pPr>
            <a:r>
              <a:rPr b="1" lang="en-US" sz="3200" spc="-1" strike="noStrike">
                <a:solidFill>
                  <a:srgbClr val="ffffff"/>
                </a:solidFill>
                <a:latin typeface="Montserrat Bold"/>
                <a:ea typeface="Montserrat Bold"/>
              </a:rPr>
              <a:t>SI Klassik Modelləri Necə Dəyişir?</a:t>
            </a:r>
            <a:endParaRPr b="0" lang="en-US" sz="3200" spc="-1" strike="noStrike">
              <a:solidFill>
                <a:srgbClr val="000000"/>
              </a:solidFill>
              <a:latin typeface="Arial"/>
            </a:endParaRPr>
          </a:p>
        </p:txBody>
      </p:sp>
      <p:sp>
        <p:nvSpPr>
          <p:cNvPr id="117" name="Text 3"/>
          <p:cNvSpPr/>
          <p:nvPr/>
        </p:nvSpPr>
        <p:spPr>
          <a:xfrm>
            <a:off x="685800" y="1558800"/>
            <a:ext cx="13257720" cy="42732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400" spc="-1" strike="noStrike">
                <a:solidFill>
                  <a:srgbClr val="e2e6e9"/>
                </a:solidFill>
                <a:latin typeface="Source Sans 3"/>
                <a:ea typeface="Source Sans 3"/>
              </a:rPr>
              <a:t>Süni İntellekt texnologiyaları qərar </a:t>
            </a:r>
            <a:r>
              <a:rPr b="0" lang="en-US" sz="1500" spc="-1" strike="noStrike">
                <a:solidFill>
                  <a:srgbClr val="e2e6e9"/>
                </a:solidFill>
                <a:latin typeface="Source Sans 3"/>
                <a:ea typeface="Source Sans 3"/>
              </a:rPr>
              <a:t>qəbuletmə</a:t>
            </a:r>
            <a:r>
              <a:rPr b="0" lang="en-US" sz="1400" spc="-1" strike="noStrike">
                <a:solidFill>
                  <a:srgbClr val="e2e6e9"/>
                </a:solidFill>
                <a:latin typeface="Source Sans 3"/>
                <a:ea typeface="Source Sans 3"/>
              </a:rPr>
              <a:t> proseslərini fundamental şəkildə təkmilləşdirir. SI sistemləri insan qabiliyyətlərindən xeyli üstün sürət və</a:t>
            </a:r>
            <a:endParaRPr b="0" lang="en-US" sz="1400" spc="-1" strike="noStrike">
              <a:solidFill>
                <a:srgbClr val="000000"/>
              </a:solidFill>
              <a:latin typeface="Arial"/>
            </a:endParaRPr>
          </a:p>
          <a:p>
            <a:pPr>
              <a:lnSpc>
                <a:spcPts val="1400"/>
              </a:lnSpc>
              <a:tabLst>
                <a:tab algn="l" pos="0"/>
              </a:tabLst>
            </a:pPr>
            <a:r>
              <a:rPr b="0" lang="en-US" sz="1400" spc="-1" strike="noStrike">
                <a:solidFill>
                  <a:srgbClr val="e2e6e9"/>
                </a:solidFill>
                <a:latin typeface="Source Sans 3"/>
                <a:ea typeface="Source Sans 3"/>
              </a:rPr>
              <a:t>həcmdə məlumat emal edə bilir.</a:t>
            </a:r>
            <a:endParaRPr b="0" lang="en-US" sz="1400" spc="-1" strike="noStrike">
              <a:solidFill>
                <a:srgbClr val="000000"/>
              </a:solidFill>
              <a:latin typeface="Arial"/>
            </a:endParaRPr>
          </a:p>
        </p:txBody>
      </p:sp>
      <p:sp>
        <p:nvSpPr>
          <p:cNvPr id="118" name="Shape 4"/>
          <p:cNvSpPr/>
          <p:nvPr/>
        </p:nvSpPr>
        <p:spPr>
          <a:xfrm>
            <a:off x="685800" y="2224440"/>
            <a:ext cx="13257720" cy="1699920"/>
          </a:xfrm>
          <a:prstGeom prst="roundRect">
            <a:avLst>
              <a:gd name="adj" fmla="val 1518"/>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19" name="Shape 5"/>
          <p:cNvSpPr/>
          <p:nvPr/>
        </p:nvSpPr>
        <p:spPr>
          <a:xfrm>
            <a:off x="705240" y="2243160"/>
            <a:ext cx="737640" cy="1662840"/>
          </a:xfrm>
          <a:prstGeom prst="roundRect">
            <a:avLst>
              <a:gd name="adj" fmla="val 55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20" name="Text 6"/>
          <p:cNvSpPr/>
          <p:nvPr/>
        </p:nvSpPr>
        <p:spPr>
          <a:xfrm>
            <a:off x="936720" y="2914200"/>
            <a:ext cx="274320" cy="32040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2100" spc="-1" strike="noStrike">
                <a:solidFill>
                  <a:srgbClr val="e2e6e9"/>
                </a:solidFill>
                <a:latin typeface="Montserrat Bold"/>
                <a:ea typeface="Montserrat Bold"/>
              </a:rPr>
              <a:t>1</a:t>
            </a:r>
            <a:endParaRPr b="0" lang="en-US" sz="2100" spc="-1" strike="noStrike">
              <a:solidFill>
                <a:srgbClr val="000000"/>
              </a:solidFill>
              <a:latin typeface="Arial"/>
            </a:endParaRPr>
          </a:p>
        </p:txBody>
      </p:sp>
      <p:sp>
        <p:nvSpPr>
          <p:cNvPr id="121" name="Text 7"/>
          <p:cNvSpPr/>
          <p:nvPr/>
        </p:nvSpPr>
        <p:spPr>
          <a:xfrm>
            <a:off x="1568160" y="2414880"/>
            <a:ext cx="3031920" cy="2430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500" spc="-1" strike="noStrike">
                <a:solidFill>
                  <a:srgbClr val="e2e6e9"/>
                </a:solidFill>
                <a:latin typeface="Montserrat Bold"/>
                <a:ea typeface="Montserrat Bold"/>
              </a:rPr>
              <a:t>Böyük Məlumatların Analizi</a:t>
            </a:r>
            <a:endParaRPr b="0" lang="en-US" sz="1500" spc="-1" strike="noStrike">
              <a:solidFill>
                <a:srgbClr val="000000"/>
              </a:solidFill>
              <a:latin typeface="Arial"/>
            </a:endParaRPr>
          </a:p>
        </p:txBody>
      </p:sp>
      <p:sp>
        <p:nvSpPr>
          <p:cNvPr id="122" name="Text 8"/>
          <p:cNvSpPr/>
          <p:nvPr/>
        </p:nvSpPr>
        <p:spPr>
          <a:xfrm>
            <a:off x="1568160" y="2684880"/>
            <a:ext cx="12170880" cy="21276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0" lang="en-US" sz="1400" spc="-1" strike="noStrike">
                <a:solidFill>
                  <a:srgbClr val="e2e6e9"/>
                </a:solidFill>
                <a:latin typeface="Source Sans 3"/>
                <a:ea typeface="Source Sans 3"/>
              </a:rPr>
              <a:t>SI milyonlarla məlumat nöqtəsini sayniyələr ərzində analiz edə bilir. Bu, klassik modeldə nəzərdə tutulan "tam məlumat" </a:t>
            </a:r>
            <a:endParaRPr b="0" lang="en-US" sz="1400" spc="-1" strike="noStrike">
              <a:solidFill>
                <a:srgbClr val="000000"/>
              </a:solidFill>
              <a:latin typeface="Arial"/>
            </a:endParaRPr>
          </a:p>
          <a:p>
            <a:pPr>
              <a:lnSpc>
                <a:spcPts val="1400"/>
              </a:lnSpc>
              <a:tabLst>
                <a:tab algn="l" pos="0"/>
              </a:tabLst>
            </a:pPr>
            <a:r>
              <a:rPr b="0" lang="en-US" sz="1400" spc="-1" strike="noStrike">
                <a:solidFill>
                  <a:srgbClr val="e2e6e9"/>
                </a:solidFill>
                <a:latin typeface="Source Sans 3"/>
                <a:ea typeface="Source Sans 3"/>
              </a:rPr>
              <a:t>idealına yaxınlaşmağa imkan verir.</a:t>
            </a:r>
            <a:endParaRPr b="0" lang="en-US" sz="1400" spc="-1" strike="noStrike">
              <a:solidFill>
                <a:srgbClr val="000000"/>
              </a:solidFill>
              <a:latin typeface="Arial"/>
            </a:endParaRPr>
          </a:p>
        </p:txBody>
      </p:sp>
      <p:sp>
        <p:nvSpPr>
          <p:cNvPr id="123" name="Text 9"/>
          <p:cNvSpPr/>
          <p:nvPr/>
        </p:nvSpPr>
        <p:spPr>
          <a:xfrm>
            <a:off x="1568160" y="3184560"/>
            <a:ext cx="12170880" cy="722160"/>
          </a:xfrm>
          <a:prstGeom prst="rect">
            <a:avLst/>
          </a:prstGeom>
          <a:noFill/>
          <a:ln w="0">
            <a:noFill/>
          </a:ln>
        </p:spPr>
        <p:style>
          <a:lnRef idx="0"/>
          <a:fillRef idx="0"/>
          <a:effectRef idx="0"/>
          <a:fontRef idx="minor"/>
        </p:style>
        <p:txBody>
          <a:bodyPr lIns="0" rIns="0" tIns="0" bIns="0" anchor="t">
            <a:noAutofit/>
          </a:bodyPr>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Struktur və qeyri-struktur məlumatların eyni vaxtda işlənməsi</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Real vaxt rejimdə məlumat yeniləməsi və analizi</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Gizli korrelyasiyaların və tendensiyaların aşkarlanması</a:t>
            </a:r>
            <a:endParaRPr b="0" lang="en-US" sz="1400" spc="-1" strike="noStrike">
              <a:solidFill>
                <a:srgbClr val="000000"/>
              </a:solidFill>
              <a:latin typeface="Arial"/>
            </a:endParaRPr>
          </a:p>
        </p:txBody>
      </p:sp>
      <p:sp>
        <p:nvSpPr>
          <p:cNvPr id="124" name="Shape 10"/>
          <p:cNvSpPr/>
          <p:nvPr/>
        </p:nvSpPr>
        <p:spPr>
          <a:xfrm>
            <a:off x="685800" y="4040640"/>
            <a:ext cx="13257720" cy="1914840"/>
          </a:xfrm>
          <a:prstGeom prst="roundRect">
            <a:avLst>
              <a:gd name="adj" fmla="val 1348"/>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25" name="Shape 11"/>
          <p:cNvSpPr/>
          <p:nvPr/>
        </p:nvSpPr>
        <p:spPr>
          <a:xfrm>
            <a:off x="705240" y="4059360"/>
            <a:ext cx="737640" cy="1877400"/>
          </a:xfrm>
          <a:prstGeom prst="roundRect">
            <a:avLst>
              <a:gd name="adj" fmla="val 55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26" name="Text 12"/>
          <p:cNvSpPr/>
          <p:nvPr/>
        </p:nvSpPr>
        <p:spPr>
          <a:xfrm>
            <a:off x="936720" y="4837680"/>
            <a:ext cx="274320" cy="32040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2100" spc="-1" strike="noStrike">
                <a:solidFill>
                  <a:srgbClr val="e2e6e9"/>
                </a:solidFill>
                <a:latin typeface="Montserrat Bold"/>
                <a:ea typeface="Montserrat Bold"/>
              </a:rPr>
              <a:t>2</a:t>
            </a:r>
            <a:endParaRPr b="0" lang="en-US" sz="2100" spc="-1" strike="noStrike">
              <a:solidFill>
                <a:srgbClr val="000000"/>
              </a:solidFill>
              <a:latin typeface="Arial"/>
            </a:endParaRPr>
          </a:p>
        </p:txBody>
      </p:sp>
      <p:sp>
        <p:nvSpPr>
          <p:cNvPr id="127" name="Text 13"/>
          <p:cNvSpPr/>
          <p:nvPr/>
        </p:nvSpPr>
        <p:spPr>
          <a:xfrm>
            <a:off x="1568160" y="4231080"/>
            <a:ext cx="3801960" cy="2430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500" spc="-1" strike="noStrike">
                <a:solidFill>
                  <a:srgbClr val="e2e6e9"/>
                </a:solidFill>
                <a:latin typeface="Montserrat Bold"/>
                <a:ea typeface="Montserrat Bold"/>
              </a:rPr>
              <a:t>Alternativlərin Sürətli Generasiyası</a:t>
            </a:r>
            <a:endParaRPr b="0" lang="en-US" sz="1500" spc="-1" strike="noStrike">
              <a:solidFill>
                <a:srgbClr val="000000"/>
              </a:solidFill>
              <a:latin typeface="Arial"/>
            </a:endParaRPr>
          </a:p>
        </p:txBody>
      </p:sp>
      <p:sp>
        <p:nvSpPr>
          <p:cNvPr id="128" name="Text 14"/>
          <p:cNvSpPr/>
          <p:nvPr/>
        </p:nvSpPr>
        <p:spPr>
          <a:xfrm>
            <a:off x="1568160" y="4545000"/>
            <a:ext cx="12170880" cy="42696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400" spc="-1" strike="noStrike">
                <a:solidFill>
                  <a:srgbClr val="e2e6e9"/>
                </a:solidFill>
                <a:latin typeface="Source Sans 3"/>
                <a:ea typeface="Source Sans 3"/>
              </a:rPr>
              <a:t>Maşın öyrənməsi alqoritmləri minlərlə alternativ ssenarlar yarada və dəyərləndirə bilir. Bu proses insan üçün günlər və həftələr tələb edəcək.</a:t>
            </a:r>
            <a:endParaRPr b="0" lang="en-US" sz="1400" spc="-1" strike="noStrike">
              <a:solidFill>
                <a:srgbClr val="000000"/>
              </a:solidFill>
              <a:latin typeface="Arial"/>
            </a:endParaRPr>
          </a:p>
          <a:p>
            <a:pPr>
              <a:lnSpc>
                <a:spcPts val="1400"/>
              </a:lnSpc>
              <a:tabLst>
                <a:tab algn="l" pos="0"/>
              </a:tabLst>
            </a:pPr>
            <a:r>
              <a:rPr b="0" lang="en-US" sz="1400" spc="-1" strike="noStrike">
                <a:solidFill>
                  <a:srgbClr val="e2e6e9"/>
                </a:solidFill>
                <a:latin typeface="Source Sans 3"/>
                <a:ea typeface="Source Sans 3"/>
              </a:rPr>
              <a:t>Bəs Sİ isə bu işi dəqiqələrdə yerinə yetirir.</a:t>
            </a:r>
            <a:endParaRPr b="0" lang="en-US" sz="1400" spc="-1" strike="noStrike">
              <a:solidFill>
                <a:srgbClr val="000000"/>
              </a:solidFill>
              <a:latin typeface="Arial"/>
            </a:endParaRPr>
          </a:p>
        </p:txBody>
      </p:sp>
      <p:sp>
        <p:nvSpPr>
          <p:cNvPr id="129" name="Text 15"/>
          <p:cNvSpPr/>
          <p:nvPr/>
        </p:nvSpPr>
        <p:spPr>
          <a:xfrm>
            <a:off x="1568160" y="5042880"/>
            <a:ext cx="12170880" cy="721800"/>
          </a:xfrm>
          <a:prstGeom prst="rect">
            <a:avLst/>
          </a:prstGeom>
          <a:noFill/>
          <a:ln w="0">
            <a:noFill/>
          </a:ln>
        </p:spPr>
        <p:style>
          <a:lnRef idx="0"/>
          <a:fillRef idx="0"/>
          <a:effectRef idx="0"/>
          <a:fontRef idx="minor"/>
        </p:style>
        <p:txBody>
          <a:bodyPr lIns="0" rIns="0" tIns="0" bIns="0" anchor="t">
            <a:noAutofit/>
          </a:bodyPr>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Avtomatik simulyasiya və modelləşdirmə</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Optimal həllərin müəyyən-ləşdirilməsi</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Risk və məhdudiyyətlərin nəzərə alınması</a:t>
            </a:r>
            <a:endParaRPr b="0" lang="en-US" sz="1400" spc="-1" strike="noStrike">
              <a:solidFill>
                <a:srgbClr val="000000"/>
              </a:solidFill>
              <a:latin typeface="Arial"/>
            </a:endParaRPr>
          </a:p>
        </p:txBody>
      </p:sp>
      <p:sp>
        <p:nvSpPr>
          <p:cNvPr id="130" name="Shape 16"/>
          <p:cNvSpPr/>
          <p:nvPr/>
        </p:nvSpPr>
        <p:spPr>
          <a:xfrm>
            <a:off x="685800" y="6071760"/>
            <a:ext cx="13257720" cy="1699560"/>
          </a:xfrm>
          <a:prstGeom prst="roundRect">
            <a:avLst>
              <a:gd name="adj" fmla="val 1518"/>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31" name="Shape 17"/>
          <p:cNvSpPr/>
          <p:nvPr/>
        </p:nvSpPr>
        <p:spPr>
          <a:xfrm>
            <a:off x="705240" y="6089760"/>
            <a:ext cx="737640" cy="1663560"/>
          </a:xfrm>
          <a:prstGeom prst="roundRect">
            <a:avLst>
              <a:gd name="adj" fmla="val 55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2200" spc="-1" strike="noStrike">
              <a:solidFill>
                <a:srgbClr val="ffffff"/>
              </a:solidFill>
              <a:latin typeface="Arial"/>
            </a:endParaRPr>
          </a:p>
        </p:txBody>
      </p:sp>
      <p:sp>
        <p:nvSpPr>
          <p:cNvPr id="132" name="Text 18"/>
          <p:cNvSpPr/>
          <p:nvPr/>
        </p:nvSpPr>
        <p:spPr>
          <a:xfrm>
            <a:off x="936720" y="6761160"/>
            <a:ext cx="274320" cy="32004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2100" spc="-1" strike="noStrike">
                <a:solidFill>
                  <a:srgbClr val="e2e6e9"/>
                </a:solidFill>
                <a:latin typeface="Montserrat Bold"/>
                <a:ea typeface="Montserrat Bold"/>
              </a:rPr>
              <a:t>3</a:t>
            </a:r>
            <a:endParaRPr b="0" lang="en-US" sz="2100" spc="-1" strike="noStrike">
              <a:solidFill>
                <a:srgbClr val="000000"/>
              </a:solidFill>
              <a:latin typeface="Arial"/>
            </a:endParaRPr>
          </a:p>
        </p:txBody>
      </p:sp>
      <p:sp>
        <p:nvSpPr>
          <p:cNvPr id="133" name="Text 19"/>
          <p:cNvSpPr/>
          <p:nvPr/>
        </p:nvSpPr>
        <p:spPr>
          <a:xfrm>
            <a:off x="1568160" y="6262200"/>
            <a:ext cx="2811600" cy="24228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500" spc="-1" strike="noStrike">
                <a:solidFill>
                  <a:srgbClr val="e2e6e9"/>
                </a:solidFill>
                <a:latin typeface="Montserrat Bold"/>
                <a:ea typeface="Montserrat Bold"/>
              </a:rPr>
              <a:t>Proqnozlarin Analitikası</a:t>
            </a:r>
            <a:endParaRPr b="0" lang="en-US" sz="1500" spc="-1" strike="noStrike">
              <a:solidFill>
                <a:srgbClr val="000000"/>
              </a:solidFill>
              <a:latin typeface="Arial"/>
            </a:endParaRPr>
          </a:p>
        </p:txBody>
      </p:sp>
      <p:sp>
        <p:nvSpPr>
          <p:cNvPr id="134" name="Text 20"/>
          <p:cNvSpPr/>
          <p:nvPr/>
        </p:nvSpPr>
        <p:spPr>
          <a:xfrm>
            <a:off x="1568160" y="6532200"/>
            <a:ext cx="12170880" cy="21240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0" lang="en-US" sz="1400" spc="-1" strike="noStrike">
                <a:solidFill>
                  <a:srgbClr val="e2e6e9"/>
                </a:solidFill>
                <a:latin typeface="Source Sans 3"/>
                <a:ea typeface="Source Sans 3"/>
              </a:rPr>
              <a:t>SI tarixi məlumatlardan öyrənərək gələcək nəticələri yüksək dəqiqliklə proqnozlaşdırır. Bu qabiliyyət qərarların </a:t>
            </a:r>
            <a:endParaRPr b="0" lang="en-US" sz="1400" spc="-1" strike="noStrike">
              <a:solidFill>
                <a:srgbClr val="000000"/>
              </a:solidFill>
              <a:latin typeface="Arial"/>
            </a:endParaRPr>
          </a:p>
          <a:p>
            <a:pPr>
              <a:lnSpc>
                <a:spcPts val="1400"/>
              </a:lnSpc>
              <a:tabLst>
                <a:tab algn="l" pos="0"/>
              </a:tabLst>
            </a:pPr>
            <a:r>
              <a:rPr b="0" lang="en-US" sz="1400" spc="-1" strike="noStrike">
                <a:solidFill>
                  <a:srgbClr val="e2e6e9"/>
                </a:solidFill>
                <a:latin typeface="Source Sans 3"/>
                <a:ea typeface="Source Sans 3"/>
              </a:rPr>
              <a:t>keyfiyyətini əhəmiyyətli dərəcədə artırır.</a:t>
            </a:r>
            <a:endParaRPr b="0" lang="en-US" sz="1400" spc="-1" strike="noStrike">
              <a:solidFill>
                <a:srgbClr val="000000"/>
              </a:solidFill>
              <a:latin typeface="Arial"/>
            </a:endParaRPr>
          </a:p>
        </p:txBody>
      </p:sp>
      <p:sp>
        <p:nvSpPr>
          <p:cNvPr id="135" name="Text 21"/>
          <p:cNvSpPr/>
          <p:nvPr/>
        </p:nvSpPr>
        <p:spPr>
          <a:xfrm>
            <a:off x="1568160" y="7031880"/>
            <a:ext cx="12170880" cy="722160"/>
          </a:xfrm>
          <a:prstGeom prst="rect">
            <a:avLst/>
          </a:prstGeom>
          <a:noFill/>
          <a:ln w="0">
            <a:noFill/>
          </a:ln>
        </p:spPr>
        <p:style>
          <a:lnRef idx="0"/>
          <a:fillRef idx="0"/>
          <a:effectRef idx="0"/>
          <a:fontRef idx="minor"/>
        </p:style>
        <p:txBody>
          <a:bodyPr lIns="0" rIns="0" tIns="0" bIns="0" anchor="t">
            <a:noAutofit/>
          </a:bodyPr>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Trend və mustəqil dəyişənlərin təhlili</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Müxtəlif ssenarilərin ehtimal paylanması</a:t>
            </a:r>
            <a:endParaRPr b="0" lang="en-US" sz="1400" spc="-1" strike="noStrike">
              <a:solidFill>
                <a:srgbClr val="000000"/>
              </a:solidFill>
              <a:latin typeface="Arial"/>
            </a:endParaRPr>
          </a:p>
          <a:p>
            <a:pPr marL="343080" indent="-343080">
              <a:lnSpc>
                <a:spcPts val="1400"/>
              </a:lnSpc>
              <a:buClr>
                <a:srgbClr val="e2e6e9"/>
              </a:buClr>
              <a:buFont typeface="Symbol" charset="2"/>
              <a:buChar char=""/>
            </a:pPr>
            <a:r>
              <a:rPr b="0" lang="en-US" sz="1400" spc="-1" strike="noStrike">
                <a:solidFill>
                  <a:srgbClr val="e2e6e9"/>
                </a:solidFill>
                <a:latin typeface="Source Sans 3"/>
                <a:ea typeface="Source Sans 3"/>
              </a:rPr>
              <a:t>Erkən xəbərdarlıq sistemləri</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6" name="Image 0" descr="preencoded.png"/>
          <p:cNvPicPr/>
          <p:nvPr/>
        </p:nvPicPr>
        <p:blipFill>
          <a:blip r:embed="rId1"/>
          <a:stretch/>
        </p:blipFill>
        <p:spPr>
          <a:xfrm>
            <a:off x="0" y="0"/>
            <a:ext cx="5484240" cy="8227440"/>
          </a:xfrm>
          <a:prstGeom prst="rect">
            <a:avLst/>
          </a:prstGeom>
          <a:ln w="0">
            <a:noFill/>
          </a:ln>
        </p:spPr>
      </p:pic>
      <p:sp>
        <p:nvSpPr>
          <p:cNvPr id="137" name="Text 0"/>
          <p:cNvSpPr/>
          <p:nvPr/>
        </p:nvSpPr>
        <p:spPr>
          <a:xfrm>
            <a:off x="5627880" y="1905840"/>
            <a:ext cx="6229080" cy="405000"/>
          </a:xfrm>
          <a:prstGeom prst="rect">
            <a:avLst/>
          </a:prstGeom>
          <a:noFill/>
          <a:ln w="0">
            <a:noFill/>
          </a:ln>
        </p:spPr>
        <p:style>
          <a:lnRef idx="0"/>
          <a:fillRef idx="0"/>
          <a:effectRef idx="0"/>
          <a:fontRef idx="minor"/>
        </p:style>
        <p:txBody>
          <a:bodyPr wrap="none" lIns="0" rIns="0" tIns="0" bIns="0" anchor="t">
            <a:noAutofit/>
          </a:bodyPr>
          <a:p>
            <a:pPr>
              <a:lnSpc>
                <a:spcPts val="3200"/>
              </a:lnSpc>
              <a:tabLst>
                <a:tab algn="l" pos="0"/>
              </a:tabLst>
            </a:pPr>
            <a:r>
              <a:rPr b="1" lang="en-US" sz="2600" spc="-1" strike="noStrike">
                <a:solidFill>
                  <a:srgbClr val="ffffff"/>
                </a:solidFill>
                <a:latin typeface="Montserrat Bold"/>
                <a:ea typeface="Montserrat Bold"/>
              </a:rPr>
              <a:t>Hibrid Model: İnsan + SI Əməkdaşlığı</a:t>
            </a:r>
            <a:endParaRPr b="0" lang="en-US" sz="2600" spc="-1" strike="noStrike">
              <a:solidFill>
                <a:srgbClr val="000000"/>
              </a:solidFill>
              <a:latin typeface="Arial"/>
            </a:endParaRPr>
          </a:p>
        </p:txBody>
      </p:sp>
      <p:sp>
        <p:nvSpPr>
          <p:cNvPr id="138" name="Text 1"/>
          <p:cNvSpPr/>
          <p:nvPr/>
        </p:nvSpPr>
        <p:spPr>
          <a:xfrm>
            <a:off x="5627880" y="2455920"/>
            <a:ext cx="7994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Ən effektiv qərar qəbuletmə yanaşması insanın güclü tərəflərini Süni İntellektin imkanları ilə birləşdirən hibrid modeldir. Bu modeldə hər tərəf öz üstünlüklərini təqdim edir.</a:t>
            </a:r>
            <a:endParaRPr b="0" lang="en-US" sz="1200" spc="-1" strike="noStrike">
              <a:solidFill>
                <a:srgbClr val="000000"/>
              </a:solidFill>
              <a:latin typeface="Arial"/>
            </a:endParaRPr>
          </a:p>
        </p:txBody>
      </p:sp>
      <p:sp>
        <p:nvSpPr>
          <p:cNvPr id="139" name="Text 2"/>
          <p:cNvSpPr/>
          <p:nvPr/>
        </p:nvSpPr>
        <p:spPr>
          <a:xfrm>
            <a:off x="5627880" y="3015720"/>
            <a:ext cx="2077560" cy="24228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1" lang="en-US" sz="1600" spc="-1" strike="noStrike">
                <a:solidFill>
                  <a:srgbClr val="ffffff"/>
                </a:solidFill>
                <a:latin typeface="Montserrat Bold"/>
                <a:ea typeface="Montserrat Bold"/>
              </a:rPr>
              <a:t>Süni İntellektin Rolu</a:t>
            </a:r>
            <a:endParaRPr b="0" lang="en-US" sz="1600" spc="-1" strike="noStrike">
              <a:solidFill>
                <a:srgbClr val="000000"/>
              </a:solidFill>
              <a:latin typeface="Arial"/>
            </a:endParaRPr>
          </a:p>
        </p:txBody>
      </p:sp>
      <p:sp>
        <p:nvSpPr>
          <p:cNvPr id="140" name="Shape 3"/>
          <p:cNvSpPr/>
          <p:nvPr/>
        </p:nvSpPr>
        <p:spPr>
          <a:xfrm>
            <a:off x="5612400" y="335160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41" name="Text 4"/>
          <p:cNvSpPr/>
          <p:nvPr/>
        </p:nvSpPr>
        <p:spPr>
          <a:xfrm>
            <a:off x="5801760" y="3367080"/>
            <a:ext cx="162684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Məlumat Analizi</a:t>
            </a:r>
            <a:endParaRPr b="0" lang="en-US" sz="1300" spc="-1" strike="noStrike">
              <a:solidFill>
                <a:srgbClr val="000000"/>
              </a:solidFill>
              <a:latin typeface="Arial"/>
            </a:endParaRPr>
          </a:p>
        </p:txBody>
      </p:sp>
      <p:sp>
        <p:nvSpPr>
          <p:cNvPr id="142" name="Text 5"/>
          <p:cNvSpPr/>
          <p:nvPr/>
        </p:nvSpPr>
        <p:spPr>
          <a:xfrm>
            <a:off x="5801760" y="366552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Böyük həcmli məlumatların sürətli və dəqiq emalı, nümunələrin və tendensiyaların müəyyənləşdirilməsi.</a:t>
            </a:r>
            <a:endParaRPr b="0" lang="en-US" sz="1200" spc="-1" strike="noStrike">
              <a:solidFill>
                <a:srgbClr val="000000"/>
              </a:solidFill>
              <a:latin typeface="Arial"/>
            </a:endParaRPr>
          </a:p>
        </p:txBody>
      </p:sp>
      <p:sp>
        <p:nvSpPr>
          <p:cNvPr id="143" name="Shape 6"/>
          <p:cNvSpPr/>
          <p:nvPr/>
        </p:nvSpPr>
        <p:spPr>
          <a:xfrm>
            <a:off x="5612400" y="430632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44" name="Text 7"/>
          <p:cNvSpPr/>
          <p:nvPr/>
        </p:nvSpPr>
        <p:spPr>
          <a:xfrm>
            <a:off x="5801760" y="4321800"/>
            <a:ext cx="162684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Proqnozlaşdırma</a:t>
            </a:r>
            <a:endParaRPr b="0" lang="en-US" sz="1300" spc="-1" strike="noStrike">
              <a:solidFill>
                <a:srgbClr val="000000"/>
              </a:solidFill>
              <a:latin typeface="Arial"/>
            </a:endParaRPr>
          </a:p>
        </p:txBody>
      </p:sp>
      <p:sp>
        <p:nvSpPr>
          <p:cNvPr id="145" name="Text 8"/>
          <p:cNvSpPr/>
          <p:nvPr/>
        </p:nvSpPr>
        <p:spPr>
          <a:xfrm>
            <a:off x="5801760" y="462024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Tarixi məlumatlara əsaslanaraq gələcək nəticələrin ehtimal hesablamaları və risk qiymət-ləndirməsi.</a:t>
            </a:r>
            <a:endParaRPr b="0" lang="en-US" sz="1200" spc="-1" strike="noStrike">
              <a:solidFill>
                <a:srgbClr val="000000"/>
              </a:solidFill>
              <a:latin typeface="Arial"/>
            </a:endParaRPr>
          </a:p>
        </p:txBody>
      </p:sp>
      <p:sp>
        <p:nvSpPr>
          <p:cNvPr id="146" name="Shape 9"/>
          <p:cNvSpPr/>
          <p:nvPr/>
        </p:nvSpPr>
        <p:spPr>
          <a:xfrm>
            <a:off x="5612400" y="515304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47" name="Text 10"/>
          <p:cNvSpPr/>
          <p:nvPr/>
        </p:nvSpPr>
        <p:spPr>
          <a:xfrm>
            <a:off x="5801760" y="5168160"/>
            <a:ext cx="162684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Alternativ Yaratma</a:t>
            </a:r>
            <a:endParaRPr b="0" lang="en-US" sz="1300" spc="-1" strike="noStrike">
              <a:solidFill>
                <a:srgbClr val="000000"/>
              </a:solidFill>
              <a:latin typeface="Arial"/>
            </a:endParaRPr>
          </a:p>
        </p:txBody>
      </p:sp>
      <p:sp>
        <p:nvSpPr>
          <p:cNvPr id="148" name="Text 11"/>
          <p:cNvSpPr/>
          <p:nvPr/>
        </p:nvSpPr>
        <p:spPr>
          <a:xfrm>
            <a:off x="5801760" y="546696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Minlərlə mümkün həll variantının generasiyası və ilkin dəyər-ləndirməsi.</a:t>
            </a:r>
            <a:endParaRPr b="0" lang="en-US" sz="1200" spc="-1" strike="noStrike">
              <a:solidFill>
                <a:srgbClr val="000000"/>
              </a:solidFill>
              <a:latin typeface="Arial"/>
            </a:endParaRPr>
          </a:p>
        </p:txBody>
      </p:sp>
      <p:sp>
        <p:nvSpPr>
          <p:cNvPr id="149" name="Text 12"/>
          <p:cNvSpPr/>
          <p:nvPr/>
        </p:nvSpPr>
        <p:spPr>
          <a:xfrm>
            <a:off x="9808920" y="3015720"/>
            <a:ext cx="1952640" cy="24228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b="1" lang="en-US" sz="1600" spc="-1" strike="noStrike">
                <a:solidFill>
                  <a:srgbClr val="ffffff"/>
                </a:solidFill>
                <a:latin typeface="Montserrat Bold"/>
                <a:ea typeface="Montserrat Bold"/>
              </a:rPr>
              <a:t>İnsanın Rolu</a:t>
            </a:r>
            <a:endParaRPr b="0" lang="en-US" sz="1600" spc="-1" strike="noStrike">
              <a:solidFill>
                <a:srgbClr val="000000"/>
              </a:solidFill>
              <a:latin typeface="Arial"/>
            </a:endParaRPr>
          </a:p>
        </p:txBody>
      </p:sp>
      <p:sp>
        <p:nvSpPr>
          <p:cNvPr id="150" name="Shape 13"/>
          <p:cNvSpPr/>
          <p:nvPr/>
        </p:nvSpPr>
        <p:spPr>
          <a:xfrm>
            <a:off x="9793800" y="335160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51" name="Text 14"/>
          <p:cNvSpPr/>
          <p:nvPr/>
        </p:nvSpPr>
        <p:spPr>
          <a:xfrm>
            <a:off x="9982800" y="3367080"/>
            <a:ext cx="223380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Məqsəd Müəyyənləşdirmə</a:t>
            </a:r>
            <a:endParaRPr b="0" lang="en-US" sz="1300" spc="-1" strike="noStrike">
              <a:solidFill>
                <a:srgbClr val="000000"/>
              </a:solidFill>
              <a:latin typeface="Arial"/>
            </a:endParaRPr>
          </a:p>
        </p:txBody>
      </p:sp>
      <p:sp>
        <p:nvSpPr>
          <p:cNvPr id="152" name="Text 15"/>
          <p:cNvSpPr/>
          <p:nvPr/>
        </p:nvSpPr>
        <p:spPr>
          <a:xfrm>
            <a:off x="9982800" y="366552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Strategik hədəflərin, prioritetlərin və uğur meyarlarının təyin edilməsi.</a:t>
            </a:r>
            <a:endParaRPr b="0" lang="en-US" sz="1200" spc="-1" strike="noStrike">
              <a:solidFill>
                <a:srgbClr val="000000"/>
              </a:solidFill>
              <a:latin typeface="Arial"/>
            </a:endParaRPr>
          </a:p>
        </p:txBody>
      </p:sp>
      <p:sp>
        <p:nvSpPr>
          <p:cNvPr id="153" name="Shape 16"/>
          <p:cNvSpPr/>
          <p:nvPr/>
        </p:nvSpPr>
        <p:spPr>
          <a:xfrm>
            <a:off x="9793800" y="430632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54" name="Text 17"/>
          <p:cNvSpPr/>
          <p:nvPr/>
        </p:nvSpPr>
        <p:spPr>
          <a:xfrm>
            <a:off x="9982800" y="4321800"/>
            <a:ext cx="162684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Dəyər və Etika</a:t>
            </a:r>
            <a:endParaRPr b="0" lang="en-US" sz="1300" spc="-1" strike="noStrike">
              <a:solidFill>
                <a:srgbClr val="000000"/>
              </a:solidFill>
              <a:latin typeface="Arial"/>
            </a:endParaRPr>
          </a:p>
        </p:txBody>
      </p:sp>
      <p:sp>
        <p:nvSpPr>
          <p:cNvPr id="155" name="Text 18"/>
          <p:cNvSpPr/>
          <p:nvPr/>
        </p:nvSpPr>
        <p:spPr>
          <a:xfrm>
            <a:off x="9982800" y="462024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Etik sərhədlərin qoyulması, sosial məsuliyyətin və dəyərlərin nəzərə alınması.</a:t>
            </a:r>
            <a:endParaRPr b="0" lang="en-US" sz="1200" spc="-1" strike="noStrike">
              <a:solidFill>
                <a:srgbClr val="000000"/>
              </a:solidFill>
              <a:latin typeface="Arial"/>
            </a:endParaRPr>
          </a:p>
        </p:txBody>
      </p:sp>
      <p:sp>
        <p:nvSpPr>
          <p:cNvPr id="156" name="Shape 19"/>
          <p:cNvSpPr/>
          <p:nvPr/>
        </p:nvSpPr>
        <p:spPr>
          <a:xfrm>
            <a:off x="9793800" y="5153040"/>
            <a:ext cx="28440" cy="684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
        <p:nvSpPr>
          <p:cNvPr id="157" name="Text 20"/>
          <p:cNvSpPr/>
          <p:nvPr/>
        </p:nvSpPr>
        <p:spPr>
          <a:xfrm>
            <a:off x="9982800" y="5168160"/>
            <a:ext cx="1767960" cy="20160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1" lang="en-US" sz="1300" spc="-1" strike="noStrike">
                <a:solidFill>
                  <a:srgbClr val="e2e6e9"/>
                </a:solidFill>
                <a:latin typeface="Montserrat Bold"/>
                <a:ea typeface="Montserrat Bold"/>
              </a:rPr>
              <a:t>Kontekst və İntuitiya</a:t>
            </a:r>
            <a:endParaRPr b="0" lang="en-US" sz="1300" spc="-1" strike="noStrike">
              <a:solidFill>
                <a:srgbClr val="000000"/>
              </a:solidFill>
              <a:latin typeface="Arial"/>
            </a:endParaRPr>
          </a:p>
        </p:txBody>
      </p:sp>
      <p:sp>
        <p:nvSpPr>
          <p:cNvPr id="158" name="Text 21"/>
          <p:cNvSpPr/>
          <p:nvPr/>
        </p:nvSpPr>
        <p:spPr>
          <a:xfrm>
            <a:off x="9982800" y="5466960"/>
            <a:ext cx="3647880" cy="35568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200" spc="-1" strike="noStrike">
                <a:solidFill>
                  <a:srgbClr val="e2e6e9"/>
                </a:solidFill>
                <a:latin typeface="Source Sans 3"/>
                <a:ea typeface="Source Sans 3"/>
              </a:rPr>
              <a:t>Situasiya kontekstinin dərin anlaşılması, təcrübəyə əsaslanan mühakimələr.</a:t>
            </a:r>
            <a:endParaRPr b="0" lang="en-US" sz="1200" spc="-1" strike="noStrike">
              <a:solidFill>
                <a:srgbClr val="000000"/>
              </a:solidFill>
              <a:latin typeface="Arial"/>
            </a:endParaRPr>
          </a:p>
        </p:txBody>
      </p:sp>
      <p:sp>
        <p:nvSpPr>
          <p:cNvPr id="159" name="Text 22"/>
          <p:cNvSpPr/>
          <p:nvPr/>
        </p:nvSpPr>
        <p:spPr>
          <a:xfrm>
            <a:off x="5842800" y="6145920"/>
            <a:ext cx="7779960" cy="17676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0" lang="en-US" sz="1200" spc="-1" strike="noStrike">
                <a:solidFill>
                  <a:srgbClr val="e2e6e9"/>
                </a:solidFill>
                <a:latin typeface="Source Sans 3"/>
                <a:ea typeface="Source Sans 3"/>
              </a:rPr>
              <a:t>Ən güclü qərarlar SI-nin analitik gücünü insanın müdrikliyi, dəyərləri və kontekstual başa düşməsi ilə birləşdirdikdə yaranır.</a:t>
            </a:r>
            <a:endParaRPr b="0" lang="en-US" sz="1200" spc="-1" strike="noStrike">
              <a:solidFill>
                <a:srgbClr val="000000"/>
              </a:solidFill>
              <a:latin typeface="Arial"/>
            </a:endParaRPr>
          </a:p>
        </p:txBody>
      </p:sp>
      <p:sp>
        <p:nvSpPr>
          <p:cNvPr id="160" name="Shape 23"/>
          <p:cNvSpPr/>
          <p:nvPr/>
        </p:nvSpPr>
        <p:spPr>
          <a:xfrm>
            <a:off x="5627880" y="6038640"/>
            <a:ext cx="12960" cy="3906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Shape 0"/>
          <p:cNvSpPr/>
          <p:nvPr/>
        </p:nvSpPr>
        <p:spPr>
          <a:xfrm>
            <a:off x="766800" y="843480"/>
            <a:ext cx="988560" cy="344880"/>
          </a:xfrm>
          <a:prstGeom prst="roundRect">
            <a:avLst>
              <a:gd name="adj" fmla="val 6627"/>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62" name="Image 0" descr="preencoded.png"/>
          <p:cNvPicPr/>
          <p:nvPr/>
        </p:nvPicPr>
        <p:blipFill>
          <a:blip r:embed="rId1">
            <a:extLst>
              <a:ext uri="{96DAC541-7B7A-43D3-8B79-37D633B846F1}">
                <asvg:svgBlip xmlns:asvg="http://schemas.microsoft.com/office/drawing/2016/SVG/main" r:embed="rId2"/>
              </a:ext>
            </a:extLst>
          </a:blip>
          <a:stretch/>
        </p:blipFill>
        <p:spPr>
          <a:xfrm>
            <a:off x="889200" y="940320"/>
            <a:ext cx="151200" cy="151200"/>
          </a:xfrm>
          <a:prstGeom prst="rect">
            <a:avLst/>
          </a:prstGeom>
          <a:ln w="0">
            <a:noFill/>
          </a:ln>
        </p:spPr>
      </p:pic>
      <p:sp>
        <p:nvSpPr>
          <p:cNvPr id="163" name="Text 1"/>
          <p:cNvSpPr/>
          <p:nvPr/>
        </p:nvSpPr>
        <p:spPr>
          <a:xfrm>
            <a:off x="1118880" y="908640"/>
            <a:ext cx="513720" cy="2149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200" spc="-1" strike="noStrike">
                <a:solidFill>
                  <a:srgbClr val="ffffff"/>
                </a:solidFill>
                <a:latin typeface="Source Sans 3"/>
                <a:ea typeface="Source Sans 3"/>
              </a:rPr>
              <a:t>DIQQƏT</a:t>
            </a:r>
            <a:endParaRPr b="0" lang="en-US" sz="1200" spc="-1" strike="noStrike">
              <a:solidFill>
                <a:srgbClr val="000000"/>
              </a:solidFill>
              <a:latin typeface="Arial"/>
            </a:endParaRPr>
          </a:p>
        </p:txBody>
      </p:sp>
      <p:sp>
        <p:nvSpPr>
          <p:cNvPr id="164" name="Text 2"/>
          <p:cNvSpPr/>
          <p:nvPr/>
        </p:nvSpPr>
        <p:spPr>
          <a:xfrm>
            <a:off x="766800" y="1258560"/>
            <a:ext cx="6131520" cy="542160"/>
          </a:xfrm>
          <a:prstGeom prst="rect">
            <a:avLst/>
          </a:prstGeom>
          <a:noFill/>
          <a:ln w="0">
            <a:noFill/>
          </a:ln>
        </p:spPr>
        <p:style>
          <a:lnRef idx="0"/>
          <a:fillRef idx="0"/>
          <a:effectRef idx="0"/>
          <a:fontRef idx="minor"/>
        </p:style>
        <p:txBody>
          <a:bodyPr wrap="none" lIns="0" rIns="0" tIns="0" bIns="0" anchor="t">
            <a:noAutofit/>
          </a:bodyPr>
          <a:p>
            <a:pPr>
              <a:lnSpc>
                <a:spcPts val="4249"/>
              </a:lnSpc>
              <a:tabLst>
                <a:tab algn="l" pos="0"/>
              </a:tabLst>
            </a:pPr>
            <a:r>
              <a:rPr b="1" lang="en-US" sz="3400" spc="-1" strike="noStrike">
                <a:solidFill>
                  <a:srgbClr val="ffffff"/>
                </a:solidFill>
                <a:latin typeface="Montserrat Bold"/>
                <a:ea typeface="Montserrat Bold"/>
              </a:rPr>
              <a:t>Hibrid Yanaşmanın Riskləri</a:t>
            </a:r>
            <a:endParaRPr b="0" lang="en-US" sz="3400" spc="-1" strike="noStrike">
              <a:solidFill>
                <a:srgbClr val="000000"/>
              </a:solidFill>
              <a:latin typeface="Arial"/>
            </a:endParaRPr>
          </a:p>
        </p:txBody>
      </p:sp>
      <p:sp>
        <p:nvSpPr>
          <p:cNvPr id="165" name="Text 3"/>
          <p:cNvSpPr/>
          <p:nvPr/>
        </p:nvSpPr>
        <p:spPr>
          <a:xfrm>
            <a:off x="766800" y="1986120"/>
            <a:ext cx="13095000" cy="26928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500" spc="-1" strike="noStrike">
                <a:solidFill>
                  <a:srgbClr val="e2e6e9"/>
                </a:solidFill>
                <a:latin typeface="Source Sans 3"/>
                <a:ea typeface="Source Sans 3"/>
              </a:rPr>
              <a:t>Süni İntellektlə insan əməkdaşlığı böyük imkanlar təqdim etsə də, bir sıra ciddi risklər də daşıyır. </a:t>
            </a:r>
            <a:endParaRPr b="0" lang="en-US" sz="1500" spc="-1" strike="noStrike">
              <a:solidFill>
                <a:srgbClr val="000000"/>
              </a:solidFill>
              <a:latin typeface="Arial"/>
            </a:endParaRPr>
          </a:p>
          <a:p>
            <a:pPr>
              <a:lnSpc>
                <a:spcPts val="2100"/>
              </a:lnSpc>
              <a:tabLst>
                <a:tab algn="l" pos="0"/>
              </a:tabLst>
            </a:pPr>
            <a:r>
              <a:rPr b="0" lang="en-US" sz="1500" spc="-1" strike="noStrike">
                <a:solidFill>
                  <a:srgbClr val="e2e6e9"/>
                </a:solidFill>
                <a:latin typeface="Source Sans 3"/>
                <a:ea typeface="Source Sans 3"/>
              </a:rPr>
              <a:t>Bu riskləri başa düşmək və idarə etmək uğurlu tətbiq üçün vacibdir.</a:t>
            </a:r>
            <a:endParaRPr b="0" lang="en-US" sz="1500" spc="-1" strike="noStrike">
              <a:solidFill>
                <a:srgbClr val="000000"/>
              </a:solidFill>
              <a:latin typeface="Arial"/>
            </a:endParaRPr>
          </a:p>
        </p:txBody>
      </p:sp>
      <p:pic>
        <p:nvPicPr>
          <p:cNvPr id="166" name="Image 1" descr="preencoded.png"/>
          <p:cNvPicPr/>
          <p:nvPr/>
        </p:nvPicPr>
        <p:blipFill>
          <a:blip r:embed="rId3"/>
          <a:stretch/>
        </p:blipFill>
        <p:spPr>
          <a:xfrm>
            <a:off x="766800" y="2808720"/>
            <a:ext cx="1518480" cy="1518480"/>
          </a:xfrm>
          <a:prstGeom prst="rect">
            <a:avLst/>
          </a:prstGeom>
          <a:ln w="0">
            <a:noFill/>
          </a:ln>
        </p:spPr>
      </p:pic>
      <p:sp>
        <p:nvSpPr>
          <p:cNvPr id="167" name="Text 4"/>
          <p:cNvSpPr/>
          <p:nvPr/>
        </p:nvSpPr>
        <p:spPr>
          <a:xfrm>
            <a:off x="2499840" y="2808720"/>
            <a:ext cx="2488680" cy="542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1" lang="en-US" sz="1700" spc="-1" strike="noStrike">
                <a:solidFill>
                  <a:srgbClr val="e2e6e9"/>
                </a:solidFill>
                <a:latin typeface="Montserrat Bold"/>
                <a:ea typeface="Montserrat Bold"/>
              </a:rPr>
              <a:t>Həddindən Artıq Etibar</a:t>
            </a:r>
            <a:endParaRPr b="0" lang="en-US" sz="1700" spc="-1" strike="noStrike">
              <a:solidFill>
                <a:srgbClr val="000000"/>
              </a:solidFill>
              <a:latin typeface="Arial"/>
            </a:endParaRPr>
          </a:p>
        </p:txBody>
      </p:sp>
      <p:sp>
        <p:nvSpPr>
          <p:cNvPr id="168" name="Text 5"/>
          <p:cNvSpPr/>
          <p:nvPr/>
        </p:nvSpPr>
        <p:spPr>
          <a:xfrm>
            <a:off x="2499840" y="3203280"/>
            <a:ext cx="2488680" cy="2711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500" spc="-1" strike="noStrike">
                <a:solidFill>
                  <a:srgbClr val="e2e6e9"/>
                </a:solidFill>
                <a:latin typeface="Source Sans 3"/>
                <a:ea typeface="Source Sans 3"/>
              </a:rPr>
              <a:t>İnsanlar SI sistemlərinə həddindən artıq etibar edərək öz tənqidi düşüncə qabiliyyətlərini zəiflədə bilərlər. SI təklifləri hər zaman doğru və kontekstə uyğun olmaya bilər. Qərar qəbul edənlər SI nəticələrini mühakimə etmədən qəbul etmək təhlükəsi ilə üzləşirlər.</a:t>
            </a:r>
            <a:endParaRPr b="0" lang="en-US" sz="1500" spc="-1" strike="noStrike">
              <a:solidFill>
                <a:srgbClr val="000000"/>
              </a:solidFill>
              <a:latin typeface="Arial"/>
            </a:endParaRPr>
          </a:p>
        </p:txBody>
      </p:sp>
      <p:pic>
        <p:nvPicPr>
          <p:cNvPr id="169" name="Image 2" descr="preencoded.png"/>
          <p:cNvPicPr/>
          <p:nvPr/>
        </p:nvPicPr>
        <p:blipFill>
          <a:blip r:embed="rId4"/>
          <a:stretch/>
        </p:blipFill>
        <p:spPr>
          <a:xfrm>
            <a:off x="5203080" y="2808720"/>
            <a:ext cx="1518480" cy="1518480"/>
          </a:xfrm>
          <a:prstGeom prst="rect">
            <a:avLst/>
          </a:prstGeom>
          <a:ln w="0">
            <a:noFill/>
          </a:ln>
        </p:spPr>
      </p:pic>
      <p:sp>
        <p:nvSpPr>
          <p:cNvPr id="170" name="Text 6"/>
          <p:cNvSpPr/>
          <p:nvPr/>
        </p:nvSpPr>
        <p:spPr>
          <a:xfrm>
            <a:off x="6936120" y="2808720"/>
            <a:ext cx="21790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2e6e9"/>
                </a:solidFill>
                <a:latin typeface="Montserrat Bold"/>
                <a:ea typeface="Montserrat Bold"/>
              </a:rPr>
              <a:t>"Qara Qutu" Effekti</a:t>
            </a:r>
            <a:endParaRPr b="0" lang="en-US" sz="1700" spc="-1" strike="noStrike">
              <a:solidFill>
                <a:srgbClr val="000000"/>
              </a:solidFill>
              <a:latin typeface="Arial"/>
            </a:endParaRPr>
          </a:p>
        </p:txBody>
      </p:sp>
      <p:sp>
        <p:nvSpPr>
          <p:cNvPr id="171" name="Text 7"/>
          <p:cNvSpPr/>
          <p:nvPr/>
        </p:nvSpPr>
        <p:spPr>
          <a:xfrm>
            <a:off x="6936120" y="3183120"/>
            <a:ext cx="2488680" cy="24400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500" spc="-1" strike="noStrike">
                <a:solidFill>
                  <a:srgbClr val="e2e6e9"/>
                </a:solidFill>
                <a:latin typeface="Source Sans 3"/>
                <a:ea typeface="Source Sans 3"/>
              </a:rPr>
              <a:t>Mürəkkəb SI modellərinin qərar prosesləri qeyri-şəffaf ola bilər. İnsanlar SI-nin müəyyən nəticəyə necə gəldiyini anlamır və buna görə də sistemə şübhə ilə yanaşır və ya düzgün sualları verə bilmirlər. Alqoritmik şəffaflıq kritik əhəmiyyət kəsb edir.</a:t>
            </a:r>
            <a:endParaRPr b="0" lang="en-US" sz="1500" spc="-1" strike="noStrike">
              <a:solidFill>
                <a:srgbClr val="000000"/>
              </a:solidFill>
              <a:latin typeface="Arial"/>
            </a:endParaRPr>
          </a:p>
        </p:txBody>
      </p:sp>
      <p:pic>
        <p:nvPicPr>
          <p:cNvPr id="172" name="Image 3" descr="preencoded.png"/>
          <p:cNvPicPr/>
          <p:nvPr/>
        </p:nvPicPr>
        <p:blipFill>
          <a:blip r:embed="rId5"/>
          <a:stretch/>
        </p:blipFill>
        <p:spPr>
          <a:xfrm>
            <a:off x="9639720" y="2808720"/>
            <a:ext cx="1518480" cy="1518480"/>
          </a:xfrm>
          <a:prstGeom prst="rect">
            <a:avLst/>
          </a:prstGeom>
          <a:ln w="0">
            <a:noFill/>
          </a:ln>
        </p:spPr>
      </p:pic>
      <p:sp>
        <p:nvSpPr>
          <p:cNvPr id="173" name="Text 8"/>
          <p:cNvSpPr/>
          <p:nvPr/>
        </p:nvSpPr>
        <p:spPr>
          <a:xfrm>
            <a:off x="11372760" y="2808720"/>
            <a:ext cx="2488680" cy="542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1" lang="en-US" sz="1700" spc="-1" strike="noStrike">
                <a:solidFill>
                  <a:srgbClr val="e2e6e9"/>
                </a:solidFill>
                <a:latin typeface="Montserrat Bold"/>
                <a:ea typeface="Montserrat Bold"/>
              </a:rPr>
              <a:t>Məsuliyyətin Qeyri-müəyyənliyi</a:t>
            </a:r>
            <a:endParaRPr b="0" lang="en-US" sz="1700" spc="-1" strike="noStrike">
              <a:solidFill>
                <a:srgbClr val="000000"/>
              </a:solidFill>
              <a:latin typeface="Arial"/>
            </a:endParaRPr>
          </a:p>
        </p:txBody>
      </p:sp>
      <p:sp>
        <p:nvSpPr>
          <p:cNvPr id="174" name="Text 9"/>
          <p:cNvSpPr/>
          <p:nvPr/>
        </p:nvSpPr>
        <p:spPr>
          <a:xfrm>
            <a:off x="11372760" y="3455280"/>
            <a:ext cx="2488680" cy="216864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500" spc="-1" strike="noStrike">
                <a:solidFill>
                  <a:srgbClr val="e2e6e9"/>
                </a:solidFill>
                <a:latin typeface="Source Sans 3"/>
                <a:ea typeface="Source Sans 3"/>
              </a:rPr>
              <a:t>SI ilə birgə qərar qəbuletmədə məsuliyyət bölgüsü çətinləşir. Səhv qərar halında kimin məsuliyyət daşıdığı aydın olmur: sistemin dizayneri, istifadəçi, yoxsa rəhbərlik? Bu vəziyyət hesabatlılıq və hüquqi problemlər yaradır.</a:t>
            </a:r>
            <a:endParaRPr b="0" lang="en-US" sz="1500" spc="-1" strike="noStrike">
              <a:solidFill>
                <a:srgbClr val="000000"/>
              </a:solidFill>
              <a:latin typeface="Arial"/>
            </a:endParaRPr>
          </a:p>
        </p:txBody>
      </p:sp>
      <p:sp>
        <p:nvSpPr>
          <p:cNvPr id="175" name="Shape 10"/>
          <p:cNvSpPr/>
          <p:nvPr/>
        </p:nvSpPr>
        <p:spPr>
          <a:xfrm>
            <a:off x="766800" y="6648120"/>
            <a:ext cx="13095000" cy="735840"/>
          </a:xfrm>
          <a:prstGeom prst="roundRect">
            <a:avLst>
              <a:gd name="adj" fmla="val 3896"/>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6" name="Image 4" descr="preencoded.png"/>
          <p:cNvPicPr/>
          <p:nvPr/>
        </p:nvPicPr>
        <p:blipFill>
          <a:blip r:embed="rId6"/>
          <a:stretch/>
        </p:blipFill>
        <p:spPr>
          <a:xfrm>
            <a:off x="994320" y="6874200"/>
            <a:ext cx="237240" cy="189360"/>
          </a:xfrm>
          <a:prstGeom prst="rect">
            <a:avLst/>
          </a:prstGeom>
          <a:ln w="0">
            <a:noFill/>
          </a:ln>
        </p:spPr>
      </p:pic>
      <p:sp>
        <p:nvSpPr>
          <p:cNvPr id="177" name="Text 11"/>
          <p:cNvSpPr/>
          <p:nvPr/>
        </p:nvSpPr>
        <p:spPr>
          <a:xfrm>
            <a:off x="1389240" y="6829920"/>
            <a:ext cx="12280680" cy="26928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500" spc="-1" strike="noStrike">
                <a:solidFill>
                  <a:srgbClr val="ffffff"/>
                </a:solidFill>
                <a:latin typeface="Source Sans 3"/>
                <a:ea typeface="Source Sans 3"/>
              </a:rPr>
              <a:t>Bu risklərin idarə edilməsi üçün aydın protokollar, təlim proqramları və məsuliyyət çərçivələri yaratmaq zəruridir.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ext 0"/>
          <p:cNvSpPr/>
          <p:nvPr/>
        </p:nvSpPr>
        <p:spPr>
          <a:xfrm>
            <a:off x="751320" y="997920"/>
            <a:ext cx="8687520" cy="531360"/>
          </a:xfrm>
          <a:prstGeom prst="rect">
            <a:avLst/>
          </a:prstGeom>
          <a:noFill/>
          <a:ln w="0">
            <a:noFill/>
          </a:ln>
        </p:spPr>
        <p:style>
          <a:lnRef idx="0"/>
          <a:fillRef idx="0"/>
          <a:effectRef idx="0"/>
          <a:fontRef idx="minor"/>
        </p:style>
        <p:txBody>
          <a:bodyPr wrap="none" lIns="0" rIns="0" tIns="0" bIns="0" anchor="t">
            <a:noAutofit/>
          </a:bodyPr>
          <a:p>
            <a:pPr>
              <a:lnSpc>
                <a:spcPts val="4201"/>
              </a:lnSpc>
              <a:tabLst>
                <a:tab algn="l" pos="0"/>
              </a:tabLst>
            </a:pPr>
            <a:r>
              <a:rPr b="1" lang="en-US" sz="3350" spc="-1" strike="noStrike">
                <a:solidFill>
                  <a:srgbClr val="ffffff"/>
                </a:solidFill>
                <a:latin typeface="Montserrat Bold"/>
                <a:ea typeface="Montserrat Bold"/>
              </a:rPr>
              <a:t>Qərar Keyfiyyətinin Qiymətləndirilməsi</a:t>
            </a:r>
            <a:endParaRPr b="0" lang="en-US" sz="3350" spc="-1" strike="noStrike">
              <a:solidFill>
                <a:srgbClr val="000000"/>
              </a:solidFill>
              <a:latin typeface="Arial"/>
            </a:endParaRPr>
          </a:p>
        </p:txBody>
      </p:sp>
      <p:sp>
        <p:nvSpPr>
          <p:cNvPr id="179" name="Text 1"/>
          <p:cNvSpPr/>
          <p:nvPr/>
        </p:nvSpPr>
        <p:spPr>
          <a:xfrm>
            <a:off x="751320" y="1857960"/>
            <a:ext cx="13125960" cy="524160"/>
          </a:xfrm>
          <a:prstGeom prst="rect">
            <a:avLst/>
          </a:prstGeom>
          <a:noFill/>
          <a:ln w="0">
            <a:noFill/>
          </a:ln>
        </p:spPr>
        <p:style>
          <a:lnRef idx="0"/>
          <a:fillRef idx="0"/>
          <a:effectRef idx="0"/>
          <a:fontRef idx="minor"/>
        </p:style>
        <p:txBody>
          <a:bodyPr lIns="0" rIns="0" tIns="0" bIns="0" anchor="t">
            <a:noAutofit/>
          </a:bodyPr>
          <a:p>
            <a:pPr>
              <a:lnSpc>
                <a:spcPts val="2049"/>
              </a:lnSpc>
              <a:tabLst>
                <a:tab algn="l" pos="0"/>
              </a:tabLst>
            </a:pPr>
            <a:r>
              <a:rPr b="0" lang="en-US" sz="1450" spc="-1" strike="noStrike">
                <a:solidFill>
                  <a:srgbClr val="e2e6e9"/>
                </a:solidFill>
                <a:latin typeface="Source Sans 3"/>
                <a:ea typeface="Source Sans 3"/>
              </a:rPr>
              <a:t>İdarəetmə qərarlarının keyfiyyətini obyektiv şəkildə qiymətləndirmək üçün aydın meyarlara ehtiyac var. Bu meyarlar həm klassik, həm də SI dəstəkli qərarlara tətbiq olunmalıdır.</a:t>
            </a:r>
            <a:endParaRPr b="0" lang="en-US" sz="1450" spc="-1" strike="noStrike">
              <a:solidFill>
                <a:srgbClr val="000000"/>
              </a:solidFill>
              <a:latin typeface="Arial"/>
            </a:endParaRPr>
          </a:p>
        </p:txBody>
      </p:sp>
      <p:sp>
        <p:nvSpPr>
          <p:cNvPr id="180" name="Shape 2"/>
          <p:cNvSpPr/>
          <p:nvPr/>
        </p:nvSpPr>
        <p:spPr>
          <a:xfrm>
            <a:off x="751320" y="2850120"/>
            <a:ext cx="3157560" cy="3623760"/>
          </a:xfrm>
          <a:prstGeom prst="roundRect">
            <a:avLst>
              <a:gd name="adj" fmla="val 3473"/>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Shape 3"/>
          <p:cNvSpPr/>
          <p:nvPr/>
        </p:nvSpPr>
        <p:spPr>
          <a:xfrm>
            <a:off x="751320" y="2827080"/>
            <a:ext cx="3157560" cy="89280"/>
          </a:xfrm>
          <a:prstGeom prst="roundRect">
            <a:avLst>
              <a:gd name="adj" fmla="val 30808"/>
            </a:avLst>
          </a:prstGeom>
          <a:solidFill>
            <a:srgbClr val="ffffff"/>
          </a:solidFill>
          <a:ln w="0">
            <a:noFill/>
          </a:ln>
        </p:spPr>
        <p:style>
          <a:lnRef idx="0"/>
          <a:fillRef idx="0"/>
          <a:effectRef idx="0"/>
          <a:fontRef idx="minor"/>
        </p:style>
        <p:txBody>
          <a:bodyPr lIns="90000" rIns="90000" tIns="30240" bIns="30240" anchor="t">
            <a:noAutofit/>
          </a:bodyPr>
          <a:p>
            <a:pPr>
              <a:lnSpc>
                <a:spcPct val="100000"/>
              </a:lnSpc>
            </a:pPr>
            <a:endParaRPr b="0" lang="en-US" sz="1800" spc="-1" strike="noStrike">
              <a:solidFill>
                <a:srgbClr val="000000"/>
              </a:solidFill>
              <a:latin typeface="Arial"/>
            </a:endParaRPr>
          </a:p>
        </p:txBody>
      </p:sp>
      <p:sp>
        <p:nvSpPr>
          <p:cNvPr id="182" name="Shape 4"/>
          <p:cNvSpPr/>
          <p:nvPr/>
        </p:nvSpPr>
        <p:spPr>
          <a:xfrm>
            <a:off x="2049120" y="2568240"/>
            <a:ext cx="561240" cy="561240"/>
          </a:xfrm>
          <a:prstGeom prst="roundRect">
            <a:avLst>
              <a:gd name="adj" fmla="val 162299"/>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3" name="Text 5"/>
          <p:cNvSpPr/>
          <p:nvPr/>
        </p:nvSpPr>
        <p:spPr>
          <a:xfrm>
            <a:off x="2218320" y="2709000"/>
            <a:ext cx="223200" cy="27972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1" lang="en-US" sz="1750" spc="-1" strike="noStrike">
                <a:solidFill>
                  <a:srgbClr val="000000"/>
                </a:solidFill>
                <a:latin typeface="Montserrat Bold"/>
                <a:ea typeface="Montserrat Bold"/>
              </a:rPr>
              <a:t>1</a:t>
            </a:r>
            <a:endParaRPr b="0" lang="en-US" sz="1750" spc="-1" strike="noStrike">
              <a:solidFill>
                <a:srgbClr val="000000"/>
              </a:solidFill>
              <a:latin typeface="Arial"/>
            </a:endParaRPr>
          </a:p>
        </p:txBody>
      </p:sp>
      <p:sp>
        <p:nvSpPr>
          <p:cNvPr id="184" name="Text 6"/>
          <p:cNvSpPr/>
          <p:nvPr/>
        </p:nvSpPr>
        <p:spPr>
          <a:xfrm>
            <a:off x="961920" y="3319560"/>
            <a:ext cx="2131920" cy="2646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650" spc="-1" strike="noStrike">
                <a:solidFill>
                  <a:srgbClr val="e2e6e9"/>
                </a:solidFill>
                <a:latin typeface="Montserrat Bold"/>
                <a:ea typeface="Montserrat Bold"/>
              </a:rPr>
              <a:t>Əsaslan-dırılmışlıq</a:t>
            </a:r>
            <a:endParaRPr b="0" lang="en-US" sz="1650" spc="-1" strike="noStrike">
              <a:solidFill>
                <a:srgbClr val="000000"/>
              </a:solidFill>
              <a:latin typeface="Arial"/>
            </a:endParaRPr>
          </a:p>
        </p:txBody>
      </p:sp>
      <p:sp>
        <p:nvSpPr>
          <p:cNvPr id="185" name="Text 7"/>
          <p:cNvSpPr/>
          <p:nvPr/>
        </p:nvSpPr>
        <p:spPr>
          <a:xfrm>
            <a:off x="961920" y="3683880"/>
            <a:ext cx="2736000" cy="787680"/>
          </a:xfrm>
          <a:prstGeom prst="rect">
            <a:avLst/>
          </a:prstGeom>
          <a:noFill/>
          <a:ln w="0">
            <a:noFill/>
          </a:ln>
        </p:spPr>
        <p:style>
          <a:lnRef idx="0"/>
          <a:fillRef idx="0"/>
          <a:effectRef idx="0"/>
          <a:fontRef idx="minor"/>
        </p:style>
        <p:txBody>
          <a:bodyPr lIns="0" rIns="0" tIns="0" bIns="0" anchor="t">
            <a:noAutofit/>
          </a:bodyPr>
          <a:p>
            <a:pPr>
              <a:lnSpc>
                <a:spcPts val="2049"/>
              </a:lnSpc>
              <a:tabLst>
                <a:tab algn="l" pos="0"/>
              </a:tabLst>
            </a:pPr>
            <a:r>
              <a:rPr b="0" lang="en-US" sz="1450" spc="-1" strike="noStrike">
                <a:solidFill>
                  <a:srgbClr val="e2e6e9"/>
                </a:solidFill>
                <a:latin typeface="Source Sans 3"/>
                <a:ea typeface="Source Sans 3"/>
              </a:rPr>
              <a:t>Qərar etibarlı məlumatlara və düzgün analitik metodlara əsaslanmalıdır.</a:t>
            </a:r>
            <a:endParaRPr b="0" lang="en-US" sz="1450" spc="-1" strike="noStrike">
              <a:solidFill>
                <a:srgbClr val="000000"/>
              </a:solidFill>
              <a:latin typeface="Arial"/>
            </a:endParaRPr>
          </a:p>
        </p:txBody>
      </p:sp>
      <p:sp>
        <p:nvSpPr>
          <p:cNvPr id="186" name="Text 8"/>
          <p:cNvSpPr/>
          <p:nvPr/>
        </p:nvSpPr>
        <p:spPr>
          <a:xfrm>
            <a:off x="961920" y="4571640"/>
            <a:ext cx="2736000" cy="1164960"/>
          </a:xfrm>
          <a:prstGeom prst="rect">
            <a:avLst/>
          </a:prstGeom>
          <a:noFill/>
          <a:ln w="0">
            <a:noFill/>
          </a:ln>
        </p:spPr>
        <p:style>
          <a:lnRef idx="0"/>
          <a:fillRef idx="0"/>
          <a:effectRef idx="0"/>
          <a:fontRef idx="minor"/>
        </p:style>
        <p:txBody>
          <a:bodyPr lIns="0" rIns="0" tIns="0" bIns="0" anchor="t">
            <a:noAutofit/>
          </a:bodyPr>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Mənbələrin etibarlılığı</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Analiz metodlarının düzgünlüyü</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Fərziyyə-lərin şəffaflığı</a:t>
            </a:r>
            <a:endParaRPr b="0" lang="en-US" sz="1450" spc="-1" strike="noStrike">
              <a:solidFill>
                <a:srgbClr val="000000"/>
              </a:solidFill>
              <a:latin typeface="Arial"/>
            </a:endParaRPr>
          </a:p>
        </p:txBody>
      </p:sp>
      <p:sp>
        <p:nvSpPr>
          <p:cNvPr id="187" name="Shape 9"/>
          <p:cNvSpPr/>
          <p:nvPr/>
        </p:nvSpPr>
        <p:spPr>
          <a:xfrm>
            <a:off x="4074120" y="2850120"/>
            <a:ext cx="3157560" cy="3623760"/>
          </a:xfrm>
          <a:prstGeom prst="roundRect">
            <a:avLst>
              <a:gd name="adj" fmla="val 3473"/>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8" name="Shape 10"/>
          <p:cNvSpPr/>
          <p:nvPr/>
        </p:nvSpPr>
        <p:spPr>
          <a:xfrm>
            <a:off x="4074120" y="2827080"/>
            <a:ext cx="3157560" cy="89280"/>
          </a:xfrm>
          <a:prstGeom prst="roundRect">
            <a:avLst>
              <a:gd name="adj" fmla="val 30808"/>
            </a:avLst>
          </a:prstGeom>
          <a:solidFill>
            <a:srgbClr val="ffffff"/>
          </a:solidFill>
          <a:ln w="0">
            <a:noFill/>
          </a:ln>
        </p:spPr>
        <p:style>
          <a:lnRef idx="0"/>
          <a:fillRef idx="0"/>
          <a:effectRef idx="0"/>
          <a:fontRef idx="minor"/>
        </p:style>
        <p:txBody>
          <a:bodyPr lIns="90000" rIns="90000" tIns="30240" bIns="30240" anchor="t">
            <a:noAutofit/>
          </a:bodyPr>
          <a:p>
            <a:pPr>
              <a:lnSpc>
                <a:spcPct val="100000"/>
              </a:lnSpc>
            </a:pPr>
            <a:endParaRPr b="0" lang="en-US" sz="1800" spc="-1" strike="noStrike">
              <a:solidFill>
                <a:srgbClr val="000000"/>
              </a:solidFill>
              <a:latin typeface="Arial"/>
            </a:endParaRPr>
          </a:p>
        </p:txBody>
      </p:sp>
      <p:sp>
        <p:nvSpPr>
          <p:cNvPr id="189" name="Shape 11"/>
          <p:cNvSpPr/>
          <p:nvPr/>
        </p:nvSpPr>
        <p:spPr>
          <a:xfrm>
            <a:off x="5371920" y="2568240"/>
            <a:ext cx="561240" cy="561240"/>
          </a:xfrm>
          <a:prstGeom prst="roundRect">
            <a:avLst>
              <a:gd name="adj" fmla="val 162299"/>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0" name="Text 12"/>
          <p:cNvSpPr/>
          <p:nvPr/>
        </p:nvSpPr>
        <p:spPr>
          <a:xfrm>
            <a:off x="5541120" y="2709000"/>
            <a:ext cx="223200" cy="27972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1" lang="en-US" sz="1750" spc="-1" strike="noStrike">
                <a:solidFill>
                  <a:srgbClr val="000000"/>
                </a:solidFill>
                <a:latin typeface="Montserrat Bold"/>
                <a:ea typeface="Montserrat Bold"/>
              </a:rPr>
              <a:t>2</a:t>
            </a:r>
            <a:endParaRPr b="0" lang="en-US" sz="1750" spc="-1" strike="noStrike">
              <a:solidFill>
                <a:srgbClr val="000000"/>
              </a:solidFill>
              <a:latin typeface="Arial"/>
            </a:endParaRPr>
          </a:p>
        </p:txBody>
      </p:sp>
      <p:sp>
        <p:nvSpPr>
          <p:cNvPr id="191" name="Text 13"/>
          <p:cNvSpPr/>
          <p:nvPr/>
        </p:nvSpPr>
        <p:spPr>
          <a:xfrm>
            <a:off x="4284720" y="3319560"/>
            <a:ext cx="2657880" cy="2646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650" spc="-1" strike="noStrike">
                <a:solidFill>
                  <a:srgbClr val="e2e6e9"/>
                </a:solidFill>
                <a:latin typeface="Montserrat Bold"/>
                <a:ea typeface="Montserrat Bold"/>
              </a:rPr>
              <a:t>Məlumatların Keyfiyyəti</a:t>
            </a:r>
            <a:endParaRPr b="0" lang="en-US" sz="1650" spc="-1" strike="noStrike">
              <a:solidFill>
                <a:srgbClr val="000000"/>
              </a:solidFill>
              <a:latin typeface="Arial"/>
            </a:endParaRPr>
          </a:p>
        </p:txBody>
      </p:sp>
      <p:sp>
        <p:nvSpPr>
          <p:cNvPr id="192" name="Text 14"/>
          <p:cNvSpPr/>
          <p:nvPr/>
        </p:nvSpPr>
        <p:spPr>
          <a:xfrm>
            <a:off x="4284720" y="3683880"/>
            <a:ext cx="2736000" cy="787680"/>
          </a:xfrm>
          <a:prstGeom prst="rect">
            <a:avLst/>
          </a:prstGeom>
          <a:noFill/>
          <a:ln w="0">
            <a:noFill/>
          </a:ln>
        </p:spPr>
        <p:style>
          <a:lnRef idx="0"/>
          <a:fillRef idx="0"/>
          <a:effectRef idx="0"/>
          <a:fontRef idx="minor"/>
        </p:style>
        <p:txBody>
          <a:bodyPr lIns="0" rIns="0" tIns="0" bIns="0" anchor="t">
            <a:noAutofit/>
          </a:bodyPr>
          <a:p>
            <a:pPr>
              <a:lnSpc>
                <a:spcPts val="2049"/>
              </a:lnSpc>
              <a:tabLst>
                <a:tab algn="l" pos="0"/>
              </a:tabLst>
            </a:pPr>
            <a:r>
              <a:rPr b="0" lang="en-US" sz="1450" spc="-1" strike="noStrike">
                <a:solidFill>
                  <a:srgbClr val="e2e6e9"/>
                </a:solidFill>
                <a:latin typeface="Source Sans 3"/>
                <a:ea typeface="Source Sans 3"/>
              </a:rPr>
              <a:t>İstifadə olunan məlumatlar aktual, dəqiq və məqsədə uyğun olmalıdır.</a:t>
            </a:r>
            <a:endParaRPr b="0" lang="en-US" sz="1450" spc="-1" strike="noStrike">
              <a:solidFill>
                <a:srgbClr val="000000"/>
              </a:solidFill>
              <a:latin typeface="Arial"/>
            </a:endParaRPr>
          </a:p>
        </p:txBody>
      </p:sp>
      <p:sp>
        <p:nvSpPr>
          <p:cNvPr id="193" name="Text 15"/>
          <p:cNvSpPr/>
          <p:nvPr/>
        </p:nvSpPr>
        <p:spPr>
          <a:xfrm>
            <a:off x="4284720" y="4571640"/>
            <a:ext cx="2736000" cy="1428480"/>
          </a:xfrm>
          <a:prstGeom prst="rect">
            <a:avLst/>
          </a:prstGeom>
          <a:noFill/>
          <a:ln w="0">
            <a:noFill/>
          </a:ln>
        </p:spPr>
        <p:style>
          <a:lnRef idx="0"/>
          <a:fillRef idx="0"/>
          <a:effectRef idx="0"/>
          <a:fontRef idx="minor"/>
        </p:style>
        <p:txBody>
          <a:bodyPr lIns="0" rIns="0" tIns="0" bIns="0" anchor="t">
            <a:noAutofit/>
          </a:bodyPr>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Məlumatların tamlığı və dəqiqliyi</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Aktual və müvafiq informasiya</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Məlumat mənbələrinin müxtəlifliyi</a:t>
            </a:r>
            <a:endParaRPr b="0" lang="en-US" sz="1450" spc="-1" strike="noStrike">
              <a:solidFill>
                <a:srgbClr val="000000"/>
              </a:solidFill>
              <a:latin typeface="Arial"/>
            </a:endParaRPr>
          </a:p>
        </p:txBody>
      </p:sp>
      <p:sp>
        <p:nvSpPr>
          <p:cNvPr id="194" name="Shape 16"/>
          <p:cNvSpPr/>
          <p:nvPr/>
        </p:nvSpPr>
        <p:spPr>
          <a:xfrm>
            <a:off x="7396920" y="2850120"/>
            <a:ext cx="3157560" cy="3623760"/>
          </a:xfrm>
          <a:prstGeom prst="roundRect">
            <a:avLst>
              <a:gd name="adj" fmla="val 3473"/>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 name="Shape 17"/>
          <p:cNvSpPr/>
          <p:nvPr/>
        </p:nvSpPr>
        <p:spPr>
          <a:xfrm>
            <a:off x="7396920" y="2827080"/>
            <a:ext cx="3157560" cy="89280"/>
          </a:xfrm>
          <a:prstGeom prst="roundRect">
            <a:avLst>
              <a:gd name="adj" fmla="val 30808"/>
            </a:avLst>
          </a:prstGeom>
          <a:solidFill>
            <a:srgbClr val="ffffff"/>
          </a:solidFill>
          <a:ln w="0">
            <a:noFill/>
          </a:ln>
        </p:spPr>
        <p:style>
          <a:lnRef idx="0"/>
          <a:fillRef idx="0"/>
          <a:effectRef idx="0"/>
          <a:fontRef idx="minor"/>
        </p:style>
        <p:txBody>
          <a:bodyPr lIns="90000" rIns="90000" tIns="30240" bIns="30240" anchor="t">
            <a:noAutofit/>
          </a:bodyPr>
          <a:p>
            <a:pPr>
              <a:lnSpc>
                <a:spcPct val="100000"/>
              </a:lnSpc>
            </a:pPr>
            <a:endParaRPr b="0" lang="en-US" sz="1800" spc="-1" strike="noStrike">
              <a:solidFill>
                <a:srgbClr val="000000"/>
              </a:solidFill>
              <a:latin typeface="Arial"/>
            </a:endParaRPr>
          </a:p>
        </p:txBody>
      </p:sp>
      <p:sp>
        <p:nvSpPr>
          <p:cNvPr id="196" name="Shape 18"/>
          <p:cNvSpPr/>
          <p:nvPr/>
        </p:nvSpPr>
        <p:spPr>
          <a:xfrm>
            <a:off x="8694720" y="2568240"/>
            <a:ext cx="561240" cy="561240"/>
          </a:xfrm>
          <a:prstGeom prst="roundRect">
            <a:avLst>
              <a:gd name="adj" fmla="val 162299"/>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7" name="Text 19"/>
          <p:cNvSpPr/>
          <p:nvPr/>
        </p:nvSpPr>
        <p:spPr>
          <a:xfrm>
            <a:off x="8863920" y="2709000"/>
            <a:ext cx="223200" cy="27972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1" lang="en-US" sz="1750" spc="-1" strike="noStrike">
                <a:solidFill>
                  <a:srgbClr val="000000"/>
                </a:solidFill>
                <a:latin typeface="Montserrat Bold"/>
                <a:ea typeface="Montserrat Bold"/>
              </a:rPr>
              <a:t>3</a:t>
            </a:r>
            <a:endParaRPr b="0" lang="en-US" sz="1750" spc="-1" strike="noStrike">
              <a:solidFill>
                <a:srgbClr val="000000"/>
              </a:solidFill>
              <a:latin typeface="Arial"/>
            </a:endParaRPr>
          </a:p>
        </p:txBody>
      </p:sp>
      <p:sp>
        <p:nvSpPr>
          <p:cNvPr id="198" name="Text 20"/>
          <p:cNvSpPr/>
          <p:nvPr/>
        </p:nvSpPr>
        <p:spPr>
          <a:xfrm>
            <a:off x="7607520" y="3319560"/>
            <a:ext cx="2131920" cy="2646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650" spc="-1" strike="noStrike">
                <a:solidFill>
                  <a:srgbClr val="e2e6e9"/>
                </a:solidFill>
                <a:latin typeface="Montserrat Bold"/>
                <a:ea typeface="Montserrat Bold"/>
              </a:rPr>
              <a:t>Şəffaflıq</a:t>
            </a:r>
            <a:endParaRPr b="0" lang="en-US" sz="1650" spc="-1" strike="noStrike">
              <a:solidFill>
                <a:srgbClr val="000000"/>
              </a:solidFill>
              <a:latin typeface="Arial"/>
            </a:endParaRPr>
          </a:p>
        </p:txBody>
      </p:sp>
      <p:sp>
        <p:nvSpPr>
          <p:cNvPr id="199" name="Text 21"/>
          <p:cNvSpPr/>
          <p:nvPr/>
        </p:nvSpPr>
        <p:spPr>
          <a:xfrm>
            <a:off x="7607520" y="3683880"/>
            <a:ext cx="2736000" cy="787680"/>
          </a:xfrm>
          <a:prstGeom prst="rect">
            <a:avLst/>
          </a:prstGeom>
          <a:noFill/>
          <a:ln w="0">
            <a:noFill/>
          </a:ln>
        </p:spPr>
        <p:style>
          <a:lnRef idx="0"/>
          <a:fillRef idx="0"/>
          <a:effectRef idx="0"/>
          <a:fontRef idx="minor"/>
        </p:style>
        <p:txBody>
          <a:bodyPr lIns="0" rIns="0" tIns="0" bIns="0" anchor="t">
            <a:noAutofit/>
          </a:bodyPr>
          <a:p>
            <a:pPr>
              <a:lnSpc>
                <a:spcPts val="2049"/>
              </a:lnSpc>
              <a:tabLst>
                <a:tab algn="l" pos="0"/>
              </a:tabLst>
            </a:pPr>
            <a:r>
              <a:rPr b="0" lang="en-US" sz="1450" spc="-1" strike="noStrike">
                <a:solidFill>
                  <a:srgbClr val="e2e6e9"/>
                </a:solidFill>
                <a:latin typeface="Source Sans 3"/>
                <a:ea typeface="Source Sans 3"/>
              </a:rPr>
              <a:t>Qərar prosesi və əsaslandırılması başqaları üçün başa düşülən olmalıdır.</a:t>
            </a:r>
            <a:endParaRPr b="0" lang="en-US" sz="1450" spc="-1" strike="noStrike">
              <a:solidFill>
                <a:srgbClr val="000000"/>
              </a:solidFill>
              <a:latin typeface="Arial"/>
            </a:endParaRPr>
          </a:p>
        </p:txBody>
      </p:sp>
      <p:sp>
        <p:nvSpPr>
          <p:cNvPr id="200" name="Text 22"/>
          <p:cNvSpPr/>
          <p:nvPr/>
        </p:nvSpPr>
        <p:spPr>
          <a:xfrm>
            <a:off x="7607520" y="4571640"/>
            <a:ext cx="2736000" cy="1691640"/>
          </a:xfrm>
          <a:prstGeom prst="rect">
            <a:avLst/>
          </a:prstGeom>
          <a:noFill/>
          <a:ln w="0">
            <a:noFill/>
          </a:ln>
        </p:spPr>
        <p:style>
          <a:lnRef idx="0"/>
          <a:fillRef idx="0"/>
          <a:effectRef idx="0"/>
          <a:fontRef idx="minor"/>
        </p:style>
        <p:txBody>
          <a:bodyPr lIns="0" rIns="0" tIns="0" bIns="0" anchor="t">
            <a:noAutofit/>
          </a:bodyPr>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Qərar prosesinin sənədləşdirilməsi</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Mühakimə yollarının izah edilməsi</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Alternativlərin niyə rədd edildiyinin açıqlanması</a:t>
            </a:r>
            <a:endParaRPr b="0" lang="en-US" sz="1450" spc="-1" strike="noStrike">
              <a:solidFill>
                <a:srgbClr val="000000"/>
              </a:solidFill>
              <a:latin typeface="Arial"/>
            </a:endParaRPr>
          </a:p>
        </p:txBody>
      </p:sp>
      <p:sp>
        <p:nvSpPr>
          <p:cNvPr id="201" name="Shape 23"/>
          <p:cNvSpPr/>
          <p:nvPr/>
        </p:nvSpPr>
        <p:spPr>
          <a:xfrm>
            <a:off x="10719720" y="2850120"/>
            <a:ext cx="3157560" cy="3623760"/>
          </a:xfrm>
          <a:prstGeom prst="roundRect">
            <a:avLst>
              <a:gd name="adj" fmla="val 3473"/>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2" name="Shape 24"/>
          <p:cNvSpPr/>
          <p:nvPr/>
        </p:nvSpPr>
        <p:spPr>
          <a:xfrm>
            <a:off x="10719720" y="2827080"/>
            <a:ext cx="3157560" cy="89280"/>
          </a:xfrm>
          <a:prstGeom prst="roundRect">
            <a:avLst>
              <a:gd name="adj" fmla="val 30808"/>
            </a:avLst>
          </a:prstGeom>
          <a:solidFill>
            <a:srgbClr val="ffffff"/>
          </a:solidFill>
          <a:ln w="0">
            <a:noFill/>
          </a:ln>
        </p:spPr>
        <p:style>
          <a:lnRef idx="0"/>
          <a:fillRef idx="0"/>
          <a:effectRef idx="0"/>
          <a:fontRef idx="minor"/>
        </p:style>
        <p:txBody>
          <a:bodyPr lIns="90000" rIns="90000" tIns="30240" bIns="30240" anchor="t">
            <a:noAutofit/>
          </a:bodyPr>
          <a:p>
            <a:pPr>
              <a:lnSpc>
                <a:spcPct val="100000"/>
              </a:lnSpc>
            </a:pPr>
            <a:endParaRPr b="0" lang="en-US" sz="1800" spc="-1" strike="noStrike">
              <a:solidFill>
                <a:srgbClr val="000000"/>
              </a:solidFill>
              <a:latin typeface="Arial"/>
            </a:endParaRPr>
          </a:p>
        </p:txBody>
      </p:sp>
      <p:sp>
        <p:nvSpPr>
          <p:cNvPr id="203" name="Shape 25"/>
          <p:cNvSpPr/>
          <p:nvPr/>
        </p:nvSpPr>
        <p:spPr>
          <a:xfrm>
            <a:off x="12017520" y="2568240"/>
            <a:ext cx="561240" cy="561240"/>
          </a:xfrm>
          <a:prstGeom prst="roundRect">
            <a:avLst>
              <a:gd name="adj" fmla="val 162299"/>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4" name="Text 26"/>
          <p:cNvSpPr/>
          <p:nvPr/>
        </p:nvSpPr>
        <p:spPr>
          <a:xfrm>
            <a:off x="12186720" y="2709000"/>
            <a:ext cx="223200" cy="279720"/>
          </a:xfrm>
          <a:prstGeom prst="rect">
            <a:avLst/>
          </a:prstGeom>
          <a:noFill/>
          <a:ln w="0">
            <a:noFill/>
          </a:ln>
        </p:spPr>
        <p:style>
          <a:lnRef idx="0"/>
          <a:fillRef idx="0"/>
          <a:effectRef idx="0"/>
          <a:fontRef idx="minor"/>
        </p:style>
        <p:txBody>
          <a:bodyPr wrap="none" lIns="0" rIns="0" tIns="0" bIns="0" anchor="t">
            <a:noAutofit/>
          </a:bodyPr>
          <a:p>
            <a:pPr>
              <a:lnSpc>
                <a:spcPts val="2449"/>
              </a:lnSpc>
              <a:tabLst>
                <a:tab algn="l" pos="0"/>
              </a:tabLst>
            </a:pPr>
            <a:r>
              <a:rPr b="1" lang="en-US" sz="1750" spc="-1" strike="noStrike">
                <a:solidFill>
                  <a:srgbClr val="000000"/>
                </a:solidFill>
                <a:latin typeface="Montserrat Bold"/>
                <a:ea typeface="Montserrat Bold"/>
              </a:rPr>
              <a:t>4</a:t>
            </a:r>
            <a:endParaRPr b="0" lang="en-US" sz="1750" spc="-1" strike="noStrike">
              <a:solidFill>
                <a:srgbClr val="000000"/>
              </a:solidFill>
              <a:latin typeface="Arial"/>
            </a:endParaRPr>
          </a:p>
        </p:txBody>
      </p:sp>
      <p:sp>
        <p:nvSpPr>
          <p:cNvPr id="205" name="Text 27"/>
          <p:cNvSpPr/>
          <p:nvPr/>
        </p:nvSpPr>
        <p:spPr>
          <a:xfrm>
            <a:off x="10930320" y="3319560"/>
            <a:ext cx="2422440" cy="2646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650" spc="-1" strike="noStrike">
                <a:solidFill>
                  <a:srgbClr val="e2e6e9"/>
                </a:solidFill>
                <a:latin typeface="Montserrat Bold"/>
                <a:ea typeface="Montserrat Bold"/>
              </a:rPr>
              <a:t>Ölçülə Bilən Nəticələr</a:t>
            </a:r>
            <a:endParaRPr b="0" lang="en-US" sz="1650" spc="-1" strike="noStrike">
              <a:solidFill>
                <a:srgbClr val="000000"/>
              </a:solidFill>
              <a:latin typeface="Arial"/>
            </a:endParaRPr>
          </a:p>
        </p:txBody>
      </p:sp>
      <p:sp>
        <p:nvSpPr>
          <p:cNvPr id="206" name="Text 28"/>
          <p:cNvSpPr/>
          <p:nvPr/>
        </p:nvSpPr>
        <p:spPr>
          <a:xfrm>
            <a:off x="10930320" y="3683880"/>
            <a:ext cx="2736360" cy="787680"/>
          </a:xfrm>
          <a:prstGeom prst="rect">
            <a:avLst/>
          </a:prstGeom>
          <a:noFill/>
          <a:ln w="0">
            <a:noFill/>
          </a:ln>
        </p:spPr>
        <p:style>
          <a:lnRef idx="0"/>
          <a:fillRef idx="0"/>
          <a:effectRef idx="0"/>
          <a:fontRef idx="minor"/>
        </p:style>
        <p:txBody>
          <a:bodyPr lIns="0" rIns="0" tIns="0" bIns="0" anchor="t">
            <a:noAutofit/>
          </a:bodyPr>
          <a:p>
            <a:pPr>
              <a:lnSpc>
                <a:spcPts val="2049"/>
              </a:lnSpc>
              <a:tabLst>
                <a:tab algn="l" pos="0"/>
              </a:tabLst>
            </a:pPr>
            <a:r>
              <a:rPr b="0" lang="en-US" sz="1450" spc="-1" strike="noStrike">
                <a:solidFill>
                  <a:srgbClr val="e2e6e9"/>
                </a:solidFill>
                <a:latin typeface="Source Sans 3"/>
                <a:ea typeface="Source Sans 3"/>
              </a:rPr>
              <a:t>Qərarın nəticələri ölçülə bilən göstəricilərlə qiymət-ləndirilməlidir.</a:t>
            </a:r>
            <a:endParaRPr b="0" lang="en-US" sz="1450" spc="-1" strike="noStrike">
              <a:solidFill>
                <a:srgbClr val="000000"/>
              </a:solidFill>
              <a:latin typeface="Arial"/>
            </a:endParaRPr>
          </a:p>
        </p:txBody>
      </p:sp>
      <p:sp>
        <p:nvSpPr>
          <p:cNvPr id="207" name="Text 29"/>
          <p:cNvSpPr/>
          <p:nvPr/>
        </p:nvSpPr>
        <p:spPr>
          <a:xfrm>
            <a:off x="10930320" y="4571640"/>
            <a:ext cx="2736360" cy="1428480"/>
          </a:xfrm>
          <a:prstGeom prst="rect">
            <a:avLst/>
          </a:prstGeom>
          <a:noFill/>
          <a:ln w="0">
            <a:noFill/>
          </a:ln>
        </p:spPr>
        <p:style>
          <a:lnRef idx="0"/>
          <a:fillRef idx="0"/>
          <a:effectRef idx="0"/>
          <a:fontRef idx="minor"/>
        </p:style>
        <p:txBody>
          <a:bodyPr lIns="0" rIns="0" tIns="0" bIns="0" anchor="t">
            <a:noAutofit/>
          </a:bodyPr>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Aydın uğur meyarları</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Kəmiyyət və keyfiyyət göstəriciləri</a:t>
            </a:r>
            <a:endParaRPr b="0" lang="en-US" sz="1450" spc="-1" strike="noStrike">
              <a:solidFill>
                <a:srgbClr val="000000"/>
              </a:solidFill>
              <a:latin typeface="Arial"/>
            </a:endParaRPr>
          </a:p>
          <a:p>
            <a:pPr marL="343080" indent="-343080">
              <a:lnSpc>
                <a:spcPts val="2049"/>
              </a:lnSpc>
              <a:buClr>
                <a:srgbClr val="e2e6e9"/>
              </a:buClr>
              <a:buFont typeface="Symbol" charset="2"/>
              <a:buChar char=""/>
            </a:pPr>
            <a:r>
              <a:rPr b="0" lang="en-US" sz="1450" spc="-1" strike="noStrike">
                <a:solidFill>
                  <a:srgbClr val="e2e6e9"/>
                </a:solidFill>
                <a:latin typeface="Source Sans 3"/>
                <a:ea typeface="Source Sans 3"/>
              </a:rPr>
              <a:t>Müntəzəm monitorinq və qiymətləndirmə</a:t>
            </a:r>
            <a:endParaRPr b="0" lang="en-US" sz="1450" spc="-1" strike="noStrike">
              <a:solidFill>
                <a:srgbClr val="000000"/>
              </a:solidFill>
              <a:latin typeface="Arial"/>
            </a:endParaRPr>
          </a:p>
        </p:txBody>
      </p:sp>
      <p:sp>
        <p:nvSpPr>
          <p:cNvPr id="208" name="Shape 30"/>
          <p:cNvSpPr/>
          <p:nvPr/>
        </p:nvSpPr>
        <p:spPr>
          <a:xfrm>
            <a:off x="751320" y="6753600"/>
            <a:ext cx="13125960" cy="28800"/>
          </a:xfrm>
          <a:prstGeom prst="rect">
            <a:avLst/>
          </a:prstGeom>
          <a:solidFill>
            <a:srgbClr val="e2e6e9">
              <a:alpha val="50000"/>
            </a:srgbClr>
          </a:solidFill>
          <a:ln w="0">
            <a:noFill/>
          </a:ln>
        </p:spPr>
        <p:style>
          <a:lnRef idx="0"/>
          <a:fillRef idx="0"/>
          <a:effectRef idx="0"/>
          <a:fontRef idx="minor"/>
        </p:style>
        <p:txBody>
          <a:bodyPr lIns="90000" rIns="90000" tIns="-14040" bIns="-14040" anchor="t">
            <a:noAutofit/>
          </a:bodyPr>
          <a:p>
            <a:pPr>
              <a:lnSpc>
                <a:spcPct val="100000"/>
              </a:lnSpc>
            </a:pPr>
            <a:endParaRPr b="0" lang="en-US" sz="1800" spc="-1" strike="noStrike">
              <a:solidFill>
                <a:srgbClr val="000000"/>
              </a:solidFill>
              <a:latin typeface="Arial"/>
            </a:endParaRPr>
          </a:p>
        </p:txBody>
      </p:sp>
      <p:sp>
        <p:nvSpPr>
          <p:cNvPr id="209" name="Text 31"/>
          <p:cNvSpPr/>
          <p:nvPr/>
        </p:nvSpPr>
        <p:spPr>
          <a:xfrm>
            <a:off x="499320" y="6968520"/>
            <a:ext cx="13125960" cy="26100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450" spc="-1" strike="noStrike">
                <a:solidFill>
                  <a:srgbClr val="e2e6e9"/>
                </a:solidFill>
                <a:latin typeface="Source Sans 3"/>
                <a:ea typeface="Source Sans 3"/>
              </a:rPr>
              <a:t>Bu meyarlar qərarın qəbulundan əvvəl, qərar zamanı və sonra tətbiq edilməlidir. Davamlı qiymətləndirmə qərar qəbuletmə prosesini təkmilləşdirməyə kömək edir.</a:t>
            </a:r>
            <a:endParaRPr b="0" lang="en-US"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Shape 0"/>
          <p:cNvSpPr/>
          <p:nvPr/>
        </p:nvSpPr>
        <p:spPr>
          <a:xfrm>
            <a:off x="787320" y="970920"/>
            <a:ext cx="1723680" cy="341280"/>
          </a:xfrm>
          <a:prstGeom prst="roundRect">
            <a:avLst>
              <a:gd name="adj" fmla="val 6874"/>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11" name="Image 0" descr="preencoded.png"/>
          <p:cNvPicPr/>
          <p:nvPr/>
        </p:nvPicPr>
        <p:blipFill>
          <a:blip r:embed="rId1">
            <a:extLst>
              <a:ext uri="{96DAC541-7B7A-43D3-8B79-37D633B846F1}">
                <asvg:svgBlip xmlns:asvg="http://schemas.microsoft.com/office/drawing/2016/SVG/main" r:embed="rId2"/>
              </a:ext>
            </a:extLst>
          </a:blip>
          <a:stretch/>
        </p:blipFill>
        <p:spPr>
          <a:xfrm>
            <a:off x="905400" y="1064160"/>
            <a:ext cx="155160" cy="155160"/>
          </a:xfrm>
          <a:prstGeom prst="rect">
            <a:avLst/>
          </a:prstGeom>
          <a:ln w="0">
            <a:noFill/>
          </a:ln>
        </p:spPr>
      </p:pic>
      <p:sp>
        <p:nvSpPr>
          <p:cNvPr id="212" name="Text 1"/>
          <p:cNvSpPr/>
          <p:nvPr/>
        </p:nvSpPr>
        <p:spPr>
          <a:xfrm>
            <a:off x="1141560" y="1029960"/>
            <a:ext cx="1251720" cy="2235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0" lang="en-US" sz="1200" spc="-1" strike="noStrike">
                <a:solidFill>
                  <a:srgbClr val="e2e6e9"/>
                </a:solidFill>
                <a:latin typeface="Source Sans 3"/>
                <a:ea typeface="Source Sans 3"/>
              </a:rPr>
              <a:t>PRAKTIKI TAPŞIRIQ</a:t>
            </a:r>
            <a:endParaRPr b="0" lang="en-US" sz="1200" spc="-1" strike="noStrike">
              <a:solidFill>
                <a:srgbClr val="000000"/>
              </a:solidFill>
              <a:latin typeface="Arial"/>
            </a:endParaRPr>
          </a:p>
        </p:txBody>
      </p:sp>
      <p:sp>
        <p:nvSpPr>
          <p:cNvPr id="213" name="Text 2"/>
          <p:cNvSpPr/>
          <p:nvPr/>
        </p:nvSpPr>
        <p:spPr>
          <a:xfrm>
            <a:off x="787320" y="1386360"/>
            <a:ext cx="8025840" cy="556920"/>
          </a:xfrm>
          <a:prstGeom prst="rect">
            <a:avLst/>
          </a:prstGeom>
          <a:noFill/>
          <a:ln w="0">
            <a:noFill/>
          </a:ln>
        </p:spPr>
        <p:style>
          <a:lnRef idx="0"/>
          <a:fillRef idx="0"/>
          <a:effectRef idx="0"/>
          <a:fontRef idx="minor"/>
        </p:style>
        <p:txBody>
          <a:bodyPr wrap="none" lIns="0" rIns="0" tIns="0" bIns="0" anchor="t">
            <a:noAutofit/>
          </a:bodyPr>
          <a:p>
            <a:pPr>
              <a:lnSpc>
                <a:spcPts val="4399"/>
              </a:lnSpc>
              <a:tabLst>
                <a:tab algn="l" pos="0"/>
              </a:tabLst>
            </a:pPr>
            <a:r>
              <a:rPr b="1" lang="en-US" sz="3500" spc="-1" strike="noStrike">
                <a:solidFill>
                  <a:srgbClr val="ffffff"/>
                </a:solidFill>
                <a:latin typeface="Montserrat Bold"/>
                <a:ea typeface="Montserrat Bold"/>
              </a:rPr>
              <a:t>Mini-Keys: Yeni Bazara Çıxış Qərarı</a:t>
            </a:r>
            <a:endParaRPr b="0" lang="en-US" sz="3500" spc="-1" strike="noStrike">
              <a:solidFill>
                <a:srgbClr val="000000"/>
              </a:solidFill>
              <a:latin typeface="Arial"/>
            </a:endParaRPr>
          </a:p>
        </p:txBody>
      </p:sp>
      <p:sp>
        <p:nvSpPr>
          <p:cNvPr id="214" name="Text 3"/>
          <p:cNvSpPr/>
          <p:nvPr/>
        </p:nvSpPr>
        <p:spPr>
          <a:xfrm>
            <a:off x="787320" y="2214720"/>
            <a:ext cx="13053600" cy="27972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500" spc="-1" strike="noStrike">
                <a:solidFill>
                  <a:srgbClr val="e2e6e9"/>
                </a:solidFill>
                <a:latin typeface="Source Sans 3"/>
                <a:ea typeface="Source Sans 3"/>
              </a:rPr>
              <a:t>Situasiya:</a:t>
            </a:r>
            <a:r>
              <a:rPr b="0" lang="en-US" sz="1500" spc="-1" strike="noStrike">
                <a:solidFill>
                  <a:srgbClr val="e2e6e9"/>
                </a:solidFill>
                <a:latin typeface="Source Sans 3"/>
                <a:ea typeface="Source Sans 3"/>
              </a:rPr>
              <a:t> Orta ölçülü texnologiya şirkəti yeni coğrafi bazara genişlənmək imkanını dəyər-ləndirir. Qərar mürəkkəb-dir və əhəmiyyətli investisiya tələb edir.</a:t>
            </a:r>
            <a:endParaRPr b="0" lang="en-US" sz="1500" spc="-1" strike="noStrike">
              <a:solidFill>
                <a:srgbClr val="000000"/>
              </a:solidFill>
              <a:latin typeface="Arial"/>
            </a:endParaRPr>
          </a:p>
        </p:txBody>
      </p:sp>
      <p:sp>
        <p:nvSpPr>
          <p:cNvPr id="215" name="Shape 4"/>
          <p:cNvSpPr/>
          <p:nvPr/>
        </p:nvSpPr>
        <p:spPr>
          <a:xfrm>
            <a:off x="787320" y="2919600"/>
            <a:ext cx="13053600" cy="20880"/>
          </a:xfrm>
          <a:prstGeom prst="roundRect">
            <a:avLst>
              <a:gd name="adj" fmla="val 129160"/>
            </a:avLst>
          </a:prstGeom>
          <a:solidFill>
            <a:srgbClr val="494a4b"/>
          </a:solidFill>
          <a:ln w="0">
            <a:noFill/>
          </a:ln>
        </p:spPr>
        <p:style>
          <a:lnRef idx="0"/>
          <a:fillRef idx="0"/>
          <a:effectRef idx="0"/>
          <a:fontRef idx="minor"/>
        </p:style>
        <p:txBody>
          <a:bodyPr lIns="90000" rIns="90000" tIns="-28800" bIns="-28800" anchor="t">
            <a:noAutofit/>
          </a:bodyPr>
          <a:p>
            <a:pPr>
              <a:lnSpc>
                <a:spcPct val="100000"/>
              </a:lnSpc>
            </a:pPr>
            <a:endParaRPr b="0" lang="en-US" sz="1800" spc="-1" strike="noStrike">
              <a:solidFill>
                <a:srgbClr val="ffffff"/>
              </a:solidFill>
              <a:latin typeface="Arial"/>
            </a:endParaRPr>
          </a:p>
        </p:txBody>
      </p:sp>
      <p:sp>
        <p:nvSpPr>
          <p:cNvPr id="216" name="Shape 5"/>
          <p:cNvSpPr/>
          <p:nvPr/>
        </p:nvSpPr>
        <p:spPr>
          <a:xfrm>
            <a:off x="2877120" y="2919600"/>
            <a:ext cx="20880" cy="588240"/>
          </a:xfrm>
          <a:prstGeom prst="roundRect">
            <a:avLst>
              <a:gd name="adj" fmla="val 129160"/>
            </a:avLst>
          </a:prstGeom>
          <a:solidFill>
            <a:srgbClr val="494a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7" name="Shape 6"/>
          <p:cNvSpPr/>
          <p:nvPr/>
        </p:nvSpPr>
        <p:spPr>
          <a:xfrm>
            <a:off x="2667240" y="2698200"/>
            <a:ext cx="440640" cy="440640"/>
          </a:xfrm>
          <a:prstGeom prst="roundRect">
            <a:avLst>
              <a:gd name="adj" fmla="val 666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 name="Text 7"/>
          <p:cNvSpPr/>
          <p:nvPr/>
        </p:nvSpPr>
        <p:spPr>
          <a:xfrm>
            <a:off x="2754360" y="2751840"/>
            <a:ext cx="266040" cy="333360"/>
          </a:xfrm>
          <a:prstGeom prst="rect">
            <a:avLst/>
          </a:prstGeom>
          <a:noFill/>
          <a:ln w="0">
            <a:noFill/>
          </a:ln>
        </p:spPr>
        <p:style>
          <a:lnRef idx="0"/>
          <a:fillRef idx="0"/>
          <a:effectRef idx="0"/>
          <a:fontRef idx="minor"/>
        </p:style>
        <p:txBody>
          <a:bodyPr wrap="none" lIns="0" rIns="0" tIns="0" bIns="0" anchor="t">
            <a:noAutofit/>
          </a:bodyPr>
          <a:p>
            <a:pPr algn="ctr">
              <a:lnSpc>
                <a:spcPts val="2100"/>
              </a:lnSpc>
              <a:tabLst>
                <a:tab algn="l" pos="0"/>
              </a:tabLst>
            </a:pPr>
            <a:r>
              <a:rPr b="1" lang="en-US" sz="2100" spc="-1" strike="noStrike">
                <a:solidFill>
                  <a:srgbClr val="e2e6e9"/>
                </a:solidFill>
                <a:latin typeface="Montserrat Bold"/>
                <a:ea typeface="Montserrat Bold"/>
              </a:rPr>
              <a:t>1</a:t>
            </a:r>
            <a:endParaRPr b="0" lang="en-US" sz="2100" spc="-1" strike="noStrike">
              <a:solidFill>
                <a:srgbClr val="000000"/>
              </a:solidFill>
              <a:latin typeface="Arial"/>
            </a:endParaRPr>
          </a:p>
        </p:txBody>
      </p:sp>
      <p:sp>
        <p:nvSpPr>
          <p:cNvPr id="219" name="Text 8"/>
          <p:cNvSpPr/>
          <p:nvPr/>
        </p:nvSpPr>
        <p:spPr>
          <a:xfrm>
            <a:off x="1420920" y="3707280"/>
            <a:ext cx="2933280" cy="277560"/>
          </a:xfrm>
          <a:prstGeom prst="rect">
            <a:avLst/>
          </a:prstGeom>
          <a:noFill/>
          <a:ln w="0">
            <a:noFill/>
          </a:ln>
        </p:spPr>
        <p:style>
          <a:lnRef idx="0"/>
          <a:fillRef idx="0"/>
          <a:effectRef idx="0"/>
          <a:fontRef idx="minor"/>
        </p:style>
        <p:txBody>
          <a:bodyPr wrap="none" lIns="0" rIns="0" tIns="0" bIns="0" anchor="t">
            <a:noAutofit/>
          </a:bodyPr>
          <a:p>
            <a:pPr algn="ctr">
              <a:lnSpc>
                <a:spcPts val="2200"/>
              </a:lnSpc>
              <a:tabLst>
                <a:tab algn="l" pos="0"/>
              </a:tabLst>
            </a:pPr>
            <a:r>
              <a:rPr b="1" lang="en-US" sz="1750" spc="-1" strike="noStrike">
                <a:solidFill>
                  <a:srgbClr val="e2e6e9"/>
                </a:solidFill>
                <a:latin typeface="Montserrat Bold"/>
                <a:ea typeface="Montserrat Bold"/>
              </a:rPr>
              <a:t>1-ci Mərhələ: İnsan Qərarı</a:t>
            </a:r>
            <a:endParaRPr b="0" lang="en-US" sz="1750" spc="-1" strike="noStrike">
              <a:solidFill>
                <a:srgbClr val="000000"/>
              </a:solidFill>
              <a:latin typeface="Arial"/>
            </a:endParaRPr>
          </a:p>
        </p:txBody>
      </p:sp>
      <p:sp>
        <p:nvSpPr>
          <p:cNvPr id="220" name="Text 9"/>
          <p:cNvSpPr/>
          <p:nvPr/>
        </p:nvSpPr>
        <p:spPr>
          <a:xfrm>
            <a:off x="984240" y="4094280"/>
            <a:ext cx="3806640" cy="843840"/>
          </a:xfrm>
          <a:prstGeom prst="rect">
            <a:avLst/>
          </a:prstGeom>
          <a:noFill/>
          <a:ln w="0">
            <a:noFill/>
          </a:ln>
        </p:spPr>
        <p:style>
          <a:lnRef idx="0"/>
          <a:fillRef idx="0"/>
          <a:effectRef idx="0"/>
          <a:fontRef idx="minor"/>
        </p:style>
        <p:txBody>
          <a:bodyPr lIns="0" rIns="0" tIns="0" bIns="0" anchor="t">
            <a:noAutofit/>
          </a:bodyPr>
          <a:p>
            <a:pPr algn="ctr">
              <a:lnSpc>
                <a:spcPts val="2200"/>
              </a:lnSpc>
              <a:tabLst>
                <a:tab algn="l" pos="0"/>
              </a:tabLst>
            </a:pPr>
            <a:r>
              <a:rPr b="0" lang="en-US" sz="1500" spc="-1" strike="noStrike">
                <a:solidFill>
                  <a:srgbClr val="e2e6e9"/>
                </a:solidFill>
                <a:latin typeface="Source Sans 3"/>
                <a:ea typeface="Source Sans 3"/>
              </a:rPr>
              <a:t>Qrup olaraq klassik və intuisiya əsaslı yanaşmalarla qərar qəbul edin. Nəzərə alın: bazar potensialı, rəqabət, resurslar, risklər.</a:t>
            </a:r>
            <a:endParaRPr b="0" lang="en-US" sz="1500" spc="-1" strike="noStrike">
              <a:solidFill>
                <a:srgbClr val="000000"/>
              </a:solidFill>
              <a:latin typeface="Arial"/>
            </a:endParaRPr>
          </a:p>
        </p:txBody>
      </p:sp>
      <p:sp>
        <p:nvSpPr>
          <p:cNvPr id="221" name="Shape 10"/>
          <p:cNvSpPr/>
          <p:nvPr/>
        </p:nvSpPr>
        <p:spPr>
          <a:xfrm>
            <a:off x="7303680" y="2919600"/>
            <a:ext cx="20880" cy="588240"/>
          </a:xfrm>
          <a:prstGeom prst="roundRect">
            <a:avLst>
              <a:gd name="adj" fmla="val 129160"/>
            </a:avLst>
          </a:prstGeom>
          <a:solidFill>
            <a:srgbClr val="494a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 name="Shape 11"/>
          <p:cNvSpPr/>
          <p:nvPr/>
        </p:nvSpPr>
        <p:spPr>
          <a:xfrm>
            <a:off x="7093800" y="2698200"/>
            <a:ext cx="440640" cy="440640"/>
          </a:xfrm>
          <a:prstGeom prst="roundRect">
            <a:avLst>
              <a:gd name="adj" fmla="val 666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 name="Text 12"/>
          <p:cNvSpPr/>
          <p:nvPr/>
        </p:nvSpPr>
        <p:spPr>
          <a:xfrm>
            <a:off x="7180920" y="2751840"/>
            <a:ext cx="266040" cy="333360"/>
          </a:xfrm>
          <a:prstGeom prst="rect">
            <a:avLst/>
          </a:prstGeom>
          <a:noFill/>
          <a:ln w="0">
            <a:noFill/>
          </a:ln>
        </p:spPr>
        <p:style>
          <a:lnRef idx="0"/>
          <a:fillRef idx="0"/>
          <a:effectRef idx="0"/>
          <a:fontRef idx="minor"/>
        </p:style>
        <p:txBody>
          <a:bodyPr wrap="none" lIns="0" rIns="0" tIns="0" bIns="0" anchor="t">
            <a:noAutofit/>
          </a:bodyPr>
          <a:p>
            <a:pPr algn="ctr">
              <a:lnSpc>
                <a:spcPts val="2100"/>
              </a:lnSpc>
              <a:tabLst>
                <a:tab algn="l" pos="0"/>
              </a:tabLst>
            </a:pPr>
            <a:r>
              <a:rPr b="1" lang="en-US" sz="2100" spc="-1" strike="noStrike">
                <a:solidFill>
                  <a:srgbClr val="e2e6e9"/>
                </a:solidFill>
                <a:latin typeface="Montserrat Bold"/>
                <a:ea typeface="Montserrat Bold"/>
              </a:rPr>
              <a:t>2</a:t>
            </a:r>
            <a:endParaRPr b="0" lang="en-US" sz="2100" spc="-1" strike="noStrike">
              <a:solidFill>
                <a:srgbClr val="000000"/>
              </a:solidFill>
              <a:latin typeface="Arial"/>
            </a:endParaRPr>
          </a:p>
        </p:txBody>
      </p:sp>
      <p:sp>
        <p:nvSpPr>
          <p:cNvPr id="224" name="Text 13"/>
          <p:cNvSpPr/>
          <p:nvPr/>
        </p:nvSpPr>
        <p:spPr>
          <a:xfrm>
            <a:off x="6002640" y="3707280"/>
            <a:ext cx="2622600" cy="277560"/>
          </a:xfrm>
          <a:prstGeom prst="rect">
            <a:avLst/>
          </a:prstGeom>
          <a:noFill/>
          <a:ln w="0">
            <a:noFill/>
          </a:ln>
        </p:spPr>
        <p:style>
          <a:lnRef idx="0"/>
          <a:fillRef idx="0"/>
          <a:effectRef idx="0"/>
          <a:fontRef idx="minor"/>
        </p:style>
        <p:txBody>
          <a:bodyPr wrap="none" lIns="0" rIns="0" tIns="0" bIns="0" anchor="t">
            <a:noAutofit/>
          </a:bodyPr>
          <a:p>
            <a:pPr algn="ctr">
              <a:lnSpc>
                <a:spcPts val="2200"/>
              </a:lnSpc>
              <a:tabLst>
                <a:tab algn="l" pos="0"/>
              </a:tabLst>
            </a:pPr>
            <a:r>
              <a:rPr b="1" lang="en-US" sz="1750" spc="-1" strike="noStrike">
                <a:solidFill>
                  <a:srgbClr val="e2e6e9"/>
                </a:solidFill>
                <a:latin typeface="Montserrat Bold"/>
                <a:ea typeface="Montserrat Bold"/>
              </a:rPr>
              <a:t>2-ci Mərhələ: SI Analizi</a:t>
            </a:r>
            <a:endParaRPr b="0" lang="en-US" sz="1750" spc="-1" strike="noStrike">
              <a:solidFill>
                <a:srgbClr val="000000"/>
              </a:solidFill>
              <a:latin typeface="Arial"/>
            </a:endParaRPr>
          </a:p>
        </p:txBody>
      </p:sp>
      <p:sp>
        <p:nvSpPr>
          <p:cNvPr id="225" name="Text 14"/>
          <p:cNvSpPr/>
          <p:nvPr/>
        </p:nvSpPr>
        <p:spPr>
          <a:xfrm>
            <a:off x="5410800" y="4094280"/>
            <a:ext cx="3806640" cy="843840"/>
          </a:xfrm>
          <a:prstGeom prst="rect">
            <a:avLst/>
          </a:prstGeom>
          <a:noFill/>
          <a:ln w="0">
            <a:noFill/>
          </a:ln>
        </p:spPr>
        <p:style>
          <a:lnRef idx="0"/>
          <a:fillRef idx="0"/>
          <a:effectRef idx="0"/>
          <a:fontRef idx="minor"/>
        </p:style>
        <p:txBody>
          <a:bodyPr lIns="0" rIns="0" tIns="0" bIns="0" anchor="t">
            <a:noAutofit/>
          </a:bodyPr>
          <a:p>
            <a:pPr algn="ctr">
              <a:lnSpc>
                <a:spcPts val="2200"/>
              </a:lnSpc>
              <a:tabLst>
                <a:tab algn="l" pos="0"/>
              </a:tabLst>
            </a:pPr>
            <a:r>
              <a:rPr b="0" lang="en-US" sz="1500" spc="-1" strike="noStrike">
                <a:solidFill>
                  <a:srgbClr val="e2e6e9"/>
                </a:solidFill>
                <a:latin typeface="Source Sans 3"/>
                <a:ea typeface="Source Sans 3"/>
              </a:rPr>
              <a:t>Eyni qərarı SI alətləri ilə dəyər-ləndirin. SI nə kimi məlumatlar tələb edər? Hansı proqnozlar verər? Hansı riskləri önə çəkər?</a:t>
            </a:r>
            <a:endParaRPr b="0" lang="en-US" sz="1500" spc="-1" strike="noStrike">
              <a:solidFill>
                <a:srgbClr val="000000"/>
              </a:solidFill>
              <a:latin typeface="Arial"/>
            </a:endParaRPr>
          </a:p>
        </p:txBody>
      </p:sp>
      <p:sp>
        <p:nvSpPr>
          <p:cNvPr id="226" name="Shape 15"/>
          <p:cNvSpPr/>
          <p:nvPr/>
        </p:nvSpPr>
        <p:spPr>
          <a:xfrm>
            <a:off x="11730240" y="2919600"/>
            <a:ext cx="20880" cy="588240"/>
          </a:xfrm>
          <a:prstGeom prst="roundRect">
            <a:avLst>
              <a:gd name="adj" fmla="val 129160"/>
            </a:avLst>
          </a:prstGeom>
          <a:solidFill>
            <a:srgbClr val="494a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7" name="Shape 16"/>
          <p:cNvSpPr/>
          <p:nvPr/>
        </p:nvSpPr>
        <p:spPr>
          <a:xfrm>
            <a:off x="11520360" y="2698200"/>
            <a:ext cx="440640" cy="440640"/>
          </a:xfrm>
          <a:prstGeom prst="roundRect">
            <a:avLst>
              <a:gd name="adj" fmla="val 666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8" name="Text 17"/>
          <p:cNvSpPr/>
          <p:nvPr/>
        </p:nvSpPr>
        <p:spPr>
          <a:xfrm>
            <a:off x="11607480" y="2751840"/>
            <a:ext cx="266040" cy="333360"/>
          </a:xfrm>
          <a:prstGeom prst="rect">
            <a:avLst/>
          </a:prstGeom>
          <a:noFill/>
          <a:ln w="0">
            <a:noFill/>
          </a:ln>
        </p:spPr>
        <p:style>
          <a:lnRef idx="0"/>
          <a:fillRef idx="0"/>
          <a:effectRef idx="0"/>
          <a:fontRef idx="minor"/>
        </p:style>
        <p:txBody>
          <a:bodyPr wrap="none" lIns="0" rIns="0" tIns="0" bIns="0" anchor="t">
            <a:noAutofit/>
          </a:bodyPr>
          <a:p>
            <a:pPr algn="ctr">
              <a:lnSpc>
                <a:spcPts val="2100"/>
              </a:lnSpc>
              <a:tabLst>
                <a:tab algn="l" pos="0"/>
              </a:tabLst>
            </a:pPr>
            <a:r>
              <a:rPr b="1" lang="en-US" sz="2100" spc="-1" strike="noStrike">
                <a:solidFill>
                  <a:srgbClr val="e2e6e9"/>
                </a:solidFill>
                <a:latin typeface="Montserrat Bold"/>
                <a:ea typeface="Montserrat Bold"/>
              </a:rPr>
              <a:t>3</a:t>
            </a:r>
            <a:endParaRPr b="0" lang="en-US" sz="2100" spc="-1" strike="noStrike">
              <a:solidFill>
                <a:srgbClr val="000000"/>
              </a:solidFill>
              <a:latin typeface="Arial"/>
            </a:endParaRPr>
          </a:p>
        </p:txBody>
      </p:sp>
      <p:sp>
        <p:nvSpPr>
          <p:cNvPr id="229" name="Text 18"/>
          <p:cNvSpPr/>
          <p:nvPr/>
        </p:nvSpPr>
        <p:spPr>
          <a:xfrm>
            <a:off x="10359360" y="3707280"/>
            <a:ext cx="2763000" cy="277560"/>
          </a:xfrm>
          <a:prstGeom prst="rect">
            <a:avLst/>
          </a:prstGeom>
          <a:noFill/>
          <a:ln w="0">
            <a:noFill/>
          </a:ln>
        </p:spPr>
        <p:style>
          <a:lnRef idx="0"/>
          <a:fillRef idx="0"/>
          <a:effectRef idx="0"/>
          <a:fontRef idx="minor"/>
        </p:style>
        <p:txBody>
          <a:bodyPr wrap="none" lIns="0" rIns="0" tIns="0" bIns="0" anchor="t">
            <a:noAutofit/>
          </a:bodyPr>
          <a:p>
            <a:pPr algn="ctr">
              <a:lnSpc>
                <a:spcPts val="2200"/>
              </a:lnSpc>
              <a:tabLst>
                <a:tab algn="l" pos="0"/>
              </a:tabLst>
            </a:pPr>
            <a:r>
              <a:rPr b="1" lang="en-US" sz="1750" spc="-1" strike="noStrike">
                <a:solidFill>
                  <a:srgbClr val="e2e6e9"/>
                </a:solidFill>
                <a:latin typeface="Montserrat Bold"/>
                <a:ea typeface="Montserrat Bold"/>
              </a:rPr>
              <a:t>3-cü Mərhələ: Müqayisə</a:t>
            </a:r>
            <a:endParaRPr b="0" lang="en-US" sz="1750" spc="-1" strike="noStrike">
              <a:solidFill>
                <a:srgbClr val="000000"/>
              </a:solidFill>
              <a:latin typeface="Arial"/>
            </a:endParaRPr>
          </a:p>
        </p:txBody>
      </p:sp>
      <p:sp>
        <p:nvSpPr>
          <p:cNvPr id="230" name="Text 19"/>
          <p:cNvSpPr/>
          <p:nvPr/>
        </p:nvSpPr>
        <p:spPr>
          <a:xfrm>
            <a:off x="9837360" y="4094280"/>
            <a:ext cx="3806640" cy="843840"/>
          </a:xfrm>
          <a:prstGeom prst="rect">
            <a:avLst/>
          </a:prstGeom>
          <a:noFill/>
          <a:ln w="0">
            <a:noFill/>
          </a:ln>
        </p:spPr>
        <p:style>
          <a:lnRef idx="0"/>
          <a:fillRef idx="0"/>
          <a:effectRef idx="0"/>
          <a:fontRef idx="minor"/>
        </p:style>
        <p:txBody>
          <a:bodyPr lIns="0" rIns="0" tIns="0" bIns="0" anchor="t">
            <a:noAutofit/>
          </a:bodyPr>
          <a:p>
            <a:pPr algn="ctr">
              <a:lnSpc>
                <a:spcPts val="2200"/>
              </a:lnSpc>
              <a:tabLst>
                <a:tab algn="l" pos="0"/>
              </a:tabLst>
            </a:pPr>
            <a:r>
              <a:rPr b="0" lang="en-US" sz="1500" spc="-1" strike="noStrike">
                <a:solidFill>
                  <a:srgbClr val="e2e6e9"/>
                </a:solidFill>
                <a:latin typeface="Source Sans 3"/>
                <a:ea typeface="Source Sans 3"/>
              </a:rPr>
              <a:t>İnsan və SI qərarlarını müqayisə edin. Fərqlər nədir? Hansı yanaşma daha ətraflıdır? Hibrid qərar necə görünər?</a:t>
            </a:r>
            <a:endParaRPr b="0" lang="en-US" sz="1500" spc="-1" strike="noStrike">
              <a:solidFill>
                <a:srgbClr val="000000"/>
              </a:solidFill>
              <a:latin typeface="Arial"/>
            </a:endParaRPr>
          </a:p>
        </p:txBody>
      </p:sp>
      <p:sp>
        <p:nvSpPr>
          <p:cNvPr id="231" name="Text 20"/>
          <p:cNvSpPr/>
          <p:nvPr/>
        </p:nvSpPr>
        <p:spPr>
          <a:xfrm>
            <a:off x="787320" y="5321520"/>
            <a:ext cx="2234520" cy="27756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ffffff"/>
                </a:solidFill>
                <a:latin typeface="Montserrat Bold"/>
                <a:ea typeface="Montserrat Bold"/>
              </a:rPr>
              <a:t>Müzakirə Sualları</a:t>
            </a:r>
            <a:endParaRPr b="0" lang="en-US" sz="1750" spc="-1" strike="noStrike">
              <a:solidFill>
                <a:srgbClr val="000000"/>
              </a:solidFill>
              <a:latin typeface="Arial"/>
            </a:endParaRPr>
          </a:p>
        </p:txBody>
      </p:sp>
      <p:sp>
        <p:nvSpPr>
          <p:cNvPr id="232" name="Text 21"/>
          <p:cNvSpPr/>
          <p:nvPr/>
        </p:nvSpPr>
        <p:spPr>
          <a:xfrm>
            <a:off x="787320" y="5780520"/>
            <a:ext cx="6285600" cy="1314360"/>
          </a:xfrm>
          <a:prstGeom prst="rect">
            <a:avLst/>
          </a:prstGeom>
          <a:noFill/>
          <a:ln w="0">
            <a:noFill/>
          </a:ln>
        </p:spPr>
        <p:style>
          <a:lnRef idx="0"/>
          <a:fillRef idx="0"/>
          <a:effectRef idx="0"/>
          <a:fontRef idx="minor"/>
        </p:style>
        <p:txBody>
          <a:bodyPr lIns="0" rIns="0" tIns="0" bIns="0" anchor="t">
            <a:noAutofit/>
          </a:bodyPr>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İnsan intuisiyası hansı aspektləri daha yaxşı qiymətləndirir?</a:t>
            </a:r>
            <a:endParaRPr b="0" lang="en-US" sz="1500" spc="-1" strike="noStrike">
              <a:solidFill>
                <a:srgbClr val="000000"/>
              </a:solidFill>
              <a:latin typeface="Arial"/>
            </a:endParaRPr>
          </a:p>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SI hansı məlumatları daha effektiv analiz edir?</a:t>
            </a:r>
            <a:endParaRPr b="0" lang="en-US" sz="1500" spc="-1" strike="noStrike">
              <a:solidFill>
                <a:srgbClr val="000000"/>
              </a:solidFill>
              <a:latin typeface="Arial"/>
            </a:endParaRPr>
          </a:p>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Hansı halda SI-yə etibar etmək təhlükəli ola bilər?</a:t>
            </a:r>
            <a:endParaRPr b="0" lang="en-US" sz="1500" spc="-1" strike="noStrike">
              <a:solidFill>
                <a:srgbClr val="000000"/>
              </a:solidFill>
              <a:latin typeface="Arial"/>
            </a:endParaRPr>
          </a:p>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Final qərarı kim verməlidir və niyə?</a:t>
            </a:r>
            <a:endParaRPr b="0" lang="en-US" sz="1500" spc="-1" strike="noStrike">
              <a:solidFill>
                <a:srgbClr val="000000"/>
              </a:solidFill>
              <a:latin typeface="Arial"/>
            </a:endParaRPr>
          </a:p>
        </p:txBody>
      </p:sp>
      <p:sp>
        <p:nvSpPr>
          <p:cNvPr id="233" name="Text 22"/>
          <p:cNvSpPr/>
          <p:nvPr/>
        </p:nvSpPr>
        <p:spPr>
          <a:xfrm>
            <a:off x="7562880" y="5321520"/>
            <a:ext cx="2355840" cy="27756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ffffff"/>
                </a:solidFill>
                <a:latin typeface="Montserrat Bold"/>
                <a:ea typeface="Montserrat Bold"/>
              </a:rPr>
              <a:t>Gözlənilən Nəticələr</a:t>
            </a:r>
            <a:endParaRPr b="0" lang="en-US" sz="1750" spc="-1" strike="noStrike">
              <a:solidFill>
                <a:srgbClr val="000000"/>
              </a:solidFill>
              <a:latin typeface="Arial"/>
            </a:endParaRPr>
          </a:p>
        </p:txBody>
      </p:sp>
      <p:sp>
        <p:nvSpPr>
          <p:cNvPr id="234" name="Text 23"/>
          <p:cNvSpPr/>
          <p:nvPr/>
        </p:nvSpPr>
        <p:spPr>
          <a:xfrm>
            <a:off x="7562880" y="5780520"/>
            <a:ext cx="6285600" cy="27972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0" lang="en-US" sz="1500" spc="-1" strike="noStrike">
                <a:solidFill>
                  <a:srgbClr val="e2e6e9"/>
                </a:solidFill>
                <a:latin typeface="Source Sans 3"/>
                <a:ea typeface="Source Sans 3"/>
              </a:rPr>
              <a:t>Bu tapşırıq sizə kömək edəcək:</a:t>
            </a:r>
            <a:endParaRPr b="0" lang="en-US" sz="1500" spc="-1" strike="noStrike">
              <a:solidFill>
                <a:srgbClr val="000000"/>
              </a:solidFill>
              <a:latin typeface="Arial"/>
            </a:endParaRPr>
          </a:p>
        </p:txBody>
      </p:sp>
      <p:sp>
        <p:nvSpPr>
          <p:cNvPr id="235" name="Text 24"/>
          <p:cNvSpPr/>
          <p:nvPr/>
        </p:nvSpPr>
        <p:spPr>
          <a:xfrm>
            <a:off x="7562880" y="6224040"/>
            <a:ext cx="6285600" cy="969480"/>
          </a:xfrm>
          <a:prstGeom prst="rect">
            <a:avLst/>
          </a:prstGeom>
          <a:noFill/>
          <a:ln w="0">
            <a:noFill/>
          </a:ln>
        </p:spPr>
        <p:style>
          <a:lnRef idx="0"/>
          <a:fillRef idx="0"/>
          <a:effectRef idx="0"/>
          <a:fontRef idx="minor"/>
        </p:style>
        <p:txBody>
          <a:bodyPr lIns="0" rIns="0" tIns="0" bIns="0" anchor="t">
            <a:noAutofit/>
          </a:bodyPr>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İnsan və SI qərarlarının fərqlərini görməyə</a:t>
            </a:r>
            <a:endParaRPr b="0" lang="en-US" sz="1500" spc="-1" strike="noStrike">
              <a:solidFill>
                <a:srgbClr val="000000"/>
              </a:solidFill>
              <a:latin typeface="Arial"/>
            </a:endParaRPr>
          </a:p>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Hər yanaşmanın güclü və zəif tərəflərini anlamağa</a:t>
            </a:r>
            <a:endParaRPr b="0" lang="en-US" sz="1500" spc="-1" strike="noStrike">
              <a:solidFill>
                <a:srgbClr val="000000"/>
              </a:solidFill>
              <a:latin typeface="Arial"/>
            </a:endParaRPr>
          </a:p>
          <a:p>
            <a:pPr marL="343080" indent="-343080">
              <a:lnSpc>
                <a:spcPts val="2200"/>
              </a:lnSpc>
              <a:buClr>
                <a:srgbClr val="e2e6e9"/>
              </a:buClr>
              <a:buFont typeface="Symbol" charset="2"/>
              <a:buChar char=""/>
            </a:pPr>
            <a:r>
              <a:rPr b="0" lang="en-US" sz="1500" spc="-1" strike="noStrike">
                <a:solidFill>
                  <a:srgbClr val="e2e6e9"/>
                </a:solidFill>
                <a:latin typeface="Source Sans 3"/>
                <a:ea typeface="Source Sans 3"/>
              </a:rPr>
              <a:t>Hibrid modelin praktiki tətbiqini təcrübə etməyə</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Shape 0"/>
          <p:cNvSpPr/>
          <p:nvPr/>
        </p:nvSpPr>
        <p:spPr>
          <a:xfrm>
            <a:off x="685800" y="1050480"/>
            <a:ext cx="1248840" cy="304560"/>
          </a:xfrm>
          <a:prstGeom prst="roundRect">
            <a:avLst>
              <a:gd name="adj" fmla="val 6856"/>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37" name="Image 0" descr="preencoded.png"/>
          <p:cNvPicPr/>
          <p:nvPr/>
        </p:nvPicPr>
        <p:blipFill>
          <a:blip r:embed="rId1">
            <a:extLst>
              <a:ext uri="{96DAC541-7B7A-43D3-8B79-37D633B846F1}">
                <asvg:svgBlip xmlns:asvg="http://schemas.microsoft.com/office/drawing/2016/SVG/main" r:embed="rId2"/>
              </a:ext>
            </a:extLst>
          </a:blip>
          <a:stretch/>
        </p:blipFill>
        <p:spPr>
          <a:xfrm>
            <a:off x="804600" y="1133640"/>
            <a:ext cx="145800" cy="137880"/>
          </a:xfrm>
          <a:prstGeom prst="rect">
            <a:avLst/>
          </a:prstGeom>
          <a:ln w="0">
            <a:noFill/>
          </a:ln>
        </p:spPr>
      </p:pic>
      <p:sp>
        <p:nvSpPr>
          <p:cNvPr id="238" name="Text 1"/>
          <p:cNvSpPr/>
          <p:nvPr/>
        </p:nvSpPr>
        <p:spPr>
          <a:xfrm>
            <a:off x="1026720" y="1110600"/>
            <a:ext cx="788760" cy="18360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0" lang="en-US" sz="1000" spc="-1" strike="noStrike">
                <a:solidFill>
                  <a:srgbClr val="ffffff"/>
                </a:solidFill>
                <a:latin typeface="Source Sans 3"/>
                <a:ea typeface="Source Sans 3"/>
              </a:rPr>
              <a:t>EV TAPŞIRIĞI</a:t>
            </a:r>
            <a:endParaRPr b="0" lang="en-US" sz="1000" spc="-1" strike="noStrike">
              <a:solidFill>
                <a:srgbClr val="000000"/>
              </a:solidFill>
              <a:latin typeface="Arial"/>
            </a:endParaRPr>
          </a:p>
        </p:txBody>
      </p:sp>
      <p:sp>
        <p:nvSpPr>
          <p:cNvPr id="239" name="Text 2"/>
          <p:cNvSpPr/>
          <p:nvPr/>
        </p:nvSpPr>
        <p:spPr>
          <a:xfrm>
            <a:off x="685800" y="1410840"/>
            <a:ext cx="9517680" cy="495720"/>
          </a:xfrm>
          <a:prstGeom prst="rect">
            <a:avLst/>
          </a:prstGeom>
          <a:noFill/>
          <a:ln w="0">
            <a:noFill/>
          </a:ln>
        </p:spPr>
        <p:style>
          <a:lnRef idx="0"/>
          <a:fillRef idx="0"/>
          <a:effectRef idx="0"/>
          <a:fontRef idx="minor"/>
        </p:style>
        <p:txBody>
          <a:bodyPr wrap="none" lIns="0" rIns="0" tIns="0" bIns="0" anchor="t">
            <a:noAutofit/>
          </a:bodyPr>
          <a:p>
            <a:pPr>
              <a:lnSpc>
                <a:spcPts val="3699"/>
              </a:lnSpc>
              <a:tabLst>
                <a:tab algn="l" pos="0"/>
              </a:tabLst>
            </a:pPr>
            <a:r>
              <a:rPr b="1" lang="en-US" sz="2950" spc="-1" strike="noStrike">
                <a:solidFill>
                  <a:srgbClr val="ffffff"/>
                </a:solidFill>
                <a:latin typeface="Montserrat Bold"/>
                <a:ea typeface="Montserrat Bold"/>
              </a:rPr>
              <a:t>Praktiki Tətbiq: Öz Qərar Halınızı Təhlil Edin</a:t>
            </a:r>
            <a:endParaRPr b="0" lang="en-US" sz="2950" spc="-1" strike="noStrike">
              <a:solidFill>
                <a:srgbClr val="000000"/>
              </a:solidFill>
              <a:latin typeface="Arial"/>
            </a:endParaRPr>
          </a:p>
        </p:txBody>
      </p:sp>
      <p:sp>
        <p:nvSpPr>
          <p:cNvPr id="240" name="Text 3"/>
          <p:cNvSpPr/>
          <p:nvPr/>
        </p:nvSpPr>
        <p:spPr>
          <a:xfrm>
            <a:off x="685800" y="2110320"/>
            <a:ext cx="13257720" cy="2296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Bu tapşırıq sizə dərsdə öyrən-diklərinizi real idarəetmə kontekstində tətbiq etməyə imkan verəcək. Ətraflı təhlil aparın və düşüncə-lərinizi strukturlaşdırın.</a:t>
            </a:r>
            <a:endParaRPr b="0" lang="en-US" sz="1300" spc="-1" strike="noStrike">
              <a:solidFill>
                <a:srgbClr val="000000"/>
              </a:solidFill>
              <a:latin typeface="Arial"/>
            </a:endParaRPr>
          </a:p>
        </p:txBody>
      </p:sp>
      <p:sp>
        <p:nvSpPr>
          <p:cNvPr id="241" name="Text 4"/>
          <p:cNvSpPr/>
          <p:nvPr/>
        </p:nvSpPr>
        <p:spPr>
          <a:xfrm>
            <a:off x="685800" y="2493360"/>
            <a:ext cx="1825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Montserrat Light"/>
                <a:ea typeface="Montserrat Light"/>
              </a:rPr>
              <a:t>01</a:t>
            </a:r>
            <a:endParaRPr b="0" lang="en-US" sz="1300" spc="-1" strike="noStrike">
              <a:solidFill>
                <a:srgbClr val="000000"/>
              </a:solidFill>
              <a:latin typeface="Arial"/>
            </a:endParaRPr>
          </a:p>
        </p:txBody>
      </p:sp>
      <p:sp>
        <p:nvSpPr>
          <p:cNvPr id="242" name="Shape 5"/>
          <p:cNvSpPr/>
          <p:nvPr/>
        </p:nvSpPr>
        <p:spPr>
          <a:xfrm>
            <a:off x="685800" y="2766960"/>
            <a:ext cx="6556320" cy="2196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43" name="Text 6"/>
          <p:cNvSpPr/>
          <p:nvPr/>
        </p:nvSpPr>
        <p:spPr>
          <a:xfrm>
            <a:off x="685800" y="2902680"/>
            <a:ext cx="2099520" cy="2469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Real Qərar Seçin</a:t>
            </a:r>
            <a:endParaRPr b="0" lang="en-US" sz="1450" spc="-1" strike="noStrike">
              <a:solidFill>
                <a:srgbClr val="000000"/>
              </a:solidFill>
              <a:latin typeface="Arial"/>
            </a:endParaRPr>
          </a:p>
        </p:txBody>
      </p:sp>
      <p:sp>
        <p:nvSpPr>
          <p:cNvPr id="244" name="Text 7"/>
          <p:cNvSpPr/>
          <p:nvPr/>
        </p:nvSpPr>
        <p:spPr>
          <a:xfrm>
            <a:off x="685800" y="3232080"/>
            <a:ext cx="6556320" cy="46188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Özünüzün və ya tanış olduğunuz bir təşkilatın qarşılaşdığı real idarəetmə qərarını təsvir edin. Qərar kifayət qədər mürəkkəb olmalıdır.</a:t>
            </a:r>
            <a:endParaRPr b="0" lang="en-US" sz="1300" spc="-1" strike="noStrike">
              <a:solidFill>
                <a:srgbClr val="000000"/>
              </a:solidFill>
              <a:latin typeface="Arial"/>
            </a:endParaRPr>
          </a:p>
        </p:txBody>
      </p:sp>
      <p:sp>
        <p:nvSpPr>
          <p:cNvPr id="245" name="Text 8"/>
          <p:cNvSpPr/>
          <p:nvPr/>
        </p:nvSpPr>
        <p:spPr>
          <a:xfrm>
            <a:off x="7386120" y="2493360"/>
            <a:ext cx="1825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Montserrat Light"/>
                <a:ea typeface="Montserrat Light"/>
              </a:rPr>
              <a:t>02</a:t>
            </a:r>
            <a:endParaRPr b="0" lang="en-US" sz="1300" spc="-1" strike="noStrike">
              <a:solidFill>
                <a:srgbClr val="000000"/>
              </a:solidFill>
              <a:latin typeface="Arial"/>
            </a:endParaRPr>
          </a:p>
        </p:txBody>
      </p:sp>
      <p:sp>
        <p:nvSpPr>
          <p:cNvPr id="246" name="Shape 9"/>
          <p:cNvSpPr/>
          <p:nvPr/>
        </p:nvSpPr>
        <p:spPr>
          <a:xfrm>
            <a:off x="7386120" y="2766960"/>
            <a:ext cx="6557040" cy="2196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47" name="Text 10"/>
          <p:cNvSpPr/>
          <p:nvPr/>
        </p:nvSpPr>
        <p:spPr>
          <a:xfrm>
            <a:off x="7386120" y="2902680"/>
            <a:ext cx="3330000" cy="2469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Mövcud Yanaşmanı Təhlil Edin</a:t>
            </a:r>
            <a:endParaRPr b="0" lang="en-US" sz="1450" spc="-1" strike="noStrike">
              <a:solidFill>
                <a:srgbClr val="000000"/>
              </a:solidFill>
              <a:latin typeface="Arial"/>
            </a:endParaRPr>
          </a:p>
        </p:txBody>
      </p:sp>
      <p:sp>
        <p:nvSpPr>
          <p:cNvPr id="248" name="Text 11"/>
          <p:cNvSpPr/>
          <p:nvPr/>
        </p:nvSpPr>
        <p:spPr>
          <a:xfrm>
            <a:off x="7386120" y="3232080"/>
            <a:ext cx="6557040" cy="46188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Qərarın necə qəbul edildiyini izah edin. Hansı model istifadə olundu? Hansı məlumatlar nəzərə alındı? Kimlər qərar prosesində iştirak etdi?</a:t>
            </a:r>
            <a:endParaRPr b="0" lang="en-US" sz="1300" spc="-1" strike="noStrike">
              <a:solidFill>
                <a:srgbClr val="000000"/>
              </a:solidFill>
              <a:latin typeface="Arial"/>
            </a:endParaRPr>
          </a:p>
        </p:txBody>
      </p:sp>
      <p:sp>
        <p:nvSpPr>
          <p:cNvPr id="249" name="Text 12"/>
          <p:cNvSpPr/>
          <p:nvPr/>
        </p:nvSpPr>
        <p:spPr>
          <a:xfrm>
            <a:off x="685800" y="3962160"/>
            <a:ext cx="1825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Montserrat Light"/>
                <a:ea typeface="Montserrat Light"/>
              </a:rPr>
              <a:t>03</a:t>
            </a:r>
            <a:endParaRPr b="0" lang="en-US" sz="1300" spc="-1" strike="noStrike">
              <a:solidFill>
                <a:srgbClr val="000000"/>
              </a:solidFill>
              <a:latin typeface="Arial"/>
            </a:endParaRPr>
          </a:p>
        </p:txBody>
      </p:sp>
      <p:sp>
        <p:nvSpPr>
          <p:cNvPr id="250" name="Shape 13"/>
          <p:cNvSpPr/>
          <p:nvPr/>
        </p:nvSpPr>
        <p:spPr>
          <a:xfrm>
            <a:off x="685800" y="4235400"/>
            <a:ext cx="655632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51" name="Text 14"/>
          <p:cNvSpPr/>
          <p:nvPr/>
        </p:nvSpPr>
        <p:spPr>
          <a:xfrm>
            <a:off x="685800" y="4371480"/>
            <a:ext cx="4139280" cy="24660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SI Tətbiq İmkanlarını Müəyyənləşdirin</a:t>
            </a:r>
            <a:endParaRPr b="0" lang="en-US" sz="1450" spc="-1" strike="noStrike">
              <a:solidFill>
                <a:srgbClr val="000000"/>
              </a:solidFill>
              <a:latin typeface="Arial"/>
            </a:endParaRPr>
          </a:p>
        </p:txBody>
      </p:sp>
      <p:sp>
        <p:nvSpPr>
          <p:cNvPr id="252" name="Text 15"/>
          <p:cNvSpPr/>
          <p:nvPr/>
        </p:nvSpPr>
        <p:spPr>
          <a:xfrm>
            <a:off x="685800" y="4700880"/>
            <a:ext cx="6556320" cy="46188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SI texnologiyalarının bu qərarı necə təkmilləşdirə biləcəyini göstərin. Hansı SI alətləri faydalı olardı? Hansı yeni məlumatlar əldə edilə bilərdi?</a:t>
            </a:r>
            <a:endParaRPr b="0" lang="en-US" sz="1300" spc="-1" strike="noStrike">
              <a:solidFill>
                <a:srgbClr val="000000"/>
              </a:solidFill>
              <a:latin typeface="Arial"/>
            </a:endParaRPr>
          </a:p>
        </p:txBody>
      </p:sp>
      <p:sp>
        <p:nvSpPr>
          <p:cNvPr id="253" name="Text 16"/>
          <p:cNvSpPr/>
          <p:nvPr/>
        </p:nvSpPr>
        <p:spPr>
          <a:xfrm>
            <a:off x="7386120" y="3962160"/>
            <a:ext cx="182520" cy="21672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Montserrat Light"/>
                <a:ea typeface="Montserrat Light"/>
              </a:rPr>
              <a:t>04</a:t>
            </a:r>
            <a:endParaRPr b="0" lang="en-US" sz="1300" spc="-1" strike="noStrike">
              <a:solidFill>
                <a:srgbClr val="000000"/>
              </a:solidFill>
              <a:latin typeface="Arial"/>
            </a:endParaRPr>
          </a:p>
        </p:txBody>
      </p:sp>
      <p:sp>
        <p:nvSpPr>
          <p:cNvPr id="254" name="Shape 17"/>
          <p:cNvSpPr/>
          <p:nvPr/>
        </p:nvSpPr>
        <p:spPr>
          <a:xfrm>
            <a:off x="7386120" y="4235400"/>
            <a:ext cx="655704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55" name="Text 18"/>
          <p:cNvSpPr/>
          <p:nvPr/>
        </p:nvSpPr>
        <p:spPr>
          <a:xfrm>
            <a:off x="7386120" y="4371480"/>
            <a:ext cx="3061080" cy="24660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Hibrid Strategiya Təklif Edin</a:t>
            </a:r>
            <a:endParaRPr b="0" lang="en-US" sz="1450" spc="-1" strike="noStrike">
              <a:solidFill>
                <a:srgbClr val="000000"/>
              </a:solidFill>
              <a:latin typeface="Arial"/>
            </a:endParaRPr>
          </a:p>
        </p:txBody>
      </p:sp>
      <p:sp>
        <p:nvSpPr>
          <p:cNvPr id="256" name="Text 19"/>
          <p:cNvSpPr/>
          <p:nvPr/>
        </p:nvSpPr>
        <p:spPr>
          <a:xfrm>
            <a:off x="7386120" y="4700880"/>
            <a:ext cx="6557040" cy="46188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İnsan intuisiyası və SI analitikasını birləşdirən hibrid yanaşma təklif edin. Hər tərəfin rolu nə olmalıdır?</a:t>
            </a:r>
            <a:endParaRPr b="0" lang="en-US" sz="1300" spc="-1" strike="noStrike">
              <a:solidFill>
                <a:srgbClr val="000000"/>
              </a:solidFill>
              <a:latin typeface="Arial"/>
            </a:endParaRPr>
          </a:p>
        </p:txBody>
      </p:sp>
      <p:sp>
        <p:nvSpPr>
          <p:cNvPr id="257" name="Shape 20"/>
          <p:cNvSpPr/>
          <p:nvPr/>
        </p:nvSpPr>
        <p:spPr>
          <a:xfrm>
            <a:off x="685800" y="5535360"/>
            <a:ext cx="13257720" cy="27360"/>
          </a:xfrm>
          <a:prstGeom prst="rect">
            <a:avLst/>
          </a:prstGeom>
          <a:solidFill>
            <a:srgbClr val="e2e6e9">
              <a:alpha val="50000"/>
            </a:srgbClr>
          </a:solidFill>
          <a:ln w="0">
            <a:noFill/>
          </a:ln>
        </p:spPr>
        <p:style>
          <a:lnRef idx="0"/>
          <a:fillRef idx="0"/>
          <a:effectRef idx="0"/>
          <a:fontRef idx="minor"/>
        </p:style>
        <p:txBody>
          <a:bodyPr lIns="90000" rIns="90000" tIns="-16920" bIns="-16920" anchor="t">
            <a:noAutofit/>
          </a:bodyPr>
          <a:p>
            <a:pPr>
              <a:lnSpc>
                <a:spcPct val="100000"/>
              </a:lnSpc>
            </a:pPr>
            <a:endParaRPr b="0" lang="en-US" sz="1800" spc="-1" strike="noStrike">
              <a:solidFill>
                <a:srgbClr val="000000"/>
              </a:solidFill>
              <a:latin typeface="Arial"/>
            </a:endParaRPr>
          </a:p>
        </p:txBody>
      </p:sp>
      <p:sp>
        <p:nvSpPr>
          <p:cNvPr id="258" name="Shape 21"/>
          <p:cNvSpPr/>
          <p:nvPr/>
        </p:nvSpPr>
        <p:spPr>
          <a:xfrm>
            <a:off x="685800" y="5716080"/>
            <a:ext cx="4323240" cy="1141920"/>
          </a:xfrm>
          <a:prstGeom prst="roundRect">
            <a:avLst>
              <a:gd name="adj" fmla="val 229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 name="Text 22"/>
          <p:cNvSpPr/>
          <p:nvPr/>
        </p:nvSpPr>
        <p:spPr>
          <a:xfrm>
            <a:off x="870480" y="5891040"/>
            <a:ext cx="2099520" cy="2469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Təqdim Formatı</a:t>
            </a:r>
            <a:endParaRPr b="0" lang="en-US" sz="1450" spc="-1" strike="noStrike">
              <a:solidFill>
                <a:srgbClr val="000000"/>
              </a:solidFill>
              <a:latin typeface="Arial"/>
            </a:endParaRPr>
          </a:p>
        </p:txBody>
      </p:sp>
      <p:sp>
        <p:nvSpPr>
          <p:cNvPr id="260" name="Text 23"/>
          <p:cNvSpPr/>
          <p:nvPr/>
        </p:nvSpPr>
        <p:spPr>
          <a:xfrm>
            <a:off x="870480" y="6220800"/>
            <a:ext cx="3953160" cy="46152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2-3 səhifəlik yazılı hesabat və ya 10 slaydlıq təqdimat</a:t>
            </a:r>
            <a:endParaRPr b="0" lang="en-US" sz="1300" spc="-1" strike="noStrike">
              <a:solidFill>
                <a:srgbClr val="000000"/>
              </a:solidFill>
              <a:latin typeface="Arial"/>
            </a:endParaRPr>
          </a:p>
        </p:txBody>
      </p:sp>
      <p:sp>
        <p:nvSpPr>
          <p:cNvPr id="261" name="Shape 24"/>
          <p:cNvSpPr/>
          <p:nvPr/>
        </p:nvSpPr>
        <p:spPr>
          <a:xfrm>
            <a:off x="5153040" y="5716080"/>
            <a:ext cx="4322880" cy="1141920"/>
          </a:xfrm>
          <a:prstGeom prst="roundRect">
            <a:avLst>
              <a:gd name="adj" fmla="val 229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 name="Text 25"/>
          <p:cNvSpPr/>
          <p:nvPr/>
        </p:nvSpPr>
        <p:spPr>
          <a:xfrm>
            <a:off x="5337720" y="5891040"/>
            <a:ext cx="2099520" cy="2469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Təhvil Tarixi</a:t>
            </a:r>
            <a:endParaRPr b="0" lang="en-US" sz="1450" spc="-1" strike="noStrike">
              <a:solidFill>
                <a:srgbClr val="000000"/>
              </a:solidFill>
              <a:latin typeface="Arial"/>
            </a:endParaRPr>
          </a:p>
        </p:txBody>
      </p:sp>
      <p:sp>
        <p:nvSpPr>
          <p:cNvPr id="263" name="Text 26"/>
          <p:cNvSpPr/>
          <p:nvPr/>
        </p:nvSpPr>
        <p:spPr>
          <a:xfrm>
            <a:off x="5337720" y="6220800"/>
            <a:ext cx="3953520" cy="2296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Növbəti dərsdən əvvəl, elektron formada</a:t>
            </a:r>
            <a:endParaRPr b="0" lang="en-US" sz="1300" spc="-1" strike="noStrike">
              <a:solidFill>
                <a:srgbClr val="000000"/>
              </a:solidFill>
              <a:latin typeface="Arial"/>
            </a:endParaRPr>
          </a:p>
        </p:txBody>
      </p:sp>
      <p:sp>
        <p:nvSpPr>
          <p:cNvPr id="264" name="Shape 27"/>
          <p:cNvSpPr/>
          <p:nvPr/>
        </p:nvSpPr>
        <p:spPr>
          <a:xfrm>
            <a:off x="9619920" y="5716080"/>
            <a:ext cx="4323240" cy="1141920"/>
          </a:xfrm>
          <a:prstGeom prst="roundRect">
            <a:avLst>
              <a:gd name="adj" fmla="val 229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 name="Text 28"/>
          <p:cNvSpPr/>
          <p:nvPr/>
        </p:nvSpPr>
        <p:spPr>
          <a:xfrm>
            <a:off x="9804600" y="5891040"/>
            <a:ext cx="2099880" cy="24696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450" spc="-1" strike="noStrike">
                <a:solidFill>
                  <a:srgbClr val="e2e6e9"/>
                </a:solidFill>
                <a:latin typeface="Montserrat Bold"/>
                <a:ea typeface="Montserrat Bold"/>
              </a:rPr>
              <a:t>Qiymətləndirmə</a:t>
            </a:r>
            <a:endParaRPr b="0" lang="en-US" sz="1450" spc="-1" strike="noStrike">
              <a:solidFill>
                <a:srgbClr val="000000"/>
              </a:solidFill>
              <a:latin typeface="Arial"/>
            </a:endParaRPr>
          </a:p>
        </p:txBody>
      </p:sp>
      <p:sp>
        <p:nvSpPr>
          <p:cNvPr id="266" name="Text 29"/>
          <p:cNvSpPr/>
          <p:nvPr/>
        </p:nvSpPr>
        <p:spPr>
          <a:xfrm>
            <a:off x="9804600" y="6220800"/>
            <a:ext cx="3953880" cy="461520"/>
          </a:xfrm>
          <a:prstGeom prst="rect">
            <a:avLst/>
          </a:prstGeom>
          <a:noFill/>
          <a:ln w="0">
            <a:noFill/>
          </a:ln>
        </p:spPr>
        <p:style>
          <a:lnRef idx="0"/>
          <a:fillRef idx="0"/>
          <a:effectRef idx="0"/>
          <a:fontRef idx="minor"/>
        </p:style>
        <p:txBody>
          <a:bodyPr lIns="0" rIns="0" tIns="0" bIns="0" anchor="t">
            <a:noAutofit/>
          </a:bodyPr>
          <a:p>
            <a:pPr>
              <a:lnSpc>
                <a:spcPts val="1701"/>
              </a:lnSpc>
              <a:tabLst>
                <a:tab algn="l" pos="0"/>
              </a:tabLst>
            </a:pPr>
            <a:r>
              <a:rPr b="0" lang="en-US" sz="1300" spc="-1" strike="noStrike">
                <a:solidFill>
                  <a:srgbClr val="e2e6e9"/>
                </a:solidFill>
                <a:latin typeface="Source Sans 3"/>
                <a:ea typeface="Source Sans 3"/>
              </a:rPr>
              <a:t>Təhlilin dərinliyi, SI tətbiq təkliflərinin reallığı, yazının aydınlığı</a:t>
            </a:r>
            <a:endParaRPr b="0" lang="en-US" sz="1300" spc="-1" strike="noStrike">
              <a:solidFill>
                <a:srgbClr val="000000"/>
              </a:solidFill>
              <a:latin typeface="Arial"/>
            </a:endParaRPr>
          </a:p>
        </p:txBody>
      </p:sp>
      <p:sp>
        <p:nvSpPr>
          <p:cNvPr id="267" name="Text 30"/>
          <p:cNvSpPr/>
          <p:nvPr/>
        </p:nvSpPr>
        <p:spPr>
          <a:xfrm>
            <a:off x="963360" y="7161840"/>
            <a:ext cx="12979800" cy="2296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300" spc="-1" strike="noStrike">
                <a:solidFill>
                  <a:srgbClr val="e2e6e9"/>
                </a:solidFill>
                <a:latin typeface="Source Sans 3"/>
                <a:ea typeface="Source Sans 3"/>
              </a:rPr>
              <a:t>Bu tapşırıq sizin SI və qərar qəbuletmə haqqında nəzəri biliklərinizi praktiki bacarıqlara çevirəcək. Yaradıcı olun və dərin düşünün!</a:t>
            </a:r>
            <a:endParaRPr b="0" lang="en-US" sz="1300" spc="-1" strike="noStrike">
              <a:solidFill>
                <a:srgbClr val="000000"/>
              </a:solidFill>
              <a:latin typeface="Arial"/>
            </a:endParaRPr>
          </a:p>
        </p:txBody>
      </p:sp>
      <p:sp>
        <p:nvSpPr>
          <p:cNvPr id="268" name="Shape 31"/>
          <p:cNvSpPr/>
          <p:nvPr/>
        </p:nvSpPr>
        <p:spPr>
          <a:xfrm>
            <a:off x="685800" y="7011000"/>
            <a:ext cx="23760" cy="5317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Shape 1"/>
          <p:cNvSpPr/>
          <p:nvPr/>
        </p:nvSpPr>
        <p:spPr>
          <a:xfrm>
            <a:off x="5041440" y="333360"/>
            <a:ext cx="1117080" cy="287280"/>
          </a:xfrm>
          <a:prstGeom prst="roundRect">
            <a:avLst>
              <a:gd name="adj" fmla="val 6856"/>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70" name="Image 6" descr="preencoded.png"/>
          <p:cNvPicPr/>
          <p:nvPr/>
        </p:nvPicPr>
        <p:blipFill>
          <a:blip r:embed="rId1">
            <a:extLst>
              <a:ext uri="{96DAC541-7B7A-43D3-8B79-37D633B846F1}">
                <asvg:svgBlip xmlns:asvg="http://schemas.microsoft.com/office/drawing/2016/SVG/main" r:embed="rId2"/>
              </a:ext>
            </a:extLst>
          </a:blip>
          <a:stretch/>
        </p:blipFill>
        <p:spPr>
          <a:xfrm>
            <a:off x="5148000" y="411840"/>
            <a:ext cx="129960" cy="129960"/>
          </a:xfrm>
          <a:prstGeom prst="rect">
            <a:avLst/>
          </a:prstGeom>
          <a:ln w="0">
            <a:noFill/>
          </a:ln>
        </p:spPr>
      </p:pic>
      <p:sp>
        <p:nvSpPr>
          <p:cNvPr id="271" name="Text 32"/>
          <p:cNvSpPr/>
          <p:nvPr/>
        </p:nvSpPr>
        <p:spPr>
          <a:xfrm>
            <a:off x="5346360" y="390240"/>
            <a:ext cx="705240" cy="17316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0" lang="en-US" sz="1000" spc="-1" strike="noStrike">
                <a:solidFill>
                  <a:srgbClr val="ffffff"/>
                </a:solidFill>
                <a:latin typeface="Source Sans 3"/>
                <a:ea typeface="Source Sans 3"/>
              </a:rPr>
              <a:t>EV TAPŞIRIĞI</a:t>
            </a:r>
            <a:endParaRPr b="0" lang="en-US" sz="1000" spc="-1" strike="noStrike">
              <a:solidFill>
                <a:srgbClr val="000000"/>
              </a:solidFill>
              <a:latin typeface="Arial"/>
            </a:endParaRPr>
          </a:p>
        </p:txBody>
      </p:sp>
      <p:sp>
        <p:nvSpPr>
          <p:cNvPr id="272" name="Text 33"/>
          <p:cNvSpPr/>
          <p:nvPr/>
        </p:nvSpPr>
        <p:spPr>
          <a:xfrm>
            <a:off x="5041440" y="673560"/>
            <a:ext cx="2957760" cy="467640"/>
          </a:xfrm>
          <a:prstGeom prst="rect">
            <a:avLst/>
          </a:prstGeom>
          <a:noFill/>
          <a:ln w="0">
            <a:noFill/>
          </a:ln>
        </p:spPr>
        <p:style>
          <a:lnRef idx="0"/>
          <a:fillRef idx="0"/>
          <a:effectRef idx="0"/>
          <a:fontRef idx="minor"/>
        </p:style>
        <p:txBody>
          <a:bodyPr wrap="none" lIns="0" rIns="0" tIns="0" bIns="0" anchor="t">
            <a:noAutofit/>
          </a:bodyPr>
          <a:p>
            <a:pPr>
              <a:lnSpc>
                <a:spcPts val="3699"/>
              </a:lnSpc>
              <a:tabLst>
                <a:tab algn="l" pos="0"/>
              </a:tabLst>
            </a:pPr>
            <a:r>
              <a:rPr b="1" lang="en-US" sz="2950" spc="-1" strike="noStrike">
                <a:solidFill>
                  <a:srgbClr val="ffffff"/>
                </a:solidFill>
                <a:latin typeface="Montserrat Bold"/>
                <a:ea typeface="Montserrat Bold"/>
              </a:rPr>
              <a:t>Test Tapşirigı L3</a:t>
            </a:r>
            <a:endParaRPr b="0" lang="en-US" sz="2950" spc="-1" strike="noStrike">
              <a:solidFill>
                <a:srgbClr val="000000"/>
              </a:solidFill>
              <a:latin typeface="Arial"/>
            </a:endParaRPr>
          </a:p>
        </p:txBody>
      </p:sp>
      <p:pic>
        <p:nvPicPr>
          <p:cNvPr id="273" name="" descr=""/>
          <p:cNvPicPr/>
          <p:nvPr/>
        </p:nvPicPr>
        <p:blipFill>
          <a:blip r:embed="rId3"/>
          <a:stretch/>
        </p:blipFill>
        <p:spPr>
          <a:xfrm>
            <a:off x="3886200" y="1143000"/>
            <a:ext cx="5484600" cy="6819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211</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2026-02-16T09:35:24Z</dcterms:created>
  <dc:creator/>
  <dc:description/>
  <dc:language>en-US</dc:language>
  <cp:lastModifiedBy/>
  <dcterms:modified xsi:type="dcterms:W3CDTF">2026-03-09T14:04:43Z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