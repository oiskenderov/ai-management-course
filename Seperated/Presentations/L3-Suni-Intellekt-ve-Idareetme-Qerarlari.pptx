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4630400" cy="8229600"/>
  <p:notesSz cx="8229600" cy="14630400"/>
  <p:embeddedFontLst>
    <p:embeddedFont>
      <p:font typeface="Montserrat"/>
      <p:regular r:id="rId18"/>
    </p:embeddedFont>
    <p:embeddedFont>
      <p:font typeface="Montserrat"/>
      <p:regular r:id="rId19"/>
    </p:embeddedFont>
    <p:embeddedFont>
      <p:font typeface="Montserrat"/>
      <p:regular r:id="rId20"/>
    </p:embeddedFont>
    <p:embeddedFont>
      <p:font typeface="Montserrat"/>
      <p:regular r:id="rId21"/>
    </p:embeddedFont>
    <p:embeddedFont>
      <p:font typeface="Source Sans 3"/>
      <p:regular r:id="rId22"/>
    </p:embeddedFont>
    <p:embeddedFont>
      <p:font typeface="Source Sans 3"/>
      <p:regular r:id="rId23"/>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6.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8.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9.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2.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350198" y="2893933"/>
            <a:ext cx="7416403" cy="1227058"/>
          </a:xfrm>
          <a:prstGeom prst="rect">
            <a:avLst/>
          </a:prstGeom>
          <a:noFill/>
          <a:ln/>
        </p:spPr>
        <p:txBody>
          <a:bodyPr wrap="squar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Süni İntellekt və İdarəetmə Qərarları</a:t>
            </a:r>
            <a:endParaRPr lang="en-US" sz="3850" dirty="0"/>
          </a:p>
        </p:txBody>
      </p:sp>
      <p:sp>
        <p:nvSpPr>
          <p:cNvPr id="4" name="Text 1"/>
          <p:cNvSpPr/>
          <p:nvPr/>
        </p:nvSpPr>
        <p:spPr>
          <a:xfrm>
            <a:off x="6350198" y="4444841"/>
            <a:ext cx="7416403"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Müəllim: [Müəllimin adı]</a:t>
            </a:r>
            <a:endParaRPr lang="en-US" sz="1700" dirty="0"/>
          </a:p>
        </p:txBody>
      </p:sp>
      <p:sp>
        <p:nvSpPr>
          <p:cNvPr id="5" name="Text 2"/>
          <p:cNvSpPr/>
          <p:nvPr/>
        </p:nvSpPr>
        <p:spPr>
          <a:xfrm>
            <a:off x="6350198" y="5011698"/>
            <a:ext cx="7416403"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Universitet kursu — İdarəetmə və Süni İntellekt</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863798" y="1869996"/>
            <a:ext cx="1858447" cy="388620"/>
          </a:xfrm>
          <a:prstGeom prst="roundRect">
            <a:avLst>
              <a:gd name="adj" fmla="val 6669"/>
            </a:avLst>
          </a:prstGeom>
          <a:solidFill>
            <a:srgbClr val="262626"/>
          </a:solidFill>
          <a:ln/>
        </p:spPr>
      </p:sp>
      <p:sp>
        <p:nvSpPr>
          <p:cNvPr id="3" name="Text 1"/>
          <p:cNvSpPr/>
          <p:nvPr/>
        </p:nvSpPr>
        <p:spPr>
          <a:xfrm>
            <a:off x="993338" y="1934766"/>
            <a:ext cx="1599367" cy="259080"/>
          </a:xfrm>
          <a:prstGeom prst="rect">
            <a:avLst/>
          </a:prstGeom>
          <a:noFill/>
          <a:ln/>
        </p:spPr>
        <p:txBody>
          <a:bodyPr wrap="none" lIns="0" tIns="0" rIns="0" bIns="0" rtlCol="0" anchor="t"/>
          <a:lstStyle/>
          <a:p>
            <a:pPr algn="l" indent="0" marL="0">
              <a:lnSpc>
                <a:spcPts val="2000"/>
              </a:lnSpc>
              <a:buNone/>
            </a:pPr>
            <a:r>
              <a:rPr lang="en-US" sz="1350" dirty="0">
                <a:solidFill>
                  <a:srgbClr val="E2E6E9"/>
                </a:solidFill>
                <a:latin typeface="Source Sans 3" pitchFamily="34" charset="0"/>
                <a:ea typeface="Source Sans 3" pitchFamily="34" charset="-122"/>
                <a:cs typeface="Source Sans 3" pitchFamily="34" charset="-120"/>
              </a:rPr>
              <a:t>DƏRSIN MƏQSƏDLƏRI</a:t>
            </a:r>
            <a:endParaRPr lang="en-US" sz="1350" dirty="0"/>
          </a:p>
        </p:txBody>
      </p:sp>
      <p:sp>
        <p:nvSpPr>
          <p:cNvPr id="4" name="Text 2"/>
          <p:cNvSpPr/>
          <p:nvPr/>
        </p:nvSpPr>
        <p:spPr>
          <a:xfrm>
            <a:off x="863798" y="2344936"/>
            <a:ext cx="8355449"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Bu Gün Öyrənəcəyimiz Mövzular</a:t>
            </a:r>
            <a:endParaRPr lang="en-US" sz="3850" dirty="0"/>
          </a:p>
        </p:txBody>
      </p:sp>
      <p:sp>
        <p:nvSpPr>
          <p:cNvPr id="5" name="Shape 3"/>
          <p:cNvSpPr/>
          <p:nvPr/>
        </p:nvSpPr>
        <p:spPr>
          <a:xfrm>
            <a:off x="708184" y="3282315"/>
            <a:ext cx="6499146" cy="3077170"/>
          </a:xfrm>
          <a:prstGeom prst="roundRect">
            <a:avLst>
              <a:gd name="adj" fmla="val 1053"/>
            </a:avLst>
          </a:prstGeom>
          <a:solidFill>
            <a:srgbClr val="1D1F22"/>
          </a:solidFill>
          <a:ln/>
        </p:spPr>
      </p:sp>
      <p:sp>
        <p:nvSpPr>
          <p:cNvPr id="6" name="Text 4"/>
          <p:cNvSpPr/>
          <p:nvPr/>
        </p:nvSpPr>
        <p:spPr>
          <a:xfrm>
            <a:off x="924044" y="3498175"/>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Əsas Məqsəd</a:t>
            </a:r>
            <a:endParaRPr lang="en-US" sz="1900" dirty="0"/>
          </a:p>
        </p:txBody>
      </p:sp>
      <p:sp>
        <p:nvSpPr>
          <p:cNvPr id="7" name="Text 5"/>
          <p:cNvSpPr/>
          <p:nvPr/>
        </p:nvSpPr>
        <p:spPr>
          <a:xfrm>
            <a:off x="924044" y="4020741"/>
            <a:ext cx="6067425"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Süni İntellektin idarəetmə qərarlarının mahiyyətini necə dəyişdirdiyini anlayacağıq və praktiki tətbiq imkanlarını öyrənəcəyik.</a:t>
            </a:r>
            <a:endParaRPr lang="en-US" sz="1700" dirty="0"/>
          </a:p>
        </p:txBody>
      </p:sp>
      <p:sp>
        <p:nvSpPr>
          <p:cNvPr id="8" name="Shape 6"/>
          <p:cNvSpPr/>
          <p:nvPr/>
        </p:nvSpPr>
        <p:spPr>
          <a:xfrm>
            <a:off x="7586305" y="3633192"/>
            <a:ext cx="107871" cy="107871"/>
          </a:xfrm>
          <a:prstGeom prst="roundRect">
            <a:avLst>
              <a:gd name="adj" fmla="val 423840"/>
            </a:avLst>
          </a:prstGeom>
          <a:solidFill>
            <a:srgbClr val="FFFFFF"/>
          </a:solidFill>
          <a:ln/>
        </p:spPr>
      </p:sp>
      <p:sp>
        <p:nvSpPr>
          <p:cNvPr id="9" name="Text 7"/>
          <p:cNvSpPr/>
          <p:nvPr/>
        </p:nvSpPr>
        <p:spPr>
          <a:xfrm>
            <a:off x="7910036" y="3525203"/>
            <a:ext cx="5864185"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Klassik və müasir qərar modelləri</a:t>
            </a:r>
            <a:endParaRPr lang="en-US" sz="1700" dirty="0"/>
          </a:p>
        </p:txBody>
      </p:sp>
      <p:sp>
        <p:nvSpPr>
          <p:cNvPr id="10" name="Shape 8"/>
          <p:cNvSpPr/>
          <p:nvPr/>
        </p:nvSpPr>
        <p:spPr>
          <a:xfrm>
            <a:off x="7586305" y="4389001"/>
            <a:ext cx="107871" cy="107871"/>
          </a:xfrm>
          <a:prstGeom prst="roundRect">
            <a:avLst>
              <a:gd name="adj" fmla="val 423840"/>
            </a:avLst>
          </a:prstGeom>
          <a:solidFill>
            <a:srgbClr val="FFFFFF"/>
          </a:solidFill>
          <a:ln/>
        </p:spPr>
      </p:sp>
      <p:sp>
        <p:nvSpPr>
          <p:cNvPr id="11" name="Text 9"/>
          <p:cNvSpPr/>
          <p:nvPr/>
        </p:nvSpPr>
        <p:spPr>
          <a:xfrm>
            <a:off x="7910036" y="4281011"/>
            <a:ext cx="5864185"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SI-nin qərarvermə proseslərinə təsiri</a:t>
            </a:r>
            <a:endParaRPr lang="en-US" sz="1700" dirty="0"/>
          </a:p>
        </p:txBody>
      </p:sp>
      <p:sp>
        <p:nvSpPr>
          <p:cNvPr id="12" name="Shape 10"/>
          <p:cNvSpPr/>
          <p:nvPr/>
        </p:nvSpPr>
        <p:spPr>
          <a:xfrm>
            <a:off x="7586305" y="5144810"/>
            <a:ext cx="107871" cy="107871"/>
          </a:xfrm>
          <a:prstGeom prst="roundRect">
            <a:avLst>
              <a:gd name="adj" fmla="val 423840"/>
            </a:avLst>
          </a:prstGeom>
          <a:solidFill>
            <a:srgbClr val="FFFFFF"/>
          </a:solidFill>
          <a:ln/>
        </p:spPr>
      </p:sp>
      <p:sp>
        <p:nvSpPr>
          <p:cNvPr id="13" name="Text 11"/>
          <p:cNvSpPr/>
          <p:nvPr/>
        </p:nvSpPr>
        <p:spPr>
          <a:xfrm>
            <a:off x="7910036" y="5036820"/>
            <a:ext cx="5864185"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Hibrid yanaşmaların üstünlükləri və riskləri</a:t>
            </a:r>
            <a:endParaRPr lang="en-US" sz="1700" dirty="0"/>
          </a:p>
        </p:txBody>
      </p:sp>
      <p:sp>
        <p:nvSpPr>
          <p:cNvPr id="14" name="Shape 12"/>
          <p:cNvSpPr/>
          <p:nvPr/>
        </p:nvSpPr>
        <p:spPr>
          <a:xfrm>
            <a:off x="7586305" y="5900618"/>
            <a:ext cx="107871" cy="107871"/>
          </a:xfrm>
          <a:prstGeom prst="roundRect">
            <a:avLst>
              <a:gd name="adj" fmla="val 423840"/>
            </a:avLst>
          </a:prstGeom>
          <a:solidFill>
            <a:srgbClr val="FFFFFF"/>
          </a:solidFill>
          <a:ln/>
        </p:spPr>
      </p:sp>
      <p:sp>
        <p:nvSpPr>
          <p:cNvPr id="15" name="Text 13"/>
          <p:cNvSpPr/>
          <p:nvPr/>
        </p:nvSpPr>
        <p:spPr>
          <a:xfrm>
            <a:off x="7910036" y="5792629"/>
            <a:ext cx="5864185"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Real idarəetmə situasiyalarında tətbiq</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385530" y="618649"/>
            <a:ext cx="8105894" cy="469940"/>
          </a:xfrm>
          <a:prstGeom prst="rect">
            <a:avLst/>
          </a:prstGeom>
          <a:noFill/>
          <a:ln/>
        </p:spPr>
        <p:txBody>
          <a:bodyPr wrap="none" lIns="0" tIns="0" rIns="0" bIns="0" rtlCol="0" anchor="t"/>
          <a:lstStyle/>
          <a:p>
            <a:pPr algn="l" indent="0" marL="0">
              <a:lnSpc>
                <a:spcPts val="3700"/>
              </a:lnSpc>
              <a:buNone/>
            </a:pPr>
            <a:r>
              <a:rPr lang="en-US" sz="2950" b="1" dirty="0">
                <a:solidFill>
                  <a:srgbClr val="FFFFFF"/>
                </a:solidFill>
                <a:latin typeface="Montserrat Bold" pitchFamily="34" charset="0"/>
                <a:ea typeface="Montserrat Bold" pitchFamily="34" charset="-122"/>
                <a:cs typeface="Montserrat Bold" pitchFamily="34" charset="-120"/>
              </a:rPr>
              <a:t>Klassik Model: Rasional Qərar Qəbuletmə</a:t>
            </a:r>
            <a:endParaRPr lang="en-US" sz="2950" dirty="0"/>
          </a:p>
        </p:txBody>
      </p:sp>
      <p:sp>
        <p:nvSpPr>
          <p:cNvPr id="3" name="Text 1"/>
          <p:cNvSpPr/>
          <p:nvPr/>
        </p:nvSpPr>
        <p:spPr>
          <a:xfrm>
            <a:off x="1385530" y="1341953"/>
            <a:ext cx="11859339"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Klassik rasional qərar modeli ideallaşdırılmış bir yanaşmadır. Bu model qərar qəbul edənin tam məlumata sahib olduğunu və tamamilə məntiqli şəkildə hərəkət etdiyini fərz edir.</a:t>
            </a:r>
            <a:endParaRPr lang="en-US" sz="1300" dirty="0"/>
          </a:p>
        </p:txBody>
      </p:sp>
      <p:pic>
        <p:nvPicPr>
          <p:cNvPr id="4" name="Image 0" descr="preencoded.png">    </p:cNvPr>
          <p:cNvPicPr>
            <a:picLocks noChangeAspect="1"/>
          </p:cNvPicPr>
          <p:nvPr/>
        </p:nvPicPr>
        <p:blipFill>
          <a:blip r:embed="rId1"/>
          <a:stretch>
            <a:fillRect/>
          </a:stretch>
        </p:blipFill>
        <p:spPr>
          <a:xfrm>
            <a:off x="1385530" y="1922383"/>
            <a:ext cx="827127" cy="992505"/>
          </a:xfrm>
          <a:prstGeom prst="rect">
            <a:avLst/>
          </a:prstGeom>
        </p:spPr>
      </p:pic>
      <p:sp>
        <p:nvSpPr>
          <p:cNvPr id="5" name="Text 2"/>
          <p:cNvSpPr/>
          <p:nvPr/>
        </p:nvSpPr>
        <p:spPr>
          <a:xfrm>
            <a:off x="2339340" y="2087761"/>
            <a:ext cx="2865596"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Problemin Müəyyən Edilməsi</a:t>
            </a:r>
            <a:endParaRPr lang="en-US" sz="1450" dirty="0"/>
          </a:p>
        </p:txBody>
      </p:sp>
      <p:sp>
        <p:nvSpPr>
          <p:cNvPr id="6" name="Text 3"/>
          <p:cNvSpPr/>
          <p:nvPr/>
        </p:nvSpPr>
        <p:spPr>
          <a:xfrm>
            <a:off x="2339340" y="2398633"/>
            <a:ext cx="10905530"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Həll edilməli məsələnin dəqiq təyini</a:t>
            </a:r>
            <a:endParaRPr lang="en-US" sz="1300" dirty="0"/>
          </a:p>
        </p:txBody>
      </p:sp>
      <p:pic>
        <p:nvPicPr>
          <p:cNvPr id="7" name="Image 1" descr="preencoded.png">    </p:cNvPr>
          <p:cNvPicPr>
            <a:picLocks noChangeAspect="1"/>
          </p:cNvPicPr>
          <p:nvPr/>
        </p:nvPicPr>
        <p:blipFill>
          <a:blip r:embed="rId2"/>
          <a:stretch>
            <a:fillRect/>
          </a:stretch>
        </p:blipFill>
        <p:spPr>
          <a:xfrm>
            <a:off x="1385530" y="2914888"/>
            <a:ext cx="827127" cy="992505"/>
          </a:xfrm>
          <a:prstGeom prst="rect">
            <a:avLst/>
          </a:prstGeom>
        </p:spPr>
      </p:pic>
      <p:sp>
        <p:nvSpPr>
          <p:cNvPr id="8" name="Text 4"/>
          <p:cNvSpPr/>
          <p:nvPr/>
        </p:nvSpPr>
        <p:spPr>
          <a:xfrm>
            <a:off x="2339340" y="3080266"/>
            <a:ext cx="2500789"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Məlumatların Toplanması</a:t>
            </a:r>
            <a:endParaRPr lang="en-US" sz="1450" dirty="0"/>
          </a:p>
        </p:txBody>
      </p:sp>
      <p:sp>
        <p:nvSpPr>
          <p:cNvPr id="9" name="Text 5"/>
          <p:cNvSpPr/>
          <p:nvPr/>
        </p:nvSpPr>
        <p:spPr>
          <a:xfrm>
            <a:off x="2339340" y="3391138"/>
            <a:ext cx="10905530"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Ətraflı və tam informasiya əldə edilməsi</a:t>
            </a:r>
            <a:endParaRPr lang="en-US" sz="1300" dirty="0"/>
          </a:p>
        </p:txBody>
      </p:sp>
      <p:pic>
        <p:nvPicPr>
          <p:cNvPr id="10" name="Image 2" descr="preencoded.png">    </p:cNvPr>
          <p:cNvPicPr>
            <a:picLocks noChangeAspect="1"/>
          </p:cNvPicPr>
          <p:nvPr/>
        </p:nvPicPr>
        <p:blipFill>
          <a:blip r:embed="rId3"/>
          <a:stretch>
            <a:fillRect/>
          </a:stretch>
        </p:blipFill>
        <p:spPr>
          <a:xfrm>
            <a:off x="1385530" y="3907393"/>
            <a:ext cx="827127" cy="992505"/>
          </a:xfrm>
          <a:prstGeom prst="rect">
            <a:avLst/>
          </a:prstGeom>
        </p:spPr>
      </p:pic>
      <p:sp>
        <p:nvSpPr>
          <p:cNvPr id="11" name="Text 6"/>
          <p:cNvSpPr/>
          <p:nvPr/>
        </p:nvSpPr>
        <p:spPr>
          <a:xfrm>
            <a:off x="2339340" y="4072771"/>
            <a:ext cx="270795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Alternativlərin Generasiyası</a:t>
            </a:r>
            <a:endParaRPr lang="en-US" sz="1450" dirty="0"/>
          </a:p>
        </p:txBody>
      </p:sp>
      <p:sp>
        <p:nvSpPr>
          <p:cNvPr id="12" name="Text 7"/>
          <p:cNvSpPr/>
          <p:nvPr/>
        </p:nvSpPr>
        <p:spPr>
          <a:xfrm>
            <a:off x="2339340" y="4383643"/>
            <a:ext cx="10905530"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Bütün mümkün həll yollarının yaradılması</a:t>
            </a:r>
            <a:endParaRPr lang="en-US" sz="1300" dirty="0"/>
          </a:p>
        </p:txBody>
      </p:sp>
      <p:pic>
        <p:nvPicPr>
          <p:cNvPr id="13" name="Image 3" descr="preencoded.png">    </p:cNvPr>
          <p:cNvPicPr>
            <a:picLocks noChangeAspect="1"/>
          </p:cNvPicPr>
          <p:nvPr/>
        </p:nvPicPr>
        <p:blipFill>
          <a:blip r:embed="rId4"/>
          <a:stretch>
            <a:fillRect/>
          </a:stretch>
        </p:blipFill>
        <p:spPr>
          <a:xfrm>
            <a:off x="1385530" y="4899898"/>
            <a:ext cx="827127" cy="992505"/>
          </a:xfrm>
          <a:prstGeom prst="rect">
            <a:avLst/>
          </a:prstGeom>
        </p:spPr>
      </p:pic>
      <p:sp>
        <p:nvSpPr>
          <p:cNvPr id="14" name="Text 8"/>
          <p:cNvSpPr/>
          <p:nvPr/>
        </p:nvSpPr>
        <p:spPr>
          <a:xfrm>
            <a:off x="2339340" y="5065276"/>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Optimal Seçim</a:t>
            </a:r>
            <a:endParaRPr lang="en-US" sz="1450" dirty="0"/>
          </a:p>
        </p:txBody>
      </p:sp>
      <p:sp>
        <p:nvSpPr>
          <p:cNvPr id="15" name="Text 9"/>
          <p:cNvSpPr/>
          <p:nvPr/>
        </p:nvSpPr>
        <p:spPr>
          <a:xfrm>
            <a:off x="2339340" y="5376148"/>
            <a:ext cx="10905530"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Ən yaxşı variantın müəyyənləşdirilməsi</a:t>
            </a:r>
            <a:endParaRPr lang="en-US" sz="1300" dirty="0"/>
          </a:p>
        </p:txBody>
      </p:sp>
      <p:pic>
        <p:nvPicPr>
          <p:cNvPr id="16" name="Image 4" descr="preencoded.png">    </p:cNvPr>
          <p:cNvPicPr>
            <a:picLocks noChangeAspect="1"/>
          </p:cNvPicPr>
          <p:nvPr/>
        </p:nvPicPr>
        <p:blipFill>
          <a:blip r:embed="rId5"/>
          <a:stretch>
            <a:fillRect/>
          </a:stretch>
        </p:blipFill>
        <p:spPr>
          <a:xfrm>
            <a:off x="1385530" y="5892403"/>
            <a:ext cx="827127" cy="992505"/>
          </a:xfrm>
          <a:prstGeom prst="rect">
            <a:avLst/>
          </a:prstGeom>
        </p:spPr>
      </p:pic>
      <p:sp>
        <p:nvSpPr>
          <p:cNvPr id="17" name="Text 10"/>
          <p:cNvSpPr/>
          <p:nvPr/>
        </p:nvSpPr>
        <p:spPr>
          <a:xfrm>
            <a:off x="2339340" y="6057781"/>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Həyata Keçirilmə</a:t>
            </a:r>
            <a:endParaRPr lang="en-US" sz="1450" dirty="0"/>
          </a:p>
        </p:txBody>
      </p:sp>
      <p:sp>
        <p:nvSpPr>
          <p:cNvPr id="18" name="Text 11"/>
          <p:cNvSpPr/>
          <p:nvPr/>
        </p:nvSpPr>
        <p:spPr>
          <a:xfrm>
            <a:off x="2339340" y="6368653"/>
            <a:ext cx="10905530"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Seçilmiş qərarın tətbiqi və nəticələr</a:t>
            </a:r>
            <a:endParaRPr lang="en-US" sz="1300" dirty="0"/>
          </a:p>
        </p:txBody>
      </p:sp>
      <p:sp>
        <p:nvSpPr>
          <p:cNvPr id="19" name="Shape 12"/>
          <p:cNvSpPr/>
          <p:nvPr/>
        </p:nvSpPr>
        <p:spPr>
          <a:xfrm>
            <a:off x="1385530" y="7027426"/>
            <a:ext cx="11859339" cy="583525"/>
          </a:xfrm>
          <a:prstGeom prst="roundRect">
            <a:avLst>
              <a:gd name="adj" fmla="val 4253"/>
            </a:avLst>
          </a:prstGeom>
          <a:solidFill>
            <a:srgbClr val="262626"/>
          </a:solidFill>
          <a:ln/>
        </p:spPr>
      </p:sp>
      <p:pic>
        <p:nvPicPr>
          <p:cNvPr id="20" name="Image 5" descr="preencoded.png">    </p:cNvPr>
          <p:cNvPicPr>
            <a:picLocks noChangeAspect="1"/>
          </p:cNvPicPr>
          <p:nvPr/>
        </p:nvPicPr>
        <p:blipFill>
          <a:blip r:embed="rId6"/>
          <a:stretch>
            <a:fillRect/>
          </a:stretch>
        </p:blipFill>
        <p:spPr>
          <a:xfrm>
            <a:off x="1550908" y="7241738"/>
            <a:ext cx="206693" cy="165378"/>
          </a:xfrm>
          <a:prstGeom prst="rect">
            <a:avLst/>
          </a:prstGeom>
        </p:spPr>
      </p:pic>
      <p:sp>
        <p:nvSpPr>
          <p:cNvPr id="21" name="Text 13"/>
          <p:cNvSpPr/>
          <p:nvPr/>
        </p:nvSpPr>
        <p:spPr>
          <a:xfrm>
            <a:off x="1922978" y="7195423"/>
            <a:ext cx="11156513" cy="218956"/>
          </a:xfrm>
          <a:prstGeom prst="rect">
            <a:avLst/>
          </a:prstGeom>
          <a:noFill/>
          <a:ln/>
        </p:spPr>
        <p:txBody>
          <a:bodyPr wrap="none" lIns="0" tIns="0" rIns="0" bIns="0" rtlCol="0" anchor="t"/>
          <a:lstStyle/>
          <a:p>
            <a:pPr algn="l" indent="0" marL="0">
              <a:lnSpc>
                <a:spcPts val="1700"/>
              </a:lnSpc>
              <a:buNone/>
            </a:pPr>
            <a:r>
              <a:rPr lang="en-US" sz="1300" dirty="0">
                <a:solidFill>
                  <a:srgbClr val="FFFFFF"/>
                </a:solidFill>
                <a:latin typeface="Source Sans 3" pitchFamily="34" charset="0"/>
                <a:ea typeface="Source Sans 3" pitchFamily="34" charset="-122"/>
                <a:cs typeface="Source Sans 3" pitchFamily="34" charset="-120"/>
              </a:rPr>
              <a:t>Bu model nəzəri cəhətdən mükəmməldir, lakin real həyatda tam məlumat və sonsuz analiz vaxtı nadir hallarda mövcud olur.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63798" y="644962"/>
            <a:ext cx="11976973"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Herbert Saymonun Modeli: Məhdud Rasionalıq</a:t>
            </a:r>
            <a:endParaRPr lang="en-US" sz="3850" dirty="0"/>
          </a:p>
        </p:txBody>
      </p:sp>
      <p:pic>
        <p:nvPicPr>
          <p:cNvPr id="3" name="Image 0" descr="preencoded.png">    </p:cNvPr>
          <p:cNvPicPr>
            <a:picLocks noChangeAspect="1"/>
          </p:cNvPicPr>
          <p:nvPr/>
        </p:nvPicPr>
        <p:blipFill>
          <a:blip r:embed="rId1"/>
          <a:stretch>
            <a:fillRect/>
          </a:stretch>
        </p:blipFill>
        <p:spPr>
          <a:xfrm>
            <a:off x="863798" y="1825228"/>
            <a:ext cx="5516404" cy="5516404"/>
          </a:xfrm>
          <a:prstGeom prst="rect">
            <a:avLst/>
          </a:prstGeom>
        </p:spPr>
      </p:pic>
      <p:sp>
        <p:nvSpPr>
          <p:cNvPr id="4" name="Text 1"/>
          <p:cNvSpPr/>
          <p:nvPr/>
        </p:nvSpPr>
        <p:spPr>
          <a:xfrm>
            <a:off x="6914793" y="1776651"/>
            <a:ext cx="6859310"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Nobel mükafatı laureatı Herbert Saymon qərar qəbuletmənin daha realist modelini təqdim etdi. O, insanların koqnitiv məhdudiyyətlərə malik olduğunu və bütün məlumatı emal edə bilmədiyini göstərdi.</a:t>
            </a:r>
            <a:endParaRPr lang="en-US" sz="1700" dirty="0"/>
          </a:p>
        </p:txBody>
      </p:sp>
      <p:sp>
        <p:nvSpPr>
          <p:cNvPr id="5" name="Shape 2"/>
          <p:cNvSpPr/>
          <p:nvPr/>
        </p:nvSpPr>
        <p:spPr>
          <a:xfrm>
            <a:off x="6914793" y="2991445"/>
            <a:ext cx="3321725" cy="1908929"/>
          </a:xfrm>
          <a:prstGeom prst="roundRect">
            <a:avLst>
              <a:gd name="adj" fmla="val 1697"/>
            </a:avLst>
          </a:prstGeom>
          <a:solidFill>
            <a:srgbClr val="303132"/>
          </a:solidFill>
          <a:ln/>
        </p:spPr>
      </p:sp>
      <p:sp>
        <p:nvSpPr>
          <p:cNvPr id="6" name="Text 3"/>
          <p:cNvSpPr/>
          <p:nvPr/>
        </p:nvSpPr>
        <p:spPr>
          <a:xfrm>
            <a:off x="7130653" y="3207306"/>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Məhdud Məlumat</a:t>
            </a:r>
            <a:endParaRPr lang="en-US" sz="1900" dirty="0"/>
          </a:p>
        </p:txBody>
      </p:sp>
      <p:sp>
        <p:nvSpPr>
          <p:cNvPr id="7" name="Text 4"/>
          <p:cNvSpPr/>
          <p:nvPr/>
        </p:nvSpPr>
        <p:spPr>
          <a:xfrm>
            <a:off x="7130653" y="3729871"/>
            <a:ext cx="2890004"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Bütün məlumatı toplamaq mümkün deyil</a:t>
            </a:r>
            <a:endParaRPr lang="en-US" sz="1700" dirty="0"/>
          </a:p>
        </p:txBody>
      </p:sp>
      <p:sp>
        <p:nvSpPr>
          <p:cNvPr id="8" name="Shape 5"/>
          <p:cNvSpPr/>
          <p:nvPr/>
        </p:nvSpPr>
        <p:spPr>
          <a:xfrm>
            <a:off x="10452378" y="2991445"/>
            <a:ext cx="3321725" cy="1908929"/>
          </a:xfrm>
          <a:prstGeom prst="roundRect">
            <a:avLst>
              <a:gd name="adj" fmla="val 1697"/>
            </a:avLst>
          </a:prstGeom>
          <a:solidFill>
            <a:srgbClr val="303132"/>
          </a:solidFill>
          <a:ln/>
        </p:spPr>
      </p:sp>
      <p:sp>
        <p:nvSpPr>
          <p:cNvPr id="9" name="Text 6"/>
          <p:cNvSpPr/>
          <p:nvPr/>
        </p:nvSpPr>
        <p:spPr>
          <a:xfrm>
            <a:off x="10668238" y="3207306"/>
            <a:ext cx="2890004"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Koqnitiv Məhdudiyyətlər</a:t>
            </a:r>
            <a:endParaRPr lang="en-US" sz="1900" dirty="0"/>
          </a:p>
        </p:txBody>
      </p:sp>
      <p:sp>
        <p:nvSpPr>
          <p:cNvPr id="10" name="Text 7"/>
          <p:cNvSpPr/>
          <p:nvPr/>
        </p:nvSpPr>
        <p:spPr>
          <a:xfrm>
            <a:off x="10668238" y="4036576"/>
            <a:ext cx="2890004"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İnsan beyni sonsuz alternativ analiz edə bilmir</a:t>
            </a:r>
            <a:endParaRPr lang="en-US" sz="1700" dirty="0"/>
          </a:p>
        </p:txBody>
      </p:sp>
      <p:sp>
        <p:nvSpPr>
          <p:cNvPr id="11" name="Shape 8"/>
          <p:cNvSpPr/>
          <p:nvPr/>
        </p:nvSpPr>
        <p:spPr>
          <a:xfrm>
            <a:off x="6914793" y="5116235"/>
            <a:ext cx="6859310" cy="1278255"/>
          </a:xfrm>
          <a:prstGeom prst="roundRect">
            <a:avLst>
              <a:gd name="adj" fmla="val 2534"/>
            </a:avLst>
          </a:prstGeom>
          <a:solidFill>
            <a:srgbClr val="303132"/>
          </a:solidFill>
          <a:ln/>
        </p:spPr>
      </p:sp>
      <p:sp>
        <p:nvSpPr>
          <p:cNvPr id="12" name="Text 9"/>
          <p:cNvSpPr/>
          <p:nvPr/>
        </p:nvSpPr>
        <p:spPr>
          <a:xfrm>
            <a:off x="7130653" y="5332095"/>
            <a:ext cx="2695337"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"Kifayət Qədər Yaxşı"</a:t>
            </a:r>
            <a:endParaRPr lang="en-US" sz="1900" dirty="0"/>
          </a:p>
        </p:txBody>
      </p:sp>
      <p:sp>
        <p:nvSpPr>
          <p:cNvPr id="13" name="Text 10"/>
          <p:cNvSpPr/>
          <p:nvPr/>
        </p:nvSpPr>
        <p:spPr>
          <a:xfrm>
            <a:off x="7130653" y="5854660"/>
            <a:ext cx="6427589"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İnsanlar optimal deyil, məqbul həll axtarırlar</a:t>
            </a:r>
            <a:endParaRPr lang="en-US" sz="1700" dirty="0"/>
          </a:p>
        </p:txBody>
      </p:sp>
      <p:sp>
        <p:nvSpPr>
          <p:cNvPr id="14" name="Text 11"/>
          <p:cNvSpPr/>
          <p:nvPr/>
        </p:nvSpPr>
        <p:spPr>
          <a:xfrm>
            <a:off x="6914793" y="6637377"/>
            <a:ext cx="6859310"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Bu model real idarəetmə təcrübəsinə daha uyğundur və qərar qəbul edənlərin praktiki davranışlarını daha yaxşı izah edir.</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862251" y="592812"/>
            <a:ext cx="6446163" cy="612338"/>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İntuitiv Qərar Qəbuletmə</a:t>
            </a:r>
            <a:endParaRPr lang="en-US" sz="3850" dirty="0"/>
          </a:p>
        </p:txBody>
      </p:sp>
      <p:sp>
        <p:nvSpPr>
          <p:cNvPr id="3" name="Text 1"/>
          <p:cNvSpPr/>
          <p:nvPr/>
        </p:nvSpPr>
        <p:spPr>
          <a:xfrm>
            <a:off x="862251" y="1635443"/>
            <a:ext cx="12905899" cy="646033"/>
          </a:xfrm>
          <a:prstGeom prst="rect">
            <a:avLst/>
          </a:prstGeom>
          <a:noFill/>
          <a:ln/>
        </p:spPr>
        <p:txBody>
          <a:bodyPr wrap="square" lIns="0" tIns="0" rIns="0" bIns="0" rtlCol="0" anchor="t"/>
          <a:lstStyle/>
          <a:p>
            <a:pPr algn="l" indent="0" marL="0">
              <a:lnSpc>
                <a:spcPts val="2500"/>
              </a:lnSpc>
              <a:buNone/>
            </a:pPr>
            <a:r>
              <a:rPr lang="en-US" sz="1650" dirty="0">
                <a:solidFill>
                  <a:srgbClr val="E2E6E9"/>
                </a:solidFill>
                <a:latin typeface="Source Sans 3" pitchFamily="34" charset="0"/>
                <a:ea typeface="Source Sans 3" pitchFamily="34" charset="-122"/>
                <a:cs typeface="Source Sans 3" pitchFamily="34" charset="-120"/>
              </a:rPr>
              <a:t>İntuitiv qərar qəbuletmə təcrübəyə, tanınmış nümunələrə və şüuraltı siqnallara əsaslanır. Bu yanaşma xüsusilə vaxt məhdudiyyəti və qeyri-müəyyənlik şəraitində kritik əhəmiyyət kəsb edir.</a:t>
            </a:r>
            <a:endParaRPr lang="en-US" sz="1650" dirty="0"/>
          </a:p>
        </p:txBody>
      </p:sp>
      <p:pic>
        <p:nvPicPr>
          <p:cNvPr id="4" name="Image 0" descr="preencoded.png">    </p:cNvPr>
          <p:cNvPicPr>
            <a:picLocks noChangeAspect="1"/>
          </p:cNvPicPr>
          <p:nvPr/>
        </p:nvPicPr>
        <p:blipFill>
          <a:blip r:embed="rId1"/>
          <a:stretch>
            <a:fillRect/>
          </a:stretch>
        </p:blipFill>
        <p:spPr>
          <a:xfrm>
            <a:off x="862251" y="2523530"/>
            <a:ext cx="2391132" cy="2391132"/>
          </a:xfrm>
          <a:prstGeom prst="rect">
            <a:avLst/>
          </a:prstGeom>
        </p:spPr>
      </p:pic>
      <p:sp>
        <p:nvSpPr>
          <p:cNvPr id="5" name="Text 2"/>
          <p:cNvSpPr/>
          <p:nvPr/>
        </p:nvSpPr>
        <p:spPr>
          <a:xfrm>
            <a:off x="862251" y="5183624"/>
            <a:ext cx="2816662" cy="306229"/>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Təcrübə və Ekspertiza</a:t>
            </a:r>
            <a:endParaRPr lang="en-US" sz="1900" dirty="0"/>
          </a:p>
        </p:txBody>
      </p:sp>
      <p:sp>
        <p:nvSpPr>
          <p:cNvPr id="6" name="Text 3"/>
          <p:cNvSpPr/>
          <p:nvPr/>
        </p:nvSpPr>
        <p:spPr>
          <a:xfrm>
            <a:off x="862251" y="5618917"/>
            <a:ext cx="4122658" cy="969050"/>
          </a:xfrm>
          <a:prstGeom prst="rect">
            <a:avLst/>
          </a:prstGeom>
          <a:noFill/>
          <a:ln/>
        </p:spPr>
        <p:txBody>
          <a:bodyPr wrap="square" lIns="0" tIns="0" rIns="0" bIns="0" rtlCol="0" anchor="t"/>
          <a:lstStyle/>
          <a:p>
            <a:pPr algn="l" indent="0" marL="0">
              <a:lnSpc>
                <a:spcPts val="2500"/>
              </a:lnSpc>
              <a:buNone/>
            </a:pPr>
            <a:r>
              <a:rPr lang="en-US" sz="1650" dirty="0">
                <a:solidFill>
                  <a:srgbClr val="E2E6E9"/>
                </a:solidFill>
                <a:latin typeface="Source Sans 3" pitchFamily="34" charset="0"/>
                <a:ea typeface="Source Sans 3" pitchFamily="34" charset="-122"/>
                <a:cs typeface="Source Sans 3" pitchFamily="34" charset="-120"/>
              </a:rPr>
              <a:t>Uzun illər ərzində toplanmış bilik və təcrübə intuisiyanın əsasını təşkil edir. Ekspertlər oxşar situasiyaları sürətlə tanıyır.</a:t>
            </a:r>
            <a:endParaRPr lang="en-US" sz="1650" dirty="0"/>
          </a:p>
        </p:txBody>
      </p:sp>
      <p:pic>
        <p:nvPicPr>
          <p:cNvPr id="7" name="Image 1" descr="preencoded.png">    </p:cNvPr>
          <p:cNvPicPr>
            <a:picLocks noChangeAspect="1"/>
          </p:cNvPicPr>
          <p:nvPr/>
        </p:nvPicPr>
        <p:blipFill>
          <a:blip r:embed="rId2"/>
          <a:stretch>
            <a:fillRect/>
          </a:stretch>
        </p:blipFill>
        <p:spPr>
          <a:xfrm>
            <a:off x="5253871" y="2523530"/>
            <a:ext cx="2391132" cy="2391132"/>
          </a:xfrm>
          <a:prstGeom prst="rect">
            <a:avLst/>
          </a:prstGeom>
        </p:spPr>
      </p:pic>
      <p:sp>
        <p:nvSpPr>
          <p:cNvPr id="8" name="Text 4"/>
          <p:cNvSpPr/>
          <p:nvPr/>
        </p:nvSpPr>
        <p:spPr>
          <a:xfrm>
            <a:off x="5253871" y="5183624"/>
            <a:ext cx="2924532" cy="306229"/>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Patternlərin Tanınması</a:t>
            </a:r>
            <a:endParaRPr lang="en-US" sz="1900" dirty="0"/>
          </a:p>
        </p:txBody>
      </p:sp>
      <p:sp>
        <p:nvSpPr>
          <p:cNvPr id="9" name="Text 5"/>
          <p:cNvSpPr/>
          <p:nvPr/>
        </p:nvSpPr>
        <p:spPr>
          <a:xfrm>
            <a:off x="5253871" y="5618917"/>
            <a:ext cx="4122658" cy="969050"/>
          </a:xfrm>
          <a:prstGeom prst="rect">
            <a:avLst/>
          </a:prstGeom>
          <a:noFill/>
          <a:ln/>
        </p:spPr>
        <p:txBody>
          <a:bodyPr wrap="square" lIns="0" tIns="0" rIns="0" bIns="0" rtlCol="0" anchor="t"/>
          <a:lstStyle/>
          <a:p>
            <a:pPr algn="l" indent="0" marL="0">
              <a:lnSpc>
                <a:spcPts val="2500"/>
              </a:lnSpc>
              <a:buNone/>
            </a:pPr>
            <a:r>
              <a:rPr lang="en-US" sz="1650" dirty="0">
                <a:solidFill>
                  <a:srgbClr val="E2E6E9"/>
                </a:solidFill>
                <a:latin typeface="Source Sans 3" pitchFamily="34" charset="0"/>
                <a:ea typeface="Source Sans 3" pitchFamily="34" charset="-122"/>
                <a:cs typeface="Source Sans 3" pitchFamily="34" charset="-120"/>
              </a:rPr>
              <a:t>Beyinimiz keçmiş situasiyalardan nümunələr çıxarır və onları yeni hallara tətbiq edir. Bu proses şüuraltı səviyyədə baş verir.</a:t>
            </a:r>
            <a:endParaRPr lang="en-US" sz="1650" dirty="0"/>
          </a:p>
        </p:txBody>
      </p:sp>
      <p:pic>
        <p:nvPicPr>
          <p:cNvPr id="10" name="Image 2" descr="preencoded.png">    </p:cNvPr>
          <p:cNvPicPr>
            <a:picLocks noChangeAspect="1"/>
          </p:cNvPicPr>
          <p:nvPr/>
        </p:nvPicPr>
        <p:blipFill>
          <a:blip r:embed="rId3"/>
          <a:stretch>
            <a:fillRect/>
          </a:stretch>
        </p:blipFill>
        <p:spPr>
          <a:xfrm>
            <a:off x="9645491" y="2523530"/>
            <a:ext cx="2391132" cy="2391132"/>
          </a:xfrm>
          <a:prstGeom prst="rect">
            <a:avLst/>
          </a:prstGeom>
        </p:spPr>
      </p:pic>
      <p:sp>
        <p:nvSpPr>
          <p:cNvPr id="11" name="Text 6"/>
          <p:cNvSpPr/>
          <p:nvPr/>
        </p:nvSpPr>
        <p:spPr>
          <a:xfrm>
            <a:off x="9645491" y="5183624"/>
            <a:ext cx="2449711" cy="306229"/>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Şüuraltı Siqnallar</a:t>
            </a:r>
            <a:endParaRPr lang="en-US" sz="1900" dirty="0"/>
          </a:p>
        </p:txBody>
      </p:sp>
      <p:sp>
        <p:nvSpPr>
          <p:cNvPr id="12" name="Text 7"/>
          <p:cNvSpPr/>
          <p:nvPr/>
        </p:nvSpPr>
        <p:spPr>
          <a:xfrm>
            <a:off x="9645491" y="5618917"/>
            <a:ext cx="4122658" cy="969050"/>
          </a:xfrm>
          <a:prstGeom prst="rect">
            <a:avLst/>
          </a:prstGeom>
          <a:noFill/>
          <a:ln/>
        </p:spPr>
        <p:txBody>
          <a:bodyPr wrap="square" lIns="0" tIns="0" rIns="0" bIns="0" rtlCol="0" anchor="t"/>
          <a:lstStyle/>
          <a:p>
            <a:pPr algn="l" indent="0" marL="0">
              <a:lnSpc>
                <a:spcPts val="2500"/>
              </a:lnSpc>
              <a:buNone/>
            </a:pPr>
            <a:r>
              <a:rPr lang="en-US" sz="1650" dirty="0">
                <a:solidFill>
                  <a:srgbClr val="E2E6E9"/>
                </a:solidFill>
                <a:latin typeface="Source Sans 3" pitchFamily="34" charset="0"/>
                <a:ea typeface="Source Sans 3" pitchFamily="34" charset="-122"/>
                <a:cs typeface="Source Sans 3" pitchFamily="34" charset="-120"/>
              </a:rPr>
              <a:t>Bədənimiz və beyinimiz ətrafdakı gizli məlumatları qəbul edərək qərar prosesində istifadə edir.</a:t>
            </a:r>
            <a:endParaRPr lang="en-US" sz="1650" dirty="0"/>
          </a:p>
        </p:txBody>
      </p:sp>
      <p:sp>
        <p:nvSpPr>
          <p:cNvPr id="13" name="Text 8"/>
          <p:cNvSpPr/>
          <p:nvPr/>
        </p:nvSpPr>
        <p:spPr>
          <a:xfrm>
            <a:off x="1185505" y="7072074"/>
            <a:ext cx="12582644" cy="323017"/>
          </a:xfrm>
          <a:prstGeom prst="rect">
            <a:avLst/>
          </a:prstGeom>
          <a:noFill/>
          <a:ln/>
        </p:spPr>
        <p:txBody>
          <a:bodyPr wrap="none" lIns="0" tIns="0" rIns="0" bIns="0" rtlCol="0" anchor="t"/>
          <a:lstStyle/>
          <a:p>
            <a:pPr algn="l" indent="0" marL="0">
              <a:lnSpc>
                <a:spcPts val="2500"/>
              </a:lnSpc>
              <a:buNone/>
            </a:pPr>
            <a:r>
              <a:rPr lang="en-US" sz="1650" dirty="0">
                <a:solidFill>
                  <a:srgbClr val="E2E6E9"/>
                </a:solidFill>
                <a:latin typeface="Source Sans 3" pitchFamily="34" charset="0"/>
                <a:ea typeface="Source Sans 3" pitchFamily="34" charset="-122"/>
                <a:cs typeface="Source Sans 3" pitchFamily="34" charset="-120"/>
              </a:rPr>
              <a:t>Qeyri-müəyyənlik və sürətli reaksiya tələb edən hallarda intuitiv qərar qəbuletmə ən effektiv üsul ola bilər.</a:t>
            </a:r>
            <a:endParaRPr lang="en-US" sz="1650" dirty="0"/>
          </a:p>
        </p:txBody>
      </p:sp>
      <p:sp>
        <p:nvSpPr>
          <p:cNvPr id="14" name="Shape 9"/>
          <p:cNvSpPr/>
          <p:nvPr/>
        </p:nvSpPr>
        <p:spPr>
          <a:xfrm>
            <a:off x="862251" y="6830020"/>
            <a:ext cx="30480" cy="807125"/>
          </a:xfrm>
          <a:prstGeom prst="rect">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182654" y="1168956"/>
            <a:ext cx="1128355" cy="228481"/>
          </a:xfrm>
          <a:prstGeom prst="roundRect">
            <a:avLst>
              <a:gd name="adj" fmla="val 7520"/>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68498" y="1225868"/>
            <a:ext cx="114538" cy="114538"/>
          </a:xfrm>
          <a:prstGeom prst="rect">
            <a:avLst/>
          </a:prstGeom>
        </p:spPr>
      </p:pic>
      <p:sp>
        <p:nvSpPr>
          <p:cNvPr id="4" name="Text 1"/>
          <p:cNvSpPr/>
          <p:nvPr/>
        </p:nvSpPr>
        <p:spPr>
          <a:xfrm>
            <a:off x="2440305" y="1211818"/>
            <a:ext cx="784860" cy="142756"/>
          </a:xfrm>
          <a:prstGeom prst="rect">
            <a:avLst/>
          </a:prstGeom>
          <a:noFill/>
          <a:ln/>
        </p:spPr>
        <p:txBody>
          <a:bodyPr wrap="none" lIns="0" tIns="0" rIns="0" bIns="0" rtlCol="0" anchor="t"/>
          <a:lstStyle/>
          <a:p>
            <a:pPr algn="l" indent="0" marL="0">
              <a:lnSpc>
                <a:spcPts val="1100"/>
              </a:lnSpc>
              <a:buNone/>
            </a:pPr>
            <a:r>
              <a:rPr lang="en-US" sz="900" dirty="0">
                <a:solidFill>
                  <a:srgbClr val="E2E6E9"/>
                </a:solidFill>
                <a:latin typeface="Source Sans 3" pitchFamily="34" charset="0"/>
                <a:ea typeface="Source Sans 3" pitchFamily="34" charset="-122"/>
                <a:cs typeface="Source Sans 3" pitchFamily="34" charset="-120"/>
              </a:rPr>
              <a:t>SÜNI İNTELLEKT</a:t>
            </a:r>
            <a:endParaRPr lang="en-US" sz="900" dirty="0"/>
          </a:p>
        </p:txBody>
      </p:sp>
      <p:sp>
        <p:nvSpPr>
          <p:cNvPr id="5" name="Text 2"/>
          <p:cNvSpPr/>
          <p:nvPr/>
        </p:nvSpPr>
        <p:spPr>
          <a:xfrm>
            <a:off x="2182654" y="1435298"/>
            <a:ext cx="5701546" cy="406718"/>
          </a:xfrm>
          <a:prstGeom prst="rect">
            <a:avLst/>
          </a:prstGeom>
          <a:noFill/>
          <a:ln/>
        </p:spPr>
        <p:txBody>
          <a:bodyPr wrap="none" lIns="0" tIns="0" rIns="0" bIns="0" rtlCol="0" anchor="t"/>
          <a:lstStyle/>
          <a:p>
            <a:pPr algn="l" indent="0" marL="0">
              <a:lnSpc>
                <a:spcPts val="3200"/>
              </a:lnSpc>
              <a:buNone/>
            </a:pPr>
            <a:r>
              <a:rPr lang="en-US" sz="2550" b="1" dirty="0">
                <a:solidFill>
                  <a:srgbClr val="FFFFFF"/>
                </a:solidFill>
                <a:latin typeface="Montserrat Bold" pitchFamily="34" charset="0"/>
                <a:ea typeface="Montserrat Bold" pitchFamily="34" charset="-122"/>
                <a:cs typeface="Montserrat Bold" pitchFamily="34" charset="-120"/>
              </a:rPr>
              <a:t>SI Klassik Modelləri Necə Dəyişir?</a:t>
            </a:r>
            <a:endParaRPr lang="en-US" sz="2550" dirty="0"/>
          </a:p>
        </p:txBody>
      </p:sp>
      <p:sp>
        <p:nvSpPr>
          <p:cNvPr id="6" name="Text 3"/>
          <p:cNvSpPr/>
          <p:nvPr/>
        </p:nvSpPr>
        <p:spPr>
          <a:xfrm>
            <a:off x="2182654" y="1984296"/>
            <a:ext cx="10264973" cy="357188"/>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Süni İntellekt texnologiyaları qərar qəbuletmə proseslərini fundamental şəkildə təkmilləşdirir. SI sistemləri insan qabiliyyətlərindən xeyli üstün sürət və həcmdə məlumat emal edə bilir.</a:t>
            </a:r>
            <a:endParaRPr lang="en-US" sz="1100" dirty="0"/>
          </a:p>
        </p:txBody>
      </p:sp>
      <p:sp>
        <p:nvSpPr>
          <p:cNvPr id="7" name="Shape 4"/>
          <p:cNvSpPr/>
          <p:nvPr/>
        </p:nvSpPr>
        <p:spPr>
          <a:xfrm>
            <a:off x="2182654" y="2448163"/>
            <a:ext cx="10264973" cy="1414701"/>
          </a:xfrm>
          <a:prstGeom prst="roundRect">
            <a:avLst>
              <a:gd name="adj" fmla="val 1518"/>
            </a:avLst>
          </a:prstGeom>
          <a:solidFill>
            <a:srgbClr val="111213"/>
          </a:solidFill>
          <a:ln w="15240">
            <a:solidFill>
              <a:srgbClr val="494A4B"/>
            </a:solidFill>
            <a:prstDash val="solid"/>
          </a:ln>
        </p:spPr>
      </p:sp>
      <p:sp>
        <p:nvSpPr>
          <p:cNvPr id="8" name="Shape 5"/>
          <p:cNvSpPr/>
          <p:nvPr/>
        </p:nvSpPr>
        <p:spPr>
          <a:xfrm>
            <a:off x="2197894" y="2463403"/>
            <a:ext cx="572691" cy="1384221"/>
          </a:xfrm>
          <a:prstGeom prst="roundRect">
            <a:avLst>
              <a:gd name="adj" fmla="val 557"/>
            </a:avLst>
          </a:prstGeom>
          <a:solidFill>
            <a:srgbClr val="303132"/>
          </a:solidFill>
          <a:ln/>
        </p:spPr>
      </p:sp>
      <p:sp>
        <p:nvSpPr>
          <p:cNvPr id="9" name="Text 6"/>
          <p:cNvSpPr/>
          <p:nvPr/>
        </p:nvSpPr>
        <p:spPr>
          <a:xfrm>
            <a:off x="2376845" y="3021330"/>
            <a:ext cx="214670" cy="268367"/>
          </a:xfrm>
          <a:prstGeom prst="rect">
            <a:avLst/>
          </a:prstGeom>
          <a:noFill/>
          <a:ln/>
        </p:spPr>
        <p:txBody>
          <a:bodyPr wrap="none" lIns="0" tIns="0" rIns="0" bIns="0" rtlCol="0" anchor="t"/>
          <a:lstStyle/>
          <a:p>
            <a:pPr algn="l" indent="0" marL="0">
              <a:lnSpc>
                <a:spcPts val="1650"/>
              </a:lnSpc>
              <a:buNone/>
            </a:pPr>
            <a:r>
              <a:rPr lang="en-US" sz="1650" b="1" dirty="0">
                <a:solidFill>
                  <a:srgbClr val="E2E6E9"/>
                </a:solidFill>
                <a:latin typeface="Montserrat Bold" pitchFamily="34" charset="0"/>
                <a:ea typeface="Montserrat Bold" pitchFamily="34" charset="-122"/>
                <a:cs typeface="Montserrat Bold" pitchFamily="34" charset="-120"/>
              </a:rPr>
              <a:t>1</a:t>
            </a:r>
            <a:endParaRPr lang="en-US" sz="1650" dirty="0"/>
          </a:p>
        </p:txBody>
      </p:sp>
      <p:sp>
        <p:nvSpPr>
          <p:cNvPr id="10" name="Text 7"/>
          <p:cNvSpPr/>
          <p:nvPr/>
        </p:nvSpPr>
        <p:spPr>
          <a:xfrm>
            <a:off x="2865477" y="2606516"/>
            <a:ext cx="2349103" cy="203359"/>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Böyük Məlumatların Analizi</a:t>
            </a:r>
            <a:endParaRPr lang="en-US" sz="1250" dirty="0"/>
          </a:p>
        </p:txBody>
      </p:sp>
      <p:sp>
        <p:nvSpPr>
          <p:cNvPr id="11" name="Text 8"/>
          <p:cNvSpPr/>
          <p:nvPr/>
        </p:nvSpPr>
        <p:spPr>
          <a:xfrm>
            <a:off x="2865477" y="2866787"/>
            <a:ext cx="9423797" cy="178594"/>
          </a:xfrm>
          <a:prstGeom prst="rect">
            <a:avLst/>
          </a:prstGeom>
          <a:noFill/>
          <a:ln/>
        </p:spPr>
        <p:txBody>
          <a:bodyPr wrap="non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SI milyonlarla məlumat nöqtəsini saniyələr ərzində analiz edə bilir. Bu, klassik modeldə nəzərdə tutulan "tam məlumat" idealına yaxınlaşmağa imkan verir.</a:t>
            </a:r>
            <a:endParaRPr lang="en-US" sz="1100" dirty="0"/>
          </a:p>
        </p:txBody>
      </p:sp>
      <p:sp>
        <p:nvSpPr>
          <p:cNvPr id="12" name="Text 9"/>
          <p:cNvSpPr/>
          <p:nvPr/>
        </p:nvSpPr>
        <p:spPr>
          <a:xfrm>
            <a:off x="2865477" y="3102293"/>
            <a:ext cx="9423797" cy="602218"/>
          </a:xfrm>
          <a:prstGeom prst="rect">
            <a:avLst/>
          </a:prstGeom>
          <a:noFill/>
          <a:ln/>
        </p:spPr>
        <p:txBody>
          <a:bodyPr wrap="square" lIns="0" tIns="0" rIns="0" bIns="0" rtlCol="0" anchor="t"/>
          <a:lstStyle/>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Struktur və qeyri-struktur məlumatların eyni vaxtda işlənməsi</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Real vaxt rejimdə məlumat yeniləməsi və analizi</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Gizli korrelyasiyaların və tendensiyaların aşkarlanması</a:t>
            </a:r>
            <a:endParaRPr lang="en-US" sz="1100" dirty="0"/>
          </a:p>
        </p:txBody>
      </p:sp>
      <p:sp>
        <p:nvSpPr>
          <p:cNvPr id="13" name="Shape 10"/>
          <p:cNvSpPr/>
          <p:nvPr/>
        </p:nvSpPr>
        <p:spPr>
          <a:xfrm>
            <a:off x="2182654" y="3957757"/>
            <a:ext cx="10264973" cy="1593294"/>
          </a:xfrm>
          <a:prstGeom prst="roundRect">
            <a:avLst>
              <a:gd name="adj" fmla="val 1348"/>
            </a:avLst>
          </a:prstGeom>
          <a:solidFill>
            <a:srgbClr val="111213"/>
          </a:solidFill>
          <a:ln w="15240">
            <a:solidFill>
              <a:srgbClr val="494A4B"/>
            </a:solidFill>
            <a:prstDash val="solid"/>
          </a:ln>
        </p:spPr>
      </p:sp>
      <p:sp>
        <p:nvSpPr>
          <p:cNvPr id="14" name="Shape 11"/>
          <p:cNvSpPr/>
          <p:nvPr/>
        </p:nvSpPr>
        <p:spPr>
          <a:xfrm>
            <a:off x="2197894" y="3972997"/>
            <a:ext cx="572691" cy="1562814"/>
          </a:xfrm>
          <a:prstGeom prst="roundRect">
            <a:avLst>
              <a:gd name="adj" fmla="val 557"/>
            </a:avLst>
          </a:prstGeom>
          <a:solidFill>
            <a:srgbClr val="303132"/>
          </a:solidFill>
          <a:ln/>
        </p:spPr>
      </p:sp>
      <p:sp>
        <p:nvSpPr>
          <p:cNvPr id="15" name="Text 12"/>
          <p:cNvSpPr/>
          <p:nvPr/>
        </p:nvSpPr>
        <p:spPr>
          <a:xfrm>
            <a:off x="2376845" y="4620220"/>
            <a:ext cx="214670" cy="268367"/>
          </a:xfrm>
          <a:prstGeom prst="rect">
            <a:avLst/>
          </a:prstGeom>
          <a:noFill/>
          <a:ln/>
        </p:spPr>
        <p:txBody>
          <a:bodyPr wrap="none" lIns="0" tIns="0" rIns="0" bIns="0" rtlCol="0" anchor="t"/>
          <a:lstStyle/>
          <a:p>
            <a:pPr algn="l" indent="0" marL="0">
              <a:lnSpc>
                <a:spcPts val="1650"/>
              </a:lnSpc>
              <a:buNone/>
            </a:pPr>
            <a:r>
              <a:rPr lang="en-US" sz="1650" b="1" dirty="0">
                <a:solidFill>
                  <a:srgbClr val="E2E6E9"/>
                </a:solidFill>
                <a:latin typeface="Montserrat Bold" pitchFamily="34" charset="0"/>
                <a:ea typeface="Montserrat Bold" pitchFamily="34" charset="-122"/>
                <a:cs typeface="Montserrat Bold" pitchFamily="34" charset="-120"/>
              </a:rPr>
              <a:t>2</a:t>
            </a:r>
            <a:endParaRPr lang="en-US" sz="1650" dirty="0"/>
          </a:p>
        </p:txBody>
      </p:sp>
      <p:sp>
        <p:nvSpPr>
          <p:cNvPr id="16" name="Text 13"/>
          <p:cNvSpPr/>
          <p:nvPr/>
        </p:nvSpPr>
        <p:spPr>
          <a:xfrm>
            <a:off x="2865477" y="4116110"/>
            <a:ext cx="2945606" cy="203359"/>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Alternativlərin Sürətli Generasiyası</a:t>
            </a:r>
            <a:endParaRPr lang="en-US" sz="1250" dirty="0"/>
          </a:p>
        </p:txBody>
      </p:sp>
      <p:sp>
        <p:nvSpPr>
          <p:cNvPr id="17" name="Text 14"/>
          <p:cNvSpPr/>
          <p:nvPr/>
        </p:nvSpPr>
        <p:spPr>
          <a:xfrm>
            <a:off x="2865477" y="4376380"/>
            <a:ext cx="9423797" cy="357188"/>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Maşın öyrənməsi alqoritmləri minlərlə alternativ ssenari yarada və dəyərləndirə bilir. Bu proses insan üçün günlər və həftələr tələb edəcək işi dəqiqələrdə yerinə yetirir.</a:t>
            </a:r>
            <a:endParaRPr lang="en-US" sz="1100" dirty="0"/>
          </a:p>
        </p:txBody>
      </p:sp>
      <p:sp>
        <p:nvSpPr>
          <p:cNvPr id="18" name="Text 15"/>
          <p:cNvSpPr/>
          <p:nvPr/>
        </p:nvSpPr>
        <p:spPr>
          <a:xfrm>
            <a:off x="2865477" y="4790480"/>
            <a:ext cx="9423797" cy="602218"/>
          </a:xfrm>
          <a:prstGeom prst="rect">
            <a:avLst/>
          </a:prstGeom>
          <a:noFill/>
          <a:ln/>
        </p:spPr>
        <p:txBody>
          <a:bodyPr wrap="square" lIns="0" tIns="0" rIns="0" bIns="0" rtlCol="0" anchor="t"/>
          <a:lstStyle/>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Avtomatik simulyasiya və modelləşdirmə</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Optimal həllərin müəyyənləşdirilməsi</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Risk və məhdudiyyətlərin nəzərə alınması</a:t>
            </a:r>
            <a:endParaRPr lang="en-US" sz="1100" dirty="0"/>
          </a:p>
        </p:txBody>
      </p:sp>
      <p:sp>
        <p:nvSpPr>
          <p:cNvPr id="19" name="Shape 16"/>
          <p:cNvSpPr/>
          <p:nvPr/>
        </p:nvSpPr>
        <p:spPr>
          <a:xfrm>
            <a:off x="2182654" y="5645944"/>
            <a:ext cx="10264973" cy="1414701"/>
          </a:xfrm>
          <a:prstGeom prst="roundRect">
            <a:avLst>
              <a:gd name="adj" fmla="val 1518"/>
            </a:avLst>
          </a:prstGeom>
          <a:solidFill>
            <a:srgbClr val="111213"/>
          </a:solidFill>
          <a:ln w="15240">
            <a:solidFill>
              <a:srgbClr val="494A4B"/>
            </a:solidFill>
            <a:prstDash val="solid"/>
          </a:ln>
        </p:spPr>
      </p:sp>
      <p:sp>
        <p:nvSpPr>
          <p:cNvPr id="20" name="Shape 17"/>
          <p:cNvSpPr/>
          <p:nvPr/>
        </p:nvSpPr>
        <p:spPr>
          <a:xfrm>
            <a:off x="2197894" y="5661184"/>
            <a:ext cx="572691" cy="1384221"/>
          </a:xfrm>
          <a:prstGeom prst="roundRect">
            <a:avLst>
              <a:gd name="adj" fmla="val 557"/>
            </a:avLst>
          </a:prstGeom>
          <a:solidFill>
            <a:srgbClr val="303132"/>
          </a:solidFill>
          <a:ln/>
        </p:spPr>
      </p:sp>
      <p:sp>
        <p:nvSpPr>
          <p:cNvPr id="21" name="Text 18"/>
          <p:cNvSpPr/>
          <p:nvPr/>
        </p:nvSpPr>
        <p:spPr>
          <a:xfrm>
            <a:off x="2376845" y="6219111"/>
            <a:ext cx="214670" cy="268367"/>
          </a:xfrm>
          <a:prstGeom prst="rect">
            <a:avLst/>
          </a:prstGeom>
          <a:noFill/>
          <a:ln/>
        </p:spPr>
        <p:txBody>
          <a:bodyPr wrap="none" lIns="0" tIns="0" rIns="0" bIns="0" rtlCol="0" anchor="t"/>
          <a:lstStyle/>
          <a:p>
            <a:pPr algn="l" indent="0" marL="0">
              <a:lnSpc>
                <a:spcPts val="1650"/>
              </a:lnSpc>
              <a:buNone/>
            </a:pPr>
            <a:r>
              <a:rPr lang="en-US" sz="1650" b="1" dirty="0">
                <a:solidFill>
                  <a:srgbClr val="E2E6E9"/>
                </a:solidFill>
                <a:latin typeface="Montserrat Bold" pitchFamily="34" charset="0"/>
                <a:ea typeface="Montserrat Bold" pitchFamily="34" charset="-122"/>
                <a:cs typeface="Montserrat Bold" pitchFamily="34" charset="-120"/>
              </a:rPr>
              <a:t>3</a:t>
            </a:r>
            <a:endParaRPr lang="en-US" sz="1650" dirty="0"/>
          </a:p>
        </p:txBody>
      </p:sp>
      <p:sp>
        <p:nvSpPr>
          <p:cNvPr id="22" name="Text 19"/>
          <p:cNvSpPr/>
          <p:nvPr/>
        </p:nvSpPr>
        <p:spPr>
          <a:xfrm>
            <a:off x="2865477" y="5804297"/>
            <a:ext cx="2178487" cy="203359"/>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Proqnozlaşdırıcı Analitika</a:t>
            </a:r>
            <a:endParaRPr lang="en-US" sz="1250" dirty="0"/>
          </a:p>
        </p:txBody>
      </p:sp>
      <p:sp>
        <p:nvSpPr>
          <p:cNvPr id="23" name="Text 20"/>
          <p:cNvSpPr/>
          <p:nvPr/>
        </p:nvSpPr>
        <p:spPr>
          <a:xfrm>
            <a:off x="2865477" y="6064568"/>
            <a:ext cx="9423797" cy="178594"/>
          </a:xfrm>
          <a:prstGeom prst="rect">
            <a:avLst/>
          </a:prstGeom>
          <a:noFill/>
          <a:ln/>
        </p:spPr>
        <p:txBody>
          <a:bodyPr wrap="non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SI tarixi məlumatlardan öyrənərək gələcək nəticələri yüksək dəqiqliklə proqnozlaşdırır. Bu qabiliyyət qərarların keyfiyyətini əhəmiyyətli dərəcədə artırır.</a:t>
            </a:r>
            <a:endParaRPr lang="en-US" sz="1100" dirty="0"/>
          </a:p>
        </p:txBody>
      </p:sp>
      <p:sp>
        <p:nvSpPr>
          <p:cNvPr id="24" name="Text 21"/>
          <p:cNvSpPr/>
          <p:nvPr/>
        </p:nvSpPr>
        <p:spPr>
          <a:xfrm>
            <a:off x="2865477" y="6300073"/>
            <a:ext cx="9423797" cy="602218"/>
          </a:xfrm>
          <a:prstGeom prst="rect">
            <a:avLst/>
          </a:prstGeom>
          <a:noFill/>
          <a:ln/>
        </p:spPr>
        <p:txBody>
          <a:bodyPr wrap="square" lIns="0" tIns="0" rIns="0" bIns="0" rtlCol="0" anchor="t"/>
          <a:lstStyle/>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Trend və mustəqil dəyişənlərin təhlili</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Müxtəlif ssenarilərin ehtimal paylanması</a:t>
            </a:r>
            <a:endParaRPr lang="en-US" sz="1100" dirty="0"/>
          </a:p>
          <a:p>
            <a:pPr algn="l" marL="342900" indent="-342900">
              <a:lnSpc>
                <a:spcPts val="1400"/>
              </a:lnSpc>
              <a:buSzPct val="100000"/>
              <a:buChar char="•"/>
            </a:pPr>
            <a:r>
              <a:rPr lang="en-US" sz="1100" dirty="0">
                <a:solidFill>
                  <a:srgbClr val="E2E6E9"/>
                </a:solidFill>
                <a:latin typeface="Source Sans 3" pitchFamily="34" charset="0"/>
                <a:ea typeface="Source Sans 3" pitchFamily="34" charset="-122"/>
                <a:cs typeface="Source Sans 3" pitchFamily="34" charset="-120"/>
              </a:rPr>
              <a:t>Erkən xəbərdarlıq sistemləri</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059805" y="1905833"/>
            <a:ext cx="6231374" cy="407313"/>
          </a:xfrm>
          <a:prstGeom prst="rect">
            <a:avLst/>
          </a:prstGeom>
          <a:noFill/>
          <a:ln/>
        </p:spPr>
        <p:txBody>
          <a:bodyPr wrap="none" lIns="0" tIns="0" rIns="0" bIns="0" rtlCol="0" anchor="t"/>
          <a:lstStyle/>
          <a:p>
            <a:pPr algn="l" indent="0" marL="0">
              <a:lnSpc>
                <a:spcPts val="3200"/>
              </a:lnSpc>
              <a:buNone/>
            </a:pPr>
            <a:r>
              <a:rPr lang="en-US" sz="2550" b="1" dirty="0">
                <a:solidFill>
                  <a:srgbClr val="FFFFFF"/>
                </a:solidFill>
                <a:latin typeface="Montserrat Bold" pitchFamily="34" charset="0"/>
                <a:ea typeface="Montserrat Bold" pitchFamily="34" charset="-122"/>
                <a:cs typeface="Montserrat Bold" pitchFamily="34" charset="-120"/>
              </a:rPr>
              <a:t>Hibrid Model: İnsan + SI Əməkdaşlığı</a:t>
            </a:r>
            <a:endParaRPr lang="en-US" sz="2550" dirty="0"/>
          </a:p>
        </p:txBody>
      </p:sp>
      <p:sp>
        <p:nvSpPr>
          <p:cNvPr id="4" name="Text 1"/>
          <p:cNvSpPr/>
          <p:nvPr/>
        </p:nvSpPr>
        <p:spPr>
          <a:xfrm>
            <a:off x="6059805" y="2455783"/>
            <a:ext cx="7997190"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Ən effektiv qərar qəbuletmə yanaşması insanın güclü tərəflərini Süni İntellektin imkanları ilə birləşdirən hibrid modeldir. Bu modeldə hər tərəf öz üstünlüklərini təqdim edir.</a:t>
            </a:r>
            <a:endParaRPr lang="en-US" sz="1100" dirty="0"/>
          </a:p>
        </p:txBody>
      </p:sp>
      <p:sp>
        <p:nvSpPr>
          <p:cNvPr id="5" name="Text 2"/>
          <p:cNvSpPr/>
          <p:nvPr/>
        </p:nvSpPr>
        <p:spPr>
          <a:xfrm>
            <a:off x="6059805" y="3015615"/>
            <a:ext cx="2079665" cy="244316"/>
          </a:xfrm>
          <a:prstGeom prst="rect">
            <a:avLst/>
          </a:prstGeom>
          <a:noFill/>
          <a:ln/>
        </p:spPr>
        <p:txBody>
          <a:bodyPr wrap="none" lIns="0" tIns="0" rIns="0" bIns="0" rtlCol="0" anchor="t"/>
          <a:lstStyle/>
          <a:p>
            <a:pPr algn="l" indent="0" marL="0">
              <a:lnSpc>
                <a:spcPts val="1900"/>
              </a:lnSpc>
              <a:buNone/>
            </a:pPr>
            <a:r>
              <a:rPr lang="en-US" sz="1500" b="1" dirty="0">
                <a:solidFill>
                  <a:srgbClr val="FFFFFF"/>
                </a:solidFill>
                <a:latin typeface="Montserrat Bold" pitchFamily="34" charset="0"/>
                <a:ea typeface="Montserrat Bold" pitchFamily="34" charset="-122"/>
                <a:cs typeface="Montserrat Bold" pitchFamily="34" charset="-120"/>
              </a:rPr>
              <a:t>Süni İntellektin Rolu</a:t>
            </a:r>
            <a:endParaRPr lang="en-US" sz="1500" dirty="0"/>
          </a:p>
        </p:txBody>
      </p:sp>
      <p:sp>
        <p:nvSpPr>
          <p:cNvPr id="6" name="Shape 3"/>
          <p:cNvSpPr/>
          <p:nvPr/>
        </p:nvSpPr>
        <p:spPr>
          <a:xfrm>
            <a:off x="6044565" y="3351728"/>
            <a:ext cx="30480" cy="686872"/>
          </a:xfrm>
          <a:prstGeom prst="rect">
            <a:avLst/>
          </a:prstGeom>
          <a:solidFill>
            <a:srgbClr val="FFFFFF"/>
          </a:solidFill>
          <a:ln/>
        </p:spPr>
      </p:sp>
      <p:sp>
        <p:nvSpPr>
          <p:cNvPr id="7" name="Text 4"/>
          <p:cNvSpPr/>
          <p:nvPr/>
        </p:nvSpPr>
        <p:spPr>
          <a:xfrm>
            <a:off x="6233636" y="3366968"/>
            <a:ext cx="1629132"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Məlumat Analizi</a:t>
            </a:r>
            <a:endParaRPr lang="en-US" sz="1250" dirty="0"/>
          </a:p>
        </p:txBody>
      </p:sp>
      <p:sp>
        <p:nvSpPr>
          <p:cNvPr id="8" name="Text 5"/>
          <p:cNvSpPr/>
          <p:nvPr/>
        </p:nvSpPr>
        <p:spPr>
          <a:xfrm>
            <a:off x="6233636" y="3665696"/>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Böyük həcmli məlumatların sürətli və dəqiq emalı, nümunələrin və tendensiyaların müəyyənləşdirilməsi.</a:t>
            </a:r>
            <a:endParaRPr lang="en-US" sz="1100" dirty="0"/>
          </a:p>
        </p:txBody>
      </p:sp>
      <p:sp>
        <p:nvSpPr>
          <p:cNvPr id="9" name="Shape 6"/>
          <p:cNvSpPr/>
          <p:nvPr/>
        </p:nvSpPr>
        <p:spPr>
          <a:xfrm>
            <a:off x="6044565" y="4198382"/>
            <a:ext cx="30480" cy="686872"/>
          </a:xfrm>
          <a:prstGeom prst="rect">
            <a:avLst/>
          </a:prstGeom>
          <a:solidFill>
            <a:srgbClr val="FFFFFF"/>
          </a:solidFill>
          <a:ln/>
        </p:spPr>
      </p:sp>
      <p:sp>
        <p:nvSpPr>
          <p:cNvPr id="10" name="Text 7"/>
          <p:cNvSpPr/>
          <p:nvPr/>
        </p:nvSpPr>
        <p:spPr>
          <a:xfrm>
            <a:off x="6233636" y="4213622"/>
            <a:ext cx="1629132"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Proqnozlaşdırma</a:t>
            </a:r>
            <a:endParaRPr lang="en-US" sz="1250" dirty="0"/>
          </a:p>
        </p:txBody>
      </p:sp>
      <p:sp>
        <p:nvSpPr>
          <p:cNvPr id="11" name="Text 8"/>
          <p:cNvSpPr/>
          <p:nvPr/>
        </p:nvSpPr>
        <p:spPr>
          <a:xfrm>
            <a:off x="6233636" y="4512350"/>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Tarixi məlumatlara əsaslanaraq gələcək nəticələrin ehtimal hesablamaları və risk qiymətləndirməsi.</a:t>
            </a:r>
            <a:endParaRPr lang="en-US" sz="1100" dirty="0"/>
          </a:p>
        </p:txBody>
      </p:sp>
      <p:sp>
        <p:nvSpPr>
          <p:cNvPr id="12" name="Shape 9"/>
          <p:cNvSpPr/>
          <p:nvPr/>
        </p:nvSpPr>
        <p:spPr>
          <a:xfrm>
            <a:off x="6044565" y="5045035"/>
            <a:ext cx="30480" cy="686872"/>
          </a:xfrm>
          <a:prstGeom prst="rect">
            <a:avLst/>
          </a:prstGeom>
          <a:solidFill>
            <a:srgbClr val="FFFFFF"/>
          </a:solidFill>
          <a:ln/>
        </p:spPr>
      </p:sp>
      <p:sp>
        <p:nvSpPr>
          <p:cNvPr id="13" name="Text 10"/>
          <p:cNvSpPr/>
          <p:nvPr/>
        </p:nvSpPr>
        <p:spPr>
          <a:xfrm>
            <a:off x="6233636" y="5060275"/>
            <a:ext cx="1629132"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Alternativ Yaratma</a:t>
            </a:r>
            <a:endParaRPr lang="en-US" sz="1250" dirty="0"/>
          </a:p>
        </p:txBody>
      </p:sp>
      <p:sp>
        <p:nvSpPr>
          <p:cNvPr id="14" name="Text 11"/>
          <p:cNvSpPr/>
          <p:nvPr/>
        </p:nvSpPr>
        <p:spPr>
          <a:xfrm>
            <a:off x="6233636" y="5359003"/>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Minlərlə mümkün həll variantının generasiyası və ilkin dəyərləndirməsi.</a:t>
            </a:r>
            <a:endParaRPr lang="en-US" sz="1100" dirty="0"/>
          </a:p>
        </p:txBody>
      </p:sp>
      <p:sp>
        <p:nvSpPr>
          <p:cNvPr id="15" name="Text 12"/>
          <p:cNvSpPr/>
          <p:nvPr/>
        </p:nvSpPr>
        <p:spPr>
          <a:xfrm>
            <a:off x="10240923" y="3015615"/>
            <a:ext cx="1954887" cy="244316"/>
          </a:xfrm>
          <a:prstGeom prst="rect">
            <a:avLst/>
          </a:prstGeom>
          <a:noFill/>
          <a:ln/>
        </p:spPr>
        <p:txBody>
          <a:bodyPr wrap="none" lIns="0" tIns="0" rIns="0" bIns="0" rtlCol="0" anchor="t"/>
          <a:lstStyle/>
          <a:p>
            <a:pPr algn="l" indent="0" marL="0">
              <a:lnSpc>
                <a:spcPts val="1900"/>
              </a:lnSpc>
              <a:buNone/>
            </a:pPr>
            <a:r>
              <a:rPr lang="en-US" sz="1500" b="1" dirty="0">
                <a:solidFill>
                  <a:srgbClr val="FFFFFF"/>
                </a:solidFill>
                <a:latin typeface="Montserrat Bold" pitchFamily="34" charset="0"/>
                <a:ea typeface="Montserrat Bold" pitchFamily="34" charset="-122"/>
                <a:cs typeface="Montserrat Bold" pitchFamily="34" charset="-120"/>
              </a:rPr>
              <a:t>İnsanın Rolu</a:t>
            </a:r>
            <a:endParaRPr lang="en-US" sz="1500" dirty="0"/>
          </a:p>
        </p:txBody>
      </p:sp>
      <p:sp>
        <p:nvSpPr>
          <p:cNvPr id="16" name="Shape 13"/>
          <p:cNvSpPr/>
          <p:nvPr/>
        </p:nvSpPr>
        <p:spPr>
          <a:xfrm>
            <a:off x="10225683" y="3351728"/>
            <a:ext cx="30480" cy="686872"/>
          </a:xfrm>
          <a:prstGeom prst="rect">
            <a:avLst/>
          </a:prstGeom>
          <a:solidFill>
            <a:srgbClr val="FFFFFF"/>
          </a:solidFill>
          <a:ln/>
        </p:spPr>
      </p:sp>
      <p:sp>
        <p:nvSpPr>
          <p:cNvPr id="17" name="Text 14"/>
          <p:cNvSpPr/>
          <p:nvPr/>
        </p:nvSpPr>
        <p:spPr>
          <a:xfrm>
            <a:off x="10414754" y="3366968"/>
            <a:ext cx="2235875"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Məqsəd Müəyyənləşdirmə</a:t>
            </a:r>
            <a:endParaRPr lang="en-US" sz="1250" dirty="0"/>
          </a:p>
        </p:txBody>
      </p:sp>
      <p:sp>
        <p:nvSpPr>
          <p:cNvPr id="18" name="Text 15"/>
          <p:cNvSpPr/>
          <p:nvPr/>
        </p:nvSpPr>
        <p:spPr>
          <a:xfrm>
            <a:off x="10414754" y="3665696"/>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Strategik hədəflərin, prioritetlərin və uğur meyarlarının təyin edilməsi.</a:t>
            </a:r>
            <a:endParaRPr lang="en-US" sz="1100" dirty="0"/>
          </a:p>
        </p:txBody>
      </p:sp>
      <p:sp>
        <p:nvSpPr>
          <p:cNvPr id="19" name="Shape 16"/>
          <p:cNvSpPr/>
          <p:nvPr/>
        </p:nvSpPr>
        <p:spPr>
          <a:xfrm>
            <a:off x="10225683" y="4198382"/>
            <a:ext cx="30480" cy="686872"/>
          </a:xfrm>
          <a:prstGeom prst="rect">
            <a:avLst/>
          </a:prstGeom>
          <a:solidFill>
            <a:srgbClr val="FFFFFF"/>
          </a:solidFill>
          <a:ln/>
        </p:spPr>
      </p:sp>
      <p:sp>
        <p:nvSpPr>
          <p:cNvPr id="20" name="Text 17"/>
          <p:cNvSpPr/>
          <p:nvPr/>
        </p:nvSpPr>
        <p:spPr>
          <a:xfrm>
            <a:off x="10414754" y="4213622"/>
            <a:ext cx="1629132"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Dəyər və Etika</a:t>
            </a:r>
            <a:endParaRPr lang="en-US" sz="1250" dirty="0"/>
          </a:p>
        </p:txBody>
      </p:sp>
      <p:sp>
        <p:nvSpPr>
          <p:cNvPr id="21" name="Text 18"/>
          <p:cNvSpPr/>
          <p:nvPr/>
        </p:nvSpPr>
        <p:spPr>
          <a:xfrm>
            <a:off x="10414754" y="4512350"/>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Etik sərhədlərin qoyulması, sosial məsuliyyətin və dəyərlərin nəzərə alınması.</a:t>
            </a:r>
            <a:endParaRPr lang="en-US" sz="1100" dirty="0"/>
          </a:p>
        </p:txBody>
      </p:sp>
      <p:sp>
        <p:nvSpPr>
          <p:cNvPr id="22" name="Shape 19"/>
          <p:cNvSpPr/>
          <p:nvPr/>
        </p:nvSpPr>
        <p:spPr>
          <a:xfrm>
            <a:off x="10225683" y="5045035"/>
            <a:ext cx="30480" cy="686872"/>
          </a:xfrm>
          <a:prstGeom prst="rect">
            <a:avLst/>
          </a:prstGeom>
          <a:solidFill>
            <a:srgbClr val="FFFFFF"/>
          </a:solidFill>
          <a:ln/>
        </p:spPr>
      </p:sp>
      <p:sp>
        <p:nvSpPr>
          <p:cNvPr id="23" name="Text 20"/>
          <p:cNvSpPr/>
          <p:nvPr/>
        </p:nvSpPr>
        <p:spPr>
          <a:xfrm>
            <a:off x="10414754" y="5060275"/>
            <a:ext cx="1769983" cy="203597"/>
          </a:xfrm>
          <a:prstGeom prst="rect">
            <a:avLst/>
          </a:prstGeom>
          <a:noFill/>
          <a:ln/>
        </p:spPr>
        <p:txBody>
          <a:bodyPr wrap="none" lIns="0" tIns="0" rIns="0" bIns="0" rtlCol="0" anchor="t"/>
          <a:lstStyle/>
          <a:p>
            <a:pPr algn="l" indent="0" marL="0">
              <a:lnSpc>
                <a:spcPts val="1600"/>
              </a:lnSpc>
              <a:buNone/>
            </a:pPr>
            <a:r>
              <a:rPr lang="en-US" sz="1250" b="1" dirty="0">
                <a:solidFill>
                  <a:srgbClr val="E2E6E9"/>
                </a:solidFill>
                <a:latin typeface="Montserrat Bold" pitchFamily="34" charset="0"/>
                <a:ea typeface="Montserrat Bold" pitchFamily="34" charset="-122"/>
                <a:cs typeface="Montserrat Bold" pitchFamily="34" charset="-120"/>
              </a:rPr>
              <a:t>Kontekst və İntuitiya</a:t>
            </a:r>
            <a:endParaRPr lang="en-US" sz="1250" dirty="0"/>
          </a:p>
        </p:txBody>
      </p:sp>
      <p:sp>
        <p:nvSpPr>
          <p:cNvPr id="24" name="Text 21"/>
          <p:cNvSpPr/>
          <p:nvPr/>
        </p:nvSpPr>
        <p:spPr>
          <a:xfrm>
            <a:off x="10414754" y="5359003"/>
            <a:ext cx="3649861" cy="357664"/>
          </a:xfrm>
          <a:prstGeom prst="rect">
            <a:avLst/>
          </a:prstGeom>
          <a:noFill/>
          <a:ln/>
        </p:spPr>
        <p:txBody>
          <a:bodyPr wrap="squar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Situasiya kontekstinin dərin anlaşılması, təcrübəyə əsaslanan mühakimələr.</a:t>
            </a:r>
            <a:endParaRPr lang="en-US" sz="1100" dirty="0"/>
          </a:p>
        </p:txBody>
      </p:sp>
      <p:sp>
        <p:nvSpPr>
          <p:cNvPr id="25" name="Text 22"/>
          <p:cNvSpPr/>
          <p:nvPr/>
        </p:nvSpPr>
        <p:spPr>
          <a:xfrm>
            <a:off x="6274832" y="6037778"/>
            <a:ext cx="7782163" cy="178832"/>
          </a:xfrm>
          <a:prstGeom prst="rect">
            <a:avLst/>
          </a:prstGeom>
          <a:noFill/>
          <a:ln/>
        </p:spPr>
        <p:txBody>
          <a:bodyPr wrap="none" lIns="0" tIns="0" rIns="0" bIns="0" rtlCol="0" anchor="t"/>
          <a:lstStyle/>
          <a:p>
            <a:pPr algn="l" indent="0" marL="0">
              <a:lnSpc>
                <a:spcPts val="1400"/>
              </a:lnSpc>
              <a:buNone/>
            </a:pPr>
            <a:r>
              <a:rPr lang="en-US" sz="1100" dirty="0">
                <a:solidFill>
                  <a:srgbClr val="E2E6E9"/>
                </a:solidFill>
                <a:latin typeface="Source Sans 3" pitchFamily="34" charset="0"/>
                <a:ea typeface="Source Sans 3" pitchFamily="34" charset="-122"/>
                <a:cs typeface="Source Sans 3" pitchFamily="34" charset="-120"/>
              </a:rPr>
              <a:t>Ən güclü qərarlar SI-nin analitik gücünü insanın müdrikliyi, dəyərləri və kontekstual başa düşməsi ilə birləşdirdikdə yaranır.</a:t>
            </a:r>
            <a:endParaRPr lang="en-US" sz="1100" dirty="0"/>
          </a:p>
        </p:txBody>
      </p:sp>
      <p:sp>
        <p:nvSpPr>
          <p:cNvPr id="26" name="Shape 23"/>
          <p:cNvSpPr/>
          <p:nvPr/>
        </p:nvSpPr>
        <p:spPr>
          <a:xfrm>
            <a:off x="6059805" y="5930741"/>
            <a:ext cx="15240" cy="392906"/>
          </a:xfrm>
          <a:prstGeom prst="rect">
            <a:avLst/>
          </a:prstGeom>
          <a:solidFill>
            <a:srgbClr val="FFFFFF"/>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66643" y="1131570"/>
            <a:ext cx="990719" cy="347067"/>
          </a:xfrm>
          <a:prstGeom prst="roundRect">
            <a:avLst>
              <a:gd name="adj" fmla="val 6627"/>
            </a:avLst>
          </a:prstGeom>
          <a:noFill/>
          <a:ln w="7620">
            <a:solidFill>
              <a:srgbClr val="FFFFFF"/>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9159" y="1228487"/>
            <a:ext cx="153233" cy="153233"/>
          </a:xfrm>
          <a:prstGeom prst="rect">
            <a:avLst/>
          </a:prstGeom>
        </p:spPr>
      </p:pic>
      <p:sp>
        <p:nvSpPr>
          <p:cNvPr id="4" name="Text 1"/>
          <p:cNvSpPr/>
          <p:nvPr/>
        </p:nvSpPr>
        <p:spPr>
          <a:xfrm>
            <a:off x="1118949" y="1196578"/>
            <a:ext cx="515898" cy="217051"/>
          </a:xfrm>
          <a:prstGeom prst="rect">
            <a:avLst/>
          </a:prstGeom>
          <a:noFill/>
          <a:ln/>
        </p:spPr>
        <p:txBody>
          <a:bodyPr wrap="none" lIns="0" tIns="0" rIns="0" bIns="0" rtlCol="0" anchor="t"/>
          <a:lstStyle/>
          <a:p>
            <a:pPr algn="l" indent="0" marL="0">
              <a:lnSpc>
                <a:spcPts val="1700"/>
              </a:lnSpc>
              <a:buNone/>
            </a:pPr>
            <a:r>
              <a:rPr lang="en-US" sz="1200" dirty="0">
                <a:solidFill>
                  <a:srgbClr val="FFFFFF"/>
                </a:solidFill>
                <a:latin typeface="Source Sans 3" pitchFamily="34" charset="0"/>
                <a:ea typeface="Source Sans 3" pitchFamily="34" charset="-122"/>
                <a:cs typeface="Source Sans 3" pitchFamily="34" charset="-120"/>
              </a:rPr>
              <a:t>DIQQƏT</a:t>
            </a:r>
            <a:endParaRPr lang="en-US" sz="1200" dirty="0"/>
          </a:p>
        </p:txBody>
      </p:sp>
      <p:sp>
        <p:nvSpPr>
          <p:cNvPr id="5" name="Text 2"/>
          <p:cNvSpPr/>
          <p:nvPr/>
        </p:nvSpPr>
        <p:spPr>
          <a:xfrm>
            <a:off x="766643" y="1546622"/>
            <a:ext cx="6133624" cy="544473"/>
          </a:xfrm>
          <a:prstGeom prst="rect">
            <a:avLst/>
          </a:prstGeom>
          <a:noFill/>
          <a:ln/>
        </p:spPr>
        <p:txBody>
          <a:bodyPr wrap="none" lIns="0" tIns="0" rIns="0" bIns="0" rtlCol="0" anchor="t"/>
          <a:lstStyle/>
          <a:p>
            <a:pPr algn="l" indent="0" marL="0">
              <a:lnSpc>
                <a:spcPts val="4250"/>
              </a:lnSpc>
              <a:buNone/>
            </a:pPr>
            <a:r>
              <a:rPr lang="en-US" sz="3400" b="1" dirty="0">
                <a:solidFill>
                  <a:srgbClr val="FFFFFF"/>
                </a:solidFill>
                <a:latin typeface="Montserrat Bold" pitchFamily="34" charset="0"/>
                <a:ea typeface="Montserrat Bold" pitchFamily="34" charset="-122"/>
                <a:cs typeface="Montserrat Bold" pitchFamily="34" charset="-120"/>
              </a:rPr>
              <a:t>Hibrid Yanaşmanın Riskləri</a:t>
            </a:r>
            <a:endParaRPr lang="en-US" sz="3400" dirty="0"/>
          </a:p>
        </p:txBody>
      </p:sp>
      <p:sp>
        <p:nvSpPr>
          <p:cNvPr id="6" name="Text 3"/>
          <p:cNvSpPr/>
          <p:nvPr/>
        </p:nvSpPr>
        <p:spPr>
          <a:xfrm>
            <a:off x="766643" y="2346127"/>
            <a:ext cx="13097113" cy="271343"/>
          </a:xfrm>
          <a:prstGeom prst="rect">
            <a:avLst/>
          </a:prstGeom>
          <a:noFill/>
          <a:ln/>
        </p:spPr>
        <p:txBody>
          <a:bodyPr wrap="none" lIns="0" tIns="0" rIns="0" bIns="0" rtlCol="0" anchor="t"/>
          <a:lstStyle/>
          <a:p>
            <a:pPr algn="l" indent="0" marL="0">
              <a:lnSpc>
                <a:spcPts val="2100"/>
              </a:lnSpc>
              <a:buNone/>
            </a:pPr>
            <a:r>
              <a:rPr lang="en-US" sz="1500" dirty="0">
                <a:solidFill>
                  <a:srgbClr val="E2E6E9"/>
                </a:solidFill>
                <a:latin typeface="Source Sans 3" pitchFamily="34" charset="0"/>
                <a:ea typeface="Source Sans 3" pitchFamily="34" charset="-122"/>
                <a:cs typeface="Source Sans 3" pitchFamily="34" charset="-120"/>
              </a:rPr>
              <a:t>Süni İntellektlə insan əməkdaşlığı böyük imkanlar təqdim etsə də, bir sıra ciddi risklər də daşıyır. Bu riskləri başa düşmək və idarə etmək uğurlu tətbiq üçün vacibdir.</a:t>
            </a:r>
            <a:endParaRPr lang="en-US" sz="1500" dirty="0"/>
          </a:p>
        </p:txBody>
      </p:sp>
      <p:pic>
        <p:nvPicPr>
          <p:cNvPr id="7" name="Image 1" descr="preencoded.png">    </p:cNvPr>
          <p:cNvPicPr>
            <a:picLocks noChangeAspect="1"/>
          </p:cNvPicPr>
          <p:nvPr/>
        </p:nvPicPr>
        <p:blipFill>
          <a:blip r:embed="rId3"/>
          <a:stretch>
            <a:fillRect/>
          </a:stretch>
        </p:blipFill>
        <p:spPr>
          <a:xfrm>
            <a:off x="766643" y="2808803"/>
            <a:ext cx="1520547" cy="1520547"/>
          </a:xfrm>
          <a:prstGeom prst="rect">
            <a:avLst/>
          </a:prstGeom>
        </p:spPr>
      </p:pic>
      <p:sp>
        <p:nvSpPr>
          <p:cNvPr id="8" name="Text 4"/>
          <p:cNvSpPr/>
          <p:nvPr/>
        </p:nvSpPr>
        <p:spPr>
          <a:xfrm>
            <a:off x="2499717" y="2808803"/>
            <a:ext cx="2490907" cy="544354"/>
          </a:xfrm>
          <a:prstGeom prst="rect">
            <a:avLst/>
          </a:prstGeom>
          <a:noFill/>
          <a:ln/>
        </p:spPr>
        <p:txBody>
          <a:bodyPr wrap="square" lIns="0" tIns="0" rIns="0" bIns="0" rtlCol="0" anchor="t"/>
          <a:lstStyle/>
          <a:p>
            <a:pPr algn="l" indent="0" marL="0">
              <a:lnSpc>
                <a:spcPts val="2100"/>
              </a:lnSpc>
              <a:buNone/>
            </a:pPr>
            <a:r>
              <a:rPr lang="en-US" sz="1700" b="1" dirty="0">
                <a:solidFill>
                  <a:srgbClr val="E2E6E9"/>
                </a:solidFill>
                <a:latin typeface="Montserrat Bold" pitchFamily="34" charset="0"/>
                <a:ea typeface="Montserrat Bold" pitchFamily="34" charset="-122"/>
                <a:cs typeface="Montserrat Bold" pitchFamily="34" charset="-120"/>
              </a:rPr>
              <a:t>Həddindən Artıq Etibar</a:t>
            </a:r>
            <a:endParaRPr lang="en-US" sz="1700" dirty="0"/>
          </a:p>
        </p:txBody>
      </p:sp>
      <p:sp>
        <p:nvSpPr>
          <p:cNvPr id="9" name="Text 5"/>
          <p:cNvSpPr/>
          <p:nvPr/>
        </p:nvSpPr>
        <p:spPr>
          <a:xfrm>
            <a:off x="2499717" y="3455194"/>
            <a:ext cx="2490907" cy="2713434"/>
          </a:xfrm>
          <a:prstGeom prst="rect">
            <a:avLst/>
          </a:prstGeom>
          <a:noFill/>
          <a:ln/>
        </p:spPr>
        <p:txBody>
          <a:bodyPr wrap="square" lIns="0" tIns="0" rIns="0" bIns="0" rtlCol="0" anchor="t"/>
          <a:lstStyle/>
          <a:p>
            <a:pPr algn="l" indent="0" marL="0">
              <a:lnSpc>
                <a:spcPts val="2100"/>
              </a:lnSpc>
              <a:buNone/>
            </a:pPr>
            <a:r>
              <a:rPr lang="en-US" sz="1500" dirty="0">
                <a:solidFill>
                  <a:srgbClr val="E2E6E9"/>
                </a:solidFill>
                <a:latin typeface="Source Sans 3" pitchFamily="34" charset="0"/>
                <a:ea typeface="Source Sans 3" pitchFamily="34" charset="-122"/>
                <a:cs typeface="Source Sans 3" pitchFamily="34" charset="-120"/>
              </a:rPr>
              <a:t>İnsanlar SI sistemlərinə həddindən artıq etibar edərək öz tənqidi düşüncə qabiliyyətlərini zəiflədə bilərlər. SI təklifləri hər zaman doğru və kontekstə uyğun olmaya bilər. Qərar qəbul edənlər SI nəticələrini mühakimə etmədən qəbul etmək təhlükəsi ilə üzləşirlər.</a:t>
            </a:r>
            <a:endParaRPr lang="en-US" sz="1500" dirty="0"/>
          </a:p>
        </p:txBody>
      </p:sp>
      <p:pic>
        <p:nvPicPr>
          <p:cNvPr id="10" name="Image 2" descr="preencoded.png">    </p:cNvPr>
          <p:cNvPicPr>
            <a:picLocks noChangeAspect="1"/>
          </p:cNvPicPr>
          <p:nvPr/>
        </p:nvPicPr>
        <p:blipFill>
          <a:blip r:embed="rId4"/>
          <a:stretch>
            <a:fillRect/>
          </a:stretch>
        </p:blipFill>
        <p:spPr>
          <a:xfrm>
            <a:off x="5203150" y="2808803"/>
            <a:ext cx="1520547" cy="1520547"/>
          </a:xfrm>
          <a:prstGeom prst="rect">
            <a:avLst/>
          </a:prstGeom>
        </p:spPr>
      </p:pic>
      <p:sp>
        <p:nvSpPr>
          <p:cNvPr id="11" name="Text 6"/>
          <p:cNvSpPr/>
          <p:nvPr/>
        </p:nvSpPr>
        <p:spPr>
          <a:xfrm>
            <a:off x="6936224" y="2808803"/>
            <a:ext cx="2181225" cy="272177"/>
          </a:xfrm>
          <a:prstGeom prst="rect">
            <a:avLst/>
          </a:prstGeom>
          <a:noFill/>
          <a:ln/>
        </p:spPr>
        <p:txBody>
          <a:bodyPr wrap="none" lIns="0" tIns="0" rIns="0" bIns="0" rtlCol="0" anchor="t"/>
          <a:lstStyle/>
          <a:p>
            <a:pPr algn="l" indent="0" marL="0">
              <a:lnSpc>
                <a:spcPts val="2100"/>
              </a:lnSpc>
              <a:buNone/>
            </a:pPr>
            <a:r>
              <a:rPr lang="en-US" sz="1700" b="1" dirty="0">
                <a:solidFill>
                  <a:srgbClr val="E2E6E9"/>
                </a:solidFill>
                <a:latin typeface="Montserrat Bold" pitchFamily="34" charset="0"/>
                <a:ea typeface="Montserrat Bold" pitchFamily="34" charset="-122"/>
                <a:cs typeface="Montserrat Bold" pitchFamily="34" charset="-120"/>
              </a:rPr>
              <a:t>"Qara Qutu" Effekti</a:t>
            </a:r>
            <a:endParaRPr lang="en-US" sz="1700" dirty="0"/>
          </a:p>
        </p:txBody>
      </p:sp>
      <p:sp>
        <p:nvSpPr>
          <p:cNvPr id="12" name="Text 7"/>
          <p:cNvSpPr/>
          <p:nvPr/>
        </p:nvSpPr>
        <p:spPr>
          <a:xfrm>
            <a:off x="6936224" y="3183017"/>
            <a:ext cx="2490907" cy="2442091"/>
          </a:xfrm>
          <a:prstGeom prst="rect">
            <a:avLst/>
          </a:prstGeom>
          <a:noFill/>
          <a:ln/>
        </p:spPr>
        <p:txBody>
          <a:bodyPr wrap="square" lIns="0" tIns="0" rIns="0" bIns="0" rtlCol="0" anchor="t"/>
          <a:lstStyle/>
          <a:p>
            <a:pPr algn="l" indent="0" marL="0">
              <a:lnSpc>
                <a:spcPts val="2100"/>
              </a:lnSpc>
              <a:buNone/>
            </a:pPr>
            <a:r>
              <a:rPr lang="en-US" sz="1500" dirty="0">
                <a:solidFill>
                  <a:srgbClr val="E2E6E9"/>
                </a:solidFill>
                <a:latin typeface="Source Sans 3" pitchFamily="34" charset="0"/>
                <a:ea typeface="Source Sans 3" pitchFamily="34" charset="-122"/>
                <a:cs typeface="Source Sans 3" pitchFamily="34" charset="-120"/>
              </a:rPr>
              <a:t>Mürəkkəb SI modellərinin qərar prosesləri qeyri-şəffaf ola bilər. İnsanlar SI-nin müəyyən nəticəyə necə gəldiyini anlamır və buna görə də sistemə şübhə ilə yanaşır və ya düzgün sualları verə bilmirlər. Alqoritmik şəffaflıq kritik əhəmiyyət kəsb edir.</a:t>
            </a:r>
            <a:endParaRPr lang="en-US" sz="1500" dirty="0"/>
          </a:p>
        </p:txBody>
      </p:sp>
      <p:pic>
        <p:nvPicPr>
          <p:cNvPr id="13" name="Image 3" descr="preencoded.png">    </p:cNvPr>
          <p:cNvPicPr>
            <a:picLocks noChangeAspect="1"/>
          </p:cNvPicPr>
          <p:nvPr/>
        </p:nvPicPr>
        <p:blipFill>
          <a:blip r:embed="rId5"/>
          <a:stretch>
            <a:fillRect/>
          </a:stretch>
        </p:blipFill>
        <p:spPr>
          <a:xfrm>
            <a:off x="9639657" y="2808803"/>
            <a:ext cx="1520547" cy="1520547"/>
          </a:xfrm>
          <a:prstGeom prst="rect">
            <a:avLst/>
          </a:prstGeom>
        </p:spPr>
      </p:pic>
      <p:sp>
        <p:nvSpPr>
          <p:cNvPr id="14" name="Text 8"/>
          <p:cNvSpPr/>
          <p:nvPr/>
        </p:nvSpPr>
        <p:spPr>
          <a:xfrm>
            <a:off x="11372731" y="2808803"/>
            <a:ext cx="2490907" cy="544354"/>
          </a:xfrm>
          <a:prstGeom prst="rect">
            <a:avLst/>
          </a:prstGeom>
          <a:noFill/>
          <a:ln/>
        </p:spPr>
        <p:txBody>
          <a:bodyPr wrap="square" lIns="0" tIns="0" rIns="0" bIns="0" rtlCol="0" anchor="t"/>
          <a:lstStyle/>
          <a:p>
            <a:pPr algn="l" indent="0" marL="0">
              <a:lnSpc>
                <a:spcPts val="2100"/>
              </a:lnSpc>
              <a:buNone/>
            </a:pPr>
            <a:r>
              <a:rPr lang="en-US" sz="1700" b="1" dirty="0">
                <a:solidFill>
                  <a:srgbClr val="E2E6E9"/>
                </a:solidFill>
                <a:latin typeface="Montserrat Bold" pitchFamily="34" charset="0"/>
                <a:ea typeface="Montserrat Bold" pitchFamily="34" charset="-122"/>
                <a:cs typeface="Montserrat Bold" pitchFamily="34" charset="-120"/>
              </a:rPr>
              <a:t>Məsuliyyətin Qeyri-müəyyənliyi</a:t>
            </a:r>
            <a:endParaRPr lang="en-US" sz="1700" dirty="0"/>
          </a:p>
        </p:txBody>
      </p:sp>
      <p:sp>
        <p:nvSpPr>
          <p:cNvPr id="15" name="Text 9"/>
          <p:cNvSpPr/>
          <p:nvPr/>
        </p:nvSpPr>
        <p:spPr>
          <a:xfrm>
            <a:off x="11372731" y="3455194"/>
            <a:ext cx="2490907" cy="2170747"/>
          </a:xfrm>
          <a:prstGeom prst="rect">
            <a:avLst/>
          </a:prstGeom>
          <a:noFill/>
          <a:ln/>
        </p:spPr>
        <p:txBody>
          <a:bodyPr wrap="square" lIns="0" tIns="0" rIns="0" bIns="0" rtlCol="0" anchor="t"/>
          <a:lstStyle/>
          <a:p>
            <a:pPr algn="l" indent="0" marL="0">
              <a:lnSpc>
                <a:spcPts val="2100"/>
              </a:lnSpc>
              <a:buNone/>
            </a:pPr>
            <a:r>
              <a:rPr lang="en-US" sz="1500" dirty="0">
                <a:solidFill>
                  <a:srgbClr val="E2E6E9"/>
                </a:solidFill>
                <a:latin typeface="Source Sans 3" pitchFamily="34" charset="0"/>
                <a:ea typeface="Source Sans 3" pitchFamily="34" charset="-122"/>
                <a:cs typeface="Source Sans 3" pitchFamily="34" charset="-120"/>
              </a:rPr>
              <a:t>SI ilə birgə qərar qəbuletmədə məsuliyyət bölgüsü çətinləşir. Səhv qərar halında kimin məsuliyyət daşıdığı aydın olmur: sistemin dizayneri, istifadəçi, yoxsa rəhbərlik? Bu vəziyyət hesabatlılıq və hüquqi problemlər yaradır.</a:t>
            </a:r>
            <a:endParaRPr lang="en-US" sz="1500" dirty="0"/>
          </a:p>
        </p:txBody>
      </p:sp>
      <p:sp>
        <p:nvSpPr>
          <p:cNvPr id="16" name="Shape 10"/>
          <p:cNvSpPr/>
          <p:nvPr/>
        </p:nvSpPr>
        <p:spPr>
          <a:xfrm>
            <a:off x="766643" y="6359962"/>
            <a:ext cx="13097113" cy="737949"/>
          </a:xfrm>
          <a:prstGeom prst="roundRect">
            <a:avLst>
              <a:gd name="adj" fmla="val 3896"/>
            </a:avLst>
          </a:prstGeom>
          <a:solidFill>
            <a:srgbClr val="262626"/>
          </a:solidFill>
          <a:ln/>
        </p:spPr>
      </p:sp>
      <p:pic>
        <p:nvPicPr>
          <p:cNvPr id="17" name="Image 4" descr="preencoded.png">    </p:cNvPr>
          <p:cNvPicPr>
            <a:picLocks noChangeAspect="1"/>
          </p:cNvPicPr>
          <p:nvPr/>
        </p:nvPicPr>
        <p:blipFill>
          <a:blip r:embed="rId6"/>
          <a:stretch>
            <a:fillRect/>
          </a:stretch>
        </p:blipFill>
        <p:spPr>
          <a:xfrm>
            <a:off x="958215" y="6622256"/>
            <a:ext cx="239554" cy="191572"/>
          </a:xfrm>
          <a:prstGeom prst="rect">
            <a:avLst/>
          </a:prstGeom>
        </p:spPr>
      </p:pic>
      <p:sp>
        <p:nvSpPr>
          <p:cNvPr id="18" name="Text 11"/>
          <p:cNvSpPr/>
          <p:nvPr/>
        </p:nvSpPr>
        <p:spPr>
          <a:xfrm>
            <a:off x="1389340" y="6577846"/>
            <a:ext cx="12282845" cy="271343"/>
          </a:xfrm>
          <a:prstGeom prst="rect">
            <a:avLst/>
          </a:prstGeom>
          <a:noFill/>
          <a:ln/>
        </p:spPr>
        <p:txBody>
          <a:bodyPr wrap="none" lIns="0" tIns="0" rIns="0" bIns="0" rtlCol="0" anchor="t"/>
          <a:lstStyle/>
          <a:p>
            <a:pPr algn="l" indent="0" marL="0">
              <a:lnSpc>
                <a:spcPts val="2100"/>
              </a:lnSpc>
              <a:buNone/>
            </a:pPr>
            <a:r>
              <a:rPr lang="en-US" sz="1500" dirty="0">
                <a:solidFill>
                  <a:srgbClr val="FFFFFF"/>
                </a:solidFill>
                <a:latin typeface="Source Sans 3" pitchFamily="34" charset="0"/>
                <a:ea typeface="Source Sans 3" pitchFamily="34" charset="-122"/>
                <a:cs typeface="Source Sans 3" pitchFamily="34" charset="-120"/>
              </a:rPr>
              <a:t>Bu risklərin idarə edilməsi üçün aydın protokollar, təlim proqramları və məsuliyyət çərçivələri yaratmaq zəruridir.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51165" y="997982"/>
            <a:ext cx="8689777" cy="533519"/>
          </a:xfrm>
          <a:prstGeom prst="rect">
            <a:avLst/>
          </a:prstGeom>
          <a:noFill/>
          <a:ln/>
        </p:spPr>
        <p:txBody>
          <a:bodyPr wrap="none" lIns="0" tIns="0" rIns="0" bIns="0" rtlCol="0" anchor="t"/>
          <a:lstStyle/>
          <a:p>
            <a:pPr algn="l" indent="0" marL="0">
              <a:lnSpc>
                <a:spcPts val="4200"/>
              </a:lnSpc>
              <a:buNone/>
            </a:pPr>
            <a:r>
              <a:rPr lang="en-US" sz="3350" b="1" dirty="0">
                <a:solidFill>
                  <a:srgbClr val="FFFFFF"/>
                </a:solidFill>
                <a:latin typeface="Montserrat Bold" pitchFamily="34" charset="0"/>
                <a:ea typeface="Montserrat Bold" pitchFamily="34" charset="-122"/>
                <a:cs typeface="Montserrat Bold" pitchFamily="34" charset="-120"/>
              </a:rPr>
              <a:t>Qərar Keyfiyyətinin Qiymətləndirilməsi</a:t>
            </a:r>
            <a:endParaRPr lang="en-US" sz="3350" dirty="0"/>
          </a:p>
        </p:txBody>
      </p:sp>
      <p:sp>
        <p:nvSpPr>
          <p:cNvPr id="3" name="Text 1"/>
          <p:cNvSpPr/>
          <p:nvPr/>
        </p:nvSpPr>
        <p:spPr>
          <a:xfrm>
            <a:off x="751165" y="1858089"/>
            <a:ext cx="13128069" cy="526494"/>
          </a:xfrm>
          <a:prstGeom prst="rect">
            <a:avLst/>
          </a:prstGeom>
          <a:noFill/>
          <a:ln/>
        </p:spPr>
        <p:txBody>
          <a:bodyPr wrap="squar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İdarəetmə qərarlarının keyfiyyətini obyektiv şəkildə qiymətləndirmək üçün aydın meyarlara ehtiyac var. Bu meyarlar həm klassik, həm də SI dəstəkli qərarlara tətbiq olunmalıdır.</a:t>
            </a:r>
            <a:endParaRPr lang="en-US" sz="1450" dirty="0"/>
          </a:p>
        </p:txBody>
      </p:sp>
      <p:sp>
        <p:nvSpPr>
          <p:cNvPr id="4" name="Shape 2"/>
          <p:cNvSpPr/>
          <p:nvPr/>
        </p:nvSpPr>
        <p:spPr>
          <a:xfrm>
            <a:off x="751165" y="2849999"/>
            <a:ext cx="3159562" cy="3626048"/>
          </a:xfrm>
          <a:prstGeom prst="roundRect">
            <a:avLst>
              <a:gd name="adj" fmla="val 3473"/>
            </a:avLst>
          </a:prstGeom>
          <a:solidFill>
            <a:srgbClr val="111213"/>
          </a:solidFill>
          <a:ln/>
        </p:spPr>
      </p:sp>
      <p:sp>
        <p:nvSpPr>
          <p:cNvPr id="5" name="Shape 3"/>
          <p:cNvSpPr/>
          <p:nvPr/>
        </p:nvSpPr>
        <p:spPr>
          <a:xfrm>
            <a:off x="751165" y="2827139"/>
            <a:ext cx="3159562" cy="91440"/>
          </a:xfrm>
          <a:prstGeom prst="roundRect">
            <a:avLst>
              <a:gd name="adj" fmla="val 30808"/>
            </a:avLst>
          </a:prstGeom>
          <a:solidFill>
            <a:srgbClr val="FFFFFF"/>
          </a:solidFill>
          <a:ln/>
        </p:spPr>
      </p:sp>
      <p:sp>
        <p:nvSpPr>
          <p:cNvPr id="6" name="Shape 4"/>
          <p:cNvSpPr/>
          <p:nvPr/>
        </p:nvSpPr>
        <p:spPr>
          <a:xfrm>
            <a:off x="2049185" y="2568297"/>
            <a:ext cx="563404" cy="563404"/>
          </a:xfrm>
          <a:prstGeom prst="roundRect">
            <a:avLst>
              <a:gd name="adj" fmla="val 162299"/>
            </a:avLst>
          </a:prstGeom>
          <a:solidFill>
            <a:srgbClr val="FFFFFF"/>
          </a:solidFill>
          <a:ln/>
        </p:spPr>
      </p:sp>
      <p:sp>
        <p:nvSpPr>
          <p:cNvPr id="7" name="Text 5"/>
          <p:cNvSpPr/>
          <p:nvPr/>
        </p:nvSpPr>
        <p:spPr>
          <a:xfrm>
            <a:off x="2218253" y="2709148"/>
            <a:ext cx="225266" cy="281702"/>
          </a:xfrm>
          <a:prstGeom prst="rect">
            <a:avLst/>
          </a:prstGeom>
          <a:noFill/>
          <a:ln/>
        </p:spPr>
        <p:txBody>
          <a:bodyPr wrap="none" lIns="0" tIns="0" rIns="0" bIns="0" rtlCol="0" anchor="t"/>
          <a:lstStyle/>
          <a:p>
            <a:pPr algn="l" indent="0" marL="0">
              <a:lnSpc>
                <a:spcPts val="2450"/>
              </a:lnSpc>
              <a:buNone/>
            </a:pPr>
            <a:r>
              <a:rPr lang="en-US" sz="1750" b="1" dirty="0">
                <a:solidFill>
                  <a:srgbClr val="000000"/>
                </a:solidFill>
                <a:latin typeface="Montserrat Bold" pitchFamily="34" charset="0"/>
                <a:ea typeface="Montserrat Bold" pitchFamily="34" charset="-122"/>
                <a:cs typeface="Montserrat Bold" pitchFamily="34" charset="-120"/>
              </a:rPr>
              <a:t>1</a:t>
            </a:r>
            <a:endParaRPr lang="en-US" sz="1750" dirty="0"/>
          </a:p>
        </p:txBody>
      </p:sp>
      <p:sp>
        <p:nvSpPr>
          <p:cNvPr id="8" name="Text 6"/>
          <p:cNvSpPr/>
          <p:nvPr/>
        </p:nvSpPr>
        <p:spPr>
          <a:xfrm>
            <a:off x="961787" y="3319463"/>
            <a:ext cx="2134076" cy="266700"/>
          </a:xfrm>
          <a:prstGeom prst="rect">
            <a:avLst/>
          </a:prstGeom>
          <a:noFill/>
          <a:ln/>
        </p:spPr>
        <p:txBody>
          <a:bodyPr wrap="none" lIns="0" tIns="0" rIns="0" bIns="0" rtlCol="0" anchor="t"/>
          <a:lstStyle/>
          <a:p>
            <a:pPr algn="l" indent="0" marL="0">
              <a:lnSpc>
                <a:spcPts val="2100"/>
              </a:lnSpc>
              <a:buNone/>
            </a:pPr>
            <a:r>
              <a:rPr lang="en-US" sz="1650" b="1" dirty="0">
                <a:solidFill>
                  <a:srgbClr val="E2E6E9"/>
                </a:solidFill>
                <a:latin typeface="Montserrat Bold" pitchFamily="34" charset="0"/>
                <a:ea typeface="Montserrat Bold" pitchFamily="34" charset="-122"/>
                <a:cs typeface="Montserrat Bold" pitchFamily="34" charset="-120"/>
              </a:rPr>
              <a:t>Əsaslandırılmışlıq</a:t>
            </a:r>
            <a:endParaRPr lang="en-US" sz="1650" dirty="0"/>
          </a:p>
        </p:txBody>
      </p:sp>
      <p:sp>
        <p:nvSpPr>
          <p:cNvPr id="9" name="Text 7"/>
          <p:cNvSpPr/>
          <p:nvPr/>
        </p:nvSpPr>
        <p:spPr>
          <a:xfrm>
            <a:off x="961787" y="3684032"/>
            <a:ext cx="2738318" cy="789742"/>
          </a:xfrm>
          <a:prstGeom prst="rect">
            <a:avLst/>
          </a:prstGeom>
          <a:noFill/>
          <a:ln/>
        </p:spPr>
        <p:txBody>
          <a:bodyPr wrap="squar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Qərar etibarlı məlumatlara və düzgün analitik metodlara əsaslanmalıdır.</a:t>
            </a:r>
            <a:endParaRPr lang="en-US" sz="1450" dirty="0"/>
          </a:p>
        </p:txBody>
      </p:sp>
      <p:sp>
        <p:nvSpPr>
          <p:cNvPr id="10" name="Text 8"/>
          <p:cNvSpPr/>
          <p:nvPr/>
        </p:nvSpPr>
        <p:spPr>
          <a:xfrm>
            <a:off x="961787" y="4571643"/>
            <a:ext cx="2738318" cy="1167289"/>
          </a:xfrm>
          <a:prstGeom prst="rect">
            <a:avLst/>
          </a:prstGeom>
          <a:noFill/>
          <a:ln/>
        </p:spPr>
        <p:txBody>
          <a:bodyPr wrap="square" lIns="0" tIns="0" rIns="0" bIns="0" rtlCol="0" anchor="t"/>
          <a:lstStyle/>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Mənbələrin etibarlılığı</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Analiz metodlarının düzgünlüyü</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Fərziyyələrin şəffaflığı</a:t>
            </a:r>
            <a:endParaRPr lang="en-US" sz="1450" dirty="0"/>
          </a:p>
        </p:txBody>
      </p:sp>
      <p:sp>
        <p:nvSpPr>
          <p:cNvPr id="11" name="Shape 9"/>
          <p:cNvSpPr/>
          <p:nvPr/>
        </p:nvSpPr>
        <p:spPr>
          <a:xfrm>
            <a:off x="4073962" y="2849999"/>
            <a:ext cx="3159562" cy="3626048"/>
          </a:xfrm>
          <a:prstGeom prst="roundRect">
            <a:avLst>
              <a:gd name="adj" fmla="val 3473"/>
            </a:avLst>
          </a:prstGeom>
          <a:solidFill>
            <a:srgbClr val="111213"/>
          </a:solidFill>
          <a:ln/>
        </p:spPr>
      </p:sp>
      <p:sp>
        <p:nvSpPr>
          <p:cNvPr id="12" name="Shape 10"/>
          <p:cNvSpPr/>
          <p:nvPr/>
        </p:nvSpPr>
        <p:spPr>
          <a:xfrm>
            <a:off x="4073962" y="2827139"/>
            <a:ext cx="3159562" cy="91440"/>
          </a:xfrm>
          <a:prstGeom prst="roundRect">
            <a:avLst>
              <a:gd name="adj" fmla="val 30808"/>
            </a:avLst>
          </a:prstGeom>
          <a:solidFill>
            <a:srgbClr val="FFFFFF"/>
          </a:solidFill>
          <a:ln/>
        </p:spPr>
      </p:sp>
      <p:sp>
        <p:nvSpPr>
          <p:cNvPr id="13" name="Shape 11"/>
          <p:cNvSpPr/>
          <p:nvPr/>
        </p:nvSpPr>
        <p:spPr>
          <a:xfrm>
            <a:off x="5371981" y="2568297"/>
            <a:ext cx="563404" cy="563404"/>
          </a:xfrm>
          <a:prstGeom prst="roundRect">
            <a:avLst>
              <a:gd name="adj" fmla="val 162299"/>
            </a:avLst>
          </a:prstGeom>
          <a:solidFill>
            <a:srgbClr val="FFFFFF"/>
          </a:solidFill>
          <a:ln/>
        </p:spPr>
      </p:sp>
      <p:sp>
        <p:nvSpPr>
          <p:cNvPr id="14" name="Text 12"/>
          <p:cNvSpPr/>
          <p:nvPr/>
        </p:nvSpPr>
        <p:spPr>
          <a:xfrm>
            <a:off x="5541050" y="2709148"/>
            <a:ext cx="225266" cy="281702"/>
          </a:xfrm>
          <a:prstGeom prst="rect">
            <a:avLst/>
          </a:prstGeom>
          <a:noFill/>
          <a:ln/>
        </p:spPr>
        <p:txBody>
          <a:bodyPr wrap="none" lIns="0" tIns="0" rIns="0" bIns="0" rtlCol="0" anchor="t"/>
          <a:lstStyle/>
          <a:p>
            <a:pPr algn="l" indent="0" marL="0">
              <a:lnSpc>
                <a:spcPts val="2450"/>
              </a:lnSpc>
              <a:buNone/>
            </a:pPr>
            <a:r>
              <a:rPr lang="en-US" sz="1750" b="1" dirty="0">
                <a:solidFill>
                  <a:srgbClr val="000000"/>
                </a:solidFill>
                <a:latin typeface="Montserrat Bold" pitchFamily="34" charset="0"/>
                <a:ea typeface="Montserrat Bold" pitchFamily="34" charset="-122"/>
                <a:cs typeface="Montserrat Bold" pitchFamily="34" charset="-120"/>
              </a:rPr>
              <a:t>2</a:t>
            </a:r>
            <a:endParaRPr lang="en-US" sz="1750" dirty="0"/>
          </a:p>
        </p:txBody>
      </p:sp>
      <p:sp>
        <p:nvSpPr>
          <p:cNvPr id="15" name="Text 13"/>
          <p:cNvSpPr/>
          <p:nvPr/>
        </p:nvSpPr>
        <p:spPr>
          <a:xfrm>
            <a:off x="4284583" y="3319463"/>
            <a:ext cx="2660213" cy="266700"/>
          </a:xfrm>
          <a:prstGeom prst="rect">
            <a:avLst/>
          </a:prstGeom>
          <a:noFill/>
          <a:ln/>
        </p:spPr>
        <p:txBody>
          <a:bodyPr wrap="none" lIns="0" tIns="0" rIns="0" bIns="0" rtlCol="0" anchor="t"/>
          <a:lstStyle/>
          <a:p>
            <a:pPr algn="l" indent="0" marL="0">
              <a:lnSpc>
                <a:spcPts val="2100"/>
              </a:lnSpc>
              <a:buNone/>
            </a:pPr>
            <a:r>
              <a:rPr lang="en-US" sz="1650" b="1" dirty="0">
                <a:solidFill>
                  <a:srgbClr val="E2E6E9"/>
                </a:solidFill>
                <a:latin typeface="Montserrat Bold" pitchFamily="34" charset="0"/>
                <a:ea typeface="Montserrat Bold" pitchFamily="34" charset="-122"/>
                <a:cs typeface="Montserrat Bold" pitchFamily="34" charset="-120"/>
              </a:rPr>
              <a:t>Məlumatların Keyfiyyəti</a:t>
            </a:r>
            <a:endParaRPr lang="en-US" sz="1650" dirty="0"/>
          </a:p>
        </p:txBody>
      </p:sp>
      <p:sp>
        <p:nvSpPr>
          <p:cNvPr id="16" name="Text 14"/>
          <p:cNvSpPr/>
          <p:nvPr/>
        </p:nvSpPr>
        <p:spPr>
          <a:xfrm>
            <a:off x="4284583" y="3684032"/>
            <a:ext cx="2738318" cy="789742"/>
          </a:xfrm>
          <a:prstGeom prst="rect">
            <a:avLst/>
          </a:prstGeom>
          <a:noFill/>
          <a:ln/>
        </p:spPr>
        <p:txBody>
          <a:bodyPr wrap="squar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İstifadə olunan məlumatlar aktual, dəqiq və məqsədə uyğun olmalıdır.</a:t>
            </a:r>
            <a:endParaRPr lang="en-US" sz="1450" dirty="0"/>
          </a:p>
        </p:txBody>
      </p:sp>
      <p:sp>
        <p:nvSpPr>
          <p:cNvPr id="17" name="Text 15"/>
          <p:cNvSpPr/>
          <p:nvPr/>
        </p:nvSpPr>
        <p:spPr>
          <a:xfrm>
            <a:off x="4284583" y="4571643"/>
            <a:ext cx="2738318" cy="1430536"/>
          </a:xfrm>
          <a:prstGeom prst="rect">
            <a:avLst/>
          </a:prstGeom>
          <a:noFill/>
          <a:ln/>
        </p:spPr>
        <p:txBody>
          <a:bodyPr wrap="square" lIns="0" tIns="0" rIns="0" bIns="0" rtlCol="0" anchor="t"/>
          <a:lstStyle/>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Məlumatların tamlığı və dəqiqliyi</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Aktual və müvafiq informasiya</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Məlumat mənbələrinin müxtəlifliyi</a:t>
            </a:r>
            <a:endParaRPr lang="en-US" sz="1450" dirty="0"/>
          </a:p>
        </p:txBody>
      </p:sp>
      <p:sp>
        <p:nvSpPr>
          <p:cNvPr id="18" name="Shape 16"/>
          <p:cNvSpPr/>
          <p:nvPr/>
        </p:nvSpPr>
        <p:spPr>
          <a:xfrm>
            <a:off x="7396758" y="2849999"/>
            <a:ext cx="3159562" cy="3626048"/>
          </a:xfrm>
          <a:prstGeom prst="roundRect">
            <a:avLst>
              <a:gd name="adj" fmla="val 3473"/>
            </a:avLst>
          </a:prstGeom>
          <a:solidFill>
            <a:srgbClr val="111213"/>
          </a:solidFill>
          <a:ln/>
        </p:spPr>
      </p:sp>
      <p:sp>
        <p:nvSpPr>
          <p:cNvPr id="19" name="Shape 17"/>
          <p:cNvSpPr/>
          <p:nvPr/>
        </p:nvSpPr>
        <p:spPr>
          <a:xfrm>
            <a:off x="7396758" y="2827139"/>
            <a:ext cx="3159562" cy="91440"/>
          </a:xfrm>
          <a:prstGeom prst="roundRect">
            <a:avLst>
              <a:gd name="adj" fmla="val 30808"/>
            </a:avLst>
          </a:prstGeom>
          <a:solidFill>
            <a:srgbClr val="FFFFFF"/>
          </a:solidFill>
          <a:ln/>
        </p:spPr>
      </p:sp>
      <p:sp>
        <p:nvSpPr>
          <p:cNvPr id="20" name="Shape 18"/>
          <p:cNvSpPr/>
          <p:nvPr/>
        </p:nvSpPr>
        <p:spPr>
          <a:xfrm>
            <a:off x="8694777" y="2568297"/>
            <a:ext cx="563404" cy="563404"/>
          </a:xfrm>
          <a:prstGeom prst="roundRect">
            <a:avLst>
              <a:gd name="adj" fmla="val 162299"/>
            </a:avLst>
          </a:prstGeom>
          <a:solidFill>
            <a:srgbClr val="FFFFFF"/>
          </a:solidFill>
          <a:ln/>
        </p:spPr>
      </p:sp>
      <p:sp>
        <p:nvSpPr>
          <p:cNvPr id="21" name="Text 19"/>
          <p:cNvSpPr/>
          <p:nvPr/>
        </p:nvSpPr>
        <p:spPr>
          <a:xfrm>
            <a:off x="8863846" y="2709148"/>
            <a:ext cx="225266" cy="281702"/>
          </a:xfrm>
          <a:prstGeom prst="rect">
            <a:avLst/>
          </a:prstGeom>
          <a:noFill/>
          <a:ln/>
        </p:spPr>
        <p:txBody>
          <a:bodyPr wrap="none" lIns="0" tIns="0" rIns="0" bIns="0" rtlCol="0" anchor="t"/>
          <a:lstStyle/>
          <a:p>
            <a:pPr algn="l" indent="0" marL="0">
              <a:lnSpc>
                <a:spcPts val="2450"/>
              </a:lnSpc>
              <a:buNone/>
            </a:pPr>
            <a:r>
              <a:rPr lang="en-US" sz="1750" b="1" dirty="0">
                <a:solidFill>
                  <a:srgbClr val="000000"/>
                </a:solidFill>
                <a:latin typeface="Montserrat Bold" pitchFamily="34" charset="0"/>
                <a:ea typeface="Montserrat Bold" pitchFamily="34" charset="-122"/>
                <a:cs typeface="Montserrat Bold" pitchFamily="34" charset="-120"/>
              </a:rPr>
              <a:t>3</a:t>
            </a:r>
            <a:endParaRPr lang="en-US" sz="1750" dirty="0"/>
          </a:p>
        </p:txBody>
      </p:sp>
      <p:sp>
        <p:nvSpPr>
          <p:cNvPr id="22" name="Text 20"/>
          <p:cNvSpPr/>
          <p:nvPr/>
        </p:nvSpPr>
        <p:spPr>
          <a:xfrm>
            <a:off x="7607379" y="3319463"/>
            <a:ext cx="2134076" cy="266700"/>
          </a:xfrm>
          <a:prstGeom prst="rect">
            <a:avLst/>
          </a:prstGeom>
          <a:noFill/>
          <a:ln/>
        </p:spPr>
        <p:txBody>
          <a:bodyPr wrap="none" lIns="0" tIns="0" rIns="0" bIns="0" rtlCol="0" anchor="t"/>
          <a:lstStyle/>
          <a:p>
            <a:pPr algn="l" indent="0" marL="0">
              <a:lnSpc>
                <a:spcPts val="2100"/>
              </a:lnSpc>
              <a:buNone/>
            </a:pPr>
            <a:r>
              <a:rPr lang="en-US" sz="1650" b="1" dirty="0">
                <a:solidFill>
                  <a:srgbClr val="E2E6E9"/>
                </a:solidFill>
                <a:latin typeface="Montserrat Bold" pitchFamily="34" charset="0"/>
                <a:ea typeface="Montserrat Bold" pitchFamily="34" charset="-122"/>
                <a:cs typeface="Montserrat Bold" pitchFamily="34" charset="-120"/>
              </a:rPr>
              <a:t>Şəffaflıq</a:t>
            </a:r>
            <a:endParaRPr lang="en-US" sz="1650" dirty="0"/>
          </a:p>
        </p:txBody>
      </p:sp>
      <p:sp>
        <p:nvSpPr>
          <p:cNvPr id="23" name="Text 21"/>
          <p:cNvSpPr/>
          <p:nvPr/>
        </p:nvSpPr>
        <p:spPr>
          <a:xfrm>
            <a:off x="7607379" y="3684032"/>
            <a:ext cx="2738318" cy="789742"/>
          </a:xfrm>
          <a:prstGeom prst="rect">
            <a:avLst/>
          </a:prstGeom>
          <a:noFill/>
          <a:ln/>
        </p:spPr>
        <p:txBody>
          <a:bodyPr wrap="squar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Qərar prosesi və əsaslandırılması başqaları üçün başa düşülən olmalıdır.</a:t>
            </a:r>
            <a:endParaRPr lang="en-US" sz="1450" dirty="0"/>
          </a:p>
        </p:txBody>
      </p:sp>
      <p:sp>
        <p:nvSpPr>
          <p:cNvPr id="24" name="Text 22"/>
          <p:cNvSpPr/>
          <p:nvPr/>
        </p:nvSpPr>
        <p:spPr>
          <a:xfrm>
            <a:off x="7607379" y="4571643"/>
            <a:ext cx="2738318" cy="1693783"/>
          </a:xfrm>
          <a:prstGeom prst="rect">
            <a:avLst/>
          </a:prstGeom>
          <a:noFill/>
          <a:ln/>
        </p:spPr>
        <p:txBody>
          <a:bodyPr wrap="square" lIns="0" tIns="0" rIns="0" bIns="0" rtlCol="0" anchor="t"/>
          <a:lstStyle/>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Qərar prosesinin sənədləşdirilməsi</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Mühakimə yollarının izah edilməsi</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Alternativlərin niyə rədd edildiyinin açıqlanması</a:t>
            </a:r>
            <a:endParaRPr lang="en-US" sz="1450" dirty="0"/>
          </a:p>
        </p:txBody>
      </p:sp>
      <p:sp>
        <p:nvSpPr>
          <p:cNvPr id="25" name="Shape 23"/>
          <p:cNvSpPr/>
          <p:nvPr/>
        </p:nvSpPr>
        <p:spPr>
          <a:xfrm>
            <a:off x="10719554" y="2849999"/>
            <a:ext cx="3159681" cy="3626048"/>
          </a:xfrm>
          <a:prstGeom prst="roundRect">
            <a:avLst>
              <a:gd name="adj" fmla="val 3473"/>
            </a:avLst>
          </a:prstGeom>
          <a:solidFill>
            <a:srgbClr val="111213"/>
          </a:solidFill>
          <a:ln/>
        </p:spPr>
      </p:sp>
      <p:sp>
        <p:nvSpPr>
          <p:cNvPr id="26" name="Shape 24"/>
          <p:cNvSpPr/>
          <p:nvPr/>
        </p:nvSpPr>
        <p:spPr>
          <a:xfrm>
            <a:off x="10719554" y="2827139"/>
            <a:ext cx="3159681" cy="91440"/>
          </a:xfrm>
          <a:prstGeom prst="roundRect">
            <a:avLst>
              <a:gd name="adj" fmla="val 30808"/>
            </a:avLst>
          </a:prstGeom>
          <a:solidFill>
            <a:srgbClr val="FFFFFF"/>
          </a:solidFill>
          <a:ln/>
        </p:spPr>
      </p:sp>
      <p:sp>
        <p:nvSpPr>
          <p:cNvPr id="27" name="Shape 25"/>
          <p:cNvSpPr/>
          <p:nvPr/>
        </p:nvSpPr>
        <p:spPr>
          <a:xfrm>
            <a:off x="12017693" y="2568297"/>
            <a:ext cx="563404" cy="563404"/>
          </a:xfrm>
          <a:prstGeom prst="roundRect">
            <a:avLst>
              <a:gd name="adj" fmla="val 162299"/>
            </a:avLst>
          </a:prstGeom>
          <a:solidFill>
            <a:srgbClr val="FFFFFF"/>
          </a:solidFill>
          <a:ln/>
        </p:spPr>
      </p:sp>
      <p:sp>
        <p:nvSpPr>
          <p:cNvPr id="28" name="Text 26"/>
          <p:cNvSpPr/>
          <p:nvPr/>
        </p:nvSpPr>
        <p:spPr>
          <a:xfrm>
            <a:off x="12186761" y="2709148"/>
            <a:ext cx="225266" cy="281702"/>
          </a:xfrm>
          <a:prstGeom prst="rect">
            <a:avLst/>
          </a:prstGeom>
          <a:noFill/>
          <a:ln/>
        </p:spPr>
        <p:txBody>
          <a:bodyPr wrap="none" lIns="0" tIns="0" rIns="0" bIns="0" rtlCol="0" anchor="t"/>
          <a:lstStyle/>
          <a:p>
            <a:pPr algn="l" indent="0" marL="0">
              <a:lnSpc>
                <a:spcPts val="2450"/>
              </a:lnSpc>
              <a:buNone/>
            </a:pPr>
            <a:r>
              <a:rPr lang="en-US" sz="1750" b="1" dirty="0">
                <a:solidFill>
                  <a:srgbClr val="000000"/>
                </a:solidFill>
                <a:latin typeface="Montserrat Bold" pitchFamily="34" charset="0"/>
                <a:ea typeface="Montserrat Bold" pitchFamily="34" charset="-122"/>
                <a:cs typeface="Montserrat Bold" pitchFamily="34" charset="-120"/>
              </a:rPr>
              <a:t>4</a:t>
            </a:r>
            <a:endParaRPr lang="en-US" sz="1750" dirty="0"/>
          </a:p>
        </p:txBody>
      </p:sp>
      <p:sp>
        <p:nvSpPr>
          <p:cNvPr id="29" name="Text 27"/>
          <p:cNvSpPr/>
          <p:nvPr/>
        </p:nvSpPr>
        <p:spPr>
          <a:xfrm>
            <a:off x="10930176" y="3319463"/>
            <a:ext cx="2424470" cy="266700"/>
          </a:xfrm>
          <a:prstGeom prst="rect">
            <a:avLst/>
          </a:prstGeom>
          <a:noFill/>
          <a:ln/>
        </p:spPr>
        <p:txBody>
          <a:bodyPr wrap="none" lIns="0" tIns="0" rIns="0" bIns="0" rtlCol="0" anchor="t"/>
          <a:lstStyle/>
          <a:p>
            <a:pPr algn="l" indent="0" marL="0">
              <a:lnSpc>
                <a:spcPts val="2100"/>
              </a:lnSpc>
              <a:buNone/>
            </a:pPr>
            <a:r>
              <a:rPr lang="en-US" sz="1650" b="1" dirty="0">
                <a:solidFill>
                  <a:srgbClr val="E2E6E9"/>
                </a:solidFill>
                <a:latin typeface="Montserrat Bold" pitchFamily="34" charset="0"/>
                <a:ea typeface="Montserrat Bold" pitchFamily="34" charset="-122"/>
                <a:cs typeface="Montserrat Bold" pitchFamily="34" charset="-120"/>
              </a:rPr>
              <a:t>Ölçülə Bilən Nəticələr</a:t>
            </a:r>
            <a:endParaRPr lang="en-US" sz="1650" dirty="0"/>
          </a:p>
        </p:txBody>
      </p:sp>
      <p:sp>
        <p:nvSpPr>
          <p:cNvPr id="30" name="Text 28"/>
          <p:cNvSpPr/>
          <p:nvPr/>
        </p:nvSpPr>
        <p:spPr>
          <a:xfrm>
            <a:off x="10930176" y="3684032"/>
            <a:ext cx="2738438" cy="789742"/>
          </a:xfrm>
          <a:prstGeom prst="rect">
            <a:avLst/>
          </a:prstGeom>
          <a:noFill/>
          <a:ln/>
        </p:spPr>
        <p:txBody>
          <a:bodyPr wrap="squar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Qərarın nəticələri ölçülə bilən göstəricilərlə qiymətləndirilməlidir.</a:t>
            </a:r>
            <a:endParaRPr lang="en-US" sz="1450" dirty="0"/>
          </a:p>
        </p:txBody>
      </p:sp>
      <p:sp>
        <p:nvSpPr>
          <p:cNvPr id="31" name="Text 29"/>
          <p:cNvSpPr/>
          <p:nvPr/>
        </p:nvSpPr>
        <p:spPr>
          <a:xfrm>
            <a:off x="10930176" y="4571643"/>
            <a:ext cx="2738438" cy="1430536"/>
          </a:xfrm>
          <a:prstGeom prst="rect">
            <a:avLst/>
          </a:prstGeom>
          <a:noFill/>
          <a:ln/>
        </p:spPr>
        <p:txBody>
          <a:bodyPr wrap="square" lIns="0" tIns="0" rIns="0" bIns="0" rtlCol="0" anchor="t"/>
          <a:lstStyle/>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Aydın uğur meyarları</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Kəmiyyət və keyfiyyət göstəriciləri</a:t>
            </a:r>
            <a:endParaRPr lang="en-US" sz="1450" dirty="0"/>
          </a:p>
          <a:p>
            <a:pPr algn="l" marL="342900" indent="-342900">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Müntəzəm monitorinq və qiymətləndirmə</a:t>
            </a:r>
            <a:endParaRPr lang="en-US" sz="1450" dirty="0"/>
          </a:p>
        </p:txBody>
      </p:sp>
      <p:sp>
        <p:nvSpPr>
          <p:cNvPr id="32" name="Shape 30"/>
          <p:cNvSpPr/>
          <p:nvPr/>
        </p:nvSpPr>
        <p:spPr>
          <a:xfrm>
            <a:off x="751165" y="6753623"/>
            <a:ext cx="13128069" cy="31075"/>
          </a:xfrm>
          <a:prstGeom prst="rect">
            <a:avLst/>
          </a:prstGeom>
          <a:solidFill>
            <a:srgbClr val="E2E6E9">
              <a:alpha val="50000"/>
            </a:srgbClr>
          </a:solidFill>
          <a:ln/>
        </p:spPr>
      </p:sp>
      <p:sp>
        <p:nvSpPr>
          <p:cNvPr id="33" name="Text 31"/>
          <p:cNvSpPr/>
          <p:nvPr/>
        </p:nvSpPr>
        <p:spPr>
          <a:xfrm>
            <a:off x="751165" y="6968371"/>
            <a:ext cx="13128069" cy="263247"/>
          </a:xfrm>
          <a:prstGeom prst="rect">
            <a:avLst/>
          </a:prstGeom>
          <a:noFill/>
          <a:ln/>
        </p:spPr>
        <p:txBody>
          <a:bodyPr wrap="none" lIns="0" tIns="0" rIns="0" bIns="0" rtlCol="0" anchor="t"/>
          <a:lstStyle/>
          <a:p>
            <a:pPr algn="l" indent="0" marL="0">
              <a:lnSpc>
                <a:spcPts val="2050"/>
              </a:lnSpc>
              <a:buNone/>
            </a:pPr>
            <a:r>
              <a:rPr lang="en-US" sz="1450" dirty="0">
                <a:solidFill>
                  <a:srgbClr val="E2E6E9"/>
                </a:solidFill>
                <a:latin typeface="Source Sans 3" pitchFamily="34" charset="0"/>
                <a:ea typeface="Source Sans 3" pitchFamily="34" charset="-122"/>
                <a:cs typeface="Source Sans 3" pitchFamily="34" charset="-120"/>
              </a:rPr>
              <a:t>Bu meyarlar qərarın qəbulundan əvvəl, qərar zamanı və sonra tətbiq edilməlidir. Davamlı qiymətləndirmə qərar qəbuletmə prosesini təkmilləşdirməyə kömək edir.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87360" y="971074"/>
            <a:ext cx="1725811" cy="343614"/>
          </a:xfrm>
          <a:prstGeom prst="roundRect">
            <a:avLst>
              <a:gd name="adj" fmla="val 6874"/>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05351" y="1064181"/>
            <a:ext cx="157401" cy="157401"/>
          </a:xfrm>
          <a:prstGeom prst="rect">
            <a:avLst/>
          </a:prstGeom>
        </p:spPr>
      </p:pic>
      <p:sp>
        <p:nvSpPr>
          <p:cNvPr id="4" name="Text 1"/>
          <p:cNvSpPr/>
          <p:nvPr/>
        </p:nvSpPr>
        <p:spPr>
          <a:xfrm>
            <a:off x="1141452" y="1030010"/>
            <a:ext cx="1253728" cy="225743"/>
          </a:xfrm>
          <a:prstGeom prst="rect">
            <a:avLst/>
          </a:prstGeom>
          <a:noFill/>
          <a:ln/>
        </p:spPr>
        <p:txBody>
          <a:bodyPr wrap="none" lIns="0" tIns="0" rIns="0" bIns="0" rtlCol="0" anchor="t"/>
          <a:lstStyle/>
          <a:p>
            <a:pPr algn="l" indent="0" marL="0">
              <a:lnSpc>
                <a:spcPts val="1750"/>
              </a:lnSpc>
              <a:buNone/>
            </a:pPr>
            <a:r>
              <a:rPr lang="en-US" sz="1200" dirty="0">
                <a:solidFill>
                  <a:srgbClr val="E2E6E9"/>
                </a:solidFill>
                <a:latin typeface="Source Sans 3" pitchFamily="34" charset="0"/>
                <a:ea typeface="Source Sans 3" pitchFamily="34" charset="-122"/>
                <a:cs typeface="Source Sans 3" pitchFamily="34" charset="-120"/>
              </a:rPr>
              <a:t>PRAKTIKI TAPŞIRIQ</a:t>
            </a:r>
            <a:endParaRPr lang="en-US" sz="1200" dirty="0"/>
          </a:p>
        </p:txBody>
      </p:sp>
      <p:sp>
        <p:nvSpPr>
          <p:cNvPr id="5" name="Text 2"/>
          <p:cNvSpPr/>
          <p:nvPr/>
        </p:nvSpPr>
        <p:spPr>
          <a:xfrm>
            <a:off x="787360" y="1386364"/>
            <a:ext cx="8028146" cy="559118"/>
          </a:xfrm>
          <a:prstGeom prst="rect">
            <a:avLst/>
          </a:prstGeom>
          <a:noFill/>
          <a:ln/>
        </p:spPr>
        <p:txBody>
          <a:bodyPr wrap="none" lIns="0" tIns="0" rIns="0" bIns="0" rtlCol="0" anchor="t"/>
          <a:lstStyle/>
          <a:p>
            <a:pPr algn="l" indent="0" marL="0">
              <a:lnSpc>
                <a:spcPts val="4400"/>
              </a:lnSpc>
              <a:buNone/>
            </a:pPr>
            <a:r>
              <a:rPr lang="en-US" sz="3500" b="1" dirty="0">
                <a:solidFill>
                  <a:srgbClr val="FFFFFF"/>
                </a:solidFill>
                <a:latin typeface="Montserrat Bold" pitchFamily="34" charset="0"/>
                <a:ea typeface="Montserrat Bold" pitchFamily="34" charset="-122"/>
                <a:cs typeface="Montserrat Bold" pitchFamily="34" charset="-120"/>
              </a:rPr>
              <a:t>Mini-Keys: Yeni Bazara Çıxış Qərarı</a:t>
            </a:r>
            <a:endParaRPr lang="en-US" sz="3500" dirty="0"/>
          </a:p>
        </p:txBody>
      </p:sp>
      <p:sp>
        <p:nvSpPr>
          <p:cNvPr id="6" name="Text 3"/>
          <p:cNvSpPr/>
          <p:nvPr/>
        </p:nvSpPr>
        <p:spPr>
          <a:xfrm>
            <a:off x="787360" y="2214563"/>
            <a:ext cx="13055679" cy="282059"/>
          </a:xfrm>
          <a:prstGeom prst="rect">
            <a:avLst/>
          </a:prstGeom>
          <a:noFill/>
          <a:ln/>
        </p:spPr>
        <p:txBody>
          <a:bodyPr wrap="none" lIns="0" tIns="0" rIns="0" bIns="0" rtlCol="0" anchor="t"/>
          <a:lstStyle/>
          <a:p>
            <a:pPr algn="l" indent="0" marL="0">
              <a:lnSpc>
                <a:spcPts val="2200"/>
              </a:lnSpc>
              <a:buNone/>
            </a:pPr>
            <a:r>
              <a:rPr lang="en-US" sz="1500" b="1" dirty="0">
                <a:solidFill>
                  <a:srgbClr val="E2E6E9"/>
                </a:solidFill>
                <a:latin typeface="Source Sans 3" pitchFamily="34" charset="0"/>
                <a:ea typeface="Source Sans 3" pitchFamily="34" charset="-122"/>
                <a:cs typeface="Source Sans 3" pitchFamily="34" charset="-120"/>
              </a:rPr>
              <a:t>Situasiya:</a:t>
            </a:r>
            <a:pPr algn="l" indent="0" marL="0">
              <a:lnSpc>
                <a:spcPts val="2200"/>
              </a:lnSpc>
              <a:buNone/>
            </a:pPr>
            <a:r>
              <a:rPr lang="en-US" sz="1500" dirty="0">
                <a:solidFill>
                  <a:srgbClr val="E2E6E9"/>
                </a:solidFill>
                <a:latin typeface="Source Sans 3" pitchFamily="34" charset="0"/>
                <a:ea typeface="Source Sans 3" pitchFamily="34" charset="-122"/>
                <a:cs typeface="Source Sans 3" pitchFamily="34" charset="-120"/>
              </a:rPr>
              <a:t> Orta ölçülü texnologiya şirkəti yeni coğrafi bazara genişlənmək imkanını dəyərləndirir. Qərar mürəkkəbdir və əhəmiyyətli investisiya tələb edir.</a:t>
            </a:r>
            <a:endParaRPr lang="en-US" sz="1500" dirty="0"/>
          </a:p>
        </p:txBody>
      </p:sp>
      <p:sp>
        <p:nvSpPr>
          <p:cNvPr id="7" name="Shape 4"/>
          <p:cNvSpPr/>
          <p:nvPr/>
        </p:nvSpPr>
        <p:spPr>
          <a:xfrm>
            <a:off x="787360" y="2919770"/>
            <a:ext cx="13055679" cy="22860"/>
          </a:xfrm>
          <a:prstGeom prst="roundRect">
            <a:avLst>
              <a:gd name="adj" fmla="val 129160"/>
            </a:avLst>
          </a:prstGeom>
          <a:solidFill>
            <a:srgbClr val="494A4B"/>
          </a:solidFill>
          <a:ln/>
        </p:spPr>
      </p:sp>
      <p:sp>
        <p:nvSpPr>
          <p:cNvPr id="8" name="Shape 5"/>
          <p:cNvSpPr/>
          <p:nvPr/>
        </p:nvSpPr>
        <p:spPr>
          <a:xfrm>
            <a:off x="2877026" y="2919710"/>
            <a:ext cx="22860" cy="590431"/>
          </a:xfrm>
          <a:prstGeom prst="roundRect">
            <a:avLst>
              <a:gd name="adj" fmla="val 129160"/>
            </a:avLst>
          </a:prstGeom>
          <a:solidFill>
            <a:srgbClr val="494A4B"/>
          </a:solidFill>
          <a:ln/>
        </p:spPr>
      </p:sp>
      <p:sp>
        <p:nvSpPr>
          <p:cNvPr id="9" name="Shape 6"/>
          <p:cNvSpPr/>
          <p:nvPr/>
        </p:nvSpPr>
        <p:spPr>
          <a:xfrm>
            <a:off x="2667119" y="2698373"/>
            <a:ext cx="442793" cy="442793"/>
          </a:xfrm>
          <a:prstGeom prst="roundRect">
            <a:avLst>
              <a:gd name="adj" fmla="val 6668"/>
            </a:avLst>
          </a:prstGeom>
          <a:solidFill>
            <a:srgbClr val="303132"/>
          </a:solidFill>
          <a:ln/>
        </p:spPr>
      </p:sp>
      <p:sp>
        <p:nvSpPr>
          <p:cNvPr id="10" name="Text 7"/>
          <p:cNvSpPr/>
          <p:nvPr/>
        </p:nvSpPr>
        <p:spPr>
          <a:xfrm>
            <a:off x="2754273" y="2751951"/>
            <a:ext cx="268367" cy="335518"/>
          </a:xfrm>
          <a:prstGeom prst="rect">
            <a:avLst/>
          </a:prstGeom>
          <a:noFill/>
          <a:ln/>
        </p:spPr>
        <p:txBody>
          <a:bodyPr wrap="none" lIns="0" tIns="0" rIns="0" bIns="0" rtlCol="0" anchor="t"/>
          <a:lstStyle/>
          <a:p>
            <a:pPr algn="ctr" indent="0" marL="0">
              <a:lnSpc>
                <a:spcPts val="2100"/>
              </a:lnSpc>
              <a:buNone/>
            </a:pPr>
            <a:r>
              <a:rPr lang="en-US" sz="2100" b="1" dirty="0">
                <a:solidFill>
                  <a:srgbClr val="E2E6E9"/>
                </a:solidFill>
                <a:latin typeface="Montserrat Bold" pitchFamily="34" charset="0"/>
                <a:ea typeface="Montserrat Bold" pitchFamily="34" charset="-122"/>
                <a:cs typeface="Montserrat Bold" pitchFamily="34" charset="-120"/>
              </a:rPr>
              <a:t>1</a:t>
            </a:r>
            <a:endParaRPr lang="en-US" sz="2100" dirty="0"/>
          </a:p>
        </p:txBody>
      </p:sp>
      <p:sp>
        <p:nvSpPr>
          <p:cNvPr id="11" name="Text 8"/>
          <p:cNvSpPr/>
          <p:nvPr/>
        </p:nvSpPr>
        <p:spPr>
          <a:xfrm>
            <a:off x="1420773" y="3707130"/>
            <a:ext cx="2935486" cy="279559"/>
          </a:xfrm>
          <a:prstGeom prst="rect">
            <a:avLst/>
          </a:prstGeom>
          <a:noFill/>
          <a:ln/>
        </p:spPr>
        <p:txBody>
          <a:bodyPr wrap="none" lIns="0" tIns="0" rIns="0" bIns="0" rtlCol="0" anchor="t"/>
          <a:lstStyle/>
          <a:p>
            <a:pPr algn="ctr"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1-ci Mərhələ: İnsan Qərarı</a:t>
            </a:r>
            <a:endParaRPr lang="en-US" sz="1750" dirty="0"/>
          </a:p>
        </p:txBody>
      </p:sp>
      <p:sp>
        <p:nvSpPr>
          <p:cNvPr id="12" name="Text 9"/>
          <p:cNvSpPr/>
          <p:nvPr/>
        </p:nvSpPr>
        <p:spPr>
          <a:xfrm>
            <a:off x="984171" y="4094321"/>
            <a:ext cx="3808809" cy="846177"/>
          </a:xfrm>
          <a:prstGeom prst="rect">
            <a:avLst/>
          </a:prstGeom>
          <a:noFill/>
          <a:ln/>
        </p:spPr>
        <p:txBody>
          <a:bodyPr wrap="square" lIns="0" tIns="0" rIns="0" bIns="0" rtlCol="0" anchor="t"/>
          <a:lstStyle/>
          <a:p>
            <a:pPr algn="ctr" indent="0" marL="0">
              <a:lnSpc>
                <a:spcPts val="2200"/>
              </a:lnSpc>
              <a:buNone/>
            </a:pPr>
            <a:r>
              <a:rPr lang="en-US" sz="1500" dirty="0">
                <a:solidFill>
                  <a:srgbClr val="E2E6E9"/>
                </a:solidFill>
                <a:latin typeface="Source Sans 3" pitchFamily="34" charset="0"/>
                <a:ea typeface="Source Sans 3" pitchFamily="34" charset="-122"/>
                <a:cs typeface="Source Sans 3" pitchFamily="34" charset="-120"/>
              </a:rPr>
              <a:t>Qrup olaraq klassik və intuisiya əsaslı yanaşmalarla qərar qəbul edin. Nəzərə alın: bazar potensialı, rəqabət, resurslar, risklər.</a:t>
            </a:r>
            <a:endParaRPr lang="en-US" sz="1500" dirty="0"/>
          </a:p>
        </p:txBody>
      </p:sp>
      <p:sp>
        <p:nvSpPr>
          <p:cNvPr id="13" name="Shape 10"/>
          <p:cNvSpPr/>
          <p:nvPr/>
        </p:nvSpPr>
        <p:spPr>
          <a:xfrm>
            <a:off x="7303651" y="2919710"/>
            <a:ext cx="22860" cy="590431"/>
          </a:xfrm>
          <a:prstGeom prst="roundRect">
            <a:avLst>
              <a:gd name="adj" fmla="val 129160"/>
            </a:avLst>
          </a:prstGeom>
          <a:solidFill>
            <a:srgbClr val="494A4B"/>
          </a:solidFill>
          <a:ln/>
        </p:spPr>
      </p:sp>
      <p:sp>
        <p:nvSpPr>
          <p:cNvPr id="14" name="Shape 11"/>
          <p:cNvSpPr/>
          <p:nvPr/>
        </p:nvSpPr>
        <p:spPr>
          <a:xfrm>
            <a:off x="7093744" y="2698373"/>
            <a:ext cx="442793" cy="442793"/>
          </a:xfrm>
          <a:prstGeom prst="roundRect">
            <a:avLst>
              <a:gd name="adj" fmla="val 6668"/>
            </a:avLst>
          </a:prstGeom>
          <a:solidFill>
            <a:srgbClr val="303132"/>
          </a:solidFill>
          <a:ln/>
        </p:spPr>
      </p:sp>
      <p:sp>
        <p:nvSpPr>
          <p:cNvPr id="15" name="Text 12"/>
          <p:cNvSpPr/>
          <p:nvPr/>
        </p:nvSpPr>
        <p:spPr>
          <a:xfrm>
            <a:off x="7180898" y="2751951"/>
            <a:ext cx="268367" cy="335518"/>
          </a:xfrm>
          <a:prstGeom prst="rect">
            <a:avLst/>
          </a:prstGeom>
          <a:noFill/>
          <a:ln/>
        </p:spPr>
        <p:txBody>
          <a:bodyPr wrap="none" lIns="0" tIns="0" rIns="0" bIns="0" rtlCol="0" anchor="t"/>
          <a:lstStyle/>
          <a:p>
            <a:pPr algn="ctr" indent="0" marL="0">
              <a:lnSpc>
                <a:spcPts val="2100"/>
              </a:lnSpc>
              <a:buNone/>
            </a:pPr>
            <a:r>
              <a:rPr lang="en-US" sz="2100" b="1" dirty="0">
                <a:solidFill>
                  <a:srgbClr val="E2E6E9"/>
                </a:solidFill>
                <a:latin typeface="Montserrat Bold" pitchFamily="34" charset="0"/>
                <a:ea typeface="Montserrat Bold" pitchFamily="34" charset="-122"/>
                <a:cs typeface="Montserrat Bold" pitchFamily="34" charset="-120"/>
              </a:rPr>
              <a:t>2</a:t>
            </a:r>
            <a:endParaRPr lang="en-US" sz="2100" dirty="0"/>
          </a:p>
        </p:txBody>
      </p:sp>
      <p:sp>
        <p:nvSpPr>
          <p:cNvPr id="16" name="Text 13"/>
          <p:cNvSpPr/>
          <p:nvPr/>
        </p:nvSpPr>
        <p:spPr>
          <a:xfrm>
            <a:off x="6002774" y="3707130"/>
            <a:ext cx="2624733" cy="279559"/>
          </a:xfrm>
          <a:prstGeom prst="rect">
            <a:avLst/>
          </a:prstGeom>
          <a:noFill/>
          <a:ln/>
        </p:spPr>
        <p:txBody>
          <a:bodyPr wrap="none" lIns="0" tIns="0" rIns="0" bIns="0" rtlCol="0" anchor="t"/>
          <a:lstStyle/>
          <a:p>
            <a:pPr algn="ctr"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2-ci Mərhələ: SI Analizi</a:t>
            </a:r>
            <a:endParaRPr lang="en-US" sz="1750" dirty="0"/>
          </a:p>
        </p:txBody>
      </p:sp>
      <p:sp>
        <p:nvSpPr>
          <p:cNvPr id="17" name="Text 14"/>
          <p:cNvSpPr/>
          <p:nvPr/>
        </p:nvSpPr>
        <p:spPr>
          <a:xfrm>
            <a:off x="5410795" y="4094321"/>
            <a:ext cx="3808809" cy="846177"/>
          </a:xfrm>
          <a:prstGeom prst="rect">
            <a:avLst/>
          </a:prstGeom>
          <a:noFill/>
          <a:ln/>
        </p:spPr>
        <p:txBody>
          <a:bodyPr wrap="square" lIns="0" tIns="0" rIns="0" bIns="0" rtlCol="0" anchor="t"/>
          <a:lstStyle/>
          <a:p>
            <a:pPr algn="ctr" indent="0" marL="0">
              <a:lnSpc>
                <a:spcPts val="2200"/>
              </a:lnSpc>
              <a:buNone/>
            </a:pPr>
            <a:r>
              <a:rPr lang="en-US" sz="1500" dirty="0">
                <a:solidFill>
                  <a:srgbClr val="E2E6E9"/>
                </a:solidFill>
                <a:latin typeface="Source Sans 3" pitchFamily="34" charset="0"/>
                <a:ea typeface="Source Sans 3" pitchFamily="34" charset="-122"/>
                <a:cs typeface="Source Sans 3" pitchFamily="34" charset="-120"/>
              </a:rPr>
              <a:t>Eyni qərarı SI alətləri ilə dəyərləndirin. SI nə kimi məlumatlar tələb edər? Hansı proqnozlar verər? Hansı riskləri önə çəkər?</a:t>
            </a:r>
            <a:endParaRPr lang="en-US" sz="1500" dirty="0"/>
          </a:p>
        </p:txBody>
      </p:sp>
      <p:sp>
        <p:nvSpPr>
          <p:cNvPr id="18" name="Shape 15"/>
          <p:cNvSpPr/>
          <p:nvPr/>
        </p:nvSpPr>
        <p:spPr>
          <a:xfrm>
            <a:off x="11730276" y="2919710"/>
            <a:ext cx="22860" cy="590431"/>
          </a:xfrm>
          <a:prstGeom prst="roundRect">
            <a:avLst>
              <a:gd name="adj" fmla="val 129160"/>
            </a:avLst>
          </a:prstGeom>
          <a:solidFill>
            <a:srgbClr val="494A4B"/>
          </a:solidFill>
          <a:ln/>
        </p:spPr>
      </p:sp>
      <p:sp>
        <p:nvSpPr>
          <p:cNvPr id="19" name="Shape 16"/>
          <p:cNvSpPr/>
          <p:nvPr/>
        </p:nvSpPr>
        <p:spPr>
          <a:xfrm>
            <a:off x="11520368" y="2698373"/>
            <a:ext cx="442793" cy="442793"/>
          </a:xfrm>
          <a:prstGeom prst="roundRect">
            <a:avLst>
              <a:gd name="adj" fmla="val 6668"/>
            </a:avLst>
          </a:prstGeom>
          <a:solidFill>
            <a:srgbClr val="303132"/>
          </a:solidFill>
          <a:ln/>
        </p:spPr>
      </p:sp>
      <p:sp>
        <p:nvSpPr>
          <p:cNvPr id="20" name="Text 17"/>
          <p:cNvSpPr/>
          <p:nvPr/>
        </p:nvSpPr>
        <p:spPr>
          <a:xfrm>
            <a:off x="11607522" y="2751951"/>
            <a:ext cx="268367" cy="335518"/>
          </a:xfrm>
          <a:prstGeom prst="rect">
            <a:avLst/>
          </a:prstGeom>
          <a:noFill/>
          <a:ln/>
        </p:spPr>
        <p:txBody>
          <a:bodyPr wrap="none" lIns="0" tIns="0" rIns="0" bIns="0" rtlCol="0" anchor="t"/>
          <a:lstStyle/>
          <a:p>
            <a:pPr algn="ctr" indent="0" marL="0">
              <a:lnSpc>
                <a:spcPts val="2100"/>
              </a:lnSpc>
              <a:buNone/>
            </a:pPr>
            <a:r>
              <a:rPr lang="en-US" sz="2100" b="1" dirty="0">
                <a:solidFill>
                  <a:srgbClr val="E2E6E9"/>
                </a:solidFill>
                <a:latin typeface="Montserrat Bold" pitchFamily="34" charset="0"/>
                <a:ea typeface="Montserrat Bold" pitchFamily="34" charset="-122"/>
                <a:cs typeface="Montserrat Bold" pitchFamily="34" charset="-120"/>
              </a:rPr>
              <a:t>3</a:t>
            </a:r>
            <a:endParaRPr lang="en-US" sz="2100" dirty="0"/>
          </a:p>
        </p:txBody>
      </p:sp>
      <p:sp>
        <p:nvSpPr>
          <p:cNvPr id="21" name="Text 18"/>
          <p:cNvSpPr/>
          <p:nvPr/>
        </p:nvSpPr>
        <p:spPr>
          <a:xfrm>
            <a:off x="10359271" y="3707130"/>
            <a:ext cx="2765108" cy="279559"/>
          </a:xfrm>
          <a:prstGeom prst="rect">
            <a:avLst/>
          </a:prstGeom>
          <a:noFill/>
          <a:ln/>
        </p:spPr>
        <p:txBody>
          <a:bodyPr wrap="none" lIns="0" tIns="0" rIns="0" bIns="0" rtlCol="0" anchor="t"/>
          <a:lstStyle/>
          <a:p>
            <a:pPr algn="ctr"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3-cü Mərhələ: Müqayisə</a:t>
            </a:r>
            <a:endParaRPr lang="en-US" sz="1750" dirty="0"/>
          </a:p>
        </p:txBody>
      </p:sp>
      <p:sp>
        <p:nvSpPr>
          <p:cNvPr id="22" name="Text 19"/>
          <p:cNvSpPr/>
          <p:nvPr/>
        </p:nvSpPr>
        <p:spPr>
          <a:xfrm>
            <a:off x="9837420" y="4094321"/>
            <a:ext cx="3808809" cy="846177"/>
          </a:xfrm>
          <a:prstGeom prst="rect">
            <a:avLst/>
          </a:prstGeom>
          <a:noFill/>
          <a:ln/>
        </p:spPr>
        <p:txBody>
          <a:bodyPr wrap="square" lIns="0" tIns="0" rIns="0" bIns="0" rtlCol="0" anchor="t"/>
          <a:lstStyle/>
          <a:p>
            <a:pPr algn="ctr" indent="0" marL="0">
              <a:lnSpc>
                <a:spcPts val="2200"/>
              </a:lnSpc>
              <a:buNone/>
            </a:pPr>
            <a:r>
              <a:rPr lang="en-US" sz="1500" dirty="0">
                <a:solidFill>
                  <a:srgbClr val="E2E6E9"/>
                </a:solidFill>
                <a:latin typeface="Source Sans 3" pitchFamily="34" charset="0"/>
                <a:ea typeface="Source Sans 3" pitchFamily="34" charset="-122"/>
                <a:cs typeface="Source Sans 3" pitchFamily="34" charset="-120"/>
              </a:rPr>
              <a:t>İnsan və SI qərarlarını müqayisə edin. Fərqlər nədir? Hansı yanaşma daha ətraflıdır? Hibrid qərar necə görünər?</a:t>
            </a:r>
            <a:endParaRPr lang="en-US" sz="1500" dirty="0"/>
          </a:p>
        </p:txBody>
      </p:sp>
      <p:sp>
        <p:nvSpPr>
          <p:cNvPr id="23" name="Text 20"/>
          <p:cNvSpPr/>
          <p:nvPr/>
        </p:nvSpPr>
        <p:spPr>
          <a:xfrm>
            <a:off x="787360" y="5321617"/>
            <a:ext cx="2236708" cy="279559"/>
          </a:xfrm>
          <a:prstGeom prst="rect">
            <a:avLst/>
          </a:prstGeom>
          <a:noFill/>
          <a:ln/>
        </p:spPr>
        <p:txBody>
          <a:bodyPr wrap="none" lIns="0" tIns="0" rIns="0" bIns="0" rtlCol="0" anchor="t"/>
          <a:lstStyle/>
          <a:p>
            <a:pPr algn="l" indent="0" marL="0">
              <a:lnSpc>
                <a:spcPts val="2200"/>
              </a:lnSpc>
              <a:buNone/>
            </a:pPr>
            <a:r>
              <a:rPr lang="en-US" sz="1750" b="1" dirty="0">
                <a:solidFill>
                  <a:srgbClr val="FFFFFF"/>
                </a:solidFill>
                <a:latin typeface="Montserrat Bold" pitchFamily="34" charset="0"/>
                <a:ea typeface="Montserrat Bold" pitchFamily="34" charset="-122"/>
                <a:cs typeface="Montserrat Bold" pitchFamily="34" charset="-120"/>
              </a:rPr>
              <a:t>Müzakirə Sualları</a:t>
            </a:r>
            <a:endParaRPr lang="en-US" sz="1750" dirty="0"/>
          </a:p>
        </p:txBody>
      </p:sp>
      <p:sp>
        <p:nvSpPr>
          <p:cNvPr id="24" name="Text 21"/>
          <p:cNvSpPr/>
          <p:nvPr/>
        </p:nvSpPr>
        <p:spPr>
          <a:xfrm>
            <a:off x="787360" y="5780484"/>
            <a:ext cx="6287810" cy="1316474"/>
          </a:xfrm>
          <a:prstGeom prst="rect">
            <a:avLst/>
          </a:prstGeom>
          <a:noFill/>
          <a:ln/>
        </p:spPr>
        <p:txBody>
          <a:bodyPr wrap="square" lIns="0" tIns="0" rIns="0" bIns="0" rtlCol="0" anchor="t"/>
          <a:lstStyle/>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İnsan intuisiyası hansı aspektləri daha yaxşı qiymətləndirir?</a:t>
            </a:r>
            <a:endParaRPr lang="en-US" sz="1500" dirty="0"/>
          </a:p>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SI hansı məlumatları daha effektiv analiz edir?</a:t>
            </a:r>
            <a:endParaRPr lang="en-US" sz="1500" dirty="0"/>
          </a:p>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Hansı halda SI-yə etibar etmək təhlükəli ola bilər?</a:t>
            </a:r>
            <a:endParaRPr lang="en-US" sz="1500" dirty="0"/>
          </a:p>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Final qərarı kim verməlidir və niyə?</a:t>
            </a:r>
            <a:endParaRPr lang="en-US" sz="1500" dirty="0"/>
          </a:p>
        </p:txBody>
      </p:sp>
      <p:sp>
        <p:nvSpPr>
          <p:cNvPr id="25" name="Text 22"/>
          <p:cNvSpPr/>
          <p:nvPr/>
        </p:nvSpPr>
        <p:spPr>
          <a:xfrm>
            <a:off x="7562850" y="5321617"/>
            <a:ext cx="2357914" cy="279559"/>
          </a:xfrm>
          <a:prstGeom prst="rect">
            <a:avLst/>
          </a:prstGeom>
          <a:noFill/>
          <a:ln/>
        </p:spPr>
        <p:txBody>
          <a:bodyPr wrap="none" lIns="0" tIns="0" rIns="0" bIns="0" rtlCol="0" anchor="t"/>
          <a:lstStyle/>
          <a:p>
            <a:pPr algn="l" indent="0" marL="0">
              <a:lnSpc>
                <a:spcPts val="2200"/>
              </a:lnSpc>
              <a:buNone/>
            </a:pPr>
            <a:r>
              <a:rPr lang="en-US" sz="1750" b="1" dirty="0">
                <a:solidFill>
                  <a:srgbClr val="FFFFFF"/>
                </a:solidFill>
                <a:latin typeface="Montserrat Bold" pitchFamily="34" charset="0"/>
                <a:ea typeface="Montserrat Bold" pitchFamily="34" charset="-122"/>
                <a:cs typeface="Montserrat Bold" pitchFamily="34" charset="-120"/>
              </a:rPr>
              <a:t>Gözlənilən Nəticələr</a:t>
            </a:r>
            <a:endParaRPr lang="en-US" sz="1750" dirty="0"/>
          </a:p>
        </p:txBody>
      </p:sp>
      <p:sp>
        <p:nvSpPr>
          <p:cNvPr id="26" name="Text 23"/>
          <p:cNvSpPr/>
          <p:nvPr/>
        </p:nvSpPr>
        <p:spPr>
          <a:xfrm>
            <a:off x="7562850" y="5780484"/>
            <a:ext cx="6287810" cy="282059"/>
          </a:xfrm>
          <a:prstGeom prst="rect">
            <a:avLst/>
          </a:prstGeom>
          <a:noFill/>
          <a:ln/>
        </p:spPr>
        <p:txBody>
          <a:bodyPr wrap="none" lIns="0" tIns="0" rIns="0" bIns="0" rtlCol="0" anchor="t"/>
          <a:lstStyle/>
          <a:p>
            <a:pPr algn="l" indent="0" marL="0">
              <a:lnSpc>
                <a:spcPts val="2200"/>
              </a:lnSpc>
              <a:buNone/>
            </a:pPr>
            <a:r>
              <a:rPr lang="en-US" sz="1500" dirty="0">
                <a:solidFill>
                  <a:srgbClr val="E2E6E9"/>
                </a:solidFill>
                <a:latin typeface="Source Sans 3" pitchFamily="34" charset="0"/>
                <a:ea typeface="Source Sans 3" pitchFamily="34" charset="-122"/>
                <a:cs typeface="Source Sans 3" pitchFamily="34" charset="-120"/>
              </a:rPr>
              <a:t>Bu tapşırıq sizə kömək edəcək:</a:t>
            </a:r>
            <a:endParaRPr lang="en-US" sz="1500" dirty="0"/>
          </a:p>
        </p:txBody>
      </p:sp>
      <p:sp>
        <p:nvSpPr>
          <p:cNvPr id="27" name="Text 24"/>
          <p:cNvSpPr/>
          <p:nvPr/>
        </p:nvSpPr>
        <p:spPr>
          <a:xfrm>
            <a:off x="7562850" y="6223992"/>
            <a:ext cx="6287810" cy="971669"/>
          </a:xfrm>
          <a:prstGeom prst="rect">
            <a:avLst/>
          </a:prstGeom>
          <a:noFill/>
          <a:ln/>
        </p:spPr>
        <p:txBody>
          <a:bodyPr wrap="square" lIns="0" tIns="0" rIns="0" bIns="0" rtlCol="0" anchor="t"/>
          <a:lstStyle/>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İnsan və SI qərarlarının fərqlərini görməyə</a:t>
            </a:r>
            <a:endParaRPr lang="en-US" sz="1500" dirty="0"/>
          </a:p>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Hər yanaşmanın güclü və zəif tərəflərini anlamağa</a:t>
            </a:r>
            <a:endParaRPr lang="en-US" sz="1500" dirty="0"/>
          </a:p>
          <a:p>
            <a:pPr algn="l" marL="342900" indent="-342900">
              <a:lnSpc>
                <a:spcPts val="2200"/>
              </a:lnSpc>
              <a:buSzPct val="100000"/>
              <a:buChar char="•"/>
            </a:pPr>
            <a:r>
              <a:rPr lang="en-US" sz="1500" dirty="0">
                <a:solidFill>
                  <a:srgbClr val="E2E6E9"/>
                </a:solidFill>
                <a:latin typeface="Source Sans 3" pitchFamily="34" charset="0"/>
                <a:ea typeface="Source Sans 3" pitchFamily="34" charset="-122"/>
                <a:cs typeface="Source Sans 3" pitchFamily="34" charset="-120"/>
              </a:rPr>
              <a:t>Hibrid modelin praktiki tətbiqini təcrübə etməyə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1385530" y="1050369"/>
            <a:ext cx="1119188" cy="289560"/>
          </a:xfrm>
          <a:prstGeom prst="roundRect">
            <a:avLst>
              <a:gd name="adj" fmla="val 6856"/>
            </a:avLst>
          </a:prstGeom>
          <a:noFill/>
          <a:ln w="7620">
            <a:solidFill>
              <a:srgbClr val="FFFFFF"/>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92329" y="1128951"/>
            <a:ext cx="132278" cy="132278"/>
          </a:xfrm>
          <a:prstGeom prst="rect">
            <a:avLst/>
          </a:prstGeom>
        </p:spPr>
      </p:pic>
      <p:sp>
        <p:nvSpPr>
          <p:cNvPr id="4" name="Text 1"/>
          <p:cNvSpPr/>
          <p:nvPr/>
        </p:nvSpPr>
        <p:spPr>
          <a:xfrm>
            <a:off x="1690688" y="1107519"/>
            <a:ext cx="707231" cy="175260"/>
          </a:xfrm>
          <a:prstGeom prst="rect">
            <a:avLst/>
          </a:prstGeom>
          <a:noFill/>
          <a:ln/>
        </p:spPr>
        <p:txBody>
          <a:bodyPr wrap="none" lIns="0" tIns="0" rIns="0" bIns="0" rtlCol="0" anchor="t"/>
          <a:lstStyle/>
          <a:p>
            <a:pPr algn="l" indent="0" marL="0">
              <a:lnSpc>
                <a:spcPts val="1350"/>
              </a:lnSpc>
              <a:buNone/>
            </a:pPr>
            <a:r>
              <a:rPr lang="en-US" sz="1000" dirty="0">
                <a:solidFill>
                  <a:srgbClr val="FFFFFF"/>
                </a:solidFill>
                <a:latin typeface="Source Sans 3" pitchFamily="34" charset="0"/>
                <a:ea typeface="Source Sans 3" pitchFamily="34" charset="-122"/>
                <a:cs typeface="Source Sans 3" pitchFamily="34" charset="-120"/>
              </a:rPr>
              <a:t>EV TAPŞIRIĞI</a:t>
            </a:r>
            <a:endParaRPr lang="en-US" sz="1000" dirty="0"/>
          </a:p>
        </p:txBody>
      </p:sp>
      <p:sp>
        <p:nvSpPr>
          <p:cNvPr id="5" name="Text 2"/>
          <p:cNvSpPr/>
          <p:nvPr/>
        </p:nvSpPr>
        <p:spPr>
          <a:xfrm>
            <a:off x="1385530" y="1390531"/>
            <a:ext cx="8514517" cy="469940"/>
          </a:xfrm>
          <a:prstGeom prst="rect">
            <a:avLst/>
          </a:prstGeom>
          <a:noFill/>
          <a:ln/>
        </p:spPr>
        <p:txBody>
          <a:bodyPr wrap="none" lIns="0" tIns="0" rIns="0" bIns="0" rtlCol="0" anchor="t"/>
          <a:lstStyle/>
          <a:p>
            <a:pPr algn="l" indent="0" marL="0">
              <a:lnSpc>
                <a:spcPts val="3700"/>
              </a:lnSpc>
              <a:buNone/>
            </a:pPr>
            <a:r>
              <a:rPr lang="en-US" sz="2950" b="1" dirty="0">
                <a:solidFill>
                  <a:srgbClr val="FFFFFF"/>
                </a:solidFill>
                <a:latin typeface="Montserrat Bold" pitchFamily="34" charset="0"/>
                <a:ea typeface="Montserrat Bold" pitchFamily="34" charset="-122"/>
                <a:cs typeface="Montserrat Bold" pitchFamily="34" charset="-120"/>
              </a:rPr>
              <a:t>Praktiki Tətbiq: Öz Qərar Halınızı Təhlil Edin</a:t>
            </a:r>
            <a:endParaRPr lang="en-US" sz="2950" dirty="0"/>
          </a:p>
        </p:txBody>
      </p:sp>
      <p:sp>
        <p:nvSpPr>
          <p:cNvPr id="6" name="Text 3"/>
          <p:cNvSpPr/>
          <p:nvPr/>
        </p:nvSpPr>
        <p:spPr>
          <a:xfrm>
            <a:off x="1385530" y="2050494"/>
            <a:ext cx="11859339"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Bu tapşırıq sizə dərsdə öyrəndiklərinizi real idarəetmə kontekstində tətbiq etməyə imkan verəcək. Ətraflı təhlil aparın və düşüncələrinizi strukturlaşdırın.</a:t>
            </a:r>
            <a:endParaRPr lang="en-US" sz="1300" dirty="0"/>
          </a:p>
        </p:txBody>
      </p:sp>
      <p:sp>
        <p:nvSpPr>
          <p:cNvPr id="7" name="Text 4"/>
          <p:cNvSpPr/>
          <p:nvPr/>
        </p:nvSpPr>
        <p:spPr>
          <a:xfrm>
            <a:off x="1385530" y="2411968"/>
            <a:ext cx="165378" cy="206693"/>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Montserrat Light" pitchFamily="34" charset="0"/>
                <a:ea typeface="Montserrat Light" pitchFamily="34" charset="-122"/>
                <a:cs typeface="Montserrat Light" pitchFamily="34" charset="-120"/>
              </a:rPr>
              <a:t>01</a:t>
            </a:r>
            <a:endParaRPr lang="en-US" sz="1300" dirty="0"/>
          </a:p>
        </p:txBody>
      </p:sp>
      <p:sp>
        <p:nvSpPr>
          <p:cNvPr id="8" name="Shape 5"/>
          <p:cNvSpPr/>
          <p:nvPr/>
        </p:nvSpPr>
        <p:spPr>
          <a:xfrm>
            <a:off x="1385530" y="2670096"/>
            <a:ext cx="5866328" cy="22860"/>
          </a:xfrm>
          <a:prstGeom prst="rect">
            <a:avLst/>
          </a:prstGeom>
          <a:solidFill>
            <a:srgbClr val="FFFFFF"/>
          </a:solidFill>
          <a:ln/>
        </p:spPr>
      </p:sp>
      <p:sp>
        <p:nvSpPr>
          <p:cNvPr id="9" name="Text 6"/>
          <p:cNvSpPr/>
          <p:nvPr/>
        </p:nvSpPr>
        <p:spPr>
          <a:xfrm>
            <a:off x="1385530" y="2798445"/>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Real Qərar Seçin</a:t>
            </a:r>
            <a:endParaRPr lang="en-US" sz="1450" dirty="0"/>
          </a:p>
        </p:txBody>
      </p:sp>
      <p:sp>
        <p:nvSpPr>
          <p:cNvPr id="10" name="Text 7"/>
          <p:cNvSpPr/>
          <p:nvPr/>
        </p:nvSpPr>
        <p:spPr>
          <a:xfrm>
            <a:off x="1385530" y="3109317"/>
            <a:ext cx="5866328"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Özünüzün və ya tanış olduğunuz bir təşkilatın qarşılaşdığı real idarəetmə qərarını təsvir edin. Qərar kifayət qədər mürəkkəb olmalıdır.</a:t>
            </a:r>
            <a:endParaRPr lang="en-US" sz="1300" dirty="0"/>
          </a:p>
        </p:txBody>
      </p:sp>
      <p:sp>
        <p:nvSpPr>
          <p:cNvPr id="11" name="Text 8"/>
          <p:cNvSpPr/>
          <p:nvPr/>
        </p:nvSpPr>
        <p:spPr>
          <a:xfrm>
            <a:off x="7378541" y="2411968"/>
            <a:ext cx="165378" cy="206693"/>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Montserrat Light" pitchFamily="34" charset="0"/>
                <a:ea typeface="Montserrat Light" pitchFamily="34" charset="-122"/>
                <a:cs typeface="Montserrat Light" pitchFamily="34" charset="-120"/>
              </a:rPr>
              <a:t>02</a:t>
            </a:r>
            <a:endParaRPr lang="en-US" sz="1300" dirty="0"/>
          </a:p>
        </p:txBody>
      </p:sp>
      <p:sp>
        <p:nvSpPr>
          <p:cNvPr id="12" name="Shape 9"/>
          <p:cNvSpPr/>
          <p:nvPr/>
        </p:nvSpPr>
        <p:spPr>
          <a:xfrm>
            <a:off x="7378541" y="2670096"/>
            <a:ext cx="5866328" cy="22860"/>
          </a:xfrm>
          <a:prstGeom prst="rect">
            <a:avLst/>
          </a:prstGeom>
          <a:solidFill>
            <a:srgbClr val="FFFFFF"/>
          </a:solidFill>
          <a:ln/>
        </p:spPr>
      </p:sp>
      <p:sp>
        <p:nvSpPr>
          <p:cNvPr id="13" name="Text 10"/>
          <p:cNvSpPr/>
          <p:nvPr/>
        </p:nvSpPr>
        <p:spPr>
          <a:xfrm>
            <a:off x="7378541" y="2798445"/>
            <a:ext cx="2980015"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Mövcud Yanaşmanı Təhlil Edin</a:t>
            </a:r>
            <a:endParaRPr lang="en-US" sz="1450" dirty="0"/>
          </a:p>
        </p:txBody>
      </p:sp>
      <p:sp>
        <p:nvSpPr>
          <p:cNvPr id="14" name="Text 11"/>
          <p:cNvSpPr/>
          <p:nvPr/>
        </p:nvSpPr>
        <p:spPr>
          <a:xfrm>
            <a:off x="7378541" y="3109317"/>
            <a:ext cx="5866328"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Qərarın necə qəbul edildiyini izah edin. Hansı model istifadə olundu? Hansı məlumatlar nəzərə alındı? Kimlər qərar prosesində iştirak etdi?</a:t>
            </a:r>
            <a:endParaRPr lang="en-US" sz="1300" dirty="0"/>
          </a:p>
        </p:txBody>
      </p:sp>
      <p:sp>
        <p:nvSpPr>
          <p:cNvPr id="15" name="Text 12"/>
          <p:cNvSpPr/>
          <p:nvPr/>
        </p:nvSpPr>
        <p:spPr>
          <a:xfrm>
            <a:off x="1385530" y="3797975"/>
            <a:ext cx="165378" cy="206693"/>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Montserrat Light" pitchFamily="34" charset="0"/>
                <a:ea typeface="Montserrat Light" pitchFamily="34" charset="-122"/>
                <a:cs typeface="Montserrat Light" pitchFamily="34" charset="-120"/>
              </a:rPr>
              <a:t>03</a:t>
            </a:r>
            <a:endParaRPr lang="en-US" sz="1300" dirty="0"/>
          </a:p>
        </p:txBody>
      </p:sp>
      <p:sp>
        <p:nvSpPr>
          <p:cNvPr id="16" name="Shape 13"/>
          <p:cNvSpPr/>
          <p:nvPr/>
        </p:nvSpPr>
        <p:spPr>
          <a:xfrm>
            <a:off x="1385530" y="4056102"/>
            <a:ext cx="5866328" cy="22860"/>
          </a:xfrm>
          <a:prstGeom prst="rect">
            <a:avLst/>
          </a:prstGeom>
          <a:solidFill>
            <a:srgbClr val="FFFFFF"/>
          </a:solidFill>
          <a:ln/>
        </p:spPr>
      </p:sp>
      <p:sp>
        <p:nvSpPr>
          <p:cNvPr id="17" name="Text 14"/>
          <p:cNvSpPr/>
          <p:nvPr/>
        </p:nvSpPr>
        <p:spPr>
          <a:xfrm>
            <a:off x="1385530" y="4184452"/>
            <a:ext cx="3704153"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SI Tətbiq İmkanlarını Müəyyənləşdirin</a:t>
            </a:r>
            <a:endParaRPr lang="en-US" sz="1450" dirty="0"/>
          </a:p>
        </p:txBody>
      </p:sp>
      <p:sp>
        <p:nvSpPr>
          <p:cNvPr id="18" name="Text 15"/>
          <p:cNvSpPr/>
          <p:nvPr/>
        </p:nvSpPr>
        <p:spPr>
          <a:xfrm>
            <a:off x="1385530" y="4495324"/>
            <a:ext cx="5866328"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SI texnologiyalarının bu qərarı necə təkmilləşdirə biləcəyini göstərin. Hansı SI alətləri faydalı olardı? Hansı yeni məlumatlar əldə edilə bilərdi?</a:t>
            </a:r>
            <a:endParaRPr lang="en-US" sz="1300" dirty="0"/>
          </a:p>
        </p:txBody>
      </p:sp>
      <p:sp>
        <p:nvSpPr>
          <p:cNvPr id="19" name="Text 16"/>
          <p:cNvSpPr/>
          <p:nvPr/>
        </p:nvSpPr>
        <p:spPr>
          <a:xfrm>
            <a:off x="7378541" y="3797975"/>
            <a:ext cx="165378" cy="206693"/>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Montserrat Light" pitchFamily="34" charset="0"/>
                <a:ea typeface="Montserrat Light" pitchFamily="34" charset="-122"/>
                <a:cs typeface="Montserrat Light" pitchFamily="34" charset="-120"/>
              </a:rPr>
              <a:t>04</a:t>
            </a:r>
            <a:endParaRPr lang="en-US" sz="1300" dirty="0"/>
          </a:p>
        </p:txBody>
      </p:sp>
      <p:sp>
        <p:nvSpPr>
          <p:cNvPr id="20" name="Shape 17"/>
          <p:cNvSpPr/>
          <p:nvPr/>
        </p:nvSpPr>
        <p:spPr>
          <a:xfrm>
            <a:off x="7378541" y="4056102"/>
            <a:ext cx="5866328" cy="22860"/>
          </a:xfrm>
          <a:prstGeom prst="rect">
            <a:avLst/>
          </a:prstGeom>
          <a:solidFill>
            <a:srgbClr val="FFFFFF"/>
          </a:solidFill>
          <a:ln/>
        </p:spPr>
      </p:sp>
      <p:sp>
        <p:nvSpPr>
          <p:cNvPr id="21" name="Text 18"/>
          <p:cNvSpPr/>
          <p:nvPr/>
        </p:nvSpPr>
        <p:spPr>
          <a:xfrm>
            <a:off x="7378541" y="4184452"/>
            <a:ext cx="2739747"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Hibrid Strategiya Təklif Edin</a:t>
            </a:r>
            <a:endParaRPr lang="en-US" sz="1450" dirty="0"/>
          </a:p>
        </p:txBody>
      </p:sp>
      <p:sp>
        <p:nvSpPr>
          <p:cNvPr id="22" name="Text 19"/>
          <p:cNvSpPr/>
          <p:nvPr/>
        </p:nvSpPr>
        <p:spPr>
          <a:xfrm>
            <a:off x="7378541" y="4495324"/>
            <a:ext cx="5866328"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İnsan intuisiyası və SI analitikasını birləşdirən hibrid yanaşma təklif edin. Hər tərəfin rolu nə olmalıdır?</a:t>
            </a:r>
            <a:endParaRPr lang="en-US" sz="1300" dirty="0"/>
          </a:p>
        </p:txBody>
      </p:sp>
      <p:sp>
        <p:nvSpPr>
          <p:cNvPr id="23" name="Shape 20"/>
          <p:cNvSpPr/>
          <p:nvPr/>
        </p:nvSpPr>
        <p:spPr>
          <a:xfrm>
            <a:off x="1385530" y="5282489"/>
            <a:ext cx="11859339" cy="28218"/>
          </a:xfrm>
          <a:prstGeom prst="rect">
            <a:avLst/>
          </a:prstGeom>
          <a:solidFill>
            <a:srgbClr val="E2E6E9">
              <a:alpha val="50000"/>
            </a:srgbClr>
          </a:solidFill>
          <a:ln/>
        </p:spPr>
      </p:sp>
      <p:sp>
        <p:nvSpPr>
          <p:cNvPr id="24" name="Shape 21"/>
          <p:cNvSpPr/>
          <p:nvPr/>
        </p:nvSpPr>
        <p:spPr>
          <a:xfrm>
            <a:off x="1385530" y="5453182"/>
            <a:ext cx="3868579" cy="1079540"/>
          </a:xfrm>
          <a:prstGeom prst="roundRect">
            <a:avLst>
              <a:gd name="adj" fmla="val 2299"/>
            </a:avLst>
          </a:prstGeom>
          <a:solidFill>
            <a:srgbClr val="303132"/>
          </a:solidFill>
          <a:ln/>
        </p:spPr>
      </p:sp>
      <p:sp>
        <p:nvSpPr>
          <p:cNvPr id="25" name="Text 22"/>
          <p:cNvSpPr/>
          <p:nvPr/>
        </p:nvSpPr>
        <p:spPr>
          <a:xfrm>
            <a:off x="1550908" y="5618559"/>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Təqdim Formatı</a:t>
            </a:r>
            <a:endParaRPr lang="en-US" sz="1450" dirty="0"/>
          </a:p>
        </p:txBody>
      </p:sp>
      <p:sp>
        <p:nvSpPr>
          <p:cNvPr id="26" name="Text 23"/>
          <p:cNvSpPr/>
          <p:nvPr/>
        </p:nvSpPr>
        <p:spPr>
          <a:xfrm>
            <a:off x="1550908" y="5929432"/>
            <a:ext cx="3537823"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2-3 səhifəlik yazılı hesabat və ya 10 slaydlıq təqdimat</a:t>
            </a:r>
            <a:endParaRPr lang="en-US" sz="1300" dirty="0"/>
          </a:p>
        </p:txBody>
      </p:sp>
      <p:sp>
        <p:nvSpPr>
          <p:cNvPr id="27" name="Shape 24"/>
          <p:cNvSpPr/>
          <p:nvPr/>
        </p:nvSpPr>
        <p:spPr>
          <a:xfrm>
            <a:off x="5380792" y="5453182"/>
            <a:ext cx="3868698" cy="1079540"/>
          </a:xfrm>
          <a:prstGeom prst="roundRect">
            <a:avLst>
              <a:gd name="adj" fmla="val 2299"/>
            </a:avLst>
          </a:prstGeom>
          <a:solidFill>
            <a:srgbClr val="303132"/>
          </a:solidFill>
          <a:ln/>
        </p:spPr>
      </p:sp>
      <p:sp>
        <p:nvSpPr>
          <p:cNvPr id="28" name="Text 25"/>
          <p:cNvSpPr/>
          <p:nvPr/>
        </p:nvSpPr>
        <p:spPr>
          <a:xfrm>
            <a:off x="5546169" y="5618559"/>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Təhvil Tarixi</a:t>
            </a:r>
            <a:endParaRPr lang="en-US" sz="1450" dirty="0"/>
          </a:p>
        </p:txBody>
      </p:sp>
      <p:sp>
        <p:nvSpPr>
          <p:cNvPr id="29" name="Text 26"/>
          <p:cNvSpPr/>
          <p:nvPr/>
        </p:nvSpPr>
        <p:spPr>
          <a:xfrm>
            <a:off x="5546169" y="5929432"/>
            <a:ext cx="3537942"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Növbəti dərsdən əvvəl, elektron formada</a:t>
            </a:r>
            <a:endParaRPr lang="en-US" sz="1300" dirty="0"/>
          </a:p>
        </p:txBody>
      </p:sp>
      <p:sp>
        <p:nvSpPr>
          <p:cNvPr id="30" name="Shape 27"/>
          <p:cNvSpPr/>
          <p:nvPr/>
        </p:nvSpPr>
        <p:spPr>
          <a:xfrm>
            <a:off x="9376172" y="5453182"/>
            <a:ext cx="3868698" cy="1079540"/>
          </a:xfrm>
          <a:prstGeom prst="roundRect">
            <a:avLst>
              <a:gd name="adj" fmla="val 2299"/>
            </a:avLst>
          </a:prstGeom>
          <a:solidFill>
            <a:srgbClr val="303132"/>
          </a:solidFill>
          <a:ln/>
        </p:spPr>
      </p:sp>
      <p:sp>
        <p:nvSpPr>
          <p:cNvPr id="31" name="Text 28"/>
          <p:cNvSpPr/>
          <p:nvPr/>
        </p:nvSpPr>
        <p:spPr>
          <a:xfrm>
            <a:off x="9541550" y="5618559"/>
            <a:ext cx="1879878" cy="234910"/>
          </a:xfrm>
          <a:prstGeom prst="rect">
            <a:avLst/>
          </a:prstGeom>
          <a:noFill/>
          <a:ln/>
        </p:spPr>
        <p:txBody>
          <a:bodyPr wrap="none" lIns="0" tIns="0" rIns="0" bIns="0" rtlCol="0" anchor="t"/>
          <a:lstStyle/>
          <a:p>
            <a:pPr algn="l" indent="0" marL="0">
              <a:lnSpc>
                <a:spcPts val="1850"/>
              </a:lnSpc>
              <a:buNone/>
            </a:pPr>
            <a:r>
              <a:rPr lang="en-US" sz="1450" b="1" dirty="0">
                <a:solidFill>
                  <a:srgbClr val="E2E6E9"/>
                </a:solidFill>
                <a:latin typeface="Montserrat Bold" pitchFamily="34" charset="0"/>
                <a:ea typeface="Montserrat Bold" pitchFamily="34" charset="-122"/>
                <a:cs typeface="Montserrat Bold" pitchFamily="34" charset="-120"/>
              </a:rPr>
              <a:t>Qiymətləndirmə</a:t>
            </a:r>
            <a:endParaRPr lang="en-US" sz="1450" dirty="0"/>
          </a:p>
        </p:txBody>
      </p:sp>
      <p:sp>
        <p:nvSpPr>
          <p:cNvPr id="32" name="Text 29"/>
          <p:cNvSpPr/>
          <p:nvPr/>
        </p:nvSpPr>
        <p:spPr>
          <a:xfrm>
            <a:off x="9541550" y="5929432"/>
            <a:ext cx="3537942" cy="437912"/>
          </a:xfrm>
          <a:prstGeom prst="rect">
            <a:avLst/>
          </a:prstGeom>
          <a:noFill/>
          <a:ln/>
        </p:spPr>
        <p:txBody>
          <a:bodyPr wrap="squar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Təhlilin dərinliyi, SI tətbiq təkliflərinin reallığı, yazının aydınlığı</a:t>
            </a:r>
            <a:endParaRPr lang="en-US" sz="1300" dirty="0"/>
          </a:p>
        </p:txBody>
      </p:sp>
      <p:sp>
        <p:nvSpPr>
          <p:cNvPr id="33" name="Text 30"/>
          <p:cNvSpPr/>
          <p:nvPr/>
        </p:nvSpPr>
        <p:spPr>
          <a:xfrm>
            <a:off x="1633657" y="6817757"/>
            <a:ext cx="11611213" cy="218956"/>
          </a:xfrm>
          <a:prstGeom prst="rect">
            <a:avLst/>
          </a:prstGeom>
          <a:noFill/>
          <a:ln/>
        </p:spPr>
        <p:txBody>
          <a:bodyPr wrap="none" lIns="0" tIns="0" rIns="0" bIns="0" rtlCol="0" anchor="t"/>
          <a:lstStyle/>
          <a:p>
            <a:pPr algn="l" indent="0" marL="0">
              <a:lnSpc>
                <a:spcPts val="1700"/>
              </a:lnSpc>
              <a:buNone/>
            </a:pPr>
            <a:r>
              <a:rPr lang="en-US" sz="1300" dirty="0">
                <a:solidFill>
                  <a:srgbClr val="E2E6E9"/>
                </a:solidFill>
                <a:latin typeface="Source Sans 3" pitchFamily="34" charset="0"/>
                <a:ea typeface="Source Sans 3" pitchFamily="34" charset="-122"/>
                <a:cs typeface="Source Sans 3" pitchFamily="34" charset="-120"/>
              </a:rPr>
              <a:t>Bu tapşırıq sizin SI və qərar qəbuletmə haqqında nəzəri biliklərinizi praktiki bacarıqlara çevirəcək. Yaradıcı olun və dərin düşünün!</a:t>
            </a:r>
            <a:endParaRPr lang="en-US" sz="1300" dirty="0"/>
          </a:p>
        </p:txBody>
      </p:sp>
      <p:sp>
        <p:nvSpPr>
          <p:cNvPr id="34" name="Shape 31"/>
          <p:cNvSpPr/>
          <p:nvPr/>
        </p:nvSpPr>
        <p:spPr>
          <a:xfrm>
            <a:off x="1385530" y="6675239"/>
            <a:ext cx="22860" cy="503992"/>
          </a:xfrm>
          <a:prstGeom prst="rect">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2026-02-16T09:35:24Z</dcterms:created>
  <dcterms:modified xsi:type="dcterms:W3CDTF">2026-02-16T09:35:24Z</dcterms:modified>
</cp:coreProperties>
</file>