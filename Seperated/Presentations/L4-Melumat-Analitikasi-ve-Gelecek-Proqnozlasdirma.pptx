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4630400" cy="8229600"/>
  <p:notesSz cx="8229600" cy="14630400"/>
  <p:embeddedFontLst>
    <p:embeddedFont>
      <p:font typeface="Montserrat"/>
      <p:regular r:id="rId18"/>
    </p:embeddedFont>
    <p:embeddedFont>
      <p:font typeface="Montserrat"/>
      <p:regular r:id="rId19"/>
    </p:embeddedFont>
    <p:embeddedFont>
      <p:font typeface="Montserrat"/>
      <p:regular r:id="rId20"/>
    </p:embeddedFont>
    <p:embeddedFont>
      <p:font typeface="Montserrat"/>
      <p:regular r:id="rId21"/>
    </p:embeddedFont>
    <p:embeddedFont>
      <p:font typeface="Source Sans 3"/>
      <p:regular r:id="rId22"/>
    </p:embeddedFont>
    <p:embeddedFont>
      <p:font typeface="Source Sans 3"/>
      <p:regular r:id="rId23"/>
    </p:embeddedFont>
  </p:embeddedFon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 Id="rId18" Type="http://schemas.openxmlformats.org/officeDocument/2006/relationships/font" Target="fonts/font1.fntdata"/><Relationship Id="rId19" Type="http://schemas.openxmlformats.org/officeDocument/2006/relationships/font" Target="fonts/font2.fntdata"/><Relationship Id="rId20" Type="http://schemas.openxmlformats.org/officeDocument/2006/relationships/font" Target="fonts/font3.fntdata"/><Relationship Id="rId21" Type="http://schemas.openxmlformats.org/officeDocument/2006/relationships/font" Target="fonts/font4.fntdata"/><Relationship Id="rId22" Type="http://schemas.openxmlformats.org/officeDocument/2006/relationships/font" Target="fonts/font5.fntdata"/><Relationship Id="rId23" Type="http://schemas.openxmlformats.org/officeDocument/2006/relationships/font" Target="fonts/font6.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Slide 1 master">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181A1B"/>
          </a:solidFill>
          <a:ln/>
        </p:spPr>
      </p:sp>
      <p:sp>
        <p:nvSpPr>
          <p:cNvPr id="3" name="Shape 1"/>
          <p:cNvSpPr/>
          <p:nvPr/>
        </p:nvSpPr>
        <p:spPr>
          <a:xfrm>
            <a:off x="0" y="0"/>
            <a:ext cx="14630400" cy="8229600"/>
          </a:xfrm>
          <a:prstGeom prst="rect">
            <a:avLst/>
          </a:prstGeom>
          <a:solidFill>
            <a:srgbClr val="111213"/>
          </a:solidFill>
          <a:ln/>
        </p:spPr>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lide 2 master">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181A1B"/>
          </a:solidFill>
          <a:ln/>
        </p:spPr>
      </p:sp>
      <p:sp>
        <p:nvSpPr>
          <p:cNvPr id="3" name="Shape 1"/>
          <p:cNvSpPr/>
          <p:nvPr/>
        </p:nvSpPr>
        <p:spPr>
          <a:xfrm>
            <a:off x="0" y="0"/>
            <a:ext cx="14630400" cy="8229600"/>
          </a:xfrm>
          <a:prstGeom prst="rect">
            <a:avLst/>
          </a:prstGeom>
          <a:solidFill>
            <a:srgbClr val="111213"/>
          </a:solidFill>
          <a:ln/>
        </p:spPr>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Slide 3 master">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181A1B"/>
          </a:solidFill>
          <a:ln/>
        </p:spPr>
      </p:sp>
      <p:sp>
        <p:nvSpPr>
          <p:cNvPr id="3" name="Shape 1"/>
          <p:cNvSpPr/>
          <p:nvPr/>
        </p:nvSpPr>
        <p:spPr>
          <a:xfrm>
            <a:off x="0" y="0"/>
            <a:ext cx="14630400" cy="8229600"/>
          </a:xfrm>
          <a:prstGeom prst="rect">
            <a:avLst/>
          </a:prstGeom>
          <a:solidFill>
            <a:srgbClr val="111213"/>
          </a:solidFill>
          <a:ln/>
        </p:spPr>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Slide 4 master">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181A1B"/>
          </a:solidFill>
          <a:ln/>
        </p:spPr>
      </p:sp>
      <p:sp>
        <p:nvSpPr>
          <p:cNvPr id="3" name="Shape 1"/>
          <p:cNvSpPr/>
          <p:nvPr/>
        </p:nvSpPr>
        <p:spPr>
          <a:xfrm>
            <a:off x="0" y="0"/>
            <a:ext cx="14630400" cy="8229600"/>
          </a:xfrm>
          <a:prstGeom prst="rect">
            <a:avLst/>
          </a:prstGeom>
          <a:solidFill>
            <a:srgbClr val="111213"/>
          </a:solidFill>
          <a:ln/>
        </p:spPr>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Slide 5 master">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181A1B"/>
          </a:solidFill>
          <a:ln/>
        </p:spPr>
      </p:sp>
      <p:sp>
        <p:nvSpPr>
          <p:cNvPr id="3" name="Shape 1"/>
          <p:cNvSpPr/>
          <p:nvPr/>
        </p:nvSpPr>
        <p:spPr>
          <a:xfrm>
            <a:off x="0" y="0"/>
            <a:ext cx="14630400" cy="8229600"/>
          </a:xfrm>
          <a:prstGeom prst="rect">
            <a:avLst/>
          </a:prstGeom>
          <a:solidFill>
            <a:srgbClr val="111213"/>
          </a:solidFill>
          <a:ln/>
        </p:spPr>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p:cSld name="Slide 6 master">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181A1B"/>
          </a:solidFill>
          <a:ln/>
        </p:spPr>
      </p:sp>
      <p:sp>
        <p:nvSpPr>
          <p:cNvPr id="3" name="Shape 1"/>
          <p:cNvSpPr/>
          <p:nvPr/>
        </p:nvSpPr>
        <p:spPr>
          <a:xfrm>
            <a:off x="0" y="0"/>
            <a:ext cx="14630400" cy="8229600"/>
          </a:xfrm>
          <a:prstGeom prst="rect">
            <a:avLst/>
          </a:prstGeom>
          <a:solidFill>
            <a:srgbClr val="111213"/>
          </a:solidFill>
          <a:ln/>
        </p:spPr>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p:cSld name="Slide 7 master">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181A1B"/>
          </a:solidFill>
          <a:ln/>
        </p:spPr>
      </p:sp>
      <p:sp>
        <p:nvSpPr>
          <p:cNvPr id="3" name="Shape 1"/>
          <p:cNvSpPr/>
          <p:nvPr/>
        </p:nvSpPr>
        <p:spPr>
          <a:xfrm>
            <a:off x="0" y="0"/>
            <a:ext cx="14630400" cy="8229600"/>
          </a:xfrm>
          <a:prstGeom prst="rect">
            <a:avLst/>
          </a:prstGeom>
          <a:solidFill>
            <a:srgbClr val="111213"/>
          </a:solidFill>
          <a:ln/>
        </p:spPr>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p:cSld name="Slide 8 master">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181A1B"/>
          </a:solidFill>
          <a:ln/>
        </p:spPr>
      </p:sp>
      <p:sp>
        <p:nvSpPr>
          <p:cNvPr id="3" name="Shape 1"/>
          <p:cNvSpPr/>
          <p:nvPr/>
        </p:nvSpPr>
        <p:spPr>
          <a:xfrm>
            <a:off x="0" y="0"/>
            <a:ext cx="14630400" cy="8229600"/>
          </a:xfrm>
          <a:prstGeom prst="rect">
            <a:avLst/>
          </a:prstGeom>
          <a:solidFill>
            <a:srgbClr val="111213"/>
          </a:solidFill>
          <a:ln/>
        </p:spPr>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Slide 9 master">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181A1B"/>
          </a:solidFill>
          <a:ln/>
        </p:spPr>
      </p:sp>
      <p:sp>
        <p:nvSpPr>
          <p:cNvPr id="3" name="Shape 1"/>
          <p:cNvSpPr/>
          <p:nvPr/>
        </p:nvSpPr>
        <p:spPr>
          <a:xfrm>
            <a:off x="0" y="0"/>
            <a:ext cx="14630400" cy="8229600"/>
          </a:xfrm>
          <a:prstGeom prst="rect">
            <a:avLst/>
          </a:prstGeom>
          <a:solidFill>
            <a:srgbClr val="111213"/>
          </a:solidFill>
          <a:ln/>
        </p:spPr>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Slide 10 master">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181A1B"/>
          </a:solidFill>
          <a:ln/>
        </p:spPr>
      </p:sp>
      <p:sp>
        <p:nvSpPr>
          <p:cNvPr id="3" name="Shape 1"/>
          <p:cNvSpPr/>
          <p:nvPr/>
        </p:nvSpPr>
        <p:spPr>
          <a:xfrm>
            <a:off x="0" y="0"/>
            <a:ext cx="14630400" cy="8229600"/>
          </a:xfrm>
          <a:prstGeom prst="rect">
            <a:avLst/>
          </a:prstGeom>
          <a:solidFill>
            <a:srgbClr val="111213"/>
          </a:solidFill>
          <a:ln/>
        </p:spPr>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Slide 11 master">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181A1B"/>
          </a:solidFill>
          <a:ln/>
        </p:spPr>
      </p:sp>
      <p:sp>
        <p:nvSpPr>
          <p:cNvPr id="3" name="Shape 1"/>
          <p:cNvSpPr/>
          <p:nvPr/>
        </p:nvSpPr>
        <p:spPr>
          <a:xfrm>
            <a:off x="0" y="0"/>
            <a:ext cx="14630400" cy="8229600"/>
          </a:xfrm>
          <a:prstGeom prst="rect">
            <a:avLst/>
          </a:prstGeom>
          <a:solidFill>
            <a:srgbClr val="111213"/>
          </a:solidFill>
          <a:ln/>
        </p:spPr>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3.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svg"/><Relationship Id="rId3" Type="http://schemas.openxmlformats.org/officeDocument/2006/relationships/image" Target="../media/image-3-3.png"/><Relationship Id="rId4" Type="http://schemas.openxmlformats.org/officeDocument/2006/relationships/image" Target="../media/image-3-4.svg"/><Relationship Id="rId5" Type="http://schemas.openxmlformats.org/officeDocument/2006/relationships/image" Target="../media/image-3-5.png"/><Relationship Id="rId6" Type="http://schemas.openxmlformats.org/officeDocument/2006/relationships/image" Target="../media/image-3-6.svg"/><Relationship Id="rId7" Type="http://schemas.openxmlformats.org/officeDocument/2006/relationships/image" Target="../media/image-3-7.png"/><Relationship Id="rId8" Type="http://schemas.openxmlformats.org/officeDocument/2006/relationships/image" Target="../media/image-3-8.svg"/><Relationship Id="rId9" Type="http://schemas.openxmlformats.org/officeDocument/2006/relationships/slideLayout" Target="../slideLayouts/slideLayout4.xml"/><Relationship Id="rId10"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5.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svg"/><Relationship Id="rId3" Type="http://schemas.openxmlformats.org/officeDocument/2006/relationships/image" Target="../media/image-5-3.png"/><Relationship Id="rId4" Type="http://schemas.openxmlformats.org/officeDocument/2006/relationships/slideLayout" Target="../slideLayouts/slideLayout6.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slideLayout" Target="../slideLayouts/slideLayout7.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svg"/><Relationship Id="rId4" Type="http://schemas.openxmlformats.org/officeDocument/2006/relationships/image" Target="../media/image-7-4.png"/><Relationship Id="rId5" Type="http://schemas.openxmlformats.org/officeDocument/2006/relationships/image" Target="../media/image-7-5.svg"/><Relationship Id="rId6" Type="http://schemas.openxmlformats.org/officeDocument/2006/relationships/image" Target="../media/image-7-6.png"/><Relationship Id="rId7" Type="http://schemas.openxmlformats.org/officeDocument/2006/relationships/image" Target="../media/image-7-7.svg"/><Relationship Id="rId8" Type="http://schemas.openxmlformats.org/officeDocument/2006/relationships/slideLayout" Target="../slideLayouts/slideLayout8.xml"/><Relationship Id="rId9"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svg"/><Relationship Id="rId4" Type="http://schemas.openxmlformats.org/officeDocument/2006/relationships/image" Target="../media/image-8-4.png"/><Relationship Id="rId5" Type="http://schemas.openxmlformats.org/officeDocument/2006/relationships/image" Target="../media/image-8-5.svg"/><Relationship Id="rId6" Type="http://schemas.openxmlformats.org/officeDocument/2006/relationships/image" Target="../media/image-8-6.png"/><Relationship Id="rId7" Type="http://schemas.openxmlformats.org/officeDocument/2006/relationships/image" Target="../media/image-8-7.svg"/><Relationship Id="rId8" Type="http://schemas.openxmlformats.org/officeDocument/2006/relationships/slideLayout" Target="../slideLayouts/slideLayout9.xml"/><Relationship Id="rId9"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svg"/><Relationship Id="rId3" Type="http://schemas.openxmlformats.org/officeDocument/2006/relationships/image" Target="../media/image-9-3.png"/><Relationship Id="rId4" Type="http://schemas.openxmlformats.org/officeDocument/2006/relationships/image" Target="../media/image-9-4.svg"/><Relationship Id="rId5" Type="http://schemas.openxmlformats.org/officeDocument/2006/relationships/image" Target="../media/image-9-5.png"/><Relationship Id="rId6" Type="http://schemas.openxmlformats.org/officeDocument/2006/relationships/image" Target="../media/image-9-6.svg"/><Relationship Id="rId7" Type="http://schemas.openxmlformats.org/officeDocument/2006/relationships/image" Target="../media/image-9-7.png"/><Relationship Id="rId8" Type="http://schemas.openxmlformats.org/officeDocument/2006/relationships/image" Target="../media/image-9-8.svg"/><Relationship Id="rId9" Type="http://schemas.openxmlformats.org/officeDocument/2006/relationships/image" Target="../media/image-9-9.png"/><Relationship Id="rId10" Type="http://schemas.openxmlformats.org/officeDocument/2006/relationships/slideLayout" Target="../slideLayouts/slideLayout10.xml"/><Relationship Id="rId11"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slideLayout" Target="../slideLayouts/slideLayout11.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svg"/><Relationship Id="rId3" Type="http://schemas.openxmlformats.org/officeDocument/2006/relationships/slideLayout" Target="../slideLayouts/slideLayout12.xml"/><Relationship Id="rId4"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5486400" cy="8229600"/>
          </a:xfrm>
          <a:prstGeom prst="rect">
            <a:avLst/>
          </a:prstGeom>
        </p:spPr>
      </p:pic>
      <p:sp>
        <p:nvSpPr>
          <p:cNvPr id="3" name="Text 0"/>
          <p:cNvSpPr/>
          <p:nvPr/>
        </p:nvSpPr>
        <p:spPr>
          <a:xfrm>
            <a:off x="6350198" y="3177302"/>
            <a:ext cx="7416403" cy="1227058"/>
          </a:xfrm>
          <a:prstGeom prst="rect">
            <a:avLst/>
          </a:prstGeom>
          <a:noFill/>
          <a:ln/>
        </p:spPr>
        <p:txBody>
          <a:bodyPr wrap="square" lIns="0" tIns="0" rIns="0" bIns="0" rtlCol="0" anchor="t"/>
          <a:lstStyle/>
          <a:p>
            <a:pPr algn="l" indent="0" marL="0">
              <a:lnSpc>
                <a:spcPts val="4800"/>
              </a:lnSpc>
              <a:buNone/>
            </a:pPr>
            <a:r>
              <a:rPr lang="en-US" sz="3850" b="1" dirty="0">
                <a:solidFill>
                  <a:srgbClr val="FFFFFF"/>
                </a:solidFill>
                <a:latin typeface="Montserrat Bold" pitchFamily="34" charset="0"/>
                <a:ea typeface="Montserrat Bold" pitchFamily="34" charset="-122"/>
                <a:cs typeface="Montserrat Bold" pitchFamily="34" charset="-120"/>
              </a:rPr>
              <a:t>Məlumat Analitikası və Gələcək Proqnozlaşdırma</a:t>
            </a:r>
            <a:endParaRPr lang="en-US" sz="3850" dirty="0"/>
          </a:p>
        </p:txBody>
      </p:sp>
      <p:sp>
        <p:nvSpPr>
          <p:cNvPr id="4" name="Text 1"/>
          <p:cNvSpPr/>
          <p:nvPr/>
        </p:nvSpPr>
        <p:spPr>
          <a:xfrm>
            <a:off x="6350198" y="4728210"/>
            <a:ext cx="7416403" cy="323969"/>
          </a:xfrm>
          <a:prstGeom prst="rect">
            <a:avLst/>
          </a:prstGeom>
          <a:noFill/>
          <a:ln/>
        </p:spPr>
        <p:txBody>
          <a:bodyPr wrap="none" lIns="0" tIns="0" rIns="0" bIns="0" rtlCol="0" anchor="t"/>
          <a:lstStyle/>
          <a:p>
            <a:pPr algn="l" indent="0" marL="0">
              <a:lnSpc>
                <a:spcPts val="2550"/>
              </a:lnSpc>
              <a:buNone/>
            </a:pPr>
            <a:r>
              <a:rPr lang="en-US" sz="1700" dirty="0">
                <a:solidFill>
                  <a:srgbClr val="E2E6E9"/>
                </a:solidFill>
                <a:latin typeface="Source Sans 3" pitchFamily="34" charset="0"/>
                <a:ea typeface="Source Sans 3" pitchFamily="34" charset="-122"/>
                <a:cs typeface="Source Sans 3" pitchFamily="34" charset="-120"/>
              </a:rPr>
              <a:t>Müəllim: Məlumat Analitikası Kursu</a:t>
            </a:r>
            <a:endParaRPr lang="en-US" sz="17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9144000" y="0"/>
            <a:ext cx="5486400" cy="8229600"/>
          </a:xfrm>
          <a:prstGeom prst="rect">
            <a:avLst/>
          </a:prstGeom>
        </p:spPr>
      </p:pic>
      <p:sp>
        <p:nvSpPr>
          <p:cNvPr id="3" name="Shape 0"/>
          <p:cNvSpPr/>
          <p:nvPr/>
        </p:nvSpPr>
        <p:spPr>
          <a:xfrm>
            <a:off x="863798" y="1403985"/>
            <a:ext cx="646867" cy="388620"/>
          </a:xfrm>
          <a:prstGeom prst="roundRect">
            <a:avLst>
              <a:gd name="adj" fmla="val 6669"/>
            </a:avLst>
          </a:prstGeom>
          <a:solidFill>
            <a:srgbClr val="262626"/>
          </a:solidFill>
          <a:ln/>
        </p:spPr>
      </p:sp>
      <p:sp>
        <p:nvSpPr>
          <p:cNvPr id="4" name="Text 1"/>
          <p:cNvSpPr/>
          <p:nvPr/>
        </p:nvSpPr>
        <p:spPr>
          <a:xfrm>
            <a:off x="993338" y="1468755"/>
            <a:ext cx="387787" cy="259080"/>
          </a:xfrm>
          <a:prstGeom prst="rect">
            <a:avLst/>
          </a:prstGeom>
          <a:noFill/>
          <a:ln/>
        </p:spPr>
        <p:txBody>
          <a:bodyPr wrap="none" lIns="0" tIns="0" rIns="0" bIns="0" rtlCol="0" anchor="t"/>
          <a:lstStyle/>
          <a:p>
            <a:pPr algn="l" indent="0" marL="0">
              <a:lnSpc>
                <a:spcPts val="2000"/>
              </a:lnSpc>
              <a:buNone/>
            </a:pPr>
            <a:r>
              <a:rPr lang="en-US" sz="1350" dirty="0">
                <a:solidFill>
                  <a:srgbClr val="E2E6E9"/>
                </a:solidFill>
                <a:latin typeface="Source Sans 3" pitchFamily="34" charset="0"/>
                <a:ea typeface="Source Sans 3" pitchFamily="34" charset="-122"/>
                <a:cs typeface="Source Sans 3" pitchFamily="34" charset="-120"/>
              </a:rPr>
              <a:t>GIRIŞ</a:t>
            </a:r>
            <a:endParaRPr lang="en-US" sz="1350" dirty="0"/>
          </a:p>
        </p:txBody>
      </p:sp>
      <p:sp>
        <p:nvSpPr>
          <p:cNvPr id="5" name="Text 2"/>
          <p:cNvSpPr/>
          <p:nvPr/>
        </p:nvSpPr>
        <p:spPr>
          <a:xfrm>
            <a:off x="863798" y="1878925"/>
            <a:ext cx="6581894" cy="613529"/>
          </a:xfrm>
          <a:prstGeom prst="rect">
            <a:avLst/>
          </a:prstGeom>
          <a:noFill/>
          <a:ln/>
        </p:spPr>
        <p:txBody>
          <a:bodyPr wrap="none" lIns="0" tIns="0" rIns="0" bIns="0" rtlCol="0" anchor="t"/>
          <a:lstStyle/>
          <a:p>
            <a:pPr algn="l" indent="0" marL="0">
              <a:lnSpc>
                <a:spcPts val="4800"/>
              </a:lnSpc>
              <a:buNone/>
            </a:pPr>
            <a:r>
              <a:rPr lang="en-US" sz="3850" b="1" dirty="0">
                <a:solidFill>
                  <a:srgbClr val="FFFFFF"/>
                </a:solidFill>
                <a:latin typeface="Montserrat Bold" pitchFamily="34" charset="0"/>
                <a:ea typeface="Montserrat Bold" pitchFamily="34" charset="-122"/>
                <a:cs typeface="Montserrat Bold" pitchFamily="34" charset="-120"/>
              </a:rPr>
              <a:t>Bu Gün Öyrənəcəklərimiz</a:t>
            </a:r>
            <a:endParaRPr lang="en-US" sz="3850" dirty="0"/>
          </a:p>
        </p:txBody>
      </p:sp>
      <p:sp>
        <p:nvSpPr>
          <p:cNvPr id="6" name="Shape 3"/>
          <p:cNvSpPr/>
          <p:nvPr/>
        </p:nvSpPr>
        <p:spPr>
          <a:xfrm>
            <a:off x="863798" y="2816304"/>
            <a:ext cx="2328148" cy="2470547"/>
          </a:xfrm>
          <a:prstGeom prst="roundRect">
            <a:avLst>
              <a:gd name="adj" fmla="val 1392"/>
            </a:avLst>
          </a:prstGeom>
          <a:solidFill>
            <a:srgbClr val="303132"/>
          </a:solidFill>
          <a:ln/>
        </p:spPr>
      </p:sp>
      <p:sp>
        <p:nvSpPr>
          <p:cNvPr id="7" name="Text 4"/>
          <p:cNvSpPr/>
          <p:nvPr/>
        </p:nvSpPr>
        <p:spPr>
          <a:xfrm>
            <a:off x="1079659" y="3032165"/>
            <a:ext cx="1896428" cy="306705"/>
          </a:xfrm>
          <a:prstGeom prst="rect">
            <a:avLst/>
          </a:prstGeom>
          <a:noFill/>
          <a:ln/>
        </p:spPr>
        <p:txBody>
          <a:bodyPr wrap="none" lIns="0" tIns="0" rIns="0" bIns="0" rtlCol="0" anchor="t"/>
          <a:lstStyle/>
          <a:p>
            <a:pPr algn="l" indent="0" marL="0">
              <a:lnSpc>
                <a:spcPts val="2400"/>
              </a:lnSpc>
              <a:buNone/>
            </a:pPr>
            <a:r>
              <a:rPr lang="en-US" sz="1900" b="1" dirty="0">
                <a:solidFill>
                  <a:srgbClr val="E2E6E9"/>
                </a:solidFill>
                <a:latin typeface="Montserrat Bold" pitchFamily="34" charset="0"/>
                <a:ea typeface="Montserrat Bold" pitchFamily="34" charset="-122"/>
                <a:cs typeface="Montserrat Bold" pitchFamily="34" charset="-120"/>
              </a:rPr>
              <a:t>Əsas Məqsəd</a:t>
            </a:r>
            <a:endParaRPr lang="en-US" sz="1900" dirty="0"/>
          </a:p>
        </p:txBody>
      </p:sp>
      <p:sp>
        <p:nvSpPr>
          <p:cNvPr id="8" name="Text 5"/>
          <p:cNvSpPr/>
          <p:nvPr/>
        </p:nvSpPr>
        <p:spPr>
          <a:xfrm>
            <a:off x="1079659" y="3468410"/>
            <a:ext cx="1896428" cy="1295876"/>
          </a:xfrm>
          <a:prstGeom prst="rect">
            <a:avLst/>
          </a:prstGeom>
          <a:noFill/>
          <a:ln/>
        </p:spPr>
        <p:txBody>
          <a:bodyPr wrap="square" lIns="0" tIns="0" rIns="0" bIns="0" rtlCol="0" anchor="t"/>
          <a:lstStyle/>
          <a:p>
            <a:pPr algn="l" indent="0" marL="0">
              <a:lnSpc>
                <a:spcPts val="2550"/>
              </a:lnSpc>
              <a:buNone/>
            </a:pPr>
            <a:r>
              <a:rPr lang="en-US" sz="1700" dirty="0">
                <a:solidFill>
                  <a:srgbClr val="E2E6E9"/>
                </a:solidFill>
                <a:latin typeface="Source Sans 3" pitchFamily="34" charset="0"/>
                <a:ea typeface="Source Sans 3" pitchFamily="34" charset="-122"/>
                <a:cs typeface="Source Sans 3" pitchFamily="34" charset="-120"/>
              </a:rPr>
              <a:t>Məlumatları gələcək qərarlara necə çevirməyi öyrənəcəyik</a:t>
            </a:r>
            <a:endParaRPr lang="en-US" sz="1700" dirty="0"/>
          </a:p>
        </p:txBody>
      </p:sp>
      <p:sp>
        <p:nvSpPr>
          <p:cNvPr id="9" name="Shape 6"/>
          <p:cNvSpPr/>
          <p:nvPr/>
        </p:nvSpPr>
        <p:spPr>
          <a:xfrm>
            <a:off x="3407807" y="2816304"/>
            <a:ext cx="2328267" cy="2470547"/>
          </a:xfrm>
          <a:prstGeom prst="roundRect">
            <a:avLst>
              <a:gd name="adj" fmla="val 1391"/>
            </a:avLst>
          </a:prstGeom>
          <a:solidFill>
            <a:srgbClr val="303132"/>
          </a:solidFill>
          <a:ln/>
        </p:spPr>
      </p:sp>
      <p:sp>
        <p:nvSpPr>
          <p:cNvPr id="10" name="Text 7"/>
          <p:cNvSpPr/>
          <p:nvPr/>
        </p:nvSpPr>
        <p:spPr>
          <a:xfrm>
            <a:off x="3623667" y="3032165"/>
            <a:ext cx="1896547" cy="613410"/>
          </a:xfrm>
          <a:prstGeom prst="rect">
            <a:avLst/>
          </a:prstGeom>
          <a:noFill/>
          <a:ln/>
        </p:spPr>
        <p:txBody>
          <a:bodyPr wrap="square" lIns="0" tIns="0" rIns="0" bIns="0" rtlCol="0" anchor="t"/>
          <a:lstStyle/>
          <a:p>
            <a:pPr algn="l" indent="0" marL="0">
              <a:lnSpc>
                <a:spcPts val="2400"/>
              </a:lnSpc>
              <a:buNone/>
            </a:pPr>
            <a:r>
              <a:rPr lang="en-US" sz="1900" b="1" dirty="0">
                <a:solidFill>
                  <a:srgbClr val="E2E6E9"/>
                </a:solidFill>
                <a:latin typeface="Montserrat Bold" pitchFamily="34" charset="0"/>
                <a:ea typeface="Montserrat Bold" pitchFamily="34" charset="-122"/>
                <a:cs typeface="Montserrat Bold" pitchFamily="34" charset="-120"/>
              </a:rPr>
              <a:t>Praktik Bacarıqlar</a:t>
            </a:r>
            <a:endParaRPr lang="en-US" sz="1900" dirty="0"/>
          </a:p>
        </p:txBody>
      </p:sp>
      <p:sp>
        <p:nvSpPr>
          <p:cNvPr id="11" name="Text 8"/>
          <p:cNvSpPr/>
          <p:nvPr/>
        </p:nvSpPr>
        <p:spPr>
          <a:xfrm>
            <a:off x="3623667" y="3775115"/>
            <a:ext cx="1896547" cy="1295876"/>
          </a:xfrm>
          <a:prstGeom prst="rect">
            <a:avLst/>
          </a:prstGeom>
          <a:noFill/>
          <a:ln/>
        </p:spPr>
        <p:txBody>
          <a:bodyPr wrap="square" lIns="0" tIns="0" rIns="0" bIns="0" rtlCol="0" anchor="t"/>
          <a:lstStyle/>
          <a:p>
            <a:pPr algn="l" indent="0" marL="0">
              <a:lnSpc>
                <a:spcPts val="2550"/>
              </a:lnSpc>
              <a:buNone/>
            </a:pPr>
            <a:r>
              <a:rPr lang="en-US" sz="1700" dirty="0">
                <a:solidFill>
                  <a:srgbClr val="E2E6E9"/>
                </a:solidFill>
                <a:latin typeface="Source Sans 3" pitchFamily="34" charset="0"/>
                <a:ea typeface="Source Sans 3" pitchFamily="34" charset="-122"/>
                <a:cs typeface="Source Sans 3" pitchFamily="34" charset="-120"/>
              </a:rPr>
              <a:t>Proqnozlaşdırma metodları və simulyasiya alətləri ilə tanışlıq</a:t>
            </a:r>
            <a:endParaRPr lang="en-US" sz="1700" dirty="0"/>
          </a:p>
        </p:txBody>
      </p:sp>
      <p:sp>
        <p:nvSpPr>
          <p:cNvPr id="12" name="Shape 9"/>
          <p:cNvSpPr/>
          <p:nvPr/>
        </p:nvSpPr>
        <p:spPr>
          <a:xfrm>
            <a:off x="5951934" y="2816304"/>
            <a:ext cx="2328267" cy="2470547"/>
          </a:xfrm>
          <a:prstGeom prst="roundRect">
            <a:avLst>
              <a:gd name="adj" fmla="val 1391"/>
            </a:avLst>
          </a:prstGeom>
          <a:solidFill>
            <a:srgbClr val="303132"/>
          </a:solidFill>
          <a:ln/>
        </p:spPr>
      </p:sp>
      <p:sp>
        <p:nvSpPr>
          <p:cNvPr id="13" name="Text 10"/>
          <p:cNvSpPr/>
          <p:nvPr/>
        </p:nvSpPr>
        <p:spPr>
          <a:xfrm>
            <a:off x="6167795" y="3032165"/>
            <a:ext cx="1896547" cy="306705"/>
          </a:xfrm>
          <a:prstGeom prst="rect">
            <a:avLst/>
          </a:prstGeom>
          <a:noFill/>
          <a:ln/>
        </p:spPr>
        <p:txBody>
          <a:bodyPr wrap="none" lIns="0" tIns="0" rIns="0" bIns="0" rtlCol="0" anchor="t"/>
          <a:lstStyle/>
          <a:p>
            <a:pPr algn="l" indent="0" marL="0">
              <a:lnSpc>
                <a:spcPts val="2400"/>
              </a:lnSpc>
              <a:buNone/>
            </a:pPr>
            <a:r>
              <a:rPr lang="en-US" sz="1900" b="1" dirty="0">
                <a:solidFill>
                  <a:srgbClr val="E2E6E9"/>
                </a:solidFill>
                <a:latin typeface="Montserrat Bold" pitchFamily="34" charset="0"/>
                <a:ea typeface="Montserrat Bold" pitchFamily="34" charset="-122"/>
                <a:cs typeface="Montserrat Bold" pitchFamily="34" charset="-120"/>
              </a:rPr>
              <a:t>Real Tətbiq</a:t>
            </a:r>
            <a:endParaRPr lang="en-US" sz="1900" dirty="0"/>
          </a:p>
        </p:txBody>
      </p:sp>
      <p:sp>
        <p:nvSpPr>
          <p:cNvPr id="14" name="Text 11"/>
          <p:cNvSpPr/>
          <p:nvPr/>
        </p:nvSpPr>
        <p:spPr>
          <a:xfrm>
            <a:off x="6167795" y="3468410"/>
            <a:ext cx="1896547" cy="971907"/>
          </a:xfrm>
          <a:prstGeom prst="rect">
            <a:avLst/>
          </a:prstGeom>
          <a:noFill/>
          <a:ln/>
        </p:spPr>
        <p:txBody>
          <a:bodyPr wrap="square" lIns="0" tIns="0" rIns="0" bIns="0" rtlCol="0" anchor="t"/>
          <a:lstStyle/>
          <a:p>
            <a:pPr algn="l" indent="0" marL="0">
              <a:lnSpc>
                <a:spcPts val="2550"/>
              </a:lnSpc>
              <a:buNone/>
            </a:pPr>
            <a:r>
              <a:rPr lang="en-US" sz="1700" dirty="0">
                <a:solidFill>
                  <a:srgbClr val="E2E6E9"/>
                </a:solidFill>
                <a:latin typeface="Source Sans 3" pitchFamily="34" charset="0"/>
                <a:ea typeface="Source Sans 3" pitchFamily="34" charset="-122"/>
                <a:cs typeface="Source Sans 3" pitchFamily="34" charset="-120"/>
              </a:rPr>
              <a:t>Biznes qərarlarında analitikanın rolu və əhəmiyyəti</a:t>
            </a:r>
            <a:endParaRPr lang="en-US" sz="1700" dirty="0"/>
          </a:p>
        </p:txBody>
      </p:sp>
      <p:sp>
        <p:nvSpPr>
          <p:cNvPr id="15" name="Text 12"/>
          <p:cNvSpPr/>
          <p:nvPr/>
        </p:nvSpPr>
        <p:spPr>
          <a:xfrm>
            <a:off x="863798" y="5529739"/>
            <a:ext cx="7416403" cy="1295876"/>
          </a:xfrm>
          <a:prstGeom prst="rect">
            <a:avLst/>
          </a:prstGeom>
          <a:noFill/>
          <a:ln/>
        </p:spPr>
        <p:txBody>
          <a:bodyPr wrap="square" lIns="0" tIns="0" rIns="0" bIns="0" rtlCol="0" anchor="t"/>
          <a:lstStyle/>
          <a:p>
            <a:pPr algn="l" indent="0" marL="0">
              <a:lnSpc>
                <a:spcPts val="2550"/>
              </a:lnSpc>
              <a:buNone/>
            </a:pPr>
            <a:r>
              <a:rPr lang="en-US" sz="1700" dirty="0">
                <a:solidFill>
                  <a:srgbClr val="E2E6E9"/>
                </a:solidFill>
                <a:latin typeface="Source Sans 3" pitchFamily="34" charset="0"/>
                <a:ea typeface="Source Sans 3" pitchFamily="34" charset="-122"/>
                <a:cs typeface="Source Sans 3" pitchFamily="34" charset="-120"/>
              </a:rPr>
              <a:t>Bu dərsdə prediktiv analitika və proqnozlaşdırma metodlarının əsaslarını mənimsəyəcək, real biznes ssenarilərində necə tətbiq edildiyini görəcəksiniz. Məlumat analitikası sizə gələcəyə baxış imkanı verəcək və strategik qərarlar qəbul etməkdə güclü alət olacaq.</a:t>
            </a:r>
            <a:endParaRPr lang="en-US" sz="1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Shape 0"/>
          <p:cNvSpPr/>
          <p:nvPr/>
        </p:nvSpPr>
        <p:spPr>
          <a:xfrm>
            <a:off x="787956" y="795695"/>
            <a:ext cx="859512" cy="359331"/>
          </a:xfrm>
          <a:prstGeom prst="roundRect">
            <a:avLst>
              <a:gd name="adj" fmla="val 6579"/>
            </a:avLst>
          </a:prstGeom>
          <a:noFill/>
          <a:ln w="7620">
            <a:solidFill>
              <a:srgbClr val="FFFFFF"/>
            </a:solidFill>
            <a:prstDash val="solid"/>
          </a:ln>
        </p:spPr>
      </p:sp>
      <p:sp>
        <p:nvSpPr>
          <p:cNvPr id="3" name="Text 1"/>
          <p:cNvSpPr/>
          <p:nvPr/>
        </p:nvSpPr>
        <p:spPr>
          <a:xfrm>
            <a:off x="913686" y="862370"/>
            <a:ext cx="608052" cy="225981"/>
          </a:xfrm>
          <a:prstGeom prst="rect">
            <a:avLst/>
          </a:prstGeom>
          <a:noFill/>
          <a:ln/>
        </p:spPr>
        <p:txBody>
          <a:bodyPr wrap="none" lIns="0" tIns="0" rIns="0" bIns="0" rtlCol="0" anchor="t"/>
          <a:lstStyle/>
          <a:p>
            <a:pPr algn="l" indent="0" marL="0">
              <a:lnSpc>
                <a:spcPts val="1750"/>
              </a:lnSpc>
              <a:buNone/>
            </a:pPr>
            <a:r>
              <a:rPr lang="en-US" sz="1200" dirty="0">
                <a:solidFill>
                  <a:srgbClr val="FFFFFF"/>
                </a:solidFill>
                <a:latin typeface="Source Sans 3" pitchFamily="34" charset="0"/>
                <a:ea typeface="Source Sans 3" pitchFamily="34" charset="-122"/>
                <a:cs typeface="Source Sans 3" pitchFamily="34" charset="-120"/>
              </a:rPr>
              <a:t>ƏSASLAR</a:t>
            </a:r>
            <a:endParaRPr lang="en-US" sz="1200" dirty="0"/>
          </a:p>
        </p:txBody>
      </p:sp>
      <p:sp>
        <p:nvSpPr>
          <p:cNvPr id="4" name="Text 2"/>
          <p:cNvSpPr/>
          <p:nvPr/>
        </p:nvSpPr>
        <p:spPr>
          <a:xfrm>
            <a:off x="787956" y="1226820"/>
            <a:ext cx="5549027" cy="559713"/>
          </a:xfrm>
          <a:prstGeom prst="rect">
            <a:avLst/>
          </a:prstGeom>
          <a:noFill/>
          <a:ln/>
        </p:spPr>
        <p:txBody>
          <a:bodyPr wrap="none" lIns="0" tIns="0" rIns="0" bIns="0" rtlCol="0" anchor="t"/>
          <a:lstStyle/>
          <a:p>
            <a:pPr algn="l" indent="0" marL="0">
              <a:lnSpc>
                <a:spcPts val="4400"/>
              </a:lnSpc>
              <a:buNone/>
            </a:pPr>
            <a:r>
              <a:rPr lang="en-US" sz="3500" b="1" dirty="0">
                <a:solidFill>
                  <a:srgbClr val="FFFFFF"/>
                </a:solidFill>
                <a:latin typeface="Montserrat Bold" pitchFamily="34" charset="0"/>
                <a:ea typeface="Montserrat Bold" pitchFamily="34" charset="-122"/>
                <a:cs typeface="Montserrat Bold" pitchFamily="34" charset="-120"/>
              </a:rPr>
              <a:t>Analitikanın 4 Səviyyəsi</a:t>
            </a:r>
            <a:endParaRPr lang="en-US" sz="3500" dirty="0"/>
          </a:p>
        </p:txBody>
      </p:sp>
      <p:sp>
        <p:nvSpPr>
          <p:cNvPr id="5" name="Text 3"/>
          <p:cNvSpPr/>
          <p:nvPr/>
        </p:nvSpPr>
        <p:spPr>
          <a:xfrm>
            <a:off x="787956" y="2055971"/>
            <a:ext cx="13054489" cy="565071"/>
          </a:xfrm>
          <a:prstGeom prst="rect">
            <a:avLst/>
          </a:prstGeom>
          <a:noFill/>
          <a:ln/>
        </p:spPr>
        <p:txBody>
          <a:bodyPr wrap="square" lIns="0" tIns="0" rIns="0" bIns="0" rtlCol="0" anchor="t"/>
          <a:lstStyle/>
          <a:p>
            <a:pPr algn="l" indent="0" marL="0">
              <a:lnSpc>
                <a:spcPts val="2200"/>
              </a:lnSpc>
              <a:buNone/>
            </a:pPr>
            <a:r>
              <a:rPr lang="en-US" sz="1550" dirty="0">
                <a:solidFill>
                  <a:srgbClr val="E2E6E9"/>
                </a:solidFill>
                <a:latin typeface="Source Sans 3" pitchFamily="34" charset="0"/>
                <a:ea typeface="Source Sans 3" pitchFamily="34" charset="-122"/>
                <a:cs typeface="Source Sans 3" pitchFamily="34" charset="-120"/>
              </a:rPr>
              <a:t>Məlumat analitikası dörd əsas səviyyədən ibarətdir və hər biri fərqli suallara cavab verir. Bu səviyyələri anlamaq, düzgün analitik yanaşmanı seçmək üçün vacibdir.</a:t>
            </a:r>
            <a:endParaRPr lang="en-US" sz="1550" dirty="0"/>
          </a:p>
        </p:txBody>
      </p:sp>
      <p:sp>
        <p:nvSpPr>
          <p:cNvPr id="6" name="Shape 4"/>
          <p:cNvSpPr/>
          <p:nvPr/>
        </p:nvSpPr>
        <p:spPr>
          <a:xfrm>
            <a:off x="1083350" y="3315414"/>
            <a:ext cx="6141839" cy="196929"/>
          </a:xfrm>
          <a:prstGeom prst="roundRect">
            <a:avLst>
              <a:gd name="adj" fmla="val 15006"/>
            </a:avLst>
          </a:prstGeom>
          <a:solidFill>
            <a:srgbClr val="303132"/>
          </a:solidFill>
          <a:ln/>
        </p:spPr>
      </p:sp>
      <p:sp>
        <p:nvSpPr>
          <p:cNvPr id="7" name="Shape 5"/>
          <p:cNvSpPr/>
          <p:nvPr/>
        </p:nvSpPr>
        <p:spPr>
          <a:xfrm>
            <a:off x="787956" y="3118425"/>
            <a:ext cx="590907" cy="590907"/>
          </a:xfrm>
          <a:prstGeom prst="roundRect">
            <a:avLst>
              <a:gd name="adj" fmla="val 77373"/>
            </a:avLst>
          </a:prstGeom>
          <a:solidFill>
            <a:srgbClr val="303132"/>
          </a:solidFill>
          <a:ln/>
        </p:spPr>
      </p:sp>
      <p:pic>
        <p:nvPicPr>
          <p:cNvPr id="8"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935712" y="3266182"/>
            <a:ext cx="295394" cy="295394"/>
          </a:xfrm>
          <a:prstGeom prst="rect">
            <a:avLst/>
          </a:prstGeom>
        </p:spPr>
      </p:pic>
      <p:sp>
        <p:nvSpPr>
          <p:cNvPr id="9" name="Text 6"/>
          <p:cNvSpPr/>
          <p:nvPr/>
        </p:nvSpPr>
        <p:spPr>
          <a:xfrm>
            <a:off x="984885" y="3889058"/>
            <a:ext cx="2315051" cy="279797"/>
          </a:xfrm>
          <a:prstGeom prst="rect">
            <a:avLst/>
          </a:prstGeom>
          <a:noFill/>
          <a:ln/>
        </p:spPr>
        <p:txBody>
          <a:bodyPr wrap="none" lIns="0" tIns="0" rIns="0" bIns="0" rtlCol="0" anchor="t"/>
          <a:lstStyle/>
          <a:p>
            <a:pPr algn="l" indent="0" marL="0">
              <a:lnSpc>
                <a:spcPts val="2200"/>
              </a:lnSpc>
              <a:buNone/>
            </a:pPr>
            <a:r>
              <a:rPr lang="en-US" sz="1750" b="1" dirty="0">
                <a:solidFill>
                  <a:srgbClr val="E2E6E9"/>
                </a:solidFill>
                <a:latin typeface="Montserrat Bold" pitchFamily="34" charset="0"/>
                <a:ea typeface="Montserrat Bold" pitchFamily="34" charset="-122"/>
                <a:cs typeface="Montserrat Bold" pitchFamily="34" charset="-120"/>
              </a:rPr>
              <a:t>Deskriptiv Analitika</a:t>
            </a:r>
            <a:endParaRPr lang="en-US" sz="1750" dirty="0"/>
          </a:p>
        </p:txBody>
      </p:sp>
      <p:sp>
        <p:nvSpPr>
          <p:cNvPr id="10" name="Text 7"/>
          <p:cNvSpPr/>
          <p:nvPr/>
        </p:nvSpPr>
        <p:spPr>
          <a:xfrm>
            <a:off x="984885" y="4276606"/>
            <a:ext cx="6043493" cy="565071"/>
          </a:xfrm>
          <a:prstGeom prst="rect">
            <a:avLst/>
          </a:prstGeom>
          <a:noFill/>
          <a:ln/>
        </p:spPr>
        <p:txBody>
          <a:bodyPr wrap="square" lIns="0" tIns="0" rIns="0" bIns="0" rtlCol="0" anchor="t"/>
          <a:lstStyle/>
          <a:p>
            <a:pPr algn="l" indent="0" marL="0">
              <a:lnSpc>
                <a:spcPts val="2200"/>
              </a:lnSpc>
              <a:buNone/>
            </a:pPr>
            <a:r>
              <a:rPr lang="en-US" sz="1550" b="1" dirty="0">
                <a:solidFill>
                  <a:srgbClr val="E2E6E9"/>
                </a:solidFill>
                <a:latin typeface="Source Sans 3" pitchFamily="34" charset="0"/>
                <a:ea typeface="Source Sans 3" pitchFamily="34" charset="-122"/>
                <a:cs typeface="Source Sans 3" pitchFamily="34" charset="-120"/>
              </a:rPr>
              <a:t>Nə baş verdi?</a:t>
            </a:r>
            <a:pPr algn="l" indent="0" marL="0">
              <a:lnSpc>
                <a:spcPts val="2200"/>
              </a:lnSpc>
              <a:buNone/>
            </a:pPr>
            <a:r>
              <a:rPr lang="en-US" sz="1550" dirty="0">
                <a:solidFill>
                  <a:srgbClr val="E2E6E9"/>
                </a:solidFill>
                <a:latin typeface="Source Sans 3" pitchFamily="34" charset="0"/>
                <a:ea typeface="Source Sans 3" pitchFamily="34" charset="-122"/>
                <a:cs typeface="Source Sans 3" pitchFamily="34" charset="-120"/>
              </a:rPr>
              <a:t> Keçmiş məlumatları təsvir edir və təqdim edir. Hesabatlar, göstəricilərin izlənməsi və tarixi trendlərin analizi daxildir.</a:t>
            </a:r>
            <a:endParaRPr lang="en-US" sz="1550" dirty="0"/>
          </a:p>
        </p:txBody>
      </p:sp>
      <p:sp>
        <p:nvSpPr>
          <p:cNvPr id="11" name="Shape 8"/>
          <p:cNvSpPr/>
          <p:nvPr/>
        </p:nvSpPr>
        <p:spPr>
          <a:xfrm>
            <a:off x="7700367" y="3020020"/>
            <a:ext cx="6141958" cy="196929"/>
          </a:xfrm>
          <a:prstGeom prst="roundRect">
            <a:avLst>
              <a:gd name="adj" fmla="val 15006"/>
            </a:avLst>
          </a:prstGeom>
          <a:solidFill>
            <a:srgbClr val="303132"/>
          </a:solidFill>
          <a:ln/>
        </p:spPr>
      </p:sp>
      <p:sp>
        <p:nvSpPr>
          <p:cNvPr id="12" name="Shape 9"/>
          <p:cNvSpPr/>
          <p:nvPr/>
        </p:nvSpPr>
        <p:spPr>
          <a:xfrm>
            <a:off x="7404973" y="2823031"/>
            <a:ext cx="590907" cy="590907"/>
          </a:xfrm>
          <a:prstGeom prst="roundRect">
            <a:avLst>
              <a:gd name="adj" fmla="val 77373"/>
            </a:avLst>
          </a:prstGeom>
          <a:solidFill>
            <a:srgbClr val="303132"/>
          </a:solidFill>
          <a:ln/>
        </p:spPr>
      </p:sp>
      <p:pic>
        <p:nvPicPr>
          <p:cNvPr id="13" name="Image 1" descr="preencoded.png">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7552730" y="2970788"/>
            <a:ext cx="295394" cy="295394"/>
          </a:xfrm>
          <a:prstGeom prst="rect">
            <a:avLst/>
          </a:prstGeom>
        </p:spPr>
      </p:pic>
      <p:sp>
        <p:nvSpPr>
          <p:cNvPr id="14" name="Text 10"/>
          <p:cNvSpPr/>
          <p:nvPr/>
        </p:nvSpPr>
        <p:spPr>
          <a:xfrm>
            <a:off x="7601902" y="3593663"/>
            <a:ext cx="2386489" cy="279797"/>
          </a:xfrm>
          <a:prstGeom prst="rect">
            <a:avLst/>
          </a:prstGeom>
          <a:noFill/>
          <a:ln/>
        </p:spPr>
        <p:txBody>
          <a:bodyPr wrap="none" lIns="0" tIns="0" rIns="0" bIns="0" rtlCol="0" anchor="t"/>
          <a:lstStyle/>
          <a:p>
            <a:pPr algn="l" indent="0" marL="0">
              <a:lnSpc>
                <a:spcPts val="2200"/>
              </a:lnSpc>
              <a:buNone/>
            </a:pPr>
            <a:r>
              <a:rPr lang="en-US" sz="1750" b="1" dirty="0">
                <a:solidFill>
                  <a:srgbClr val="E2E6E9"/>
                </a:solidFill>
                <a:latin typeface="Montserrat Bold" pitchFamily="34" charset="0"/>
                <a:ea typeface="Montserrat Bold" pitchFamily="34" charset="-122"/>
                <a:cs typeface="Montserrat Bold" pitchFamily="34" charset="-120"/>
              </a:rPr>
              <a:t>Diaqnostik Analitika</a:t>
            </a:r>
            <a:endParaRPr lang="en-US" sz="1750" dirty="0"/>
          </a:p>
        </p:txBody>
      </p:sp>
      <p:sp>
        <p:nvSpPr>
          <p:cNvPr id="15" name="Text 11"/>
          <p:cNvSpPr/>
          <p:nvPr/>
        </p:nvSpPr>
        <p:spPr>
          <a:xfrm>
            <a:off x="7601902" y="3981212"/>
            <a:ext cx="6043613" cy="565071"/>
          </a:xfrm>
          <a:prstGeom prst="rect">
            <a:avLst/>
          </a:prstGeom>
          <a:noFill/>
          <a:ln/>
        </p:spPr>
        <p:txBody>
          <a:bodyPr wrap="square" lIns="0" tIns="0" rIns="0" bIns="0" rtlCol="0" anchor="t"/>
          <a:lstStyle/>
          <a:p>
            <a:pPr algn="l" indent="0" marL="0">
              <a:lnSpc>
                <a:spcPts val="2200"/>
              </a:lnSpc>
              <a:buNone/>
            </a:pPr>
            <a:r>
              <a:rPr lang="en-US" sz="1550" b="1" dirty="0">
                <a:solidFill>
                  <a:srgbClr val="E2E6E9"/>
                </a:solidFill>
                <a:latin typeface="Source Sans 3" pitchFamily="34" charset="0"/>
                <a:ea typeface="Source Sans 3" pitchFamily="34" charset="-122"/>
                <a:cs typeface="Source Sans 3" pitchFamily="34" charset="-120"/>
              </a:rPr>
              <a:t>Niyə baş verdi?</a:t>
            </a:r>
            <a:pPr algn="l" indent="0" marL="0">
              <a:lnSpc>
                <a:spcPts val="2200"/>
              </a:lnSpc>
              <a:buNone/>
            </a:pPr>
            <a:r>
              <a:rPr lang="en-US" sz="1550" dirty="0">
                <a:solidFill>
                  <a:srgbClr val="E2E6E9"/>
                </a:solidFill>
                <a:latin typeface="Source Sans 3" pitchFamily="34" charset="0"/>
                <a:ea typeface="Source Sans 3" pitchFamily="34" charset="-122"/>
                <a:cs typeface="Source Sans 3" pitchFamily="34" charset="-120"/>
              </a:rPr>
              <a:t> Hadisələrin səbəblərini araşdırır. Korrelyasiya və səbəb-nəticə əlaqələrinin müəyyənləşdirilməsi üçün istifadə olunur.</a:t>
            </a:r>
            <a:endParaRPr lang="en-US" sz="1550" dirty="0"/>
          </a:p>
        </p:txBody>
      </p:sp>
      <p:sp>
        <p:nvSpPr>
          <p:cNvPr id="16" name="Shape 12"/>
          <p:cNvSpPr/>
          <p:nvPr/>
        </p:nvSpPr>
        <p:spPr>
          <a:xfrm>
            <a:off x="1083350" y="5710595"/>
            <a:ext cx="6141839" cy="196929"/>
          </a:xfrm>
          <a:prstGeom prst="roundRect">
            <a:avLst>
              <a:gd name="adj" fmla="val 15006"/>
            </a:avLst>
          </a:prstGeom>
          <a:solidFill>
            <a:srgbClr val="303132"/>
          </a:solidFill>
          <a:ln/>
        </p:spPr>
      </p:sp>
      <p:sp>
        <p:nvSpPr>
          <p:cNvPr id="17" name="Shape 13"/>
          <p:cNvSpPr/>
          <p:nvPr/>
        </p:nvSpPr>
        <p:spPr>
          <a:xfrm>
            <a:off x="787956" y="5513606"/>
            <a:ext cx="590907" cy="590907"/>
          </a:xfrm>
          <a:prstGeom prst="roundRect">
            <a:avLst>
              <a:gd name="adj" fmla="val 77373"/>
            </a:avLst>
          </a:prstGeom>
          <a:solidFill>
            <a:srgbClr val="303132"/>
          </a:solidFill>
          <a:ln/>
        </p:spPr>
      </p:sp>
      <p:pic>
        <p:nvPicPr>
          <p:cNvPr id="18" name="Image 2" descr="preencoded.png">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935712" y="5661362"/>
            <a:ext cx="295394" cy="295394"/>
          </a:xfrm>
          <a:prstGeom prst="rect">
            <a:avLst/>
          </a:prstGeom>
        </p:spPr>
      </p:pic>
      <p:sp>
        <p:nvSpPr>
          <p:cNvPr id="19" name="Text 14"/>
          <p:cNvSpPr/>
          <p:nvPr/>
        </p:nvSpPr>
        <p:spPr>
          <a:xfrm>
            <a:off x="984885" y="6284238"/>
            <a:ext cx="2238613" cy="279797"/>
          </a:xfrm>
          <a:prstGeom prst="rect">
            <a:avLst/>
          </a:prstGeom>
          <a:noFill/>
          <a:ln/>
        </p:spPr>
        <p:txBody>
          <a:bodyPr wrap="none" lIns="0" tIns="0" rIns="0" bIns="0" rtlCol="0" anchor="t"/>
          <a:lstStyle/>
          <a:p>
            <a:pPr algn="l" indent="0" marL="0">
              <a:lnSpc>
                <a:spcPts val="2200"/>
              </a:lnSpc>
              <a:buNone/>
            </a:pPr>
            <a:r>
              <a:rPr lang="en-US" sz="1750" b="1" dirty="0">
                <a:solidFill>
                  <a:srgbClr val="E2E6E9"/>
                </a:solidFill>
                <a:latin typeface="Montserrat Bold" pitchFamily="34" charset="0"/>
                <a:ea typeface="Montserrat Bold" pitchFamily="34" charset="-122"/>
                <a:cs typeface="Montserrat Bold" pitchFamily="34" charset="-120"/>
              </a:rPr>
              <a:t>Prediktiv Analitika</a:t>
            </a:r>
            <a:endParaRPr lang="en-US" sz="1750" dirty="0"/>
          </a:p>
        </p:txBody>
      </p:sp>
      <p:sp>
        <p:nvSpPr>
          <p:cNvPr id="20" name="Text 15"/>
          <p:cNvSpPr/>
          <p:nvPr/>
        </p:nvSpPr>
        <p:spPr>
          <a:xfrm>
            <a:off x="984885" y="6671786"/>
            <a:ext cx="6043493" cy="565071"/>
          </a:xfrm>
          <a:prstGeom prst="rect">
            <a:avLst/>
          </a:prstGeom>
          <a:noFill/>
          <a:ln/>
        </p:spPr>
        <p:txBody>
          <a:bodyPr wrap="square" lIns="0" tIns="0" rIns="0" bIns="0" rtlCol="0" anchor="t"/>
          <a:lstStyle/>
          <a:p>
            <a:pPr algn="l" indent="0" marL="0">
              <a:lnSpc>
                <a:spcPts val="2200"/>
              </a:lnSpc>
              <a:buNone/>
            </a:pPr>
            <a:r>
              <a:rPr lang="en-US" sz="1550" b="1" dirty="0">
                <a:solidFill>
                  <a:srgbClr val="E2E6E9"/>
                </a:solidFill>
                <a:latin typeface="Source Sans 3" pitchFamily="34" charset="0"/>
                <a:ea typeface="Source Sans 3" pitchFamily="34" charset="-122"/>
                <a:cs typeface="Source Sans 3" pitchFamily="34" charset="-120"/>
              </a:rPr>
              <a:t>Nə baş verəcək?</a:t>
            </a:r>
            <a:pPr algn="l" indent="0" marL="0">
              <a:lnSpc>
                <a:spcPts val="2200"/>
              </a:lnSpc>
              <a:buNone/>
            </a:pPr>
            <a:r>
              <a:rPr lang="en-US" sz="1550" dirty="0">
                <a:solidFill>
                  <a:srgbClr val="E2E6E9"/>
                </a:solidFill>
                <a:latin typeface="Source Sans 3" pitchFamily="34" charset="0"/>
                <a:ea typeface="Source Sans 3" pitchFamily="34" charset="-122"/>
                <a:cs typeface="Source Sans 3" pitchFamily="34" charset="-120"/>
              </a:rPr>
              <a:t> Gələcək nəticələri proqnozlaşdırır. Statistik modellər və maşın öyrənməsi metodlarından istifadə edir.</a:t>
            </a:r>
            <a:endParaRPr lang="en-US" sz="1550" dirty="0"/>
          </a:p>
        </p:txBody>
      </p:sp>
      <p:sp>
        <p:nvSpPr>
          <p:cNvPr id="21" name="Shape 16"/>
          <p:cNvSpPr/>
          <p:nvPr/>
        </p:nvSpPr>
        <p:spPr>
          <a:xfrm>
            <a:off x="7700367" y="5415201"/>
            <a:ext cx="6141958" cy="196929"/>
          </a:xfrm>
          <a:prstGeom prst="roundRect">
            <a:avLst>
              <a:gd name="adj" fmla="val 15006"/>
            </a:avLst>
          </a:prstGeom>
          <a:solidFill>
            <a:srgbClr val="303132"/>
          </a:solidFill>
          <a:ln/>
        </p:spPr>
      </p:sp>
      <p:sp>
        <p:nvSpPr>
          <p:cNvPr id="22" name="Shape 17"/>
          <p:cNvSpPr/>
          <p:nvPr/>
        </p:nvSpPr>
        <p:spPr>
          <a:xfrm>
            <a:off x="7404973" y="5218212"/>
            <a:ext cx="590907" cy="590907"/>
          </a:xfrm>
          <a:prstGeom prst="roundRect">
            <a:avLst>
              <a:gd name="adj" fmla="val 77373"/>
            </a:avLst>
          </a:prstGeom>
          <a:solidFill>
            <a:srgbClr val="303132"/>
          </a:solidFill>
          <a:ln/>
        </p:spPr>
      </p:sp>
      <p:pic>
        <p:nvPicPr>
          <p:cNvPr id="23" name="Image 3" descr="preencoded.png">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7552730" y="5365968"/>
            <a:ext cx="295394" cy="295394"/>
          </a:xfrm>
          <a:prstGeom prst="rect">
            <a:avLst/>
          </a:prstGeom>
        </p:spPr>
      </p:pic>
      <p:sp>
        <p:nvSpPr>
          <p:cNvPr id="24" name="Text 18"/>
          <p:cNvSpPr/>
          <p:nvPr/>
        </p:nvSpPr>
        <p:spPr>
          <a:xfrm>
            <a:off x="7601902" y="5988844"/>
            <a:ext cx="2386251" cy="279797"/>
          </a:xfrm>
          <a:prstGeom prst="rect">
            <a:avLst/>
          </a:prstGeom>
          <a:noFill/>
          <a:ln/>
        </p:spPr>
        <p:txBody>
          <a:bodyPr wrap="none" lIns="0" tIns="0" rIns="0" bIns="0" rtlCol="0" anchor="t"/>
          <a:lstStyle/>
          <a:p>
            <a:pPr algn="l" indent="0" marL="0">
              <a:lnSpc>
                <a:spcPts val="2200"/>
              </a:lnSpc>
              <a:buNone/>
            </a:pPr>
            <a:r>
              <a:rPr lang="en-US" sz="1750" b="1" dirty="0">
                <a:solidFill>
                  <a:srgbClr val="E2E6E9"/>
                </a:solidFill>
                <a:latin typeface="Montserrat Bold" pitchFamily="34" charset="0"/>
                <a:ea typeface="Montserrat Bold" pitchFamily="34" charset="-122"/>
                <a:cs typeface="Montserrat Bold" pitchFamily="34" charset="-120"/>
              </a:rPr>
              <a:t>Preskriptiv Analitika</a:t>
            </a:r>
            <a:endParaRPr lang="en-US" sz="1750" dirty="0"/>
          </a:p>
        </p:txBody>
      </p:sp>
      <p:sp>
        <p:nvSpPr>
          <p:cNvPr id="25" name="Text 19"/>
          <p:cNvSpPr/>
          <p:nvPr/>
        </p:nvSpPr>
        <p:spPr>
          <a:xfrm>
            <a:off x="7601902" y="6376392"/>
            <a:ext cx="6043613" cy="565071"/>
          </a:xfrm>
          <a:prstGeom prst="rect">
            <a:avLst/>
          </a:prstGeom>
          <a:noFill/>
          <a:ln/>
        </p:spPr>
        <p:txBody>
          <a:bodyPr wrap="square" lIns="0" tIns="0" rIns="0" bIns="0" rtlCol="0" anchor="t"/>
          <a:lstStyle/>
          <a:p>
            <a:pPr algn="l" indent="0" marL="0">
              <a:lnSpc>
                <a:spcPts val="2200"/>
              </a:lnSpc>
              <a:buNone/>
            </a:pPr>
            <a:r>
              <a:rPr lang="en-US" sz="1550" b="1" dirty="0">
                <a:solidFill>
                  <a:srgbClr val="E2E6E9"/>
                </a:solidFill>
                <a:latin typeface="Source Sans 3" pitchFamily="34" charset="0"/>
                <a:ea typeface="Source Sans 3" pitchFamily="34" charset="-122"/>
                <a:cs typeface="Source Sans 3" pitchFamily="34" charset="-120"/>
              </a:rPr>
              <a:t>Nə etməliyik?</a:t>
            </a:r>
            <a:pPr algn="l" indent="0" marL="0">
              <a:lnSpc>
                <a:spcPts val="2200"/>
              </a:lnSpc>
              <a:buNone/>
            </a:pPr>
            <a:r>
              <a:rPr lang="en-US" sz="1550" dirty="0">
                <a:solidFill>
                  <a:srgbClr val="E2E6E9"/>
                </a:solidFill>
                <a:latin typeface="Source Sans 3" pitchFamily="34" charset="0"/>
                <a:ea typeface="Source Sans 3" pitchFamily="34" charset="-122"/>
                <a:cs typeface="Source Sans 3" pitchFamily="34" charset="-120"/>
              </a:rPr>
              <a:t> Optimal qərarlar üçün tövsiyələr verir. Optimallaşdırma və simulyasiya metodları tətbiq edir.</a:t>
            </a:r>
            <a:endParaRPr lang="en-US" sz="15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9144000" y="0"/>
            <a:ext cx="5486400" cy="8229600"/>
          </a:xfrm>
          <a:prstGeom prst="rect">
            <a:avLst/>
          </a:prstGeom>
        </p:spPr>
      </p:pic>
      <p:sp>
        <p:nvSpPr>
          <p:cNvPr id="3" name="Text 0"/>
          <p:cNvSpPr/>
          <p:nvPr/>
        </p:nvSpPr>
        <p:spPr>
          <a:xfrm>
            <a:off x="863798" y="1248847"/>
            <a:ext cx="6606897" cy="613529"/>
          </a:xfrm>
          <a:prstGeom prst="rect">
            <a:avLst/>
          </a:prstGeom>
          <a:noFill/>
          <a:ln/>
        </p:spPr>
        <p:txBody>
          <a:bodyPr wrap="none" lIns="0" tIns="0" rIns="0" bIns="0" rtlCol="0" anchor="t"/>
          <a:lstStyle/>
          <a:p>
            <a:pPr algn="l" indent="0" marL="0">
              <a:lnSpc>
                <a:spcPts val="4800"/>
              </a:lnSpc>
              <a:buNone/>
            </a:pPr>
            <a:r>
              <a:rPr lang="en-US" sz="3850" b="1" dirty="0">
                <a:solidFill>
                  <a:srgbClr val="FFFFFF"/>
                </a:solidFill>
                <a:latin typeface="Montserrat Bold" pitchFamily="34" charset="0"/>
                <a:ea typeface="Montserrat Bold" pitchFamily="34" charset="-122"/>
                <a:cs typeface="Montserrat Bold" pitchFamily="34" charset="-120"/>
              </a:rPr>
              <a:t>Prediktiv Analitika Nədir?</a:t>
            </a:r>
            <a:endParaRPr lang="en-US" sz="3850" dirty="0"/>
          </a:p>
        </p:txBody>
      </p:sp>
      <p:sp>
        <p:nvSpPr>
          <p:cNvPr id="4" name="Text 1"/>
          <p:cNvSpPr/>
          <p:nvPr/>
        </p:nvSpPr>
        <p:spPr>
          <a:xfrm>
            <a:off x="863798" y="2380536"/>
            <a:ext cx="4238982" cy="1943814"/>
          </a:xfrm>
          <a:prstGeom prst="rect">
            <a:avLst/>
          </a:prstGeom>
          <a:noFill/>
          <a:ln/>
        </p:spPr>
        <p:txBody>
          <a:bodyPr wrap="square" lIns="0" tIns="0" rIns="0" bIns="0" rtlCol="0" anchor="t"/>
          <a:lstStyle/>
          <a:p>
            <a:pPr algn="l" indent="0" marL="0">
              <a:lnSpc>
                <a:spcPts val="2550"/>
              </a:lnSpc>
              <a:buNone/>
            </a:pPr>
            <a:r>
              <a:rPr lang="en-US" sz="1700" dirty="0">
                <a:solidFill>
                  <a:srgbClr val="E2E6E9"/>
                </a:solidFill>
                <a:latin typeface="Source Sans 3" pitchFamily="34" charset="0"/>
                <a:ea typeface="Source Sans 3" pitchFamily="34" charset="-122"/>
                <a:cs typeface="Source Sans 3" pitchFamily="34" charset="-120"/>
              </a:rPr>
              <a:t>Prediktiv analitika tarixi məlumatlara, statistik alqoritmlərə və maşın öyrənməsi texnikalarına əsaslanaraq gələcək nəticələri proqnozlaşdırır. Bu yanaşma müəssisələrə gələcəkdə baş verəcək hadisələri əvvəlcədən görməyə və strateji planlaşdırma aparmağa imkan verir.</a:t>
            </a:r>
            <a:endParaRPr lang="en-US" sz="1700" dirty="0"/>
          </a:p>
        </p:txBody>
      </p:sp>
      <p:sp>
        <p:nvSpPr>
          <p:cNvPr id="5" name="Text 2"/>
          <p:cNvSpPr/>
          <p:nvPr/>
        </p:nvSpPr>
        <p:spPr>
          <a:xfrm>
            <a:off x="863798" y="4518660"/>
            <a:ext cx="4238982" cy="2267783"/>
          </a:xfrm>
          <a:prstGeom prst="rect">
            <a:avLst/>
          </a:prstGeom>
          <a:noFill/>
          <a:ln/>
        </p:spPr>
        <p:txBody>
          <a:bodyPr wrap="square" lIns="0" tIns="0" rIns="0" bIns="0" rtlCol="0" anchor="t"/>
          <a:lstStyle/>
          <a:p>
            <a:pPr algn="l" indent="0" marL="0">
              <a:lnSpc>
                <a:spcPts val="2550"/>
              </a:lnSpc>
              <a:buNone/>
            </a:pPr>
            <a:r>
              <a:rPr lang="en-US" sz="1700" dirty="0">
                <a:solidFill>
                  <a:srgbClr val="E2E6E9"/>
                </a:solidFill>
                <a:latin typeface="Source Sans 3" pitchFamily="34" charset="0"/>
                <a:ea typeface="Source Sans 3" pitchFamily="34" charset="-122"/>
                <a:cs typeface="Source Sans 3" pitchFamily="34" charset="-120"/>
              </a:rPr>
              <a:t>Prediktiv analitika müxtəlif sahələrdə tətbiq olunur: müştəri davranışının proqnozlaşdırılması, tələb planlaması, risklərın qiymətləndirilməsi və maliyyə proqnozlaşdırılması. Düzgün tətbiq edildikdə, bu metodlar əhəmiyyətli rəqabət üstünlüyü təmin edir.</a:t>
            </a:r>
            <a:endParaRPr lang="en-US" sz="1700" dirty="0"/>
          </a:p>
        </p:txBody>
      </p:sp>
      <p:sp>
        <p:nvSpPr>
          <p:cNvPr id="6" name="Shape 3"/>
          <p:cNvSpPr/>
          <p:nvPr/>
        </p:nvSpPr>
        <p:spPr>
          <a:xfrm>
            <a:off x="5481757" y="2186226"/>
            <a:ext cx="2961561" cy="4794528"/>
          </a:xfrm>
          <a:prstGeom prst="roundRect">
            <a:avLst>
              <a:gd name="adj" fmla="val 1094"/>
            </a:avLst>
          </a:prstGeom>
          <a:solidFill>
            <a:srgbClr val="1D1F22"/>
          </a:solidFill>
          <a:ln/>
        </p:spPr>
      </p:sp>
      <p:sp>
        <p:nvSpPr>
          <p:cNvPr id="7" name="Text 4"/>
          <p:cNvSpPr/>
          <p:nvPr/>
        </p:nvSpPr>
        <p:spPr>
          <a:xfrm>
            <a:off x="5697617" y="2402086"/>
            <a:ext cx="2454235" cy="306705"/>
          </a:xfrm>
          <a:prstGeom prst="rect">
            <a:avLst/>
          </a:prstGeom>
          <a:noFill/>
          <a:ln/>
        </p:spPr>
        <p:txBody>
          <a:bodyPr wrap="none" lIns="0" tIns="0" rIns="0" bIns="0" rtlCol="0" anchor="t"/>
          <a:lstStyle/>
          <a:p>
            <a:pPr algn="l" indent="0" marL="0">
              <a:lnSpc>
                <a:spcPts val="2400"/>
              </a:lnSpc>
              <a:buNone/>
            </a:pPr>
            <a:r>
              <a:rPr lang="en-US" sz="1900" b="1" dirty="0">
                <a:solidFill>
                  <a:srgbClr val="FFFFFF"/>
                </a:solidFill>
                <a:latin typeface="Montserrat Bold" pitchFamily="34" charset="0"/>
                <a:ea typeface="Montserrat Bold" pitchFamily="34" charset="-122"/>
                <a:cs typeface="Montserrat Bold" pitchFamily="34" charset="-120"/>
              </a:rPr>
              <a:t>Əsas Üstünlüklər</a:t>
            </a:r>
            <a:endParaRPr lang="en-US" sz="1900" dirty="0"/>
          </a:p>
        </p:txBody>
      </p:sp>
      <p:sp>
        <p:nvSpPr>
          <p:cNvPr id="8" name="Text 5"/>
          <p:cNvSpPr/>
          <p:nvPr/>
        </p:nvSpPr>
        <p:spPr>
          <a:xfrm>
            <a:off x="5697617" y="2924651"/>
            <a:ext cx="2529840" cy="2818209"/>
          </a:xfrm>
          <a:prstGeom prst="rect">
            <a:avLst/>
          </a:prstGeom>
          <a:noFill/>
          <a:ln/>
        </p:spPr>
        <p:txBody>
          <a:bodyPr wrap="square" lIns="0" tIns="0" rIns="0" bIns="0" rtlCol="0" anchor="t"/>
          <a:lstStyle/>
          <a:p>
            <a:pPr algn="l" marL="342900" indent="-342900">
              <a:lnSpc>
                <a:spcPts val="2550"/>
              </a:lnSpc>
              <a:buSzPct val="100000"/>
              <a:buChar char="•"/>
            </a:pPr>
            <a:r>
              <a:rPr lang="en-US" sz="1700" dirty="0">
                <a:solidFill>
                  <a:srgbClr val="E2E6E9"/>
                </a:solidFill>
                <a:latin typeface="Source Sans 3" pitchFamily="34" charset="0"/>
                <a:ea typeface="Source Sans 3" pitchFamily="34" charset="-122"/>
                <a:cs typeface="Source Sans 3" pitchFamily="34" charset="-120"/>
              </a:rPr>
              <a:t>Strateji planlaşdırmada dəqiqlik</a:t>
            </a:r>
            <a:endParaRPr lang="en-US" sz="1700" dirty="0"/>
          </a:p>
          <a:p>
            <a:pPr algn="l" marL="342900" indent="-342900">
              <a:lnSpc>
                <a:spcPts val="2550"/>
              </a:lnSpc>
              <a:buSzPct val="100000"/>
              <a:buChar char="•"/>
            </a:pPr>
            <a:r>
              <a:rPr lang="en-US" sz="1700" dirty="0">
                <a:solidFill>
                  <a:srgbClr val="E2E6E9"/>
                </a:solidFill>
                <a:latin typeface="Source Sans 3" pitchFamily="34" charset="0"/>
                <a:ea typeface="Source Sans 3" pitchFamily="34" charset="-122"/>
                <a:cs typeface="Source Sans 3" pitchFamily="34" charset="-120"/>
              </a:rPr>
              <a:t>Risklərın əvvəlcədən müəyyənləşdirilməsi</a:t>
            </a:r>
            <a:endParaRPr lang="en-US" sz="1700" dirty="0"/>
          </a:p>
          <a:p>
            <a:pPr algn="l" marL="342900" indent="-342900">
              <a:lnSpc>
                <a:spcPts val="2550"/>
              </a:lnSpc>
              <a:buSzPct val="100000"/>
              <a:buChar char="•"/>
            </a:pPr>
            <a:r>
              <a:rPr lang="en-US" sz="1700" dirty="0">
                <a:solidFill>
                  <a:srgbClr val="E2E6E9"/>
                </a:solidFill>
                <a:latin typeface="Source Sans 3" pitchFamily="34" charset="0"/>
                <a:ea typeface="Source Sans 3" pitchFamily="34" charset="-122"/>
                <a:cs typeface="Source Sans 3" pitchFamily="34" charset="-120"/>
              </a:rPr>
              <a:t>Resursların optimal bölgüsü</a:t>
            </a:r>
            <a:endParaRPr lang="en-US" sz="1700" dirty="0"/>
          </a:p>
          <a:p>
            <a:pPr algn="l" marL="342900" indent="-342900">
              <a:lnSpc>
                <a:spcPts val="2550"/>
              </a:lnSpc>
              <a:buSzPct val="100000"/>
              <a:buChar char="•"/>
            </a:pPr>
            <a:r>
              <a:rPr lang="en-US" sz="1700" dirty="0">
                <a:solidFill>
                  <a:srgbClr val="E2E6E9"/>
                </a:solidFill>
                <a:latin typeface="Source Sans 3" pitchFamily="34" charset="0"/>
                <a:ea typeface="Source Sans 3" pitchFamily="34" charset="-122"/>
                <a:cs typeface="Source Sans 3" pitchFamily="34" charset="-120"/>
              </a:rPr>
              <a:t>Rəqabət üstünlüyü əldə edilməsi</a:t>
            </a:r>
            <a:endParaRPr lang="en-US" sz="17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Shape 0"/>
          <p:cNvSpPr/>
          <p:nvPr/>
        </p:nvSpPr>
        <p:spPr>
          <a:xfrm>
            <a:off x="1978104" y="445651"/>
            <a:ext cx="910352" cy="240149"/>
          </a:xfrm>
          <a:prstGeom prst="roundRect">
            <a:avLst>
              <a:gd name="adj" fmla="val 7440"/>
            </a:avLst>
          </a:prstGeom>
          <a:solidFill>
            <a:srgbClr val="262626"/>
          </a:solidFill>
          <a:ln/>
        </p:spPr>
      </p:sp>
      <p:pic>
        <p:nvPicPr>
          <p:cNvPr id="3"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2067401" y="506135"/>
            <a:ext cx="119063" cy="119063"/>
          </a:xfrm>
          <a:prstGeom prst="rect">
            <a:avLst/>
          </a:prstGeom>
        </p:spPr>
      </p:pic>
      <p:sp>
        <p:nvSpPr>
          <p:cNvPr id="4" name="Text 1"/>
          <p:cNvSpPr/>
          <p:nvPr/>
        </p:nvSpPr>
        <p:spPr>
          <a:xfrm>
            <a:off x="2245995" y="490299"/>
            <a:ext cx="553164" cy="150852"/>
          </a:xfrm>
          <a:prstGeom prst="rect">
            <a:avLst/>
          </a:prstGeom>
          <a:noFill/>
          <a:ln/>
        </p:spPr>
        <p:txBody>
          <a:bodyPr wrap="none" lIns="0" tIns="0" rIns="0" bIns="0" rtlCol="0" anchor="t"/>
          <a:lstStyle/>
          <a:p>
            <a:pPr algn="l" indent="0" marL="0">
              <a:lnSpc>
                <a:spcPts val="1150"/>
              </a:lnSpc>
              <a:buNone/>
            </a:pPr>
            <a:r>
              <a:rPr lang="en-US" sz="900" dirty="0">
                <a:solidFill>
                  <a:srgbClr val="E2E6E9"/>
                </a:solidFill>
                <a:latin typeface="Source Sans 3" pitchFamily="34" charset="0"/>
                <a:ea typeface="Source Sans 3" pitchFamily="34" charset="-122"/>
                <a:cs typeface="Source Sans 3" pitchFamily="34" charset="-120"/>
              </a:rPr>
              <a:t>METODLAR</a:t>
            </a:r>
            <a:endParaRPr lang="en-US" sz="900" dirty="0"/>
          </a:p>
        </p:txBody>
      </p:sp>
      <p:sp>
        <p:nvSpPr>
          <p:cNvPr id="5" name="Text 2"/>
          <p:cNvSpPr/>
          <p:nvPr/>
        </p:nvSpPr>
        <p:spPr>
          <a:xfrm>
            <a:off x="1978104" y="726758"/>
            <a:ext cx="8085892" cy="422910"/>
          </a:xfrm>
          <a:prstGeom prst="rect">
            <a:avLst/>
          </a:prstGeom>
          <a:noFill/>
          <a:ln/>
        </p:spPr>
        <p:txBody>
          <a:bodyPr wrap="none" lIns="0" tIns="0" rIns="0" bIns="0" rtlCol="0" anchor="t"/>
          <a:lstStyle/>
          <a:p>
            <a:pPr algn="l" indent="0" marL="0">
              <a:lnSpc>
                <a:spcPts val="3300"/>
              </a:lnSpc>
              <a:buNone/>
            </a:pPr>
            <a:r>
              <a:rPr lang="en-US" sz="2650" b="1" dirty="0">
                <a:solidFill>
                  <a:srgbClr val="FFFFFF"/>
                </a:solidFill>
                <a:latin typeface="Montserrat Bold" pitchFamily="34" charset="0"/>
                <a:ea typeface="Montserrat Bold" pitchFamily="34" charset="-122"/>
                <a:cs typeface="Montserrat Bold" pitchFamily="34" charset="-120"/>
              </a:rPr>
              <a:t>Xətti Reqressiya: Əlaqələrin Modelləşdirilməsi</a:t>
            </a:r>
            <a:endParaRPr lang="en-US" sz="2650" dirty="0"/>
          </a:p>
        </p:txBody>
      </p:sp>
      <p:pic>
        <p:nvPicPr>
          <p:cNvPr id="6" name="Image 1" descr="preencoded.png">    </p:cNvPr>
          <p:cNvPicPr>
            <a:picLocks noChangeAspect="1"/>
          </p:cNvPicPr>
          <p:nvPr/>
        </p:nvPicPr>
        <p:blipFill>
          <a:blip r:embed="rId3"/>
          <a:stretch>
            <a:fillRect/>
          </a:stretch>
        </p:blipFill>
        <p:spPr>
          <a:xfrm>
            <a:off x="1978104" y="1418987"/>
            <a:ext cx="5155525" cy="5155525"/>
          </a:xfrm>
          <a:prstGeom prst="rect">
            <a:avLst/>
          </a:prstGeom>
        </p:spPr>
      </p:pic>
      <p:sp>
        <p:nvSpPr>
          <p:cNvPr id="7" name="Text 3"/>
          <p:cNvSpPr/>
          <p:nvPr/>
        </p:nvSpPr>
        <p:spPr>
          <a:xfrm>
            <a:off x="7504390" y="1395889"/>
            <a:ext cx="5155525" cy="377428"/>
          </a:xfrm>
          <a:prstGeom prst="rect">
            <a:avLst/>
          </a:prstGeom>
          <a:noFill/>
          <a:ln/>
        </p:spPr>
        <p:txBody>
          <a:bodyPr wrap="square" lIns="0" tIns="0" rIns="0" bIns="0" rtlCol="0" anchor="t"/>
          <a:lstStyle/>
          <a:p>
            <a:pPr algn="l" indent="0" marL="0">
              <a:lnSpc>
                <a:spcPts val="1450"/>
              </a:lnSpc>
              <a:buNone/>
            </a:pPr>
            <a:r>
              <a:rPr lang="en-US" sz="1150" dirty="0">
                <a:solidFill>
                  <a:srgbClr val="E2E6E9"/>
                </a:solidFill>
                <a:latin typeface="Source Sans 3" pitchFamily="34" charset="0"/>
                <a:ea typeface="Source Sans 3" pitchFamily="34" charset="-122"/>
                <a:cs typeface="Source Sans 3" pitchFamily="34" charset="-120"/>
              </a:rPr>
              <a:t>Xətti reqressiya iki və ya daha çox dəyişən arasındakı əlaqəni riyazi modelə çevirir. Bu metod bir dəyişənin digərinin dəyərinə necə təsir etdiyini anlamağa kömək edir.</a:t>
            </a:r>
            <a:endParaRPr lang="en-US" sz="1150" dirty="0"/>
          </a:p>
        </p:txBody>
      </p:sp>
      <p:sp>
        <p:nvSpPr>
          <p:cNvPr id="8" name="Text 4"/>
          <p:cNvSpPr/>
          <p:nvPr/>
        </p:nvSpPr>
        <p:spPr>
          <a:xfrm>
            <a:off x="7727633" y="1888688"/>
            <a:ext cx="4932283" cy="377428"/>
          </a:xfrm>
          <a:prstGeom prst="rect">
            <a:avLst/>
          </a:prstGeom>
          <a:noFill/>
          <a:ln/>
        </p:spPr>
        <p:txBody>
          <a:bodyPr wrap="square" lIns="0" tIns="0" rIns="0" bIns="0" rtlCol="0" anchor="t"/>
          <a:lstStyle/>
          <a:p>
            <a:pPr algn="l" indent="0" marL="0">
              <a:lnSpc>
                <a:spcPts val="1450"/>
              </a:lnSpc>
              <a:buNone/>
            </a:pPr>
            <a:r>
              <a:rPr lang="en-US" sz="1150" b="1" dirty="0">
                <a:solidFill>
                  <a:srgbClr val="E2E6E9"/>
                </a:solidFill>
                <a:latin typeface="Source Sans 3" pitchFamily="34" charset="0"/>
                <a:ea typeface="Source Sans 3" pitchFamily="34" charset="-122"/>
                <a:cs typeface="Source Sans 3" pitchFamily="34" charset="-120"/>
              </a:rPr>
              <a:t>Nümunə:</a:t>
            </a:r>
            <a:pPr algn="l" indent="0" marL="0">
              <a:lnSpc>
                <a:spcPts val="1450"/>
              </a:lnSpc>
              <a:buNone/>
            </a:pPr>
            <a:r>
              <a:rPr lang="en-US" sz="1150" dirty="0">
                <a:solidFill>
                  <a:srgbClr val="E2E6E9"/>
                </a:solidFill>
                <a:latin typeface="Source Sans 3" pitchFamily="34" charset="0"/>
                <a:ea typeface="Source Sans 3" pitchFamily="34" charset="-122"/>
                <a:cs typeface="Source Sans 3" pitchFamily="34" charset="-120"/>
              </a:rPr>
              <a:t> Reklam büdcəsi artdıqca satış həcmi necə dəyişir? Xətti reqressiya bu əlaqəni kəmiyyətləşdirir və gələcək satışları proqnozlaşdırmağa imkan verir.</a:t>
            </a:r>
            <a:endParaRPr lang="en-US" sz="1150" dirty="0"/>
          </a:p>
        </p:txBody>
      </p:sp>
      <p:sp>
        <p:nvSpPr>
          <p:cNvPr id="9" name="Shape 5"/>
          <p:cNvSpPr/>
          <p:nvPr/>
        </p:nvSpPr>
        <p:spPr>
          <a:xfrm>
            <a:off x="7504390" y="1888688"/>
            <a:ext cx="15240" cy="377428"/>
          </a:xfrm>
          <a:prstGeom prst="rect">
            <a:avLst/>
          </a:prstGeom>
          <a:solidFill>
            <a:srgbClr val="FFFFFF"/>
          </a:solidFill>
          <a:ln/>
        </p:spPr>
      </p:sp>
      <p:sp>
        <p:nvSpPr>
          <p:cNvPr id="10" name="Text 6"/>
          <p:cNvSpPr/>
          <p:nvPr/>
        </p:nvSpPr>
        <p:spPr>
          <a:xfrm>
            <a:off x="7504390" y="2381488"/>
            <a:ext cx="5155525" cy="377428"/>
          </a:xfrm>
          <a:prstGeom prst="rect">
            <a:avLst/>
          </a:prstGeom>
          <a:noFill/>
          <a:ln/>
        </p:spPr>
        <p:txBody>
          <a:bodyPr wrap="square" lIns="0" tIns="0" rIns="0" bIns="0" rtlCol="0" anchor="t"/>
          <a:lstStyle/>
          <a:p>
            <a:pPr algn="l" indent="0" marL="0">
              <a:lnSpc>
                <a:spcPts val="1450"/>
              </a:lnSpc>
              <a:buNone/>
            </a:pPr>
            <a:r>
              <a:rPr lang="en-US" sz="1150" dirty="0">
                <a:solidFill>
                  <a:srgbClr val="E2E6E9"/>
                </a:solidFill>
                <a:latin typeface="Source Sans 3" pitchFamily="34" charset="0"/>
                <a:ea typeface="Source Sans 3" pitchFamily="34" charset="-122"/>
                <a:cs typeface="Source Sans 3" pitchFamily="34" charset="-120"/>
              </a:rPr>
              <a:t>Model qurulan zaman müəyyən edilir: hər 1000 manat reklam xərcində satış neçə faiz artır? Bu məlumat büdcə planlaması üçün son dərəcə dəyərlidir.</a:t>
            </a:r>
            <a:endParaRPr lang="en-US" sz="1150" dirty="0"/>
          </a:p>
        </p:txBody>
      </p:sp>
      <p:sp>
        <p:nvSpPr>
          <p:cNvPr id="11" name="Shape 7"/>
          <p:cNvSpPr/>
          <p:nvPr/>
        </p:nvSpPr>
        <p:spPr>
          <a:xfrm>
            <a:off x="1978104" y="6805255"/>
            <a:ext cx="3489603" cy="978575"/>
          </a:xfrm>
          <a:prstGeom prst="roundRect">
            <a:avLst>
              <a:gd name="adj" fmla="val 2282"/>
            </a:avLst>
          </a:prstGeom>
          <a:solidFill>
            <a:srgbClr val="111213"/>
          </a:solidFill>
          <a:ln w="15240">
            <a:solidFill>
              <a:srgbClr val="494A4B"/>
            </a:solidFill>
            <a:prstDash val="solid"/>
          </a:ln>
        </p:spPr>
      </p:sp>
      <p:sp>
        <p:nvSpPr>
          <p:cNvPr id="12" name="Text 8"/>
          <p:cNvSpPr/>
          <p:nvPr/>
        </p:nvSpPr>
        <p:spPr>
          <a:xfrm>
            <a:off x="2142173" y="6969323"/>
            <a:ext cx="1691997" cy="211455"/>
          </a:xfrm>
          <a:prstGeom prst="rect">
            <a:avLst/>
          </a:prstGeom>
          <a:noFill/>
          <a:ln/>
        </p:spPr>
        <p:txBody>
          <a:bodyPr wrap="none" lIns="0" tIns="0" rIns="0" bIns="0" rtlCol="0" anchor="t"/>
          <a:lstStyle/>
          <a:p>
            <a:pPr algn="l" indent="0" marL="0">
              <a:lnSpc>
                <a:spcPts val="1650"/>
              </a:lnSpc>
              <a:buNone/>
            </a:pPr>
            <a:r>
              <a:rPr lang="en-US" sz="1300" b="1" dirty="0">
                <a:solidFill>
                  <a:srgbClr val="E2E6E9"/>
                </a:solidFill>
                <a:latin typeface="Montserrat Bold" pitchFamily="34" charset="0"/>
                <a:ea typeface="Montserrat Bold" pitchFamily="34" charset="-122"/>
                <a:cs typeface="Montserrat Bold" pitchFamily="34" charset="-120"/>
              </a:rPr>
              <a:t>Tətbiq Sahələri</a:t>
            </a:r>
            <a:endParaRPr lang="en-US" sz="1300" dirty="0"/>
          </a:p>
        </p:txBody>
      </p:sp>
      <p:sp>
        <p:nvSpPr>
          <p:cNvPr id="13" name="Text 9"/>
          <p:cNvSpPr/>
          <p:nvPr/>
        </p:nvSpPr>
        <p:spPr>
          <a:xfrm>
            <a:off x="2142173" y="7242334"/>
            <a:ext cx="3161467" cy="377428"/>
          </a:xfrm>
          <a:prstGeom prst="rect">
            <a:avLst/>
          </a:prstGeom>
          <a:noFill/>
          <a:ln/>
        </p:spPr>
        <p:txBody>
          <a:bodyPr wrap="square" lIns="0" tIns="0" rIns="0" bIns="0" rtlCol="0" anchor="t"/>
          <a:lstStyle/>
          <a:p>
            <a:pPr algn="l" indent="0" marL="0">
              <a:lnSpc>
                <a:spcPts val="1450"/>
              </a:lnSpc>
              <a:buNone/>
            </a:pPr>
            <a:r>
              <a:rPr lang="en-US" sz="1150" dirty="0">
                <a:solidFill>
                  <a:srgbClr val="E2E6E9"/>
                </a:solidFill>
                <a:latin typeface="Source Sans 3" pitchFamily="34" charset="0"/>
                <a:ea typeface="Source Sans 3" pitchFamily="34" charset="-122"/>
                <a:cs typeface="Source Sans 3" pitchFamily="34" charset="-120"/>
              </a:rPr>
              <a:t>Satış proqnozu, qiymət elastikliyi, xərc optimallaşdırması</a:t>
            </a:r>
            <a:endParaRPr lang="en-US" sz="1150" dirty="0"/>
          </a:p>
        </p:txBody>
      </p:sp>
      <p:sp>
        <p:nvSpPr>
          <p:cNvPr id="14" name="Shape 10"/>
          <p:cNvSpPr/>
          <p:nvPr/>
        </p:nvSpPr>
        <p:spPr>
          <a:xfrm>
            <a:off x="5570339" y="6805255"/>
            <a:ext cx="3489603" cy="978575"/>
          </a:xfrm>
          <a:prstGeom prst="roundRect">
            <a:avLst>
              <a:gd name="adj" fmla="val 2282"/>
            </a:avLst>
          </a:prstGeom>
          <a:solidFill>
            <a:srgbClr val="111213"/>
          </a:solidFill>
          <a:ln w="15240">
            <a:solidFill>
              <a:srgbClr val="494A4B"/>
            </a:solidFill>
            <a:prstDash val="solid"/>
          </a:ln>
        </p:spPr>
      </p:sp>
      <p:sp>
        <p:nvSpPr>
          <p:cNvPr id="15" name="Text 11"/>
          <p:cNvSpPr/>
          <p:nvPr/>
        </p:nvSpPr>
        <p:spPr>
          <a:xfrm>
            <a:off x="5734407" y="6969323"/>
            <a:ext cx="1691997" cy="211455"/>
          </a:xfrm>
          <a:prstGeom prst="rect">
            <a:avLst/>
          </a:prstGeom>
          <a:noFill/>
          <a:ln/>
        </p:spPr>
        <p:txBody>
          <a:bodyPr wrap="none" lIns="0" tIns="0" rIns="0" bIns="0" rtlCol="0" anchor="t"/>
          <a:lstStyle/>
          <a:p>
            <a:pPr algn="l" indent="0" marL="0">
              <a:lnSpc>
                <a:spcPts val="1650"/>
              </a:lnSpc>
              <a:buNone/>
            </a:pPr>
            <a:r>
              <a:rPr lang="en-US" sz="1300" b="1" dirty="0">
                <a:solidFill>
                  <a:srgbClr val="E2E6E9"/>
                </a:solidFill>
                <a:latin typeface="Montserrat Bold" pitchFamily="34" charset="0"/>
                <a:ea typeface="Montserrat Bold" pitchFamily="34" charset="-122"/>
                <a:cs typeface="Montserrat Bold" pitchFamily="34" charset="-120"/>
              </a:rPr>
              <a:t>Üstünlüklər</a:t>
            </a:r>
            <a:endParaRPr lang="en-US" sz="1300" dirty="0"/>
          </a:p>
        </p:txBody>
      </p:sp>
      <p:sp>
        <p:nvSpPr>
          <p:cNvPr id="16" name="Text 12"/>
          <p:cNvSpPr/>
          <p:nvPr/>
        </p:nvSpPr>
        <p:spPr>
          <a:xfrm>
            <a:off x="5734407" y="7242334"/>
            <a:ext cx="3161467" cy="377428"/>
          </a:xfrm>
          <a:prstGeom prst="rect">
            <a:avLst/>
          </a:prstGeom>
          <a:noFill/>
          <a:ln/>
        </p:spPr>
        <p:txBody>
          <a:bodyPr wrap="square" lIns="0" tIns="0" rIns="0" bIns="0" rtlCol="0" anchor="t"/>
          <a:lstStyle/>
          <a:p>
            <a:pPr algn="l" indent="0" marL="0">
              <a:lnSpc>
                <a:spcPts val="1450"/>
              </a:lnSpc>
              <a:buNone/>
            </a:pPr>
            <a:r>
              <a:rPr lang="en-US" sz="1150" dirty="0">
                <a:solidFill>
                  <a:srgbClr val="E2E6E9"/>
                </a:solidFill>
                <a:latin typeface="Source Sans 3" pitchFamily="34" charset="0"/>
                <a:ea typeface="Source Sans 3" pitchFamily="34" charset="-122"/>
                <a:cs typeface="Source Sans 3" pitchFamily="34" charset="-120"/>
              </a:rPr>
              <a:t>Sadə interpretasiya, sürətli hesablama, geniş istifadə</a:t>
            </a:r>
            <a:endParaRPr lang="en-US" sz="1150" dirty="0"/>
          </a:p>
        </p:txBody>
      </p:sp>
      <p:sp>
        <p:nvSpPr>
          <p:cNvPr id="17" name="Shape 13"/>
          <p:cNvSpPr/>
          <p:nvPr/>
        </p:nvSpPr>
        <p:spPr>
          <a:xfrm>
            <a:off x="9162574" y="6805255"/>
            <a:ext cx="3489722" cy="978575"/>
          </a:xfrm>
          <a:prstGeom prst="roundRect">
            <a:avLst>
              <a:gd name="adj" fmla="val 2282"/>
            </a:avLst>
          </a:prstGeom>
          <a:solidFill>
            <a:srgbClr val="111213"/>
          </a:solidFill>
          <a:ln w="15240">
            <a:solidFill>
              <a:srgbClr val="494A4B"/>
            </a:solidFill>
            <a:prstDash val="solid"/>
          </a:ln>
        </p:spPr>
      </p:sp>
      <p:sp>
        <p:nvSpPr>
          <p:cNvPr id="18" name="Text 14"/>
          <p:cNvSpPr/>
          <p:nvPr/>
        </p:nvSpPr>
        <p:spPr>
          <a:xfrm>
            <a:off x="9326642" y="6969323"/>
            <a:ext cx="1691997" cy="211455"/>
          </a:xfrm>
          <a:prstGeom prst="rect">
            <a:avLst/>
          </a:prstGeom>
          <a:noFill/>
          <a:ln/>
        </p:spPr>
        <p:txBody>
          <a:bodyPr wrap="none" lIns="0" tIns="0" rIns="0" bIns="0" rtlCol="0" anchor="t"/>
          <a:lstStyle/>
          <a:p>
            <a:pPr algn="l" indent="0" marL="0">
              <a:lnSpc>
                <a:spcPts val="1650"/>
              </a:lnSpc>
              <a:buNone/>
            </a:pPr>
            <a:r>
              <a:rPr lang="en-US" sz="1300" b="1" dirty="0">
                <a:solidFill>
                  <a:srgbClr val="E2E6E9"/>
                </a:solidFill>
                <a:latin typeface="Montserrat Bold" pitchFamily="34" charset="0"/>
                <a:ea typeface="Montserrat Bold" pitchFamily="34" charset="-122"/>
                <a:cs typeface="Montserrat Bold" pitchFamily="34" charset="-120"/>
              </a:rPr>
              <a:t>Məhdudiyyətlər</a:t>
            </a:r>
            <a:endParaRPr lang="en-US" sz="1300" dirty="0"/>
          </a:p>
        </p:txBody>
      </p:sp>
      <p:sp>
        <p:nvSpPr>
          <p:cNvPr id="19" name="Text 15"/>
          <p:cNvSpPr/>
          <p:nvPr/>
        </p:nvSpPr>
        <p:spPr>
          <a:xfrm>
            <a:off x="9326642" y="7242334"/>
            <a:ext cx="3161586" cy="188714"/>
          </a:xfrm>
          <a:prstGeom prst="rect">
            <a:avLst/>
          </a:prstGeom>
          <a:noFill/>
          <a:ln/>
        </p:spPr>
        <p:txBody>
          <a:bodyPr wrap="none" lIns="0" tIns="0" rIns="0" bIns="0" rtlCol="0" anchor="t"/>
          <a:lstStyle/>
          <a:p>
            <a:pPr algn="l" indent="0" marL="0">
              <a:lnSpc>
                <a:spcPts val="1450"/>
              </a:lnSpc>
              <a:buNone/>
            </a:pPr>
            <a:r>
              <a:rPr lang="en-US" sz="1150" dirty="0">
                <a:solidFill>
                  <a:srgbClr val="E2E6E9"/>
                </a:solidFill>
                <a:latin typeface="Source Sans 3" pitchFamily="34" charset="0"/>
                <a:ea typeface="Source Sans 3" pitchFamily="34" charset="-122"/>
                <a:cs typeface="Source Sans 3" pitchFamily="34" charset="-120"/>
              </a:rPr>
              <a:t>Yalnız xətti əlaqələr, outlier-lərə həssaslıq</a:t>
            </a:r>
            <a:endParaRPr lang="en-US" sz="11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863798" y="1387197"/>
            <a:ext cx="9129474" cy="613529"/>
          </a:xfrm>
          <a:prstGeom prst="rect">
            <a:avLst/>
          </a:prstGeom>
          <a:noFill/>
          <a:ln/>
        </p:spPr>
        <p:txBody>
          <a:bodyPr wrap="none" lIns="0" tIns="0" rIns="0" bIns="0" rtlCol="0" anchor="t"/>
          <a:lstStyle/>
          <a:p>
            <a:pPr algn="l" indent="0" marL="0">
              <a:lnSpc>
                <a:spcPts val="4800"/>
              </a:lnSpc>
              <a:buNone/>
            </a:pPr>
            <a:r>
              <a:rPr lang="en-US" sz="3850" b="1" dirty="0">
                <a:solidFill>
                  <a:srgbClr val="FFFFFF"/>
                </a:solidFill>
                <a:latin typeface="Montserrat Bold" pitchFamily="34" charset="0"/>
                <a:ea typeface="Montserrat Bold" pitchFamily="34" charset="-122"/>
                <a:cs typeface="Montserrat Bold" pitchFamily="34" charset="-120"/>
              </a:rPr>
              <a:t>Zaman Sıraları: Dinamikanın Analizi</a:t>
            </a:r>
            <a:endParaRPr lang="en-US" sz="3850" dirty="0"/>
          </a:p>
        </p:txBody>
      </p:sp>
      <p:sp>
        <p:nvSpPr>
          <p:cNvPr id="3" name="Text 1"/>
          <p:cNvSpPr/>
          <p:nvPr/>
        </p:nvSpPr>
        <p:spPr>
          <a:xfrm>
            <a:off x="863798" y="2432566"/>
            <a:ext cx="12902803" cy="647938"/>
          </a:xfrm>
          <a:prstGeom prst="rect">
            <a:avLst/>
          </a:prstGeom>
          <a:noFill/>
          <a:ln/>
        </p:spPr>
        <p:txBody>
          <a:bodyPr wrap="square" lIns="0" tIns="0" rIns="0" bIns="0" rtlCol="0" anchor="t"/>
          <a:lstStyle/>
          <a:p>
            <a:pPr algn="l" indent="0" marL="0">
              <a:lnSpc>
                <a:spcPts val="2550"/>
              </a:lnSpc>
              <a:buNone/>
            </a:pPr>
            <a:r>
              <a:rPr lang="en-US" sz="1700" dirty="0">
                <a:solidFill>
                  <a:srgbClr val="E2E6E9"/>
                </a:solidFill>
                <a:latin typeface="Source Sans 3" pitchFamily="34" charset="0"/>
                <a:ea typeface="Source Sans 3" pitchFamily="34" charset="-122"/>
                <a:cs typeface="Source Sans 3" pitchFamily="34" charset="-120"/>
              </a:rPr>
              <a:t>Zaman sırası analizi zamana görə dəyişən məlumatları öyrənir və gələcək dəyərləri proqnozlaşdırır. Bu metodun üç əsas komponenti var: </a:t>
            </a:r>
            <a:pPr algn="l" indent="0" marL="0">
              <a:lnSpc>
                <a:spcPts val="2550"/>
              </a:lnSpc>
              <a:buNone/>
            </a:pPr>
            <a:r>
              <a:rPr lang="en-US" sz="1700" b="1" dirty="0">
                <a:solidFill>
                  <a:srgbClr val="E2E6E9"/>
                </a:solidFill>
                <a:latin typeface="Source Sans 3" pitchFamily="34" charset="0"/>
                <a:ea typeface="Source Sans 3" pitchFamily="34" charset="-122"/>
                <a:cs typeface="Source Sans 3" pitchFamily="34" charset="-120"/>
              </a:rPr>
              <a:t>trend</a:t>
            </a:r>
            <a:pPr algn="l" indent="0" marL="0">
              <a:lnSpc>
                <a:spcPts val="2550"/>
              </a:lnSpc>
              <a:buNone/>
            </a:pPr>
            <a:r>
              <a:rPr lang="en-US" sz="1700" dirty="0">
                <a:solidFill>
                  <a:srgbClr val="E2E6E9"/>
                </a:solidFill>
                <a:latin typeface="Source Sans 3" pitchFamily="34" charset="0"/>
                <a:ea typeface="Source Sans 3" pitchFamily="34" charset="-122"/>
                <a:cs typeface="Source Sans 3" pitchFamily="34" charset="-120"/>
              </a:rPr>
              <a:t> (uzunmüddətli istiqamət), </a:t>
            </a:r>
            <a:pPr algn="l" indent="0" marL="0">
              <a:lnSpc>
                <a:spcPts val="2550"/>
              </a:lnSpc>
              <a:buNone/>
            </a:pPr>
            <a:r>
              <a:rPr lang="en-US" sz="1700" b="1" dirty="0">
                <a:solidFill>
                  <a:srgbClr val="E2E6E9"/>
                </a:solidFill>
                <a:latin typeface="Source Sans 3" pitchFamily="34" charset="0"/>
                <a:ea typeface="Source Sans 3" pitchFamily="34" charset="-122"/>
                <a:cs typeface="Source Sans 3" pitchFamily="34" charset="-120"/>
              </a:rPr>
              <a:t>mövsümlük</a:t>
            </a:r>
            <a:pPr algn="l" indent="0" marL="0">
              <a:lnSpc>
                <a:spcPts val="2550"/>
              </a:lnSpc>
              <a:buNone/>
            </a:pPr>
            <a:r>
              <a:rPr lang="en-US" sz="1700" dirty="0">
                <a:solidFill>
                  <a:srgbClr val="E2E6E9"/>
                </a:solidFill>
                <a:latin typeface="Source Sans 3" pitchFamily="34" charset="0"/>
                <a:ea typeface="Source Sans 3" pitchFamily="34" charset="-122"/>
                <a:cs typeface="Source Sans 3" pitchFamily="34" charset="-120"/>
              </a:rPr>
              <a:t> (müntəzəm təkrarlanan dəyişikliklər) və </a:t>
            </a:r>
            <a:pPr algn="l" indent="0" marL="0">
              <a:lnSpc>
                <a:spcPts val="2550"/>
              </a:lnSpc>
              <a:buNone/>
            </a:pPr>
            <a:r>
              <a:rPr lang="en-US" sz="1700" b="1" dirty="0">
                <a:solidFill>
                  <a:srgbClr val="E2E6E9"/>
                </a:solidFill>
                <a:latin typeface="Source Sans 3" pitchFamily="34" charset="0"/>
                <a:ea typeface="Source Sans 3" pitchFamily="34" charset="-122"/>
                <a:cs typeface="Source Sans 3" pitchFamily="34" charset="-120"/>
              </a:rPr>
              <a:t>tsikliklik</a:t>
            </a:r>
            <a:pPr algn="l" indent="0" marL="0">
              <a:lnSpc>
                <a:spcPts val="2550"/>
              </a:lnSpc>
              <a:buNone/>
            </a:pPr>
            <a:r>
              <a:rPr lang="en-US" sz="1700" dirty="0">
                <a:solidFill>
                  <a:srgbClr val="E2E6E9"/>
                </a:solidFill>
                <a:latin typeface="Source Sans 3" pitchFamily="34" charset="0"/>
                <a:ea typeface="Source Sans 3" pitchFamily="34" charset="-122"/>
                <a:cs typeface="Source Sans 3" pitchFamily="34" charset="-120"/>
              </a:rPr>
              <a:t> (qeyri-müntəzəm dalğalanmalar).</a:t>
            </a:r>
            <a:endParaRPr lang="en-US" sz="1700" dirty="0"/>
          </a:p>
        </p:txBody>
      </p:sp>
      <p:pic>
        <p:nvPicPr>
          <p:cNvPr id="4" name="Image 0" descr="preencoded.png">    </p:cNvPr>
          <p:cNvPicPr>
            <a:picLocks noChangeAspect="1"/>
          </p:cNvPicPr>
          <p:nvPr/>
        </p:nvPicPr>
        <p:blipFill>
          <a:blip r:embed="rId1"/>
          <a:stretch>
            <a:fillRect/>
          </a:stretch>
        </p:blipFill>
        <p:spPr>
          <a:xfrm>
            <a:off x="863798" y="3323392"/>
            <a:ext cx="1195030" cy="1195030"/>
          </a:xfrm>
          <a:prstGeom prst="rect">
            <a:avLst/>
          </a:prstGeom>
        </p:spPr>
      </p:pic>
      <p:sp>
        <p:nvSpPr>
          <p:cNvPr id="5" name="Text 2"/>
          <p:cNvSpPr/>
          <p:nvPr/>
        </p:nvSpPr>
        <p:spPr>
          <a:xfrm>
            <a:off x="2328743" y="3323392"/>
            <a:ext cx="2454235" cy="306705"/>
          </a:xfrm>
          <a:prstGeom prst="rect">
            <a:avLst/>
          </a:prstGeom>
          <a:noFill/>
          <a:ln/>
        </p:spPr>
        <p:txBody>
          <a:bodyPr wrap="none" lIns="0" tIns="0" rIns="0" bIns="0" rtlCol="0" anchor="t"/>
          <a:lstStyle/>
          <a:p>
            <a:pPr algn="l" indent="0" marL="0">
              <a:lnSpc>
                <a:spcPts val="2400"/>
              </a:lnSpc>
              <a:buNone/>
            </a:pPr>
            <a:r>
              <a:rPr lang="en-US" sz="1900" b="1" dirty="0">
                <a:solidFill>
                  <a:srgbClr val="E2E6E9"/>
                </a:solidFill>
                <a:latin typeface="Montserrat Bold" pitchFamily="34" charset="0"/>
                <a:ea typeface="Montserrat Bold" pitchFamily="34" charset="-122"/>
                <a:cs typeface="Montserrat Bold" pitchFamily="34" charset="-120"/>
              </a:rPr>
              <a:t>Trend</a:t>
            </a:r>
            <a:endParaRPr lang="en-US" sz="1900" dirty="0"/>
          </a:p>
        </p:txBody>
      </p:sp>
      <p:sp>
        <p:nvSpPr>
          <p:cNvPr id="6" name="Text 3"/>
          <p:cNvSpPr/>
          <p:nvPr/>
        </p:nvSpPr>
        <p:spPr>
          <a:xfrm>
            <a:off x="2328743" y="3759637"/>
            <a:ext cx="2656046" cy="1295876"/>
          </a:xfrm>
          <a:prstGeom prst="rect">
            <a:avLst/>
          </a:prstGeom>
          <a:noFill/>
          <a:ln/>
        </p:spPr>
        <p:txBody>
          <a:bodyPr wrap="square" lIns="0" tIns="0" rIns="0" bIns="0" rtlCol="0" anchor="t"/>
          <a:lstStyle/>
          <a:p>
            <a:pPr algn="l" indent="0" marL="0">
              <a:lnSpc>
                <a:spcPts val="2550"/>
              </a:lnSpc>
              <a:buNone/>
            </a:pPr>
            <a:r>
              <a:rPr lang="en-US" sz="1700" dirty="0">
                <a:solidFill>
                  <a:srgbClr val="E2E6E9"/>
                </a:solidFill>
                <a:latin typeface="Source Sans 3" pitchFamily="34" charset="0"/>
                <a:ea typeface="Source Sans 3" pitchFamily="34" charset="-122"/>
                <a:cs typeface="Source Sans 3" pitchFamily="34" charset="-120"/>
              </a:rPr>
              <a:t>Uzunmüddətli artım və ya azalma istiqaməti. Məsələn, şirkətin satışlarının son 5 ildə ildə 15% artması.</a:t>
            </a:r>
            <a:endParaRPr lang="en-US" sz="1700" dirty="0"/>
          </a:p>
        </p:txBody>
      </p:sp>
      <p:pic>
        <p:nvPicPr>
          <p:cNvPr id="7" name="Image 1" descr="preencoded.png">    </p:cNvPr>
          <p:cNvPicPr>
            <a:picLocks noChangeAspect="1"/>
          </p:cNvPicPr>
          <p:nvPr/>
        </p:nvPicPr>
        <p:blipFill>
          <a:blip r:embed="rId2"/>
          <a:stretch>
            <a:fillRect/>
          </a:stretch>
        </p:blipFill>
        <p:spPr>
          <a:xfrm>
            <a:off x="5254704" y="3323392"/>
            <a:ext cx="1195030" cy="1195030"/>
          </a:xfrm>
          <a:prstGeom prst="rect">
            <a:avLst/>
          </a:prstGeom>
        </p:spPr>
      </p:pic>
      <p:sp>
        <p:nvSpPr>
          <p:cNvPr id="8" name="Text 4"/>
          <p:cNvSpPr/>
          <p:nvPr/>
        </p:nvSpPr>
        <p:spPr>
          <a:xfrm>
            <a:off x="6719649" y="3323392"/>
            <a:ext cx="2454235" cy="306705"/>
          </a:xfrm>
          <a:prstGeom prst="rect">
            <a:avLst/>
          </a:prstGeom>
          <a:noFill/>
          <a:ln/>
        </p:spPr>
        <p:txBody>
          <a:bodyPr wrap="none" lIns="0" tIns="0" rIns="0" bIns="0" rtlCol="0" anchor="t"/>
          <a:lstStyle/>
          <a:p>
            <a:pPr algn="l" indent="0" marL="0">
              <a:lnSpc>
                <a:spcPts val="2400"/>
              </a:lnSpc>
              <a:buNone/>
            </a:pPr>
            <a:r>
              <a:rPr lang="en-US" sz="1900" b="1" dirty="0">
                <a:solidFill>
                  <a:srgbClr val="E2E6E9"/>
                </a:solidFill>
                <a:latin typeface="Montserrat Bold" pitchFamily="34" charset="0"/>
                <a:ea typeface="Montserrat Bold" pitchFamily="34" charset="-122"/>
                <a:cs typeface="Montserrat Bold" pitchFamily="34" charset="-120"/>
              </a:rPr>
              <a:t>Mövsümlük</a:t>
            </a:r>
            <a:endParaRPr lang="en-US" sz="1900" dirty="0"/>
          </a:p>
        </p:txBody>
      </p:sp>
      <p:sp>
        <p:nvSpPr>
          <p:cNvPr id="9" name="Text 5"/>
          <p:cNvSpPr/>
          <p:nvPr/>
        </p:nvSpPr>
        <p:spPr>
          <a:xfrm>
            <a:off x="6719649" y="3759637"/>
            <a:ext cx="2656046" cy="1619845"/>
          </a:xfrm>
          <a:prstGeom prst="rect">
            <a:avLst/>
          </a:prstGeom>
          <a:noFill/>
          <a:ln/>
        </p:spPr>
        <p:txBody>
          <a:bodyPr wrap="square" lIns="0" tIns="0" rIns="0" bIns="0" rtlCol="0" anchor="t"/>
          <a:lstStyle/>
          <a:p>
            <a:pPr algn="l" indent="0" marL="0">
              <a:lnSpc>
                <a:spcPts val="2550"/>
              </a:lnSpc>
              <a:buNone/>
            </a:pPr>
            <a:r>
              <a:rPr lang="en-US" sz="1700" dirty="0">
                <a:solidFill>
                  <a:srgbClr val="E2E6E9"/>
                </a:solidFill>
                <a:latin typeface="Source Sans 3" pitchFamily="34" charset="0"/>
                <a:ea typeface="Source Sans 3" pitchFamily="34" charset="-122"/>
                <a:cs typeface="Source Sans 3" pitchFamily="34" charset="-120"/>
              </a:rPr>
              <a:t>Müəyyən intervallarda təkrarlanan nümunələr. Məsələn, yay aylarında turizm sahəsində satışların artması.</a:t>
            </a:r>
            <a:endParaRPr lang="en-US" sz="1700" dirty="0"/>
          </a:p>
        </p:txBody>
      </p:sp>
      <p:pic>
        <p:nvPicPr>
          <p:cNvPr id="10" name="Image 2" descr="preencoded.png">    </p:cNvPr>
          <p:cNvPicPr>
            <a:picLocks noChangeAspect="1"/>
          </p:cNvPicPr>
          <p:nvPr/>
        </p:nvPicPr>
        <p:blipFill>
          <a:blip r:embed="rId3"/>
          <a:stretch>
            <a:fillRect/>
          </a:stretch>
        </p:blipFill>
        <p:spPr>
          <a:xfrm>
            <a:off x="9645610" y="3323392"/>
            <a:ext cx="1195030" cy="1195030"/>
          </a:xfrm>
          <a:prstGeom prst="rect">
            <a:avLst/>
          </a:prstGeom>
        </p:spPr>
      </p:pic>
      <p:sp>
        <p:nvSpPr>
          <p:cNvPr id="11" name="Text 6"/>
          <p:cNvSpPr/>
          <p:nvPr/>
        </p:nvSpPr>
        <p:spPr>
          <a:xfrm>
            <a:off x="11110555" y="3323392"/>
            <a:ext cx="2454235" cy="306705"/>
          </a:xfrm>
          <a:prstGeom prst="rect">
            <a:avLst/>
          </a:prstGeom>
          <a:noFill/>
          <a:ln/>
        </p:spPr>
        <p:txBody>
          <a:bodyPr wrap="none" lIns="0" tIns="0" rIns="0" bIns="0" rtlCol="0" anchor="t"/>
          <a:lstStyle/>
          <a:p>
            <a:pPr algn="l" indent="0" marL="0">
              <a:lnSpc>
                <a:spcPts val="2400"/>
              </a:lnSpc>
              <a:buNone/>
            </a:pPr>
            <a:r>
              <a:rPr lang="en-US" sz="1900" b="1" dirty="0">
                <a:solidFill>
                  <a:srgbClr val="E2E6E9"/>
                </a:solidFill>
                <a:latin typeface="Montserrat Bold" pitchFamily="34" charset="0"/>
                <a:ea typeface="Montserrat Bold" pitchFamily="34" charset="-122"/>
                <a:cs typeface="Montserrat Bold" pitchFamily="34" charset="-120"/>
              </a:rPr>
              <a:t>Tsikliklik</a:t>
            </a:r>
            <a:endParaRPr lang="en-US" sz="1900" dirty="0"/>
          </a:p>
        </p:txBody>
      </p:sp>
      <p:sp>
        <p:nvSpPr>
          <p:cNvPr id="12" name="Text 7"/>
          <p:cNvSpPr/>
          <p:nvPr/>
        </p:nvSpPr>
        <p:spPr>
          <a:xfrm>
            <a:off x="11110555" y="3759637"/>
            <a:ext cx="2656046" cy="1619845"/>
          </a:xfrm>
          <a:prstGeom prst="rect">
            <a:avLst/>
          </a:prstGeom>
          <a:noFill/>
          <a:ln/>
        </p:spPr>
        <p:txBody>
          <a:bodyPr wrap="square" lIns="0" tIns="0" rIns="0" bIns="0" rtlCol="0" anchor="t"/>
          <a:lstStyle/>
          <a:p>
            <a:pPr algn="l" indent="0" marL="0">
              <a:lnSpc>
                <a:spcPts val="2550"/>
              </a:lnSpc>
              <a:buNone/>
            </a:pPr>
            <a:r>
              <a:rPr lang="en-US" sz="1700" dirty="0">
                <a:solidFill>
                  <a:srgbClr val="E2E6E9"/>
                </a:solidFill>
                <a:latin typeface="Source Sans 3" pitchFamily="34" charset="0"/>
                <a:ea typeface="Source Sans 3" pitchFamily="34" charset="-122"/>
                <a:cs typeface="Source Sans 3" pitchFamily="34" charset="-120"/>
              </a:rPr>
              <a:t>Qeyri-müntəzəm dalğalanmalar, adətən iqtisadi tsikllərlə bağlı. Resesiya və inkişaf dövrləri nümunəsidir.</a:t>
            </a:r>
            <a:endParaRPr lang="en-US" sz="1700" dirty="0"/>
          </a:p>
        </p:txBody>
      </p:sp>
      <p:sp>
        <p:nvSpPr>
          <p:cNvPr id="13" name="Shape 8"/>
          <p:cNvSpPr/>
          <p:nvPr/>
        </p:nvSpPr>
        <p:spPr>
          <a:xfrm>
            <a:off x="863798" y="5622369"/>
            <a:ext cx="12902803" cy="1219914"/>
          </a:xfrm>
          <a:prstGeom prst="roundRect">
            <a:avLst>
              <a:gd name="adj" fmla="val 2656"/>
            </a:avLst>
          </a:prstGeom>
          <a:solidFill>
            <a:srgbClr val="262626"/>
          </a:solidFill>
          <a:ln/>
        </p:spPr>
      </p:sp>
      <p:pic>
        <p:nvPicPr>
          <p:cNvPr id="14" name="Image 3" descr="preencoded.png">    </p:cNvPr>
          <p:cNvPicPr>
            <a:picLocks noChangeAspect="1"/>
          </p:cNvPicPr>
          <p:nvPr/>
        </p:nvPicPr>
        <p:blipFill>
          <a:blip r:embed="rId4"/>
          <a:stretch>
            <a:fillRect/>
          </a:stretch>
        </p:blipFill>
        <p:spPr>
          <a:xfrm>
            <a:off x="1079659" y="5931813"/>
            <a:ext cx="269915" cy="215860"/>
          </a:xfrm>
          <a:prstGeom prst="rect">
            <a:avLst/>
          </a:prstGeom>
        </p:spPr>
      </p:pic>
      <p:sp>
        <p:nvSpPr>
          <p:cNvPr id="15" name="Text 9"/>
          <p:cNvSpPr/>
          <p:nvPr/>
        </p:nvSpPr>
        <p:spPr>
          <a:xfrm>
            <a:off x="1565434" y="5892165"/>
            <a:ext cx="11985308" cy="647938"/>
          </a:xfrm>
          <a:prstGeom prst="rect">
            <a:avLst/>
          </a:prstGeom>
          <a:noFill/>
          <a:ln/>
        </p:spPr>
        <p:txBody>
          <a:bodyPr wrap="square" lIns="0" tIns="0" rIns="0" bIns="0" rtlCol="0" anchor="t"/>
          <a:lstStyle/>
          <a:p>
            <a:pPr algn="l" indent="0" marL="0">
              <a:lnSpc>
                <a:spcPts val="2550"/>
              </a:lnSpc>
              <a:buNone/>
            </a:pPr>
            <a:r>
              <a:rPr lang="en-US" sz="1700" b="1" dirty="0">
                <a:solidFill>
                  <a:srgbClr val="FFFFFF"/>
                </a:solidFill>
                <a:latin typeface="Source Sans 3" pitchFamily="34" charset="0"/>
                <a:ea typeface="Source Sans 3" pitchFamily="34" charset="-122"/>
                <a:cs typeface="Source Sans 3" pitchFamily="34" charset="-120"/>
              </a:rPr>
              <a:t>Praktik nümunə:</a:t>
            </a:r>
            <a:pPr algn="l" indent="0" marL="0">
              <a:lnSpc>
                <a:spcPts val="2550"/>
              </a:lnSpc>
              <a:buNone/>
            </a:pPr>
            <a:r>
              <a:rPr lang="en-US" sz="1700" dirty="0">
                <a:solidFill>
                  <a:srgbClr val="FFFFFF"/>
                </a:solidFill>
                <a:latin typeface="Source Sans 3" pitchFamily="34" charset="0"/>
                <a:ea typeface="Source Sans 3" pitchFamily="34" charset="-122"/>
                <a:cs typeface="Source Sans 3" pitchFamily="34" charset="-120"/>
              </a:rPr>
              <a:t> Aylıq satışların proqnozu üçün son 3 ilin məlumatları təhlil edilir, mövsümi nümunələr müəyyənləşdirilir və gələcək aylar üçün proqnoz hazırlanır.</a:t>
            </a:r>
            <a:endParaRPr lang="en-US" sz="17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Shape 0"/>
          <p:cNvSpPr/>
          <p:nvPr/>
        </p:nvSpPr>
        <p:spPr>
          <a:xfrm>
            <a:off x="2254091" y="633889"/>
            <a:ext cx="885587" cy="239911"/>
          </a:xfrm>
          <a:prstGeom prst="roundRect">
            <a:avLst>
              <a:gd name="adj" fmla="val 7062"/>
            </a:avLst>
          </a:prstGeom>
          <a:noFill/>
          <a:ln w="7620">
            <a:solidFill>
              <a:srgbClr val="FFFFFF"/>
            </a:solidFill>
            <a:prstDash val="solid"/>
          </a:ln>
        </p:spPr>
      </p:sp>
      <p:sp>
        <p:nvSpPr>
          <p:cNvPr id="3" name="Text 1"/>
          <p:cNvSpPr/>
          <p:nvPr/>
        </p:nvSpPr>
        <p:spPr>
          <a:xfrm>
            <a:off x="2346365" y="683776"/>
            <a:ext cx="701040" cy="140137"/>
          </a:xfrm>
          <a:prstGeom prst="rect">
            <a:avLst/>
          </a:prstGeom>
          <a:noFill/>
          <a:ln/>
        </p:spPr>
        <p:txBody>
          <a:bodyPr wrap="none" lIns="0" tIns="0" rIns="0" bIns="0" rtlCol="0" anchor="t"/>
          <a:lstStyle/>
          <a:p>
            <a:pPr algn="l" indent="0" marL="0">
              <a:lnSpc>
                <a:spcPts val="1100"/>
              </a:lnSpc>
              <a:buNone/>
            </a:pPr>
            <a:r>
              <a:rPr lang="en-US" sz="850" dirty="0">
                <a:solidFill>
                  <a:srgbClr val="FFFFFF"/>
                </a:solidFill>
                <a:latin typeface="Source Sans 3" pitchFamily="34" charset="0"/>
                <a:ea typeface="Source Sans 3" pitchFamily="34" charset="-122"/>
                <a:cs typeface="Source Sans 3" pitchFamily="34" charset="-120"/>
              </a:rPr>
              <a:t>VIZUAL METOD</a:t>
            </a:r>
            <a:endParaRPr lang="en-US" sz="850" dirty="0"/>
          </a:p>
        </p:txBody>
      </p:sp>
      <p:sp>
        <p:nvSpPr>
          <p:cNvPr id="4" name="Text 2"/>
          <p:cNvSpPr/>
          <p:nvPr/>
        </p:nvSpPr>
        <p:spPr>
          <a:xfrm>
            <a:off x="2254091" y="910709"/>
            <a:ext cx="8724305" cy="401003"/>
          </a:xfrm>
          <a:prstGeom prst="rect">
            <a:avLst/>
          </a:prstGeom>
          <a:noFill/>
          <a:ln/>
        </p:spPr>
        <p:txBody>
          <a:bodyPr wrap="none" lIns="0" tIns="0" rIns="0" bIns="0" rtlCol="0" anchor="t"/>
          <a:lstStyle/>
          <a:p>
            <a:pPr algn="l" indent="0" marL="0">
              <a:lnSpc>
                <a:spcPts val="3150"/>
              </a:lnSpc>
              <a:buNone/>
            </a:pPr>
            <a:r>
              <a:rPr lang="en-US" sz="2500" b="1" dirty="0">
                <a:solidFill>
                  <a:srgbClr val="FFFFFF"/>
                </a:solidFill>
                <a:latin typeface="Montserrat Bold" pitchFamily="34" charset="0"/>
                <a:ea typeface="Montserrat Bold" pitchFamily="34" charset="-122"/>
                <a:cs typeface="Montserrat Bold" pitchFamily="34" charset="-120"/>
              </a:rPr>
              <a:t>Qərar Ağacları: Strukturlaşdırılmış Qərar Qəbuletmə</a:t>
            </a:r>
            <a:endParaRPr lang="en-US" sz="2500" dirty="0"/>
          </a:p>
        </p:txBody>
      </p:sp>
      <p:sp>
        <p:nvSpPr>
          <p:cNvPr id="5" name="Text 3"/>
          <p:cNvSpPr/>
          <p:nvPr/>
        </p:nvSpPr>
        <p:spPr>
          <a:xfrm>
            <a:off x="2254091" y="1450062"/>
            <a:ext cx="10122098" cy="350282"/>
          </a:xfrm>
          <a:prstGeom prst="rect">
            <a:avLst/>
          </a:prstGeom>
          <a:noFill/>
          <a:ln/>
        </p:spPr>
        <p:txBody>
          <a:bodyPr wrap="square" lIns="0" tIns="0" rIns="0" bIns="0" rtlCol="0" anchor="t"/>
          <a:lstStyle/>
          <a:p>
            <a:pPr algn="l" indent="0" marL="0">
              <a:lnSpc>
                <a:spcPts val="1350"/>
              </a:lnSpc>
              <a:buNone/>
            </a:pPr>
            <a:r>
              <a:rPr lang="en-US" sz="1100" dirty="0">
                <a:solidFill>
                  <a:srgbClr val="E2E6E9"/>
                </a:solidFill>
                <a:latin typeface="Source Sans 3" pitchFamily="34" charset="0"/>
                <a:ea typeface="Source Sans 3" pitchFamily="34" charset="-122"/>
                <a:cs typeface="Source Sans 3" pitchFamily="34" charset="-120"/>
              </a:rPr>
              <a:t>Qərar ağacları alternativləri, nəticələri və ehtimalları vizual strukturda təqdim edən güclü alətdir. Bu metod mürəkkəb qərarları aydın, izləniləsi addımlara bölür və hər bir seçimin potensial nəticələrini göstərir.</a:t>
            </a:r>
            <a:endParaRPr lang="en-US" sz="1100" dirty="0"/>
          </a:p>
        </p:txBody>
      </p:sp>
      <p:pic>
        <p:nvPicPr>
          <p:cNvPr id="6" name="Image 0" descr="preencoded.png">    </p:cNvPr>
          <p:cNvPicPr>
            <a:picLocks noChangeAspect="1"/>
          </p:cNvPicPr>
          <p:nvPr/>
        </p:nvPicPr>
        <p:blipFill>
          <a:blip r:embed="rId1"/>
          <a:stretch>
            <a:fillRect/>
          </a:stretch>
        </p:blipFill>
        <p:spPr>
          <a:xfrm>
            <a:off x="2535912" y="1904167"/>
            <a:ext cx="9558457" cy="3918704"/>
          </a:xfrm>
          <a:prstGeom prst="rect">
            <a:avLst/>
          </a:prstGeom>
        </p:spPr>
      </p:pic>
      <p:pic>
        <p:nvPicPr>
          <p:cNvPr id="7" name="Image 1" descr="preencoded.png">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4319058" y="2533343"/>
            <a:ext cx="323901" cy="323900"/>
          </a:xfrm>
          <a:prstGeom prst="rect">
            <a:avLst/>
          </a:prstGeom>
        </p:spPr>
      </p:pic>
      <p:sp>
        <p:nvSpPr>
          <p:cNvPr id="8" name="Text 4"/>
          <p:cNvSpPr/>
          <p:nvPr/>
        </p:nvSpPr>
        <p:spPr>
          <a:xfrm>
            <a:off x="6682520" y="2451577"/>
            <a:ext cx="2070243" cy="258741"/>
          </a:xfrm>
          <a:prstGeom prst="rect">
            <a:avLst/>
          </a:prstGeom>
          <a:noFill/>
          <a:ln/>
        </p:spPr>
        <p:txBody>
          <a:bodyPr wrap="none" lIns="0" tIns="0" rIns="0" bIns="0" rtlCol="0" anchor="t"/>
          <a:lstStyle/>
          <a:p>
            <a:pPr algn="l" indent="0" marL="0">
              <a:lnSpc>
                <a:spcPts val="2000"/>
              </a:lnSpc>
              <a:buNone/>
            </a:pPr>
            <a:r>
              <a:rPr lang="en-US" sz="1600" b="1" dirty="0">
                <a:solidFill>
                  <a:srgbClr val="E2E6E9"/>
                </a:solidFill>
                <a:latin typeface="Montserrat Bold" pitchFamily="34" charset="0"/>
                <a:ea typeface="Montserrat Bold" pitchFamily="34" charset="-122"/>
                <a:cs typeface="Montserrat Bold" pitchFamily="34" charset="-120"/>
              </a:rPr>
              <a:t>Aşağı İnvestisiya</a:t>
            </a:r>
            <a:endParaRPr lang="en-US" sz="1600" dirty="0"/>
          </a:p>
        </p:txBody>
      </p:sp>
      <p:sp>
        <p:nvSpPr>
          <p:cNvPr id="9" name="Text 5"/>
          <p:cNvSpPr/>
          <p:nvPr/>
        </p:nvSpPr>
        <p:spPr>
          <a:xfrm>
            <a:off x="6682520" y="2791293"/>
            <a:ext cx="4605460" cy="188204"/>
          </a:xfrm>
          <a:prstGeom prst="rect">
            <a:avLst/>
          </a:prstGeom>
          <a:noFill/>
          <a:ln/>
        </p:spPr>
        <p:txBody>
          <a:bodyPr wrap="none" lIns="0" tIns="0" rIns="0" bIns="0" rtlCol="0" anchor="t"/>
          <a:lstStyle/>
          <a:p>
            <a:pPr algn="l" indent="0" marL="0">
              <a:lnSpc>
                <a:spcPts val="1450"/>
              </a:lnSpc>
              <a:buNone/>
            </a:pPr>
            <a:r>
              <a:rPr lang="en-US" sz="1400" dirty="0">
                <a:solidFill>
                  <a:srgbClr val="E2E6E9"/>
                </a:solidFill>
                <a:latin typeface="Source Sans 3" pitchFamily="34" charset="0"/>
                <a:ea typeface="Source Sans 3" pitchFamily="34" charset="-122"/>
                <a:cs typeface="Source Sans 3" pitchFamily="34" charset="-120"/>
              </a:rPr>
              <a:t>%90 uğur, aşağı gəlir</a:t>
            </a:r>
            <a:endParaRPr lang="en-US" sz="1400" dirty="0"/>
          </a:p>
        </p:txBody>
      </p:sp>
      <p:sp>
        <p:nvSpPr>
          <p:cNvPr id="10" name="Text 6"/>
          <p:cNvSpPr/>
          <p:nvPr/>
        </p:nvSpPr>
        <p:spPr>
          <a:xfrm>
            <a:off x="6682520" y="3585229"/>
            <a:ext cx="2070243" cy="258741"/>
          </a:xfrm>
          <a:prstGeom prst="rect">
            <a:avLst/>
          </a:prstGeom>
          <a:noFill/>
          <a:ln/>
        </p:spPr>
        <p:txBody>
          <a:bodyPr wrap="none" lIns="0" tIns="0" rIns="0" bIns="0" rtlCol="0" anchor="t"/>
          <a:lstStyle/>
          <a:p>
            <a:pPr algn="l" indent="0" marL="0">
              <a:lnSpc>
                <a:spcPts val="2000"/>
              </a:lnSpc>
              <a:buNone/>
            </a:pPr>
            <a:r>
              <a:rPr lang="en-US" sz="1600" b="1" dirty="0">
                <a:solidFill>
                  <a:srgbClr val="E2E6E9"/>
                </a:solidFill>
                <a:latin typeface="Montserrat Bold" pitchFamily="34" charset="0"/>
                <a:ea typeface="Montserrat Bold" pitchFamily="34" charset="-122"/>
                <a:cs typeface="Montserrat Bold" pitchFamily="34" charset="-120"/>
              </a:rPr>
              <a:t>Orta İnvestisiya</a:t>
            </a:r>
            <a:endParaRPr lang="en-US" sz="1600" dirty="0"/>
          </a:p>
        </p:txBody>
      </p:sp>
      <p:sp>
        <p:nvSpPr>
          <p:cNvPr id="11" name="Text 7"/>
          <p:cNvSpPr/>
          <p:nvPr/>
        </p:nvSpPr>
        <p:spPr>
          <a:xfrm>
            <a:off x="6682520" y="3924945"/>
            <a:ext cx="4605460" cy="188204"/>
          </a:xfrm>
          <a:prstGeom prst="rect">
            <a:avLst/>
          </a:prstGeom>
          <a:noFill/>
          <a:ln/>
        </p:spPr>
        <p:txBody>
          <a:bodyPr wrap="none" lIns="0" tIns="0" rIns="0" bIns="0" rtlCol="0" anchor="t"/>
          <a:lstStyle/>
          <a:p>
            <a:pPr algn="l" indent="0" marL="0">
              <a:lnSpc>
                <a:spcPts val="1450"/>
              </a:lnSpc>
              <a:buNone/>
            </a:pPr>
            <a:r>
              <a:rPr lang="en-US" sz="1400" dirty="0">
                <a:solidFill>
                  <a:srgbClr val="E2E6E9"/>
                </a:solidFill>
                <a:latin typeface="Source Sans 3" pitchFamily="34" charset="0"/>
                <a:ea typeface="Source Sans 3" pitchFamily="34" charset="-122"/>
                <a:cs typeface="Source Sans 3" pitchFamily="34" charset="-120"/>
              </a:rPr>
              <a:t>%75 uğur, orta gəlir</a:t>
            </a:r>
            <a:endParaRPr lang="en-US" sz="1400" dirty="0"/>
          </a:p>
        </p:txBody>
      </p:sp>
      <p:pic>
        <p:nvPicPr>
          <p:cNvPr id="12" name="Image 2" descr="preencoded.png">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4319058" y="3474679"/>
            <a:ext cx="323901" cy="323900"/>
          </a:xfrm>
          <a:prstGeom prst="rect">
            <a:avLst/>
          </a:prstGeom>
        </p:spPr>
      </p:pic>
      <p:sp>
        <p:nvSpPr>
          <p:cNvPr id="13" name="Text 8"/>
          <p:cNvSpPr/>
          <p:nvPr/>
        </p:nvSpPr>
        <p:spPr>
          <a:xfrm>
            <a:off x="6682520" y="4729003"/>
            <a:ext cx="2070243" cy="258741"/>
          </a:xfrm>
          <a:prstGeom prst="rect">
            <a:avLst/>
          </a:prstGeom>
          <a:noFill/>
          <a:ln/>
        </p:spPr>
        <p:txBody>
          <a:bodyPr wrap="none" lIns="0" tIns="0" rIns="0" bIns="0" rtlCol="0" anchor="t"/>
          <a:lstStyle/>
          <a:p>
            <a:pPr algn="l" indent="0" marL="0">
              <a:lnSpc>
                <a:spcPts val="2000"/>
              </a:lnSpc>
              <a:buNone/>
            </a:pPr>
            <a:r>
              <a:rPr lang="en-US" sz="1600" b="1" dirty="0">
                <a:solidFill>
                  <a:srgbClr val="E2E6E9"/>
                </a:solidFill>
                <a:latin typeface="Montserrat Bold" pitchFamily="34" charset="0"/>
                <a:ea typeface="Montserrat Bold" pitchFamily="34" charset="-122"/>
                <a:cs typeface="Montserrat Bold" pitchFamily="34" charset="-120"/>
              </a:rPr>
              <a:t>Yüksək İnvestisiya</a:t>
            </a:r>
            <a:endParaRPr lang="en-US" sz="1600" dirty="0"/>
          </a:p>
        </p:txBody>
      </p:sp>
      <p:sp>
        <p:nvSpPr>
          <p:cNvPr id="14" name="Text 9"/>
          <p:cNvSpPr/>
          <p:nvPr/>
        </p:nvSpPr>
        <p:spPr>
          <a:xfrm>
            <a:off x="6682520" y="5068719"/>
            <a:ext cx="4605460" cy="188204"/>
          </a:xfrm>
          <a:prstGeom prst="rect">
            <a:avLst/>
          </a:prstGeom>
          <a:noFill/>
          <a:ln/>
        </p:spPr>
        <p:txBody>
          <a:bodyPr wrap="none" lIns="0" tIns="0" rIns="0" bIns="0" rtlCol="0" anchor="t"/>
          <a:lstStyle/>
          <a:p>
            <a:pPr algn="l" indent="0" marL="0">
              <a:lnSpc>
                <a:spcPts val="1450"/>
              </a:lnSpc>
              <a:buNone/>
            </a:pPr>
            <a:r>
              <a:rPr lang="en-US" sz="1400" dirty="0">
                <a:solidFill>
                  <a:srgbClr val="E2E6E9"/>
                </a:solidFill>
                <a:latin typeface="Source Sans 3" pitchFamily="34" charset="0"/>
                <a:ea typeface="Source Sans 3" pitchFamily="34" charset="-122"/>
                <a:cs typeface="Source Sans 3" pitchFamily="34" charset="-120"/>
              </a:rPr>
              <a:t>%60 uğur, yüksək gəlir</a:t>
            </a:r>
            <a:endParaRPr lang="en-US" sz="1400" dirty="0"/>
          </a:p>
        </p:txBody>
      </p:sp>
      <p:pic>
        <p:nvPicPr>
          <p:cNvPr id="15" name="Image 3" descr="preencoded.png">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4319058" y="4669062"/>
            <a:ext cx="323901" cy="323900"/>
          </a:xfrm>
          <a:prstGeom prst="rect">
            <a:avLst/>
          </a:prstGeom>
        </p:spPr>
      </p:pic>
      <p:sp>
        <p:nvSpPr>
          <p:cNvPr id="16" name="Text 10"/>
          <p:cNvSpPr/>
          <p:nvPr/>
        </p:nvSpPr>
        <p:spPr>
          <a:xfrm>
            <a:off x="2254091" y="5926693"/>
            <a:ext cx="10122098" cy="350282"/>
          </a:xfrm>
          <a:prstGeom prst="rect">
            <a:avLst/>
          </a:prstGeom>
          <a:noFill/>
          <a:ln/>
        </p:spPr>
        <p:txBody>
          <a:bodyPr wrap="square" lIns="0" tIns="0" rIns="0" bIns="0" rtlCol="0" anchor="t"/>
          <a:lstStyle/>
          <a:p>
            <a:pPr algn="l" indent="0" marL="0">
              <a:lnSpc>
                <a:spcPts val="1350"/>
              </a:lnSpc>
              <a:buNone/>
            </a:pPr>
            <a:r>
              <a:rPr lang="en-US" sz="1100" dirty="0">
                <a:solidFill>
                  <a:srgbClr val="E2E6E9"/>
                </a:solidFill>
                <a:latin typeface="Source Sans 3" pitchFamily="34" charset="0"/>
                <a:ea typeface="Source Sans 3" pitchFamily="34" charset="-122"/>
                <a:cs typeface="Source Sans 3" pitchFamily="34" charset="-120"/>
              </a:rPr>
              <a:t>Qərar ağacları xüsusilə risklərın və ehtimalların qiymətləndirilməsi üçün uyğundur. Hər bir qol (branch) bir alternativ qərar və ya hadisəni, hər bir düyün (node) isə qərar nöqtəsini və ya nəticəni təmsil edir.</a:t>
            </a:r>
            <a:endParaRPr lang="en-US" sz="1100" dirty="0"/>
          </a:p>
        </p:txBody>
      </p:sp>
      <p:sp>
        <p:nvSpPr>
          <p:cNvPr id="17" name="Text 11"/>
          <p:cNvSpPr/>
          <p:nvPr/>
        </p:nvSpPr>
        <p:spPr>
          <a:xfrm>
            <a:off x="2254091" y="6473071"/>
            <a:ext cx="1604486" cy="200620"/>
          </a:xfrm>
          <a:prstGeom prst="rect">
            <a:avLst/>
          </a:prstGeom>
          <a:noFill/>
          <a:ln/>
        </p:spPr>
        <p:txBody>
          <a:bodyPr wrap="none" lIns="0" tIns="0" rIns="0" bIns="0" rtlCol="0" anchor="t"/>
          <a:lstStyle/>
          <a:p>
            <a:pPr algn="l" indent="0" marL="0">
              <a:lnSpc>
                <a:spcPts val="1550"/>
              </a:lnSpc>
              <a:buNone/>
            </a:pPr>
            <a:r>
              <a:rPr lang="en-US" sz="1250" b="1" dirty="0">
                <a:solidFill>
                  <a:srgbClr val="FFFFFF"/>
                </a:solidFill>
                <a:latin typeface="Montserrat Bold" pitchFamily="34" charset="0"/>
                <a:ea typeface="Montserrat Bold" pitchFamily="34" charset="-122"/>
                <a:cs typeface="Montserrat Bold" pitchFamily="34" charset="-120"/>
              </a:rPr>
              <a:t>İstifadə Sahələri</a:t>
            </a:r>
            <a:endParaRPr lang="en-US" sz="1250" dirty="0"/>
          </a:p>
        </p:txBody>
      </p:sp>
      <p:sp>
        <p:nvSpPr>
          <p:cNvPr id="18" name="Text 12"/>
          <p:cNvSpPr/>
          <p:nvPr/>
        </p:nvSpPr>
        <p:spPr>
          <a:xfrm>
            <a:off x="2254091" y="6765965"/>
            <a:ext cx="4888825" cy="797362"/>
          </a:xfrm>
          <a:prstGeom prst="rect">
            <a:avLst/>
          </a:prstGeom>
          <a:noFill/>
          <a:ln/>
        </p:spPr>
        <p:txBody>
          <a:bodyPr wrap="square" lIns="0" tIns="0" rIns="0" bIns="0" rtlCol="0" anchor="t"/>
          <a:lstStyle/>
          <a:p>
            <a:pPr algn="l" marL="342900" indent="-342900">
              <a:lnSpc>
                <a:spcPts val="1350"/>
              </a:lnSpc>
              <a:buSzPct val="100000"/>
              <a:buChar char="•"/>
            </a:pPr>
            <a:r>
              <a:rPr lang="en-US" sz="1100" dirty="0">
                <a:solidFill>
                  <a:srgbClr val="E2E6E9"/>
                </a:solidFill>
                <a:latin typeface="Source Sans 3" pitchFamily="34" charset="0"/>
                <a:ea typeface="Source Sans 3" pitchFamily="34" charset="-122"/>
                <a:cs typeface="Source Sans 3" pitchFamily="34" charset="-120"/>
              </a:rPr>
              <a:t>İnvestisiya qərarları</a:t>
            </a:r>
            <a:endParaRPr lang="en-US" sz="1100" dirty="0"/>
          </a:p>
          <a:p>
            <a:pPr algn="l" marL="342900" indent="-342900">
              <a:lnSpc>
                <a:spcPts val="1350"/>
              </a:lnSpc>
              <a:buSzPct val="100000"/>
              <a:buChar char="•"/>
            </a:pPr>
            <a:r>
              <a:rPr lang="en-US" sz="1100" dirty="0">
                <a:solidFill>
                  <a:srgbClr val="E2E6E9"/>
                </a:solidFill>
                <a:latin typeface="Source Sans 3" pitchFamily="34" charset="0"/>
                <a:ea typeface="Source Sans 3" pitchFamily="34" charset="-122"/>
                <a:cs typeface="Source Sans 3" pitchFamily="34" charset="-120"/>
              </a:rPr>
              <a:t>Məhsul inkişafı strategiyası</a:t>
            </a:r>
            <a:endParaRPr lang="en-US" sz="1100" dirty="0"/>
          </a:p>
          <a:p>
            <a:pPr algn="l" marL="342900" indent="-342900">
              <a:lnSpc>
                <a:spcPts val="1350"/>
              </a:lnSpc>
              <a:buSzPct val="100000"/>
              <a:buChar char="•"/>
            </a:pPr>
            <a:r>
              <a:rPr lang="en-US" sz="1100" dirty="0">
                <a:solidFill>
                  <a:srgbClr val="E2E6E9"/>
                </a:solidFill>
                <a:latin typeface="Source Sans 3" pitchFamily="34" charset="0"/>
                <a:ea typeface="Source Sans 3" pitchFamily="34" charset="-122"/>
                <a:cs typeface="Source Sans 3" pitchFamily="34" charset="-120"/>
              </a:rPr>
              <a:t>Risk idarəetməsi</a:t>
            </a:r>
            <a:endParaRPr lang="en-US" sz="1100" dirty="0"/>
          </a:p>
          <a:p>
            <a:pPr algn="l" marL="342900" indent="-342900">
              <a:lnSpc>
                <a:spcPts val="1350"/>
              </a:lnSpc>
              <a:buSzPct val="100000"/>
              <a:buChar char="•"/>
            </a:pPr>
            <a:r>
              <a:rPr lang="en-US" sz="1100" dirty="0">
                <a:solidFill>
                  <a:srgbClr val="E2E6E9"/>
                </a:solidFill>
                <a:latin typeface="Source Sans 3" pitchFamily="34" charset="0"/>
                <a:ea typeface="Source Sans 3" pitchFamily="34" charset="-122"/>
                <a:cs typeface="Source Sans 3" pitchFamily="34" charset="-120"/>
              </a:rPr>
              <a:t>Strateji planlaşdırma</a:t>
            </a:r>
            <a:endParaRPr lang="en-US" sz="1100" dirty="0"/>
          </a:p>
        </p:txBody>
      </p:sp>
      <p:sp>
        <p:nvSpPr>
          <p:cNvPr id="19" name="Text 13"/>
          <p:cNvSpPr/>
          <p:nvPr/>
        </p:nvSpPr>
        <p:spPr>
          <a:xfrm>
            <a:off x="7494865" y="6473071"/>
            <a:ext cx="1604486" cy="200620"/>
          </a:xfrm>
          <a:prstGeom prst="rect">
            <a:avLst/>
          </a:prstGeom>
          <a:noFill/>
          <a:ln/>
        </p:spPr>
        <p:txBody>
          <a:bodyPr wrap="none" lIns="0" tIns="0" rIns="0" bIns="0" rtlCol="0" anchor="t"/>
          <a:lstStyle/>
          <a:p>
            <a:pPr algn="l" indent="0" marL="0">
              <a:lnSpc>
                <a:spcPts val="1550"/>
              </a:lnSpc>
              <a:buNone/>
            </a:pPr>
            <a:r>
              <a:rPr lang="en-US" sz="1250" b="1" dirty="0">
                <a:solidFill>
                  <a:srgbClr val="FFFFFF"/>
                </a:solidFill>
                <a:latin typeface="Montserrat Bold" pitchFamily="34" charset="0"/>
                <a:ea typeface="Montserrat Bold" pitchFamily="34" charset="-122"/>
                <a:cs typeface="Montserrat Bold" pitchFamily="34" charset="-120"/>
              </a:rPr>
              <a:t>Əsas Üstünlüklər</a:t>
            </a:r>
            <a:endParaRPr lang="en-US" sz="1250" dirty="0"/>
          </a:p>
        </p:txBody>
      </p:sp>
      <p:sp>
        <p:nvSpPr>
          <p:cNvPr id="20" name="Text 14"/>
          <p:cNvSpPr/>
          <p:nvPr/>
        </p:nvSpPr>
        <p:spPr>
          <a:xfrm>
            <a:off x="7494865" y="6765965"/>
            <a:ext cx="4888825" cy="797362"/>
          </a:xfrm>
          <a:prstGeom prst="rect">
            <a:avLst/>
          </a:prstGeom>
          <a:noFill/>
          <a:ln/>
        </p:spPr>
        <p:txBody>
          <a:bodyPr wrap="square" lIns="0" tIns="0" rIns="0" bIns="0" rtlCol="0" anchor="t"/>
          <a:lstStyle/>
          <a:p>
            <a:pPr algn="l" marL="342900" indent="-342900">
              <a:lnSpc>
                <a:spcPts val="1350"/>
              </a:lnSpc>
              <a:buSzPct val="100000"/>
              <a:buChar char="•"/>
            </a:pPr>
            <a:r>
              <a:rPr lang="en-US" sz="1100" dirty="0">
                <a:solidFill>
                  <a:srgbClr val="E2E6E9"/>
                </a:solidFill>
                <a:latin typeface="Source Sans 3" pitchFamily="34" charset="0"/>
                <a:ea typeface="Source Sans 3" pitchFamily="34" charset="-122"/>
                <a:cs typeface="Source Sans 3" pitchFamily="34" charset="-120"/>
              </a:rPr>
              <a:t>Vizual aydınlıq</a:t>
            </a:r>
            <a:endParaRPr lang="en-US" sz="1100" dirty="0"/>
          </a:p>
          <a:p>
            <a:pPr algn="l" marL="342900" indent="-342900">
              <a:lnSpc>
                <a:spcPts val="1350"/>
              </a:lnSpc>
              <a:buSzPct val="100000"/>
              <a:buChar char="•"/>
            </a:pPr>
            <a:r>
              <a:rPr lang="en-US" sz="1100" dirty="0">
                <a:solidFill>
                  <a:srgbClr val="E2E6E9"/>
                </a:solidFill>
                <a:latin typeface="Source Sans 3" pitchFamily="34" charset="0"/>
                <a:ea typeface="Source Sans 3" pitchFamily="34" charset="-122"/>
                <a:cs typeface="Source Sans 3" pitchFamily="34" charset="-120"/>
              </a:rPr>
              <a:t>Asan interpretasiya</a:t>
            </a:r>
            <a:endParaRPr lang="en-US" sz="1100" dirty="0"/>
          </a:p>
          <a:p>
            <a:pPr algn="l" marL="342900" indent="-342900">
              <a:lnSpc>
                <a:spcPts val="1350"/>
              </a:lnSpc>
              <a:buSzPct val="100000"/>
              <a:buChar char="•"/>
            </a:pPr>
            <a:r>
              <a:rPr lang="en-US" sz="1100" dirty="0">
                <a:solidFill>
                  <a:srgbClr val="E2E6E9"/>
                </a:solidFill>
                <a:latin typeface="Source Sans 3" pitchFamily="34" charset="0"/>
                <a:ea typeface="Source Sans 3" pitchFamily="34" charset="-122"/>
                <a:cs typeface="Source Sans 3" pitchFamily="34" charset="-120"/>
              </a:rPr>
              <a:t>Kompleks qərarların sadələşdirilməsi</a:t>
            </a:r>
            <a:endParaRPr lang="en-US" sz="1100" dirty="0"/>
          </a:p>
          <a:p>
            <a:pPr algn="l" marL="342900" indent="-342900">
              <a:lnSpc>
                <a:spcPts val="1350"/>
              </a:lnSpc>
              <a:buSzPct val="100000"/>
              <a:buChar char="•"/>
            </a:pPr>
            <a:r>
              <a:rPr lang="en-US" sz="1100" dirty="0">
                <a:solidFill>
                  <a:srgbClr val="E2E6E9"/>
                </a:solidFill>
                <a:latin typeface="Source Sans 3" pitchFamily="34" charset="0"/>
                <a:ea typeface="Source Sans 3" pitchFamily="34" charset="-122"/>
                <a:cs typeface="Source Sans 3" pitchFamily="34" charset="-120"/>
              </a:rPr>
              <a:t>Risklərin kəmiyyətləşdirilməsi</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5486400" cy="8229600"/>
          </a:xfrm>
          <a:prstGeom prst="rect">
            <a:avLst/>
          </a:prstGeom>
        </p:spPr>
      </p:pic>
      <p:sp>
        <p:nvSpPr>
          <p:cNvPr id="3" name="Text 0"/>
          <p:cNvSpPr/>
          <p:nvPr/>
        </p:nvSpPr>
        <p:spPr>
          <a:xfrm>
            <a:off x="6125885" y="1225510"/>
            <a:ext cx="7865031" cy="908447"/>
          </a:xfrm>
          <a:prstGeom prst="rect">
            <a:avLst/>
          </a:prstGeom>
          <a:noFill/>
          <a:ln/>
        </p:spPr>
        <p:txBody>
          <a:bodyPr wrap="square" lIns="0" tIns="0" rIns="0" bIns="0" rtlCol="0" anchor="t"/>
          <a:lstStyle/>
          <a:p>
            <a:pPr algn="l" indent="0" marL="0">
              <a:lnSpc>
                <a:spcPts val="3550"/>
              </a:lnSpc>
              <a:buNone/>
            </a:pPr>
            <a:r>
              <a:rPr lang="en-US" sz="2850" b="1" dirty="0">
                <a:solidFill>
                  <a:srgbClr val="FFFFFF"/>
                </a:solidFill>
                <a:latin typeface="Montserrat Bold" pitchFamily="34" charset="0"/>
                <a:ea typeface="Montserrat Bold" pitchFamily="34" charset="-122"/>
                <a:cs typeface="Montserrat Bold" pitchFamily="34" charset="-120"/>
              </a:rPr>
              <a:t>"What-If" Analizi: Alternativ Nəticələrin Kəşfi</a:t>
            </a:r>
            <a:endParaRPr lang="en-US" sz="2850" dirty="0"/>
          </a:p>
        </p:txBody>
      </p:sp>
      <p:sp>
        <p:nvSpPr>
          <p:cNvPr id="4" name="Text 1"/>
          <p:cNvSpPr/>
          <p:nvPr/>
        </p:nvSpPr>
        <p:spPr>
          <a:xfrm>
            <a:off x="6125885" y="2311360"/>
            <a:ext cx="7865031" cy="625793"/>
          </a:xfrm>
          <a:prstGeom prst="rect">
            <a:avLst/>
          </a:prstGeom>
          <a:noFill/>
          <a:ln/>
        </p:spPr>
        <p:txBody>
          <a:bodyPr wrap="square" lIns="0" tIns="0" rIns="0" bIns="0" rtlCol="0" anchor="t"/>
          <a:lstStyle/>
          <a:p>
            <a:pPr algn="l" indent="0" marL="0">
              <a:lnSpc>
                <a:spcPts val="1600"/>
              </a:lnSpc>
              <a:buNone/>
            </a:pPr>
            <a:r>
              <a:rPr lang="en-US" sz="1250" dirty="0">
                <a:solidFill>
                  <a:srgbClr val="E2E6E9"/>
                </a:solidFill>
                <a:latin typeface="Source Sans 3" pitchFamily="34" charset="0"/>
                <a:ea typeface="Source Sans 3" pitchFamily="34" charset="-122"/>
                <a:cs typeface="Source Sans 3" pitchFamily="34" charset="-120"/>
              </a:rPr>
              <a:t>"What-if" analizi parametrlərin dəyişməsi zamanı nəticələrin necə dəyişdiyini modelləşdirir. Bu metod müxtəlif ssenarilər yaratmağa və hər birinin potensial təsirini qiymətləndirməyə imkan verir. Strateji qərarlar qəbul edərkən bu yanaşma son dərəcə dəyərlidir.</a:t>
            </a:r>
            <a:endParaRPr lang="en-US" sz="1250" dirty="0"/>
          </a:p>
        </p:txBody>
      </p:sp>
      <p:sp>
        <p:nvSpPr>
          <p:cNvPr id="5" name="Shape 2"/>
          <p:cNvSpPr/>
          <p:nvPr/>
        </p:nvSpPr>
        <p:spPr>
          <a:xfrm>
            <a:off x="6125885" y="3070265"/>
            <a:ext cx="3873341" cy="1841183"/>
          </a:xfrm>
          <a:prstGeom prst="roundRect">
            <a:avLst>
              <a:gd name="adj" fmla="val 1302"/>
            </a:avLst>
          </a:prstGeom>
          <a:solidFill>
            <a:srgbClr val="303132"/>
          </a:solidFill>
          <a:ln/>
        </p:spPr>
      </p:sp>
      <p:sp>
        <p:nvSpPr>
          <p:cNvPr id="6" name="Shape 3"/>
          <p:cNvSpPr/>
          <p:nvPr/>
        </p:nvSpPr>
        <p:spPr>
          <a:xfrm>
            <a:off x="6285667" y="3230047"/>
            <a:ext cx="479584" cy="479584"/>
          </a:xfrm>
          <a:prstGeom prst="roundRect">
            <a:avLst>
              <a:gd name="adj" fmla="val 19064618"/>
            </a:avLst>
          </a:prstGeom>
          <a:solidFill>
            <a:srgbClr val="FFFFFF"/>
          </a:solidFill>
          <a:ln/>
        </p:spPr>
      </p:sp>
      <p:pic>
        <p:nvPicPr>
          <p:cNvPr id="7" name="Image 1" descr="preencoded.png">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417588" y="3361849"/>
            <a:ext cx="215741" cy="215741"/>
          </a:xfrm>
          <a:prstGeom prst="rect">
            <a:avLst/>
          </a:prstGeom>
        </p:spPr>
      </p:pic>
      <p:sp>
        <p:nvSpPr>
          <p:cNvPr id="8" name="Text 4"/>
          <p:cNvSpPr/>
          <p:nvPr/>
        </p:nvSpPr>
        <p:spPr>
          <a:xfrm>
            <a:off x="6285667" y="3827859"/>
            <a:ext cx="1816656" cy="227052"/>
          </a:xfrm>
          <a:prstGeom prst="rect">
            <a:avLst/>
          </a:prstGeom>
          <a:noFill/>
          <a:ln/>
        </p:spPr>
        <p:txBody>
          <a:bodyPr wrap="none" lIns="0" tIns="0" rIns="0" bIns="0" rtlCol="0" anchor="t"/>
          <a:lstStyle/>
          <a:p>
            <a:pPr algn="l" indent="0" marL="0">
              <a:lnSpc>
                <a:spcPts val="1750"/>
              </a:lnSpc>
              <a:buNone/>
            </a:pPr>
            <a:r>
              <a:rPr lang="en-US" sz="1400" b="1" dirty="0">
                <a:solidFill>
                  <a:srgbClr val="E2E6E9"/>
                </a:solidFill>
                <a:latin typeface="Montserrat Bold" pitchFamily="34" charset="0"/>
                <a:ea typeface="Montserrat Bold" pitchFamily="34" charset="-122"/>
                <a:cs typeface="Montserrat Bold" pitchFamily="34" charset="-120"/>
              </a:rPr>
              <a:t>Qiymət Dəyişikliyi</a:t>
            </a:r>
            <a:endParaRPr lang="en-US" sz="1400" dirty="0"/>
          </a:p>
        </p:txBody>
      </p:sp>
      <p:sp>
        <p:nvSpPr>
          <p:cNvPr id="9" name="Text 5"/>
          <p:cNvSpPr/>
          <p:nvPr/>
        </p:nvSpPr>
        <p:spPr>
          <a:xfrm>
            <a:off x="6285667" y="4125873"/>
            <a:ext cx="3553778" cy="625793"/>
          </a:xfrm>
          <a:prstGeom prst="rect">
            <a:avLst/>
          </a:prstGeom>
          <a:noFill/>
          <a:ln/>
        </p:spPr>
        <p:txBody>
          <a:bodyPr wrap="square" lIns="0" tIns="0" rIns="0" bIns="0" rtlCol="0" anchor="t"/>
          <a:lstStyle/>
          <a:p>
            <a:pPr algn="l" indent="0" marL="0">
              <a:lnSpc>
                <a:spcPts val="1600"/>
              </a:lnSpc>
              <a:buNone/>
            </a:pPr>
            <a:r>
              <a:rPr lang="en-US" sz="1250" dirty="0">
                <a:solidFill>
                  <a:srgbClr val="E2E6E9"/>
                </a:solidFill>
                <a:latin typeface="Source Sans 3" pitchFamily="34" charset="0"/>
                <a:ea typeface="Source Sans 3" pitchFamily="34" charset="-122"/>
                <a:cs typeface="Source Sans 3" pitchFamily="34" charset="-120"/>
              </a:rPr>
              <a:t>Qiyməti 5% artırsaq satış həcmi və gəlir necə dəyişər? Tələb elastikliyini nəzərə alaraq nəticələr modelləşdirilir.</a:t>
            </a:r>
            <a:endParaRPr lang="en-US" sz="1250" dirty="0"/>
          </a:p>
        </p:txBody>
      </p:sp>
      <p:sp>
        <p:nvSpPr>
          <p:cNvPr id="10" name="Shape 6"/>
          <p:cNvSpPr/>
          <p:nvPr/>
        </p:nvSpPr>
        <p:spPr>
          <a:xfrm>
            <a:off x="10117455" y="3070265"/>
            <a:ext cx="3873460" cy="1841183"/>
          </a:xfrm>
          <a:prstGeom prst="roundRect">
            <a:avLst>
              <a:gd name="adj" fmla="val 1302"/>
            </a:avLst>
          </a:prstGeom>
          <a:solidFill>
            <a:srgbClr val="303132"/>
          </a:solidFill>
          <a:ln/>
        </p:spPr>
      </p:sp>
      <p:sp>
        <p:nvSpPr>
          <p:cNvPr id="11" name="Shape 7"/>
          <p:cNvSpPr/>
          <p:nvPr/>
        </p:nvSpPr>
        <p:spPr>
          <a:xfrm>
            <a:off x="10277237" y="3230047"/>
            <a:ext cx="479584" cy="479584"/>
          </a:xfrm>
          <a:prstGeom prst="roundRect">
            <a:avLst>
              <a:gd name="adj" fmla="val 19064618"/>
            </a:avLst>
          </a:prstGeom>
          <a:solidFill>
            <a:srgbClr val="FFFFFF"/>
          </a:solidFill>
          <a:ln/>
        </p:spPr>
      </p:sp>
      <p:pic>
        <p:nvPicPr>
          <p:cNvPr id="12" name="Image 2" descr="preencoded.png">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0409158" y="3361849"/>
            <a:ext cx="215741" cy="215741"/>
          </a:xfrm>
          <a:prstGeom prst="rect">
            <a:avLst/>
          </a:prstGeom>
        </p:spPr>
      </p:pic>
      <p:sp>
        <p:nvSpPr>
          <p:cNvPr id="13" name="Text 8"/>
          <p:cNvSpPr/>
          <p:nvPr/>
        </p:nvSpPr>
        <p:spPr>
          <a:xfrm>
            <a:off x="10277237" y="3827859"/>
            <a:ext cx="1816656" cy="227052"/>
          </a:xfrm>
          <a:prstGeom prst="rect">
            <a:avLst/>
          </a:prstGeom>
          <a:noFill/>
          <a:ln/>
        </p:spPr>
        <p:txBody>
          <a:bodyPr wrap="none" lIns="0" tIns="0" rIns="0" bIns="0" rtlCol="0" anchor="t"/>
          <a:lstStyle/>
          <a:p>
            <a:pPr algn="l" indent="0" marL="0">
              <a:lnSpc>
                <a:spcPts val="1750"/>
              </a:lnSpc>
              <a:buNone/>
            </a:pPr>
            <a:r>
              <a:rPr lang="en-US" sz="1400" b="1" dirty="0">
                <a:solidFill>
                  <a:srgbClr val="E2E6E9"/>
                </a:solidFill>
                <a:latin typeface="Montserrat Bold" pitchFamily="34" charset="0"/>
                <a:ea typeface="Montserrat Bold" pitchFamily="34" charset="-122"/>
                <a:cs typeface="Montserrat Bold" pitchFamily="34" charset="-120"/>
              </a:rPr>
              <a:t>Marketinq Büdcəsi</a:t>
            </a:r>
            <a:endParaRPr lang="en-US" sz="1400" dirty="0"/>
          </a:p>
        </p:txBody>
      </p:sp>
      <p:sp>
        <p:nvSpPr>
          <p:cNvPr id="14" name="Text 9"/>
          <p:cNvSpPr/>
          <p:nvPr/>
        </p:nvSpPr>
        <p:spPr>
          <a:xfrm>
            <a:off x="10277237" y="4125873"/>
            <a:ext cx="3553897" cy="417195"/>
          </a:xfrm>
          <a:prstGeom prst="rect">
            <a:avLst/>
          </a:prstGeom>
          <a:noFill/>
          <a:ln/>
        </p:spPr>
        <p:txBody>
          <a:bodyPr wrap="square" lIns="0" tIns="0" rIns="0" bIns="0" rtlCol="0" anchor="t"/>
          <a:lstStyle/>
          <a:p>
            <a:pPr algn="l" indent="0" marL="0">
              <a:lnSpc>
                <a:spcPts val="1600"/>
              </a:lnSpc>
              <a:buNone/>
            </a:pPr>
            <a:r>
              <a:rPr lang="en-US" sz="1250" dirty="0">
                <a:solidFill>
                  <a:srgbClr val="E2E6E9"/>
                </a:solidFill>
                <a:latin typeface="Source Sans 3" pitchFamily="34" charset="0"/>
                <a:ea typeface="Source Sans 3" pitchFamily="34" charset="-122"/>
                <a:cs typeface="Source Sans 3" pitchFamily="34" charset="-120"/>
              </a:rPr>
              <a:t>Reklam xərclərini 20% azaltsaq müştəri cəlbi necə təsirlənər? Optimal büdcə balansı tapılır.</a:t>
            </a:r>
            <a:endParaRPr lang="en-US" sz="1250" dirty="0"/>
          </a:p>
        </p:txBody>
      </p:sp>
      <p:sp>
        <p:nvSpPr>
          <p:cNvPr id="15" name="Shape 10"/>
          <p:cNvSpPr/>
          <p:nvPr/>
        </p:nvSpPr>
        <p:spPr>
          <a:xfrm>
            <a:off x="6125885" y="5029676"/>
            <a:ext cx="7865031" cy="1423988"/>
          </a:xfrm>
          <a:prstGeom prst="roundRect">
            <a:avLst>
              <a:gd name="adj" fmla="val 1684"/>
            </a:avLst>
          </a:prstGeom>
          <a:solidFill>
            <a:srgbClr val="303132"/>
          </a:solidFill>
          <a:ln/>
        </p:spPr>
      </p:sp>
      <p:sp>
        <p:nvSpPr>
          <p:cNvPr id="16" name="Shape 11"/>
          <p:cNvSpPr/>
          <p:nvPr/>
        </p:nvSpPr>
        <p:spPr>
          <a:xfrm>
            <a:off x="6285667" y="5189458"/>
            <a:ext cx="479584" cy="479584"/>
          </a:xfrm>
          <a:prstGeom prst="roundRect">
            <a:avLst>
              <a:gd name="adj" fmla="val 19064618"/>
            </a:avLst>
          </a:prstGeom>
          <a:solidFill>
            <a:srgbClr val="FFFFFF"/>
          </a:solidFill>
          <a:ln/>
        </p:spPr>
      </p:sp>
      <p:pic>
        <p:nvPicPr>
          <p:cNvPr id="17" name="Image 3" descr="preencoded.png">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6417588" y="5321260"/>
            <a:ext cx="215741" cy="215741"/>
          </a:xfrm>
          <a:prstGeom prst="rect">
            <a:avLst/>
          </a:prstGeom>
        </p:spPr>
      </p:pic>
      <p:sp>
        <p:nvSpPr>
          <p:cNvPr id="18" name="Text 12"/>
          <p:cNvSpPr/>
          <p:nvPr/>
        </p:nvSpPr>
        <p:spPr>
          <a:xfrm>
            <a:off x="6285667" y="5787271"/>
            <a:ext cx="1816656" cy="227052"/>
          </a:xfrm>
          <a:prstGeom prst="rect">
            <a:avLst/>
          </a:prstGeom>
          <a:noFill/>
          <a:ln/>
        </p:spPr>
        <p:txBody>
          <a:bodyPr wrap="none" lIns="0" tIns="0" rIns="0" bIns="0" rtlCol="0" anchor="t"/>
          <a:lstStyle/>
          <a:p>
            <a:pPr algn="l" indent="0" marL="0">
              <a:lnSpc>
                <a:spcPts val="1750"/>
              </a:lnSpc>
              <a:buNone/>
            </a:pPr>
            <a:r>
              <a:rPr lang="en-US" sz="1400" b="1" dirty="0">
                <a:solidFill>
                  <a:srgbClr val="E2E6E9"/>
                </a:solidFill>
                <a:latin typeface="Montserrat Bold" pitchFamily="34" charset="0"/>
                <a:ea typeface="Montserrat Bold" pitchFamily="34" charset="-122"/>
                <a:cs typeface="Montserrat Bold" pitchFamily="34" charset="-120"/>
              </a:rPr>
              <a:t>İstehsal Həcmi</a:t>
            </a:r>
            <a:endParaRPr lang="en-US" sz="1400" dirty="0"/>
          </a:p>
        </p:txBody>
      </p:sp>
      <p:sp>
        <p:nvSpPr>
          <p:cNvPr id="19" name="Text 13"/>
          <p:cNvSpPr/>
          <p:nvPr/>
        </p:nvSpPr>
        <p:spPr>
          <a:xfrm>
            <a:off x="6285667" y="6085284"/>
            <a:ext cx="7545467" cy="208598"/>
          </a:xfrm>
          <a:prstGeom prst="rect">
            <a:avLst/>
          </a:prstGeom>
          <a:noFill/>
          <a:ln/>
        </p:spPr>
        <p:txBody>
          <a:bodyPr wrap="none" lIns="0" tIns="0" rIns="0" bIns="0" rtlCol="0" anchor="t"/>
          <a:lstStyle/>
          <a:p>
            <a:pPr algn="l" indent="0" marL="0">
              <a:lnSpc>
                <a:spcPts val="1600"/>
              </a:lnSpc>
              <a:buNone/>
            </a:pPr>
            <a:r>
              <a:rPr lang="en-US" sz="1250" dirty="0">
                <a:solidFill>
                  <a:srgbClr val="E2E6E9"/>
                </a:solidFill>
                <a:latin typeface="Source Sans 3" pitchFamily="34" charset="0"/>
                <a:ea typeface="Source Sans 3" pitchFamily="34" charset="-122"/>
                <a:cs typeface="Source Sans 3" pitchFamily="34" charset="-120"/>
              </a:rPr>
              <a:t>Gündəlik istehsalı 30% artırsaq məhsul başına xərc necə dəyişər? Miqyas iqtisadiyyatı öyrənilir.</a:t>
            </a:r>
            <a:endParaRPr lang="en-US" sz="1250" dirty="0"/>
          </a:p>
        </p:txBody>
      </p:sp>
      <p:sp>
        <p:nvSpPr>
          <p:cNvPr id="20" name="Text 14"/>
          <p:cNvSpPr/>
          <p:nvPr/>
        </p:nvSpPr>
        <p:spPr>
          <a:xfrm>
            <a:off x="6125885" y="6586776"/>
            <a:ext cx="7865031" cy="417195"/>
          </a:xfrm>
          <a:prstGeom prst="rect">
            <a:avLst/>
          </a:prstGeom>
          <a:noFill/>
          <a:ln/>
        </p:spPr>
        <p:txBody>
          <a:bodyPr wrap="square" lIns="0" tIns="0" rIns="0" bIns="0" rtlCol="0" anchor="t"/>
          <a:lstStyle/>
          <a:p>
            <a:pPr algn="l" indent="0" marL="0">
              <a:lnSpc>
                <a:spcPts val="1600"/>
              </a:lnSpc>
              <a:buNone/>
            </a:pPr>
            <a:r>
              <a:rPr lang="en-US" sz="1250" dirty="0">
                <a:solidFill>
                  <a:srgbClr val="E2E6E9"/>
                </a:solidFill>
                <a:latin typeface="Source Sans 3" pitchFamily="34" charset="0"/>
                <a:ea typeface="Source Sans 3" pitchFamily="34" charset="-122"/>
                <a:cs typeface="Source Sans 3" pitchFamily="34" charset="-120"/>
              </a:rPr>
              <a:t>Excel-də "Data Table" funksiyası və ya ixtisaslaşdırılmış simulyasiya alətləri ilə "what-if" analizi aparıla bilər. Nəticələr vizual formatda təqdim edilərək qərar qəbuletmə prosesi dəstəklənir.</a:t>
            </a:r>
            <a:endParaRPr lang="en-US" sz="12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Shape 0"/>
          <p:cNvSpPr/>
          <p:nvPr/>
        </p:nvSpPr>
        <p:spPr>
          <a:xfrm>
            <a:off x="971550" y="582930"/>
            <a:ext cx="1348621" cy="299085"/>
          </a:xfrm>
          <a:prstGeom prst="roundRect">
            <a:avLst>
              <a:gd name="adj" fmla="val 7101"/>
            </a:avLst>
          </a:prstGeom>
          <a:solidFill>
            <a:srgbClr val="262626"/>
          </a:solidFill>
          <a:ln/>
        </p:spPr>
      </p:sp>
      <p:pic>
        <p:nvPicPr>
          <p:cNvPr id="3"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077635" y="661630"/>
            <a:ext cx="141565" cy="141565"/>
          </a:xfrm>
          <a:prstGeom prst="rect">
            <a:avLst/>
          </a:prstGeom>
        </p:spPr>
      </p:pic>
      <p:sp>
        <p:nvSpPr>
          <p:cNvPr id="4" name="Text 1"/>
          <p:cNvSpPr/>
          <p:nvPr/>
        </p:nvSpPr>
        <p:spPr>
          <a:xfrm>
            <a:off x="1289923" y="635913"/>
            <a:ext cx="924163" cy="193119"/>
          </a:xfrm>
          <a:prstGeom prst="rect">
            <a:avLst/>
          </a:prstGeom>
          <a:noFill/>
          <a:ln/>
        </p:spPr>
        <p:txBody>
          <a:bodyPr wrap="none" lIns="0" tIns="0" rIns="0" bIns="0" rtlCol="0" anchor="t"/>
          <a:lstStyle/>
          <a:p>
            <a:pPr algn="l" indent="0" marL="0">
              <a:lnSpc>
                <a:spcPts val="1500"/>
              </a:lnSpc>
              <a:buNone/>
            </a:pPr>
            <a:r>
              <a:rPr lang="en-US" sz="1100" dirty="0">
                <a:solidFill>
                  <a:srgbClr val="E2E6E9"/>
                </a:solidFill>
                <a:latin typeface="Source Sans 3" pitchFamily="34" charset="0"/>
                <a:ea typeface="Source Sans 3" pitchFamily="34" charset="-122"/>
                <a:cs typeface="Source Sans 3" pitchFamily="34" charset="-120"/>
              </a:rPr>
              <a:t>PLANLAŞDIRMA</a:t>
            </a:r>
            <a:endParaRPr lang="en-US" sz="1100" dirty="0"/>
          </a:p>
        </p:txBody>
      </p:sp>
      <p:sp>
        <p:nvSpPr>
          <p:cNvPr id="5" name="Text 2"/>
          <p:cNvSpPr/>
          <p:nvPr/>
        </p:nvSpPr>
        <p:spPr>
          <a:xfrm>
            <a:off x="971550" y="939998"/>
            <a:ext cx="8972788" cy="502682"/>
          </a:xfrm>
          <a:prstGeom prst="rect">
            <a:avLst/>
          </a:prstGeom>
          <a:noFill/>
          <a:ln/>
        </p:spPr>
        <p:txBody>
          <a:bodyPr wrap="none" lIns="0" tIns="0" rIns="0" bIns="0" rtlCol="0" anchor="t"/>
          <a:lstStyle/>
          <a:p>
            <a:pPr algn="l" indent="0" marL="0">
              <a:lnSpc>
                <a:spcPts val="3950"/>
              </a:lnSpc>
              <a:buNone/>
            </a:pPr>
            <a:r>
              <a:rPr lang="en-US" sz="3150" b="1" dirty="0">
                <a:solidFill>
                  <a:srgbClr val="FFFFFF"/>
                </a:solidFill>
                <a:latin typeface="Montserrat Bold" pitchFamily="34" charset="0"/>
                <a:ea typeface="Montserrat Bold" pitchFamily="34" charset="-122"/>
                <a:cs typeface="Montserrat Bold" pitchFamily="34" charset="-120"/>
              </a:rPr>
              <a:t>Ssenari Modelləşdirməsi: Gələcəyə Hazırlıq</a:t>
            </a:r>
            <a:endParaRPr lang="en-US" sz="3150" dirty="0"/>
          </a:p>
        </p:txBody>
      </p:sp>
      <p:sp>
        <p:nvSpPr>
          <p:cNvPr id="6" name="Text 3"/>
          <p:cNvSpPr/>
          <p:nvPr/>
        </p:nvSpPr>
        <p:spPr>
          <a:xfrm>
            <a:off x="971550" y="1660208"/>
            <a:ext cx="12687181" cy="482679"/>
          </a:xfrm>
          <a:prstGeom prst="rect">
            <a:avLst/>
          </a:prstGeom>
          <a:noFill/>
          <a:ln/>
        </p:spPr>
        <p:txBody>
          <a:bodyPr wrap="square" lIns="0" tIns="0" rIns="0" bIns="0" rtlCol="0" anchor="t"/>
          <a:lstStyle/>
          <a:p>
            <a:pPr algn="l" indent="0" marL="0">
              <a:lnSpc>
                <a:spcPts val="1900"/>
              </a:lnSpc>
              <a:buNone/>
            </a:pPr>
            <a:r>
              <a:rPr lang="en-US" sz="1350" dirty="0">
                <a:solidFill>
                  <a:srgbClr val="E2E6E9"/>
                </a:solidFill>
                <a:latin typeface="Source Sans 3" pitchFamily="34" charset="0"/>
                <a:ea typeface="Source Sans 3" pitchFamily="34" charset="-122"/>
                <a:cs typeface="Source Sans 3" pitchFamily="34" charset="-120"/>
              </a:rPr>
              <a:t>Ssenari modelləşdirməsi müxtəlif gələcək vəziyyətləri nəzərdən keçirməyə və hər biri üçün strategiya hazırlamağa imkan verir. Ümumiyyətlə üç əsas ssenari yaradılır: optimist, realist və pessimist.</a:t>
            </a:r>
            <a:endParaRPr lang="en-US" sz="1350" dirty="0"/>
          </a:p>
        </p:txBody>
      </p:sp>
      <p:sp>
        <p:nvSpPr>
          <p:cNvPr id="7" name="Shape 4"/>
          <p:cNvSpPr/>
          <p:nvPr/>
        </p:nvSpPr>
        <p:spPr>
          <a:xfrm>
            <a:off x="971550" y="2469118"/>
            <a:ext cx="8095536" cy="1278612"/>
          </a:xfrm>
          <a:prstGeom prst="roundRect">
            <a:avLst>
              <a:gd name="adj" fmla="val 2076"/>
            </a:avLst>
          </a:prstGeom>
          <a:solidFill>
            <a:srgbClr val="111213"/>
          </a:solidFill>
          <a:ln w="22860">
            <a:solidFill>
              <a:srgbClr val="494A4B"/>
            </a:solidFill>
            <a:prstDash val="solid"/>
          </a:ln>
        </p:spPr>
      </p:sp>
      <p:sp>
        <p:nvSpPr>
          <p:cNvPr id="8" name="Shape 5"/>
          <p:cNvSpPr/>
          <p:nvPr/>
        </p:nvSpPr>
        <p:spPr>
          <a:xfrm>
            <a:off x="994410" y="2491978"/>
            <a:ext cx="707827" cy="1232892"/>
          </a:xfrm>
          <a:prstGeom prst="rect">
            <a:avLst/>
          </a:prstGeom>
          <a:solidFill>
            <a:srgbClr val="303132"/>
          </a:solidFill>
          <a:ln/>
        </p:spPr>
      </p:sp>
      <p:pic>
        <p:nvPicPr>
          <p:cNvPr id="9" name="Image 1" descr="preencoded.png">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215628" y="2975729"/>
            <a:ext cx="265390" cy="265390"/>
          </a:xfrm>
          <a:prstGeom prst="rect">
            <a:avLst/>
          </a:prstGeom>
        </p:spPr>
      </p:pic>
      <p:sp>
        <p:nvSpPr>
          <p:cNvPr id="10" name="Text 6"/>
          <p:cNvSpPr/>
          <p:nvPr/>
        </p:nvSpPr>
        <p:spPr>
          <a:xfrm>
            <a:off x="1847255" y="2668905"/>
            <a:ext cx="2011085" cy="251341"/>
          </a:xfrm>
          <a:prstGeom prst="rect">
            <a:avLst/>
          </a:prstGeom>
          <a:noFill/>
          <a:ln/>
        </p:spPr>
        <p:txBody>
          <a:bodyPr wrap="none" lIns="0" tIns="0" rIns="0" bIns="0" rtlCol="0" anchor="t"/>
          <a:lstStyle/>
          <a:p>
            <a:pPr algn="l" indent="0" marL="0">
              <a:lnSpc>
                <a:spcPts val="1950"/>
              </a:lnSpc>
              <a:buNone/>
            </a:pPr>
            <a:r>
              <a:rPr lang="en-US" sz="1550" b="1" dirty="0">
                <a:solidFill>
                  <a:srgbClr val="E2E6E9"/>
                </a:solidFill>
                <a:latin typeface="Montserrat Bold" pitchFamily="34" charset="0"/>
                <a:ea typeface="Montserrat Bold" pitchFamily="34" charset="-122"/>
                <a:cs typeface="Montserrat Bold" pitchFamily="34" charset="-120"/>
              </a:rPr>
              <a:t>Optimist Ssenari</a:t>
            </a:r>
            <a:endParaRPr lang="en-US" sz="1550" dirty="0"/>
          </a:p>
        </p:txBody>
      </p:sp>
      <p:sp>
        <p:nvSpPr>
          <p:cNvPr id="11" name="Text 7"/>
          <p:cNvSpPr/>
          <p:nvPr/>
        </p:nvSpPr>
        <p:spPr>
          <a:xfrm>
            <a:off x="1847255" y="3065264"/>
            <a:ext cx="7020044" cy="482679"/>
          </a:xfrm>
          <a:prstGeom prst="rect">
            <a:avLst/>
          </a:prstGeom>
          <a:noFill/>
          <a:ln/>
        </p:spPr>
        <p:txBody>
          <a:bodyPr wrap="square" lIns="0" tIns="0" rIns="0" bIns="0" rtlCol="0" anchor="t"/>
          <a:lstStyle/>
          <a:p>
            <a:pPr algn="l" indent="0" marL="0">
              <a:lnSpc>
                <a:spcPts val="1900"/>
              </a:lnSpc>
              <a:buNone/>
            </a:pPr>
            <a:r>
              <a:rPr lang="en-US" sz="1350" dirty="0">
                <a:solidFill>
                  <a:srgbClr val="E2E6E9"/>
                </a:solidFill>
                <a:latin typeface="Source Sans 3" pitchFamily="34" charset="0"/>
                <a:ea typeface="Source Sans 3" pitchFamily="34" charset="-122"/>
                <a:cs typeface="Source Sans 3" pitchFamily="34" charset="-120"/>
              </a:rPr>
              <a:t>Ən yaxşı hal: bazar payının 25% artması, yüksək tələb, güclü rəqabət mövqeyi. Bu ssenaridə şirkət maksimum məhsuldarlıqla işləyir və bütün imkanlar reallaşır.</a:t>
            </a:r>
            <a:endParaRPr lang="en-US" sz="1350" dirty="0"/>
          </a:p>
        </p:txBody>
      </p:sp>
      <p:sp>
        <p:nvSpPr>
          <p:cNvPr id="12" name="Shape 8"/>
          <p:cNvSpPr/>
          <p:nvPr/>
        </p:nvSpPr>
        <p:spPr>
          <a:xfrm>
            <a:off x="971550" y="3892748"/>
            <a:ext cx="8095536" cy="1278612"/>
          </a:xfrm>
          <a:prstGeom prst="roundRect">
            <a:avLst>
              <a:gd name="adj" fmla="val 2076"/>
            </a:avLst>
          </a:prstGeom>
          <a:solidFill>
            <a:srgbClr val="111213"/>
          </a:solidFill>
          <a:ln w="22860">
            <a:solidFill>
              <a:srgbClr val="494A4B"/>
            </a:solidFill>
            <a:prstDash val="solid"/>
          </a:ln>
        </p:spPr>
      </p:sp>
      <p:sp>
        <p:nvSpPr>
          <p:cNvPr id="13" name="Shape 9"/>
          <p:cNvSpPr/>
          <p:nvPr/>
        </p:nvSpPr>
        <p:spPr>
          <a:xfrm>
            <a:off x="994410" y="3915608"/>
            <a:ext cx="707827" cy="1232892"/>
          </a:xfrm>
          <a:prstGeom prst="rect">
            <a:avLst/>
          </a:prstGeom>
          <a:solidFill>
            <a:srgbClr val="303132"/>
          </a:solidFill>
          <a:ln/>
        </p:spPr>
      </p:sp>
      <p:pic>
        <p:nvPicPr>
          <p:cNvPr id="14" name="Image 2" descr="preencoded.png">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1215628" y="4399359"/>
            <a:ext cx="265390" cy="265390"/>
          </a:xfrm>
          <a:prstGeom prst="rect">
            <a:avLst/>
          </a:prstGeom>
        </p:spPr>
      </p:pic>
      <p:sp>
        <p:nvSpPr>
          <p:cNvPr id="15" name="Text 10"/>
          <p:cNvSpPr/>
          <p:nvPr/>
        </p:nvSpPr>
        <p:spPr>
          <a:xfrm>
            <a:off x="1847255" y="4092535"/>
            <a:ext cx="2011085" cy="251341"/>
          </a:xfrm>
          <a:prstGeom prst="rect">
            <a:avLst/>
          </a:prstGeom>
          <a:noFill/>
          <a:ln/>
        </p:spPr>
        <p:txBody>
          <a:bodyPr wrap="none" lIns="0" tIns="0" rIns="0" bIns="0" rtlCol="0" anchor="t"/>
          <a:lstStyle/>
          <a:p>
            <a:pPr algn="l" indent="0" marL="0">
              <a:lnSpc>
                <a:spcPts val="1950"/>
              </a:lnSpc>
              <a:buNone/>
            </a:pPr>
            <a:r>
              <a:rPr lang="en-US" sz="1550" b="1" dirty="0">
                <a:solidFill>
                  <a:srgbClr val="E2E6E9"/>
                </a:solidFill>
                <a:latin typeface="Montserrat Bold" pitchFamily="34" charset="0"/>
                <a:ea typeface="Montserrat Bold" pitchFamily="34" charset="-122"/>
                <a:cs typeface="Montserrat Bold" pitchFamily="34" charset="-120"/>
              </a:rPr>
              <a:t>Realist Ssenari</a:t>
            </a:r>
            <a:endParaRPr lang="en-US" sz="1550" dirty="0"/>
          </a:p>
        </p:txBody>
      </p:sp>
      <p:sp>
        <p:nvSpPr>
          <p:cNvPr id="16" name="Text 11"/>
          <p:cNvSpPr/>
          <p:nvPr/>
        </p:nvSpPr>
        <p:spPr>
          <a:xfrm>
            <a:off x="1847255" y="4488894"/>
            <a:ext cx="7020044" cy="482679"/>
          </a:xfrm>
          <a:prstGeom prst="rect">
            <a:avLst/>
          </a:prstGeom>
          <a:noFill/>
          <a:ln/>
        </p:spPr>
        <p:txBody>
          <a:bodyPr wrap="square" lIns="0" tIns="0" rIns="0" bIns="0" rtlCol="0" anchor="t"/>
          <a:lstStyle/>
          <a:p>
            <a:pPr algn="l" indent="0" marL="0">
              <a:lnSpc>
                <a:spcPts val="1900"/>
              </a:lnSpc>
              <a:buNone/>
            </a:pPr>
            <a:r>
              <a:rPr lang="en-US" sz="1350" dirty="0">
                <a:solidFill>
                  <a:srgbClr val="E2E6E9"/>
                </a:solidFill>
                <a:latin typeface="Source Sans 3" pitchFamily="34" charset="0"/>
                <a:ea typeface="Source Sans 3" pitchFamily="34" charset="-122"/>
                <a:cs typeface="Source Sans 3" pitchFamily="34" charset="-120"/>
              </a:rPr>
              <a:t>Gözlənilən hal: bazar payının 12% artması, orta tələb səviyyəsi, sabit inkişaf. Bu ssenari ən çox ehtimal olunan nəticəni əks etdirir və əsas planlaşdırma bazası kimi istifadə olunur.</a:t>
            </a:r>
            <a:endParaRPr lang="en-US" sz="1350" dirty="0"/>
          </a:p>
        </p:txBody>
      </p:sp>
      <p:sp>
        <p:nvSpPr>
          <p:cNvPr id="17" name="Shape 12"/>
          <p:cNvSpPr/>
          <p:nvPr/>
        </p:nvSpPr>
        <p:spPr>
          <a:xfrm>
            <a:off x="971550" y="5316379"/>
            <a:ext cx="8095536" cy="1278612"/>
          </a:xfrm>
          <a:prstGeom prst="roundRect">
            <a:avLst>
              <a:gd name="adj" fmla="val 2076"/>
            </a:avLst>
          </a:prstGeom>
          <a:solidFill>
            <a:srgbClr val="111213"/>
          </a:solidFill>
          <a:ln w="22860">
            <a:solidFill>
              <a:srgbClr val="494A4B"/>
            </a:solidFill>
            <a:prstDash val="solid"/>
          </a:ln>
        </p:spPr>
      </p:sp>
      <p:sp>
        <p:nvSpPr>
          <p:cNvPr id="18" name="Shape 13"/>
          <p:cNvSpPr/>
          <p:nvPr/>
        </p:nvSpPr>
        <p:spPr>
          <a:xfrm>
            <a:off x="994410" y="5339239"/>
            <a:ext cx="707827" cy="1232892"/>
          </a:xfrm>
          <a:prstGeom prst="rect">
            <a:avLst/>
          </a:prstGeom>
          <a:solidFill>
            <a:srgbClr val="303132"/>
          </a:solidFill>
          <a:ln/>
        </p:spPr>
      </p:sp>
      <p:pic>
        <p:nvPicPr>
          <p:cNvPr id="19" name="Image 3" descr="preencoded.png">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215628" y="5822990"/>
            <a:ext cx="265390" cy="265390"/>
          </a:xfrm>
          <a:prstGeom prst="rect">
            <a:avLst/>
          </a:prstGeom>
        </p:spPr>
      </p:pic>
      <p:sp>
        <p:nvSpPr>
          <p:cNvPr id="20" name="Text 14"/>
          <p:cNvSpPr/>
          <p:nvPr/>
        </p:nvSpPr>
        <p:spPr>
          <a:xfrm>
            <a:off x="1847255" y="5516166"/>
            <a:ext cx="2011085" cy="251341"/>
          </a:xfrm>
          <a:prstGeom prst="rect">
            <a:avLst/>
          </a:prstGeom>
          <a:noFill/>
          <a:ln/>
        </p:spPr>
        <p:txBody>
          <a:bodyPr wrap="none" lIns="0" tIns="0" rIns="0" bIns="0" rtlCol="0" anchor="t"/>
          <a:lstStyle/>
          <a:p>
            <a:pPr algn="l" indent="0" marL="0">
              <a:lnSpc>
                <a:spcPts val="1950"/>
              </a:lnSpc>
              <a:buNone/>
            </a:pPr>
            <a:r>
              <a:rPr lang="en-US" sz="1550" b="1" dirty="0">
                <a:solidFill>
                  <a:srgbClr val="E2E6E9"/>
                </a:solidFill>
                <a:latin typeface="Montserrat Bold" pitchFamily="34" charset="0"/>
                <a:ea typeface="Montserrat Bold" pitchFamily="34" charset="-122"/>
                <a:cs typeface="Montserrat Bold" pitchFamily="34" charset="-120"/>
              </a:rPr>
              <a:t>Pessimist Ssenari</a:t>
            </a:r>
            <a:endParaRPr lang="en-US" sz="1550" dirty="0"/>
          </a:p>
        </p:txBody>
      </p:sp>
      <p:sp>
        <p:nvSpPr>
          <p:cNvPr id="21" name="Text 15"/>
          <p:cNvSpPr/>
          <p:nvPr/>
        </p:nvSpPr>
        <p:spPr>
          <a:xfrm>
            <a:off x="1847255" y="5912525"/>
            <a:ext cx="7020044" cy="482679"/>
          </a:xfrm>
          <a:prstGeom prst="rect">
            <a:avLst/>
          </a:prstGeom>
          <a:noFill/>
          <a:ln/>
        </p:spPr>
        <p:txBody>
          <a:bodyPr wrap="square" lIns="0" tIns="0" rIns="0" bIns="0" rtlCol="0" anchor="t"/>
          <a:lstStyle/>
          <a:p>
            <a:pPr algn="l" indent="0" marL="0">
              <a:lnSpc>
                <a:spcPts val="1900"/>
              </a:lnSpc>
              <a:buNone/>
            </a:pPr>
            <a:r>
              <a:rPr lang="en-US" sz="1350" dirty="0">
                <a:solidFill>
                  <a:srgbClr val="E2E6E9"/>
                </a:solidFill>
                <a:latin typeface="Source Sans 3" pitchFamily="34" charset="0"/>
                <a:ea typeface="Source Sans 3" pitchFamily="34" charset="-122"/>
                <a:cs typeface="Source Sans 3" pitchFamily="34" charset="-120"/>
              </a:rPr>
              <a:t>Ən pis hal: bazar payının 5% azalması, aşağı tələb, güclü rəqabət təzyiqi. Risk idarəetməsi və ehtiyat planlarının hazırlanması üçün vacibdir.</a:t>
            </a:r>
            <a:endParaRPr lang="en-US" sz="1350" dirty="0"/>
          </a:p>
        </p:txBody>
      </p:sp>
      <p:pic>
        <p:nvPicPr>
          <p:cNvPr id="22" name="Image 4" descr="preencoded.png">    </p:cNvPr>
          <p:cNvPicPr>
            <a:picLocks noChangeAspect="1"/>
          </p:cNvPicPr>
          <p:nvPr/>
        </p:nvPicPr>
        <p:blipFill>
          <a:blip r:embed="rId9"/>
          <a:stretch>
            <a:fillRect/>
          </a:stretch>
        </p:blipFill>
        <p:spPr>
          <a:xfrm>
            <a:off x="9506426" y="2469118"/>
            <a:ext cx="4159806" cy="4159806"/>
          </a:xfrm>
          <a:prstGeom prst="rect">
            <a:avLst/>
          </a:prstGeom>
        </p:spPr>
      </p:pic>
      <p:sp>
        <p:nvSpPr>
          <p:cNvPr id="23" name="Text 16"/>
          <p:cNvSpPr/>
          <p:nvPr/>
        </p:nvSpPr>
        <p:spPr>
          <a:xfrm>
            <a:off x="9506426" y="6792039"/>
            <a:ext cx="4159806" cy="724019"/>
          </a:xfrm>
          <a:prstGeom prst="rect">
            <a:avLst/>
          </a:prstGeom>
          <a:noFill/>
          <a:ln/>
        </p:spPr>
        <p:txBody>
          <a:bodyPr wrap="square" lIns="0" tIns="0" rIns="0" bIns="0" rtlCol="0" anchor="t"/>
          <a:lstStyle/>
          <a:p>
            <a:pPr algn="l" indent="0" marL="0">
              <a:lnSpc>
                <a:spcPts val="1900"/>
              </a:lnSpc>
              <a:buNone/>
            </a:pPr>
            <a:r>
              <a:rPr lang="en-US" sz="1350" dirty="0">
                <a:solidFill>
                  <a:srgbClr val="E2E6E9"/>
                </a:solidFill>
                <a:latin typeface="Source Sans 3" pitchFamily="34" charset="0"/>
                <a:ea typeface="Source Sans 3" pitchFamily="34" charset="-122"/>
                <a:cs typeface="Source Sans 3" pitchFamily="34" charset="-120"/>
              </a:rPr>
              <a:t>Hər üç ssenari üçün maliyyə göstəriciləri, resurs tələbləri və risklər müəyyənləşdirilir. Bu yanaşma qeyri-müəyyənliyə hazırlıqlı olmağa kömək edir.</a:t>
            </a:r>
            <a:endParaRPr lang="en-US" sz="13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812721" y="729377"/>
            <a:ext cx="6514028" cy="577096"/>
          </a:xfrm>
          <a:prstGeom prst="rect">
            <a:avLst/>
          </a:prstGeom>
          <a:noFill/>
          <a:ln/>
        </p:spPr>
        <p:txBody>
          <a:bodyPr wrap="none" lIns="0" tIns="0" rIns="0" bIns="0" rtlCol="0" anchor="t"/>
          <a:lstStyle/>
          <a:p>
            <a:pPr algn="l" indent="0" marL="0">
              <a:lnSpc>
                <a:spcPts val="4500"/>
              </a:lnSpc>
              <a:buNone/>
            </a:pPr>
            <a:r>
              <a:rPr lang="en-US" sz="3600" b="1" dirty="0">
                <a:solidFill>
                  <a:srgbClr val="FFFFFF"/>
                </a:solidFill>
                <a:latin typeface="Montserrat Bold" pitchFamily="34" charset="0"/>
                <a:ea typeface="Montserrat Bold" pitchFamily="34" charset="-122"/>
                <a:cs typeface="Montserrat Bold" pitchFamily="34" charset="-120"/>
              </a:rPr>
              <a:t>Biznes-Simulyasiya Alətləri</a:t>
            </a:r>
            <a:endParaRPr lang="en-US" sz="3600" dirty="0"/>
          </a:p>
        </p:txBody>
      </p:sp>
      <p:sp>
        <p:nvSpPr>
          <p:cNvPr id="3" name="Text 1"/>
          <p:cNvSpPr/>
          <p:nvPr/>
        </p:nvSpPr>
        <p:spPr>
          <a:xfrm>
            <a:off x="812721" y="1688663"/>
            <a:ext cx="13004959" cy="591503"/>
          </a:xfrm>
          <a:prstGeom prst="rect">
            <a:avLst/>
          </a:prstGeom>
          <a:noFill/>
          <a:ln/>
        </p:spPr>
        <p:txBody>
          <a:bodyPr wrap="square" lIns="0" tIns="0" rIns="0" bIns="0" rtlCol="0" anchor="t"/>
          <a:lstStyle/>
          <a:p>
            <a:pPr algn="l" indent="0" marL="0">
              <a:lnSpc>
                <a:spcPts val="2300"/>
              </a:lnSpc>
              <a:buNone/>
            </a:pPr>
            <a:r>
              <a:rPr lang="en-US" sz="1550" dirty="0">
                <a:solidFill>
                  <a:srgbClr val="E2E6E9"/>
                </a:solidFill>
                <a:latin typeface="Source Sans 3" pitchFamily="34" charset="0"/>
                <a:ea typeface="Source Sans 3" pitchFamily="34" charset="-122"/>
                <a:cs typeface="Source Sans 3" pitchFamily="34" charset="-120"/>
              </a:rPr>
              <a:t>Simulyasiya alətləri mürəkkəb biznes proseslərini modelləşdirməyə və müxtəlif ssenarilər üzrə təcrübələr aparmağa imkan verir. Bu alətlər real dəyişikliklər etmədən qərarların potensial nəticələrini görməyə kömək edir.</a:t>
            </a:r>
            <a:endParaRPr lang="en-US" sz="1550" dirty="0"/>
          </a:p>
        </p:txBody>
      </p:sp>
      <p:pic>
        <p:nvPicPr>
          <p:cNvPr id="4" name="Image 0" descr="preencoded.png">    </p:cNvPr>
          <p:cNvPicPr>
            <a:picLocks noChangeAspect="1"/>
          </p:cNvPicPr>
          <p:nvPr/>
        </p:nvPicPr>
        <p:blipFill>
          <a:blip r:embed="rId1"/>
          <a:stretch>
            <a:fillRect/>
          </a:stretch>
        </p:blipFill>
        <p:spPr>
          <a:xfrm>
            <a:off x="812721" y="2495193"/>
            <a:ext cx="3006447" cy="1858089"/>
          </a:xfrm>
          <a:prstGeom prst="rect">
            <a:avLst/>
          </a:prstGeom>
        </p:spPr>
      </p:pic>
      <p:sp>
        <p:nvSpPr>
          <p:cNvPr id="5" name="Text 2"/>
          <p:cNvSpPr/>
          <p:nvPr/>
        </p:nvSpPr>
        <p:spPr>
          <a:xfrm>
            <a:off x="812721" y="4592122"/>
            <a:ext cx="2400776" cy="288488"/>
          </a:xfrm>
          <a:prstGeom prst="rect">
            <a:avLst/>
          </a:prstGeom>
          <a:noFill/>
          <a:ln/>
        </p:spPr>
        <p:txBody>
          <a:bodyPr wrap="none" lIns="0" tIns="0" rIns="0" bIns="0" rtlCol="0" anchor="t"/>
          <a:lstStyle/>
          <a:p>
            <a:pPr algn="l" indent="0" marL="0">
              <a:lnSpc>
                <a:spcPts val="2250"/>
              </a:lnSpc>
              <a:buNone/>
            </a:pPr>
            <a:r>
              <a:rPr lang="en-US" sz="1800" b="1" dirty="0">
                <a:solidFill>
                  <a:srgbClr val="E2E6E9"/>
                </a:solidFill>
                <a:latin typeface="Montserrat Bold" pitchFamily="34" charset="0"/>
                <a:ea typeface="Montserrat Bold" pitchFamily="34" charset="-122"/>
                <a:cs typeface="Montserrat Bold" pitchFamily="34" charset="-120"/>
              </a:rPr>
              <a:t>Excel + Monte-Karlo</a:t>
            </a:r>
            <a:endParaRPr lang="en-US" sz="1800" dirty="0"/>
          </a:p>
        </p:txBody>
      </p:sp>
      <p:sp>
        <p:nvSpPr>
          <p:cNvPr id="6" name="Text 3"/>
          <p:cNvSpPr/>
          <p:nvPr/>
        </p:nvSpPr>
        <p:spPr>
          <a:xfrm>
            <a:off x="812721" y="4995267"/>
            <a:ext cx="4175760" cy="1183005"/>
          </a:xfrm>
          <a:prstGeom prst="rect">
            <a:avLst/>
          </a:prstGeom>
          <a:noFill/>
          <a:ln/>
        </p:spPr>
        <p:txBody>
          <a:bodyPr wrap="square" lIns="0" tIns="0" rIns="0" bIns="0" rtlCol="0" anchor="t"/>
          <a:lstStyle/>
          <a:p>
            <a:pPr algn="l" indent="0" marL="0">
              <a:lnSpc>
                <a:spcPts val="2300"/>
              </a:lnSpc>
              <a:buNone/>
            </a:pPr>
            <a:r>
              <a:rPr lang="en-US" sz="1550" dirty="0">
                <a:solidFill>
                  <a:srgbClr val="E2E6E9"/>
                </a:solidFill>
                <a:latin typeface="Source Sans 3" pitchFamily="34" charset="0"/>
                <a:ea typeface="Source Sans 3" pitchFamily="34" charset="-122"/>
                <a:cs typeface="Source Sans 3" pitchFamily="34" charset="-120"/>
              </a:rPr>
              <a:t>Ən əlçatan simulyasiya aləti. Monte-Karlo metodu minlərlə təsadüfi ssenari yaradır və ehtimal paylanmasını hesablayır. Qeyri-müəyyənliyi modelləşdirmək üçün idealdır.</a:t>
            </a:r>
            <a:endParaRPr lang="en-US" sz="1550" dirty="0"/>
          </a:p>
        </p:txBody>
      </p:sp>
      <p:pic>
        <p:nvPicPr>
          <p:cNvPr id="7" name="Image 1" descr="preencoded.png">    </p:cNvPr>
          <p:cNvPicPr>
            <a:picLocks noChangeAspect="1"/>
          </p:cNvPicPr>
          <p:nvPr/>
        </p:nvPicPr>
        <p:blipFill>
          <a:blip r:embed="rId2"/>
          <a:stretch>
            <a:fillRect/>
          </a:stretch>
        </p:blipFill>
        <p:spPr>
          <a:xfrm>
            <a:off x="5227320" y="2495193"/>
            <a:ext cx="3006447" cy="1858089"/>
          </a:xfrm>
          <a:prstGeom prst="rect">
            <a:avLst/>
          </a:prstGeom>
        </p:spPr>
      </p:pic>
      <p:sp>
        <p:nvSpPr>
          <p:cNvPr id="8" name="Text 4"/>
          <p:cNvSpPr/>
          <p:nvPr/>
        </p:nvSpPr>
        <p:spPr>
          <a:xfrm>
            <a:off x="5227320" y="4592122"/>
            <a:ext cx="2308860" cy="288488"/>
          </a:xfrm>
          <a:prstGeom prst="rect">
            <a:avLst/>
          </a:prstGeom>
          <a:noFill/>
          <a:ln/>
        </p:spPr>
        <p:txBody>
          <a:bodyPr wrap="none" lIns="0" tIns="0" rIns="0" bIns="0" rtlCol="0" anchor="t"/>
          <a:lstStyle/>
          <a:p>
            <a:pPr algn="l" indent="0" marL="0">
              <a:lnSpc>
                <a:spcPts val="2250"/>
              </a:lnSpc>
              <a:buNone/>
            </a:pPr>
            <a:r>
              <a:rPr lang="en-US" sz="1800" b="1" dirty="0">
                <a:solidFill>
                  <a:srgbClr val="E2E6E9"/>
                </a:solidFill>
                <a:latin typeface="Montserrat Bold" pitchFamily="34" charset="0"/>
                <a:ea typeface="Montserrat Bold" pitchFamily="34" charset="-122"/>
                <a:cs typeface="Montserrat Bold" pitchFamily="34" charset="-120"/>
              </a:rPr>
              <a:t>Power BI</a:t>
            </a:r>
            <a:endParaRPr lang="en-US" sz="1800" dirty="0"/>
          </a:p>
        </p:txBody>
      </p:sp>
      <p:sp>
        <p:nvSpPr>
          <p:cNvPr id="9" name="Text 5"/>
          <p:cNvSpPr/>
          <p:nvPr/>
        </p:nvSpPr>
        <p:spPr>
          <a:xfrm>
            <a:off x="5227320" y="4995267"/>
            <a:ext cx="4175760" cy="1183005"/>
          </a:xfrm>
          <a:prstGeom prst="rect">
            <a:avLst/>
          </a:prstGeom>
          <a:noFill/>
          <a:ln/>
        </p:spPr>
        <p:txBody>
          <a:bodyPr wrap="square" lIns="0" tIns="0" rIns="0" bIns="0" rtlCol="0" anchor="t"/>
          <a:lstStyle/>
          <a:p>
            <a:pPr algn="l" indent="0" marL="0">
              <a:lnSpc>
                <a:spcPts val="2300"/>
              </a:lnSpc>
              <a:buNone/>
            </a:pPr>
            <a:r>
              <a:rPr lang="en-US" sz="1550" dirty="0">
                <a:solidFill>
                  <a:srgbClr val="E2E6E9"/>
                </a:solidFill>
                <a:latin typeface="Source Sans 3" pitchFamily="34" charset="0"/>
                <a:ea typeface="Source Sans 3" pitchFamily="34" charset="-122"/>
                <a:cs typeface="Source Sans 3" pitchFamily="34" charset="-120"/>
              </a:rPr>
              <a:t>Güclü vizuallaşdırma və interaktiv analitika platforması. Real vaxt rejimində məlumat təhlili, what-if parametrləri və dinamik hesabatlar yaratmaq mümkündür.</a:t>
            </a:r>
            <a:endParaRPr lang="en-US" sz="1550" dirty="0"/>
          </a:p>
        </p:txBody>
      </p:sp>
      <p:pic>
        <p:nvPicPr>
          <p:cNvPr id="10" name="Image 2" descr="preencoded.png">    </p:cNvPr>
          <p:cNvPicPr>
            <a:picLocks noChangeAspect="1"/>
          </p:cNvPicPr>
          <p:nvPr/>
        </p:nvPicPr>
        <p:blipFill>
          <a:blip r:embed="rId3"/>
          <a:stretch>
            <a:fillRect/>
          </a:stretch>
        </p:blipFill>
        <p:spPr>
          <a:xfrm>
            <a:off x="9641919" y="2495193"/>
            <a:ext cx="3006447" cy="1858089"/>
          </a:xfrm>
          <a:prstGeom prst="rect">
            <a:avLst/>
          </a:prstGeom>
        </p:spPr>
      </p:pic>
      <p:sp>
        <p:nvSpPr>
          <p:cNvPr id="11" name="Text 6"/>
          <p:cNvSpPr/>
          <p:nvPr/>
        </p:nvSpPr>
        <p:spPr>
          <a:xfrm>
            <a:off x="9641919" y="4592122"/>
            <a:ext cx="2370534" cy="288488"/>
          </a:xfrm>
          <a:prstGeom prst="rect">
            <a:avLst/>
          </a:prstGeom>
          <a:noFill/>
          <a:ln/>
        </p:spPr>
        <p:txBody>
          <a:bodyPr wrap="none" lIns="0" tIns="0" rIns="0" bIns="0" rtlCol="0" anchor="t"/>
          <a:lstStyle/>
          <a:p>
            <a:pPr algn="l" indent="0" marL="0">
              <a:lnSpc>
                <a:spcPts val="2250"/>
              </a:lnSpc>
              <a:buNone/>
            </a:pPr>
            <a:r>
              <a:rPr lang="en-US" sz="1800" b="1" dirty="0">
                <a:solidFill>
                  <a:srgbClr val="E2E6E9"/>
                </a:solidFill>
                <a:latin typeface="Montserrat Bold" pitchFamily="34" charset="0"/>
                <a:ea typeface="Montserrat Bold" pitchFamily="34" charset="-122"/>
                <a:cs typeface="Montserrat Bold" pitchFamily="34" charset="-120"/>
              </a:rPr>
              <a:t>Xüsusi Platformalar</a:t>
            </a:r>
            <a:endParaRPr lang="en-US" sz="1800" dirty="0"/>
          </a:p>
        </p:txBody>
      </p:sp>
      <p:sp>
        <p:nvSpPr>
          <p:cNvPr id="12" name="Text 7"/>
          <p:cNvSpPr/>
          <p:nvPr/>
        </p:nvSpPr>
        <p:spPr>
          <a:xfrm>
            <a:off x="9641919" y="4995267"/>
            <a:ext cx="4175760" cy="1183005"/>
          </a:xfrm>
          <a:prstGeom prst="rect">
            <a:avLst/>
          </a:prstGeom>
          <a:noFill/>
          <a:ln/>
        </p:spPr>
        <p:txBody>
          <a:bodyPr wrap="square" lIns="0" tIns="0" rIns="0" bIns="0" rtlCol="0" anchor="t"/>
          <a:lstStyle/>
          <a:p>
            <a:pPr algn="l" indent="0" marL="0">
              <a:lnSpc>
                <a:spcPts val="2300"/>
              </a:lnSpc>
              <a:buNone/>
            </a:pPr>
            <a:r>
              <a:rPr lang="en-US" sz="1550" dirty="0">
                <a:solidFill>
                  <a:srgbClr val="E2E6E9"/>
                </a:solidFill>
                <a:latin typeface="Source Sans 3" pitchFamily="34" charset="0"/>
                <a:ea typeface="Source Sans 3" pitchFamily="34" charset="-122"/>
                <a:cs typeface="Source Sans 3" pitchFamily="34" charset="-120"/>
              </a:rPr>
              <a:t>AnyLogic, Simul8, Arena kimi professional simulyasiya platformaları mürəkkəb prosesləri modelləşdirir. Tədarük zənciri, istehsal və xidmət sahələrində geniş istifadə olunur.</a:t>
            </a:r>
            <a:endParaRPr lang="en-US" sz="1550" dirty="0"/>
          </a:p>
        </p:txBody>
      </p:sp>
      <p:sp>
        <p:nvSpPr>
          <p:cNvPr id="13" name="Shape 8"/>
          <p:cNvSpPr/>
          <p:nvPr/>
        </p:nvSpPr>
        <p:spPr>
          <a:xfrm>
            <a:off x="812721" y="6393299"/>
            <a:ext cx="13004959" cy="1106805"/>
          </a:xfrm>
          <a:prstGeom prst="roundRect">
            <a:avLst>
              <a:gd name="adj" fmla="val 2754"/>
            </a:avLst>
          </a:prstGeom>
          <a:solidFill>
            <a:srgbClr val="262626"/>
          </a:solidFill>
          <a:ln/>
        </p:spPr>
      </p:sp>
      <p:pic>
        <p:nvPicPr>
          <p:cNvPr id="14" name="Image 3" descr="preencoded.png">    </p:cNvPr>
          <p:cNvPicPr>
            <a:picLocks noChangeAspect="1"/>
          </p:cNvPicPr>
          <p:nvPr/>
        </p:nvPicPr>
        <p:blipFill>
          <a:blip r:embed="rId4"/>
          <a:stretch>
            <a:fillRect/>
          </a:stretch>
        </p:blipFill>
        <p:spPr>
          <a:xfrm>
            <a:off x="1015841" y="6675120"/>
            <a:ext cx="253960" cy="203121"/>
          </a:xfrm>
          <a:prstGeom prst="rect">
            <a:avLst/>
          </a:prstGeom>
        </p:spPr>
      </p:pic>
      <p:sp>
        <p:nvSpPr>
          <p:cNvPr id="15" name="Text 9"/>
          <p:cNvSpPr/>
          <p:nvPr/>
        </p:nvSpPr>
        <p:spPr>
          <a:xfrm>
            <a:off x="1472922" y="6635115"/>
            <a:ext cx="12141637" cy="591503"/>
          </a:xfrm>
          <a:prstGeom prst="rect">
            <a:avLst/>
          </a:prstGeom>
          <a:noFill/>
          <a:ln/>
        </p:spPr>
        <p:txBody>
          <a:bodyPr wrap="square" lIns="0" tIns="0" rIns="0" bIns="0" rtlCol="0" anchor="t"/>
          <a:lstStyle/>
          <a:p>
            <a:pPr algn="l" indent="0" marL="0">
              <a:lnSpc>
                <a:spcPts val="2300"/>
              </a:lnSpc>
              <a:buNone/>
            </a:pPr>
            <a:r>
              <a:rPr lang="en-US" sz="1550" b="1" dirty="0">
                <a:solidFill>
                  <a:srgbClr val="FFFFFF"/>
                </a:solidFill>
                <a:latin typeface="Source Sans 3" pitchFamily="34" charset="0"/>
                <a:ea typeface="Source Sans 3" pitchFamily="34" charset="-122"/>
                <a:cs typeface="Source Sans 3" pitchFamily="34" charset="-120"/>
              </a:rPr>
              <a:t>Tövsiyə:</a:t>
            </a:r>
            <a:pPr algn="l" indent="0" marL="0">
              <a:lnSpc>
                <a:spcPts val="2300"/>
              </a:lnSpc>
              <a:buNone/>
            </a:pPr>
            <a:r>
              <a:rPr lang="en-US" sz="1550" dirty="0">
                <a:solidFill>
                  <a:srgbClr val="FFFFFF"/>
                </a:solidFill>
                <a:latin typeface="Source Sans 3" pitchFamily="34" charset="0"/>
                <a:ea typeface="Source Sans 3" pitchFamily="34" charset="-122"/>
                <a:cs typeface="Source Sans 3" pitchFamily="34" charset="-120"/>
              </a:rPr>
              <a:t> Başlayanlar üçün Excel Monte-Karlo simulyasiyası ilə başlamaq ən məqsədəuyğundur. Əsas prinsipləri mənimsədikdən sonra daha mürəkkəb alətlərə keçid asanlaşır.</a:t>
            </a:r>
            <a:endParaRPr lang="en-US" sz="15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Shape 0"/>
          <p:cNvSpPr/>
          <p:nvPr/>
        </p:nvSpPr>
        <p:spPr>
          <a:xfrm>
            <a:off x="1014651" y="1028938"/>
            <a:ext cx="967859" cy="296466"/>
          </a:xfrm>
          <a:prstGeom prst="roundRect">
            <a:avLst>
              <a:gd name="adj" fmla="val 7115"/>
            </a:avLst>
          </a:prstGeom>
          <a:solidFill>
            <a:srgbClr val="262626"/>
          </a:solidFill>
          <a:ln/>
        </p:spPr>
      </p:sp>
      <p:pic>
        <p:nvPicPr>
          <p:cNvPr id="3"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120021" y="1106805"/>
            <a:ext cx="140613" cy="140613"/>
          </a:xfrm>
          <a:prstGeom prst="rect">
            <a:avLst/>
          </a:prstGeom>
        </p:spPr>
      </p:pic>
      <p:sp>
        <p:nvSpPr>
          <p:cNvPr id="4" name="Text 1"/>
          <p:cNvSpPr/>
          <p:nvPr/>
        </p:nvSpPr>
        <p:spPr>
          <a:xfrm>
            <a:off x="1330881" y="1081564"/>
            <a:ext cx="546259" cy="191214"/>
          </a:xfrm>
          <a:prstGeom prst="rect">
            <a:avLst/>
          </a:prstGeom>
          <a:noFill/>
          <a:ln/>
        </p:spPr>
        <p:txBody>
          <a:bodyPr wrap="none" lIns="0" tIns="0" rIns="0" bIns="0" rtlCol="0" anchor="t"/>
          <a:lstStyle/>
          <a:p>
            <a:pPr algn="l" indent="0" marL="0">
              <a:lnSpc>
                <a:spcPts val="1500"/>
              </a:lnSpc>
              <a:buNone/>
            </a:pPr>
            <a:r>
              <a:rPr lang="en-US" sz="1100" dirty="0">
                <a:solidFill>
                  <a:srgbClr val="E2E6E9"/>
                </a:solidFill>
                <a:latin typeface="Source Sans 3" pitchFamily="34" charset="0"/>
                <a:ea typeface="Source Sans 3" pitchFamily="34" charset="-122"/>
                <a:cs typeface="Source Sans 3" pitchFamily="34" charset="-120"/>
              </a:rPr>
              <a:t>TAPŞIRIQ</a:t>
            </a:r>
            <a:endParaRPr lang="en-US" sz="1100" dirty="0"/>
          </a:p>
        </p:txBody>
      </p:sp>
      <p:sp>
        <p:nvSpPr>
          <p:cNvPr id="5" name="Text 2"/>
          <p:cNvSpPr/>
          <p:nvPr/>
        </p:nvSpPr>
        <p:spPr>
          <a:xfrm>
            <a:off x="1014651" y="1382554"/>
            <a:ext cx="5559147" cy="499229"/>
          </a:xfrm>
          <a:prstGeom prst="rect">
            <a:avLst/>
          </a:prstGeom>
          <a:noFill/>
          <a:ln/>
        </p:spPr>
        <p:txBody>
          <a:bodyPr wrap="none" lIns="0" tIns="0" rIns="0" bIns="0" rtlCol="0" anchor="t"/>
          <a:lstStyle/>
          <a:p>
            <a:pPr algn="l" indent="0" marL="0">
              <a:lnSpc>
                <a:spcPts val="3900"/>
              </a:lnSpc>
              <a:buNone/>
            </a:pPr>
            <a:r>
              <a:rPr lang="en-US" sz="3100" b="1" dirty="0">
                <a:solidFill>
                  <a:srgbClr val="FFFFFF"/>
                </a:solidFill>
                <a:latin typeface="Montserrat Bold" pitchFamily="34" charset="0"/>
                <a:ea typeface="Montserrat Bold" pitchFamily="34" charset="-122"/>
                <a:cs typeface="Montserrat Bold" pitchFamily="34" charset="-120"/>
              </a:rPr>
              <a:t>Ev Tapşırığı: Praktik Tətbiq</a:t>
            </a:r>
            <a:endParaRPr lang="en-US" sz="3100" dirty="0"/>
          </a:p>
        </p:txBody>
      </p:sp>
      <p:sp>
        <p:nvSpPr>
          <p:cNvPr id="6" name="Text 3"/>
          <p:cNvSpPr/>
          <p:nvPr/>
        </p:nvSpPr>
        <p:spPr>
          <a:xfrm>
            <a:off x="1014651" y="2096333"/>
            <a:ext cx="175736" cy="219670"/>
          </a:xfrm>
          <a:prstGeom prst="rect">
            <a:avLst/>
          </a:prstGeom>
          <a:noFill/>
          <a:ln/>
        </p:spPr>
        <p:txBody>
          <a:bodyPr wrap="none" lIns="0" tIns="0" rIns="0" bIns="0" rtlCol="0" anchor="t"/>
          <a:lstStyle/>
          <a:p>
            <a:pPr algn="l" indent="0" marL="0">
              <a:lnSpc>
                <a:spcPts val="1850"/>
              </a:lnSpc>
              <a:buNone/>
            </a:pPr>
            <a:r>
              <a:rPr lang="en-US" sz="1350" dirty="0">
                <a:solidFill>
                  <a:srgbClr val="E2E6E9"/>
                </a:solidFill>
                <a:latin typeface="Montserrat Light" pitchFamily="34" charset="0"/>
                <a:ea typeface="Montserrat Light" pitchFamily="34" charset="-122"/>
                <a:cs typeface="Montserrat Light" pitchFamily="34" charset="-120"/>
              </a:rPr>
              <a:t>01</a:t>
            </a:r>
            <a:endParaRPr lang="en-US" sz="1350" dirty="0"/>
          </a:p>
        </p:txBody>
      </p:sp>
      <p:sp>
        <p:nvSpPr>
          <p:cNvPr id="7" name="Shape 4"/>
          <p:cNvSpPr/>
          <p:nvPr/>
        </p:nvSpPr>
        <p:spPr>
          <a:xfrm>
            <a:off x="1014651" y="2372201"/>
            <a:ext cx="6228993" cy="22860"/>
          </a:xfrm>
          <a:prstGeom prst="rect">
            <a:avLst/>
          </a:prstGeom>
          <a:solidFill>
            <a:srgbClr val="FFFFFF"/>
          </a:solidFill>
          <a:ln/>
        </p:spPr>
      </p:sp>
      <p:sp>
        <p:nvSpPr>
          <p:cNvPr id="8" name="Text 5"/>
          <p:cNvSpPr/>
          <p:nvPr/>
        </p:nvSpPr>
        <p:spPr>
          <a:xfrm>
            <a:off x="1014651" y="2505789"/>
            <a:ext cx="1997393" cy="249674"/>
          </a:xfrm>
          <a:prstGeom prst="rect">
            <a:avLst/>
          </a:prstGeom>
          <a:noFill/>
          <a:ln/>
        </p:spPr>
        <p:txBody>
          <a:bodyPr wrap="none" lIns="0" tIns="0" rIns="0" bIns="0" rtlCol="0" anchor="t"/>
          <a:lstStyle/>
          <a:p>
            <a:pPr algn="l" indent="0" marL="0">
              <a:lnSpc>
                <a:spcPts val="1950"/>
              </a:lnSpc>
              <a:buNone/>
            </a:pPr>
            <a:r>
              <a:rPr lang="en-US" sz="1550" b="1" dirty="0">
                <a:solidFill>
                  <a:srgbClr val="E2E6E9"/>
                </a:solidFill>
                <a:latin typeface="Montserrat Bold" pitchFamily="34" charset="0"/>
                <a:ea typeface="Montserrat Bold" pitchFamily="34" charset="-122"/>
                <a:cs typeface="Montserrat Bold" pitchFamily="34" charset="-120"/>
              </a:rPr>
              <a:t>Göstərici Seçin</a:t>
            </a:r>
            <a:endParaRPr lang="en-US" sz="1550" dirty="0"/>
          </a:p>
        </p:txBody>
      </p:sp>
      <p:sp>
        <p:nvSpPr>
          <p:cNvPr id="9" name="Text 6"/>
          <p:cNvSpPr/>
          <p:nvPr/>
        </p:nvSpPr>
        <p:spPr>
          <a:xfrm>
            <a:off x="1014651" y="2841188"/>
            <a:ext cx="6228993" cy="477917"/>
          </a:xfrm>
          <a:prstGeom prst="rect">
            <a:avLst/>
          </a:prstGeom>
          <a:noFill/>
          <a:ln/>
        </p:spPr>
        <p:txBody>
          <a:bodyPr wrap="square" lIns="0" tIns="0" rIns="0" bIns="0" rtlCol="0" anchor="t"/>
          <a:lstStyle/>
          <a:p>
            <a:pPr algn="l" indent="0" marL="0">
              <a:lnSpc>
                <a:spcPts val="1850"/>
              </a:lnSpc>
              <a:buNone/>
            </a:pPr>
            <a:r>
              <a:rPr lang="en-US" sz="1350" dirty="0">
                <a:solidFill>
                  <a:srgbClr val="E2E6E9"/>
                </a:solidFill>
                <a:latin typeface="Source Sans 3" pitchFamily="34" charset="0"/>
                <a:ea typeface="Source Sans 3" pitchFamily="34" charset="-122"/>
                <a:cs typeface="Source Sans 3" pitchFamily="34" charset="-120"/>
              </a:rPr>
              <a:t>Bir biznes göstəricisi seçin (məsələn: aylıq satış, müştəri sayı, gəlir). Ən azı 12 aylıq tarixi məlumat toplayın.</a:t>
            </a:r>
            <a:endParaRPr lang="en-US" sz="1350" dirty="0"/>
          </a:p>
        </p:txBody>
      </p:sp>
      <p:sp>
        <p:nvSpPr>
          <p:cNvPr id="10" name="Text 7"/>
          <p:cNvSpPr/>
          <p:nvPr/>
        </p:nvSpPr>
        <p:spPr>
          <a:xfrm>
            <a:off x="7386638" y="2096333"/>
            <a:ext cx="175736" cy="219670"/>
          </a:xfrm>
          <a:prstGeom prst="rect">
            <a:avLst/>
          </a:prstGeom>
          <a:noFill/>
          <a:ln/>
        </p:spPr>
        <p:txBody>
          <a:bodyPr wrap="none" lIns="0" tIns="0" rIns="0" bIns="0" rtlCol="0" anchor="t"/>
          <a:lstStyle/>
          <a:p>
            <a:pPr algn="l" indent="0" marL="0">
              <a:lnSpc>
                <a:spcPts val="1850"/>
              </a:lnSpc>
              <a:buNone/>
            </a:pPr>
            <a:r>
              <a:rPr lang="en-US" sz="1350" dirty="0">
                <a:solidFill>
                  <a:srgbClr val="E2E6E9"/>
                </a:solidFill>
                <a:latin typeface="Montserrat Light" pitchFamily="34" charset="0"/>
                <a:ea typeface="Montserrat Light" pitchFamily="34" charset="-122"/>
                <a:cs typeface="Montserrat Light" pitchFamily="34" charset="-120"/>
              </a:rPr>
              <a:t>02</a:t>
            </a:r>
            <a:endParaRPr lang="en-US" sz="1350" dirty="0"/>
          </a:p>
        </p:txBody>
      </p:sp>
      <p:sp>
        <p:nvSpPr>
          <p:cNvPr id="11" name="Shape 8"/>
          <p:cNvSpPr/>
          <p:nvPr/>
        </p:nvSpPr>
        <p:spPr>
          <a:xfrm>
            <a:off x="7386638" y="2372201"/>
            <a:ext cx="6229112" cy="22860"/>
          </a:xfrm>
          <a:prstGeom prst="rect">
            <a:avLst/>
          </a:prstGeom>
          <a:solidFill>
            <a:srgbClr val="FFFFFF"/>
          </a:solidFill>
          <a:ln/>
        </p:spPr>
      </p:sp>
      <p:sp>
        <p:nvSpPr>
          <p:cNvPr id="12" name="Text 9"/>
          <p:cNvSpPr/>
          <p:nvPr/>
        </p:nvSpPr>
        <p:spPr>
          <a:xfrm>
            <a:off x="7386638" y="2505789"/>
            <a:ext cx="1997393" cy="249674"/>
          </a:xfrm>
          <a:prstGeom prst="rect">
            <a:avLst/>
          </a:prstGeom>
          <a:noFill/>
          <a:ln/>
        </p:spPr>
        <p:txBody>
          <a:bodyPr wrap="none" lIns="0" tIns="0" rIns="0" bIns="0" rtlCol="0" anchor="t"/>
          <a:lstStyle/>
          <a:p>
            <a:pPr algn="l" indent="0" marL="0">
              <a:lnSpc>
                <a:spcPts val="1950"/>
              </a:lnSpc>
              <a:buNone/>
            </a:pPr>
            <a:r>
              <a:rPr lang="en-US" sz="1550" b="1" dirty="0">
                <a:solidFill>
                  <a:srgbClr val="E2E6E9"/>
                </a:solidFill>
                <a:latin typeface="Montserrat Bold" pitchFamily="34" charset="0"/>
                <a:ea typeface="Montserrat Bold" pitchFamily="34" charset="-122"/>
                <a:cs typeface="Montserrat Bold" pitchFamily="34" charset="-120"/>
              </a:rPr>
              <a:t>Model Qurun</a:t>
            </a:r>
            <a:endParaRPr lang="en-US" sz="1550" dirty="0"/>
          </a:p>
        </p:txBody>
      </p:sp>
      <p:sp>
        <p:nvSpPr>
          <p:cNvPr id="13" name="Text 10"/>
          <p:cNvSpPr/>
          <p:nvPr/>
        </p:nvSpPr>
        <p:spPr>
          <a:xfrm>
            <a:off x="7386638" y="2841188"/>
            <a:ext cx="6229112" cy="477917"/>
          </a:xfrm>
          <a:prstGeom prst="rect">
            <a:avLst/>
          </a:prstGeom>
          <a:noFill/>
          <a:ln/>
        </p:spPr>
        <p:txBody>
          <a:bodyPr wrap="square" lIns="0" tIns="0" rIns="0" bIns="0" rtlCol="0" anchor="t"/>
          <a:lstStyle/>
          <a:p>
            <a:pPr algn="l" indent="0" marL="0">
              <a:lnSpc>
                <a:spcPts val="1850"/>
              </a:lnSpc>
              <a:buNone/>
            </a:pPr>
            <a:r>
              <a:rPr lang="en-US" sz="1350" dirty="0">
                <a:solidFill>
                  <a:srgbClr val="E2E6E9"/>
                </a:solidFill>
                <a:latin typeface="Source Sans 3" pitchFamily="34" charset="0"/>
                <a:ea typeface="Source Sans 3" pitchFamily="34" charset="-122"/>
                <a:cs typeface="Source Sans 3" pitchFamily="34" charset="-120"/>
              </a:rPr>
              <a:t>Excel-də sadə proqnoz modeli yaradın. Trend və mövsümlük nümunələrini müəyyənləşdirin. Moving average və ya xətti reqressiya metodundan istifadə edin.</a:t>
            </a:r>
            <a:endParaRPr lang="en-US" sz="1350" dirty="0"/>
          </a:p>
        </p:txBody>
      </p:sp>
      <p:sp>
        <p:nvSpPr>
          <p:cNvPr id="14" name="Text 11"/>
          <p:cNvSpPr/>
          <p:nvPr/>
        </p:nvSpPr>
        <p:spPr>
          <a:xfrm>
            <a:off x="1014651" y="3593902"/>
            <a:ext cx="175736" cy="219670"/>
          </a:xfrm>
          <a:prstGeom prst="rect">
            <a:avLst/>
          </a:prstGeom>
          <a:noFill/>
          <a:ln/>
        </p:spPr>
        <p:txBody>
          <a:bodyPr wrap="none" lIns="0" tIns="0" rIns="0" bIns="0" rtlCol="0" anchor="t"/>
          <a:lstStyle/>
          <a:p>
            <a:pPr algn="l" indent="0" marL="0">
              <a:lnSpc>
                <a:spcPts val="1850"/>
              </a:lnSpc>
              <a:buNone/>
            </a:pPr>
            <a:r>
              <a:rPr lang="en-US" sz="1350" dirty="0">
                <a:solidFill>
                  <a:srgbClr val="E2E6E9"/>
                </a:solidFill>
                <a:latin typeface="Montserrat Light" pitchFamily="34" charset="0"/>
                <a:ea typeface="Montserrat Light" pitchFamily="34" charset="-122"/>
                <a:cs typeface="Montserrat Light" pitchFamily="34" charset="-120"/>
              </a:rPr>
              <a:t>03</a:t>
            </a:r>
            <a:endParaRPr lang="en-US" sz="1350" dirty="0"/>
          </a:p>
        </p:txBody>
      </p:sp>
      <p:sp>
        <p:nvSpPr>
          <p:cNvPr id="15" name="Shape 12"/>
          <p:cNvSpPr/>
          <p:nvPr/>
        </p:nvSpPr>
        <p:spPr>
          <a:xfrm>
            <a:off x="1014651" y="3869769"/>
            <a:ext cx="6228993" cy="22860"/>
          </a:xfrm>
          <a:prstGeom prst="rect">
            <a:avLst/>
          </a:prstGeom>
          <a:solidFill>
            <a:srgbClr val="FFFFFF"/>
          </a:solidFill>
          <a:ln/>
        </p:spPr>
      </p:sp>
      <p:sp>
        <p:nvSpPr>
          <p:cNvPr id="16" name="Text 13"/>
          <p:cNvSpPr/>
          <p:nvPr/>
        </p:nvSpPr>
        <p:spPr>
          <a:xfrm>
            <a:off x="1014651" y="4003358"/>
            <a:ext cx="1997393" cy="249674"/>
          </a:xfrm>
          <a:prstGeom prst="rect">
            <a:avLst/>
          </a:prstGeom>
          <a:noFill/>
          <a:ln/>
        </p:spPr>
        <p:txBody>
          <a:bodyPr wrap="none" lIns="0" tIns="0" rIns="0" bIns="0" rtlCol="0" anchor="t"/>
          <a:lstStyle/>
          <a:p>
            <a:pPr algn="l" indent="0" marL="0">
              <a:lnSpc>
                <a:spcPts val="1950"/>
              </a:lnSpc>
              <a:buNone/>
            </a:pPr>
            <a:r>
              <a:rPr lang="en-US" sz="1550" b="1" dirty="0">
                <a:solidFill>
                  <a:srgbClr val="E2E6E9"/>
                </a:solidFill>
                <a:latin typeface="Montserrat Bold" pitchFamily="34" charset="0"/>
                <a:ea typeface="Montserrat Bold" pitchFamily="34" charset="-122"/>
                <a:cs typeface="Montserrat Bold" pitchFamily="34" charset="-120"/>
              </a:rPr>
              <a:t>Ssenarilər Yaradın</a:t>
            </a:r>
            <a:endParaRPr lang="en-US" sz="1550" dirty="0"/>
          </a:p>
        </p:txBody>
      </p:sp>
      <p:sp>
        <p:nvSpPr>
          <p:cNvPr id="17" name="Text 14"/>
          <p:cNvSpPr/>
          <p:nvPr/>
        </p:nvSpPr>
        <p:spPr>
          <a:xfrm>
            <a:off x="1014651" y="4338757"/>
            <a:ext cx="6228993" cy="477917"/>
          </a:xfrm>
          <a:prstGeom prst="rect">
            <a:avLst/>
          </a:prstGeom>
          <a:noFill/>
          <a:ln/>
        </p:spPr>
        <p:txBody>
          <a:bodyPr wrap="square" lIns="0" tIns="0" rIns="0" bIns="0" rtlCol="0" anchor="t"/>
          <a:lstStyle/>
          <a:p>
            <a:pPr algn="l" indent="0" marL="0">
              <a:lnSpc>
                <a:spcPts val="1850"/>
              </a:lnSpc>
              <a:buNone/>
            </a:pPr>
            <a:r>
              <a:rPr lang="en-US" sz="1350" dirty="0">
                <a:solidFill>
                  <a:srgbClr val="E2E6E9"/>
                </a:solidFill>
                <a:latin typeface="Source Sans 3" pitchFamily="34" charset="0"/>
                <a:ea typeface="Source Sans 3" pitchFamily="34" charset="-122"/>
                <a:cs typeface="Source Sans 3" pitchFamily="34" charset="-120"/>
              </a:rPr>
              <a:t>İki fərqli ssenari hazırlayın: optimist (20% artım) və pessimist (10% azalma). Hər iki ssenari üçün proqnoz hazırlayın.</a:t>
            </a:r>
            <a:endParaRPr lang="en-US" sz="1350" dirty="0"/>
          </a:p>
        </p:txBody>
      </p:sp>
      <p:sp>
        <p:nvSpPr>
          <p:cNvPr id="18" name="Text 15"/>
          <p:cNvSpPr/>
          <p:nvPr/>
        </p:nvSpPr>
        <p:spPr>
          <a:xfrm>
            <a:off x="7386638" y="3593902"/>
            <a:ext cx="175736" cy="219670"/>
          </a:xfrm>
          <a:prstGeom prst="rect">
            <a:avLst/>
          </a:prstGeom>
          <a:noFill/>
          <a:ln/>
        </p:spPr>
        <p:txBody>
          <a:bodyPr wrap="none" lIns="0" tIns="0" rIns="0" bIns="0" rtlCol="0" anchor="t"/>
          <a:lstStyle/>
          <a:p>
            <a:pPr algn="l" indent="0" marL="0">
              <a:lnSpc>
                <a:spcPts val="1850"/>
              </a:lnSpc>
              <a:buNone/>
            </a:pPr>
            <a:r>
              <a:rPr lang="en-US" sz="1350" dirty="0">
                <a:solidFill>
                  <a:srgbClr val="E2E6E9"/>
                </a:solidFill>
                <a:latin typeface="Montserrat Light" pitchFamily="34" charset="0"/>
                <a:ea typeface="Montserrat Light" pitchFamily="34" charset="-122"/>
                <a:cs typeface="Montserrat Light" pitchFamily="34" charset="-120"/>
              </a:rPr>
              <a:t>04</a:t>
            </a:r>
            <a:endParaRPr lang="en-US" sz="1350" dirty="0"/>
          </a:p>
        </p:txBody>
      </p:sp>
      <p:sp>
        <p:nvSpPr>
          <p:cNvPr id="19" name="Shape 16"/>
          <p:cNvSpPr/>
          <p:nvPr/>
        </p:nvSpPr>
        <p:spPr>
          <a:xfrm>
            <a:off x="7386638" y="3869769"/>
            <a:ext cx="6229112" cy="22860"/>
          </a:xfrm>
          <a:prstGeom prst="rect">
            <a:avLst/>
          </a:prstGeom>
          <a:solidFill>
            <a:srgbClr val="FFFFFF"/>
          </a:solidFill>
          <a:ln/>
        </p:spPr>
      </p:sp>
      <p:sp>
        <p:nvSpPr>
          <p:cNvPr id="20" name="Text 17"/>
          <p:cNvSpPr/>
          <p:nvPr/>
        </p:nvSpPr>
        <p:spPr>
          <a:xfrm>
            <a:off x="7386638" y="4003358"/>
            <a:ext cx="2137886" cy="249674"/>
          </a:xfrm>
          <a:prstGeom prst="rect">
            <a:avLst/>
          </a:prstGeom>
          <a:noFill/>
          <a:ln/>
        </p:spPr>
        <p:txBody>
          <a:bodyPr wrap="none" lIns="0" tIns="0" rIns="0" bIns="0" rtlCol="0" anchor="t"/>
          <a:lstStyle/>
          <a:p>
            <a:pPr algn="l" indent="0" marL="0">
              <a:lnSpc>
                <a:spcPts val="1950"/>
              </a:lnSpc>
              <a:buNone/>
            </a:pPr>
            <a:r>
              <a:rPr lang="en-US" sz="1550" b="1" dirty="0">
                <a:solidFill>
                  <a:srgbClr val="E2E6E9"/>
                </a:solidFill>
                <a:latin typeface="Montserrat Bold" pitchFamily="34" charset="0"/>
                <a:ea typeface="Montserrat Bold" pitchFamily="34" charset="-122"/>
                <a:cs typeface="Montserrat Bold" pitchFamily="34" charset="-120"/>
              </a:rPr>
              <a:t>Müqayisə və Təqdim</a:t>
            </a:r>
            <a:endParaRPr lang="en-US" sz="1550" dirty="0"/>
          </a:p>
        </p:txBody>
      </p:sp>
      <p:sp>
        <p:nvSpPr>
          <p:cNvPr id="21" name="Text 18"/>
          <p:cNvSpPr/>
          <p:nvPr/>
        </p:nvSpPr>
        <p:spPr>
          <a:xfrm>
            <a:off x="7386638" y="4338757"/>
            <a:ext cx="6229112" cy="477917"/>
          </a:xfrm>
          <a:prstGeom prst="rect">
            <a:avLst/>
          </a:prstGeom>
          <a:noFill/>
          <a:ln/>
        </p:spPr>
        <p:txBody>
          <a:bodyPr wrap="square" lIns="0" tIns="0" rIns="0" bIns="0" rtlCol="0" anchor="t"/>
          <a:lstStyle/>
          <a:p>
            <a:pPr algn="l" indent="0" marL="0">
              <a:lnSpc>
                <a:spcPts val="1850"/>
              </a:lnSpc>
              <a:buNone/>
            </a:pPr>
            <a:r>
              <a:rPr lang="en-US" sz="1350" dirty="0">
                <a:solidFill>
                  <a:srgbClr val="E2E6E9"/>
                </a:solidFill>
                <a:latin typeface="Source Sans 3" pitchFamily="34" charset="0"/>
                <a:ea typeface="Source Sans 3" pitchFamily="34" charset="-122"/>
                <a:cs typeface="Source Sans 3" pitchFamily="34" charset="-120"/>
              </a:rPr>
              <a:t>Nəticələri qrafiklər vasitəsilə vizuallaşdırın. Hər iki ssenaridə potensial risklər və imkanları müəyyənləşdirin.</a:t>
            </a:r>
            <a:endParaRPr lang="en-US" sz="1350" dirty="0"/>
          </a:p>
        </p:txBody>
      </p:sp>
      <p:sp>
        <p:nvSpPr>
          <p:cNvPr id="22" name="Text 19"/>
          <p:cNvSpPr/>
          <p:nvPr/>
        </p:nvSpPr>
        <p:spPr>
          <a:xfrm>
            <a:off x="1014651" y="5252323"/>
            <a:ext cx="1997393" cy="249674"/>
          </a:xfrm>
          <a:prstGeom prst="rect">
            <a:avLst/>
          </a:prstGeom>
          <a:noFill/>
          <a:ln/>
        </p:spPr>
        <p:txBody>
          <a:bodyPr wrap="none" lIns="0" tIns="0" rIns="0" bIns="0" rtlCol="0" anchor="t"/>
          <a:lstStyle/>
          <a:p>
            <a:pPr algn="l" indent="0" marL="0">
              <a:lnSpc>
                <a:spcPts val="1950"/>
              </a:lnSpc>
              <a:buNone/>
            </a:pPr>
            <a:r>
              <a:rPr lang="en-US" sz="1550" b="1" dirty="0">
                <a:solidFill>
                  <a:srgbClr val="FFFFFF"/>
                </a:solidFill>
                <a:latin typeface="Montserrat Bold" pitchFamily="34" charset="0"/>
                <a:ea typeface="Montserrat Bold" pitchFamily="34" charset="-122"/>
                <a:cs typeface="Montserrat Bold" pitchFamily="34" charset="-120"/>
              </a:rPr>
              <a:t>Təqdim Formatı</a:t>
            </a:r>
            <a:endParaRPr lang="en-US" sz="1550" dirty="0"/>
          </a:p>
        </p:txBody>
      </p:sp>
      <p:sp>
        <p:nvSpPr>
          <p:cNvPr id="23" name="Text 20"/>
          <p:cNvSpPr/>
          <p:nvPr/>
        </p:nvSpPr>
        <p:spPr>
          <a:xfrm>
            <a:off x="1014651" y="5644991"/>
            <a:ext cx="6086118" cy="1105853"/>
          </a:xfrm>
          <a:prstGeom prst="rect">
            <a:avLst/>
          </a:prstGeom>
          <a:noFill/>
          <a:ln/>
        </p:spPr>
        <p:txBody>
          <a:bodyPr wrap="square" lIns="0" tIns="0" rIns="0" bIns="0" rtlCol="0" anchor="t"/>
          <a:lstStyle/>
          <a:p>
            <a:pPr algn="l" marL="342900" indent="-342900">
              <a:lnSpc>
                <a:spcPts val="1850"/>
              </a:lnSpc>
              <a:buSzPct val="100000"/>
              <a:buChar char="•"/>
            </a:pPr>
            <a:r>
              <a:rPr lang="en-US" sz="1350" dirty="0">
                <a:solidFill>
                  <a:srgbClr val="E2E6E9"/>
                </a:solidFill>
                <a:latin typeface="Source Sans 3" pitchFamily="34" charset="0"/>
                <a:ea typeface="Source Sans 3" pitchFamily="34" charset="-122"/>
                <a:cs typeface="Source Sans 3" pitchFamily="34" charset="-120"/>
              </a:rPr>
              <a:t>Excel faylı (modellərlə)</a:t>
            </a:r>
            <a:endParaRPr lang="en-US" sz="1350" dirty="0"/>
          </a:p>
          <a:p>
            <a:pPr algn="l" marL="342900" indent="-342900">
              <a:lnSpc>
                <a:spcPts val="1850"/>
              </a:lnSpc>
              <a:buSzPct val="100000"/>
              <a:buChar char="•"/>
            </a:pPr>
            <a:r>
              <a:rPr lang="en-US" sz="1350" dirty="0">
                <a:solidFill>
                  <a:srgbClr val="E2E6E9"/>
                </a:solidFill>
                <a:latin typeface="Source Sans 3" pitchFamily="34" charset="0"/>
                <a:ea typeface="Source Sans 3" pitchFamily="34" charset="-122"/>
                <a:cs typeface="Source Sans 3" pitchFamily="34" charset="-120"/>
              </a:rPr>
              <a:t>1-2 səhifəlik hesabat</a:t>
            </a:r>
            <a:endParaRPr lang="en-US" sz="1350" dirty="0"/>
          </a:p>
          <a:p>
            <a:pPr algn="l" marL="342900" indent="-342900">
              <a:lnSpc>
                <a:spcPts val="1850"/>
              </a:lnSpc>
              <a:buSzPct val="100000"/>
              <a:buChar char="•"/>
            </a:pPr>
            <a:r>
              <a:rPr lang="en-US" sz="1350" dirty="0">
                <a:solidFill>
                  <a:srgbClr val="E2E6E9"/>
                </a:solidFill>
                <a:latin typeface="Source Sans 3" pitchFamily="34" charset="0"/>
                <a:ea typeface="Source Sans 3" pitchFamily="34" charset="-122"/>
                <a:cs typeface="Source Sans 3" pitchFamily="34" charset="-120"/>
              </a:rPr>
              <a:t>Vizual qrafiklər</a:t>
            </a:r>
            <a:endParaRPr lang="en-US" sz="1350" dirty="0"/>
          </a:p>
          <a:p>
            <a:pPr algn="l" marL="342900" indent="-342900">
              <a:lnSpc>
                <a:spcPts val="1850"/>
              </a:lnSpc>
              <a:buSzPct val="100000"/>
              <a:buChar char="•"/>
            </a:pPr>
            <a:r>
              <a:rPr lang="en-US" sz="1350" dirty="0">
                <a:solidFill>
                  <a:srgbClr val="E2E6E9"/>
                </a:solidFill>
                <a:latin typeface="Source Sans 3" pitchFamily="34" charset="0"/>
                <a:ea typeface="Source Sans 3" pitchFamily="34" charset="-122"/>
                <a:cs typeface="Source Sans 3" pitchFamily="34" charset="-120"/>
              </a:rPr>
              <a:t>Əsas nəticələr və tövsiyələr</a:t>
            </a:r>
            <a:endParaRPr lang="en-US" sz="1350" dirty="0"/>
          </a:p>
        </p:txBody>
      </p:sp>
      <p:sp>
        <p:nvSpPr>
          <p:cNvPr id="24" name="Shape 21"/>
          <p:cNvSpPr/>
          <p:nvPr/>
        </p:nvSpPr>
        <p:spPr>
          <a:xfrm>
            <a:off x="7410688" y="5109329"/>
            <a:ext cx="6339245" cy="1691521"/>
          </a:xfrm>
          <a:prstGeom prst="roundRect">
            <a:avLst>
              <a:gd name="adj" fmla="val 1559"/>
            </a:avLst>
          </a:prstGeom>
          <a:solidFill>
            <a:srgbClr val="1D1F22"/>
          </a:solidFill>
          <a:ln/>
        </p:spPr>
      </p:sp>
      <p:sp>
        <p:nvSpPr>
          <p:cNvPr id="25" name="Text 22"/>
          <p:cNvSpPr/>
          <p:nvPr/>
        </p:nvSpPr>
        <p:spPr>
          <a:xfrm>
            <a:off x="7586424" y="5252323"/>
            <a:ext cx="2741057" cy="249674"/>
          </a:xfrm>
          <a:prstGeom prst="rect">
            <a:avLst/>
          </a:prstGeom>
          <a:noFill/>
          <a:ln/>
        </p:spPr>
        <p:txBody>
          <a:bodyPr wrap="none" lIns="0" tIns="0" rIns="0" bIns="0" rtlCol="0" anchor="t"/>
          <a:lstStyle/>
          <a:p>
            <a:pPr algn="l" indent="0" marL="0">
              <a:lnSpc>
                <a:spcPts val="1950"/>
              </a:lnSpc>
              <a:buNone/>
            </a:pPr>
            <a:r>
              <a:rPr lang="en-US" sz="1550" b="1" dirty="0">
                <a:solidFill>
                  <a:srgbClr val="FFFFFF"/>
                </a:solidFill>
                <a:latin typeface="Montserrat Bold" pitchFamily="34" charset="0"/>
                <a:ea typeface="Montserrat Bold" pitchFamily="34" charset="-122"/>
                <a:cs typeface="Montserrat Bold" pitchFamily="34" charset="-120"/>
              </a:rPr>
              <a:t>Qiymətləndirmə Meyarları</a:t>
            </a:r>
            <a:endParaRPr lang="en-US" sz="1550" dirty="0"/>
          </a:p>
        </p:txBody>
      </p:sp>
      <p:sp>
        <p:nvSpPr>
          <p:cNvPr id="26" name="Text 23"/>
          <p:cNvSpPr/>
          <p:nvPr/>
        </p:nvSpPr>
        <p:spPr>
          <a:xfrm>
            <a:off x="7586424" y="5644991"/>
            <a:ext cx="5987772" cy="1105853"/>
          </a:xfrm>
          <a:prstGeom prst="rect">
            <a:avLst/>
          </a:prstGeom>
          <a:noFill/>
          <a:ln/>
        </p:spPr>
        <p:txBody>
          <a:bodyPr wrap="square" lIns="0" tIns="0" rIns="0" bIns="0" rtlCol="0" anchor="t"/>
          <a:lstStyle/>
          <a:p>
            <a:pPr algn="l" marL="342900" indent="-342900">
              <a:lnSpc>
                <a:spcPts val="1850"/>
              </a:lnSpc>
              <a:buSzPct val="100000"/>
              <a:buChar char="•"/>
            </a:pPr>
            <a:r>
              <a:rPr lang="en-US" sz="1350" dirty="0">
                <a:solidFill>
                  <a:srgbClr val="E2E6E9"/>
                </a:solidFill>
                <a:latin typeface="Source Sans 3" pitchFamily="34" charset="0"/>
                <a:ea typeface="Source Sans 3" pitchFamily="34" charset="-122"/>
                <a:cs typeface="Source Sans 3" pitchFamily="34" charset="-120"/>
              </a:rPr>
              <a:t>Metodologiyanın düzgünlüyü</a:t>
            </a:r>
            <a:endParaRPr lang="en-US" sz="1350" dirty="0"/>
          </a:p>
          <a:p>
            <a:pPr algn="l" marL="342900" indent="-342900">
              <a:lnSpc>
                <a:spcPts val="1850"/>
              </a:lnSpc>
              <a:buSzPct val="100000"/>
              <a:buChar char="•"/>
            </a:pPr>
            <a:r>
              <a:rPr lang="en-US" sz="1350" dirty="0">
                <a:solidFill>
                  <a:srgbClr val="E2E6E9"/>
                </a:solidFill>
                <a:latin typeface="Source Sans 3" pitchFamily="34" charset="0"/>
                <a:ea typeface="Source Sans 3" pitchFamily="34" charset="-122"/>
                <a:cs typeface="Source Sans 3" pitchFamily="34" charset="-120"/>
              </a:rPr>
              <a:t>Ssenarilərın əsaslandırılması</a:t>
            </a:r>
            <a:endParaRPr lang="en-US" sz="1350" dirty="0"/>
          </a:p>
          <a:p>
            <a:pPr algn="l" marL="342900" indent="-342900">
              <a:lnSpc>
                <a:spcPts val="1850"/>
              </a:lnSpc>
              <a:buSzPct val="100000"/>
              <a:buChar char="•"/>
            </a:pPr>
            <a:r>
              <a:rPr lang="en-US" sz="1350" dirty="0">
                <a:solidFill>
                  <a:srgbClr val="E2E6E9"/>
                </a:solidFill>
                <a:latin typeface="Source Sans 3" pitchFamily="34" charset="0"/>
                <a:ea typeface="Source Sans 3" pitchFamily="34" charset="-122"/>
                <a:cs typeface="Source Sans 3" pitchFamily="34" charset="-120"/>
              </a:rPr>
              <a:t>Vizuallaşdırmanın keyfiyyəti</a:t>
            </a:r>
            <a:endParaRPr lang="en-US" sz="1350" dirty="0"/>
          </a:p>
          <a:p>
            <a:pPr algn="l" marL="342900" indent="-342900">
              <a:lnSpc>
                <a:spcPts val="1850"/>
              </a:lnSpc>
              <a:buSzPct val="100000"/>
              <a:buChar char="•"/>
            </a:pPr>
            <a:r>
              <a:rPr lang="en-US" sz="1350" dirty="0">
                <a:solidFill>
                  <a:srgbClr val="E2E6E9"/>
                </a:solidFill>
                <a:latin typeface="Source Sans 3" pitchFamily="34" charset="0"/>
                <a:ea typeface="Source Sans 3" pitchFamily="34" charset="-122"/>
                <a:cs typeface="Source Sans 3" pitchFamily="34" charset="-120"/>
              </a:rPr>
              <a:t>Nəticələrin təhlili</a:t>
            </a:r>
            <a:endParaRPr lang="en-US" sz="1350" dirty="0"/>
          </a:p>
        </p:txBody>
      </p:sp>
      <p:sp>
        <p:nvSpPr>
          <p:cNvPr id="27" name="Text 24"/>
          <p:cNvSpPr/>
          <p:nvPr/>
        </p:nvSpPr>
        <p:spPr>
          <a:xfrm>
            <a:off x="1014651" y="6961703"/>
            <a:ext cx="12601099" cy="238958"/>
          </a:xfrm>
          <a:prstGeom prst="rect">
            <a:avLst/>
          </a:prstGeom>
          <a:noFill/>
          <a:ln/>
        </p:spPr>
        <p:txBody>
          <a:bodyPr wrap="none" lIns="0" tIns="0" rIns="0" bIns="0" rtlCol="0" anchor="t"/>
          <a:lstStyle/>
          <a:p>
            <a:pPr algn="l" indent="0" marL="0">
              <a:lnSpc>
                <a:spcPts val="1850"/>
              </a:lnSpc>
              <a:buNone/>
            </a:pPr>
            <a:r>
              <a:rPr lang="en-US" sz="1350" dirty="0">
                <a:solidFill>
                  <a:srgbClr val="E2E6E9"/>
                </a:solidFill>
                <a:latin typeface="Source Sans 3" pitchFamily="34" charset="0"/>
                <a:ea typeface="Source Sans 3" pitchFamily="34" charset="-122"/>
                <a:cs typeface="Source Sans 3" pitchFamily="34" charset="-120"/>
              </a:rPr>
              <a:t>Uğurlar! Bu tapşırıq sizə öyrəndiyiniz metodları praktikada tətbiq etmək və prediktiv analitikanın gücünü real məlumatlar üzərində sınamaq imkanı verəcək.</a:t>
            </a:r>
            <a:endParaRPr lang="en-US" sz="13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lastModifiedBy/>
  <cp:revision>1</cp:revision>
  <dcterms:created xsi:type="dcterms:W3CDTF">2026-02-16T10:02:12Z</dcterms:created>
  <dcterms:modified xsi:type="dcterms:W3CDTF">2026-02-16T10:02:12Z</dcterms:modified>
</cp:coreProperties>
</file>