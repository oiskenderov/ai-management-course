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4630400" cy="8229600"/>
  <p:notesSz cx="8229600" cy="14630400"/>
  <p:embeddedFontLst>
    <p:embeddedFont>
      <p:font typeface="Montserrat Bold" pitchFamily="2" charset="0"/>
      <p:bold r:id="rId14"/>
    </p:embeddedFont>
    <p:embeddedFont>
      <p:font typeface="Montserrat Light" pitchFamily="2" charset="0"/>
      <p:regular r:id="rId15"/>
      <p:italic r:id="rId16"/>
    </p:embeddedFont>
    <p:embeddedFont>
      <p:font typeface="Source Sans 3" panose="020B0303030403020204" pitchFamily="34" charset="0"/>
      <p:regular r:id="rId17"/>
      <p:bold r:id="rId18"/>
      <p:italic r:id="rId19"/>
      <p:boldItalic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3" d="100"/>
          <a:sy n="93" d="100"/>
        </p:scale>
        <p:origin x="52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563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txBody>
          <a:bodyPr/>
          <a:lstStyle/>
          <a:p>
            <a:endParaRPr lang="en-US"/>
          </a:p>
        </p:txBody>
      </p:sp>
      <p:sp>
        <p:nvSpPr>
          <p:cNvPr id="3" name="Shape 1"/>
          <p:cNvSpPr/>
          <p:nvPr/>
        </p:nvSpPr>
        <p:spPr>
          <a:xfrm>
            <a:off x="0" y="0"/>
            <a:ext cx="14630400" cy="8229600"/>
          </a:xfrm>
          <a:prstGeom prst="rect">
            <a:avLst/>
          </a:prstGeom>
          <a:solidFill>
            <a:srgbClr val="111213"/>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grpSp>
        <p:nvGrpSpPr>
          <p:cNvPr id="9" name="Group 8">
            <a:extLst>
              <a:ext uri="{FF2B5EF4-FFF2-40B4-BE49-F238E27FC236}">
                <a16:creationId xmlns:a16="http://schemas.microsoft.com/office/drawing/2014/main" id="{F1F904A2-BE81-1C16-F3FF-0249B5EBA845}"/>
              </a:ext>
            </a:extLst>
          </p:cNvPr>
          <p:cNvGrpSpPr/>
          <p:nvPr/>
        </p:nvGrpSpPr>
        <p:grpSpPr>
          <a:xfrm>
            <a:off x="120316" y="2394280"/>
            <a:ext cx="8939463" cy="4463721"/>
            <a:chOff x="863798" y="3109414"/>
            <a:chExt cx="7416403" cy="2590108"/>
          </a:xfrm>
        </p:grpSpPr>
        <p:sp>
          <p:nvSpPr>
            <p:cNvPr id="3" name="Text 0"/>
            <p:cNvSpPr/>
            <p:nvPr/>
          </p:nvSpPr>
          <p:spPr>
            <a:xfrm>
              <a:off x="863798" y="3109414"/>
              <a:ext cx="7416403" cy="774937"/>
            </a:xfrm>
            <a:prstGeom prst="rect">
              <a:avLst/>
            </a:prstGeom>
            <a:noFill/>
            <a:ln/>
          </p:spPr>
          <p:txBody>
            <a:bodyPr wrap="square" lIns="0" tIns="0" rIns="0" bIns="0" rtlCol="0" anchor="t"/>
            <a:lstStyle/>
            <a:p>
              <a:pPr marL="0" indent="0" algn="l">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Süni İntellekt və İnnovasiya Menecmenti</a:t>
              </a:r>
              <a:endParaRPr lang="en-US" sz="3850" dirty="0"/>
            </a:p>
          </p:txBody>
        </p:sp>
        <p:sp>
          <p:nvSpPr>
            <p:cNvPr id="4" name="Text 1"/>
            <p:cNvSpPr/>
            <p:nvPr/>
          </p:nvSpPr>
          <p:spPr>
            <a:xfrm>
              <a:off x="863798" y="4080867"/>
              <a:ext cx="7416403" cy="971907"/>
            </a:xfrm>
            <a:prstGeom prst="rect">
              <a:avLst/>
            </a:prstGeom>
            <a:noFill/>
            <a:ln/>
          </p:spPr>
          <p:txBody>
            <a:bodyPr wrap="square" lIns="0" tIns="0" rIns="0" bIns="0" rtlCol="0" anchor="t"/>
            <a:lstStyle/>
            <a:p>
              <a:pPr marL="0" indent="0" algn="l">
                <a:lnSpc>
                  <a:spcPts val="2550"/>
                </a:lnSpc>
                <a:buNone/>
              </a:pPr>
              <a:r>
                <a:rPr lang="en-US" sz="2000" dirty="0">
                  <a:solidFill>
                    <a:srgbClr val="E2E6E9"/>
                  </a:solidFill>
                  <a:latin typeface="Source Sans 3" pitchFamily="34" charset="0"/>
                  <a:ea typeface="Source Sans 3" pitchFamily="34" charset="-122"/>
                  <a:cs typeface="Source Sans 3" pitchFamily="34" charset="-120"/>
                </a:rPr>
                <a:t>Bu dərsdə süni intellektin müasir biznes mühitində innovasiya proseslərini necə sürətləndirdiyini, ideya generasiyasından kommersiyalaşdırmaya qədər olan bütün mərhələlərdə SI-nin rolunu ətraflı araşdıracağıq.</a:t>
              </a:r>
              <a:endParaRPr lang="en-US" sz="2000" dirty="0"/>
            </a:p>
          </p:txBody>
        </p:sp>
        <p:sp>
          <p:nvSpPr>
            <p:cNvPr id="5" name="Shape 2"/>
            <p:cNvSpPr/>
            <p:nvPr/>
          </p:nvSpPr>
          <p:spPr>
            <a:xfrm>
              <a:off x="863798" y="5303282"/>
              <a:ext cx="1122640" cy="388620"/>
            </a:xfrm>
            <a:prstGeom prst="roundRect">
              <a:avLst>
                <a:gd name="adj" fmla="val 6669"/>
              </a:avLst>
            </a:prstGeom>
            <a:solidFill>
              <a:srgbClr val="262626"/>
            </a:solidFill>
            <a:ln/>
          </p:spPr>
          <p:txBody>
            <a:bodyPr/>
            <a:lstStyle/>
            <a:p>
              <a:endParaRPr lang="en-US"/>
            </a:p>
          </p:txBody>
        </p:sp>
        <p:sp>
          <p:nvSpPr>
            <p:cNvPr id="6" name="Text 3"/>
            <p:cNvSpPr/>
            <p:nvPr/>
          </p:nvSpPr>
          <p:spPr>
            <a:xfrm>
              <a:off x="993338" y="5368052"/>
              <a:ext cx="863560" cy="259080"/>
            </a:xfrm>
            <a:prstGeom prst="rect">
              <a:avLst/>
            </a:prstGeom>
            <a:noFill/>
            <a:ln/>
          </p:spPr>
          <p:txBody>
            <a:bodyPr wrap="none" lIns="0" tIns="0" rIns="0" bIns="0" rtlCol="0" anchor="t"/>
            <a:lstStyle/>
            <a:p>
              <a:pPr marL="0" indent="0" algn="l">
                <a:lnSpc>
                  <a:spcPts val="2000"/>
                </a:lnSpc>
                <a:buNone/>
              </a:pPr>
              <a:r>
                <a:rPr lang="en-US" sz="1350" dirty="0">
                  <a:solidFill>
                    <a:srgbClr val="E2E6E9"/>
                  </a:solidFill>
                  <a:latin typeface="Source Sans 3" pitchFamily="34" charset="0"/>
                  <a:ea typeface="Source Sans 3" pitchFamily="34" charset="-122"/>
                  <a:cs typeface="Source Sans 3" pitchFamily="34" charset="-120"/>
                </a:rPr>
                <a:t>MBA KURSU</a:t>
              </a:r>
              <a:endParaRPr lang="en-US" sz="1350" dirty="0"/>
            </a:p>
          </p:txBody>
        </p:sp>
        <p:sp>
          <p:nvSpPr>
            <p:cNvPr id="7" name="Shape 4"/>
            <p:cNvSpPr/>
            <p:nvPr/>
          </p:nvSpPr>
          <p:spPr>
            <a:xfrm>
              <a:off x="2094309" y="5295662"/>
              <a:ext cx="2644259" cy="403860"/>
            </a:xfrm>
            <a:prstGeom prst="roundRect">
              <a:avLst>
                <a:gd name="adj" fmla="val 6417"/>
              </a:avLst>
            </a:prstGeom>
            <a:noFill/>
            <a:ln w="7620">
              <a:solidFill>
                <a:srgbClr val="FFFFFF"/>
              </a:solidFill>
              <a:prstDash val="solid"/>
            </a:ln>
          </p:spPr>
          <p:txBody>
            <a:bodyPr/>
            <a:lstStyle/>
            <a:p>
              <a:endParaRPr lang="en-US"/>
            </a:p>
          </p:txBody>
        </p:sp>
        <p:sp>
          <p:nvSpPr>
            <p:cNvPr id="8" name="Text 5"/>
            <p:cNvSpPr/>
            <p:nvPr/>
          </p:nvSpPr>
          <p:spPr>
            <a:xfrm>
              <a:off x="2231469" y="5368052"/>
              <a:ext cx="2369939" cy="259080"/>
            </a:xfrm>
            <a:prstGeom prst="rect">
              <a:avLst/>
            </a:prstGeom>
            <a:noFill/>
            <a:ln/>
          </p:spPr>
          <p:txBody>
            <a:bodyPr wrap="none" lIns="0" tIns="0" rIns="0" bIns="0" rtlCol="0" anchor="t"/>
            <a:lstStyle/>
            <a:p>
              <a:pPr marL="0" indent="0" algn="l">
                <a:lnSpc>
                  <a:spcPts val="2000"/>
                </a:lnSpc>
                <a:buNone/>
              </a:pPr>
              <a:r>
                <a:rPr lang="en-US" sz="1350" dirty="0">
                  <a:solidFill>
                    <a:srgbClr val="FFFFFF"/>
                  </a:solidFill>
                  <a:latin typeface="Source Sans 3" pitchFamily="34" charset="0"/>
                  <a:ea typeface="Source Sans 3" pitchFamily="34" charset="-122"/>
                  <a:cs typeface="Source Sans 3" pitchFamily="34" charset="-120"/>
                </a:rPr>
                <a:t>MÜƏLLIM: ORKHAN ISKANDAROV</a:t>
              </a:r>
              <a:endParaRPr lang="en-US" sz="135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2F1564B8-B29A-FDEB-D387-8ABA5FB6EADB}"/>
              </a:ext>
            </a:extLst>
          </p:cNvPr>
          <p:cNvGrpSpPr/>
          <p:nvPr/>
        </p:nvGrpSpPr>
        <p:grpSpPr>
          <a:xfrm>
            <a:off x="268942" y="247427"/>
            <a:ext cx="14167820" cy="7820808"/>
            <a:chOff x="742236" y="996077"/>
            <a:chExt cx="13145929" cy="6237327"/>
          </a:xfrm>
        </p:grpSpPr>
        <p:sp>
          <p:nvSpPr>
            <p:cNvPr id="2" name="Text 0"/>
            <p:cNvSpPr/>
            <p:nvPr/>
          </p:nvSpPr>
          <p:spPr>
            <a:xfrm>
              <a:off x="742236" y="996077"/>
              <a:ext cx="6208514" cy="527090"/>
            </a:xfrm>
            <a:prstGeom prst="rect">
              <a:avLst/>
            </a:prstGeom>
            <a:noFill/>
            <a:ln/>
          </p:spPr>
          <p:txBody>
            <a:bodyPr wrap="none" lIns="0" tIns="0" rIns="0" bIns="0" rtlCol="0" anchor="t"/>
            <a:lstStyle/>
            <a:p>
              <a:pPr marL="0" indent="0" algn="l">
                <a:lnSpc>
                  <a:spcPts val="4150"/>
                </a:lnSpc>
                <a:buNone/>
              </a:pPr>
              <a:r>
                <a:rPr lang="en-US" sz="3300" b="1" dirty="0">
                  <a:solidFill>
                    <a:srgbClr val="FFFFFF"/>
                  </a:solidFill>
                  <a:latin typeface="Montserrat Bold" pitchFamily="34" charset="0"/>
                  <a:ea typeface="Montserrat Bold" pitchFamily="34" charset="-122"/>
                  <a:cs typeface="Montserrat Bold" pitchFamily="34" charset="-120"/>
                </a:rPr>
                <a:t>Bu Gün Nələri Öyrənəcəyik?</a:t>
              </a:r>
              <a:endParaRPr lang="en-US" sz="3300" dirty="0"/>
            </a:p>
          </p:txBody>
        </p:sp>
        <p:sp>
          <p:nvSpPr>
            <p:cNvPr id="3" name="Text 1"/>
            <p:cNvSpPr/>
            <p:nvPr/>
          </p:nvSpPr>
          <p:spPr>
            <a:xfrm>
              <a:off x="742236" y="1842016"/>
              <a:ext cx="13145929" cy="517446"/>
            </a:xfrm>
            <a:prstGeom prst="rect">
              <a:avLst/>
            </a:prstGeom>
            <a:noFill/>
            <a:ln/>
          </p:spPr>
          <p:txBody>
            <a:bodyPr wrap="square" lIns="0" tIns="0" rIns="0" bIns="0" rtlCol="0" anchor="t"/>
            <a:lstStyle/>
            <a:p>
              <a:pPr marL="0" indent="0" algn="l">
                <a:lnSpc>
                  <a:spcPts val="2000"/>
                </a:lnSpc>
                <a:buNone/>
              </a:pPr>
              <a:r>
                <a:rPr lang="en-US" sz="1700" dirty="0">
                  <a:solidFill>
                    <a:srgbClr val="E2E6E9"/>
                  </a:solidFill>
                  <a:latin typeface="Source Sans 3" pitchFamily="34" charset="0"/>
                  <a:ea typeface="Source Sans 3" pitchFamily="34" charset="-122"/>
                  <a:cs typeface="Source Sans 3" pitchFamily="34" charset="-120"/>
                </a:rPr>
                <a:t>Dərsin sonunda siz innovasiyanın mahiyyətini, növlərini və SI-nin innovasiya prosesinin hər mərhələsindəki rolunu dərindən anlaya biləcəksiniz. Məqsədlərimiz aşağıda sıralanmışdır:</a:t>
              </a:r>
              <a:endParaRPr lang="en-US" sz="1700" dirty="0"/>
            </a:p>
          </p:txBody>
        </p:sp>
        <p:sp>
          <p:nvSpPr>
            <p:cNvPr id="4" name="Shape 2"/>
            <p:cNvSpPr/>
            <p:nvPr/>
          </p:nvSpPr>
          <p:spPr>
            <a:xfrm>
              <a:off x="742236" y="2538770"/>
              <a:ext cx="6493193" cy="1823799"/>
            </a:xfrm>
            <a:prstGeom prst="roundRect">
              <a:avLst>
                <a:gd name="adj" fmla="val 1526"/>
              </a:avLst>
            </a:prstGeom>
            <a:solidFill>
              <a:srgbClr val="111213"/>
            </a:solidFill>
            <a:ln w="22860">
              <a:solidFill>
                <a:srgbClr val="494A4B"/>
              </a:solidFill>
              <a:prstDash val="solid"/>
            </a:ln>
          </p:spPr>
          <p:txBody>
            <a:bodyPr/>
            <a:lstStyle/>
            <a:p>
              <a:endParaRPr lang="en-US"/>
            </a:p>
          </p:txBody>
        </p:sp>
        <p:sp>
          <p:nvSpPr>
            <p:cNvPr id="5" name="Shape 3"/>
            <p:cNvSpPr/>
            <p:nvPr/>
          </p:nvSpPr>
          <p:spPr>
            <a:xfrm>
              <a:off x="765096" y="2561630"/>
              <a:ext cx="6447473" cy="556617"/>
            </a:xfrm>
            <a:prstGeom prst="roundRect">
              <a:avLst>
                <a:gd name="adj" fmla="val 72"/>
              </a:avLst>
            </a:prstGeom>
            <a:solidFill>
              <a:srgbClr val="303132"/>
            </a:solidFill>
            <a:ln/>
          </p:spPr>
          <p:txBody>
            <a:bodyPr/>
            <a:lstStyle/>
            <a:p>
              <a:endParaRPr lang="en-US"/>
            </a:p>
          </p:txBody>
        </p:sp>
        <p:sp>
          <p:nvSpPr>
            <p:cNvPr id="6" name="Text 4"/>
            <p:cNvSpPr/>
            <p:nvPr/>
          </p:nvSpPr>
          <p:spPr>
            <a:xfrm>
              <a:off x="3849648" y="2665928"/>
              <a:ext cx="278249" cy="347901"/>
            </a:xfrm>
            <a:prstGeom prst="rect">
              <a:avLst/>
            </a:prstGeom>
            <a:noFill/>
            <a:ln/>
          </p:spPr>
          <p:txBody>
            <a:bodyPr wrap="none" lIns="0" tIns="0" rIns="0" bIns="0" rtlCol="0" anchor="t"/>
            <a:lstStyle/>
            <a:p>
              <a:pPr marL="0" indent="0" algn="l">
                <a:lnSpc>
                  <a:spcPts val="2150"/>
                </a:lnSpc>
                <a:buNone/>
              </a:pPr>
              <a:r>
                <a:rPr lang="en-US" sz="2150" b="1" dirty="0">
                  <a:solidFill>
                    <a:srgbClr val="E2E6E9"/>
                  </a:solidFill>
                  <a:latin typeface="Montserrat Bold" pitchFamily="34" charset="0"/>
                  <a:ea typeface="Montserrat Bold" pitchFamily="34" charset="-122"/>
                  <a:cs typeface="Montserrat Bold" pitchFamily="34" charset="-120"/>
                </a:rPr>
                <a:t>1</a:t>
              </a:r>
              <a:endParaRPr lang="en-US" sz="2150" dirty="0"/>
            </a:p>
          </p:txBody>
        </p:sp>
        <p:sp>
          <p:nvSpPr>
            <p:cNvPr id="7" name="Text 5"/>
            <p:cNvSpPr/>
            <p:nvPr/>
          </p:nvSpPr>
          <p:spPr>
            <a:xfrm>
              <a:off x="950595" y="3277672"/>
              <a:ext cx="2440900" cy="263485"/>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İnnovasiyanı Anlamaq</a:t>
              </a:r>
              <a:endParaRPr lang="en-US" sz="1650" dirty="0"/>
            </a:p>
          </p:txBody>
        </p:sp>
        <p:sp>
          <p:nvSpPr>
            <p:cNvPr id="8" name="Text 6"/>
            <p:cNvSpPr/>
            <p:nvPr/>
          </p:nvSpPr>
          <p:spPr>
            <a:xfrm>
              <a:off x="950595" y="3636764"/>
              <a:ext cx="6076474" cy="517446"/>
            </a:xfrm>
            <a:prstGeom prst="rect">
              <a:avLst/>
            </a:prstGeom>
            <a:noFill/>
            <a:ln/>
          </p:spPr>
          <p:txBody>
            <a:bodyPr wrap="square" lIns="0" tIns="0" rIns="0" bIns="0" rtlCol="0" anchor="t"/>
            <a:lstStyle/>
            <a:p>
              <a:pPr marL="0" indent="0" algn="l">
                <a:lnSpc>
                  <a:spcPts val="2000"/>
                </a:lnSpc>
                <a:buNone/>
              </a:pPr>
              <a:r>
                <a:rPr lang="en-US" sz="1450" dirty="0">
                  <a:solidFill>
                    <a:srgbClr val="E2E6E9"/>
                  </a:solidFill>
                  <a:latin typeface="Source Sans 3" pitchFamily="34" charset="0"/>
                  <a:ea typeface="Source Sans 3" pitchFamily="34" charset="-122"/>
                  <a:cs typeface="Source Sans 3" pitchFamily="34" charset="-120"/>
                </a:rPr>
                <a:t>İnnovasiyanın nə olduğunu, necə yarandığını və biznes dəyəri ilə cəmiyyət üçün nə ifadə etdiyini izah edə biləcəksiniz.</a:t>
              </a:r>
              <a:endParaRPr lang="en-US" sz="1450" dirty="0"/>
            </a:p>
          </p:txBody>
        </p:sp>
        <p:sp>
          <p:nvSpPr>
            <p:cNvPr id="9" name="Shape 7"/>
            <p:cNvSpPr/>
            <p:nvPr/>
          </p:nvSpPr>
          <p:spPr>
            <a:xfrm>
              <a:off x="7394853" y="2538770"/>
              <a:ext cx="6493312" cy="1823799"/>
            </a:xfrm>
            <a:prstGeom prst="roundRect">
              <a:avLst>
                <a:gd name="adj" fmla="val 1526"/>
              </a:avLst>
            </a:prstGeom>
            <a:solidFill>
              <a:srgbClr val="111213"/>
            </a:solidFill>
            <a:ln w="22860">
              <a:solidFill>
                <a:srgbClr val="494A4B"/>
              </a:solidFill>
              <a:prstDash val="solid"/>
            </a:ln>
          </p:spPr>
          <p:txBody>
            <a:bodyPr/>
            <a:lstStyle/>
            <a:p>
              <a:endParaRPr lang="en-US"/>
            </a:p>
          </p:txBody>
        </p:sp>
        <p:sp>
          <p:nvSpPr>
            <p:cNvPr id="10" name="Shape 8"/>
            <p:cNvSpPr/>
            <p:nvPr/>
          </p:nvSpPr>
          <p:spPr>
            <a:xfrm>
              <a:off x="7417713" y="2561630"/>
              <a:ext cx="6447592" cy="556617"/>
            </a:xfrm>
            <a:prstGeom prst="roundRect">
              <a:avLst>
                <a:gd name="adj" fmla="val 72"/>
              </a:avLst>
            </a:prstGeom>
            <a:solidFill>
              <a:srgbClr val="303132"/>
            </a:solidFill>
            <a:ln/>
          </p:spPr>
          <p:txBody>
            <a:bodyPr/>
            <a:lstStyle/>
            <a:p>
              <a:endParaRPr lang="en-US"/>
            </a:p>
          </p:txBody>
        </p:sp>
        <p:sp>
          <p:nvSpPr>
            <p:cNvPr id="11" name="Text 9"/>
            <p:cNvSpPr/>
            <p:nvPr/>
          </p:nvSpPr>
          <p:spPr>
            <a:xfrm>
              <a:off x="10502384" y="2665928"/>
              <a:ext cx="278249" cy="347901"/>
            </a:xfrm>
            <a:prstGeom prst="rect">
              <a:avLst/>
            </a:prstGeom>
            <a:noFill/>
            <a:ln/>
          </p:spPr>
          <p:txBody>
            <a:bodyPr wrap="none" lIns="0" tIns="0" rIns="0" bIns="0" rtlCol="0" anchor="t"/>
            <a:lstStyle/>
            <a:p>
              <a:pPr marL="0" indent="0" algn="l">
                <a:lnSpc>
                  <a:spcPts val="2150"/>
                </a:lnSpc>
                <a:buNone/>
              </a:pPr>
              <a:r>
                <a:rPr lang="en-US" sz="2150" b="1" dirty="0">
                  <a:solidFill>
                    <a:srgbClr val="E2E6E9"/>
                  </a:solidFill>
                  <a:latin typeface="Montserrat Bold" pitchFamily="34" charset="0"/>
                  <a:ea typeface="Montserrat Bold" pitchFamily="34" charset="-122"/>
                  <a:cs typeface="Montserrat Bold" pitchFamily="34" charset="-120"/>
                </a:rPr>
                <a:t>2</a:t>
              </a:r>
              <a:endParaRPr lang="en-US" sz="2150" dirty="0"/>
            </a:p>
          </p:txBody>
        </p:sp>
        <p:sp>
          <p:nvSpPr>
            <p:cNvPr id="12" name="Text 10"/>
            <p:cNvSpPr/>
            <p:nvPr/>
          </p:nvSpPr>
          <p:spPr>
            <a:xfrm>
              <a:off x="7603212" y="3277672"/>
              <a:ext cx="3125391" cy="263485"/>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Növlərə Görə Fərqləndirmək</a:t>
              </a:r>
              <a:endParaRPr lang="en-US" sz="1650" dirty="0"/>
            </a:p>
          </p:txBody>
        </p:sp>
        <p:sp>
          <p:nvSpPr>
            <p:cNvPr id="13" name="Text 11"/>
            <p:cNvSpPr/>
            <p:nvPr/>
          </p:nvSpPr>
          <p:spPr>
            <a:xfrm>
              <a:off x="7603212" y="3636764"/>
              <a:ext cx="6076593" cy="517446"/>
            </a:xfrm>
            <a:prstGeom prst="rect">
              <a:avLst/>
            </a:prstGeom>
            <a:noFill/>
            <a:ln/>
          </p:spPr>
          <p:txBody>
            <a:bodyPr wrap="square" lIns="0" tIns="0" rIns="0" bIns="0" rtlCol="0" anchor="t"/>
            <a:lstStyle/>
            <a:p>
              <a:pPr marL="0" indent="0" algn="l">
                <a:lnSpc>
                  <a:spcPts val="2000"/>
                </a:lnSpc>
                <a:buNone/>
              </a:pPr>
              <a:r>
                <a:rPr lang="en-US" sz="1450" dirty="0">
                  <a:solidFill>
                    <a:srgbClr val="E2E6E9"/>
                  </a:solidFill>
                  <a:latin typeface="Source Sans 3" pitchFamily="34" charset="0"/>
                  <a:ea typeface="Source Sans 3" pitchFamily="34" charset="-122"/>
                  <a:cs typeface="Source Sans 3" pitchFamily="34" charset="-120"/>
                </a:rPr>
                <a:t>İnkremental, radikal və disruptiv innovasiya növlərini real dünya nümunələri ilə müqayisə edə biləcəksiniz.</a:t>
              </a:r>
              <a:endParaRPr lang="en-US" sz="1450" dirty="0"/>
            </a:p>
          </p:txBody>
        </p:sp>
        <p:sp>
          <p:nvSpPr>
            <p:cNvPr id="14" name="Shape 12"/>
            <p:cNvSpPr/>
            <p:nvPr/>
          </p:nvSpPr>
          <p:spPr>
            <a:xfrm>
              <a:off x="742236" y="4521994"/>
              <a:ext cx="6493193" cy="1823799"/>
            </a:xfrm>
            <a:prstGeom prst="roundRect">
              <a:avLst>
                <a:gd name="adj" fmla="val 1526"/>
              </a:avLst>
            </a:prstGeom>
            <a:solidFill>
              <a:srgbClr val="111213"/>
            </a:solidFill>
            <a:ln w="22860">
              <a:solidFill>
                <a:srgbClr val="494A4B"/>
              </a:solidFill>
              <a:prstDash val="solid"/>
            </a:ln>
          </p:spPr>
          <p:txBody>
            <a:bodyPr/>
            <a:lstStyle/>
            <a:p>
              <a:endParaRPr lang="en-US"/>
            </a:p>
          </p:txBody>
        </p:sp>
        <p:sp>
          <p:nvSpPr>
            <p:cNvPr id="15" name="Shape 13"/>
            <p:cNvSpPr/>
            <p:nvPr/>
          </p:nvSpPr>
          <p:spPr>
            <a:xfrm>
              <a:off x="765096" y="4544854"/>
              <a:ext cx="6447473" cy="556617"/>
            </a:xfrm>
            <a:prstGeom prst="roundRect">
              <a:avLst>
                <a:gd name="adj" fmla="val 72"/>
              </a:avLst>
            </a:prstGeom>
            <a:solidFill>
              <a:srgbClr val="303132"/>
            </a:solidFill>
            <a:ln/>
          </p:spPr>
          <p:txBody>
            <a:bodyPr/>
            <a:lstStyle/>
            <a:p>
              <a:endParaRPr lang="en-US"/>
            </a:p>
          </p:txBody>
        </p:sp>
        <p:sp>
          <p:nvSpPr>
            <p:cNvPr id="16" name="Text 14"/>
            <p:cNvSpPr/>
            <p:nvPr/>
          </p:nvSpPr>
          <p:spPr>
            <a:xfrm>
              <a:off x="3849648" y="4649153"/>
              <a:ext cx="278249" cy="347901"/>
            </a:xfrm>
            <a:prstGeom prst="rect">
              <a:avLst/>
            </a:prstGeom>
            <a:noFill/>
            <a:ln/>
          </p:spPr>
          <p:txBody>
            <a:bodyPr wrap="none" lIns="0" tIns="0" rIns="0" bIns="0" rtlCol="0" anchor="t"/>
            <a:lstStyle/>
            <a:p>
              <a:pPr marL="0" indent="0" algn="l">
                <a:lnSpc>
                  <a:spcPts val="2150"/>
                </a:lnSpc>
                <a:buNone/>
              </a:pPr>
              <a:r>
                <a:rPr lang="en-US" sz="2150" b="1" dirty="0">
                  <a:solidFill>
                    <a:srgbClr val="E2E6E9"/>
                  </a:solidFill>
                  <a:latin typeface="Montserrat Bold" pitchFamily="34" charset="0"/>
                  <a:ea typeface="Montserrat Bold" pitchFamily="34" charset="-122"/>
                  <a:cs typeface="Montserrat Bold" pitchFamily="34" charset="-120"/>
                </a:rPr>
                <a:t>3</a:t>
              </a:r>
              <a:endParaRPr lang="en-US" sz="2150" dirty="0"/>
            </a:p>
          </p:txBody>
        </p:sp>
        <p:sp>
          <p:nvSpPr>
            <p:cNvPr id="17" name="Text 15"/>
            <p:cNvSpPr/>
            <p:nvPr/>
          </p:nvSpPr>
          <p:spPr>
            <a:xfrm>
              <a:off x="950595" y="5260896"/>
              <a:ext cx="2812971" cy="263485"/>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SI Alətlərini Tətbiq Etmək</a:t>
              </a:r>
              <a:endParaRPr lang="en-US" sz="1650" dirty="0"/>
            </a:p>
          </p:txBody>
        </p:sp>
        <p:sp>
          <p:nvSpPr>
            <p:cNvPr id="18" name="Text 16"/>
            <p:cNvSpPr/>
            <p:nvPr/>
          </p:nvSpPr>
          <p:spPr>
            <a:xfrm>
              <a:off x="950595" y="5619988"/>
              <a:ext cx="6076474" cy="517446"/>
            </a:xfrm>
            <a:prstGeom prst="rect">
              <a:avLst/>
            </a:prstGeom>
            <a:noFill/>
            <a:ln/>
          </p:spPr>
          <p:txBody>
            <a:bodyPr wrap="square" lIns="0" tIns="0" rIns="0" bIns="0" rtlCol="0" anchor="t"/>
            <a:lstStyle/>
            <a:p>
              <a:pPr marL="0" indent="0" algn="l">
                <a:lnSpc>
                  <a:spcPts val="2000"/>
                </a:lnSpc>
                <a:buNone/>
              </a:pPr>
              <a:r>
                <a:rPr lang="en-US" sz="1450" dirty="0">
                  <a:solidFill>
                    <a:srgbClr val="E2E6E9"/>
                  </a:solidFill>
                  <a:latin typeface="Source Sans 3" pitchFamily="34" charset="0"/>
                  <a:ea typeface="Source Sans 3" pitchFamily="34" charset="-122"/>
                  <a:cs typeface="Source Sans 3" pitchFamily="34" charset="-120"/>
                </a:rPr>
                <a:t>Generativ SI, məlumat analitikası və maşın öyrənməsinin innovasiya portfelinə necə inteqrasiya olunduğunu praktik olaraq göstərə biləcəksiniz.</a:t>
              </a:r>
              <a:endParaRPr lang="en-US" sz="1450" dirty="0"/>
            </a:p>
          </p:txBody>
        </p:sp>
        <p:sp>
          <p:nvSpPr>
            <p:cNvPr id="19" name="Shape 17"/>
            <p:cNvSpPr/>
            <p:nvPr/>
          </p:nvSpPr>
          <p:spPr>
            <a:xfrm>
              <a:off x="7394853" y="4521994"/>
              <a:ext cx="6493312" cy="1823799"/>
            </a:xfrm>
            <a:prstGeom prst="roundRect">
              <a:avLst>
                <a:gd name="adj" fmla="val 1526"/>
              </a:avLst>
            </a:prstGeom>
            <a:solidFill>
              <a:srgbClr val="111213"/>
            </a:solidFill>
            <a:ln w="22860">
              <a:solidFill>
                <a:srgbClr val="494A4B"/>
              </a:solidFill>
              <a:prstDash val="solid"/>
            </a:ln>
          </p:spPr>
          <p:txBody>
            <a:bodyPr/>
            <a:lstStyle/>
            <a:p>
              <a:endParaRPr lang="en-US"/>
            </a:p>
          </p:txBody>
        </p:sp>
        <p:sp>
          <p:nvSpPr>
            <p:cNvPr id="20" name="Shape 18"/>
            <p:cNvSpPr/>
            <p:nvPr/>
          </p:nvSpPr>
          <p:spPr>
            <a:xfrm>
              <a:off x="7417713" y="4544854"/>
              <a:ext cx="6447592" cy="556617"/>
            </a:xfrm>
            <a:prstGeom prst="roundRect">
              <a:avLst>
                <a:gd name="adj" fmla="val 72"/>
              </a:avLst>
            </a:prstGeom>
            <a:solidFill>
              <a:srgbClr val="303132"/>
            </a:solidFill>
            <a:ln/>
          </p:spPr>
          <p:txBody>
            <a:bodyPr/>
            <a:lstStyle/>
            <a:p>
              <a:endParaRPr lang="en-US"/>
            </a:p>
          </p:txBody>
        </p:sp>
        <p:sp>
          <p:nvSpPr>
            <p:cNvPr id="21" name="Text 19"/>
            <p:cNvSpPr/>
            <p:nvPr/>
          </p:nvSpPr>
          <p:spPr>
            <a:xfrm>
              <a:off x="10502384" y="4649153"/>
              <a:ext cx="278249" cy="347901"/>
            </a:xfrm>
            <a:prstGeom prst="rect">
              <a:avLst/>
            </a:prstGeom>
            <a:noFill/>
            <a:ln/>
          </p:spPr>
          <p:txBody>
            <a:bodyPr wrap="none" lIns="0" tIns="0" rIns="0" bIns="0" rtlCol="0" anchor="t"/>
            <a:lstStyle/>
            <a:p>
              <a:pPr marL="0" indent="0" algn="l">
                <a:lnSpc>
                  <a:spcPts val="2150"/>
                </a:lnSpc>
                <a:buNone/>
              </a:pPr>
              <a:r>
                <a:rPr lang="en-US" sz="2150" b="1" dirty="0">
                  <a:solidFill>
                    <a:srgbClr val="E2E6E9"/>
                  </a:solidFill>
                  <a:latin typeface="Montserrat Bold" pitchFamily="34" charset="0"/>
                  <a:ea typeface="Montserrat Bold" pitchFamily="34" charset="-122"/>
                  <a:cs typeface="Montserrat Bold" pitchFamily="34" charset="-120"/>
                </a:rPr>
                <a:t>4</a:t>
              </a:r>
              <a:endParaRPr lang="en-US" sz="2150" dirty="0"/>
            </a:p>
          </p:txBody>
        </p:sp>
        <p:sp>
          <p:nvSpPr>
            <p:cNvPr id="22" name="Text 20"/>
            <p:cNvSpPr/>
            <p:nvPr/>
          </p:nvSpPr>
          <p:spPr>
            <a:xfrm>
              <a:off x="7603212" y="5260896"/>
              <a:ext cx="2826782" cy="263485"/>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Riskləri Qiymətləndirmək</a:t>
              </a:r>
              <a:endParaRPr lang="en-US" sz="1650" dirty="0"/>
            </a:p>
          </p:txBody>
        </p:sp>
        <p:sp>
          <p:nvSpPr>
            <p:cNvPr id="23" name="Text 21"/>
            <p:cNvSpPr/>
            <p:nvPr/>
          </p:nvSpPr>
          <p:spPr>
            <a:xfrm>
              <a:off x="7603212" y="5619988"/>
              <a:ext cx="6076593" cy="517446"/>
            </a:xfrm>
            <a:prstGeom prst="rect">
              <a:avLst/>
            </a:prstGeom>
            <a:noFill/>
            <a:ln/>
          </p:spPr>
          <p:txBody>
            <a:bodyPr wrap="square" lIns="0" tIns="0" rIns="0" bIns="0" rtlCol="0" anchor="t"/>
            <a:lstStyle/>
            <a:p>
              <a:pPr marL="0" indent="0" algn="l">
                <a:lnSpc>
                  <a:spcPts val="2000"/>
                </a:lnSpc>
                <a:buNone/>
              </a:pPr>
              <a:r>
                <a:rPr lang="en-US" sz="1450" dirty="0">
                  <a:solidFill>
                    <a:srgbClr val="E2E6E9"/>
                  </a:solidFill>
                  <a:latin typeface="Source Sans 3" pitchFamily="34" charset="0"/>
                  <a:ea typeface="Source Sans 3" pitchFamily="34" charset="-122"/>
                  <a:cs typeface="Source Sans 3" pitchFamily="34" charset="-120"/>
                </a:rPr>
                <a:t>SI əsaslı innovasiyada etik məsələlər, məlumatların qorunması və alqoritmik qərəz kimi əsas risk amillərini analiz edə biləcəksiniz.</a:t>
              </a:r>
              <a:endParaRPr lang="en-US" sz="1450" dirty="0"/>
            </a:p>
          </p:txBody>
        </p:sp>
        <p:sp>
          <p:nvSpPr>
            <p:cNvPr id="24" name="Shape 22"/>
            <p:cNvSpPr/>
            <p:nvPr/>
          </p:nvSpPr>
          <p:spPr>
            <a:xfrm>
              <a:off x="742236" y="6525101"/>
              <a:ext cx="13145929" cy="708303"/>
            </a:xfrm>
            <a:prstGeom prst="roundRect">
              <a:avLst>
                <a:gd name="adj" fmla="val 3930"/>
              </a:avLst>
            </a:prstGeom>
            <a:solidFill>
              <a:srgbClr val="262626"/>
            </a:solidFill>
            <a:ln/>
          </p:spPr>
          <p:txBody>
            <a:bodyPr/>
            <a:lstStyle/>
            <a:p>
              <a:endParaRPr lang="en-US"/>
            </a:p>
          </p:txBody>
        </p:sp>
        <p:pic>
          <p:nvPicPr>
            <p:cNvPr id="25" name="Image 0" descr="preencoded.png"/>
            <p:cNvPicPr>
              <a:picLocks noChangeAspect="1"/>
            </p:cNvPicPr>
            <p:nvPr/>
          </p:nvPicPr>
          <p:blipFill>
            <a:blip r:embed="rId3"/>
            <a:stretch>
              <a:fillRect/>
            </a:stretch>
          </p:blipFill>
          <p:spPr>
            <a:xfrm>
              <a:off x="927735" y="6777395"/>
              <a:ext cx="231934" cy="185499"/>
            </a:xfrm>
            <a:prstGeom prst="rect">
              <a:avLst/>
            </a:prstGeom>
          </p:spPr>
        </p:pic>
        <p:sp>
          <p:nvSpPr>
            <p:cNvPr id="26" name="Text 23"/>
            <p:cNvSpPr/>
            <p:nvPr/>
          </p:nvSpPr>
          <p:spPr>
            <a:xfrm>
              <a:off x="1345168" y="6730841"/>
              <a:ext cx="12357497" cy="266343"/>
            </a:xfrm>
            <a:prstGeom prst="rect">
              <a:avLst/>
            </a:prstGeom>
            <a:noFill/>
            <a:ln/>
          </p:spPr>
          <p:txBody>
            <a:bodyPr wrap="none" lIns="0" tIns="0" rIns="0" bIns="0" rtlCol="0" anchor="t"/>
            <a:lstStyle/>
            <a:p>
              <a:pPr marL="0" indent="0" algn="l">
                <a:lnSpc>
                  <a:spcPts val="2000"/>
                </a:lnSpc>
                <a:buNone/>
              </a:pPr>
              <a:r>
                <a:rPr lang="en-US" sz="1450" dirty="0">
                  <a:solidFill>
                    <a:srgbClr val="000000"/>
                  </a:solidFill>
                  <a:latin typeface="Source Sans 3" pitchFamily="34" charset="0"/>
                  <a:ea typeface="Source Sans 3" pitchFamily="34" charset="-122"/>
                  <a:cs typeface="Source Sans 3" pitchFamily="34" charset="-120"/>
                </a:rPr>
                <a:t>🎯</a:t>
              </a:r>
              <a:r>
                <a:rPr lang="en-US" sz="1450" dirty="0">
                  <a:solidFill>
                    <a:srgbClr val="FFFFFF"/>
                  </a:solidFill>
                  <a:latin typeface="Source Sans 3" pitchFamily="34" charset="0"/>
                  <a:ea typeface="Source Sans 3" pitchFamily="34" charset="-122"/>
                  <a:cs typeface="Source Sans 3" pitchFamily="34" charset="-120"/>
                </a:rPr>
                <a:t> </a:t>
              </a:r>
              <a:r>
                <a:rPr lang="en-US" sz="1450" b="1" dirty="0">
                  <a:solidFill>
                    <a:srgbClr val="FFFFFF"/>
                  </a:solidFill>
                  <a:latin typeface="Source Sans 3" pitchFamily="34" charset="0"/>
                  <a:ea typeface="Source Sans 3" pitchFamily="34" charset="-122"/>
                  <a:cs typeface="Source Sans 3" pitchFamily="34" charset="-120"/>
                </a:rPr>
                <a:t>Əsas Sual:</a:t>
              </a:r>
              <a:r>
                <a:rPr lang="en-US" sz="1450" dirty="0">
                  <a:solidFill>
                    <a:srgbClr val="FFFFFF"/>
                  </a:solidFill>
                  <a:latin typeface="Source Sans 3" pitchFamily="34" charset="0"/>
                  <a:ea typeface="Source Sans 3" pitchFamily="34" charset="-122"/>
                  <a:cs typeface="Source Sans 3" pitchFamily="34" charset="-120"/>
                </a:rPr>
                <a:t> "Bu gün biz SI-nin innovasiyaların sürətləndirilməsinə necə kömək etdiyini araşdıracağıq — ideyanın doğulmasından bazara çıxışa qədər."</a:t>
              </a:r>
              <a:endParaRPr lang="en-US" sz="14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02F1883A-8059-A332-3FB9-E55B99DC594D}"/>
              </a:ext>
            </a:extLst>
          </p:cNvPr>
          <p:cNvGrpSpPr/>
          <p:nvPr/>
        </p:nvGrpSpPr>
        <p:grpSpPr>
          <a:xfrm>
            <a:off x="369870" y="359596"/>
            <a:ext cx="13859838" cy="7500133"/>
            <a:chOff x="863798" y="769501"/>
            <a:chExt cx="13065919" cy="6690479"/>
          </a:xfrm>
        </p:grpSpPr>
        <p:sp>
          <p:nvSpPr>
            <p:cNvPr id="2" name="Text 0"/>
            <p:cNvSpPr/>
            <p:nvPr/>
          </p:nvSpPr>
          <p:spPr>
            <a:xfrm>
              <a:off x="863798" y="769501"/>
              <a:ext cx="4908471" cy="613529"/>
            </a:xfrm>
            <a:prstGeom prst="rect">
              <a:avLst/>
            </a:prstGeom>
            <a:noFill/>
            <a:ln/>
          </p:spPr>
          <p:txBody>
            <a:bodyPr wrap="none" lIns="0" tIns="0" rIns="0" bIns="0" rtlCol="0" anchor="t"/>
            <a:lstStyle/>
            <a:p>
              <a:pPr marL="0" indent="0" algn="l">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İnnovasiya Nədir?</a:t>
              </a:r>
              <a:endParaRPr lang="en-US" sz="3850" dirty="0"/>
            </a:p>
          </p:txBody>
        </p:sp>
        <p:sp>
          <p:nvSpPr>
            <p:cNvPr id="3" name="Text 1"/>
            <p:cNvSpPr/>
            <p:nvPr/>
          </p:nvSpPr>
          <p:spPr>
            <a:xfrm>
              <a:off x="863798" y="1922740"/>
              <a:ext cx="2454235" cy="306705"/>
            </a:xfrm>
            <a:prstGeom prst="rect">
              <a:avLst/>
            </a:prstGeom>
            <a:noFill/>
            <a:ln/>
          </p:spPr>
          <p:txBody>
            <a:bodyPr wrap="none" lIns="0" tIns="0" rIns="0" bIns="0" rtlCol="0" anchor="t"/>
            <a:lstStyle/>
            <a:p>
              <a:pPr marL="0" indent="0" algn="l">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Rəsmi Tərif</a:t>
              </a:r>
              <a:endParaRPr lang="en-US" sz="1900" dirty="0"/>
            </a:p>
          </p:txBody>
        </p:sp>
        <p:sp>
          <p:nvSpPr>
            <p:cNvPr id="4" name="Text 2"/>
            <p:cNvSpPr/>
            <p:nvPr/>
          </p:nvSpPr>
          <p:spPr>
            <a:xfrm>
              <a:off x="863798" y="2445306"/>
              <a:ext cx="6859310" cy="1295876"/>
            </a:xfrm>
            <a:prstGeom prst="rect">
              <a:avLst/>
            </a:prstGeom>
            <a:noFill/>
            <a:ln/>
          </p:spPr>
          <p:txBody>
            <a:bodyPr wrap="squar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İnnovasiya — </a:t>
              </a:r>
              <a:r>
                <a:rPr lang="en-US" sz="1700" b="1" dirty="0">
                  <a:solidFill>
                    <a:srgbClr val="E2E6E9"/>
                  </a:solidFill>
                  <a:latin typeface="Source Sans 3" pitchFamily="34" charset="0"/>
                  <a:ea typeface="Source Sans 3" pitchFamily="34" charset="-122"/>
                  <a:cs typeface="Source Sans 3" pitchFamily="34" charset="-120"/>
                </a:rPr>
                <a:t>dəyər yaradan və praktik tətbiqi olan yeni həll</a:t>
              </a:r>
              <a:r>
                <a:rPr lang="en-US" sz="1700" dirty="0">
                  <a:solidFill>
                    <a:srgbClr val="E2E6E9"/>
                  </a:solidFill>
                  <a:latin typeface="Source Sans 3" pitchFamily="34" charset="0"/>
                  <a:ea typeface="Source Sans 3" pitchFamily="34" charset="-122"/>
                  <a:cs typeface="Source Sans 3" pitchFamily="34" charset="-120"/>
                </a:rPr>
                <a:t>dir. Bu tərif üç mühüm elementi özündə birləşdirir: </a:t>
              </a:r>
              <a:r>
                <a:rPr lang="en-US" sz="1700" b="1" dirty="0">
                  <a:solidFill>
                    <a:srgbClr val="E2E6E9"/>
                  </a:solidFill>
                  <a:latin typeface="Source Sans 3" pitchFamily="34" charset="0"/>
                  <a:ea typeface="Source Sans 3" pitchFamily="34" charset="-122"/>
                  <a:cs typeface="Source Sans 3" pitchFamily="34" charset="-120"/>
                </a:rPr>
                <a:t>yenilik</a:t>
              </a:r>
              <a:r>
                <a:rPr lang="en-US" sz="1700" dirty="0">
                  <a:solidFill>
                    <a:srgbClr val="E2E6E9"/>
                  </a:solidFill>
                  <a:latin typeface="Source Sans 3" pitchFamily="34" charset="0"/>
                  <a:ea typeface="Source Sans 3" pitchFamily="34" charset="-122"/>
                  <a:cs typeface="Source Sans 3" pitchFamily="34" charset="-120"/>
                </a:rPr>
                <a:t> (mövcud olmayanın yaradılması və ya köklü dəyişdirilməsi), </a:t>
              </a:r>
              <a:r>
                <a:rPr lang="en-US" sz="1700" b="1" dirty="0">
                  <a:solidFill>
                    <a:srgbClr val="E2E6E9"/>
                  </a:solidFill>
                  <a:latin typeface="Source Sans 3" pitchFamily="34" charset="0"/>
                  <a:ea typeface="Source Sans 3" pitchFamily="34" charset="-122"/>
                  <a:cs typeface="Source Sans 3" pitchFamily="34" charset="-120"/>
                </a:rPr>
                <a:t>dəyər</a:t>
              </a:r>
              <a:r>
                <a:rPr lang="en-US" sz="1700" dirty="0">
                  <a:solidFill>
                    <a:srgbClr val="E2E6E9"/>
                  </a:solidFill>
                  <a:latin typeface="Source Sans 3" pitchFamily="34" charset="0"/>
                  <a:ea typeface="Source Sans 3" pitchFamily="34" charset="-122"/>
                  <a:cs typeface="Source Sans 3" pitchFamily="34" charset="-120"/>
                </a:rPr>
                <a:t> (müştəri, cəmiyyət və ya biznes üçün real fayda) və </a:t>
              </a:r>
              <a:r>
                <a:rPr lang="en-US" sz="1700" b="1" dirty="0">
                  <a:solidFill>
                    <a:srgbClr val="E2E6E9"/>
                  </a:solidFill>
                  <a:latin typeface="Source Sans 3" pitchFamily="34" charset="0"/>
                  <a:ea typeface="Source Sans 3" pitchFamily="34" charset="-122"/>
                  <a:cs typeface="Source Sans 3" pitchFamily="34" charset="-120"/>
                </a:rPr>
                <a:t>tətbiqolunma qabiliyyəti</a:t>
              </a:r>
              <a:r>
                <a:rPr lang="en-US" sz="1700" dirty="0">
                  <a:solidFill>
                    <a:srgbClr val="E2E6E9"/>
                  </a:solidFill>
                  <a:latin typeface="Source Sans 3" pitchFamily="34" charset="0"/>
                  <a:ea typeface="Source Sans 3" pitchFamily="34" charset="-122"/>
                  <a:cs typeface="Source Sans 3" pitchFamily="34" charset="-120"/>
                </a:rPr>
                <a:t> (ideyadan praktikaya keçid).</a:t>
              </a:r>
              <a:endParaRPr lang="en-US" sz="1700" dirty="0"/>
            </a:p>
          </p:txBody>
        </p:sp>
        <p:sp>
          <p:nvSpPr>
            <p:cNvPr id="5" name="Text 3"/>
            <p:cNvSpPr/>
            <p:nvPr/>
          </p:nvSpPr>
          <p:spPr>
            <a:xfrm>
              <a:off x="863798" y="3935492"/>
              <a:ext cx="6859310" cy="1619845"/>
            </a:xfrm>
            <a:prstGeom prst="rect">
              <a:avLst/>
            </a:prstGeom>
            <a:noFill/>
            <a:ln/>
          </p:spPr>
          <p:txBody>
            <a:bodyPr wrap="squar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Sadəcə yeni bir ideya düşünmək innovasiya deyil. İdeya bazara çatmadıqca, müştəri problemini həll etmədikçə və ya təşkilata iqtisadi/sosial dəyər gətirmədikçə, o, yalnız bir konsepsiya olaraq qalır. Schumpeter innovasiyanı "yaradıcı məhvetmə" adlandırırdı — köhnə strukturlar yenilərinin yolunu açmaq üçün dağılır.</a:t>
              </a:r>
              <a:endParaRPr lang="en-US" sz="1700" dirty="0"/>
            </a:p>
          </p:txBody>
        </p:sp>
        <p:sp>
          <p:nvSpPr>
            <p:cNvPr id="6" name="Text 4"/>
            <p:cNvSpPr/>
            <p:nvPr/>
          </p:nvSpPr>
          <p:spPr>
            <a:xfrm>
              <a:off x="863798" y="5771198"/>
              <a:ext cx="2454235" cy="306705"/>
            </a:xfrm>
            <a:prstGeom prst="rect">
              <a:avLst/>
            </a:prstGeom>
            <a:noFill/>
            <a:ln/>
          </p:spPr>
          <p:txBody>
            <a:bodyPr wrap="none" lIns="0" tIns="0" rIns="0" bIns="0" rtlCol="0" anchor="t"/>
            <a:lstStyle/>
            <a:p>
              <a:pPr marL="0" indent="0" algn="l">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İcad vs. İnnovasiya</a:t>
              </a:r>
              <a:endParaRPr lang="en-US" sz="1900" dirty="0"/>
            </a:p>
          </p:txBody>
        </p:sp>
        <p:sp>
          <p:nvSpPr>
            <p:cNvPr id="7" name="Text 5"/>
            <p:cNvSpPr/>
            <p:nvPr/>
          </p:nvSpPr>
          <p:spPr>
            <a:xfrm>
              <a:off x="863798" y="6293763"/>
              <a:ext cx="6859310" cy="971907"/>
            </a:xfrm>
            <a:prstGeom prst="rect">
              <a:avLst/>
            </a:prstGeom>
            <a:noFill/>
            <a:ln/>
          </p:spPr>
          <p:txBody>
            <a:bodyPr wrap="squar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İcad texniki bir nailiyyətdir; innovasiya isə həmin nailiyyətin bazar dəyərinə çevrilməsidir. Elektrik mühərriki icad idi — elektrikli avtomobillər innovasiya oldu.</a:t>
              </a:r>
              <a:endParaRPr lang="en-US" sz="1700" dirty="0"/>
            </a:p>
          </p:txBody>
        </p:sp>
        <p:sp>
          <p:nvSpPr>
            <p:cNvPr id="8" name="Shape 6"/>
            <p:cNvSpPr/>
            <p:nvPr/>
          </p:nvSpPr>
          <p:spPr>
            <a:xfrm>
              <a:off x="8102084" y="1706880"/>
              <a:ext cx="5827633" cy="5753100"/>
            </a:xfrm>
            <a:prstGeom prst="roundRect">
              <a:avLst>
                <a:gd name="adj" fmla="val 563"/>
              </a:avLst>
            </a:prstGeom>
            <a:solidFill>
              <a:srgbClr val="1D1F22"/>
            </a:solidFill>
            <a:ln/>
          </p:spPr>
          <p:txBody>
            <a:bodyPr/>
            <a:lstStyle/>
            <a:p>
              <a:endParaRPr lang="en-US"/>
            </a:p>
          </p:txBody>
        </p:sp>
        <p:sp>
          <p:nvSpPr>
            <p:cNvPr id="9" name="Text 7"/>
            <p:cNvSpPr/>
            <p:nvPr/>
          </p:nvSpPr>
          <p:spPr>
            <a:xfrm>
              <a:off x="8317944" y="1922740"/>
              <a:ext cx="2664619" cy="306705"/>
            </a:xfrm>
            <a:prstGeom prst="rect">
              <a:avLst/>
            </a:prstGeom>
            <a:noFill/>
            <a:ln/>
          </p:spPr>
          <p:txBody>
            <a:bodyPr wrap="none" lIns="0" tIns="0" rIns="0" bIns="0" rtlCol="0" anchor="t"/>
            <a:lstStyle/>
            <a:p>
              <a:pPr marL="0" indent="0" algn="l">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İnnovasiyanın 3 Şərti</a:t>
              </a:r>
              <a:endParaRPr lang="en-US" sz="1900" dirty="0"/>
            </a:p>
          </p:txBody>
        </p:sp>
        <p:sp>
          <p:nvSpPr>
            <p:cNvPr id="10" name="Shape 8"/>
            <p:cNvSpPr/>
            <p:nvPr/>
          </p:nvSpPr>
          <p:spPr>
            <a:xfrm>
              <a:off x="8317944" y="2472333"/>
              <a:ext cx="485894" cy="485894"/>
            </a:xfrm>
            <a:prstGeom prst="roundRect">
              <a:avLst>
                <a:gd name="adj" fmla="val 6667"/>
              </a:avLst>
            </a:prstGeom>
            <a:solidFill>
              <a:srgbClr val="303132"/>
            </a:solidFill>
            <a:ln/>
          </p:spPr>
          <p:txBody>
            <a:bodyPr/>
            <a:lstStyle/>
            <a:p>
              <a:endParaRPr lang="en-US"/>
            </a:p>
          </p:txBody>
        </p:sp>
        <p:sp>
          <p:nvSpPr>
            <p:cNvPr id="11" name="Text 9"/>
            <p:cNvSpPr/>
            <p:nvPr/>
          </p:nvSpPr>
          <p:spPr>
            <a:xfrm>
              <a:off x="8413611" y="2531150"/>
              <a:ext cx="294442" cy="368141"/>
            </a:xfrm>
            <a:prstGeom prst="rect">
              <a:avLst/>
            </a:prstGeom>
            <a:noFill/>
            <a:ln/>
          </p:spPr>
          <p:txBody>
            <a:bodyPr wrap="none" lIns="0" tIns="0" rIns="0" bIns="0" rtlCol="0" anchor="t"/>
            <a:lstStyle/>
            <a:p>
              <a:pPr marL="0" indent="0" algn="ctr">
                <a:lnSpc>
                  <a:spcPts val="2300"/>
                </a:lnSpc>
                <a:buNone/>
              </a:pPr>
              <a:r>
                <a:rPr lang="en-US" sz="2300" b="1" dirty="0">
                  <a:solidFill>
                    <a:srgbClr val="E2E6E9"/>
                  </a:solidFill>
                  <a:latin typeface="Montserrat Bold" pitchFamily="34" charset="0"/>
                  <a:ea typeface="Montserrat Bold" pitchFamily="34" charset="-122"/>
                  <a:cs typeface="Montserrat Bold" pitchFamily="34" charset="-120"/>
                </a:rPr>
                <a:t>1</a:t>
              </a:r>
              <a:endParaRPr lang="en-US" sz="2300" dirty="0"/>
            </a:p>
          </p:txBody>
        </p:sp>
        <p:sp>
          <p:nvSpPr>
            <p:cNvPr id="12" name="Text 10"/>
            <p:cNvSpPr/>
            <p:nvPr/>
          </p:nvSpPr>
          <p:spPr>
            <a:xfrm>
              <a:off x="9019699" y="2546509"/>
              <a:ext cx="2454235" cy="306705"/>
            </a:xfrm>
            <a:prstGeom prst="rect">
              <a:avLst/>
            </a:prstGeom>
            <a:noFill/>
            <a:ln/>
          </p:spPr>
          <p:txBody>
            <a:bodyPr wrap="none" lIns="0" tIns="0" rIns="0" bIns="0" rtlCol="0" anchor="t"/>
            <a:lstStyle/>
            <a:p>
              <a:pPr marL="0" indent="0" algn="l">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Yenilik</a:t>
              </a:r>
              <a:endParaRPr lang="en-US" sz="1900" dirty="0"/>
            </a:p>
          </p:txBody>
        </p:sp>
        <p:sp>
          <p:nvSpPr>
            <p:cNvPr id="13" name="Text 11"/>
            <p:cNvSpPr/>
            <p:nvPr/>
          </p:nvSpPr>
          <p:spPr>
            <a:xfrm>
              <a:off x="9019699" y="3069074"/>
              <a:ext cx="4694158" cy="647938"/>
            </a:xfrm>
            <a:prstGeom prst="rect">
              <a:avLst/>
            </a:prstGeom>
            <a:noFill/>
            <a:ln/>
          </p:spPr>
          <p:txBody>
            <a:bodyPr wrap="squar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Mövcud həlldən fərqlənən, orijinal bir yanaşma olmalıdır.</a:t>
              </a:r>
              <a:endParaRPr lang="en-US" sz="1700" dirty="0"/>
            </a:p>
          </p:txBody>
        </p:sp>
        <p:sp>
          <p:nvSpPr>
            <p:cNvPr id="14" name="Shape 12"/>
            <p:cNvSpPr/>
            <p:nvPr/>
          </p:nvSpPr>
          <p:spPr>
            <a:xfrm>
              <a:off x="8317944" y="4148852"/>
              <a:ext cx="485894" cy="485894"/>
            </a:xfrm>
            <a:prstGeom prst="roundRect">
              <a:avLst>
                <a:gd name="adj" fmla="val 6667"/>
              </a:avLst>
            </a:prstGeom>
            <a:solidFill>
              <a:srgbClr val="303132"/>
            </a:solidFill>
            <a:ln/>
          </p:spPr>
          <p:txBody>
            <a:bodyPr/>
            <a:lstStyle/>
            <a:p>
              <a:endParaRPr lang="en-US"/>
            </a:p>
          </p:txBody>
        </p:sp>
        <p:sp>
          <p:nvSpPr>
            <p:cNvPr id="15" name="Text 13"/>
            <p:cNvSpPr/>
            <p:nvPr/>
          </p:nvSpPr>
          <p:spPr>
            <a:xfrm>
              <a:off x="8413611" y="4207669"/>
              <a:ext cx="294442" cy="368141"/>
            </a:xfrm>
            <a:prstGeom prst="rect">
              <a:avLst/>
            </a:prstGeom>
            <a:noFill/>
            <a:ln/>
          </p:spPr>
          <p:txBody>
            <a:bodyPr wrap="none" lIns="0" tIns="0" rIns="0" bIns="0" rtlCol="0" anchor="t"/>
            <a:lstStyle/>
            <a:p>
              <a:pPr marL="0" indent="0" algn="ctr">
                <a:lnSpc>
                  <a:spcPts val="2300"/>
                </a:lnSpc>
                <a:buNone/>
              </a:pPr>
              <a:r>
                <a:rPr lang="en-US" sz="2300" b="1" dirty="0">
                  <a:solidFill>
                    <a:srgbClr val="E2E6E9"/>
                  </a:solidFill>
                  <a:latin typeface="Montserrat Bold" pitchFamily="34" charset="0"/>
                  <a:ea typeface="Montserrat Bold" pitchFamily="34" charset="-122"/>
                  <a:cs typeface="Montserrat Bold" pitchFamily="34" charset="-120"/>
                </a:rPr>
                <a:t>2</a:t>
              </a:r>
              <a:endParaRPr lang="en-US" sz="2300" dirty="0"/>
            </a:p>
          </p:txBody>
        </p:sp>
        <p:sp>
          <p:nvSpPr>
            <p:cNvPr id="16" name="Text 14"/>
            <p:cNvSpPr/>
            <p:nvPr/>
          </p:nvSpPr>
          <p:spPr>
            <a:xfrm>
              <a:off x="9019699" y="4223028"/>
              <a:ext cx="2454235" cy="306705"/>
            </a:xfrm>
            <a:prstGeom prst="rect">
              <a:avLst/>
            </a:prstGeom>
            <a:noFill/>
            <a:ln/>
          </p:spPr>
          <p:txBody>
            <a:bodyPr wrap="none" lIns="0" tIns="0" rIns="0" bIns="0" rtlCol="0" anchor="t"/>
            <a:lstStyle/>
            <a:p>
              <a:pPr marL="0" indent="0" algn="l">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Dəyər</a:t>
              </a:r>
              <a:endParaRPr lang="en-US" sz="1900" dirty="0"/>
            </a:p>
          </p:txBody>
        </p:sp>
        <p:sp>
          <p:nvSpPr>
            <p:cNvPr id="17" name="Text 15"/>
            <p:cNvSpPr/>
            <p:nvPr/>
          </p:nvSpPr>
          <p:spPr>
            <a:xfrm>
              <a:off x="9019699" y="4745593"/>
              <a:ext cx="4694158" cy="647938"/>
            </a:xfrm>
            <a:prstGeom prst="rect">
              <a:avLst/>
            </a:prstGeom>
            <a:noFill/>
            <a:ln/>
          </p:spPr>
          <p:txBody>
            <a:bodyPr wrap="squar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İstifadəçi, bazara və ya cəmiyyətə ölçülə bilən fayda gətirməlidir.</a:t>
              </a:r>
              <a:endParaRPr lang="en-US" sz="1700" dirty="0"/>
            </a:p>
          </p:txBody>
        </p:sp>
        <p:sp>
          <p:nvSpPr>
            <p:cNvPr id="18" name="Shape 16"/>
            <p:cNvSpPr/>
            <p:nvPr/>
          </p:nvSpPr>
          <p:spPr>
            <a:xfrm>
              <a:off x="8317944" y="5825371"/>
              <a:ext cx="485894" cy="485894"/>
            </a:xfrm>
            <a:prstGeom prst="roundRect">
              <a:avLst>
                <a:gd name="adj" fmla="val 6667"/>
              </a:avLst>
            </a:prstGeom>
            <a:solidFill>
              <a:srgbClr val="303132"/>
            </a:solidFill>
            <a:ln/>
          </p:spPr>
          <p:txBody>
            <a:bodyPr/>
            <a:lstStyle/>
            <a:p>
              <a:endParaRPr lang="en-US"/>
            </a:p>
          </p:txBody>
        </p:sp>
        <p:sp>
          <p:nvSpPr>
            <p:cNvPr id="19" name="Text 17"/>
            <p:cNvSpPr/>
            <p:nvPr/>
          </p:nvSpPr>
          <p:spPr>
            <a:xfrm>
              <a:off x="8413611" y="5884188"/>
              <a:ext cx="294442" cy="368141"/>
            </a:xfrm>
            <a:prstGeom prst="rect">
              <a:avLst/>
            </a:prstGeom>
            <a:noFill/>
            <a:ln/>
          </p:spPr>
          <p:txBody>
            <a:bodyPr wrap="none" lIns="0" tIns="0" rIns="0" bIns="0" rtlCol="0" anchor="t"/>
            <a:lstStyle/>
            <a:p>
              <a:pPr marL="0" indent="0" algn="ctr">
                <a:lnSpc>
                  <a:spcPts val="2300"/>
                </a:lnSpc>
                <a:buNone/>
              </a:pPr>
              <a:r>
                <a:rPr lang="en-US" sz="2300" b="1" dirty="0">
                  <a:solidFill>
                    <a:srgbClr val="E2E6E9"/>
                  </a:solidFill>
                  <a:latin typeface="Montserrat Bold" pitchFamily="34" charset="0"/>
                  <a:ea typeface="Montserrat Bold" pitchFamily="34" charset="-122"/>
                  <a:cs typeface="Montserrat Bold" pitchFamily="34" charset="-120"/>
                </a:rPr>
                <a:t>3</a:t>
              </a:r>
              <a:endParaRPr lang="en-US" sz="2300" dirty="0"/>
            </a:p>
          </p:txBody>
        </p:sp>
        <p:sp>
          <p:nvSpPr>
            <p:cNvPr id="20" name="Text 18"/>
            <p:cNvSpPr/>
            <p:nvPr/>
          </p:nvSpPr>
          <p:spPr>
            <a:xfrm>
              <a:off x="9019699" y="5899547"/>
              <a:ext cx="2454235" cy="306705"/>
            </a:xfrm>
            <a:prstGeom prst="rect">
              <a:avLst/>
            </a:prstGeom>
            <a:noFill/>
            <a:ln/>
          </p:spPr>
          <p:txBody>
            <a:bodyPr wrap="none" lIns="0" tIns="0" rIns="0" bIns="0" rtlCol="0" anchor="t"/>
            <a:lstStyle/>
            <a:p>
              <a:pPr marL="0" indent="0" algn="l">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Tətbiq</a:t>
              </a:r>
              <a:endParaRPr lang="en-US" sz="1900" dirty="0"/>
            </a:p>
          </p:txBody>
        </p:sp>
        <p:sp>
          <p:nvSpPr>
            <p:cNvPr id="21" name="Text 19"/>
            <p:cNvSpPr/>
            <p:nvPr/>
          </p:nvSpPr>
          <p:spPr>
            <a:xfrm>
              <a:off x="9019699" y="6422112"/>
              <a:ext cx="4694158" cy="323969"/>
            </a:xfrm>
            <a:prstGeom prst="rect">
              <a:avLst/>
            </a:prstGeom>
            <a:noFill/>
            <a:ln/>
          </p:spPr>
          <p:txBody>
            <a:bodyPr wrap="none" lIns="0" tIns="0" rIns="0" bIns="0" rtlCol="0" anchor="t"/>
            <a:lstStyle/>
            <a:p>
              <a:pPr marL="0" indent="0" algn="l">
                <a:lnSpc>
                  <a:spcPts val="2550"/>
                </a:lnSpc>
                <a:buNone/>
              </a:pPr>
              <a:r>
                <a:rPr lang="en-US" sz="1700" dirty="0">
                  <a:solidFill>
                    <a:srgbClr val="E2E6E9"/>
                  </a:solidFill>
                  <a:latin typeface="Source Sans 3" pitchFamily="34" charset="0"/>
                  <a:ea typeface="Source Sans 3" pitchFamily="34" charset="-122"/>
                  <a:cs typeface="Source Sans 3" pitchFamily="34" charset="-120"/>
                </a:rPr>
                <a:t>Real dünyada həyata keçirilə bilən, praktik olmalıdır.</a:t>
              </a:r>
              <a:endParaRPr lang="en-US" sz="1700" dirty="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86651C5E-6A80-5407-2A1D-74EFC031B096}"/>
              </a:ext>
            </a:extLst>
          </p:cNvPr>
          <p:cNvGrpSpPr/>
          <p:nvPr/>
        </p:nvGrpSpPr>
        <p:grpSpPr>
          <a:xfrm>
            <a:off x="139849" y="172122"/>
            <a:ext cx="14178579" cy="7250641"/>
            <a:chOff x="750570" y="866418"/>
            <a:chExt cx="13129260" cy="6039746"/>
          </a:xfrm>
        </p:grpSpPr>
        <p:sp>
          <p:nvSpPr>
            <p:cNvPr id="2" name="Text 0"/>
            <p:cNvSpPr/>
            <p:nvPr/>
          </p:nvSpPr>
          <p:spPr>
            <a:xfrm>
              <a:off x="750570" y="866418"/>
              <a:ext cx="4794052" cy="533043"/>
            </a:xfrm>
            <a:prstGeom prst="rect">
              <a:avLst/>
            </a:prstGeom>
            <a:noFill/>
            <a:ln/>
          </p:spPr>
          <p:txBody>
            <a:bodyPr wrap="none" lIns="0" tIns="0" rIns="0" bIns="0" rtlCol="0" anchor="t"/>
            <a:lstStyle/>
            <a:p>
              <a:pPr marL="0" indent="0" algn="l">
                <a:lnSpc>
                  <a:spcPts val="4150"/>
                </a:lnSpc>
                <a:buNone/>
              </a:pPr>
              <a:r>
                <a:rPr lang="en-US" sz="3350" b="1" dirty="0">
                  <a:solidFill>
                    <a:srgbClr val="FFFFFF"/>
                  </a:solidFill>
                  <a:latin typeface="Montserrat Bold" pitchFamily="34" charset="0"/>
                  <a:ea typeface="Montserrat Bold" pitchFamily="34" charset="-122"/>
                  <a:cs typeface="Montserrat Bold" pitchFamily="34" charset="-120"/>
                </a:rPr>
                <a:t>İnnovasiyanın Növləri</a:t>
              </a:r>
              <a:endParaRPr lang="en-US" sz="3350" dirty="0"/>
            </a:p>
          </p:txBody>
        </p:sp>
        <p:sp>
          <p:nvSpPr>
            <p:cNvPr id="3" name="Text 1"/>
            <p:cNvSpPr/>
            <p:nvPr/>
          </p:nvSpPr>
          <p:spPr>
            <a:xfrm>
              <a:off x="750570" y="1725454"/>
              <a:ext cx="13129260" cy="525780"/>
            </a:xfrm>
            <a:prstGeom prst="rect">
              <a:avLst/>
            </a:prstGeom>
            <a:noFill/>
            <a:ln/>
          </p:spPr>
          <p:txBody>
            <a:bodyPr wrap="square" lIns="0" tIns="0" rIns="0" bIns="0" rtlCol="0" anchor="t"/>
            <a:lstStyle/>
            <a:p>
              <a:pPr marL="0" indent="0" algn="l">
                <a:lnSpc>
                  <a:spcPts val="2050"/>
                </a:lnSpc>
                <a:buNone/>
              </a:pPr>
              <a:r>
                <a:rPr lang="en-US" sz="1700" dirty="0">
                  <a:solidFill>
                    <a:srgbClr val="E2E6E9"/>
                  </a:solidFill>
                  <a:latin typeface="Source Sans 3" pitchFamily="34" charset="0"/>
                  <a:ea typeface="Source Sans 3" pitchFamily="34" charset="-122"/>
                  <a:cs typeface="Source Sans 3" pitchFamily="34" charset="-120"/>
                </a:rPr>
                <a:t>Bütün innovasiyalar eyni intensivlikdə dəyişiklik yaratmır. Müasir innovasiya nəzəriyyəsi üç əsas kateqoriya müəyyən edir. Şirkətlər adətən bu üç növü balanslaşdıraraq sağlam innovasiya portfeli qurur.</a:t>
              </a:r>
              <a:endParaRPr lang="en-US" sz="1700" dirty="0"/>
            </a:p>
          </p:txBody>
        </p:sp>
        <p:pic>
          <p:nvPicPr>
            <p:cNvPr id="4" name="Image 0" descr="preencoded.png"/>
            <p:cNvPicPr>
              <a:picLocks noChangeAspect="1"/>
            </p:cNvPicPr>
            <p:nvPr/>
          </p:nvPicPr>
          <p:blipFill>
            <a:blip r:embed="rId3"/>
            <a:stretch>
              <a:fillRect/>
            </a:stretch>
          </p:blipFill>
          <p:spPr>
            <a:xfrm>
              <a:off x="750570" y="2434590"/>
              <a:ext cx="2459474" cy="1519952"/>
            </a:xfrm>
            <a:prstGeom prst="rect">
              <a:avLst/>
            </a:prstGeom>
          </p:spPr>
        </p:pic>
        <p:sp>
          <p:nvSpPr>
            <p:cNvPr id="5" name="Text 2"/>
            <p:cNvSpPr/>
            <p:nvPr/>
          </p:nvSpPr>
          <p:spPr>
            <a:xfrm>
              <a:off x="750570" y="4158258"/>
              <a:ext cx="2618899" cy="266462"/>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İnkremental İnnovasiya</a:t>
              </a:r>
              <a:endParaRPr lang="en-US" sz="1650" dirty="0"/>
            </a:p>
          </p:txBody>
        </p:sp>
        <p:sp>
          <p:nvSpPr>
            <p:cNvPr id="6" name="Text 3"/>
            <p:cNvSpPr/>
            <p:nvPr/>
          </p:nvSpPr>
          <p:spPr>
            <a:xfrm>
              <a:off x="750570" y="4522470"/>
              <a:ext cx="4240530" cy="1840230"/>
            </a:xfrm>
            <a:prstGeom prst="rect">
              <a:avLst/>
            </a:prstGeom>
            <a:noFill/>
            <a:ln/>
          </p:spPr>
          <p:txBody>
            <a:bodyPr wrap="square" lIns="0" tIns="0" rIns="0" bIns="0" rtlCol="0" anchor="t"/>
            <a:lstStyle/>
            <a:p>
              <a:pPr marL="0" indent="0" algn="l">
                <a:lnSpc>
                  <a:spcPts val="2050"/>
                </a:lnSpc>
                <a:buNone/>
              </a:pPr>
              <a:r>
                <a:rPr lang="en-US" sz="1450" b="1" dirty="0">
                  <a:solidFill>
                    <a:srgbClr val="E2E6E9"/>
                  </a:solidFill>
                  <a:latin typeface="Source Sans 3" pitchFamily="34" charset="0"/>
                  <a:ea typeface="Source Sans 3" pitchFamily="34" charset="-122"/>
                  <a:cs typeface="Source Sans 3" pitchFamily="34" charset="-120"/>
                </a:rPr>
                <a:t>Mövcud məhsulun təkmilləşdirilməsi.</a:t>
              </a:r>
              <a:r>
                <a:rPr lang="en-US" sz="1450" dirty="0">
                  <a:solidFill>
                    <a:srgbClr val="E2E6E9"/>
                  </a:solidFill>
                  <a:latin typeface="Source Sans 3" pitchFamily="34" charset="0"/>
                  <a:ea typeface="Source Sans 3" pitchFamily="34" charset="-122"/>
                  <a:cs typeface="Source Sans 3" pitchFamily="34" charset="-120"/>
                </a:rPr>
                <a:t> Bu növ innovasiya, artıq mövcud olan bir məhsul, xidmət və ya prosesin tədricən yaxşılaşdırılmasını nəzərdə tutur. Risk aşağıdır, lakin bazar üstünlüyü yaratmaq çətindir. Nümunə: iPhone-un hər yeni versiyası kamera, batareya ömrü və prosessor gücü baxımından irəliləyiş edir.</a:t>
              </a:r>
              <a:endParaRPr lang="en-US" sz="1450" dirty="0"/>
            </a:p>
          </p:txBody>
        </p:sp>
        <p:sp>
          <p:nvSpPr>
            <p:cNvPr id="7" name="Text 4"/>
            <p:cNvSpPr/>
            <p:nvPr/>
          </p:nvSpPr>
          <p:spPr>
            <a:xfrm>
              <a:off x="750570" y="6003432"/>
              <a:ext cx="4240530" cy="902732"/>
            </a:xfrm>
            <a:prstGeom prst="rect">
              <a:avLst/>
            </a:prstGeom>
            <a:noFill/>
            <a:ln/>
          </p:spPr>
          <p:txBody>
            <a:bodyPr wrap="square" lIns="0" tIns="0" rIns="0" bIns="0" rtlCol="0" anchor="t"/>
            <a:lstStyle/>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Aşağı risk, sabit gəlir</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Mövcud müştərilər üçün daha çox dəyər</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Rəqabətin asanlıqla kopyalaya bildiyi həllər</a:t>
              </a:r>
              <a:endParaRPr lang="en-US" sz="1450" dirty="0"/>
            </a:p>
          </p:txBody>
        </p:sp>
        <p:pic>
          <p:nvPicPr>
            <p:cNvPr id="8" name="Image 1" descr="preencoded.png"/>
            <p:cNvPicPr>
              <a:picLocks noChangeAspect="1"/>
            </p:cNvPicPr>
            <p:nvPr/>
          </p:nvPicPr>
          <p:blipFill>
            <a:blip r:embed="rId4"/>
            <a:stretch>
              <a:fillRect/>
            </a:stretch>
          </p:blipFill>
          <p:spPr>
            <a:xfrm>
              <a:off x="5194816" y="2434590"/>
              <a:ext cx="2459474" cy="1519952"/>
            </a:xfrm>
            <a:prstGeom prst="rect">
              <a:avLst/>
            </a:prstGeom>
          </p:spPr>
        </p:pic>
        <p:sp>
          <p:nvSpPr>
            <p:cNvPr id="9" name="Text 5"/>
            <p:cNvSpPr/>
            <p:nvPr/>
          </p:nvSpPr>
          <p:spPr>
            <a:xfrm>
              <a:off x="5194816" y="4158258"/>
              <a:ext cx="2132409" cy="266462"/>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Radikal İnnovasiya</a:t>
              </a:r>
              <a:endParaRPr lang="en-US" sz="1650" dirty="0"/>
            </a:p>
          </p:txBody>
        </p:sp>
        <p:sp>
          <p:nvSpPr>
            <p:cNvPr id="10" name="Text 6"/>
            <p:cNvSpPr/>
            <p:nvPr/>
          </p:nvSpPr>
          <p:spPr>
            <a:xfrm>
              <a:off x="5194816" y="4522470"/>
              <a:ext cx="4240649" cy="1314450"/>
            </a:xfrm>
            <a:prstGeom prst="rect">
              <a:avLst/>
            </a:prstGeom>
            <a:noFill/>
            <a:ln/>
          </p:spPr>
          <p:txBody>
            <a:bodyPr wrap="square" lIns="0" tIns="0" rIns="0" bIns="0" rtlCol="0" anchor="t"/>
            <a:lstStyle/>
            <a:p>
              <a:pPr marL="0" indent="0" algn="l">
                <a:lnSpc>
                  <a:spcPts val="2050"/>
                </a:lnSpc>
                <a:buNone/>
              </a:pPr>
              <a:r>
                <a:rPr lang="en-US" sz="1450" b="1" dirty="0">
                  <a:solidFill>
                    <a:srgbClr val="E2E6E9"/>
                  </a:solidFill>
                  <a:latin typeface="Source Sans 3" pitchFamily="34" charset="0"/>
                  <a:ea typeface="Source Sans 3" pitchFamily="34" charset="-122"/>
                  <a:cs typeface="Source Sans 3" pitchFamily="34" charset="-120"/>
                </a:rPr>
                <a:t>Texnoloji sıçrayış.</a:t>
              </a:r>
              <a:r>
                <a:rPr lang="en-US" sz="1450" dirty="0">
                  <a:solidFill>
                    <a:srgbClr val="E2E6E9"/>
                  </a:solidFill>
                  <a:latin typeface="Source Sans 3" pitchFamily="34" charset="0"/>
                  <a:ea typeface="Source Sans 3" pitchFamily="34" charset="-122"/>
                  <a:cs typeface="Source Sans 3" pitchFamily="34" charset="-120"/>
                </a:rPr>
                <a:t> Sənayeni kökündən dəyişdirən, yeni texnologiyalara əsaslanan innovasiyalardır. Yüksək risk, lakin əhəmiyyətli bazar üstünlüyü potensialı var. Nümunə: Biotexnologiyada CRISPR gen redaktəsi, energetikada nüvə sintezi texnologiyaları.</a:t>
              </a:r>
              <a:endParaRPr lang="en-US" sz="1450" dirty="0"/>
            </a:p>
          </p:txBody>
        </p:sp>
        <p:sp>
          <p:nvSpPr>
            <p:cNvPr id="11" name="Text 7"/>
            <p:cNvSpPr/>
            <p:nvPr/>
          </p:nvSpPr>
          <p:spPr>
            <a:xfrm>
              <a:off x="5174893" y="5961554"/>
              <a:ext cx="4240649" cy="902732"/>
            </a:xfrm>
            <a:prstGeom prst="rect">
              <a:avLst/>
            </a:prstGeom>
            <a:noFill/>
            <a:ln/>
          </p:spPr>
          <p:txBody>
            <a:bodyPr wrap="square" lIns="0" tIns="0" rIns="0" bIns="0" rtlCol="0" anchor="t"/>
            <a:lstStyle/>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Yüksək R&amp;D investisiyası tələb edir</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Uzunmüddətli bazarda dominant mövqe</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Patent qorunması ilə rəqabət üstünlüyü</a:t>
              </a:r>
              <a:endParaRPr lang="en-US" sz="1450" dirty="0"/>
            </a:p>
          </p:txBody>
        </p:sp>
        <p:pic>
          <p:nvPicPr>
            <p:cNvPr id="12" name="Image 2" descr="preencoded.png"/>
            <p:cNvPicPr>
              <a:picLocks noChangeAspect="1"/>
            </p:cNvPicPr>
            <p:nvPr/>
          </p:nvPicPr>
          <p:blipFill>
            <a:blip r:embed="rId5"/>
            <a:stretch>
              <a:fillRect/>
            </a:stretch>
          </p:blipFill>
          <p:spPr>
            <a:xfrm>
              <a:off x="9639181" y="2434590"/>
              <a:ext cx="2459474" cy="1519952"/>
            </a:xfrm>
            <a:prstGeom prst="rect">
              <a:avLst/>
            </a:prstGeom>
          </p:spPr>
        </p:pic>
        <p:sp>
          <p:nvSpPr>
            <p:cNvPr id="13" name="Text 8"/>
            <p:cNvSpPr/>
            <p:nvPr/>
          </p:nvSpPr>
          <p:spPr>
            <a:xfrm>
              <a:off x="9639181" y="4158258"/>
              <a:ext cx="2270879" cy="266462"/>
            </a:xfrm>
            <a:prstGeom prst="rect">
              <a:avLst/>
            </a:prstGeom>
            <a:noFill/>
            <a:ln/>
          </p:spPr>
          <p:txBody>
            <a:bodyPr wrap="none" lIns="0" tIns="0" rIns="0" bIns="0" rtlCol="0" anchor="t"/>
            <a:lstStyle/>
            <a:p>
              <a:pPr marL="0" indent="0" algn="l">
                <a:lnSpc>
                  <a:spcPts val="2050"/>
                </a:lnSpc>
                <a:buNone/>
              </a:pPr>
              <a:r>
                <a:rPr lang="en-US" sz="1650" b="1" dirty="0">
                  <a:solidFill>
                    <a:srgbClr val="E2E6E9"/>
                  </a:solidFill>
                  <a:latin typeface="Montserrat Bold" pitchFamily="34" charset="0"/>
                  <a:ea typeface="Montserrat Bold" pitchFamily="34" charset="-122"/>
                  <a:cs typeface="Montserrat Bold" pitchFamily="34" charset="-120"/>
                </a:rPr>
                <a:t>Disruptiv İnnovasiya</a:t>
              </a:r>
              <a:endParaRPr lang="en-US" sz="1650" dirty="0"/>
            </a:p>
          </p:txBody>
        </p:sp>
        <p:sp>
          <p:nvSpPr>
            <p:cNvPr id="14" name="Text 9"/>
            <p:cNvSpPr/>
            <p:nvPr/>
          </p:nvSpPr>
          <p:spPr>
            <a:xfrm>
              <a:off x="9639181" y="4522470"/>
              <a:ext cx="4240649" cy="1577340"/>
            </a:xfrm>
            <a:prstGeom prst="rect">
              <a:avLst/>
            </a:prstGeom>
            <a:noFill/>
            <a:ln/>
          </p:spPr>
          <p:txBody>
            <a:bodyPr wrap="square" lIns="0" tIns="0" rIns="0" bIns="0" rtlCol="0" anchor="t"/>
            <a:lstStyle/>
            <a:p>
              <a:pPr marL="0" indent="0" algn="l">
                <a:lnSpc>
                  <a:spcPts val="2050"/>
                </a:lnSpc>
                <a:buNone/>
              </a:pPr>
              <a:r>
                <a:rPr lang="en-US" sz="1450" b="1" dirty="0">
                  <a:solidFill>
                    <a:srgbClr val="E2E6E9"/>
                  </a:solidFill>
                  <a:latin typeface="Source Sans 3" pitchFamily="34" charset="0"/>
                  <a:ea typeface="Source Sans 3" pitchFamily="34" charset="-122"/>
                  <a:cs typeface="Source Sans 3" pitchFamily="34" charset="-120"/>
                </a:rPr>
                <a:t>Bazar strukturunun dəyişməsi.</a:t>
              </a:r>
              <a:r>
                <a:rPr lang="en-US" sz="1450" dirty="0">
                  <a:solidFill>
                    <a:srgbClr val="E2E6E9"/>
                  </a:solidFill>
                  <a:latin typeface="Source Sans 3" pitchFamily="34" charset="0"/>
                  <a:ea typeface="Source Sans 3" pitchFamily="34" charset="-122"/>
                  <a:cs typeface="Source Sans 3" pitchFamily="34" charset="-120"/>
                </a:rPr>
                <a:t> Clayton Christensen tərəfindən populyarlaşdırılan bu konsepsiya, bazarın alt seqmentlərini hədəf alan sadə həllərin tədricən dominant oyunçuları sıxışdırmasını izah edir. Nümunə: Netflix-in video icarəsi sənayesini, Airbnb-nin otel sənayesini dağıtması.</a:t>
              </a:r>
              <a:endParaRPr lang="en-US" sz="1450" dirty="0"/>
            </a:p>
          </p:txBody>
        </p:sp>
        <p:sp>
          <p:nvSpPr>
            <p:cNvPr id="15" name="Text 10"/>
            <p:cNvSpPr/>
            <p:nvPr/>
          </p:nvSpPr>
          <p:spPr>
            <a:xfrm>
              <a:off x="9579410" y="5973529"/>
              <a:ext cx="4240649" cy="902732"/>
            </a:xfrm>
            <a:prstGeom prst="rect">
              <a:avLst/>
            </a:prstGeom>
            <a:noFill/>
            <a:ln/>
          </p:spPr>
          <p:txBody>
            <a:bodyPr wrap="square" lIns="0" tIns="0" rIns="0" bIns="0" rtlCol="0" anchor="t"/>
            <a:lstStyle/>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Əvvəlcə kiçik seqmentlər hədəf alınır</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Daha sərfəli, daha sadə həllər</a:t>
              </a:r>
              <a:endParaRPr lang="en-US" sz="1450" dirty="0"/>
            </a:p>
            <a:p>
              <a:pPr marL="342900" indent="-342900" algn="l">
                <a:lnSpc>
                  <a:spcPts val="2050"/>
                </a:lnSpc>
                <a:buSzPct val="100000"/>
                <a:buChar char="•"/>
              </a:pPr>
              <a:r>
                <a:rPr lang="en-US" sz="1450" dirty="0">
                  <a:solidFill>
                    <a:srgbClr val="E2E6E9"/>
                  </a:solidFill>
                  <a:latin typeface="Source Sans 3" pitchFamily="34" charset="0"/>
                  <a:ea typeface="Source Sans 3" pitchFamily="34" charset="-122"/>
                  <a:cs typeface="Source Sans 3" pitchFamily="34" charset="-120"/>
                </a:rPr>
                <a:t>Köhnə liderlərin cavab verməsi çətin olur</a:t>
              </a:r>
              <a:endParaRPr lang="en-US" sz="145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26A7BDD5-00BA-091E-AE42-8041E36D5300}"/>
              </a:ext>
            </a:extLst>
          </p:cNvPr>
          <p:cNvGrpSpPr/>
          <p:nvPr/>
        </p:nvGrpSpPr>
        <p:grpSpPr>
          <a:xfrm>
            <a:off x="333487" y="322730"/>
            <a:ext cx="14071002" cy="7659444"/>
            <a:chOff x="1163003" y="902732"/>
            <a:chExt cx="12304395" cy="6424017"/>
          </a:xfrm>
        </p:grpSpPr>
        <p:sp>
          <p:nvSpPr>
            <p:cNvPr id="2" name="Text 0"/>
            <p:cNvSpPr/>
            <p:nvPr/>
          </p:nvSpPr>
          <p:spPr>
            <a:xfrm>
              <a:off x="1163003" y="902732"/>
              <a:ext cx="7367707" cy="487561"/>
            </a:xfrm>
            <a:prstGeom prst="rect">
              <a:avLst/>
            </a:prstGeom>
            <a:noFill/>
            <a:ln/>
          </p:spPr>
          <p:txBody>
            <a:bodyPr wrap="none" lIns="0" tIns="0" rIns="0" bIns="0" rtlCol="0" anchor="t"/>
            <a:lstStyle/>
            <a:p>
              <a:pPr marL="0" indent="0" algn="l">
                <a:lnSpc>
                  <a:spcPts val="3800"/>
                </a:lnSpc>
                <a:buNone/>
              </a:pPr>
              <a:r>
                <a:rPr lang="en-US" sz="3050" b="1" dirty="0">
                  <a:solidFill>
                    <a:srgbClr val="FFFFFF"/>
                  </a:solidFill>
                  <a:latin typeface="Montserrat Bold" pitchFamily="34" charset="0"/>
                  <a:ea typeface="Montserrat Bold" pitchFamily="34" charset="-122"/>
                  <a:cs typeface="Montserrat Bold" pitchFamily="34" charset="-120"/>
                </a:rPr>
                <a:t>İnnovasiya Prosesi: İdeyadən Bazara</a:t>
              </a:r>
              <a:endParaRPr lang="en-US" sz="3050" dirty="0"/>
            </a:p>
          </p:txBody>
        </p:sp>
        <p:sp>
          <p:nvSpPr>
            <p:cNvPr id="3" name="Text 1"/>
            <p:cNvSpPr/>
            <p:nvPr/>
          </p:nvSpPr>
          <p:spPr>
            <a:xfrm>
              <a:off x="1163003" y="1663065"/>
              <a:ext cx="12304395" cy="230981"/>
            </a:xfrm>
            <a:prstGeom prst="rect">
              <a:avLst/>
            </a:prstGeom>
            <a:noFill/>
            <a:ln/>
          </p:spPr>
          <p:txBody>
            <a:bodyPr wrap="none" lIns="0" tIns="0" rIns="0" bIns="0" rtlCol="0" anchor="t"/>
            <a:lstStyle/>
            <a:p>
              <a:pPr marL="0" indent="0" algn="l">
                <a:lnSpc>
                  <a:spcPts val="1800"/>
                </a:lnSpc>
                <a:buNone/>
              </a:pPr>
              <a:r>
                <a:rPr lang="en-US" sz="1400" dirty="0" err="1">
                  <a:solidFill>
                    <a:srgbClr val="E2E6E9"/>
                  </a:solidFill>
                  <a:latin typeface="Source Sans 3" pitchFamily="34" charset="0"/>
                  <a:ea typeface="Source Sans 3" pitchFamily="34" charset="-122"/>
                  <a:cs typeface="Source Sans 3" pitchFamily="34" charset="-120"/>
                </a:rPr>
                <a:t>İnnovasiya</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heç</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vaxt</a:t>
              </a:r>
              <a:r>
                <a:rPr lang="en-US" sz="1400" dirty="0">
                  <a:solidFill>
                    <a:srgbClr val="E2E6E9"/>
                  </a:solidFill>
                  <a:latin typeface="Source Sans 3" pitchFamily="34" charset="0"/>
                  <a:ea typeface="Source Sans 3" pitchFamily="34" charset="-122"/>
                  <a:cs typeface="Source Sans 3" pitchFamily="34" charset="-120"/>
                </a:rPr>
                <a:t> ani </a:t>
              </a:r>
              <a:r>
                <a:rPr lang="en-US" sz="1400" dirty="0" err="1">
                  <a:solidFill>
                    <a:srgbClr val="E2E6E9"/>
                  </a:solidFill>
                  <a:latin typeface="Source Sans 3" pitchFamily="34" charset="0"/>
                  <a:ea typeface="Source Sans 3" pitchFamily="34" charset="-122"/>
                  <a:cs typeface="Source Sans 3" pitchFamily="34" charset="-120"/>
                </a:rPr>
                <a:t>bir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hadisə</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deyil</a:t>
              </a:r>
              <a:r>
                <a:rPr lang="en-US" sz="1400" dirty="0">
                  <a:solidFill>
                    <a:srgbClr val="E2E6E9"/>
                  </a:solidFill>
                  <a:latin typeface="Source Sans 3" pitchFamily="34" charset="0"/>
                  <a:ea typeface="Source Sans 3" pitchFamily="34" charset="-122"/>
                  <a:cs typeface="Source Sans 3" pitchFamily="34" charset="-120"/>
                </a:rPr>
                <a:t> — o, </a:t>
              </a:r>
              <a:r>
                <a:rPr lang="en-US" sz="1400" dirty="0" err="1">
                  <a:solidFill>
                    <a:srgbClr val="E2E6E9"/>
                  </a:solidFill>
                  <a:latin typeface="Source Sans 3" pitchFamily="34" charset="0"/>
                  <a:ea typeface="Source Sans 3" pitchFamily="34" charset="-122"/>
                  <a:cs typeface="Source Sans 3" pitchFamily="34" charset="-120"/>
                </a:rPr>
                <a:t>struktura</a:t>
              </a:r>
              <a:r>
                <a:rPr lang="en-US" sz="1400" dirty="0">
                  <a:solidFill>
                    <a:srgbClr val="E2E6E9"/>
                  </a:solidFill>
                  <a:latin typeface="Source Sans 3" pitchFamily="34" charset="0"/>
                  <a:ea typeface="Source Sans 3" pitchFamily="34" charset="-122"/>
                  <a:cs typeface="Source Sans 3" pitchFamily="34" charset="-120"/>
                </a:rPr>
                <a:t> malik </a:t>
              </a:r>
              <a:r>
                <a:rPr lang="en-US" sz="1400" dirty="0" err="1">
                  <a:solidFill>
                    <a:srgbClr val="E2E6E9"/>
                  </a:solidFill>
                  <a:latin typeface="Source Sans 3" pitchFamily="34" charset="0"/>
                  <a:ea typeface="Source Sans 3" pitchFamily="34" charset="-122"/>
                  <a:cs typeface="Source Sans 3" pitchFamily="34" charset="-120"/>
                </a:rPr>
                <a:t>bir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prosesdir</a:t>
              </a:r>
              <a:r>
                <a:rPr lang="en-US" sz="1400" dirty="0">
                  <a:solidFill>
                    <a:srgbClr val="E2E6E9"/>
                  </a:solidFill>
                  <a:latin typeface="Source Sans 3" pitchFamily="34" charset="0"/>
                  <a:ea typeface="Source Sans 3" pitchFamily="34" charset="-122"/>
                  <a:cs typeface="Source Sans 3" pitchFamily="34" charset="-120"/>
                </a:rPr>
                <a:t>. Bu </a:t>
              </a:r>
              <a:r>
                <a:rPr lang="en-US" sz="1400" dirty="0" err="1">
                  <a:solidFill>
                    <a:srgbClr val="E2E6E9"/>
                  </a:solidFill>
                  <a:latin typeface="Source Sans 3" pitchFamily="34" charset="0"/>
                  <a:ea typeface="Source Sans 3" pitchFamily="34" charset="-122"/>
                  <a:cs typeface="Source Sans 3" pitchFamily="34" charset="-120"/>
                </a:rPr>
                <a:t>prosesin</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hər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mərhələsi</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özünəməxsus</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alətlər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resurslar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və</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qərar</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nöqtələri</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tələb</a:t>
              </a:r>
              <a:r>
                <a:rPr lang="en-US" sz="1400" dirty="0">
                  <a:solidFill>
                    <a:srgbClr val="E2E6E9"/>
                  </a:solidFill>
                  <a:latin typeface="Source Sans 3" pitchFamily="34" charset="0"/>
                  <a:ea typeface="Source Sans 3" pitchFamily="34" charset="-122"/>
                  <a:cs typeface="Source Sans 3" pitchFamily="34" charset="-120"/>
                </a:rPr>
                <a:t> </a:t>
              </a:r>
              <a:r>
                <a:rPr lang="en-US" sz="1400" dirty="0" err="1">
                  <a:solidFill>
                    <a:srgbClr val="E2E6E9"/>
                  </a:solidFill>
                  <a:latin typeface="Source Sans 3" pitchFamily="34" charset="0"/>
                  <a:ea typeface="Source Sans 3" pitchFamily="34" charset="-122"/>
                  <a:cs typeface="Source Sans 3" pitchFamily="34" charset="-120"/>
                </a:rPr>
                <a:t>edir</a:t>
              </a:r>
              <a:r>
                <a:rPr lang="en-US" sz="1400" dirty="0">
                  <a:solidFill>
                    <a:srgbClr val="E2E6E9"/>
                  </a:solidFill>
                  <a:latin typeface="Source Sans 3" pitchFamily="34" charset="0"/>
                  <a:ea typeface="Source Sans 3" pitchFamily="34" charset="-122"/>
                  <a:cs typeface="Source Sans 3" pitchFamily="34" charset="-120"/>
                </a:rPr>
                <a:t>.</a:t>
              </a:r>
              <a:endParaRPr lang="en-US" sz="1400" dirty="0"/>
            </a:p>
          </p:txBody>
        </p:sp>
        <p:pic>
          <p:nvPicPr>
            <p:cNvPr id="4" name="Image 0" descr="preencoded.png"/>
            <p:cNvPicPr>
              <a:picLocks noChangeAspect="1"/>
            </p:cNvPicPr>
            <p:nvPr/>
          </p:nvPicPr>
          <p:blipFill>
            <a:blip r:embed="rId3"/>
            <a:stretch>
              <a:fillRect/>
            </a:stretch>
          </p:blipFill>
          <p:spPr>
            <a:xfrm>
              <a:off x="2188369" y="2047399"/>
              <a:ext cx="10253663" cy="2713196"/>
            </a:xfrm>
            <a:prstGeom prst="rect">
              <a:avLst/>
            </a:prstGeom>
          </p:spPr>
        </p:pic>
        <p:sp>
          <p:nvSpPr>
            <p:cNvPr id="5" name="Text 2"/>
            <p:cNvSpPr/>
            <p:nvPr/>
          </p:nvSpPr>
          <p:spPr>
            <a:xfrm>
              <a:off x="2979278" y="2964783"/>
              <a:ext cx="1549947" cy="252235"/>
            </a:xfrm>
            <a:prstGeom prst="rect">
              <a:avLst/>
            </a:prstGeom>
            <a:noFill/>
            <a:ln/>
          </p:spPr>
          <p:txBody>
            <a:bodyPr wrap="none" lIns="0" tIns="0" rIns="0" bIns="0" rtlCol="0" anchor="t"/>
            <a:lstStyle/>
            <a:p>
              <a:pPr marL="0" indent="0" algn="ctr">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İdeya</a:t>
              </a:r>
              <a:endParaRPr lang="en-US" sz="1550" dirty="0"/>
            </a:p>
          </p:txBody>
        </p:sp>
        <p:sp>
          <p:nvSpPr>
            <p:cNvPr id="6" name="Text 3"/>
            <p:cNvSpPr/>
            <p:nvPr/>
          </p:nvSpPr>
          <p:spPr>
            <a:xfrm>
              <a:off x="2979278" y="3295957"/>
              <a:ext cx="1549947" cy="597592"/>
            </a:xfrm>
            <a:prstGeom prst="rect">
              <a:avLst/>
            </a:prstGeom>
            <a:noFill/>
            <a:ln/>
          </p:spPr>
          <p:txBody>
            <a:bodyPr wrap="square" lIns="0" tIns="0" rIns="0" bIns="0" rtlCol="0" anchor="t"/>
            <a:lstStyle/>
            <a:p>
              <a:pPr marL="0" indent="0" algn="ctr">
                <a:lnSpc>
                  <a:spcPts val="1550"/>
                </a:lnSpc>
                <a:buNone/>
              </a:pPr>
              <a:r>
                <a:rPr lang="en-US" sz="1350" dirty="0">
                  <a:solidFill>
                    <a:srgbClr val="E2E6E9"/>
                  </a:solidFill>
                  <a:latin typeface="Source Sans 3" pitchFamily="34" charset="0"/>
                  <a:ea typeface="Source Sans 3" pitchFamily="34" charset="-122"/>
                  <a:cs typeface="Source Sans 3" pitchFamily="34" charset="-120"/>
                </a:rPr>
                <a:t>Problem müəyyənləşdirmə və beyin fırtınası</a:t>
              </a:r>
              <a:endParaRPr lang="en-US" sz="1350" dirty="0"/>
            </a:p>
          </p:txBody>
        </p:sp>
        <p:sp>
          <p:nvSpPr>
            <p:cNvPr id="7" name="Text 4"/>
            <p:cNvSpPr/>
            <p:nvPr/>
          </p:nvSpPr>
          <p:spPr>
            <a:xfrm>
              <a:off x="4755404" y="3113411"/>
              <a:ext cx="1549947" cy="252235"/>
            </a:xfrm>
            <a:prstGeom prst="rect">
              <a:avLst/>
            </a:prstGeom>
            <a:noFill/>
            <a:ln/>
          </p:spPr>
          <p:txBody>
            <a:bodyPr wrap="none" lIns="0" tIns="0" rIns="0" bIns="0" rtlCol="0" anchor="t"/>
            <a:lstStyle/>
            <a:p>
              <a:pPr marL="0" indent="0" algn="ctr">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Prototip</a:t>
              </a:r>
              <a:endParaRPr lang="en-US" sz="1550" dirty="0"/>
            </a:p>
          </p:txBody>
        </p:sp>
        <p:sp>
          <p:nvSpPr>
            <p:cNvPr id="8" name="Text 5"/>
            <p:cNvSpPr/>
            <p:nvPr/>
          </p:nvSpPr>
          <p:spPr>
            <a:xfrm>
              <a:off x="4755404" y="3444584"/>
              <a:ext cx="1549947" cy="398395"/>
            </a:xfrm>
            <a:prstGeom prst="rect">
              <a:avLst/>
            </a:prstGeom>
            <a:noFill/>
            <a:ln/>
          </p:spPr>
          <p:txBody>
            <a:bodyPr wrap="square" lIns="0" tIns="0" rIns="0" bIns="0" rtlCol="0" anchor="t"/>
            <a:lstStyle/>
            <a:p>
              <a:pPr marL="0" indent="0" algn="ctr">
                <a:lnSpc>
                  <a:spcPts val="1550"/>
                </a:lnSpc>
                <a:buNone/>
              </a:pPr>
              <a:r>
                <a:rPr lang="en-US" sz="1350" dirty="0">
                  <a:solidFill>
                    <a:srgbClr val="E2E6E9"/>
                  </a:solidFill>
                  <a:latin typeface="Source Sans 3" pitchFamily="34" charset="0"/>
                  <a:ea typeface="Source Sans 3" pitchFamily="34" charset="-122"/>
                  <a:cs typeface="Source Sans 3" pitchFamily="34" charset="-120"/>
                </a:rPr>
                <a:t>MVP və sürətli prototipləşdirmə</a:t>
              </a:r>
              <a:endParaRPr lang="en-US" sz="1350" dirty="0"/>
            </a:p>
          </p:txBody>
        </p:sp>
        <p:sp>
          <p:nvSpPr>
            <p:cNvPr id="9" name="Text 6"/>
            <p:cNvSpPr/>
            <p:nvPr/>
          </p:nvSpPr>
          <p:spPr>
            <a:xfrm>
              <a:off x="6531529" y="2964783"/>
              <a:ext cx="1549947" cy="252235"/>
            </a:xfrm>
            <a:prstGeom prst="rect">
              <a:avLst/>
            </a:prstGeom>
            <a:noFill/>
            <a:ln/>
          </p:spPr>
          <p:txBody>
            <a:bodyPr wrap="none" lIns="0" tIns="0" rIns="0" bIns="0" rtlCol="0" anchor="t"/>
            <a:lstStyle/>
            <a:p>
              <a:pPr marL="0" indent="0" algn="ctr">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Test</a:t>
              </a:r>
              <a:endParaRPr lang="en-US" sz="1550" dirty="0"/>
            </a:p>
          </p:txBody>
        </p:sp>
        <p:sp>
          <p:nvSpPr>
            <p:cNvPr id="10" name="Text 7"/>
            <p:cNvSpPr/>
            <p:nvPr/>
          </p:nvSpPr>
          <p:spPr>
            <a:xfrm>
              <a:off x="6531529" y="3295957"/>
              <a:ext cx="1549947" cy="398395"/>
            </a:xfrm>
            <a:prstGeom prst="rect">
              <a:avLst/>
            </a:prstGeom>
            <a:noFill/>
            <a:ln/>
          </p:spPr>
          <p:txBody>
            <a:bodyPr wrap="square" lIns="0" tIns="0" rIns="0" bIns="0" rtlCol="0" anchor="t"/>
            <a:lstStyle/>
            <a:p>
              <a:pPr marL="0" indent="0" algn="ctr">
                <a:lnSpc>
                  <a:spcPts val="1550"/>
                </a:lnSpc>
                <a:buNone/>
              </a:pPr>
              <a:r>
                <a:rPr lang="en-US" sz="1350" dirty="0">
                  <a:solidFill>
                    <a:srgbClr val="E2E6E9"/>
                  </a:solidFill>
                  <a:latin typeface="Source Sans 3" pitchFamily="34" charset="0"/>
                  <a:ea typeface="Source Sans 3" pitchFamily="34" charset="-122"/>
                  <a:cs typeface="Source Sans 3" pitchFamily="34" charset="-120"/>
                </a:rPr>
                <a:t>İstifadəçi rəyı və təkrarlama</a:t>
              </a:r>
              <a:endParaRPr lang="en-US" sz="1350" dirty="0"/>
            </a:p>
          </p:txBody>
        </p:sp>
        <p:sp>
          <p:nvSpPr>
            <p:cNvPr id="11" name="Text 8"/>
            <p:cNvSpPr/>
            <p:nvPr/>
          </p:nvSpPr>
          <p:spPr>
            <a:xfrm>
              <a:off x="8307655" y="2914213"/>
              <a:ext cx="1549946" cy="252234"/>
            </a:xfrm>
            <a:prstGeom prst="rect">
              <a:avLst/>
            </a:prstGeom>
            <a:noFill/>
            <a:ln/>
          </p:spPr>
          <p:txBody>
            <a:bodyPr wrap="none" lIns="0" tIns="0" rIns="0" bIns="0" rtlCol="0" anchor="t"/>
            <a:lstStyle/>
            <a:p>
              <a:pPr marL="0" indent="0" algn="ctr">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Miqyaslama</a:t>
              </a:r>
              <a:endParaRPr lang="en-US" sz="1550" dirty="0"/>
            </a:p>
          </p:txBody>
        </p:sp>
        <p:sp>
          <p:nvSpPr>
            <p:cNvPr id="12" name="Text 9"/>
            <p:cNvSpPr/>
            <p:nvPr/>
          </p:nvSpPr>
          <p:spPr>
            <a:xfrm>
              <a:off x="8307655" y="3245387"/>
              <a:ext cx="1549946" cy="597592"/>
            </a:xfrm>
            <a:prstGeom prst="rect">
              <a:avLst/>
            </a:prstGeom>
            <a:noFill/>
            <a:ln/>
          </p:spPr>
          <p:txBody>
            <a:bodyPr wrap="square" lIns="0" tIns="0" rIns="0" bIns="0" rtlCol="0" anchor="t"/>
            <a:lstStyle/>
            <a:p>
              <a:pPr marL="0" indent="0" algn="ctr">
                <a:lnSpc>
                  <a:spcPts val="1550"/>
                </a:lnSpc>
                <a:buNone/>
              </a:pPr>
              <a:r>
                <a:rPr lang="en-US" sz="1350" dirty="0">
                  <a:solidFill>
                    <a:srgbClr val="E2E6E9"/>
                  </a:solidFill>
                  <a:latin typeface="Source Sans 3" pitchFamily="34" charset="0"/>
                  <a:ea typeface="Source Sans 3" pitchFamily="34" charset="-122"/>
                  <a:cs typeface="Source Sans 3" pitchFamily="34" charset="-120"/>
                </a:rPr>
                <a:t>Əməliyyatların genişləndirilməsi və bazar</a:t>
              </a:r>
              <a:endParaRPr lang="en-US" sz="1350" dirty="0"/>
            </a:p>
          </p:txBody>
        </p:sp>
        <p:sp>
          <p:nvSpPr>
            <p:cNvPr id="13" name="Text 10"/>
            <p:cNvSpPr/>
            <p:nvPr/>
          </p:nvSpPr>
          <p:spPr>
            <a:xfrm>
              <a:off x="10093647" y="2964783"/>
              <a:ext cx="1549947" cy="504469"/>
            </a:xfrm>
            <a:prstGeom prst="rect">
              <a:avLst/>
            </a:prstGeom>
            <a:noFill/>
            <a:ln/>
          </p:spPr>
          <p:txBody>
            <a:bodyPr wrap="square" lIns="0" tIns="0" rIns="0" bIns="0" rtlCol="0" anchor="t"/>
            <a:lstStyle/>
            <a:p>
              <a:pPr marL="0" indent="0" algn="ctr">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Kommersiyalaşdırma</a:t>
              </a:r>
              <a:endParaRPr lang="en-US" sz="1550" dirty="0"/>
            </a:p>
          </p:txBody>
        </p:sp>
        <p:sp>
          <p:nvSpPr>
            <p:cNvPr id="14" name="Text 11"/>
            <p:cNvSpPr/>
            <p:nvPr/>
          </p:nvSpPr>
          <p:spPr>
            <a:xfrm>
              <a:off x="10093647" y="3548191"/>
              <a:ext cx="1549947" cy="398395"/>
            </a:xfrm>
            <a:prstGeom prst="rect">
              <a:avLst/>
            </a:prstGeom>
            <a:noFill/>
            <a:ln/>
          </p:spPr>
          <p:txBody>
            <a:bodyPr wrap="square" lIns="0" tIns="0" rIns="0" bIns="0" rtlCol="0" anchor="t"/>
            <a:lstStyle/>
            <a:p>
              <a:pPr marL="0" indent="0" algn="ctr">
                <a:lnSpc>
                  <a:spcPts val="1550"/>
                </a:lnSpc>
                <a:buNone/>
              </a:pPr>
              <a:r>
                <a:rPr lang="en-US" sz="1350" dirty="0">
                  <a:solidFill>
                    <a:srgbClr val="E2E6E9"/>
                  </a:solidFill>
                  <a:latin typeface="Source Sans 3" pitchFamily="34" charset="0"/>
                  <a:ea typeface="Source Sans 3" pitchFamily="34" charset="-122"/>
                  <a:cs typeface="Source Sans 3" pitchFamily="34" charset="-120"/>
                </a:rPr>
                <a:t>Go-to-market və gəlir əldə etmə</a:t>
              </a:r>
              <a:endParaRPr lang="en-US" sz="1350" dirty="0"/>
            </a:p>
          </p:txBody>
        </p:sp>
        <p:sp>
          <p:nvSpPr>
            <p:cNvPr id="15" name="Shape 12"/>
            <p:cNvSpPr/>
            <p:nvPr/>
          </p:nvSpPr>
          <p:spPr>
            <a:xfrm>
              <a:off x="1163003" y="4913948"/>
              <a:ext cx="2973824" cy="1369219"/>
            </a:xfrm>
            <a:prstGeom prst="roundRect">
              <a:avLst>
                <a:gd name="adj" fmla="val 1880"/>
              </a:avLst>
            </a:prstGeom>
            <a:solidFill>
              <a:srgbClr val="303132"/>
            </a:solidFill>
            <a:ln/>
          </p:spPr>
          <p:txBody>
            <a:bodyPr/>
            <a:lstStyle/>
            <a:p>
              <a:endParaRPr lang="en-US"/>
            </a:p>
          </p:txBody>
        </p:sp>
        <p:sp>
          <p:nvSpPr>
            <p:cNvPr id="16" name="Text 13"/>
            <p:cNvSpPr/>
            <p:nvPr/>
          </p:nvSpPr>
          <p:spPr>
            <a:xfrm>
              <a:off x="1334572" y="5085517"/>
              <a:ext cx="1950363" cy="251341"/>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Montserrat Bold" pitchFamily="34" charset="0"/>
                  <a:ea typeface="Montserrat Bold" pitchFamily="34" charset="-122"/>
                  <a:cs typeface="Montserrat Bold" pitchFamily="34" charset="-120"/>
                </a:rPr>
                <a:t>💡</a:t>
              </a:r>
              <a:r>
                <a:rPr lang="en-US" sz="1500" b="1" dirty="0">
                  <a:solidFill>
                    <a:srgbClr val="E2E6E9"/>
                  </a:solidFill>
                  <a:latin typeface="Montserrat Bold" pitchFamily="34" charset="0"/>
                  <a:ea typeface="Montserrat Bold" pitchFamily="34" charset="-122"/>
                  <a:cs typeface="Montserrat Bold" pitchFamily="34" charset="-120"/>
                </a:rPr>
                <a:t> İdeya</a:t>
              </a:r>
              <a:endParaRPr lang="en-US" sz="1500" dirty="0"/>
            </a:p>
          </p:txBody>
        </p:sp>
        <p:sp>
          <p:nvSpPr>
            <p:cNvPr id="17" name="Text 14"/>
            <p:cNvSpPr/>
            <p:nvPr/>
          </p:nvSpPr>
          <p:spPr>
            <a:xfrm>
              <a:off x="1334572" y="5418653"/>
              <a:ext cx="2630686" cy="692944"/>
            </a:xfrm>
            <a:prstGeom prst="rect">
              <a:avLst/>
            </a:prstGeom>
            <a:noFill/>
            <a:ln/>
          </p:spPr>
          <p:txBody>
            <a:bodyPr wrap="square" lIns="0" tIns="0" rIns="0" bIns="0" rtlCol="0" anchor="t"/>
            <a:lstStyle/>
            <a:p>
              <a:pPr marL="0" indent="0" algn="l">
                <a:lnSpc>
                  <a:spcPts val="1800"/>
                </a:lnSpc>
                <a:buNone/>
              </a:pPr>
              <a:r>
                <a:rPr lang="en-US" sz="1350" dirty="0">
                  <a:solidFill>
                    <a:srgbClr val="E2E6E9"/>
                  </a:solidFill>
                  <a:latin typeface="Source Sans 3" pitchFamily="34" charset="0"/>
                  <a:ea typeface="Source Sans 3" pitchFamily="34" charset="-122"/>
                  <a:cs typeface="Source Sans 3" pitchFamily="34" charset="-120"/>
                </a:rPr>
                <a:t>Problem müəyyənləşdirilir, yaradıcı beyin həmləsi aparılır, SI ilə trendlər analiz olunur.</a:t>
              </a:r>
              <a:endParaRPr lang="en-US" sz="1350" dirty="0"/>
            </a:p>
          </p:txBody>
        </p:sp>
        <p:sp>
          <p:nvSpPr>
            <p:cNvPr id="18" name="Shape 15"/>
            <p:cNvSpPr/>
            <p:nvPr/>
          </p:nvSpPr>
          <p:spPr>
            <a:xfrm>
              <a:off x="4273153" y="4913948"/>
              <a:ext cx="2973824" cy="1369219"/>
            </a:xfrm>
            <a:prstGeom prst="roundRect">
              <a:avLst>
                <a:gd name="adj" fmla="val 1880"/>
              </a:avLst>
            </a:prstGeom>
            <a:solidFill>
              <a:srgbClr val="303132"/>
            </a:solidFill>
            <a:ln/>
          </p:spPr>
          <p:txBody>
            <a:bodyPr/>
            <a:lstStyle/>
            <a:p>
              <a:endParaRPr lang="en-US"/>
            </a:p>
          </p:txBody>
        </p:sp>
        <p:sp>
          <p:nvSpPr>
            <p:cNvPr id="19" name="Text 16"/>
            <p:cNvSpPr/>
            <p:nvPr/>
          </p:nvSpPr>
          <p:spPr>
            <a:xfrm>
              <a:off x="4444722" y="5085517"/>
              <a:ext cx="1950363" cy="251341"/>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Montserrat Bold" pitchFamily="34" charset="0"/>
                  <a:ea typeface="Montserrat Bold" pitchFamily="34" charset="-122"/>
                  <a:cs typeface="Montserrat Bold" pitchFamily="34" charset="-120"/>
                </a:rPr>
                <a:t>🔧</a:t>
              </a:r>
              <a:r>
                <a:rPr lang="en-US" sz="1500" b="1" dirty="0">
                  <a:solidFill>
                    <a:srgbClr val="E2E6E9"/>
                  </a:solidFill>
                  <a:latin typeface="Montserrat Bold" pitchFamily="34" charset="0"/>
                  <a:ea typeface="Montserrat Bold" pitchFamily="34" charset="-122"/>
                  <a:cs typeface="Montserrat Bold" pitchFamily="34" charset="-120"/>
                </a:rPr>
                <a:t> Prototip</a:t>
              </a:r>
              <a:endParaRPr lang="en-US" sz="1500" dirty="0"/>
            </a:p>
          </p:txBody>
        </p:sp>
        <p:sp>
          <p:nvSpPr>
            <p:cNvPr id="20" name="Text 17"/>
            <p:cNvSpPr/>
            <p:nvPr/>
          </p:nvSpPr>
          <p:spPr>
            <a:xfrm>
              <a:off x="4444722" y="5418653"/>
              <a:ext cx="2630686" cy="692944"/>
            </a:xfrm>
            <a:prstGeom prst="rect">
              <a:avLst/>
            </a:prstGeom>
            <a:noFill/>
            <a:ln/>
          </p:spPr>
          <p:txBody>
            <a:bodyPr wrap="square" lIns="0" tIns="0" rIns="0" bIns="0" rtlCol="0" anchor="t"/>
            <a:lstStyle/>
            <a:p>
              <a:pPr marL="0" indent="0" algn="l">
                <a:lnSpc>
                  <a:spcPts val="1800"/>
                </a:lnSpc>
                <a:buNone/>
              </a:pPr>
              <a:r>
                <a:rPr lang="en-US" sz="1350" dirty="0">
                  <a:solidFill>
                    <a:srgbClr val="E2E6E9"/>
                  </a:solidFill>
                  <a:latin typeface="Source Sans 3" pitchFamily="34" charset="0"/>
                  <a:ea typeface="Source Sans 3" pitchFamily="34" charset="-122"/>
                  <a:cs typeface="Source Sans 3" pitchFamily="34" charset="-120"/>
                </a:rPr>
                <a:t>MVP (Minimum Viable Product) yaradılır, texniki həyata keçirilə bilənlik yoxlanır.</a:t>
              </a:r>
              <a:endParaRPr lang="en-US" sz="1350" dirty="0"/>
            </a:p>
          </p:txBody>
        </p:sp>
        <p:sp>
          <p:nvSpPr>
            <p:cNvPr id="21" name="Shape 18"/>
            <p:cNvSpPr/>
            <p:nvPr/>
          </p:nvSpPr>
          <p:spPr>
            <a:xfrm>
              <a:off x="7383304" y="4913948"/>
              <a:ext cx="2973824" cy="1369219"/>
            </a:xfrm>
            <a:prstGeom prst="roundRect">
              <a:avLst>
                <a:gd name="adj" fmla="val 1880"/>
              </a:avLst>
            </a:prstGeom>
            <a:solidFill>
              <a:srgbClr val="303132"/>
            </a:solidFill>
            <a:ln/>
          </p:spPr>
          <p:txBody>
            <a:bodyPr/>
            <a:lstStyle/>
            <a:p>
              <a:endParaRPr lang="en-US"/>
            </a:p>
          </p:txBody>
        </p:sp>
        <p:sp>
          <p:nvSpPr>
            <p:cNvPr id="22" name="Text 19"/>
            <p:cNvSpPr/>
            <p:nvPr/>
          </p:nvSpPr>
          <p:spPr>
            <a:xfrm>
              <a:off x="7554873" y="5085517"/>
              <a:ext cx="1950363" cy="251341"/>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Montserrat Bold" pitchFamily="34" charset="0"/>
                  <a:ea typeface="Montserrat Bold" pitchFamily="34" charset="-122"/>
                  <a:cs typeface="Montserrat Bold" pitchFamily="34" charset="-120"/>
                </a:rPr>
                <a:t>🧪</a:t>
              </a:r>
              <a:r>
                <a:rPr lang="en-US" sz="1500" b="1" dirty="0">
                  <a:solidFill>
                    <a:srgbClr val="E2E6E9"/>
                  </a:solidFill>
                  <a:latin typeface="Montserrat Bold" pitchFamily="34" charset="0"/>
                  <a:ea typeface="Montserrat Bold" pitchFamily="34" charset="-122"/>
                  <a:cs typeface="Montserrat Bold" pitchFamily="34" charset="-120"/>
                </a:rPr>
                <a:t> Test</a:t>
              </a:r>
              <a:endParaRPr lang="en-US" sz="1500" dirty="0"/>
            </a:p>
          </p:txBody>
        </p:sp>
        <p:sp>
          <p:nvSpPr>
            <p:cNvPr id="23" name="Text 20"/>
            <p:cNvSpPr/>
            <p:nvPr/>
          </p:nvSpPr>
          <p:spPr>
            <a:xfrm>
              <a:off x="7554873" y="5418653"/>
              <a:ext cx="2630686" cy="461963"/>
            </a:xfrm>
            <a:prstGeom prst="rect">
              <a:avLst/>
            </a:prstGeom>
            <a:noFill/>
            <a:ln/>
          </p:spPr>
          <p:txBody>
            <a:bodyPr wrap="square" lIns="0" tIns="0" rIns="0" bIns="0" rtlCol="0" anchor="t"/>
            <a:lstStyle/>
            <a:p>
              <a:pPr marL="0" indent="0" algn="l">
                <a:lnSpc>
                  <a:spcPts val="1800"/>
                </a:lnSpc>
                <a:buNone/>
              </a:pPr>
              <a:r>
                <a:rPr lang="en-US" sz="1350" dirty="0">
                  <a:solidFill>
                    <a:srgbClr val="E2E6E9"/>
                  </a:solidFill>
                  <a:latin typeface="Source Sans 3" pitchFamily="34" charset="0"/>
                  <a:ea typeface="Source Sans 3" pitchFamily="34" charset="-122"/>
                  <a:cs typeface="Source Sans 3" pitchFamily="34" charset="-120"/>
                </a:rPr>
                <a:t>İstifadəçi rəyi toplanır, A/B testlər aparılır, iterasiya edilir.</a:t>
              </a:r>
              <a:endParaRPr lang="en-US" sz="1350" dirty="0"/>
            </a:p>
          </p:txBody>
        </p:sp>
        <p:sp>
          <p:nvSpPr>
            <p:cNvPr id="24" name="Shape 21"/>
            <p:cNvSpPr/>
            <p:nvPr/>
          </p:nvSpPr>
          <p:spPr>
            <a:xfrm>
              <a:off x="10493454" y="4913948"/>
              <a:ext cx="2973943" cy="1369219"/>
            </a:xfrm>
            <a:prstGeom prst="roundRect">
              <a:avLst>
                <a:gd name="adj" fmla="val 1880"/>
              </a:avLst>
            </a:prstGeom>
            <a:solidFill>
              <a:srgbClr val="303132"/>
            </a:solidFill>
            <a:ln/>
          </p:spPr>
          <p:txBody>
            <a:bodyPr/>
            <a:lstStyle/>
            <a:p>
              <a:endParaRPr lang="en-US"/>
            </a:p>
          </p:txBody>
        </p:sp>
        <p:sp>
          <p:nvSpPr>
            <p:cNvPr id="25" name="Text 22"/>
            <p:cNvSpPr/>
            <p:nvPr/>
          </p:nvSpPr>
          <p:spPr>
            <a:xfrm>
              <a:off x="10665023" y="5085517"/>
              <a:ext cx="1950363" cy="251341"/>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Montserrat Bold" pitchFamily="34" charset="0"/>
                  <a:ea typeface="Montserrat Bold" pitchFamily="34" charset="-122"/>
                  <a:cs typeface="Montserrat Bold" pitchFamily="34" charset="-120"/>
                </a:rPr>
                <a:t>📈</a:t>
              </a:r>
              <a:r>
                <a:rPr lang="en-US" sz="1500" b="1" dirty="0">
                  <a:solidFill>
                    <a:srgbClr val="E2E6E9"/>
                  </a:solidFill>
                  <a:latin typeface="Montserrat Bold" pitchFamily="34" charset="0"/>
                  <a:ea typeface="Montserrat Bold" pitchFamily="34" charset="-122"/>
                  <a:cs typeface="Montserrat Bold" pitchFamily="34" charset="-120"/>
                </a:rPr>
                <a:t> Miqyaslama</a:t>
              </a:r>
              <a:endParaRPr lang="en-US" sz="1500" dirty="0"/>
            </a:p>
          </p:txBody>
        </p:sp>
        <p:sp>
          <p:nvSpPr>
            <p:cNvPr id="26" name="Text 23"/>
            <p:cNvSpPr/>
            <p:nvPr/>
          </p:nvSpPr>
          <p:spPr>
            <a:xfrm>
              <a:off x="10665023" y="5418653"/>
              <a:ext cx="2630805" cy="461963"/>
            </a:xfrm>
            <a:prstGeom prst="rect">
              <a:avLst/>
            </a:prstGeom>
            <a:noFill/>
            <a:ln/>
          </p:spPr>
          <p:txBody>
            <a:bodyPr wrap="square" lIns="0" tIns="0" rIns="0" bIns="0" rtlCol="0" anchor="t"/>
            <a:lstStyle/>
            <a:p>
              <a:pPr marL="0" indent="0" algn="l">
                <a:lnSpc>
                  <a:spcPts val="1800"/>
                </a:lnSpc>
                <a:buNone/>
              </a:pPr>
              <a:r>
                <a:rPr lang="en-US" sz="1350" dirty="0">
                  <a:solidFill>
                    <a:srgbClr val="E2E6E9"/>
                  </a:solidFill>
                  <a:latin typeface="Source Sans 3" pitchFamily="34" charset="0"/>
                  <a:ea typeface="Source Sans 3" pitchFamily="34" charset="-122"/>
                  <a:cs typeface="Source Sans 3" pitchFamily="34" charset="-120"/>
                </a:rPr>
                <a:t>Əməliyyat genişləndirilir, yeni bazarlara çıxış planlanır.</a:t>
              </a:r>
              <a:endParaRPr lang="en-US" sz="1350" dirty="0"/>
            </a:p>
          </p:txBody>
        </p:sp>
        <p:sp>
          <p:nvSpPr>
            <p:cNvPr id="27" name="Shape 24"/>
            <p:cNvSpPr/>
            <p:nvPr/>
          </p:nvSpPr>
          <p:spPr>
            <a:xfrm>
              <a:off x="1163003" y="6419493"/>
              <a:ext cx="12304395" cy="907256"/>
            </a:xfrm>
            <a:prstGeom prst="roundRect">
              <a:avLst>
                <a:gd name="adj" fmla="val 2838"/>
              </a:avLst>
            </a:prstGeom>
            <a:solidFill>
              <a:srgbClr val="303132"/>
            </a:solidFill>
            <a:ln/>
          </p:spPr>
          <p:txBody>
            <a:bodyPr/>
            <a:lstStyle/>
            <a:p>
              <a:endParaRPr lang="en-US"/>
            </a:p>
          </p:txBody>
        </p:sp>
        <p:sp>
          <p:nvSpPr>
            <p:cNvPr id="28" name="Text 25"/>
            <p:cNvSpPr/>
            <p:nvPr/>
          </p:nvSpPr>
          <p:spPr>
            <a:xfrm>
              <a:off x="1334572" y="6591062"/>
              <a:ext cx="2460784" cy="251341"/>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Montserrat Bold" pitchFamily="34" charset="0"/>
                  <a:ea typeface="Montserrat Bold" pitchFamily="34" charset="-122"/>
                  <a:cs typeface="Montserrat Bold" pitchFamily="34" charset="-120"/>
                </a:rPr>
                <a:t>💰</a:t>
              </a:r>
              <a:r>
                <a:rPr lang="en-US" sz="1500" b="1" dirty="0">
                  <a:solidFill>
                    <a:srgbClr val="E2E6E9"/>
                  </a:solidFill>
                  <a:latin typeface="Montserrat Bold" pitchFamily="34" charset="0"/>
                  <a:ea typeface="Montserrat Bold" pitchFamily="34" charset="-122"/>
                  <a:cs typeface="Montserrat Bold" pitchFamily="34" charset="-120"/>
                </a:rPr>
                <a:t> Kommersiyalaşdırma</a:t>
              </a:r>
              <a:endParaRPr lang="en-US" sz="1500" dirty="0"/>
            </a:p>
          </p:txBody>
        </p:sp>
        <p:sp>
          <p:nvSpPr>
            <p:cNvPr id="29" name="Text 26"/>
            <p:cNvSpPr/>
            <p:nvPr/>
          </p:nvSpPr>
          <p:spPr>
            <a:xfrm>
              <a:off x="1334572" y="6924199"/>
              <a:ext cx="11961257" cy="230981"/>
            </a:xfrm>
            <a:prstGeom prst="rect">
              <a:avLst/>
            </a:prstGeom>
            <a:noFill/>
            <a:ln/>
          </p:spPr>
          <p:txBody>
            <a:bodyPr wrap="none" lIns="0" tIns="0" rIns="0" bIns="0" rtlCol="0" anchor="t"/>
            <a:lstStyle/>
            <a:p>
              <a:pPr marL="0" indent="0" algn="l">
                <a:lnSpc>
                  <a:spcPts val="1800"/>
                </a:lnSpc>
                <a:buNone/>
              </a:pPr>
              <a:r>
                <a:rPr lang="en-US" sz="1350" dirty="0">
                  <a:solidFill>
                    <a:srgbClr val="E2E6E9"/>
                  </a:solidFill>
                  <a:latin typeface="Source Sans 3" pitchFamily="34" charset="0"/>
                  <a:ea typeface="Source Sans 3" pitchFamily="34" charset="-122"/>
                  <a:cs typeface="Source Sans 3" pitchFamily="34" charset="-120"/>
                </a:rPr>
                <a:t>Bazara çıxış strategiyası, gəlir modeli və brend mövqeləndirməsi həyata keçirilir.</a:t>
              </a:r>
              <a:endParaRPr lang="en-US" sz="1350" dirty="0"/>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DAA4F803-E1B9-36F5-BE5B-219BEDA3F701}"/>
              </a:ext>
            </a:extLst>
          </p:cNvPr>
          <p:cNvGrpSpPr/>
          <p:nvPr/>
        </p:nvGrpSpPr>
        <p:grpSpPr>
          <a:xfrm>
            <a:off x="225911" y="311972"/>
            <a:ext cx="14189336" cy="7670202"/>
            <a:chOff x="1225748" y="1174552"/>
            <a:chExt cx="12186524" cy="5730120"/>
          </a:xfrm>
        </p:grpSpPr>
        <p:sp>
          <p:nvSpPr>
            <p:cNvPr id="2" name="Text 0"/>
            <p:cNvSpPr/>
            <p:nvPr/>
          </p:nvSpPr>
          <p:spPr>
            <a:xfrm>
              <a:off x="1225748" y="1174552"/>
              <a:ext cx="7483792" cy="482560"/>
            </a:xfrm>
            <a:prstGeom prst="rect">
              <a:avLst/>
            </a:prstGeom>
            <a:noFill/>
            <a:ln/>
          </p:spPr>
          <p:txBody>
            <a:bodyPr wrap="none" lIns="0" tIns="0" rIns="0" bIns="0" rtlCol="0" anchor="t"/>
            <a:lstStyle/>
            <a:p>
              <a:pPr marL="0" indent="0" algn="l">
                <a:lnSpc>
                  <a:spcPts val="3800"/>
                </a:lnSpc>
                <a:buNone/>
              </a:pPr>
              <a:r>
                <a:rPr lang="en-US" sz="3000" b="1" dirty="0">
                  <a:solidFill>
                    <a:srgbClr val="FFFFFF"/>
                  </a:solidFill>
                  <a:latin typeface="Montserrat Bold" pitchFamily="34" charset="0"/>
                  <a:ea typeface="Montserrat Bold" pitchFamily="34" charset="-122"/>
                  <a:cs typeface="Montserrat Bold" pitchFamily="34" charset="-120"/>
                </a:rPr>
                <a:t>SI İdeya Generasiyasını Necə Dəyişir?</a:t>
              </a:r>
              <a:endParaRPr lang="en-US" sz="3000" dirty="0"/>
            </a:p>
          </p:txBody>
        </p:sp>
        <p:sp>
          <p:nvSpPr>
            <p:cNvPr id="3" name="Text 1"/>
            <p:cNvSpPr/>
            <p:nvPr/>
          </p:nvSpPr>
          <p:spPr>
            <a:xfrm>
              <a:off x="1225748" y="1924288"/>
              <a:ext cx="12178903" cy="455295"/>
            </a:xfrm>
            <a:prstGeom prst="rect">
              <a:avLst/>
            </a:prstGeom>
            <a:noFill/>
            <a:ln/>
          </p:spPr>
          <p:txBody>
            <a:bodyPr wrap="square" lIns="0" tIns="0" rIns="0" bIns="0" rtlCol="0" anchor="t"/>
            <a:lstStyle/>
            <a:p>
              <a:pPr marL="0" indent="0" algn="l">
                <a:lnSpc>
                  <a:spcPts val="1750"/>
                </a:lnSpc>
                <a:buNone/>
              </a:pPr>
              <a:r>
                <a:rPr lang="en-US" sz="1700" dirty="0">
                  <a:solidFill>
                    <a:srgbClr val="E2E6E9"/>
                  </a:solidFill>
                  <a:latin typeface="Source Sans 3" pitchFamily="34" charset="0"/>
                  <a:ea typeface="Source Sans 3" pitchFamily="34" charset="-122"/>
                  <a:cs typeface="Source Sans 3" pitchFamily="34" charset="-120"/>
                </a:rPr>
                <a:t>İnnovasiya prosesinin ən kritik mərhələsi — yeni ideyaların yaranması — artıq SI alətləri ilə əsaslı şəkildə transformasiya olunub. Generativ SI, istifadəçi davranışı analitikası və klasterləşdirmə alqoritmləri, insanların tək başına nail ola bilməyəcəyi sürət və miqyasda ideya generasiyasına imkan yaradır.</a:t>
              </a:r>
              <a:endParaRPr lang="en-US" sz="1700" dirty="0"/>
            </a:p>
          </p:txBody>
        </p:sp>
        <p:sp>
          <p:nvSpPr>
            <p:cNvPr id="4" name="Text 2"/>
            <p:cNvSpPr/>
            <p:nvPr/>
          </p:nvSpPr>
          <p:spPr>
            <a:xfrm>
              <a:off x="1225748" y="2663428"/>
              <a:ext cx="3018592" cy="241221"/>
            </a:xfrm>
            <a:prstGeom prst="rect">
              <a:avLst/>
            </a:prstGeom>
            <a:noFill/>
            <a:ln/>
          </p:spPr>
          <p:txBody>
            <a:bodyPr wrap="none" lIns="0" tIns="0" rIns="0" bIns="0" rtlCol="0" anchor="t"/>
            <a:lstStyle/>
            <a:p>
              <a:pPr marL="0" indent="0" algn="l">
                <a:lnSpc>
                  <a:spcPts val="1900"/>
                </a:lnSpc>
                <a:buNone/>
              </a:pPr>
              <a:r>
                <a:rPr lang="en-US" sz="1500" b="1" dirty="0">
                  <a:solidFill>
                    <a:srgbClr val="FFFFFF"/>
                  </a:solidFill>
                  <a:latin typeface="Montserrat Bold" pitchFamily="34" charset="0"/>
                  <a:ea typeface="Montserrat Bold" pitchFamily="34" charset="-122"/>
                  <a:cs typeface="Montserrat Bold" pitchFamily="34" charset="-120"/>
                </a:rPr>
                <a:t>Generativ SI ilə Beyin Həmləsi</a:t>
              </a:r>
              <a:endParaRPr lang="en-US" sz="1500" dirty="0"/>
            </a:p>
          </p:txBody>
        </p:sp>
        <p:sp>
          <p:nvSpPr>
            <p:cNvPr id="5" name="Text 3"/>
            <p:cNvSpPr/>
            <p:nvPr/>
          </p:nvSpPr>
          <p:spPr>
            <a:xfrm>
              <a:off x="1225748" y="3038237"/>
              <a:ext cx="5882283" cy="910590"/>
            </a:xfrm>
            <a:prstGeom prst="rect">
              <a:avLst/>
            </a:prstGeom>
            <a:noFill/>
            <a:ln/>
          </p:spPr>
          <p:txBody>
            <a:bodyPr wrap="squar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ChatGPT, Claude, Gemini kimi böyük dil modelləri sonsuz sayda variant, analогия və ssenari generasiya edə bilir. İnsan kreativliyi ilə birləşdikdə, bu alətlər ideya funnel-ini xətti şəkildə genişləndirir. SI bir problem üçün yüzlərlə potensial həll sıralayır, insan isə ən perspektivlilərini seçir.</a:t>
              </a:r>
              <a:endParaRPr lang="en-US" sz="1300" dirty="0"/>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89447" y="4104203"/>
              <a:ext cx="254794" cy="254794"/>
            </a:xfrm>
            <a:prstGeom prst="rect">
              <a:avLst/>
            </a:prstGeom>
          </p:spPr>
        </p:pic>
        <p:sp>
          <p:nvSpPr>
            <p:cNvPr id="7" name="Text 4"/>
            <p:cNvSpPr/>
            <p:nvPr/>
          </p:nvSpPr>
          <p:spPr>
            <a:xfrm>
              <a:off x="1777722" y="4099084"/>
              <a:ext cx="2130385" cy="241221"/>
            </a:xfrm>
            <a:prstGeom prst="rect">
              <a:avLst/>
            </a:prstGeom>
            <a:noFill/>
            <a:ln/>
          </p:spPr>
          <p:txBody>
            <a:bodyPr wrap="none" lIns="0" tIns="0" rIns="0" bIns="0" rtlCol="0" anchor="t"/>
            <a:lstStyle/>
            <a:p>
              <a:pPr marL="0" indent="0" algn="l">
                <a:lnSpc>
                  <a:spcPts val="1900"/>
                </a:lnSpc>
                <a:buNone/>
              </a:pPr>
              <a:r>
                <a:rPr lang="en-US" sz="1500" b="1" dirty="0">
                  <a:solidFill>
                    <a:srgbClr val="E2E6E9"/>
                  </a:solidFill>
                  <a:latin typeface="Montserrat Bold" pitchFamily="34" charset="0"/>
                  <a:ea typeface="Montserrat Bold" pitchFamily="34" charset="-122"/>
                  <a:cs typeface="Montserrat Bold" pitchFamily="34" charset="-120"/>
                </a:rPr>
                <a:t>Prompt mühəndisliyi</a:t>
              </a:r>
              <a:endParaRPr lang="en-US" sz="1500" dirty="0"/>
            </a:p>
          </p:txBody>
        </p:sp>
        <p:sp>
          <p:nvSpPr>
            <p:cNvPr id="8" name="Text 5"/>
            <p:cNvSpPr/>
            <p:nvPr/>
          </p:nvSpPr>
          <p:spPr>
            <a:xfrm>
              <a:off x="1777722" y="4473893"/>
              <a:ext cx="5330309" cy="227648"/>
            </a:xfrm>
            <a:prstGeom prst="rect">
              <a:avLst/>
            </a:prstGeom>
            <a:noFill/>
            <a:ln/>
          </p:spPr>
          <p:txBody>
            <a:bodyPr wrap="non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Düzgün sual vermək — SI-dən daha keyfiyyətli ideya almağın açarıdır.</a:t>
              </a:r>
              <a:endParaRPr lang="en-US" sz="1300" dirty="0"/>
            </a:p>
          </p:txBody>
        </p:sp>
        <p:pic>
          <p:nvPicPr>
            <p:cNvPr id="9" name="Image 1"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89447" y="4973836"/>
              <a:ext cx="254794" cy="254794"/>
            </a:xfrm>
            <a:prstGeom prst="rect">
              <a:avLst/>
            </a:prstGeom>
          </p:spPr>
        </p:pic>
        <p:sp>
          <p:nvSpPr>
            <p:cNvPr id="10" name="Text 6"/>
            <p:cNvSpPr/>
            <p:nvPr/>
          </p:nvSpPr>
          <p:spPr>
            <a:xfrm>
              <a:off x="1777722" y="4968716"/>
              <a:ext cx="2811542" cy="241221"/>
            </a:xfrm>
            <a:prstGeom prst="rect">
              <a:avLst/>
            </a:prstGeom>
            <a:noFill/>
            <a:ln/>
          </p:spPr>
          <p:txBody>
            <a:bodyPr wrap="none" lIns="0" tIns="0" rIns="0" bIns="0" rtlCol="0" anchor="t"/>
            <a:lstStyle/>
            <a:p>
              <a:pPr marL="0" indent="0" algn="l">
                <a:lnSpc>
                  <a:spcPts val="1900"/>
                </a:lnSpc>
                <a:buNone/>
              </a:pPr>
              <a:r>
                <a:rPr lang="en-US" sz="1500" b="1" dirty="0">
                  <a:solidFill>
                    <a:srgbClr val="E2E6E9"/>
                  </a:solidFill>
                  <a:latin typeface="Montserrat Bold" pitchFamily="34" charset="0"/>
                  <a:ea typeface="Montserrat Bold" pitchFamily="34" charset="-122"/>
                  <a:cs typeface="Montserrat Bold" pitchFamily="34" charset="-120"/>
                </a:rPr>
                <a:t>Çarpaz sənaye analogiyaları</a:t>
              </a:r>
              <a:endParaRPr lang="en-US" sz="1500" dirty="0"/>
            </a:p>
          </p:txBody>
        </p:sp>
        <p:sp>
          <p:nvSpPr>
            <p:cNvPr id="11" name="Text 7"/>
            <p:cNvSpPr/>
            <p:nvPr/>
          </p:nvSpPr>
          <p:spPr>
            <a:xfrm>
              <a:off x="1777722" y="5343525"/>
              <a:ext cx="5330309" cy="227648"/>
            </a:xfrm>
            <a:prstGeom prst="rect">
              <a:avLst/>
            </a:prstGeom>
            <a:noFill/>
            <a:ln/>
          </p:spPr>
          <p:txBody>
            <a:bodyPr wrap="non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SI fərqli sənayələrdən ideyaları birləşdirərək hibrid həllər təklif edə bilir.</a:t>
              </a:r>
              <a:endParaRPr lang="en-US" sz="1300" dirty="0"/>
            </a:p>
          </p:txBody>
        </p:sp>
        <p:sp>
          <p:nvSpPr>
            <p:cNvPr id="12" name="Text 8"/>
            <p:cNvSpPr/>
            <p:nvPr/>
          </p:nvSpPr>
          <p:spPr>
            <a:xfrm>
              <a:off x="7529989" y="2663428"/>
              <a:ext cx="3517344" cy="241221"/>
            </a:xfrm>
            <a:prstGeom prst="rect">
              <a:avLst/>
            </a:prstGeom>
            <a:noFill/>
            <a:ln/>
          </p:spPr>
          <p:txBody>
            <a:bodyPr wrap="none" lIns="0" tIns="0" rIns="0" bIns="0" rtlCol="0" anchor="t"/>
            <a:lstStyle/>
            <a:p>
              <a:pPr marL="0" indent="0" algn="l">
                <a:lnSpc>
                  <a:spcPts val="1900"/>
                </a:lnSpc>
                <a:buNone/>
              </a:pPr>
              <a:r>
                <a:rPr lang="en-US" sz="1500" b="1" dirty="0">
                  <a:solidFill>
                    <a:srgbClr val="FFFFFF"/>
                  </a:solidFill>
                  <a:latin typeface="Montserrat Bold" pitchFamily="34" charset="0"/>
                  <a:ea typeface="Montserrat Bold" pitchFamily="34" charset="-122"/>
                  <a:cs typeface="Montserrat Bold" pitchFamily="34" charset="-120"/>
                </a:rPr>
                <a:t>Trendlər Analizi və Klasterləşdirmə</a:t>
              </a:r>
              <a:endParaRPr lang="en-US" sz="1500" dirty="0"/>
            </a:p>
          </p:txBody>
        </p:sp>
        <p:sp>
          <p:nvSpPr>
            <p:cNvPr id="13" name="Text 9"/>
            <p:cNvSpPr/>
            <p:nvPr/>
          </p:nvSpPr>
          <p:spPr>
            <a:xfrm>
              <a:off x="7529989" y="3038237"/>
              <a:ext cx="5882283" cy="910590"/>
            </a:xfrm>
            <a:prstGeom prst="rect">
              <a:avLst/>
            </a:prstGeom>
            <a:noFill/>
            <a:ln/>
          </p:spPr>
          <p:txBody>
            <a:bodyPr wrap="squar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Maşın öyrənməsi modelləri sosial media axınları, patent bazaları, akademik məqalələr və istehlakçı davranışı məlumatlarını real vaxt rejimində analiz edərək yüksələn trendləri erkən aşkarlaya bilir. NLP (Təbii Dil Emalı) alqoritmləri istifadəçi rəylərini klasterləşdirərək hələ heç kəsin həll etmədiyi "ağrı nöqtələrini" üzə çıxarır.</a:t>
              </a:r>
              <a:endParaRPr lang="en-US" sz="1300" dirty="0"/>
            </a:p>
          </p:txBody>
        </p:sp>
        <p:sp>
          <p:nvSpPr>
            <p:cNvPr id="14" name="Shape 10"/>
            <p:cNvSpPr/>
            <p:nvPr/>
          </p:nvSpPr>
          <p:spPr>
            <a:xfrm>
              <a:off x="7529989" y="4099084"/>
              <a:ext cx="2874288" cy="1456611"/>
            </a:xfrm>
            <a:prstGeom prst="roundRect">
              <a:avLst>
                <a:gd name="adj" fmla="val 1749"/>
              </a:avLst>
            </a:prstGeom>
            <a:solidFill>
              <a:srgbClr val="111213"/>
            </a:solidFill>
            <a:ln w="22860">
              <a:solidFill>
                <a:srgbClr val="494A4B"/>
              </a:solidFill>
              <a:prstDash val="solid"/>
            </a:ln>
          </p:spPr>
          <p:txBody>
            <a:bodyPr/>
            <a:lstStyle/>
            <a:p>
              <a:endParaRPr lang="en-US"/>
            </a:p>
          </p:txBody>
        </p:sp>
        <p:sp>
          <p:nvSpPr>
            <p:cNvPr id="15" name="Text 11"/>
            <p:cNvSpPr/>
            <p:nvPr/>
          </p:nvSpPr>
          <p:spPr>
            <a:xfrm>
              <a:off x="7722632" y="4291727"/>
              <a:ext cx="1930479" cy="241221"/>
            </a:xfrm>
            <a:prstGeom prst="rect">
              <a:avLst/>
            </a:prstGeom>
            <a:noFill/>
            <a:ln/>
          </p:spPr>
          <p:txBody>
            <a:bodyPr wrap="none" lIns="0" tIns="0" rIns="0" bIns="0" rtlCol="0" anchor="t"/>
            <a:lstStyle/>
            <a:p>
              <a:pPr marL="0" indent="0" algn="l">
                <a:lnSpc>
                  <a:spcPts val="1900"/>
                </a:lnSpc>
                <a:buNone/>
              </a:pPr>
              <a:r>
                <a:rPr lang="en-US" sz="1500" b="1" dirty="0">
                  <a:solidFill>
                    <a:srgbClr val="E2E6E9"/>
                  </a:solidFill>
                  <a:latin typeface="Montserrat Bold" pitchFamily="34" charset="0"/>
                  <a:ea typeface="Montserrat Bold" pitchFamily="34" charset="-122"/>
                  <a:cs typeface="Montserrat Bold" pitchFamily="34" charset="-120"/>
                </a:rPr>
                <a:t>Google Trends + SI</a:t>
              </a:r>
              <a:endParaRPr lang="en-US" sz="1500" dirty="0"/>
            </a:p>
          </p:txBody>
        </p:sp>
        <p:sp>
          <p:nvSpPr>
            <p:cNvPr id="16" name="Text 12"/>
            <p:cNvSpPr/>
            <p:nvPr/>
          </p:nvSpPr>
          <p:spPr>
            <a:xfrm>
              <a:off x="7722632" y="4666536"/>
              <a:ext cx="2489002" cy="455295"/>
            </a:xfrm>
            <a:prstGeom prst="rect">
              <a:avLst/>
            </a:prstGeom>
            <a:noFill/>
            <a:ln/>
          </p:spPr>
          <p:txBody>
            <a:bodyPr wrap="squar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Axtarış həcmindəki anomaliyalar yeni tələbatların siqnalıdır.</a:t>
              </a:r>
              <a:endParaRPr lang="en-US" sz="1300" dirty="0"/>
            </a:p>
          </p:txBody>
        </p:sp>
        <p:sp>
          <p:nvSpPr>
            <p:cNvPr id="17" name="Shape 13"/>
            <p:cNvSpPr/>
            <p:nvPr/>
          </p:nvSpPr>
          <p:spPr>
            <a:xfrm>
              <a:off x="10537865" y="4099084"/>
              <a:ext cx="2874407" cy="1456611"/>
            </a:xfrm>
            <a:prstGeom prst="roundRect">
              <a:avLst>
                <a:gd name="adj" fmla="val 1749"/>
              </a:avLst>
            </a:prstGeom>
            <a:solidFill>
              <a:srgbClr val="111213"/>
            </a:solidFill>
            <a:ln w="22860">
              <a:solidFill>
                <a:srgbClr val="494A4B"/>
              </a:solidFill>
              <a:prstDash val="solid"/>
            </a:ln>
          </p:spPr>
          <p:txBody>
            <a:bodyPr/>
            <a:lstStyle/>
            <a:p>
              <a:endParaRPr lang="en-US"/>
            </a:p>
          </p:txBody>
        </p:sp>
        <p:sp>
          <p:nvSpPr>
            <p:cNvPr id="18" name="Text 14"/>
            <p:cNvSpPr/>
            <p:nvPr/>
          </p:nvSpPr>
          <p:spPr>
            <a:xfrm>
              <a:off x="10730508" y="4291727"/>
              <a:ext cx="2489121" cy="482441"/>
            </a:xfrm>
            <a:prstGeom prst="rect">
              <a:avLst/>
            </a:prstGeom>
            <a:noFill/>
            <a:ln/>
          </p:spPr>
          <p:txBody>
            <a:bodyPr wrap="square" lIns="0" tIns="0" rIns="0" bIns="0" rtlCol="0" anchor="t"/>
            <a:lstStyle/>
            <a:p>
              <a:pPr marL="0" indent="0" algn="l">
                <a:lnSpc>
                  <a:spcPts val="1900"/>
                </a:lnSpc>
                <a:buNone/>
              </a:pPr>
              <a:r>
                <a:rPr lang="en-US" sz="1500" b="1" dirty="0">
                  <a:solidFill>
                    <a:srgbClr val="E2E6E9"/>
                  </a:solidFill>
                  <a:latin typeface="Montserrat Bold" pitchFamily="34" charset="0"/>
                  <a:ea typeface="Montserrat Bold" pitchFamily="34" charset="-122"/>
                  <a:cs typeface="Montserrat Bold" pitchFamily="34" charset="-120"/>
                </a:rPr>
                <a:t>Müştəri Rəylərinin NLP Analizi</a:t>
              </a:r>
              <a:endParaRPr lang="en-US" sz="1500" dirty="0"/>
            </a:p>
          </p:txBody>
        </p:sp>
        <p:sp>
          <p:nvSpPr>
            <p:cNvPr id="19" name="Text 15"/>
            <p:cNvSpPr/>
            <p:nvPr/>
          </p:nvSpPr>
          <p:spPr>
            <a:xfrm>
              <a:off x="10730508" y="4907756"/>
              <a:ext cx="2489121" cy="455295"/>
            </a:xfrm>
            <a:prstGeom prst="rect">
              <a:avLst/>
            </a:prstGeom>
            <a:noFill/>
            <a:ln/>
          </p:spPr>
          <p:txBody>
            <a:bodyPr wrap="squar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Minlərlə şərhdəki gizli naxış — innovasiya imkanı deməkdir.</a:t>
              </a:r>
              <a:endParaRPr lang="en-US" sz="1300" dirty="0"/>
            </a:p>
          </p:txBody>
        </p:sp>
        <p:sp>
          <p:nvSpPr>
            <p:cNvPr id="20" name="Shape 16"/>
            <p:cNvSpPr/>
            <p:nvPr/>
          </p:nvSpPr>
          <p:spPr>
            <a:xfrm>
              <a:off x="7529989" y="5689282"/>
              <a:ext cx="5882283" cy="1215390"/>
            </a:xfrm>
            <a:prstGeom prst="roundRect">
              <a:avLst>
                <a:gd name="adj" fmla="val 2097"/>
              </a:avLst>
            </a:prstGeom>
            <a:solidFill>
              <a:srgbClr val="111213"/>
            </a:solidFill>
            <a:ln w="22860">
              <a:solidFill>
                <a:srgbClr val="494A4B"/>
              </a:solidFill>
              <a:prstDash val="solid"/>
            </a:ln>
          </p:spPr>
          <p:txBody>
            <a:bodyPr/>
            <a:lstStyle/>
            <a:p>
              <a:endParaRPr lang="en-US"/>
            </a:p>
          </p:txBody>
        </p:sp>
        <p:sp>
          <p:nvSpPr>
            <p:cNvPr id="21" name="Text 17"/>
            <p:cNvSpPr/>
            <p:nvPr/>
          </p:nvSpPr>
          <p:spPr>
            <a:xfrm>
              <a:off x="7722632" y="5881926"/>
              <a:ext cx="1930479" cy="241221"/>
            </a:xfrm>
            <a:prstGeom prst="rect">
              <a:avLst/>
            </a:prstGeom>
            <a:noFill/>
            <a:ln/>
          </p:spPr>
          <p:txBody>
            <a:bodyPr wrap="none" lIns="0" tIns="0" rIns="0" bIns="0" rtlCol="0" anchor="t"/>
            <a:lstStyle/>
            <a:p>
              <a:pPr marL="0" indent="0" algn="l">
                <a:lnSpc>
                  <a:spcPts val="1900"/>
                </a:lnSpc>
                <a:buNone/>
              </a:pPr>
              <a:r>
                <a:rPr lang="en-US" sz="1500" b="1" dirty="0">
                  <a:solidFill>
                    <a:srgbClr val="E2E6E9"/>
                  </a:solidFill>
                  <a:latin typeface="Montserrat Bold" pitchFamily="34" charset="0"/>
                  <a:ea typeface="Montserrat Bold" pitchFamily="34" charset="-122"/>
                  <a:cs typeface="Montserrat Bold" pitchFamily="34" charset="-120"/>
                </a:rPr>
                <a:t>Patent Analitikası</a:t>
              </a:r>
              <a:endParaRPr lang="en-US" sz="1500" dirty="0"/>
            </a:p>
          </p:txBody>
        </p:sp>
        <p:sp>
          <p:nvSpPr>
            <p:cNvPr id="22" name="Text 18"/>
            <p:cNvSpPr/>
            <p:nvPr/>
          </p:nvSpPr>
          <p:spPr>
            <a:xfrm>
              <a:off x="7722632" y="6256734"/>
              <a:ext cx="5496997" cy="455295"/>
            </a:xfrm>
            <a:prstGeom prst="rect">
              <a:avLst/>
            </a:prstGeom>
            <a:noFill/>
            <a:ln/>
          </p:spPr>
          <p:txBody>
            <a:bodyPr wrap="square" lIns="0" tIns="0" rIns="0" bIns="0" rtlCol="0" anchor="t"/>
            <a:lstStyle/>
            <a:p>
              <a:pPr marL="0" indent="0" algn="l">
                <a:lnSpc>
                  <a:spcPts val="1750"/>
                </a:lnSpc>
                <a:buNone/>
              </a:pPr>
              <a:r>
                <a:rPr lang="en-US" sz="1300" dirty="0">
                  <a:solidFill>
                    <a:srgbClr val="E2E6E9"/>
                  </a:solidFill>
                  <a:latin typeface="Source Sans 3" pitchFamily="34" charset="0"/>
                  <a:ea typeface="Source Sans 3" pitchFamily="34" charset="-122"/>
                  <a:cs typeface="Source Sans 3" pitchFamily="34" charset="-120"/>
                </a:rPr>
                <a:t>Rəqiblərin gələcək addımlarını patent məlumat bazalarından proqnozlaşdırmaq mümkündür.</a:t>
              </a:r>
              <a:endParaRPr lang="en-US" sz="130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grpSp>
        <p:nvGrpSpPr>
          <p:cNvPr id="39" name="Group 38">
            <a:extLst>
              <a:ext uri="{FF2B5EF4-FFF2-40B4-BE49-F238E27FC236}">
                <a16:creationId xmlns:a16="http://schemas.microsoft.com/office/drawing/2014/main" id="{1F7ED5C1-DA55-0850-AB76-ECD16876786A}"/>
              </a:ext>
            </a:extLst>
          </p:cNvPr>
          <p:cNvGrpSpPr/>
          <p:nvPr/>
        </p:nvGrpSpPr>
        <p:grpSpPr>
          <a:xfrm>
            <a:off x="258184" y="311972"/>
            <a:ext cx="14060243" cy="7627171"/>
            <a:chOff x="2457093" y="1303615"/>
            <a:chExt cx="9723715" cy="5526763"/>
          </a:xfrm>
        </p:grpSpPr>
        <p:sp>
          <p:nvSpPr>
            <p:cNvPr id="2" name="Text 0"/>
            <p:cNvSpPr/>
            <p:nvPr/>
          </p:nvSpPr>
          <p:spPr>
            <a:xfrm>
              <a:off x="2457093" y="1303615"/>
              <a:ext cx="4683443" cy="384929"/>
            </a:xfrm>
            <a:prstGeom prst="rect">
              <a:avLst/>
            </a:prstGeom>
            <a:noFill/>
            <a:ln/>
          </p:spPr>
          <p:txBody>
            <a:bodyPr wrap="none" lIns="0" tIns="0" rIns="0" bIns="0" rtlCol="0" anchor="t"/>
            <a:lstStyle/>
            <a:p>
              <a:pPr marL="0" indent="0" algn="l">
                <a:lnSpc>
                  <a:spcPts val="3000"/>
                </a:lnSpc>
                <a:buNone/>
              </a:pPr>
              <a:r>
                <a:rPr lang="en-US" sz="2400" b="1" dirty="0">
                  <a:solidFill>
                    <a:srgbClr val="FFFFFF"/>
                  </a:solidFill>
                  <a:latin typeface="Montserrat Bold" pitchFamily="34" charset="0"/>
                  <a:ea typeface="Montserrat Bold" pitchFamily="34" charset="-122"/>
                  <a:cs typeface="Montserrat Bold" pitchFamily="34" charset="-120"/>
                </a:rPr>
                <a:t>İnnovasiya Portfelinin Analizi</a:t>
              </a:r>
              <a:endParaRPr lang="en-US" sz="2400" dirty="0"/>
            </a:p>
          </p:txBody>
        </p:sp>
        <p:sp>
          <p:nvSpPr>
            <p:cNvPr id="3" name="Text 1"/>
            <p:cNvSpPr/>
            <p:nvPr/>
          </p:nvSpPr>
          <p:spPr>
            <a:xfrm>
              <a:off x="2457093" y="1858566"/>
              <a:ext cx="9716214" cy="330756"/>
            </a:xfrm>
            <a:prstGeom prst="rect">
              <a:avLst/>
            </a:prstGeom>
            <a:noFill/>
            <a:ln/>
          </p:spPr>
          <p:txBody>
            <a:bodyPr wrap="square" lIns="0" tIns="0" rIns="0" bIns="0" rtlCol="0" anchor="t"/>
            <a:lstStyle/>
            <a:p>
              <a:pPr marL="0" indent="0" algn="l">
                <a:lnSpc>
                  <a:spcPts val="1300"/>
                </a:lnSpc>
                <a:buNone/>
              </a:pPr>
              <a:r>
                <a:rPr lang="en-US" sz="1400" dirty="0">
                  <a:solidFill>
                    <a:srgbClr val="E2E6E9"/>
                  </a:solidFill>
                  <a:latin typeface="Source Sans 3" pitchFamily="34" charset="0"/>
                  <a:ea typeface="Source Sans 3" pitchFamily="34" charset="-122"/>
                  <a:cs typeface="Source Sans 3" pitchFamily="34" charset="-120"/>
                </a:rPr>
                <a:t>Bütün innovasiya layihələri eyni dərəcədə dəstəklənə bilməz. Şirkətlər öz resurslarını strateji olaraq bölüşdürmək, risk ilə gəlirliliyi balanslaşdırmaq üçün portfel idarəetmə çərçivələrindən istifadə edir. SI bu analizi daha dəqiq və dinamik edir.</a:t>
              </a:r>
              <a:endParaRPr lang="en-US" sz="1400" dirty="0"/>
            </a:p>
          </p:txBody>
        </p:sp>
        <p:sp>
          <p:nvSpPr>
            <p:cNvPr id="4" name="Text 2"/>
            <p:cNvSpPr/>
            <p:nvPr/>
          </p:nvSpPr>
          <p:spPr>
            <a:xfrm>
              <a:off x="2457093" y="2369939"/>
              <a:ext cx="1540073" cy="192524"/>
            </a:xfrm>
            <a:prstGeom prst="rect">
              <a:avLst/>
            </a:prstGeom>
            <a:noFill/>
            <a:ln/>
          </p:spPr>
          <p:txBody>
            <a:bodyPr wrap="none" lIns="0" tIns="0" rIns="0" bIns="0" rtlCol="0" anchor="t"/>
            <a:lstStyle/>
            <a:p>
              <a:pPr marL="0" indent="0" algn="l">
                <a:lnSpc>
                  <a:spcPts val="1500"/>
                </a:lnSpc>
                <a:buNone/>
              </a:pPr>
              <a:r>
                <a:rPr lang="en-US" sz="1200" b="1" dirty="0">
                  <a:solidFill>
                    <a:srgbClr val="FFFFFF"/>
                  </a:solidFill>
                  <a:latin typeface="Montserrat Bold" pitchFamily="34" charset="0"/>
                  <a:ea typeface="Montserrat Bold" pitchFamily="34" charset="-122"/>
                  <a:cs typeface="Montserrat Bold" pitchFamily="34" charset="-120"/>
                </a:rPr>
                <a:t>BCG Matrisi</a:t>
              </a:r>
              <a:endParaRPr lang="en-US" sz="1200" dirty="0"/>
            </a:p>
          </p:txBody>
        </p:sp>
        <p:sp>
          <p:nvSpPr>
            <p:cNvPr id="5" name="Text 3"/>
            <p:cNvSpPr/>
            <p:nvPr/>
          </p:nvSpPr>
          <p:spPr>
            <a:xfrm>
              <a:off x="2457093" y="2647474"/>
              <a:ext cx="4190405" cy="496133"/>
            </a:xfrm>
            <a:prstGeom prst="rect">
              <a:avLst/>
            </a:prstGeom>
            <a:noFill/>
            <a:ln/>
          </p:spPr>
          <p:txBody>
            <a:bodyPr wrap="squar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Boston Consulting Group-un məşhur 2×2 matrisi innovasiya layihələrini bazar payı (cari rəqabət üstünlüyü) və bazar artım tempi (gələcək potensial) əsasında 4 kateqoriyaya bölür:</a:t>
              </a:r>
              <a:endParaRPr lang="en-US" sz="1050" dirty="0"/>
            </a:p>
          </p:txBody>
        </p:sp>
        <p:sp>
          <p:nvSpPr>
            <p:cNvPr id="6" name="Shape 4"/>
            <p:cNvSpPr/>
            <p:nvPr/>
          </p:nvSpPr>
          <p:spPr>
            <a:xfrm>
              <a:off x="2457093" y="3239214"/>
              <a:ext cx="2052637" cy="886897"/>
            </a:xfrm>
            <a:prstGeom prst="roundRect">
              <a:avLst>
                <a:gd name="adj" fmla="val 2292"/>
              </a:avLst>
            </a:prstGeom>
            <a:solidFill>
              <a:srgbClr val="303132"/>
            </a:solidFill>
            <a:ln/>
          </p:spPr>
          <p:txBody>
            <a:bodyPr/>
            <a:lstStyle/>
            <a:p>
              <a:endParaRPr lang="en-US"/>
            </a:p>
          </p:txBody>
        </p:sp>
        <p:sp>
          <p:nvSpPr>
            <p:cNvPr id="7" name="Text 5"/>
            <p:cNvSpPr/>
            <p:nvPr/>
          </p:nvSpPr>
          <p:spPr>
            <a:xfrm>
              <a:off x="2592586" y="3374708"/>
              <a:ext cx="1540073" cy="200144"/>
            </a:xfrm>
            <a:prstGeom prst="rect">
              <a:avLst/>
            </a:prstGeom>
            <a:noFill/>
            <a:ln/>
          </p:spPr>
          <p:txBody>
            <a:bodyPr wrap="none" lIns="0" tIns="0" rIns="0" bIns="0" rtlCol="0" anchor="t"/>
            <a:lstStyle/>
            <a:p>
              <a:pPr marL="0" indent="0" algn="l">
                <a:lnSpc>
                  <a:spcPts val="1500"/>
                </a:lnSpc>
                <a:buNone/>
              </a:pPr>
              <a:r>
                <a:rPr lang="en-US" sz="1200" b="1" dirty="0">
                  <a:solidFill>
                    <a:srgbClr val="000000"/>
                  </a:solidFill>
                  <a:latin typeface="Montserrat Bold" pitchFamily="34" charset="0"/>
                  <a:ea typeface="Montserrat Bold" pitchFamily="34" charset="-122"/>
                  <a:cs typeface="Montserrat Bold" pitchFamily="34" charset="-120"/>
                </a:rPr>
                <a:t>⭐</a:t>
              </a:r>
              <a:r>
                <a:rPr lang="en-US" sz="1200" b="1" dirty="0">
                  <a:solidFill>
                    <a:srgbClr val="E2E6E9"/>
                  </a:solidFill>
                  <a:latin typeface="Montserrat Bold" pitchFamily="34" charset="0"/>
                  <a:ea typeface="Montserrat Bold" pitchFamily="34" charset="-122"/>
                  <a:cs typeface="Montserrat Bold" pitchFamily="34" charset="-120"/>
                </a:rPr>
                <a:t> Ulduzlar</a:t>
              </a:r>
              <a:endParaRPr lang="en-US" sz="1200" dirty="0"/>
            </a:p>
          </p:txBody>
        </p:sp>
        <p:sp>
          <p:nvSpPr>
            <p:cNvPr id="8" name="Text 6"/>
            <p:cNvSpPr/>
            <p:nvPr/>
          </p:nvSpPr>
          <p:spPr>
            <a:xfrm>
              <a:off x="2592586" y="3659862"/>
              <a:ext cx="1781651" cy="330756"/>
            </a:xfrm>
            <a:prstGeom prst="rect">
              <a:avLst/>
            </a:prstGeom>
            <a:noFill/>
            <a:ln/>
          </p:spPr>
          <p:txBody>
            <a:bodyPr wrap="squar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Yüksək böyümə, yüksək pay — investisiya artırılmalıdır.</a:t>
              </a:r>
              <a:endParaRPr lang="en-US" sz="1050" dirty="0"/>
            </a:p>
          </p:txBody>
        </p:sp>
        <p:sp>
          <p:nvSpPr>
            <p:cNvPr id="9" name="Shape 7"/>
            <p:cNvSpPr/>
            <p:nvPr/>
          </p:nvSpPr>
          <p:spPr>
            <a:xfrm>
              <a:off x="4594741" y="3239214"/>
              <a:ext cx="2052757" cy="886897"/>
            </a:xfrm>
            <a:prstGeom prst="roundRect">
              <a:avLst>
                <a:gd name="adj" fmla="val 2292"/>
              </a:avLst>
            </a:prstGeom>
            <a:solidFill>
              <a:srgbClr val="303132"/>
            </a:solidFill>
            <a:ln/>
          </p:spPr>
          <p:txBody>
            <a:bodyPr/>
            <a:lstStyle/>
            <a:p>
              <a:endParaRPr lang="en-US"/>
            </a:p>
          </p:txBody>
        </p:sp>
        <p:sp>
          <p:nvSpPr>
            <p:cNvPr id="10" name="Text 8"/>
            <p:cNvSpPr/>
            <p:nvPr/>
          </p:nvSpPr>
          <p:spPr>
            <a:xfrm>
              <a:off x="4730234" y="3374708"/>
              <a:ext cx="1540073" cy="200144"/>
            </a:xfrm>
            <a:prstGeom prst="rect">
              <a:avLst/>
            </a:prstGeom>
            <a:noFill/>
            <a:ln/>
          </p:spPr>
          <p:txBody>
            <a:bodyPr wrap="none" lIns="0" tIns="0" rIns="0" bIns="0" rtlCol="0" anchor="t"/>
            <a:lstStyle/>
            <a:p>
              <a:pPr marL="0" indent="0" algn="l">
                <a:lnSpc>
                  <a:spcPts val="1500"/>
                </a:lnSpc>
                <a:buNone/>
              </a:pPr>
              <a:r>
                <a:rPr lang="en-US" sz="1200" b="1" dirty="0">
                  <a:solidFill>
                    <a:srgbClr val="000000"/>
                  </a:solidFill>
                  <a:latin typeface="Montserrat Bold" pitchFamily="34" charset="0"/>
                  <a:ea typeface="Montserrat Bold" pitchFamily="34" charset="-122"/>
                  <a:cs typeface="Montserrat Bold" pitchFamily="34" charset="-120"/>
                </a:rPr>
                <a:t>🐄</a:t>
              </a:r>
              <a:r>
                <a:rPr lang="en-US" sz="1200" b="1" dirty="0">
                  <a:solidFill>
                    <a:srgbClr val="E2E6E9"/>
                  </a:solidFill>
                  <a:latin typeface="Montserrat Bold" pitchFamily="34" charset="0"/>
                  <a:ea typeface="Montserrat Bold" pitchFamily="34" charset="-122"/>
                  <a:cs typeface="Montserrat Bold" pitchFamily="34" charset="-120"/>
                </a:rPr>
                <a:t> Süd İnəkləri</a:t>
              </a:r>
              <a:endParaRPr lang="en-US" sz="1200" dirty="0"/>
            </a:p>
          </p:txBody>
        </p:sp>
        <p:sp>
          <p:nvSpPr>
            <p:cNvPr id="11" name="Text 9"/>
            <p:cNvSpPr/>
            <p:nvPr/>
          </p:nvSpPr>
          <p:spPr>
            <a:xfrm>
              <a:off x="4730234" y="3659862"/>
              <a:ext cx="1781770" cy="330756"/>
            </a:xfrm>
            <a:prstGeom prst="rect">
              <a:avLst/>
            </a:prstGeom>
            <a:noFill/>
            <a:ln/>
          </p:spPr>
          <p:txBody>
            <a:bodyPr wrap="squar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Aşağı böyümə, yüksək pay — sabit gəlir mənbəyi.</a:t>
              </a:r>
              <a:endParaRPr lang="en-US" sz="1050" dirty="0"/>
            </a:p>
          </p:txBody>
        </p:sp>
        <p:sp>
          <p:nvSpPr>
            <p:cNvPr id="12" name="Shape 10"/>
            <p:cNvSpPr/>
            <p:nvPr/>
          </p:nvSpPr>
          <p:spPr>
            <a:xfrm>
              <a:off x="2457093" y="4211122"/>
              <a:ext cx="2052637" cy="1052274"/>
            </a:xfrm>
            <a:prstGeom prst="roundRect">
              <a:avLst>
                <a:gd name="adj" fmla="val 1932"/>
              </a:avLst>
            </a:prstGeom>
            <a:solidFill>
              <a:srgbClr val="303132"/>
            </a:solidFill>
            <a:ln/>
          </p:spPr>
          <p:txBody>
            <a:bodyPr/>
            <a:lstStyle/>
            <a:p>
              <a:endParaRPr lang="en-US"/>
            </a:p>
          </p:txBody>
        </p:sp>
        <p:sp>
          <p:nvSpPr>
            <p:cNvPr id="13" name="Text 11"/>
            <p:cNvSpPr/>
            <p:nvPr/>
          </p:nvSpPr>
          <p:spPr>
            <a:xfrm>
              <a:off x="2592586" y="4346615"/>
              <a:ext cx="1540073" cy="200144"/>
            </a:xfrm>
            <a:prstGeom prst="rect">
              <a:avLst/>
            </a:prstGeom>
            <a:noFill/>
            <a:ln/>
          </p:spPr>
          <p:txBody>
            <a:bodyPr wrap="none" lIns="0" tIns="0" rIns="0" bIns="0" rtlCol="0" anchor="t"/>
            <a:lstStyle/>
            <a:p>
              <a:pPr marL="0" indent="0" algn="l">
                <a:lnSpc>
                  <a:spcPts val="1500"/>
                </a:lnSpc>
                <a:buNone/>
              </a:pPr>
              <a:r>
                <a:rPr lang="en-US" sz="1200" b="1" dirty="0">
                  <a:solidFill>
                    <a:srgbClr val="000000"/>
                  </a:solidFill>
                  <a:latin typeface="Montserrat Bold" pitchFamily="34" charset="0"/>
                  <a:ea typeface="Montserrat Bold" pitchFamily="34" charset="-122"/>
                  <a:cs typeface="Montserrat Bold" pitchFamily="34" charset="-120"/>
                </a:rPr>
                <a:t>❓</a:t>
              </a:r>
              <a:r>
                <a:rPr lang="en-US" sz="1200" b="1" dirty="0">
                  <a:solidFill>
                    <a:srgbClr val="E2E6E9"/>
                  </a:solidFill>
                  <a:latin typeface="Montserrat Bold" pitchFamily="34" charset="0"/>
                  <a:ea typeface="Montserrat Bold" pitchFamily="34" charset="-122"/>
                  <a:cs typeface="Montserrat Bold" pitchFamily="34" charset="-120"/>
                </a:rPr>
                <a:t> Sual İşarələri</a:t>
              </a:r>
              <a:endParaRPr lang="en-US" sz="1200" dirty="0"/>
            </a:p>
          </p:txBody>
        </p:sp>
        <p:sp>
          <p:nvSpPr>
            <p:cNvPr id="14" name="Text 12"/>
            <p:cNvSpPr/>
            <p:nvPr/>
          </p:nvSpPr>
          <p:spPr>
            <a:xfrm>
              <a:off x="2592586" y="4631769"/>
              <a:ext cx="1781651" cy="330756"/>
            </a:xfrm>
            <a:prstGeom prst="rect">
              <a:avLst/>
            </a:prstGeom>
            <a:noFill/>
            <a:ln/>
          </p:spPr>
          <p:txBody>
            <a:bodyPr wrap="squar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Yüksək böyümə, aşağı pay — seçici investisiya tələb edir.</a:t>
              </a:r>
              <a:endParaRPr lang="en-US" sz="1050" dirty="0"/>
            </a:p>
          </p:txBody>
        </p:sp>
        <p:sp>
          <p:nvSpPr>
            <p:cNvPr id="15" name="Shape 13"/>
            <p:cNvSpPr/>
            <p:nvPr/>
          </p:nvSpPr>
          <p:spPr>
            <a:xfrm>
              <a:off x="4594741" y="4211122"/>
              <a:ext cx="2052757" cy="1052274"/>
            </a:xfrm>
            <a:prstGeom prst="roundRect">
              <a:avLst>
                <a:gd name="adj" fmla="val 1932"/>
              </a:avLst>
            </a:prstGeom>
            <a:solidFill>
              <a:srgbClr val="303132"/>
            </a:solidFill>
            <a:ln/>
          </p:spPr>
          <p:txBody>
            <a:bodyPr/>
            <a:lstStyle/>
            <a:p>
              <a:endParaRPr lang="en-US"/>
            </a:p>
          </p:txBody>
        </p:sp>
        <p:sp>
          <p:nvSpPr>
            <p:cNvPr id="16" name="Text 14"/>
            <p:cNvSpPr/>
            <p:nvPr/>
          </p:nvSpPr>
          <p:spPr>
            <a:xfrm>
              <a:off x="4730234" y="4346615"/>
              <a:ext cx="1540073" cy="200144"/>
            </a:xfrm>
            <a:prstGeom prst="rect">
              <a:avLst/>
            </a:prstGeom>
            <a:noFill/>
            <a:ln/>
          </p:spPr>
          <p:txBody>
            <a:bodyPr wrap="none" lIns="0" tIns="0" rIns="0" bIns="0" rtlCol="0" anchor="t"/>
            <a:lstStyle/>
            <a:p>
              <a:pPr marL="0" indent="0" algn="l">
                <a:lnSpc>
                  <a:spcPts val="1500"/>
                </a:lnSpc>
                <a:buNone/>
              </a:pPr>
              <a:r>
                <a:rPr lang="en-US" sz="1200" b="1" dirty="0">
                  <a:solidFill>
                    <a:srgbClr val="000000"/>
                  </a:solidFill>
                  <a:latin typeface="Montserrat Bold" pitchFamily="34" charset="0"/>
                  <a:ea typeface="Montserrat Bold" pitchFamily="34" charset="-122"/>
                  <a:cs typeface="Montserrat Bold" pitchFamily="34" charset="-120"/>
                </a:rPr>
                <a:t>🐕</a:t>
              </a:r>
              <a:r>
                <a:rPr lang="en-US" sz="1200" b="1" dirty="0">
                  <a:solidFill>
                    <a:srgbClr val="E2E6E9"/>
                  </a:solidFill>
                  <a:latin typeface="Montserrat Bold" pitchFamily="34" charset="0"/>
                  <a:ea typeface="Montserrat Bold" pitchFamily="34" charset="-122"/>
                  <a:cs typeface="Montserrat Bold" pitchFamily="34" charset="-120"/>
                </a:rPr>
                <a:t> İtlər</a:t>
              </a:r>
              <a:endParaRPr lang="en-US" sz="1200" dirty="0"/>
            </a:p>
          </p:txBody>
        </p:sp>
        <p:sp>
          <p:nvSpPr>
            <p:cNvPr id="17" name="Text 15"/>
            <p:cNvSpPr/>
            <p:nvPr/>
          </p:nvSpPr>
          <p:spPr>
            <a:xfrm>
              <a:off x="4730234" y="4631769"/>
              <a:ext cx="1781770" cy="496133"/>
            </a:xfrm>
            <a:prstGeom prst="rect">
              <a:avLst/>
            </a:prstGeom>
            <a:noFill/>
            <a:ln/>
          </p:spPr>
          <p:txBody>
            <a:bodyPr wrap="squar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Aşağı böyümə, aşağı pay — çıxış strategiyası düşünülməlidir.</a:t>
              </a:r>
              <a:endParaRPr lang="en-US" sz="1050" dirty="0"/>
            </a:p>
          </p:txBody>
        </p:sp>
        <p:sp>
          <p:nvSpPr>
            <p:cNvPr id="18" name="Text 16"/>
            <p:cNvSpPr/>
            <p:nvPr/>
          </p:nvSpPr>
          <p:spPr>
            <a:xfrm>
              <a:off x="6985635" y="2369939"/>
              <a:ext cx="3293031" cy="192524"/>
            </a:xfrm>
            <a:prstGeom prst="rect">
              <a:avLst/>
            </a:prstGeom>
            <a:noFill/>
            <a:ln/>
          </p:spPr>
          <p:txBody>
            <a:bodyPr wrap="none" lIns="0" tIns="0" rIns="0" bIns="0" rtlCol="0" anchor="t"/>
            <a:lstStyle/>
            <a:p>
              <a:pPr marL="0" indent="0" algn="l">
                <a:lnSpc>
                  <a:spcPts val="1500"/>
                </a:lnSpc>
                <a:buNone/>
              </a:pPr>
              <a:r>
                <a:rPr lang="en-US" sz="1200" b="1" dirty="0">
                  <a:solidFill>
                    <a:srgbClr val="FFFFFF"/>
                  </a:solidFill>
                  <a:latin typeface="Montserrat Bold" pitchFamily="34" charset="0"/>
                  <a:ea typeface="Montserrat Bold" pitchFamily="34" charset="-122"/>
                  <a:cs typeface="Montserrat Bold" pitchFamily="34" charset="-120"/>
                </a:rPr>
                <a:t>Risk-Gəlirlilik Matrisi və Prioritetləşdirmə</a:t>
              </a:r>
              <a:endParaRPr lang="en-US" sz="1200" dirty="0"/>
            </a:p>
          </p:txBody>
        </p:sp>
        <p:sp>
          <p:nvSpPr>
            <p:cNvPr id="19" name="Text 17"/>
            <p:cNvSpPr/>
            <p:nvPr/>
          </p:nvSpPr>
          <p:spPr>
            <a:xfrm>
              <a:off x="6985635" y="2647474"/>
              <a:ext cx="5195173" cy="165378"/>
            </a:xfrm>
            <a:prstGeom prst="rect">
              <a:avLst/>
            </a:prstGeom>
            <a:noFill/>
            <a:ln/>
          </p:spPr>
          <p:txBody>
            <a:bodyPr wrap="non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SI alətləri hər bir innovasiya layihəsi üçün aşağıdakı parametrləri avtomatik hesablaya bilir:</a:t>
              </a:r>
              <a:endParaRPr lang="en-US" sz="1050" dirty="0"/>
            </a:p>
          </p:txBody>
        </p:sp>
        <p:sp>
          <p:nvSpPr>
            <p:cNvPr id="20" name="Shape 18"/>
            <p:cNvSpPr/>
            <p:nvPr/>
          </p:nvSpPr>
          <p:spPr>
            <a:xfrm>
              <a:off x="6985635" y="2908459"/>
              <a:ext cx="5195173" cy="744379"/>
            </a:xfrm>
            <a:prstGeom prst="roundRect">
              <a:avLst>
                <a:gd name="adj" fmla="val 9827"/>
              </a:avLst>
            </a:prstGeom>
            <a:solidFill>
              <a:srgbClr val="111213"/>
            </a:solidFill>
            <a:ln w="15240">
              <a:solidFill>
                <a:srgbClr val="494A4B"/>
              </a:solidFill>
              <a:prstDash val="solid"/>
            </a:ln>
          </p:spPr>
          <p:txBody>
            <a:bodyPr/>
            <a:lstStyle/>
            <a:p>
              <a:endParaRPr lang="en-US"/>
            </a:p>
          </p:txBody>
        </p:sp>
        <p:sp>
          <p:nvSpPr>
            <p:cNvPr id="21" name="Shape 19"/>
            <p:cNvSpPr/>
            <p:nvPr/>
          </p:nvSpPr>
          <p:spPr>
            <a:xfrm>
              <a:off x="6970395" y="2908459"/>
              <a:ext cx="60960" cy="744379"/>
            </a:xfrm>
            <a:prstGeom prst="roundRect">
              <a:avLst>
                <a:gd name="adj" fmla="val 33350"/>
              </a:avLst>
            </a:prstGeom>
            <a:solidFill>
              <a:srgbClr val="FFFFFF"/>
            </a:solidFill>
            <a:ln/>
          </p:spPr>
          <p:txBody>
            <a:bodyPr/>
            <a:lstStyle/>
            <a:p>
              <a:endParaRPr lang="en-US"/>
            </a:p>
          </p:txBody>
        </p:sp>
        <p:sp>
          <p:nvSpPr>
            <p:cNvPr id="22" name="Text 20"/>
            <p:cNvSpPr/>
            <p:nvPr/>
          </p:nvSpPr>
          <p:spPr>
            <a:xfrm>
              <a:off x="7182088" y="3059192"/>
              <a:ext cx="2652117" cy="192524"/>
            </a:xfrm>
            <a:prstGeom prst="rect">
              <a:avLst/>
            </a:prstGeom>
            <a:noFill/>
            <a:ln/>
          </p:spPr>
          <p:txBody>
            <a:bodyPr wrap="none" lIns="0" tIns="0" rIns="0" bIns="0" rtlCol="0" anchor="t"/>
            <a:lstStyle/>
            <a:p>
              <a:pPr marL="0" indent="0" algn="l">
                <a:lnSpc>
                  <a:spcPts val="1500"/>
                </a:lnSpc>
                <a:buNone/>
              </a:pPr>
              <a:r>
                <a:rPr lang="en-US" sz="1200" b="1" dirty="0">
                  <a:solidFill>
                    <a:srgbClr val="E2E6E9"/>
                  </a:solidFill>
                  <a:latin typeface="Montserrat Bold" pitchFamily="34" charset="0"/>
                  <a:ea typeface="Montserrat Bold" pitchFamily="34" charset="-122"/>
                  <a:cs typeface="Montserrat Bold" pitchFamily="34" charset="-120"/>
                </a:rPr>
                <a:t>Bazar potensialı (TAM/SAM/SOM)</a:t>
              </a:r>
              <a:endParaRPr lang="en-US" sz="1200" dirty="0"/>
            </a:p>
          </p:txBody>
        </p:sp>
        <p:sp>
          <p:nvSpPr>
            <p:cNvPr id="23" name="Text 21"/>
            <p:cNvSpPr/>
            <p:nvPr/>
          </p:nvSpPr>
          <p:spPr>
            <a:xfrm>
              <a:off x="7182088" y="3336727"/>
              <a:ext cx="4847987" cy="165378"/>
            </a:xfrm>
            <a:prstGeom prst="rect">
              <a:avLst/>
            </a:prstGeom>
            <a:noFill/>
            <a:ln/>
          </p:spPr>
          <p:txBody>
            <a:bodyPr wrap="non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Ümumi, əlçatan və əldə edilə bilən bazar həcminin SI ilə proqnozlaşdırılması.</a:t>
              </a:r>
              <a:endParaRPr lang="en-US" sz="1050" dirty="0"/>
            </a:p>
          </p:txBody>
        </p:sp>
        <p:sp>
          <p:nvSpPr>
            <p:cNvPr id="24" name="Shape 22"/>
            <p:cNvSpPr/>
            <p:nvPr/>
          </p:nvSpPr>
          <p:spPr>
            <a:xfrm>
              <a:off x="6985635" y="3737848"/>
              <a:ext cx="5195173" cy="744379"/>
            </a:xfrm>
            <a:prstGeom prst="roundRect">
              <a:avLst>
                <a:gd name="adj" fmla="val 9827"/>
              </a:avLst>
            </a:prstGeom>
            <a:solidFill>
              <a:srgbClr val="111213"/>
            </a:solidFill>
            <a:ln w="15240">
              <a:solidFill>
                <a:srgbClr val="494A4B"/>
              </a:solidFill>
              <a:prstDash val="solid"/>
            </a:ln>
          </p:spPr>
          <p:txBody>
            <a:bodyPr/>
            <a:lstStyle/>
            <a:p>
              <a:endParaRPr lang="en-US"/>
            </a:p>
          </p:txBody>
        </p:sp>
        <p:sp>
          <p:nvSpPr>
            <p:cNvPr id="25" name="Shape 23"/>
            <p:cNvSpPr/>
            <p:nvPr/>
          </p:nvSpPr>
          <p:spPr>
            <a:xfrm>
              <a:off x="6970395" y="3737848"/>
              <a:ext cx="60960" cy="744379"/>
            </a:xfrm>
            <a:prstGeom prst="roundRect">
              <a:avLst>
                <a:gd name="adj" fmla="val 33350"/>
              </a:avLst>
            </a:prstGeom>
            <a:solidFill>
              <a:srgbClr val="FFFFFF"/>
            </a:solidFill>
            <a:ln/>
          </p:spPr>
          <p:txBody>
            <a:bodyPr/>
            <a:lstStyle/>
            <a:p>
              <a:endParaRPr lang="en-US"/>
            </a:p>
          </p:txBody>
        </p:sp>
        <p:sp>
          <p:nvSpPr>
            <p:cNvPr id="26" name="Text 24"/>
            <p:cNvSpPr/>
            <p:nvPr/>
          </p:nvSpPr>
          <p:spPr>
            <a:xfrm>
              <a:off x="7182088" y="3888581"/>
              <a:ext cx="2325410" cy="192524"/>
            </a:xfrm>
            <a:prstGeom prst="rect">
              <a:avLst/>
            </a:prstGeom>
            <a:noFill/>
            <a:ln/>
          </p:spPr>
          <p:txBody>
            <a:bodyPr wrap="none" lIns="0" tIns="0" rIns="0" bIns="0" rtlCol="0" anchor="t"/>
            <a:lstStyle/>
            <a:p>
              <a:pPr marL="0" indent="0" algn="l">
                <a:lnSpc>
                  <a:spcPts val="1500"/>
                </a:lnSpc>
                <a:buNone/>
              </a:pPr>
              <a:r>
                <a:rPr lang="en-US" sz="1200" b="1" dirty="0">
                  <a:solidFill>
                    <a:srgbClr val="E2E6E9"/>
                  </a:solidFill>
                  <a:latin typeface="Montserrat Bold" pitchFamily="34" charset="0"/>
                  <a:ea typeface="Montserrat Bold" pitchFamily="34" charset="-122"/>
                  <a:cs typeface="Montserrat Bold" pitchFamily="34" charset="-120"/>
                </a:rPr>
                <a:t>Texniki reallaşdırma ehtimalı</a:t>
              </a:r>
              <a:endParaRPr lang="en-US" sz="1200" dirty="0"/>
            </a:p>
          </p:txBody>
        </p:sp>
        <p:sp>
          <p:nvSpPr>
            <p:cNvPr id="27" name="Text 25"/>
            <p:cNvSpPr/>
            <p:nvPr/>
          </p:nvSpPr>
          <p:spPr>
            <a:xfrm>
              <a:off x="7182088" y="4166116"/>
              <a:ext cx="4847987" cy="165378"/>
            </a:xfrm>
            <a:prstGeom prst="rect">
              <a:avLst/>
            </a:prstGeom>
            <a:noFill/>
            <a:ln/>
          </p:spPr>
          <p:txBody>
            <a:bodyPr wrap="non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Analoji layihələrin uğur nisbəti əsasında maşın öyrənməsi proqnozu.</a:t>
              </a:r>
              <a:endParaRPr lang="en-US" sz="1050" dirty="0"/>
            </a:p>
          </p:txBody>
        </p:sp>
        <p:sp>
          <p:nvSpPr>
            <p:cNvPr id="28" name="Shape 26"/>
            <p:cNvSpPr/>
            <p:nvPr/>
          </p:nvSpPr>
          <p:spPr>
            <a:xfrm>
              <a:off x="6985635" y="4567238"/>
              <a:ext cx="5195173" cy="744379"/>
            </a:xfrm>
            <a:prstGeom prst="roundRect">
              <a:avLst>
                <a:gd name="adj" fmla="val 9827"/>
              </a:avLst>
            </a:prstGeom>
            <a:solidFill>
              <a:srgbClr val="111213"/>
            </a:solidFill>
            <a:ln w="15240">
              <a:solidFill>
                <a:srgbClr val="494A4B"/>
              </a:solidFill>
              <a:prstDash val="solid"/>
            </a:ln>
          </p:spPr>
          <p:txBody>
            <a:bodyPr/>
            <a:lstStyle/>
            <a:p>
              <a:endParaRPr lang="en-US"/>
            </a:p>
          </p:txBody>
        </p:sp>
        <p:sp>
          <p:nvSpPr>
            <p:cNvPr id="29" name="Shape 27"/>
            <p:cNvSpPr/>
            <p:nvPr/>
          </p:nvSpPr>
          <p:spPr>
            <a:xfrm>
              <a:off x="6970395" y="4567238"/>
              <a:ext cx="60960" cy="744379"/>
            </a:xfrm>
            <a:prstGeom prst="roundRect">
              <a:avLst>
                <a:gd name="adj" fmla="val 33350"/>
              </a:avLst>
            </a:prstGeom>
            <a:solidFill>
              <a:srgbClr val="FFFFFF"/>
            </a:solidFill>
            <a:ln/>
          </p:spPr>
          <p:txBody>
            <a:bodyPr/>
            <a:lstStyle/>
            <a:p>
              <a:endParaRPr lang="en-US"/>
            </a:p>
          </p:txBody>
        </p:sp>
        <p:sp>
          <p:nvSpPr>
            <p:cNvPr id="30" name="Text 28"/>
            <p:cNvSpPr/>
            <p:nvPr/>
          </p:nvSpPr>
          <p:spPr>
            <a:xfrm>
              <a:off x="7182088" y="4717971"/>
              <a:ext cx="1540073" cy="192524"/>
            </a:xfrm>
            <a:prstGeom prst="rect">
              <a:avLst/>
            </a:prstGeom>
            <a:noFill/>
            <a:ln/>
          </p:spPr>
          <p:txBody>
            <a:bodyPr wrap="none" lIns="0" tIns="0" rIns="0" bIns="0" rtlCol="0" anchor="t"/>
            <a:lstStyle/>
            <a:p>
              <a:pPr marL="0" indent="0" algn="l">
                <a:lnSpc>
                  <a:spcPts val="1500"/>
                </a:lnSpc>
                <a:buNone/>
              </a:pPr>
              <a:r>
                <a:rPr lang="en-US" sz="1200" b="1" dirty="0">
                  <a:solidFill>
                    <a:srgbClr val="E2E6E9"/>
                  </a:solidFill>
                  <a:latin typeface="Montserrat Bold" pitchFamily="34" charset="0"/>
                  <a:ea typeface="Montserrat Bold" pitchFamily="34" charset="-122"/>
                  <a:cs typeface="Montserrat Bold" pitchFamily="34" charset="-120"/>
                </a:rPr>
                <a:t>Resurs tələbləri</a:t>
              </a:r>
              <a:endParaRPr lang="en-US" sz="1200" dirty="0"/>
            </a:p>
          </p:txBody>
        </p:sp>
        <p:sp>
          <p:nvSpPr>
            <p:cNvPr id="31" name="Text 29"/>
            <p:cNvSpPr/>
            <p:nvPr/>
          </p:nvSpPr>
          <p:spPr>
            <a:xfrm>
              <a:off x="7182088" y="4995505"/>
              <a:ext cx="4847987" cy="165378"/>
            </a:xfrm>
            <a:prstGeom prst="rect">
              <a:avLst/>
            </a:prstGeom>
            <a:noFill/>
            <a:ln/>
          </p:spPr>
          <p:txBody>
            <a:bodyPr wrap="non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NLP ilə texniki sənədlərin analizi vasitəsilə xərc və vaxt estimasiyası.</a:t>
              </a:r>
              <a:endParaRPr lang="en-US" sz="1050" dirty="0"/>
            </a:p>
          </p:txBody>
        </p:sp>
        <p:sp>
          <p:nvSpPr>
            <p:cNvPr id="32" name="Shape 30"/>
            <p:cNvSpPr/>
            <p:nvPr/>
          </p:nvSpPr>
          <p:spPr>
            <a:xfrm>
              <a:off x="6985635" y="5396627"/>
              <a:ext cx="5195173" cy="744379"/>
            </a:xfrm>
            <a:prstGeom prst="roundRect">
              <a:avLst>
                <a:gd name="adj" fmla="val 9827"/>
              </a:avLst>
            </a:prstGeom>
            <a:solidFill>
              <a:srgbClr val="111213"/>
            </a:solidFill>
            <a:ln w="15240">
              <a:solidFill>
                <a:srgbClr val="494A4B"/>
              </a:solidFill>
              <a:prstDash val="solid"/>
            </a:ln>
          </p:spPr>
          <p:txBody>
            <a:bodyPr/>
            <a:lstStyle/>
            <a:p>
              <a:endParaRPr lang="en-US"/>
            </a:p>
          </p:txBody>
        </p:sp>
        <p:sp>
          <p:nvSpPr>
            <p:cNvPr id="33" name="Shape 31"/>
            <p:cNvSpPr/>
            <p:nvPr/>
          </p:nvSpPr>
          <p:spPr>
            <a:xfrm>
              <a:off x="6970395" y="5396627"/>
              <a:ext cx="60960" cy="744379"/>
            </a:xfrm>
            <a:prstGeom prst="roundRect">
              <a:avLst>
                <a:gd name="adj" fmla="val 33350"/>
              </a:avLst>
            </a:prstGeom>
            <a:solidFill>
              <a:srgbClr val="FFFFFF"/>
            </a:solidFill>
            <a:ln/>
          </p:spPr>
          <p:txBody>
            <a:bodyPr/>
            <a:lstStyle/>
            <a:p>
              <a:endParaRPr lang="en-US"/>
            </a:p>
          </p:txBody>
        </p:sp>
        <p:sp>
          <p:nvSpPr>
            <p:cNvPr id="34" name="Text 32"/>
            <p:cNvSpPr/>
            <p:nvPr/>
          </p:nvSpPr>
          <p:spPr>
            <a:xfrm>
              <a:off x="7182088" y="5547360"/>
              <a:ext cx="1597223" cy="192524"/>
            </a:xfrm>
            <a:prstGeom prst="rect">
              <a:avLst/>
            </a:prstGeom>
            <a:noFill/>
            <a:ln/>
          </p:spPr>
          <p:txBody>
            <a:bodyPr wrap="none" lIns="0" tIns="0" rIns="0" bIns="0" rtlCol="0" anchor="t"/>
            <a:lstStyle/>
            <a:p>
              <a:pPr marL="0" indent="0" algn="l">
                <a:lnSpc>
                  <a:spcPts val="1500"/>
                </a:lnSpc>
                <a:buNone/>
              </a:pPr>
              <a:r>
                <a:rPr lang="en-US" sz="1200" b="1" dirty="0">
                  <a:solidFill>
                    <a:srgbClr val="E2E6E9"/>
                  </a:solidFill>
                  <a:latin typeface="Montserrat Bold" pitchFamily="34" charset="0"/>
                  <a:ea typeface="Montserrat Bold" pitchFamily="34" charset="-122"/>
                  <a:cs typeface="Montserrat Bold" pitchFamily="34" charset="-120"/>
                </a:rPr>
                <a:t>Rəqabət intensivliyi</a:t>
              </a:r>
              <a:endParaRPr lang="en-US" sz="1200" dirty="0"/>
            </a:p>
          </p:txBody>
        </p:sp>
        <p:sp>
          <p:nvSpPr>
            <p:cNvPr id="35" name="Text 33"/>
            <p:cNvSpPr/>
            <p:nvPr/>
          </p:nvSpPr>
          <p:spPr>
            <a:xfrm>
              <a:off x="7182088" y="5824895"/>
              <a:ext cx="4847987" cy="165378"/>
            </a:xfrm>
            <a:prstGeom prst="rect">
              <a:avLst/>
            </a:prstGeom>
            <a:noFill/>
            <a:ln/>
          </p:spPr>
          <p:txBody>
            <a:bodyPr wrap="none" lIns="0" tIns="0" rIns="0" bIns="0" rtlCol="0" anchor="t"/>
            <a:lstStyle/>
            <a:p>
              <a:pPr marL="0" indent="0" algn="l">
                <a:lnSpc>
                  <a:spcPts val="1300"/>
                </a:lnSpc>
                <a:buNone/>
              </a:pPr>
              <a:r>
                <a:rPr lang="en-US" sz="1050" dirty="0">
                  <a:solidFill>
                    <a:srgbClr val="E2E6E9"/>
                  </a:solidFill>
                  <a:latin typeface="Source Sans 3" pitchFamily="34" charset="0"/>
                  <a:ea typeface="Source Sans 3" pitchFamily="34" charset="-122"/>
                  <a:cs typeface="Source Sans 3" pitchFamily="34" charset="-120"/>
                </a:rPr>
                <a:t>Bazar analitikası alətləri ilə rəqiblərin mövqeyinin real vaxt izlənməsi.</a:t>
              </a:r>
              <a:endParaRPr lang="en-US" sz="1050" dirty="0"/>
            </a:p>
          </p:txBody>
        </p:sp>
        <p:sp>
          <p:nvSpPr>
            <p:cNvPr id="36" name="Shape 34"/>
            <p:cNvSpPr/>
            <p:nvPr/>
          </p:nvSpPr>
          <p:spPr>
            <a:xfrm>
              <a:off x="6985635" y="6236613"/>
              <a:ext cx="5195173" cy="593765"/>
            </a:xfrm>
            <a:prstGeom prst="roundRect">
              <a:avLst>
                <a:gd name="adj" fmla="val 3424"/>
              </a:avLst>
            </a:prstGeom>
            <a:solidFill>
              <a:srgbClr val="262626"/>
            </a:solidFill>
            <a:ln/>
          </p:spPr>
          <p:txBody>
            <a:bodyPr/>
            <a:lstStyle/>
            <a:p>
              <a:endParaRPr lang="en-US"/>
            </a:p>
          </p:txBody>
        </p:sp>
        <p:pic>
          <p:nvPicPr>
            <p:cNvPr id="37" name="Image 0" descr="preencoded.png"/>
            <p:cNvPicPr>
              <a:picLocks noChangeAspect="1"/>
            </p:cNvPicPr>
            <p:nvPr/>
          </p:nvPicPr>
          <p:blipFill>
            <a:blip r:embed="rId3"/>
            <a:stretch>
              <a:fillRect/>
            </a:stretch>
          </p:blipFill>
          <p:spPr>
            <a:xfrm>
              <a:off x="7121128" y="6409253"/>
              <a:ext cx="169307" cy="135493"/>
            </a:xfrm>
            <a:prstGeom prst="rect">
              <a:avLst/>
            </a:prstGeom>
          </p:spPr>
        </p:pic>
        <p:sp>
          <p:nvSpPr>
            <p:cNvPr id="38" name="Text 35"/>
            <p:cNvSpPr/>
            <p:nvPr/>
          </p:nvSpPr>
          <p:spPr>
            <a:xfrm>
              <a:off x="7425928" y="6355437"/>
              <a:ext cx="4619387" cy="330756"/>
            </a:xfrm>
            <a:prstGeom prst="rect">
              <a:avLst/>
            </a:prstGeom>
            <a:noFill/>
            <a:ln/>
          </p:spPr>
          <p:txBody>
            <a:bodyPr wrap="square" lIns="0" tIns="0" rIns="0" bIns="0" rtlCol="0" anchor="t"/>
            <a:lstStyle/>
            <a:p>
              <a:pPr marL="0" indent="0" algn="l">
                <a:lnSpc>
                  <a:spcPts val="1300"/>
                </a:lnSpc>
                <a:buNone/>
              </a:pPr>
              <a:r>
                <a:rPr lang="en-US" sz="1050" dirty="0">
                  <a:solidFill>
                    <a:srgbClr val="000000"/>
                  </a:solidFill>
                  <a:latin typeface="Source Sans 3" pitchFamily="34" charset="0"/>
                  <a:ea typeface="Source Sans 3" pitchFamily="34" charset="-122"/>
                  <a:cs typeface="Source Sans 3" pitchFamily="34" charset="-120"/>
                </a:rPr>
                <a:t>💡</a:t>
              </a:r>
              <a:r>
                <a:rPr lang="en-US" sz="1050" dirty="0">
                  <a:solidFill>
                    <a:srgbClr val="FFFFFF"/>
                  </a:solidFill>
                  <a:latin typeface="Source Sans 3" pitchFamily="34" charset="0"/>
                  <a:ea typeface="Source Sans 3" pitchFamily="34" charset="-122"/>
                  <a:cs typeface="Source Sans 3" pitchFamily="34" charset="-120"/>
                </a:rPr>
                <a:t> </a:t>
              </a:r>
              <a:r>
                <a:rPr lang="en-US" sz="1050" b="1" dirty="0">
                  <a:solidFill>
                    <a:srgbClr val="FFFFFF"/>
                  </a:solidFill>
                  <a:latin typeface="Source Sans 3" pitchFamily="34" charset="0"/>
                  <a:ea typeface="Source Sans 3" pitchFamily="34" charset="-122"/>
                  <a:cs typeface="Source Sans 3" pitchFamily="34" charset="-120"/>
                </a:rPr>
                <a:t>McKinsey 70-20-10 Qaydası:</a:t>
              </a:r>
              <a:r>
                <a:rPr lang="en-US" sz="1050" dirty="0">
                  <a:solidFill>
                    <a:srgbClr val="FFFFFF"/>
                  </a:solidFill>
                  <a:latin typeface="Source Sans 3" pitchFamily="34" charset="0"/>
                  <a:ea typeface="Source Sans 3" pitchFamily="34" charset="-122"/>
                  <a:cs typeface="Source Sans 3" pitchFamily="34" charset="-120"/>
                </a:rPr>
                <a:t> Sağlam innovasiya portfeli resursların 70%-ni inkremental, 20%-ni radikal, 10%-ni isə disruptiv layihələrə yönəltməlidir.</a:t>
              </a:r>
              <a:endParaRPr lang="en-US" sz="1050" dirty="0"/>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19A3EE65-A364-EAE3-B7E2-56223C1445E0}"/>
              </a:ext>
            </a:extLst>
          </p:cNvPr>
          <p:cNvGrpSpPr/>
          <p:nvPr/>
        </p:nvGrpSpPr>
        <p:grpSpPr>
          <a:xfrm>
            <a:off x="139849" y="225910"/>
            <a:ext cx="14275398" cy="7885355"/>
            <a:chOff x="852845" y="609005"/>
            <a:chExt cx="12924711" cy="7011590"/>
          </a:xfrm>
        </p:grpSpPr>
        <p:sp>
          <p:nvSpPr>
            <p:cNvPr id="2" name="Text 0"/>
            <p:cNvSpPr/>
            <p:nvPr/>
          </p:nvSpPr>
          <p:spPr>
            <a:xfrm>
              <a:off x="852845" y="609005"/>
              <a:ext cx="7940873" cy="605671"/>
            </a:xfrm>
            <a:prstGeom prst="rect">
              <a:avLst/>
            </a:prstGeom>
            <a:noFill/>
            <a:ln/>
          </p:spPr>
          <p:txBody>
            <a:bodyPr wrap="none" lIns="0" tIns="0" rIns="0" bIns="0" rtlCol="0" anchor="t"/>
            <a:lstStyle/>
            <a:p>
              <a:pPr marL="0" indent="0" algn="l">
                <a:lnSpc>
                  <a:spcPts val="4750"/>
                </a:lnSpc>
                <a:buNone/>
              </a:pPr>
              <a:r>
                <a:rPr lang="en-US" sz="3800" b="1" dirty="0">
                  <a:solidFill>
                    <a:srgbClr val="FFFFFF"/>
                  </a:solidFill>
                  <a:latin typeface="Montserrat Bold" pitchFamily="34" charset="0"/>
                  <a:ea typeface="Montserrat Bold" pitchFamily="34" charset="-122"/>
                  <a:cs typeface="Montserrat Bold" pitchFamily="34" charset="-120"/>
                </a:rPr>
                <a:t>SI ilə Bazar Siqnallarının Analizi</a:t>
              </a:r>
              <a:endParaRPr lang="en-US" sz="3800" dirty="0"/>
            </a:p>
          </p:txBody>
        </p:sp>
        <p:sp>
          <p:nvSpPr>
            <p:cNvPr id="3" name="Text 1"/>
            <p:cNvSpPr/>
            <p:nvPr/>
          </p:nvSpPr>
          <p:spPr>
            <a:xfrm>
              <a:off x="852845" y="1635562"/>
              <a:ext cx="12924711" cy="635556"/>
            </a:xfrm>
            <a:prstGeom prst="rect">
              <a:avLst/>
            </a:prstGeom>
            <a:noFill/>
            <a:ln/>
          </p:spPr>
          <p:txBody>
            <a:bodyPr wrap="square" lIns="0" tIns="0" rIns="0" bIns="0" rtlCol="0" anchor="t"/>
            <a:lstStyle/>
            <a:p>
              <a:pPr marL="0" indent="0" algn="l">
                <a:lnSpc>
                  <a:spcPts val="2500"/>
                </a:lnSpc>
                <a:buNone/>
              </a:pPr>
              <a:r>
                <a:rPr lang="en-US" sz="1650" dirty="0">
                  <a:solidFill>
                    <a:srgbClr val="E2E6E9"/>
                  </a:solidFill>
                  <a:latin typeface="Source Sans 3" pitchFamily="34" charset="0"/>
                  <a:ea typeface="Source Sans 3" pitchFamily="34" charset="-122"/>
                  <a:cs typeface="Source Sans 3" pitchFamily="34" charset="-120"/>
                </a:rPr>
                <a:t>Müasir bazarda uğur qazanmaq üçün trendləri rəqiblərdən əvvəl aşkar etmək həlledici üstünlük verir. SI alətləri gündəlik milyardlarla məlumat nöqtəsini işləyərək insan analitikinin aylarca apara biləcəyi araşdırmanı saatlar içərisində tamamlaya bilir.</a:t>
              </a:r>
              <a:endParaRPr lang="en-US" sz="1650" dirty="0"/>
            </a:p>
          </p:txBody>
        </p:sp>
        <p:pic>
          <p:nvPicPr>
            <p:cNvPr id="4"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55161" y="2507813"/>
              <a:ext cx="532924" cy="532924"/>
            </a:xfrm>
            <a:prstGeom prst="rect">
              <a:avLst/>
            </a:prstGeom>
          </p:spPr>
        </p:pic>
        <p:sp>
          <p:nvSpPr>
            <p:cNvPr id="5" name="Text 2"/>
            <p:cNvSpPr/>
            <p:nvPr/>
          </p:nvSpPr>
          <p:spPr>
            <a:xfrm>
              <a:off x="955161" y="3303746"/>
              <a:ext cx="2981444" cy="302776"/>
            </a:xfrm>
            <a:prstGeom prst="rect">
              <a:avLst/>
            </a:prstGeom>
            <a:noFill/>
            <a:ln/>
          </p:spPr>
          <p:txBody>
            <a:bodyPr wrap="none" lIns="0" tIns="0" rIns="0" bIns="0" rtlCol="0" anchor="t"/>
            <a:lstStyle/>
            <a:p>
              <a:pPr marL="0" indent="0" algn="l">
                <a:lnSpc>
                  <a:spcPts val="2350"/>
                </a:lnSpc>
                <a:buNone/>
              </a:pPr>
              <a:r>
                <a:rPr lang="en-US" sz="1900" b="1" dirty="0">
                  <a:solidFill>
                    <a:srgbClr val="E2E6E9"/>
                  </a:solidFill>
                  <a:latin typeface="Montserrat Bold" pitchFamily="34" charset="0"/>
                  <a:ea typeface="Montserrat Bold" pitchFamily="34" charset="-122"/>
                  <a:cs typeface="Montserrat Bold" pitchFamily="34" charset="-120"/>
                </a:rPr>
                <a:t>Sosial Media Analitikası</a:t>
              </a:r>
              <a:endParaRPr lang="en-US" sz="1900" dirty="0"/>
            </a:p>
          </p:txBody>
        </p:sp>
        <p:sp>
          <p:nvSpPr>
            <p:cNvPr id="6" name="Text 3"/>
            <p:cNvSpPr/>
            <p:nvPr/>
          </p:nvSpPr>
          <p:spPr>
            <a:xfrm>
              <a:off x="955161" y="3732728"/>
              <a:ext cx="4132898" cy="2542223"/>
            </a:xfrm>
            <a:prstGeom prst="rect">
              <a:avLst/>
            </a:prstGeom>
            <a:noFill/>
            <a:ln/>
          </p:spPr>
          <p:txBody>
            <a:bodyPr wrap="square" lIns="0" tIns="0" rIns="0" bIns="0" rtlCol="0" anchor="t"/>
            <a:lstStyle/>
            <a:p>
              <a:pPr marL="0" indent="0" algn="l">
                <a:lnSpc>
                  <a:spcPts val="2500"/>
                </a:lnSpc>
                <a:buNone/>
              </a:pPr>
              <a:r>
                <a:rPr lang="en-US" sz="1650" dirty="0">
                  <a:solidFill>
                    <a:srgbClr val="E2E6E9"/>
                  </a:solidFill>
                  <a:latin typeface="Source Sans 3" pitchFamily="34" charset="0"/>
                  <a:ea typeface="Source Sans 3" pitchFamily="34" charset="-122"/>
                  <a:cs typeface="Source Sans 3" pitchFamily="34" charset="-120"/>
                </a:rPr>
                <a:t>Twitter/X, Instagram, TikTok, LinkedIn kimi platformalarda sentiment analizi, trending mövzuların izlənməsi və istifadəçi davranışı naxışlarının aşkarlanması. SI modellər istehlakçı kefiyyətinin ani dəyişikliklərini erkən xəbərdarlıq sistemi kimi aşkarlayır. Nümunə: Bir məhsul kateqoriyasına aid neqativ şərhlər artırsa, bu yeni innovasiya fırsatının siqnalıdır.</a:t>
              </a:r>
              <a:endParaRPr lang="en-US" sz="1650" dirty="0"/>
            </a:p>
          </p:txBody>
        </p:sp>
        <p:pic>
          <p:nvPicPr>
            <p:cNvPr id="7"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248751" y="2507813"/>
              <a:ext cx="532924" cy="532924"/>
            </a:xfrm>
            <a:prstGeom prst="rect">
              <a:avLst/>
            </a:prstGeom>
          </p:spPr>
        </p:pic>
        <p:sp>
          <p:nvSpPr>
            <p:cNvPr id="8" name="Text 4"/>
            <p:cNvSpPr/>
            <p:nvPr/>
          </p:nvSpPr>
          <p:spPr>
            <a:xfrm>
              <a:off x="5248751" y="3303746"/>
              <a:ext cx="4048482" cy="302776"/>
            </a:xfrm>
            <a:prstGeom prst="rect">
              <a:avLst/>
            </a:prstGeom>
            <a:noFill/>
            <a:ln/>
          </p:spPr>
          <p:txBody>
            <a:bodyPr wrap="none" lIns="0" tIns="0" rIns="0" bIns="0" rtlCol="0" anchor="t"/>
            <a:lstStyle/>
            <a:p>
              <a:pPr marL="0" indent="0" algn="l">
                <a:lnSpc>
                  <a:spcPts val="2350"/>
                </a:lnSpc>
                <a:buNone/>
              </a:pPr>
              <a:r>
                <a:rPr lang="en-US" sz="1900" b="1" dirty="0">
                  <a:solidFill>
                    <a:srgbClr val="E2E6E9"/>
                  </a:solidFill>
                  <a:latin typeface="Montserrat Bold" pitchFamily="34" charset="0"/>
                  <a:ea typeface="Montserrat Bold" pitchFamily="34" charset="-122"/>
                  <a:cs typeface="Montserrat Bold" pitchFamily="34" charset="-120"/>
                </a:rPr>
                <a:t>Müştəri Rəylərinin NLP İlə Emalı</a:t>
              </a:r>
              <a:endParaRPr lang="en-US" sz="1900" dirty="0"/>
            </a:p>
          </p:txBody>
        </p:sp>
        <p:sp>
          <p:nvSpPr>
            <p:cNvPr id="9" name="Text 5"/>
            <p:cNvSpPr/>
            <p:nvPr/>
          </p:nvSpPr>
          <p:spPr>
            <a:xfrm>
              <a:off x="5248751" y="3732728"/>
              <a:ext cx="4132898" cy="2860000"/>
            </a:xfrm>
            <a:prstGeom prst="rect">
              <a:avLst/>
            </a:prstGeom>
            <a:noFill/>
            <a:ln/>
          </p:spPr>
          <p:txBody>
            <a:bodyPr wrap="square" lIns="0" tIns="0" rIns="0" bIns="0" rtlCol="0" anchor="t"/>
            <a:lstStyle/>
            <a:p>
              <a:pPr marL="0" indent="0" algn="l">
                <a:lnSpc>
                  <a:spcPts val="2500"/>
                </a:lnSpc>
                <a:buNone/>
              </a:pPr>
              <a:r>
                <a:rPr lang="en-US" sz="1650" dirty="0">
                  <a:solidFill>
                    <a:srgbClr val="E2E6E9"/>
                  </a:solidFill>
                  <a:latin typeface="Source Sans 3" pitchFamily="34" charset="0"/>
                  <a:ea typeface="Source Sans 3" pitchFamily="34" charset="-122"/>
                  <a:cs typeface="Source Sans 3" pitchFamily="34" charset="-120"/>
                </a:rPr>
                <a:t>Amazon, Trustpilot, App Store kimi platformalardakı minlərlə rəy mətni, NLP (Təbii Dil Emalı) alqoritmləri vasitəsilə avtomatik analiz edilir. Tematik klasterləşdirmə ən tez-tez şikayət olunan sahələri üzə çıxarır. Bu "ağrı nöqtələri" bilavasitə innovasiya fürsəti kimi dəyərləndirilir — müştərinin özü problemi söyləyir, SI isə naxışı tapır.</a:t>
              </a:r>
              <a:endParaRPr lang="en-US" sz="1650" dirty="0"/>
            </a:p>
          </p:txBody>
        </p:sp>
        <p:pic>
          <p:nvPicPr>
            <p:cNvPr id="10"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644658" y="2507813"/>
              <a:ext cx="532924" cy="532924"/>
            </a:xfrm>
            <a:prstGeom prst="rect">
              <a:avLst/>
            </a:prstGeom>
          </p:spPr>
        </p:pic>
        <p:sp>
          <p:nvSpPr>
            <p:cNvPr id="11" name="Text 6"/>
            <p:cNvSpPr/>
            <p:nvPr/>
          </p:nvSpPr>
          <p:spPr>
            <a:xfrm>
              <a:off x="9644658" y="3303746"/>
              <a:ext cx="3773805" cy="302776"/>
            </a:xfrm>
            <a:prstGeom prst="rect">
              <a:avLst/>
            </a:prstGeom>
            <a:noFill/>
            <a:ln/>
          </p:spPr>
          <p:txBody>
            <a:bodyPr wrap="none" lIns="0" tIns="0" rIns="0" bIns="0" rtlCol="0" anchor="t"/>
            <a:lstStyle/>
            <a:p>
              <a:pPr marL="0" indent="0" algn="l">
                <a:lnSpc>
                  <a:spcPts val="2350"/>
                </a:lnSpc>
                <a:buNone/>
              </a:pPr>
              <a:r>
                <a:rPr lang="en-US" sz="1900" b="1" dirty="0">
                  <a:solidFill>
                    <a:srgbClr val="E2E6E9"/>
                  </a:solidFill>
                  <a:latin typeface="Montserrat Bold" pitchFamily="34" charset="0"/>
                  <a:ea typeface="Montserrat Bold" pitchFamily="34" charset="-122"/>
                  <a:cs typeface="Montserrat Bold" pitchFamily="34" charset="-120"/>
                </a:rPr>
                <a:t>Axtarış Trendlərinin İzlənməsi</a:t>
              </a:r>
              <a:endParaRPr lang="en-US" sz="1900" dirty="0"/>
            </a:p>
          </p:txBody>
        </p:sp>
        <p:sp>
          <p:nvSpPr>
            <p:cNvPr id="12" name="Text 7"/>
            <p:cNvSpPr/>
            <p:nvPr/>
          </p:nvSpPr>
          <p:spPr>
            <a:xfrm>
              <a:off x="9644658" y="3732728"/>
              <a:ext cx="4132898" cy="2860000"/>
            </a:xfrm>
            <a:prstGeom prst="rect">
              <a:avLst/>
            </a:prstGeom>
            <a:noFill/>
            <a:ln/>
          </p:spPr>
          <p:txBody>
            <a:bodyPr wrap="square" lIns="0" tIns="0" rIns="0" bIns="0" rtlCol="0" anchor="t"/>
            <a:lstStyle/>
            <a:p>
              <a:pPr marL="0" indent="0" algn="l">
                <a:lnSpc>
                  <a:spcPts val="2500"/>
                </a:lnSpc>
                <a:buNone/>
              </a:pPr>
              <a:r>
                <a:rPr lang="en-US" sz="1650" dirty="0">
                  <a:solidFill>
                    <a:srgbClr val="E2E6E9"/>
                  </a:solidFill>
                  <a:latin typeface="Source Sans 3" pitchFamily="34" charset="0"/>
                  <a:ea typeface="Source Sans 3" pitchFamily="34" charset="-122"/>
                  <a:cs typeface="Source Sans 3" pitchFamily="34" charset="-120"/>
                </a:rPr>
                <a:t>Google Trends, SEMrush, Ahrefs kimi alətlərdən gələn məlumatlar SI modelləri tərəfindən inteqrasiya edilərək hansı məhsul/xidmət kateqoriyalarına marağın artdığı proqnozlaşdırılır. Coğrafi seqmentasiya ilə hansı bazarda yeni tələbatın yarandığı aşkar edilə bilər. Bu məlumatlar innovasiya layihələrinin prioritetləşdirilməsini faktlara əsaslandırmağa imkan verir.</a:t>
              </a:r>
              <a:endParaRPr lang="en-US" sz="1650" dirty="0"/>
            </a:p>
          </p:txBody>
        </p:sp>
        <p:sp>
          <p:nvSpPr>
            <p:cNvPr id="13" name="Text 8"/>
            <p:cNvSpPr/>
            <p:nvPr/>
          </p:nvSpPr>
          <p:spPr>
            <a:xfrm>
              <a:off x="1172647" y="7066121"/>
              <a:ext cx="12604909" cy="317778"/>
            </a:xfrm>
            <a:prstGeom prst="rect">
              <a:avLst/>
            </a:prstGeom>
            <a:noFill/>
            <a:ln/>
          </p:spPr>
          <p:txBody>
            <a:bodyPr wrap="none" lIns="0" tIns="0" rIns="0" bIns="0" rtlCol="0" anchor="t"/>
            <a:lstStyle/>
            <a:p>
              <a:pPr marL="0" indent="0" algn="l">
                <a:lnSpc>
                  <a:spcPts val="2500"/>
                </a:lnSpc>
                <a:buNone/>
              </a:pPr>
              <a:r>
                <a:rPr lang="en-US" sz="1650" dirty="0">
                  <a:solidFill>
                    <a:srgbClr val="E2E6E9"/>
                  </a:solidFill>
                  <a:latin typeface="Source Sans 3" pitchFamily="34" charset="0"/>
                  <a:ea typeface="Source Sans 3" pitchFamily="34" charset="-122"/>
                  <a:cs typeface="Source Sans 3" pitchFamily="34" charset="-120"/>
                </a:rPr>
                <a:t>"Gələcəyin ən yaxşı proqnozu — trendlərə erkən inanmaq yox, onları erkən </a:t>
              </a:r>
              <a:r>
                <a:rPr lang="en-US" sz="1650" i="1" dirty="0">
                  <a:solidFill>
                    <a:srgbClr val="E2E6E9"/>
                  </a:solidFill>
                  <a:latin typeface="Source Sans 3" pitchFamily="34" charset="0"/>
                  <a:ea typeface="Source Sans 3" pitchFamily="34" charset="-122"/>
                  <a:cs typeface="Source Sans 3" pitchFamily="34" charset="-120"/>
                </a:rPr>
                <a:t>ölçməkdir</a:t>
              </a:r>
              <a:r>
                <a:rPr lang="en-US" sz="1650" dirty="0">
                  <a:solidFill>
                    <a:srgbClr val="E2E6E9"/>
                  </a:solidFill>
                  <a:latin typeface="Source Sans 3" pitchFamily="34" charset="0"/>
                  <a:ea typeface="Source Sans 3" pitchFamily="34" charset="-122"/>
                  <a:cs typeface="Source Sans 3" pitchFamily="34" charset="-120"/>
                </a:rPr>
                <a:t>." — data-driven innovasiya fəlsəfəsi</a:t>
              </a:r>
              <a:endParaRPr lang="en-US" sz="1650" dirty="0"/>
            </a:p>
          </p:txBody>
        </p:sp>
        <p:sp>
          <p:nvSpPr>
            <p:cNvPr id="14" name="Shape 9"/>
            <p:cNvSpPr/>
            <p:nvPr/>
          </p:nvSpPr>
          <p:spPr>
            <a:xfrm>
              <a:off x="852845" y="6829425"/>
              <a:ext cx="22860" cy="791170"/>
            </a:xfrm>
            <a:prstGeom prst="rect">
              <a:avLst/>
            </a:prstGeom>
            <a:solidFill>
              <a:srgbClr val="FFFFFF"/>
            </a:solidFill>
            <a:ln/>
          </p:spPr>
          <p:txBody>
            <a:bodyPr/>
            <a:lstStyle/>
            <a:p>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424003C3-0E77-5705-5FF9-4ACE46984F05}"/>
              </a:ext>
            </a:extLst>
          </p:cNvPr>
          <p:cNvGrpSpPr/>
          <p:nvPr/>
        </p:nvGrpSpPr>
        <p:grpSpPr>
          <a:xfrm>
            <a:off x="75305" y="258184"/>
            <a:ext cx="14393730" cy="7863840"/>
            <a:chOff x="1893213" y="1173480"/>
            <a:chExt cx="10744795" cy="5882521"/>
          </a:xfrm>
        </p:grpSpPr>
        <p:sp>
          <p:nvSpPr>
            <p:cNvPr id="2" name="Text 0"/>
            <p:cNvSpPr/>
            <p:nvPr/>
          </p:nvSpPr>
          <p:spPr>
            <a:xfrm>
              <a:off x="2000012" y="1173480"/>
              <a:ext cx="7011948" cy="421243"/>
            </a:xfrm>
            <a:prstGeom prst="rect">
              <a:avLst/>
            </a:prstGeom>
            <a:noFill/>
            <a:ln/>
          </p:spPr>
          <p:txBody>
            <a:bodyPr wrap="none" lIns="0" tIns="0" rIns="0" bIns="0" rtlCol="0" anchor="t"/>
            <a:lstStyle/>
            <a:p>
              <a:pPr marL="0" indent="0" algn="l">
                <a:lnSpc>
                  <a:spcPts val="3300"/>
                </a:lnSpc>
                <a:buNone/>
              </a:pPr>
              <a:r>
                <a:rPr lang="en-US" sz="2650" b="1" dirty="0">
                  <a:solidFill>
                    <a:srgbClr val="FFFFFF"/>
                  </a:solidFill>
                  <a:latin typeface="Montserrat Bold" pitchFamily="34" charset="0"/>
                  <a:ea typeface="Montserrat Bold" pitchFamily="34" charset="-122"/>
                  <a:cs typeface="Montserrat Bold" pitchFamily="34" charset="-120"/>
                </a:rPr>
                <a:t>Rəqəmsal Transformasiya və İnnovasiya</a:t>
              </a:r>
              <a:endParaRPr lang="en-US" sz="2650" dirty="0"/>
            </a:p>
          </p:txBody>
        </p:sp>
        <p:sp>
          <p:nvSpPr>
            <p:cNvPr id="3" name="Text 1"/>
            <p:cNvSpPr/>
            <p:nvPr/>
          </p:nvSpPr>
          <p:spPr>
            <a:xfrm>
              <a:off x="2000012" y="1798320"/>
              <a:ext cx="10630376" cy="374809"/>
            </a:xfrm>
            <a:prstGeom prst="rect">
              <a:avLst/>
            </a:prstGeom>
            <a:noFill/>
            <a:ln/>
          </p:spPr>
          <p:txBody>
            <a:bodyPr wrap="square" lIns="0" tIns="0" rIns="0" bIns="0" rtlCol="0" anchor="t"/>
            <a:lstStyle/>
            <a:p>
              <a:pPr marL="0" indent="0" algn="l">
                <a:lnSpc>
                  <a:spcPts val="1450"/>
                </a:lnSpc>
                <a:buNone/>
              </a:pPr>
              <a:r>
                <a:rPr lang="en-US" sz="1400" dirty="0">
                  <a:solidFill>
                    <a:srgbClr val="E2E6E9"/>
                  </a:solidFill>
                  <a:latin typeface="Source Sans 3" pitchFamily="34" charset="0"/>
                  <a:ea typeface="Source Sans 3" pitchFamily="34" charset="-122"/>
                  <a:cs typeface="Source Sans 3" pitchFamily="34" charset="-120"/>
                </a:rPr>
                <a:t>SI yalnız mövcud prosesləri avtomatlaşdırmır — o, şirkətin əsas biznes modelini kökündən dəyişə bilər. Bu, rəqəmsal transformasiyanın ən dərin səviyyəsidir: şirkətin "nə edir" sualına deyil, "necə dəyər yaradır" sualına yeni cavab verilir.</a:t>
              </a:r>
              <a:endParaRPr lang="en-US" sz="1400" dirty="0"/>
            </a:p>
          </p:txBody>
        </p:sp>
        <p:sp>
          <p:nvSpPr>
            <p:cNvPr id="4" name="Shape 2"/>
            <p:cNvSpPr/>
            <p:nvPr/>
          </p:nvSpPr>
          <p:spPr>
            <a:xfrm>
              <a:off x="1893213" y="2287667"/>
              <a:ext cx="5347930" cy="4768334"/>
            </a:xfrm>
            <a:prstGeom prst="roundRect">
              <a:avLst>
                <a:gd name="adj" fmla="val 466"/>
              </a:avLst>
            </a:prstGeom>
            <a:solidFill>
              <a:srgbClr val="1D1F22"/>
            </a:solidFill>
            <a:ln/>
          </p:spPr>
          <p:txBody>
            <a:bodyPr/>
            <a:lstStyle/>
            <a:p>
              <a:endParaRPr lang="en-US"/>
            </a:p>
          </p:txBody>
        </p:sp>
        <p:sp>
          <p:nvSpPr>
            <p:cNvPr id="5" name="Text 3"/>
            <p:cNvSpPr/>
            <p:nvPr/>
          </p:nvSpPr>
          <p:spPr>
            <a:xfrm>
              <a:off x="2041446" y="2389465"/>
              <a:ext cx="4091583" cy="210502"/>
            </a:xfrm>
            <a:prstGeom prst="rect">
              <a:avLst/>
            </a:prstGeom>
            <a:noFill/>
            <a:ln/>
          </p:spPr>
          <p:txBody>
            <a:bodyPr wrap="none" lIns="0" tIns="0" rIns="0" bIns="0" rtlCol="0" anchor="t"/>
            <a:lstStyle/>
            <a:p>
              <a:pPr marL="0" indent="0" algn="l">
                <a:lnSpc>
                  <a:spcPts val="1650"/>
                </a:lnSpc>
                <a:buNone/>
              </a:pPr>
              <a:r>
                <a:rPr lang="en-US" sz="1300" b="1" dirty="0">
                  <a:solidFill>
                    <a:srgbClr val="FFFFFF"/>
                  </a:solidFill>
                  <a:latin typeface="Montserrat Bold" pitchFamily="34" charset="0"/>
                  <a:ea typeface="Montserrat Bold" pitchFamily="34" charset="-122"/>
                  <a:cs typeface="Montserrat Bold" pitchFamily="34" charset="-120"/>
                </a:rPr>
                <a:t>Biznes Modeli Transformasiyasının Mərhələləri</a:t>
              </a:r>
              <a:endParaRPr lang="en-US" sz="1300" dirty="0"/>
            </a:p>
          </p:txBody>
        </p:sp>
        <p:sp>
          <p:nvSpPr>
            <p:cNvPr id="6" name="Text 4"/>
            <p:cNvSpPr/>
            <p:nvPr/>
          </p:nvSpPr>
          <p:spPr>
            <a:xfrm>
              <a:off x="2041446" y="2714506"/>
              <a:ext cx="148233" cy="185261"/>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Montserrat Light" pitchFamily="34" charset="0"/>
                  <a:ea typeface="Montserrat Light" pitchFamily="34" charset="-122"/>
                  <a:cs typeface="Montserrat Light" pitchFamily="34" charset="-120"/>
                </a:rPr>
                <a:t>01</a:t>
              </a:r>
              <a:endParaRPr lang="en-US" sz="1150" dirty="0"/>
            </a:p>
          </p:txBody>
        </p:sp>
        <p:sp>
          <p:nvSpPr>
            <p:cNvPr id="7" name="Shape 5"/>
            <p:cNvSpPr/>
            <p:nvPr/>
          </p:nvSpPr>
          <p:spPr>
            <a:xfrm>
              <a:off x="2041446" y="2951202"/>
              <a:ext cx="5051465" cy="15240"/>
            </a:xfrm>
            <a:prstGeom prst="rect">
              <a:avLst/>
            </a:prstGeom>
            <a:solidFill>
              <a:srgbClr val="FFFFFF"/>
            </a:solidFill>
            <a:ln/>
          </p:spPr>
          <p:txBody>
            <a:bodyPr/>
            <a:lstStyle/>
            <a:p>
              <a:endParaRPr lang="en-US"/>
            </a:p>
          </p:txBody>
        </p:sp>
        <p:sp>
          <p:nvSpPr>
            <p:cNvPr id="8" name="Text 6"/>
            <p:cNvSpPr/>
            <p:nvPr/>
          </p:nvSpPr>
          <p:spPr>
            <a:xfrm>
              <a:off x="2041446" y="3055739"/>
              <a:ext cx="1684973"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Rəqəmsallaşma</a:t>
              </a:r>
              <a:endParaRPr lang="en-US" sz="1300" dirty="0"/>
            </a:p>
          </p:txBody>
        </p:sp>
        <p:sp>
          <p:nvSpPr>
            <p:cNvPr id="9" name="Text 7"/>
            <p:cNvSpPr/>
            <p:nvPr/>
          </p:nvSpPr>
          <p:spPr>
            <a:xfrm>
              <a:off x="2041446" y="3368040"/>
              <a:ext cx="5051465" cy="187404"/>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Kağız əsaslı proseslərin rəqəmsal formata keçirilməsi. (Məs: elektron qaimə)</a:t>
              </a:r>
              <a:endParaRPr lang="en-US" sz="1150" dirty="0"/>
            </a:p>
          </p:txBody>
        </p:sp>
        <p:sp>
          <p:nvSpPr>
            <p:cNvPr id="10" name="Text 8"/>
            <p:cNvSpPr/>
            <p:nvPr/>
          </p:nvSpPr>
          <p:spPr>
            <a:xfrm>
              <a:off x="2041446" y="3768447"/>
              <a:ext cx="148233" cy="185261"/>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Montserrat Light" pitchFamily="34" charset="0"/>
                  <a:ea typeface="Montserrat Light" pitchFamily="34" charset="-122"/>
                  <a:cs typeface="Montserrat Light" pitchFamily="34" charset="-120"/>
                </a:rPr>
                <a:t>02</a:t>
              </a:r>
              <a:endParaRPr lang="en-US" sz="1150" dirty="0"/>
            </a:p>
          </p:txBody>
        </p:sp>
        <p:sp>
          <p:nvSpPr>
            <p:cNvPr id="11" name="Shape 9"/>
            <p:cNvSpPr/>
            <p:nvPr/>
          </p:nvSpPr>
          <p:spPr>
            <a:xfrm>
              <a:off x="2041446" y="4005143"/>
              <a:ext cx="5051465" cy="15240"/>
            </a:xfrm>
            <a:prstGeom prst="rect">
              <a:avLst/>
            </a:prstGeom>
            <a:solidFill>
              <a:srgbClr val="FFFFFF"/>
            </a:solidFill>
            <a:ln/>
          </p:spPr>
          <p:txBody>
            <a:bodyPr/>
            <a:lstStyle/>
            <a:p>
              <a:endParaRPr lang="en-US"/>
            </a:p>
          </p:txBody>
        </p:sp>
        <p:sp>
          <p:nvSpPr>
            <p:cNvPr id="12" name="Text 10"/>
            <p:cNvSpPr/>
            <p:nvPr/>
          </p:nvSpPr>
          <p:spPr>
            <a:xfrm>
              <a:off x="2041446" y="4109680"/>
              <a:ext cx="2367320"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Rəqəmsal optimallaşdırma</a:t>
              </a:r>
              <a:endParaRPr lang="en-US" sz="1300" dirty="0"/>
            </a:p>
          </p:txBody>
        </p:sp>
        <p:sp>
          <p:nvSpPr>
            <p:cNvPr id="13" name="Text 11"/>
            <p:cNvSpPr/>
            <p:nvPr/>
          </p:nvSpPr>
          <p:spPr>
            <a:xfrm>
              <a:off x="2041446" y="4421981"/>
              <a:ext cx="5051465" cy="187404"/>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SI ilə əməliyyat səmərəliliyinin artırılması, xərclərin azaldılması.</a:t>
              </a:r>
              <a:endParaRPr lang="en-US" sz="1150" dirty="0"/>
            </a:p>
          </p:txBody>
        </p:sp>
        <p:sp>
          <p:nvSpPr>
            <p:cNvPr id="14" name="Text 12"/>
            <p:cNvSpPr/>
            <p:nvPr/>
          </p:nvSpPr>
          <p:spPr>
            <a:xfrm>
              <a:off x="2041446" y="4822388"/>
              <a:ext cx="148233" cy="185261"/>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Montserrat Light" pitchFamily="34" charset="0"/>
                  <a:ea typeface="Montserrat Light" pitchFamily="34" charset="-122"/>
                  <a:cs typeface="Montserrat Light" pitchFamily="34" charset="-120"/>
                </a:rPr>
                <a:t>03</a:t>
              </a:r>
              <a:endParaRPr lang="en-US" sz="1150" dirty="0"/>
            </a:p>
          </p:txBody>
        </p:sp>
        <p:sp>
          <p:nvSpPr>
            <p:cNvPr id="15" name="Shape 13"/>
            <p:cNvSpPr/>
            <p:nvPr/>
          </p:nvSpPr>
          <p:spPr>
            <a:xfrm>
              <a:off x="2041446" y="5059085"/>
              <a:ext cx="5051465" cy="15240"/>
            </a:xfrm>
            <a:prstGeom prst="rect">
              <a:avLst/>
            </a:prstGeom>
            <a:solidFill>
              <a:srgbClr val="FFFFFF"/>
            </a:solidFill>
            <a:ln/>
          </p:spPr>
          <p:txBody>
            <a:bodyPr/>
            <a:lstStyle/>
            <a:p>
              <a:endParaRPr lang="en-US"/>
            </a:p>
          </p:txBody>
        </p:sp>
        <p:sp>
          <p:nvSpPr>
            <p:cNvPr id="16" name="Text 14"/>
            <p:cNvSpPr/>
            <p:nvPr/>
          </p:nvSpPr>
          <p:spPr>
            <a:xfrm>
              <a:off x="2041446" y="5163622"/>
              <a:ext cx="2360414"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Biznes modeli yenilənməsi</a:t>
              </a:r>
              <a:endParaRPr lang="en-US" sz="1300" dirty="0"/>
            </a:p>
          </p:txBody>
        </p:sp>
        <p:sp>
          <p:nvSpPr>
            <p:cNvPr id="17" name="Text 15"/>
            <p:cNvSpPr/>
            <p:nvPr/>
          </p:nvSpPr>
          <p:spPr>
            <a:xfrm>
              <a:off x="2041446" y="5475923"/>
              <a:ext cx="5051465" cy="187404"/>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SI məlumatları əsasında tamamilə yeni gəlir axınlarının yaradılması.</a:t>
              </a:r>
              <a:endParaRPr lang="en-US" sz="1150" dirty="0"/>
            </a:p>
          </p:txBody>
        </p:sp>
        <p:sp>
          <p:nvSpPr>
            <p:cNvPr id="18" name="Text 16"/>
            <p:cNvSpPr/>
            <p:nvPr/>
          </p:nvSpPr>
          <p:spPr>
            <a:xfrm>
              <a:off x="2041446" y="5876330"/>
              <a:ext cx="148233" cy="185261"/>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Montserrat Light" pitchFamily="34" charset="0"/>
                  <a:ea typeface="Montserrat Light" pitchFamily="34" charset="-122"/>
                  <a:cs typeface="Montserrat Light" pitchFamily="34" charset="-120"/>
                </a:rPr>
                <a:t>04</a:t>
              </a:r>
              <a:endParaRPr lang="en-US" sz="1150" dirty="0"/>
            </a:p>
          </p:txBody>
        </p:sp>
        <p:sp>
          <p:nvSpPr>
            <p:cNvPr id="19" name="Shape 17"/>
            <p:cNvSpPr/>
            <p:nvPr/>
          </p:nvSpPr>
          <p:spPr>
            <a:xfrm>
              <a:off x="2041446" y="6113026"/>
              <a:ext cx="5051465" cy="15240"/>
            </a:xfrm>
            <a:prstGeom prst="rect">
              <a:avLst/>
            </a:prstGeom>
            <a:solidFill>
              <a:srgbClr val="FFFFFF"/>
            </a:solidFill>
            <a:ln/>
          </p:spPr>
          <p:txBody>
            <a:bodyPr/>
            <a:lstStyle/>
            <a:p>
              <a:endParaRPr lang="en-US"/>
            </a:p>
          </p:txBody>
        </p:sp>
        <p:sp>
          <p:nvSpPr>
            <p:cNvPr id="20" name="Text 18"/>
            <p:cNvSpPr/>
            <p:nvPr/>
          </p:nvSpPr>
          <p:spPr>
            <a:xfrm>
              <a:off x="2041446" y="6217563"/>
              <a:ext cx="1684973"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Ekosistem liderliyi</a:t>
              </a:r>
              <a:endParaRPr lang="en-US" sz="1300" dirty="0"/>
            </a:p>
          </p:txBody>
        </p:sp>
        <p:sp>
          <p:nvSpPr>
            <p:cNvPr id="21" name="Text 19"/>
            <p:cNvSpPr/>
            <p:nvPr/>
          </p:nvSpPr>
          <p:spPr>
            <a:xfrm>
              <a:off x="2041446" y="6529864"/>
              <a:ext cx="5051465" cy="187404"/>
            </a:xfrm>
            <a:prstGeom prst="rect">
              <a:avLst/>
            </a:prstGeom>
            <a:noFill/>
            <a:ln/>
          </p:spPr>
          <p:txBody>
            <a:bodyPr wrap="non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Platforma iqtisadiyyatı vasitəsilə sənaye standartlarının müəyyənləşdirilməsi.</a:t>
              </a:r>
              <a:endParaRPr lang="en-US" sz="1150" dirty="0"/>
            </a:p>
          </p:txBody>
        </p:sp>
        <p:sp>
          <p:nvSpPr>
            <p:cNvPr id="22" name="Text 20"/>
            <p:cNvSpPr/>
            <p:nvPr/>
          </p:nvSpPr>
          <p:spPr>
            <a:xfrm>
              <a:off x="7503676" y="2389465"/>
              <a:ext cx="3779401" cy="210502"/>
            </a:xfrm>
            <a:prstGeom prst="rect">
              <a:avLst/>
            </a:prstGeom>
            <a:noFill/>
            <a:ln/>
          </p:spPr>
          <p:txBody>
            <a:bodyPr wrap="none" lIns="0" tIns="0" rIns="0" bIns="0" rtlCol="0" anchor="t"/>
            <a:lstStyle/>
            <a:p>
              <a:pPr marL="0" indent="0" algn="l">
                <a:lnSpc>
                  <a:spcPts val="1650"/>
                </a:lnSpc>
                <a:buNone/>
              </a:pPr>
              <a:r>
                <a:rPr lang="en-US" sz="1300" b="1" dirty="0">
                  <a:solidFill>
                    <a:srgbClr val="FFFFFF"/>
                  </a:solidFill>
                  <a:latin typeface="Montserrat Bold" pitchFamily="34" charset="0"/>
                  <a:ea typeface="Montserrat Bold" pitchFamily="34" charset="-122"/>
                  <a:cs typeface="Montserrat Bold" pitchFamily="34" charset="-120"/>
                </a:rPr>
                <a:t>Real Nümunələr: SI Biznes Modelini Dəyişir</a:t>
              </a:r>
              <a:endParaRPr lang="en-US" sz="1300" dirty="0"/>
            </a:p>
          </p:txBody>
        </p:sp>
        <p:sp>
          <p:nvSpPr>
            <p:cNvPr id="23" name="Shape 21"/>
            <p:cNvSpPr/>
            <p:nvPr/>
          </p:nvSpPr>
          <p:spPr>
            <a:xfrm>
              <a:off x="7503676" y="2714506"/>
              <a:ext cx="5134332" cy="1014055"/>
            </a:xfrm>
            <a:prstGeom prst="roundRect">
              <a:avLst>
                <a:gd name="adj" fmla="val 7214"/>
              </a:avLst>
            </a:prstGeom>
            <a:solidFill>
              <a:srgbClr val="111213"/>
            </a:solidFill>
            <a:ln w="15240">
              <a:solidFill>
                <a:srgbClr val="494A4B"/>
              </a:solidFill>
              <a:prstDash val="solid"/>
            </a:ln>
          </p:spPr>
          <p:txBody>
            <a:bodyPr/>
            <a:lstStyle/>
            <a:p>
              <a:endParaRPr lang="en-US"/>
            </a:p>
          </p:txBody>
        </p:sp>
        <p:sp>
          <p:nvSpPr>
            <p:cNvPr id="24" name="Shape 22"/>
            <p:cNvSpPr/>
            <p:nvPr/>
          </p:nvSpPr>
          <p:spPr>
            <a:xfrm>
              <a:off x="7488436" y="2714506"/>
              <a:ext cx="60960" cy="1014055"/>
            </a:xfrm>
            <a:prstGeom prst="roundRect">
              <a:avLst>
                <a:gd name="adj" fmla="val 36488"/>
              </a:avLst>
            </a:prstGeom>
            <a:solidFill>
              <a:srgbClr val="FFFFFF"/>
            </a:solidFill>
            <a:ln/>
          </p:spPr>
          <p:txBody>
            <a:bodyPr/>
            <a:lstStyle/>
            <a:p>
              <a:endParaRPr lang="en-US"/>
            </a:p>
          </p:txBody>
        </p:sp>
        <p:sp>
          <p:nvSpPr>
            <p:cNvPr id="25" name="Text 23"/>
            <p:cNvSpPr/>
            <p:nvPr/>
          </p:nvSpPr>
          <p:spPr>
            <a:xfrm>
              <a:off x="7712869" y="2877979"/>
              <a:ext cx="2706886"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Netflix: Möhtəvadan Alqoritmə</a:t>
              </a:r>
              <a:endParaRPr lang="en-US" sz="1300" dirty="0"/>
            </a:p>
          </p:txBody>
        </p:sp>
        <p:sp>
          <p:nvSpPr>
            <p:cNvPr id="26" name="Text 24"/>
            <p:cNvSpPr/>
            <p:nvPr/>
          </p:nvSpPr>
          <p:spPr>
            <a:xfrm>
              <a:off x="7712869" y="3190280"/>
              <a:ext cx="4761667" cy="374809"/>
            </a:xfrm>
            <a:prstGeom prst="rect">
              <a:avLst/>
            </a:prstGeom>
            <a:noFill/>
            <a:ln/>
          </p:spPr>
          <p:txBody>
            <a:bodyPr wrap="squar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DVD icarəsindən başlayan şirkət, SI tövsiyə mühərriki ilə content produksiyasına keçdi. Məlumat → İnnovasiya → Yeni biznes modeli.</a:t>
              </a:r>
              <a:endParaRPr lang="en-US" sz="1150" dirty="0"/>
            </a:p>
          </p:txBody>
        </p:sp>
        <p:sp>
          <p:nvSpPr>
            <p:cNvPr id="27" name="Shape 25"/>
            <p:cNvSpPr/>
            <p:nvPr/>
          </p:nvSpPr>
          <p:spPr>
            <a:xfrm>
              <a:off x="7503676" y="3830360"/>
              <a:ext cx="5134332" cy="1014055"/>
            </a:xfrm>
            <a:prstGeom prst="roundRect">
              <a:avLst>
                <a:gd name="adj" fmla="val 7214"/>
              </a:avLst>
            </a:prstGeom>
            <a:solidFill>
              <a:srgbClr val="111213"/>
            </a:solidFill>
            <a:ln w="15240">
              <a:solidFill>
                <a:srgbClr val="494A4B"/>
              </a:solidFill>
              <a:prstDash val="solid"/>
            </a:ln>
          </p:spPr>
          <p:txBody>
            <a:bodyPr/>
            <a:lstStyle/>
            <a:p>
              <a:endParaRPr lang="en-US"/>
            </a:p>
          </p:txBody>
        </p:sp>
        <p:sp>
          <p:nvSpPr>
            <p:cNvPr id="28" name="Shape 26"/>
            <p:cNvSpPr/>
            <p:nvPr/>
          </p:nvSpPr>
          <p:spPr>
            <a:xfrm>
              <a:off x="7488436" y="3830360"/>
              <a:ext cx="60960" cy="1014055"/>
            </a:xfrm>
            <a:prstGeom prst="roundRect">
              <a:avLst>
                <a:gd name="adj" fmla="val 36488"/>
              </a:avLst>
            </a:prstGeom>
            <a:solidFill>
              <a:srgbClr val="FFFFFF"/>
            </a:solidFill>
            <a:ln/>
          </p:spPr>
          <p:txBody>
            <a:bodyPr/>
            <a:lstStyle/>
            <a:p>
              <a:endParaRPr lang="en-US"/>
            </a:p>
          </p:txBody>
        </p:sp>
        <p:sp>
          <p:nvSpPr>
            <p:cNvPr id="29" name="Text 27"/>
            <p:cNvSpPr/>
            <p:nvPr/>
          </p:nvSpPr>
          <p:spPr>
            <a:xfrm>
              <a:off x="7712869" y="3993833"/>
              <a:ext cx="3045143"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John Deere: Texnikadan Platforma</a:t>
              </a:r>
              <a:endParaRPr lang="en-US" sz="1300" dirty="0"/>
            </a:p>
          </p:txBody>
        </p:sp>
        <p:sp>
          <p:nvSpPr>
            <p:cNvPr id="30" name="Text 28"/>
            <p:cNvSpPr/>
            <p:nvPr/>
          </p:nvSpPr>
          <p:spPr>
            <a:xfrm>
              <a:off x="7712869" y="4306133"/>
              <a:ext cx="4761667" cy="374809"/>
            </a:xfrm>
            <a:prstGeom prst="rect">
              <a:avLst/>
            </a:prstGeom>
            <a:noFill/>
            <a:ln/>
          </p:spPr>
          <p:txBody>
            <a:bodyPr wrap="squar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Traktor istehsalçısı, SI-dəstəkli əkinçilik analitikası platformasına çevrildi. Məhsul → Xidmət modeli transformasiyası.</a:t>
              </a:r>
              <a:endParaRPr lang="en-US" sz="1150" dirty="0"/>
            </a:p>
          </p:txBody>
        </p:sp>
        <p:sp>
          <p:nvSpPr>
            <p:cNvPr id="31" name="Shape 29"/>
            <p:cNvSpPr/>
            <p:nvPr/>
          </p:nvSpPr>
          <p:spPr>
            <a:xfrm>
              <a:off x="7503676" y="4946213"/>
              <a:ext cx="5134332" cy="1014055"/>
            </a:xfrm>
            <a:prstGeom prst="roundRect">
              <a:avLst>
                <a:gd name="adj" fmla="val 7214"/>
              </a:avLst>
            </a:prstGeom>
            <a:solidFill>
              <a:srgbClr val="111213"/>
            </a:solidFill>
            <a:ln w="15240">
              <a:solidFill>
                <a:srgbClr val="494A4B"/>
              </a:solidFill>
              <a:prstDash val="solid"/>
            </a:ln>
          </p:spPr>
          <p:txBody>
            <a:bodyPr/>
            <a:lstStyle/>
            <a:p>
              <a:endParaRPr lang="en-US"/>
            </a:p>
          </p:txBody>
        </p:sp>
        <p:sp>
          <p:nvSpPr>
            <p:cNvPr id="32" name="Shape 30"/>
            <p:cNvSpPr/>
            <p:nvPr/>
          </p:nvSpPr>
          <p:spPr>
            <a:xfrm>
              <a:off x="7488436" y="4946213"/>
              <a:ext cx="60960" cy="1014055"/>
            </a:xfrm>
            <a:prstGeom prst="roundRect">
              <a:avLst>
                <a:gd name="adj" fmla="val 36488"/>
              </a:avLst>
            </a:prstGeom>
            <a:solidFill>
              <a:srgbClr val="FFFFFF"/>
            </a:solidFill>
            <a:ln/>
          </p:spPr>
          <p:txBody>
            <a:bodyPr/>
            <a:lstStyle/>
            <a:p>
              <a:endParaRPr lang="en-US"/>
            </a:p>
          </p:txBody>
        </p:sp>
        <p:sp>
          <p:nvSpPr>
            <p:cNvPr id="33" name="Text 31"/>
            <p:cNvSpPr/>
            <p:nvPr/>
          </p:nvSpPr>
          <p:spPr>
            <a:xfrm>
              <a:off x="7712869" y="5109686"/>
              <a:ext cx="2712482" cy="210502"/>
            </a:xfrm>
            <a:prstGeom prst="rect">
              <a:avLst/>
            </a:prstGeom>
            <a:noFill/>
            <a:ln/>
          </p:spPr>
          <p:txBody>
            <a:bodyPr wrap="none" lIns="0" tIns="0" rIns="0" bIns="0" rtlCol="0" anchor="t"/>
            <a:lstStyle/>
            <a:p>
              <a:pPr marL="0" indent="0" algn="l">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Rolls-Royce: Satışdan Abunəyə</a:t>
              </a:r>
              <a:endParaRPr lang="en-US" sz="1300" dirty="0"/>
            </a:p>
          </p:txBody>
        </p:sp>
        <p:sp>
          <p:nvSpPr>
            <p:cNvPr id="34" name="Text 32"/>
            <p:cNvSpPr/>
            <p:nvPr/>
          </p:nvSpPr>
          <p:spPr>
            <a:xfrm>
              <a:off x="7712869" y="5421987"/>
              <a:ext cx="4761667" cy="374809"/>
            </a:xfrm>
            <a:prstGeom prst="rect">
              <a:avLst/>
            </a:prstGeom>
            <a:noFill/>
            <a:ln/>
          </p:spPr>
          <p:txBody>
            <a:bodyPr wrap="square" lIns="0" tIns="0" rIns="0" bIns="0" rtlCol="0" anchor="t"/>
            <a:lstStyle/>
            <a:p>
              <a:pPr marL="0" indent="0" algn="l">
                <a:lnSpc>
                  <a:spcPts val="1450"/>
                </a:lnSpc>
                <a:buNone/>
              </a:pPr>
              <a:r>
                <a:rPr lang="en-US" sz="1150" dirty="0">
                  <a:solidFill>
                    <a:srgbClr val="E2E6E9"/>
                  </a:solidFill>
                  <a:latin typeface="Source Sans 3" pitchFamily="34" charset="0"/>
                  <a:ea typeface="Source Sans 3" pitchFamily="34" charset="-122"/>
                  <a:cs typeface="Source Sans 3" pitchFamily="34" charset="-120"/>
                </a:rPr>
                <a:t>"Power by the Hour" — mühərrik satmır, uçuş saatı satır. Prediktiv SI texniki qüsurları öncədən aşkar edir.</a:t>
              </a:r>
              <a:endParaRPr lang="en-US" sz="1150" dirty="0"/>
            </a:p>
          </p:txBody>
        </p:sp>
        <p:sp>
          <p:nvSpPr>
            <p:cNvPr id="35" name="Shape 33"/>
            <p:cNvSpPr/>
            <p:nvPr/>
          </p:nvSpPr>
          <p:spPr>
            <a:xfrm>
              <a:off x="7503676" y="6074807"/>
              <a:ext cx="5134332" cy="866656"/>
            </a:xfrm>
            <a:prstGeom prst="roundRect">
              <a:avLst>
                <a:gd name="adj" fmla="val 2567"/>
              </a:avLst>
            </a:prstGeom>
            <a:solidFill>
              <a:srgbClr val="262626"/>
            </a:solidFill>
            <a:ln/>
          </p:spPr>
          <p:txBody>
            <a:bodyPr/>
            <a:lstStyle/>
            <a:p>
              <a:endParaRPr lang="en-US"/>
            </a:p>
          </p:txBody>
        </p:sp>
        <p:pic>
          <p:nvPicPr>
            <p:cNvPr id="36" name="Image 0" descr="preencoded.png"/>
            <p:cNvPicPr>
              <a:picLocks noChangeAspect="1"/>
            </p:cNvPicPr>
            <p:nvPr/>
          </p:nvPicPr>
          <p:blipFill>
            <a:blip r:embed="rId3"/>
            <a:stretch>
              <a:fillRect/>
            </a:stretch>
          </p:blipFill>
          <p:spPr>
            <a:xfrm>
              <a:off x="7651909" y="6267450"/>
              <a:ext cx="185261" cy="148233"/>
            </a:xfrm>
            <a:prstGeom prst="rect">
              <a:avLst/>
            </a:prstGeom>
          </p:spPr>
        </p:pic>
        <p:sp>
          <p:nvSpPr>
            <p:cNvPr id="37" name="Text 34"/>
            <p:cNvSpPr/>
            <p:nvPr/>
          </p:nvSpPr>
          <p:spPr>
            <a:xfrm>
              <a:off x="7985403" y="6213634"/>
              <a:ext cx="4504373" cy="562213"/>
            </a:xfrm>
            <a:prstGeom prst="rect">
              <a:avLst/>
            </a:prstGeom>
            <a:noFill/>
            <a:ln/>
          </p:spPr>
          <p:txBody>
            <a:bodyPr wrap="square" lIns="0" tIns="0" rIns="0" bIns="0" rtlCol="0" anchor="t"/>
            <a:lstStyle/>
            <a:p>
              <a:pPr marL="0" indent="0" algn="l">
                <a:lnSpc>
                  <a:spcPts val="1450"/>
                </a:lnSpc>
                <a:buNone/>
              </a:pPr>
              <a:r>
                <a:rPr lang="en-US" sz="1150" dirty="0">
                  <a:solidFill>
                    <a:srgbClr val="000000"/>
                  </a:solidFill>
                  <a:latin typeface="Source Sans 3" pitchFamily="34" charset="0"/>
                  <a:ea typeface="Source Sans 3" pitchFamily="34" charset="-122"/>
                  <a:cs typeface="Source Sans 3" pitchFamily="34" charset="-120"/>
                </a:rPr>
                <a:t>⚡</a:t>
              </a:r>
              <a:r>
                <a:rPr lang="en-US" sz="1150" dirty="0">
                  <a:solidFill>
                    <a:srgbClr val="FFFFFF"/>
                  </a:solidFill>
                  <a:latin typeface="Source Sans 3" pitchFamily="34" charset="0"/>
                  <a:ea typeface="Source Sans 3" pitchFamily="34" charset="-122"/>
                  <a:cs typeface="Source Sans 3" pitchFamily="34" charset="-120"/>
                </a:rPr>
                <a:t> </a:t>
              </a:r>
              <a:r>
                <a:rPr lang="en-US" sz="1150" b="1" dirty="0">
                  <a:solidFill>
                    <a:srgbClr val="FFFFFF"/>
                  </a:solidFill>
                  <a:latin typeface="Source Sans 3" pitchFamily="34" charset="0"/>
                  <a:ea typeface="Source Sans 3" pitchFamily="34" charset="-122"/>
                  <a:cs typeface="Source Sans 3" pitchFamily="34" charset="-120"/>
                </a:rPr>
                <a:t>Əsas Fikir:</a:t>
              </a:r>
              <a:r>
                <a:rPr lang="en-US" sz="1150" dirty="0">
                  <a:solidFill>
                    <a:srgbClr val="FFFFFF"/>
                  </a:solidFill>
                  <a:latin typeface="Source Sans 3" pitchFamily="34" charset="0"/>
                  <a:ea typeface="Source Sans 3" pitchFamily="34" charset="-122"/>
                  <a:cs typeface="Source Sans 3" pitchFamily="34" charset="-120"/>
                </a:rPr>
                <a:t> SI innovasiyası məhsul xüsusiyyəti deyil, strateji transformasiya vasitəsidir. Uğurlu şirkətlər onu insan kapitalı kimi idarə edir.</a:t>
              </a:r>
              <a:endParaRPr lang="en-US" sz="1150" dirty="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7557B8E3-3D90-963C-9303-3BA68B4A89E3}"/>
              </a:ext>
            </a:extLst>
          </p:cNvPr>
          <p:cNvGrpSpPr/>
          <p:nvPr/>
        </p:nvGrpSpPr>
        <p:grpSpPr>
          <a:xfrm>
            <a:off x="311972" y="419548"/>
            <a:ext cx="13995699" cy="7508838"/>
            <a:chOff x="2580799" y="1161931"/>
            <a:chExt cx="9476184" cy="5814894"/>
          </a:xfrm>
        </p:grpSpPr>
        <p:sp>
          <p:nvSpPr>
            <p:cNvPr id="2" name="Text 0"/>
            <p:cNvSpPr/>
            <p:nvPr/>
          </p:nvSpPr>
          <p:spPr>
            <a:xfrm>
              <a:off x="2580799" y="1161931"/>
              <a:ext cx="3824288" cy="375166"/>
            </a:xfrm>
            <a:prstGeom prst="rect">
              <a:avLst/>
            </a:prstGeom>
            <a:noFill/>
            <a:ln/>
          </p:spPr>
          <p:txBody>
            <a:bodyPr wrap="none" lIns="0" tIns="0" rIns="0" bIns="0" rtlCol="0" anchor="t"/>
            <a:lstStyle/>
            <a:p>
              <a:pPr marL="0" indent="0" algn="l">
                <a:lnSpc>
                  <a:spcPts val="2950"/>
                </a:lnSpc>
                <a:buNone/>
              </a:pPr>
              <a:r>
                <a:rPr lang="en-US" sz="2350" b="1" dirty="0">
                  <a:solidFill>
                    <a:srgbClr val="FFFFFF"/>
                  </a:solidFill>
                  <a:latin typeface="Montserrat Bold" pitchFamily="34" charset="0"/>
                  <a:ea typeface="Montserrat Bold" pitchFamily="34" charset="-122"/>
                  <a:cs typeface="Montserrat Bold" pitchFamily="34" charset="-120"/>
                </a:rPr>
                <a:t>Risklər və Etik Məsələlər</a:t>
              </a:r>
              <a:endParaRPr lang="en-US" sz="2350" dirty="0"/>
            </a:p>
          </p:txBody>
        </p:sp>
        <p:sp>
          <p:nvSpPr>
            <p:cNvPr id="3" name="Text 1"/>
            <p:cNvSpPr/>
            <p:nvPr/>
          </p:nvSpPr>
          <p:spPr>
            <a:xfrm>
              <a:off x="2580799" y="1698546"/>
              <a:ext cx="9468683" cy="319088"/>
            </a:xfrm>
            <a:prstGeom prst="rect">
              <a:avLst/>
            </a:prstGeom>
            <a:noFill/>
            <a:ln/>
          </p:spPr>
          <p:txBody>
            <a:bodyPr wrap="square" lIns="0" tIns="0" rIns="0" bIns="0" rtlCol="0" anchor="t"/>
            <a:lstStyle/>
            <a:p>
              <a:pPr marL="0" indent="0" algn="l">
                <a:lnSpc>
                  <a:spcPts val="1250"/>
                </a:lnSpc>
                <a:buNone/>
              </a:pPr>
              <a:r>
                <a:rPr lang="en-US" sz="1400" dirty="0">
                  <a:solidFill>
                    <a:srgbClr val="E2E6E9"/>
                  </a:solidFill>
                  <a:latin typeface="Source Sans 3" pitchFamily="34" charset="0"/>
                  <a:ea typeface="Source Sans 3" pitchFamily="34" charset="-122"/>
                  <a:cs typeface="Source Sans 3" pitchFamily="34" charset="-120"/>
                </a:rPr>
                <a:t>SI əsaslı innovasiya güclü imkanlar yaratdığı kimi, yeni növ risklər də gətirir. Bu risklər yalnız texniki deyil, hüquqi, sosial və etik xarakter daşıyır. Cavabdeh innovasiya üçün bu məsələlər strateji prioritet olmalıdır.</a:t>
              </a:r>
              <a:endParaRPr lang="en-US" sz="1400" dirty="0"/>
            </a:p>
          </p:txBody>
        </p:sp>
        <p:sp>
          <p:nvSpPr>
            <p:cNvPr id="4" name="Shape 2"/>
            <p:cNvSpPr/>
            <p:nvPr/>
          </p:nvSpPr>
          <p:spPr>
            <a:xfrm>
              <a:off x="2580799" y="2108478"/>
              <a:ext cx="3102412" cy="2413040"/>
            </a:xfrm>
            <a:prstGeom prst="roundRect">
              <a:avLst>
                <a:gd name="adj" fmla="val 821"/>
              </a:avLst>
            </a:prstGeom>
            <a:solidFill>
              <a:srgbClr val="303132"/>
            </a:solidFill>
            <a:ln/>
          </p:spPr>
          <p:txBody>
            <a:bodyPr/>
            <a:lstStyle/>
            <a:p>
              <a:endParaRPr lang="en-US"/>
            </a:p>
          </p:txBody>
        </p:sp>
        <p:sp>
          <p:nvSpPr>
            <p:cNvPr id="5" name="Shape 3"/>
            <p:cNvSpPr/>
            <p:nvPr/>
          </p:nvSpPr>
          <p:spPr>
            <a:xfrm>
              <a:off x="2712839" y="2240518"/>
              <a:ext cx="396240" cy="396240"/>
            </a:xfrm>
            <a:prstGeom prst="roundRect">
              <a:avLst>
                <a:gd name="adj" fmla="val 23074615"/>
              </a:avLst>
            </a:prstGeom>
            <a:solidFill>
              <a:srgbClr val="FFFFFF"/>
            </a:solidFill>
            <a:ln/>
          </p:spPr>
          <p:txBody>
            <a:bodyPr/>
            <a:lstStyle/>
            <a:p>
              <a:endParaRPr lang="en-US"/>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21781" y="2349460"/>
              <a:ext cx="178237" cy="178237"/>
            </a:xfrm>
            <a:prstGeom prst="rect">
              <a:avLst/>
            </a:prstGeom>
          </p:spPr>
        </p:pic>
        <p:sp>
          <p:nvSpPr>
            <p:cNvPr id="7" name="Text 4"/>
            <p:cNvSpPr/>
            <p:nvPr/>
          </p:nvSpPr>
          <p:spPr>
            <a:xfrm>
              <a:off x="2712839" y="2717483"/>
              <a:ext cx="1500902" cy="187643"/>
            </a:xfrm>
            <a:prstGeom prst="rect">
              <a:avLst/>
            </a:prstGeom>
            <a:noFill/>
            <a:ln/>
          </p:spPr>
          <p:txBody>
            <a:bodyPr wrap="none" lIns="0" tIns="0" rIns="0" bIns="0" rtlCol="0" anchor="t"/>
            <a:lstStyle/>
            <a:p>
              <a:pPr marL="0" indent="0" algn="l">
                <a:lnSpc>
                  <a:spcPts val="1450"/>
                </a:lnSpc>
                <a:buNone/>
              </a:pPr>
              <a:r>
                <a:rPr lang="en-US" sz="1150" b="1" dirty="0">
                  <a:solidFill>
                    <a:srgbClr val="E2E6E9"/>
                  </a:solidFill>
                  <a:latin typeface="Montserrat Bold" pitchFamily="34" charset="0"/>
                  <a:ea typeface="Montserrat Bold" pitchFamily="34" charset="-122"/>
                  <a:cs typeface="Montserrat Bold" pitchFamily="34" charset="-120"/>
                </a:rPr>
                <a:t>Əqli Mülkiyyət</a:t>
              </a:r>
              <a:endParaRPr lang="en-US" sz="1150" dirty="0"/>
            </a:p>
          </p:txBody>
        </p:sp>
        <p:sp>
          <p:nvSpPr>
            <p:cNvPr id="8" name="Text 5"/>
            <p:cNvSpPr/>
            <p:nvPr/>
          </p:nvSpPr>
          <p:spPr>
            <a:xfrm>
              <a:off x="2712839" y="2953583"/>
              <a:ext cx="2838331" cy="957263"/>
            </a:xfrm>
            <a:prstGeom prst="rect">
              <a:avLst/>
            </a:prstGeom>
            <a:noFill/>
            <a:ln/>
          </p:spPr>
          <p:txBody>
            <a:bodyPr wrap="square" lIns="0" tIns="0" rIns="0" bIns="0" rtlCol="0" anchor="t"/>
            <a:lstStyle/>
            <a:p>
              <a:pPr marL="0" indent="0" algn="l">
                <a:lnSpc>
                  <a:spcPts val="1250"/>
                </a:lnSpc>
                <a:buNone/>
              </a:pPr>
              <a:r>
                <a:rPr lang="en-US" sz="1000" dirty="0">
                  <a:solidFill>
                    <a:srgbClr val="E2E6E9"/>
                  </a:solidFill>
                  <a:latin typeface="Source Sans 3" pitchFamily="34" charset="0"/>
                  <a:ea typeface="Source Sans 3" pitchFamily="34" charset="-122"/>
                  <a:cs typeface="Source Sans 3" pitchFamily="34" charset="-120"/>
                </a:rPr>
                <a:t>Generativ SI tərəfindən yaradılan məhsul dizaynları, mətnlər və kodun müəlliflik hüququ qeyri-müəyyən olaraq qalır. SI-nin yaratdığı ixtiralar patent ala bilərmi? Hazırda hüquq sistemləri bu suala vahid cavab vermir. Şirkətlər SI-istehsallı məzmun üçün aydın daxili siyasət müəyyənləşdirməlidir.</a:t>
              </a:r>
              <a:endParaRPr lang="en-US" sz="1000" dirty="0"/>
            </a:p>
          </p:txBody>
        </p:sp>
        <p:sp>
          <p:nvSpPr>
            <p:cNvPr id="9" name="Shape 6"/>
            <p:cNvSpPr/>
            <p:nvPr/>
          </p:nvSpPr>
          <p:spPr>
            <a:xfrm>
              <a:off x="5763935" y="2108478"/>
              <a:ext cx="3102412" cy="2413040"/>
            </a:xfrm>
            <a:prstGeom prst="roundRect">
              <a:avLst>
                <a:gd name="adj" fmla="val 821"/>
              </a:avLst>
            </a:prstGeom>
            <a:solidFill>
              <a:srgbClr val="303132"/>
            </a:solidFill>
            <a:ln/>
          </p:spPr>
          <p:txBody>
            <a:bodyPr/>
            <a:lstStyle/>
            <a:p>
              <a:endParaRPr lang="en-US"/>
            </a:p>
          </p:txBody>
        </p:sp>
        <p:sp>
          <p:nvSpPr>
            <p:cNvPr id="10" name="Shape 7"/>
            <p:cNvSpPr/>
            <p:nvPr/>
          </p:nvSpPr>
          <p:spPr>
            <a:xfrm>
              <a:off x="5895975" y="2240518"/>
              <a:ext cx="396240" cy="396240"/>
            </a:xfrm>
            <a:prstGeom prst="roundRect">
              <a:avLst>
                <a:gd name="adj" fmla="val 23074615"/>
              </a:avLst>
            </a:prstGeom>
            <a:solidFill>
              <a:srgbClr val="FFFFFF"/>
            </a:solidFill>
            <a:ln/>
          </p:spPr>
          <p:txBody>
            <a:bodyPr/>
            <a:lstStyle/>
            <a:p>
              <a:endParaRPr lang="en-US"/>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04917" y="2349460"/>
              <a:ext cx="178237" cy="178237"/>
            </a:xfrm>
            <a:prstGeom prst="rect">
              <a:avLst/>
            </a:prstGeom>
          </p:spPr>
        </p:pic>
        <p:sp>
          <p:nvSpPr>
            <p:cNvPr id="12" name="Text 8"/>
            <p:cNvSpPr/>
            <p:nvPr/>
          </p:nvSpPr>
          <p:spPr>
            <a:xfrm>
              <a:off x="5895975" y="2717483"/>
              <a:ext cx="1965484" cy="187643"/>
            </a:xfrm>
            <a:prstGeom prst="rect">
              <a:avLst/>
            </a:prstGeom>
            <a:noFill/>
            <a:ln/>
          </p:spPr>
          <p:txBody>
            <a:bodyPr wrap="none" lIns="0" tIns="0" rIns="0" bIns="0" rtlCol="0" anchor="t"/>
            <a:lstStyle/>
            <a:p>
              <a:pPr marL="0" indent="0" algn="l">
                <a:lnSpc>
                  <a:spcPts val="1450"/>
                </a:lnSpc>
                <a:buNone/>
              </a:pPr>
              <a:r>
                <a:rPr lang="en-US" sz="1150" b="1" dirty="0">
                  <a:solidFill>
                    <a:srgbClr val="E2E6E9"/>
                  </a:solidFill>
                  <a:latin typeface="Montserrat Bold" pitchFamily="34" charset="0"/>
                  <a:ea typeface="Montserrat Bold" pitchFamily="34" charset="-122"/>
                  <a:cs typeface="Montserrat Bold" pitchFamily="34" charset="-120"/>
                </a:rPr>
                <a:t>Məlumatların Qorunması</a:t>
              </a:r>
              <a:endParaRPr lang="en-US" sz="1150" dirty="0"/>
            </a:p>
          </p:txBody>
        </p:sp>
        <p:sp>
          <p:nvSpPr>
            <p:cNvPr id="13" name="Text 9"/>
            <p:cNvSpPr/>
            <p:nvPr/>
          </p:nvSpPr>
          <p:spPr>
            <a:xfrm>
              <a:off x="5895975" y="2953583"/>
              <a:ext cx="2838331" cy="1435894"/>
            </a:xfrm>
            <a:prstGeom prst="rect">
              <a:avLst/>
            </a:prstGeom>
            <a:noFill/>
            <a:ln/>
          </p:spPr>
          <p:txBody>
            <a:bodyPr wrap="square" lIns="0" tIns="0" rIns="0" bIns="0" rtlCol="0" anchor="t"/>
            <a:lstStyle/>
            <a:p>
              <a:pPr marL="0" indent="0" algn="l">
                <a:lnSpc>
                  <a:spcPts val="1250"/>
                </a:lnSpc>
                <a:buNone/>
              </a:pPr>
              <a:r>
                <a:rPr lang="en-US" sz="1000" dirty="0">
                  <a:solidFill>
                    <a:srgbClr val="E2E6E9"/>
                  </a:solidFill>
                  <a:latin typeface="Source Sans 3" pitchFamily="34" charset="0"/>
                  <a:ea typeface="Source Sans 3" pitchFamily="34" charset="-122"/>
                  <a:cs typeface="Source Sans 3" pitchFamily="34" charset="-120"/>
                </a:rPr>
                <a:t>SI modelləri böyük həcmdə müştəri və bazar məlumatına əsaslanır. GDPR (Avropa), KVKK (Türkiyə) və digər məlumat qorunması qanunvericiliyinə uyğunluq tələb olunur. İstifadəçilərin razılığı olmadan məlumatların yığılması, modelin öyrədilməsindən istifadəsi hüquqi risk yaradır. "Privacy by design" yanaşması — innovasiya prosesinin əvvəlindən məxfiliyə əməl etmək vacibdir.</a:t>
              </a:r>
              <a:endParaRPr lang="en-US" sz="1000" dirty="0"/>
            </a:p>
          </p:txBody>
        </p:sp>
        <p:sp>
          <p:nvSpPr>
            <p:cNvPr id="14" name="Shape 10"/>
            <p:cNvSpPr/>
            <p:nvPr/>
          </p:nvSpPr>
          <p:spPr>
            <a:xfrm>
              <a:off x="8947071" y="2108478"/>
              <a:ext cx="3102412" cy="2413040"/>
            </a:xfrm>
            <a:prstGeom prst="roundRect">
              <a:avLst>
                <a:gd name="adj" fmla="val 821"/>
              </a:avLst>
            </a:prstGeom>
            <a:solidFill>
              <a:srgbClr val="303132"/>
            </a:solidFill>
            <a:ln/>
          </p:spPr>
          <p:txBody>
            <a:bodyPr/>
            <a:lstStyle/>
            <a:p>
              <a:endParaRPr lang="en-US"/>
            </a:p>
          </p:txBody>
        </p:sp>
        <p:sp>
          <p:nvSpPr>
            <p:cNvPr id="15" name="Shape 11"/>
            <p:cNvSpPr/>
            <p:nvPr/>
          </p:nvSpPr>
          <p:spPr>
            <a:xfrm>
              <a:off x="9079111" y="2240518"/>
              <a:ext cx="396240" cy="396240"/>
            </a:xfrm>
            <a:prstGeom prst="roundRect">
              <a:avLst>
                <a:gd name="adj" fmla="val 23074615"/>
              </a:avLst>
            </a:prstGeom>
            <a:solidFill>
              <a:srgbClr val="FFFFFF"/>
            </a:solidFill>
            <a:ln/>
          </p:spPr>
          <p:txBody>
            <a:bodyPr/>
            <a:lstStyle/>
            <a:p>
              <a:endParaRPr lang="en-US"/>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88053" y="2349460"/>
              <a:ext cx="178237" cy="178237"/>
            </a:xfrm>
            <a:prstGeom prst="rect">
              <a:avLst/>
            </a:prstGeom>
          </p:spPr>
        </p:pic>
        <p:sp>
          <p:nvSpPr>
            <p:cNvPr id="17" name="Text 12"/>
            <p:cNvSpPr/>
            <p:nvPr/>
          </p:nvSpPr>
          <p:spPr>
            <a:xfrm>
              <a:off x="9079111" y="2717483"/>
              <a:ext cx="1500902" cy="187643"/>
            </a:xfrm>
            <a:prstGeom prst="rect">
              <a:avLst/>
            </a:prstGeom>
            <a:noFill/>
            <a:ln/>
          </p:spPr>
          <p:txBody>
            <a:bodyPr wrap="none" lIns="0" tIns="0" rIns="0" bIns="0" rtlCol="0" anchor="t"/>
            <a:lstStyle/>
            <a:p>
              <a:pPr marL="0" indent="0" algn="l">
                <a:lnSpc>
                  <a:spcPts val="1450"/>
                </a:lnSpc>
                <a:buNone/>
              </a:pPr>
              <a:r>
                <a:rPr lang="en-US" sz="1150" b="1" dirty="0">
                  <a:solidFill>
                    <a:srgbClr val="E2E6E9"/>
                  </a:solidFill>
                  <a:latin typeface="Montserrat Bold" pitchFamily="34" charset="0"/>
                  <a:ea typeface="Montserrat Bold" pitchFamily="34" charset="-122"/>
                  <a:cs typeface="Montserrat Bold" pitchFamily="34" charset="-120"/>
                </a:rPr>
                <a:t>Alqoritmik Qərəz</a:t>
              </a:r>
              <a:endParaRPr lang="en-US" sz="1150" dirty="0"/>
            </a:p>
          </p:txBody>
        </p:sp>
        <p:sp>
          <p:nvSpPr>
            <p:cNvPr id="18" name="Text 13"/>
            <p:cNvSpPr/>
            <p:nvPr/>
          </p:nvSpPr>
          <p:spPr>
            <a:xfrm>
              <a:off x="9079111" y="2953583"/>
              <a:ext cx="2838331" cy="957263"/>
            </a:xfrm>
            <a:prstGeom prst="rect">
              <a:avLst/>
            </a:prstGeom>
            <a:noFill/>
            <a:ln/>
          </p:spPr>
          <p:txBody>
            <a:bodyPr wrap="square" lIns="0" tIns="0" rIns="0" bIns="0" rtlCol="0" anchor="t"/>
            <a:lstStyle/>
            <a:p>
              <a:pPr marL="0" indent="0" algn="l">
                <a:lnSpc>
                  <a:spcPts val="1250"/>
                </a:lnSpc>
                <a:buNone/>
              </a:pPr>
              <a:r>
                <a:rPr lang="en-US" sz="1000" dirty="0">
                  <a:solidFill>
                    <a:srgbClr val="E2E6E9"/>
                  </a:solidFill>
                  <a:latin typeface="Source Sans 3" pitchFamily="34" charset="0"/>
                  <a:ea typeface="Source Sans 3" pitchFamily="34" charset="-122"/>
                  <a:cs typeface="Source Sans 3" pitchFamily="34" charset="-120"/>
                </a:rPr>
                <a:t>SI modellər tarixçi məlumatlarla öyrənilir. Əgər həmin məlumatlar əvvəlki ayrı-seçkilik naxışlarını əks etdirirsə, model bu qərəzi gücləndirir. İşə qəbul SI-ləri qadın namizədlərə, kredit modellər müəyyən etnik qruplara qarşı ayrı-seçkilik edə bilir. Bu, həm etik, həm də hüquqi məsuliyyət riski deməkdir.</a:t>
              </a:r>
              <a:endParaRPr lang="en-US" sz="1000" dirty="0"/>
            </a:p>
          </p:txBody>
        </p:sp>
        <p:sp>
          <p:nvSpPr>
            <p:cNvPr id="19" name="Text 14"/>
            <p:cNvSpPr/>
            <p:nvPr/>
          </p:nvSpPr>
          <p:spPr>
            <a:xfrm>
              <a:off x="2580799" y="4693087"/>
              <a:ext cx="2408396" cy="187643"/>
            </a:xfrm>
            <a:prstGeom prst="rect">
              <a:avLst/>
            </a:prstGeom>
            <a:noFill/>
            <a:ln/>
          </p:spPr>
          <p:txBody>
            <a:bodyPr wrap="none" lIns="0" tIns="0" rIns="0" bIns="0" rtlCol="0" anchor="t"/>
            <a:lstStyle/>
            <a:p>
              <a:pPr marL="0" indent="0" algn="l">
                <a:lnSpc>
                  <a:spcPts val="1450"/>
                </a:lnSpc>
                <a:buNone/>
              </a:pPr>
              <a:r>
                <a:rPr lang="en-US" sz="1150" b="1" dirty="0">
                  <a:solidFill>
                    <a:srgbClr val="FFFFFF"/>
                  </a:solidFill>
                  <a:latin typeface="Montserrat Bold" pitchFamily="34" charset="0"/>
                  <a:ea typeface="Montserrat Bold" pitchFamily="34" charset="-122"/>
                  <a:cs typeface="Montserrat Bold" pitchFamily="34" charset="-120"/>
                </a:rPr>
                <a:t>Cavabdeh İnnovasiya Çərçivəsi</a:t>
              </a:r>
              <a:endParaRPr lang="en-US" sz="1150" dirty="0"/>
            </a:p>
          </p:txBody>
        </p:sp>
        <p:sp>
          <p:nvSpPr>
            <p:cNvPr id="20" name="Text 15"/>
            <p:cNvSpPr/>
            <p:nvPr/>
          </p:nvSpPr>
          <p:spPr>
            <a:xfrm>
              <a:off x="2580799" y="4961452"/>
              <a:ext cx="6498312" cy="845146"/>
            </a:xfrm>
            <a:prstGeom prst="rect">
              <a:avLst/>
            </a:prstGeom>
            <a:noFill/>
            <a:ln/>
          </p:spPr>
          <p:txBody>
            <a:bodyPr wrap="square" lIns="0" tIns="0" rIns="0" bIns="0" rtlCol="0" anchor="t"/>
            <a:lstStyle/>
            <a:p>
              <a:pPr marL="0" indent="0" algn="l">
                <a:lnSpc>
                  <a:spcPts val="1250"/>
                </a:lnSpc>
                <a:buNone/>
              </a:pPr>
              <a:r>
                <a:rPr lang="en-US" sz="1400" dirty="0">
                  <a:solidFill>
                    <a:srgbClr val="E2E6E9"/>
                  </a:solidFill>
                  <a:latin typeface="Source Sans 3" pitchFamily="34" charset="0"/>
                  <a:ea typeface="Source Sans 3" pitchFamily="34" charset="-122"/>
                  <a:cs typeface="Source Sans 3" pitchFamily="34" charset="-120"/>
                </a:rPr>
                <a:t>Avropa İttifaqının "AI Act" (2024) qanunu SI sistemlərini risk səviyyəsinə görə sinfə ayırır: </a:t>
              </a:r>
              <a:r>
                <a:rPr lang="en-US" sz="1400" b="1" dirty="0">
                  <a:solidFill>
                    <a:srgbClr val="E2E6E9"/>
                  </a:solidFill>
                  <a:latin typeface="Source Sans 3" pitchFamily="34" charset="0"/>
                  <a:ea typeface="Source Sans 3" pitchFamily="34" charset="-122"/>
                  <a:cs typeface="Source Sans 3" pitchFamily="34" charset="-120"/>
                </a:rPr>
                <a:t>Qəbuledilməz risk</a:t>
              </a:r>
              <a:r>
                <a:rPr lang="en-US" sz="1400" dirty="0">
                  <a:solidFill>
                    <a:srgbClr val="E2E6E9"/>
                  </a:solidFill>
                  <a:latin typeface="Source Sans 3" pitchFamily="34" charset="0"/>
                  <a:ea typeface="Source Sans 3" pitchFamily="34" charset="-122"/>
                  <a:cs typeface="Source Sans 3" pitchFamily="34" charset="-120"/>
                </a:rPr>
                <a:t> (qadağan), </a:t>
              </a:r>
              <a:r>
                <a:rPr lang="en-US" sz="1400" b="1" dirty="0">
                  <a:solidFill>
                    <a:srgbClr val="E2E6E9"/>
                  </a:solidFill>
                  <a:latin typeface="Source Sans 3" pitchFamily="34" charset="0"/>
                  <a:ea typeface="Source Sans 3" pitchFamily="34" charset="-122"/>
                  <a:cs typeface="Source Sans 3" pitchFamily="34" charset="-120"/>
                </a:rPr>
                <a:t>Yüksək risk</a:t>
              </a:r>
              <a:r>
                <a:rPr lang="en-US" sz="1400" dirty="0">
                  <a:solidFill>
                    <a:srgbClr val="E2E6E9"/>
                  </a:solidFill>
                  <a:latin typeface="Source Sans 3" pitchFamily="34" charset="0"/>
                  <a:ea typeface="Source Sans 3" pitchFamily="34" charset="-122"/>
                  <a:cs typeface="Source Sans 3" pitchFamily="34" charset="-120"/>
                </a:rPr>
                <a:t> (ciddi tənzimləmə), </a:t>
              </a:r>
              <a:r>
                <a:rPr lang="en-US" sz="1400" b="1" dirty="0">
                  <a:solidFill>
                    <a:srgbClr val="E2E6E9"/>
                  </a:solidFill>
                  <a:latin typeface="Source Sans 3" pitchFamily="34" charset="0"/>
                  <a:ea typeface="Source Sans 3" pitchFamily="34" charset="-122"/>
                  <a:cs typeface="Source Sans 3" pitchFamily="34" charset="-120"/>
                </a:rPr>
                <a:t>Məhdud risk</a:t>
              </a:r>
              <a:r>
                <a:rPr lang="en-US" sz="1400" dirty="0">
                  <a:solidFill>
                    <a:srgbClr val="E2E6E9"/>
                  </a:solidFill>
                  <a:latin typeface="Source Sans 3" pitchFamily="34" charset="0"/>
                  <a:ea typeface="Source Sans 3" pitchFamily="34" charset="-122"/>
                  <a:cs typeface="Source Sans 3" pitchFamily="34" charset="-120"/>
                </a:rPr>
                <a:t> (şəffaflıq öhdəliyi), </a:t>
              </a:r>
              <a:r>
                <a:rPr lang="en-US" sz="1400" b="1" dirty="0">
                  <a:solidFill>
                    <a:srgbClr val="E2E6E9"/>
                  </a:solidFill>
                  <a:latin typeface="Source Sans 3" pitchFamily="34" charset="0"/>
                  <a:ea typeface="Source Sans 3" pitchFamily="34" charset="-122"/>
                  <a:cs typeface="Source Sans 3" pitchFamily="34" charset="-120"/>
                </a:rPr>
                <a:t>Minimal risk</a:t>
              </a:r>
              <a:r>
                <a:rPr lang="en-US" sz="1400" dirty="0">
                  <a:solidFill>
                    <a:srgbClr val="E2E6E9"/>
                  </a:solidFill>
                  <a:latin typeface="Source Sans 3" pitchFamily="34" charset="0"/>
                  <a:ea typeface="Source Sans 3" pitchFamily="34" charset="-122"/>
                  <a:cs typeface="Source Sans 3" pitchFamily="34" charset="-120"/>
                </a:rPr>
                <a:t> (azad istifadə). İnnovasiyaçılar bu çərçivəni layihə planlamasına inteqrasiya etməlidir.</a:t>
              </a:r>
              <a:endParaRPr lang="en-US" sz="1400" dirty="0"/>
            </a:p>
          </p:txBody>
        </p:sp>
        <p:sp>
          <p:nvSpPr>
            <p:cNvPr id="21" name="Text 16"/>
            <p:cNvSpPr/>
            <p:nvPr/>
          </p:nvSpPr>
          <p:spPr>
            <a:xfrm>
              <a:off x="8462843" y="4769168"/>
              <a:ext cx="3594140" cy="435769"/>
            </a:xfrm>
            <a:prstGeom prst="rect">
              <a:avLst/>
            </a:prstGeom>
            <a:noFill/>
            <a:ln/>
          </p:spPr>
          <p:txBody>
            <a:bodyPr wrap="none" lIns="0" tIns="0" rIns="0" bIns="0" rtlCol="0" anchor="t"/>
            <a:lstStyle/>
            <a:p>
              <a:pPr marL="0" indent="0" algn="ctr">
                <a:lnSpc>
                  <a:spcPts val="3400"/>
                </a:lnSpc>
                <a:buNone/>
              </a:pPr>
              <a:r>
                <a:rPr lang="en-US" sz="3400" b="1" dirty="0">
                  <a:solidFill>
                    <a:srgbClr val="E2E6E9"/>
                  </a:solidFill>
                  <a:latin typeface="Montserrat Bold" pitchFamily="34" charset="0"/>
                  <a:ea typeface="Montserrat Bold" pitchFamily="34" charset="-122"/>
                  <a:cs typeface="Montserrat Bold" pitchFamily="34" charset="-120"/>
                </a:rPr>
                <a:t>78%</a:t>
              </a:r>
              <a:endParaRPr lang="en-US" sz="3400" dirty="0"/>
            </a:p>
          </p:txBody>
        </p:sp>
        <p:sp>
          <p:nvSpPr>
            <p:cNvPr id="22" name="Text 17"/>
            <p:cNvSpPr/>
            <p:nvPr/>
          </p:nvSpPr>
          <p:spPr>
            <a:xfrm>
              <a:off x="9496544" y="5331381"/>
              <a:ext cx="1526738" cy="187643"/>
            </a:xfrm>
            <a:prstGeom prst="rect">
              <a:avLst/>
            </a:prstGeom>
            <a:noFill/>
            <a:ln/>
          </p:spPr>
          <p:txBody>
            <a:bodyPr wrap="none" lIns="0" tIns="0" rIns="0" bIns="0" rtlCol="0" anchor="t"/>
            <a:lstStyle/>
            <a:p>
              <a:pPr marL="0" indent="0" algn="ctr">
                <a:lnSpc>
                  <a:spcPts val="1450"/>
                </a:lnSpc>
                <a:buNone/>
              </a:pPr>
              <a:r>
                <a:rPr lang="en-US" sz="1150" b="1" dirty="0">
                  <a:solidFill>
                    <a:srgbClr val="E2E6E9"/>
                  </a:solidFill>
                  <a:latin typeface="Montserrat Bold" pitchFamily="34" charset="0"/>
                  <a:ea typeface="Montserrat Bold" pitchFamily="34" charset="-122"/>
                  <a:cs typeface="Montserrat Bold" pitchFamily="34" charset="-120"/>
                </a:rPr>
                <a:t>Şirkətlər narahatdır</a:t>
              </a:r>
              <a:endParaRPr lang="en-US" sz="1150" dirty="0"/>
            </a:p>
          </p:txBody>
        </p:sp>
        <p:sp>
          <p:nvSpPr>
            <p:cNvPr id="23" name="Text 18"/>
            <p:cNvSpPr/>
            <p:nvPr/>
          </p:nvSpPr>
          <p:spPr>
            <a:xfrm>
              <a:off x="8462843" y="5599748"/>
              <a:ext cx="3594140" cy="159544"/>
            </a:xfrm>
            <a:prstGeom prst="rect">
              <a:avLst/>
            </a:prstGeom>
            <a:noFill/>
            <a:ln/>
          </p:spPr>
          <p:txBody>
            <a:bodyPr wrap="none" lIns="0" tIns="0" rIns="0" bIns="0" rtlCol="0" anchor="t"/>
            <a:lstStyle/>
            <a:p>
              <a:pPr marL="0" indent="0" algn="ctr">
                <a:lnSpc>
                  <a:spcPts val="1250"/>
                </a:lnSpc>
                <a:buNone/>
              </a:pPr>
              <a:r>
                <a:rPr lang="en-US" sz="1000" dirty="0">
                  <a:solidFill>
                    <a:srgbClr val="E2E6E9"/>
                  </a:solidFill>
                  <a:latin typeface="Source Sans 3" pitchFamily="34" charset="0"/>
                  <a:ea typeface="Source Sans 3" pitchFamily="34" charset="-122"/>
                  <a:cs typeface="Source Sans 3" pitchFamily="34" charset="-120"/>
                </a:rPr>
                <a:t>SI etik riskləri barədə</a:t>
              </a:r>
              <a:endParaRPr lang="en-US" sz="1000" dirty="0"/>
            </a:p>
          </p:txBody>
        </p:sp>
        <p:sp>
          <p:nvSpPr>
            <p:cNvPr id="24" name="Text 19"/>
            <p:cNvSpPr/>
            <p:nvPr/>
          </p:nvSpPr>
          <p:spPr>
            <a:xfrm>
              <a:off x="8462843" y="5986701"/>
              <a:ext cx="3594140" cy="435769"/>
            </a:xfrm>
            <a:prstGeom prst="rect">
              <a:avLst/>
            </a:prstGeom>
            <a:noFill/>
            <a:ln/>
          </p:spPr>
          <p:txBody>
            <a:bodyPr wrap="none" lIns="0" tIns="0" rIns="0" bIns="0" rtlCol="0" anchor="t"/>
            <a:lstStyle/>
            <a:p>
              <a:pPr marL="0" indent="0" algn="ctr">
                <a:lnSpc>
                  <a:spcPts val="3400"/>
                </a:lnSpc>
                <a:buNone/>
              </a:pPr>
              <a:r>
                <a:rPr lang="en-US" sz="3400" b="1" dirty="0">
                  <a:solidFill>
                    <a:srgbClr val="E2E6E9"/>
                  </a:solidFill>
                  <a:latin typeface="Montserrat Bold" pitchFamily="34" charset="0"/>
                  <a:ea typeface="Montserrat Bold" pitchFamily="34" charset="-122"/>
                  <a:cs typeface="Montserrat Bold" pitchFamily="34" charset="-120"/>
                </a:rPr>
                <a:t>34%</a:t>
              </a:r>
              <a:endParaRPr lang="en-US" sz="3400" dirty="0"/>
            </a:p>
          </p:txBody>
        </p:sp>
        <p:sp>
          <p:nvSpPr>
            <p:cNvPr id="25" name="Text 20"/>
            <p:cNvSpPr/>
            <p:nvPr/>
          </p:nvSpPr>
          <p:spPr>
            <a:xfrm>
              <a:off x="9504640" y="6548914"/>
              <a:ext cx="1510427" cy="187643"/>
            </a:xfrm>
            <a:prstGeom prst="rect">
              <a:avLst/>
            </a:prstGeom>
            <a:noFill/>
            <a:ln/>
          </p:spPr>
          <p:txBody>
            <a:bodyPr wrap="none" lIns="0" tIns="0" rIns="0" bIns="0" rtlCol="0" anchor="t"/>
            <a:lstStyle/>
            <a:p>
              <a:pPr marL="0" indent="0" algn="ctr">
                <a:lnSpc>
                  <a:spcPts val="1450"/>
                </a:lnSpc>
                <a:buNone/>
              </a:pPr>
              <a:r>
                <a:rPr lang="en-US" sz="1150" b="1" dirty="0">
                  <a:solidFill>
                    <a:srgbClr val="E2E6E9"/>
                  </a:solidFill>
                  <a:latin typeface="Montserrat Bold" pitchFamily="34" charset="0"/>
                  <a:ea typeface="Montserrat Bold" pitchFamily="34" charset="-122"/>
                  <a:cs typeface="Montserrat Bold" pitchFamily="34" charset="-120"/>
                </a:rPr>
                <a:t>Siyasət mövcuddur</a:t>
              </a:r>
              <a:endParaRPr lang="en-US" sz="1150" dirty="0"/>
            </a:p>
          </p:txBody>
        </p:sp>
        <p:sp>
          <p:nvSpPr>
            <p:cNvPr id="26" name="Text 21"/>
            <p:cNvSpPr/>
            <p:nvPr/>
          </p:nvSpPr>
          <p:spPr>
            <a:xfrm>
              <a:off x="8462843" y="6817281"/>
              <a:ext cx="3594140" cy="159544"/>
            </a:xfrm>
            <a:prstGeom prst="rect">
              <a:avLst/>
            </a:prstGeom>
            <a:noFill/>
            <a:ln/>
          </p:spPr>
          <p:txBody>
            <a:bodyPr wrap="none" lIns="0" tIns="0" rIns="0" bIns="0" rtlCol="0" anchor="t"/>
            <a:lstStyle/>
            <a:p>
              <a:pPr marL="0" indent="0" algn="ctr">
                <a:lnSpc>
                  <a:spcPts val="1250"/>
                </a:lnSpc>
                <a:buNone/>
              </a:pPr>
              <a:r>
                <a:rPr lang="en-US" sz="1000" dirty="0">
                  <a:solidFill>
                    <a:srgbClr val="E2E6E9"/>
                  </a:solidFill>
                  <a:latin typeface="Source Sans 3" pitchFamily="34" charset="0"/>
                  <a:ea typeface="Source Sans 3" pitchFamily="34" charset="-122"/>
                  <a:cs typeface="Source Sans 3" pitchFamily="34" charset="-120"/>
                </a:rPr>
                <a:t>Rəsmi SI etika siyasəti olan şirkətlər</a:t>
              </a:r>
              <a:endParaRPr lang="en-US" sz="1000" dirty="0"/>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grpSp>
        <p:nvGrpSpPr>
          <p:cNvPr id="45" name="Group 44">
            <a:extLst>
              <a:ext uri="{FF2B5EF4-FFF2-40B4-BE49-F238E27FC236}">
                <a16:creationId xmlns:a16="http://schemas.microsoft.com/office/drawing/2014/main" id="{560BC575-1DA8-261D-111C-0E8C09CC2008}"/>
              </a:ext>
            </a:extLst>
          </p:cNvPr>
          <p:cNvGrpSpPr/>
          <p:nvPr/>
        </p:nvGrpSpPr>
        <p:grpSpPr>
          <a:xfrm>
            <a:off x="376365" y="387275"/>
            <a:ext cx="13920548" cy="7616414"/>
            <a:chOff x="2994303" y="1364575"/>
            <a:chExt cx="8649176" cy="5500449"/>
          </a:xfrm>
        </p:grpSpPr>
        <p:sp>
          <p:nvSpPr>
            <p:cNvPr id="2" name="Text 0"/>
            <p:cNvSpPr/>
            <p:nvPr/>
          </p:nvSpPr>
          <p:spPr>
            <a:xfrm>
              <a:off x="2994303" y="1364575"/>
              <a:ext cx="2739628" cy="342424"/>
            </a:xfrm>
            <a:prstGeom prst="rect">
              <a:avLst/>
            </a:prstGeom>
            <a:noFill/>
            <a:ln/>
          </p:spPr>
          <p:txBody>
            <a:bodyPr wrap="none" lIns="0" tIns="0" rIns="0" bIns="0" rtlCol="0" anchor="t"/>
            <a:lstStyle/>
            <a:p>
              <a:pPr marL="0" indent="0" algn="l">
                <a:lnSpc>
                  <a:spcPts val="2650"/>
                </a:lnSpc>
                <a:buNone/>
              </a:pPr>
              <a:r>
                <a:rPr lang="en-US" sz="2150" b="1" dirty="0">
                  <a:solidFill>
                    <a:srgbClr val="FFFFFF"/>
                  </a:solidFill>
                  <a:latin typeface="Montserrat Bold" pitchFamily="34" charset="0"/>
                  <a:ea typeface="Montserrat Bold" pitchFamily="34" charset="-122"/>
                  <a:cs typeface="Montserrat Bold" pitchFamily="34" charset="-120"/>
                </a:rPr>
                <a:t>Ev Tapşırığı</a:t>
              </a:r>
              <a:endParaRPr lang="en-US" sz="2150" dirty="0"/>
            </a:p>
          </p:txBody>
        </p:sp>
        <p:sp>
          <p:nvSpPr>
            <p:cNvPr id="3" name="Text 1"/>
            <p:cNvSpPr/>
            <p:nvPr/>
          </p:nvSpPr>
          <p:spPr>
            <a:xfrm>
              <a:off x="2994303" y="1841540"/>
              <a:ext cx="8641675" cy="140732"/>
            </a:xfrm>
            <a:prstGeom prst="rect">
              <a:avLst/>
            </a:prstGeom>
            <a:noFill/>
            <a:ln/>
          </p:spPr>
          <p:txBody>
            <a:bodyPr wrap="none" lIns="0" tIns="0" rIns="0" bIns="0" rtlCol="0" anchor="t"/>
            <a:lstStyle/>
            <a:p>
              <a:pPr marL="0" indent="0" algn="l">
                <a:lnSpc>
                  <a:spcPts val="1100"/>
                </a:lnSpc>
                <a:buNone/>
              </a:pPr>
              <a:r>
                <a:rPr lang="en-US" sz="1400" dirty="0">
                  <a:solidFill>
                    <a:srgbClr val="E2E6E9"/>
                  </a:solidFill>
                  <a:latin typeface="Source Sans 3" pitchFamily="34" charset="0"/>
                  <a:ea typeface="Source Sans 3" pitchFamily="34" charset="-122"/>
                  <a:cs typeface="Source Sans 3" pitchFamily="34" charset="-120"/>
                </a:rPr>
                <a:t>Bu həftəki tapşırıq nəzəriyyəni praktikaya tətbiq etmək üçün əla bir fürsətdir. SI alətlərindən yaradıcı şəkildə istifadə edin — ancaq analitik düşüncənizi ön plana qoyun.</a:t>
              </a:r>
              <a:endParaRPr lang="en-US" sz="1400" dirty="0"/>
            </a:p>
          </p:txBody>
        </p:sp>
        <p:sp>
          <p:nvSpPr>
            <p:cNvPr id="4" name="Shape 2"/>
            <p:cNvSpPr/>
            <p:nvPr/>
          </p:nvSpPr>
          <p:spPr>
            <a:xfrm>
              <a:off x="2994303" y="2238613"/>
              <a:ext cx="2835712" cy="1352312"/>
            </a:xfrm>
            <a:prstGeom prst="roundRect">
              <a:avLst>
                <a:gd name="adj" fmla="val 5409"/>
              </a:avLst>
            </a:prstGeom>
            <a:solidFill>
              <a:srgbClr val="111213"/>
            </a:solidFill>
            <a:ln/>
          </p:spPr>
          <p:txBody>
            <a:bodyPr/>
            <a:lstStyle/>
            <a:p>
              <a:endParaRPr lang="en-US"/>
            </a:p>
          </p:txBody>
        </p:sp>
        <p:sp>
          <p:nvSpPr>
            <p:cNvPr id="5" name="Shape 3"/>
            <p:cNvSpPr/>
            <p:nvPr/>
          </p:nvSpPr>
          <p:spPr>
            <a:xfrm>
              <a:off x="2994303" y="2223373"/>
              <a:ext cx="2835712" cy="60960"/>
            </a:xfrm>
            <a:prstGeom prst="roundRect">
              <a:avLst>
                <a:gd name="adj" fmla="val 29662"/>
              </a:avLst>
            </a:prstGeom>
            <a:solidFill>
              <a:srgbClr val="FFFFFF"/>
            </a:solidFill>
            <a:ln/>
          </p:spPr>
          <p:txBody>
            <a:bodyPr/>
            <a:lstStyle/>
            <a:p>
              <a:endParaRPr lang="en-US"/>
            </a:p>
          </p:txBody>
        </p:sp>
        <p:sp>
          <p:nvSpPr>
            <p:cNvPr id="6" name="Shape 4"/>
            <p:cNvSpPr/>
            <p:nvPr/>
          </p:nvSpPr>
          <p:spPr>
            <a:xfrm>
              <a:off x="4231303" y="2057876"/>
              <a:ext cx="361593" cy="361593"/>
            </a:xfrm>
            <a:prstGeom prst="roundRect">
              <a:avLst>
                <a:gd name="adj" fmla="val 252881"/>
              </a:avLst>
            </a:prstGeom>
            <a:solidFill>
              <a:srgbClr val="FFFFFF"/>
            </a:solidFill>
            <a:ln/>
          </p:spPr>
          <p:txBody>
            <a:bodyPr/>
            <a:lstStyle/>
            <a:p>
              <a:endParaRPr lang="en-US"/>
            </a:p>
          </p:txBody>
        </p:sp>
        <p:sp>
          <p:nvSpPr>
            <p:cNvPr id="7" name="Text 5"/>
            <p:cNvSpPr/>
            <p:nvPr/>
          </p:nvSpPr>
          <p:spPr>
            <a:xfrm>
              <a:off x="4339769" y="2148245"/>
              <a:ext cx="144542" cy="180737"/>
            </a:xfrm>
            <a:prstGeom prst="rect">
              <a:avLst/>
            </a:prstGeom>
            <a:noFill/>
            <a:ln/>
          </p:spPr>
          <p:txBody>
            <a:bodyPr wrap="none" lIns="0" tIns="0" rIns="0" bIns="0" rtlCol="0" anchor="t"/>
            <a:lstStyle/>
            <a:p>
              <a:pPr marL="0" indent="0" algn="l">
                <a:lnSpc>
                  <a:spcPts val="1300"/>
                </a:lnSpc>
                <a:buNone/>
              </a:pPr>
              <a:r>
                <a:rPr lang="en-US" sz="1100" b="1" dirty="0">
                  <a:solidFill>
                    <a:srgbClr val="000000"/>
                  </a:solidFill>
                  <a:latin typeface="Montserrat Bold" pitchFamily="34" charset="0"/>
                  <a:ea typeface="Montserrat Bold" pitchFamily="34" charset="-122"/>
                  <a:cs typeface="Montserrat Bold" pitchFamily="34" charset="-120"/>
                </a:rPr>
                <a:t>1</a:t>
              </a:r>
              <a:endParaRPr lang="en-US" sz="1100" dirty="0"/>
            </a:p>
          </p:txBody>
        </p:sp>
        <p:sp>
          <p:nvSpPr>
            <p:cNvPr id="8" name="Text 6"/>
            <p:cNvSpPr/>
            <p:nvPr/>
          </p:nvSpPr>
          <p:spPr>
            <a:xfrm>
              <a:off x="3130034" y="2539960"/>
              <a:ext cx="2157293"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Yeni Məhsul İdeyası Hazırlayın</a:t>
              </a:r>
              <a:endParaRPr lang="en-US" sz="1050" dirty="0"/>
            </a:p>
          </p:txBody>
        </p:sp>
        <p:sp>
          <p:nvSpPr>
            <p:cNvPr id="9" name="Text 7"/>
            <p:cNvSpPr/>
            <p:nvPr/>
          </p:nvSpPr>
          <p:spPr>
            <a:xfrm>
              <a:off x="3130034" y="2751534"/>
              <a:ext cx="2564249" cy="703659"/>
            </a:xfrm>
            <a:prstGeom prst="rect">
              <a:avLst/>
            </a:prstGeom>
            <a:noFill/>
            <a:ln/>
          </p:spPr>
          <p:txBody>
            <a:bodyPr wrap="square" lIns="0" tIns="0" rIns="0" bIns="0" rtlCol="0" anchor="t"/>
            <a:lstStyle/>
            <a:p>
              <a:pPr marL="0" indent="0" algn="l">
                <a:lnSpc>
                  <a:spcPts val="1100"/>
                </a:lnSpc>
                <a:buNone/>
              </a:pPr>
              <a:r>
                <a:rPr lang="en-US" sz="900" dirty="0">
                  <a:solidFill>
                    <a:srgbClr val="E2E6E9"/>
                  </a:solidFill>
                  <a:latin typeface="Source Sans 3" pitchFamily="34" charset="0"/>
                  <a:ea typeface="Source Sans 3" pitchFamily="34" charset="-122"/>
                  <a:cs typeface="Source Sans 3" pitchFamily="34" charset="-120"/>
                </a:rPr>
                <a:t>ChatGPT, Claude və ya digər generativ SI alətindən istifadə edərək real bir bazar probleminə həll kimi yeni məhsul və ya xidmət ideyası təklif edin. İdeyanız mövcud bir problemə əsaslanmalı, hədəf bazarı müəyyən edilmiş olmalıdır.</a:t>
              </a:r>
              <a:endParaRPr lang="en-US" sz="900" dirty="0"/>
            </a:p>
          </p:txBody>
        </p:sp>
        <p:sp>
          <p:nvSpPr>
            <p:cNvPr id="10" name="Shape 8"/>
            <p:cNvSpPr/>
            <p:nvPr/>
          </p:nvSpPr>
          <p:spPr>
            <a:xfrm>
              <a:off x="5897285" y="2238613"/>
              <a:ext cx="2835712" cy="1352312"/>
            </a:xfrm>
            <a:prstGeom prst="roundRect">
              <a:avLst>
                <a:gd name="adj" fmla="val 5409"/>
              </a:avLst>
            </a:prstGeom>
            <a:solidFill>
              <a:srgbClr val="111213"/>
            </a:solidFill>
            <a:ln/>
          </p:spPr>
          <p:txBody>
            <a:bodyPr/>
            <a:lstStyle/>
            <a:p>
              <a:endParaRPr lang="en-US"/>
            </a:p>
          </p:txBody>
        </p:sp>
        <p:sp>
          <p:nvSpPr>
            <p:cNvPr id="11" name="Shape 9"/>
            <p:cNvSpPr/>
            <p:nvPr/>
          </p:nvSpPr>
          <p:spPr>
            <a:xfrm>
              <a:off x="5897285" y="2223373"/>
              <a:ext cx="2835712" cy="60960"/>
            </a:xfrm>
            <a:prstGeom prst="roundRect">
              <a:avLst>
                <a:gd name="adj" fmla="val 29662"/>
              </a:avLst>
            </a:prstGeom>
            <a:solidFill>
              <a:srgbClr val="FFFFFF"/>
            </a:solidFill>
            <a:ln/>
          </p:spPr>
          <p:txBody>
            <a:bodyPr/>
            <a:lstStyle/>
            <a:p>
              <a:endParaRPr lang="en-US"/>
            </a:p>
          </p:txBody>
        </p:sp>
        <p:sp>
          <p:nvSpPr>
            <p:cNvPr id="12" name="Shape 10"/>
            <p:cNvSpPr/>
            <p:nvPr/>
          </p:nvSpPr>
          <p:spPr>
            <a:xfrm>
              <a:off x="7134285" y="2057876"/>
              <a:ext cx="361593" cy="361593"/>
            </a:xfrm>
            <a:prstGeom prst="roundRect">
              <a:avLst>
                <a:gd name="adj" fmla="val 252881"/>
              </a:avLst>
            </a:prstGeom>
            <a:solidFill>
              <a:srgbClr val="FFFFFF"/>
            </a:solidFill>
            <a:ln/>
          </p:spPr>
          <p:txBody>
            <a:bodyPr/>
            <a:lstStyle/>
            <a:p>
              <a:endParaRPr lang="en-US"/>
            </a:p>
          </p:txBody>
        </p:sp>
        <p:sp>
          <p:nvSpPr>
            <p:cNvPr id="13" name="Text 11"/>
            <p:cNvSpPr/>
            <p:nvPr/>
          </p:nvSpPr>
          <p:spPr>
            <a:xfrm>
              <a:off x="7242750" y="2148245"/>
              <a:ext cx="144542" cy="180737"/>
            </a:xfrm>
            <a:prstGeom prst="rect">
              <a:avLst/>
            </a:prstGeom>
            <a:noFill/>
            <a:ln/>
          </p:spPr>
          <p:txBody>
            <a:bodyPr wrap="none" lIns="0" tIns="0" rIns="0" bIns="0" rtlCol="0" anchor="t"/>
            <a:lstStyle/>
            <a:p>
              <a:pPr marL="0" indent="0" algn="l">
                <a:lnSpc>
                  <a:spcPts val="1300"/>
                </a:lnSpc>
                <a:buNone/>
              </a:pPr>
              <a:r>
                <a:rPr lang="en-US" sz="1100" b="1" dirty="0">
                  <a:solidFill>
                    <a:srgbClr val="000000"/>
                  </a:solidFill>
                  <a:latin typeface="Montserrat Bold" pitchFamily="34" charset="0"/>
                  <a:ea typeface="Montserrat Bold" pitchFamily="34" charset="-122"/>
                  <a:cs typeface="Montserrat Bold" pitchFamily="34" charset="-120"/>
                </a:rPr>
                <a:t>2</a:t>
              </a:r>
              <a:endParaRPr lang="en-US" sz="1100" dirty="0"/>
            </a:p>
          </p:txBody>
        </p:sp>
        <p:sp>
          <p:nvSpPr>
            <p:cNvPr id="14" name="Text 12"/>
            <p:cNvSpPr/>
            <p:nvPr/>
          </p:nvSpPr>
          <p:spPr>
            <a:xfrm>
              <a:off x="6033016" y="2539960"/>
              <a:ext cx="2296239"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İnnovasiya Növünü Əsaslandırın</a:t>
              </a:r>
              <a:endParaRPr lang="en-US" sz="1050" dirty="0"/>
            </a:p>
          </p:txBody>
        </p:sp>
        <p:sp>
          <p:nvSpPr>
            <p:cNvPr id="15" name="Text 13"/>
            <p:cNvSpPr/>
            <p:nvPr/>
          </p:nvSpPr>
          <p:spPr>
            <a:xfrm>
              <a:off x="6033016" y="2751534"/>
              <a:ext cx="2564249" cy="562927"/>
            </a:xfrm>
            <a:prstGeom prst="rect">
              <a:avLst/>
            </a:prstGeom>
            <a:noFill/>
            <a:ln/>
          </p:spPr>
          <p:txBody>
            <a:bodyPr wrap="square" lIns="0" tIns="0" rIns="0" bIns="0" rtlCol="0" anchor="t"/>
            <a:lstStyle/>
            <a:p>
              <a:pPr marL="0" indent="0" algn="l">
                <a:lnSpc>
                  <a:spcPts val="1100"/>
                </a:lnSpc>
                <a:buNone/>
              </a:pPr>
              <a:r>
                <a:rPr lang="en-US" sz="900" dirty="0">
                  <a:solidFill>
                    <a:srgbClr val="E2E6E9"/>
                  </a:solidFill>
                  <a:latin typeface="Source Sans 3" pitchFamily="34" charset="0"/>
                  <a:ea typeface="Source Sans 3" pitchFamily="34" charset="-122"/>
                  <a:cs typeface="Source Sans 3" pitchFamily="34" charset="-120"/>
                </a:rPr>
                <a:t>İdeyanızın inkremental, radikal yoxsa disruptiv innovasiya olduğunu dərsdə öyrəndiyimiz kriteriyalara əsaslanaraq izah edin. Bu seçimi dəstəkləmək üçün konkret arqumentlər gətirin.</a:t>
              </a:r>
              <a:endParaRPr lang="en-US" sz="900" dirty="0"/>
            </a:p>
          </p:txBody>
        </p:sp>
        <p:sp>
          <p:nvSpPr>
            <p:cNvPr id="16" name="Shape 14"/>
            <p:cNvSpPr/>
            <p:nvPr/>
          </p:nvSpPr>
          <p:spPr>
            <a:xfrm>
              <a:off x="8800267" y="2238613"/>
              <a:ext cx="2835712" cy="1352312"/>
            </a:xfrm>
            <a:prstGeom prst="roundRect">
              <a:avLst>
                <a:gd name="adj" fmla="val 5409"/>
              </a:avLst>
            </a:prstGeom>
            <a:solidFill>
              <a:srgbClr val="111213"/>
            </a:solidFill>
            <a:ln/>
          </p:spPr>
          <p:txBody>
            <a:bodyPr/>
            <a:lstStyle/>
            <a:p>
              <a:endParaRPr lang="en-US"/>
            </a:p>
          </p:txBody>
        </p:sp>
        <p:sp>
          <p:nvSpPr>
            <p:cNvPr id="17" name="Shape 15"/>
            <p:cNvSpPr/>
            <p:nvPr/>
          </p:nvSpPr>
          <p:spPr>
            <a:xfrm>
              <a:off x="8800267" y="2223373"/>
              <a:ext cx="2835712" cy="60960"/>
            </a:xfrm>
            <a:prstGeom prst="roundRect">
              <a:avLst>
                <a:gd name="adj" fmla="val 29662"/>
              </a:avLst>
            </a:prstGeom>
            <a:solidFill>
              <a:srgbClr val="FFFFFF"/>
            </a:solidFill>
            <a:ln/>
          </p:spPr>
          <p:txBody>
            <a:bodyPr/>
            <a:lstStyle/>
            <a:p>
              <a:endParaRPr lang="en-US"/>
            </a:p>
          </p:txBody>
        </p:sp>
        <p:sp>
          <p:nvSpPr>
            <p:cNvPr id="18" name="Shape 16"/>
            <p:cNvSpPr/>
            <p:nvPr/>
          </p:nvSpPr>
          <p:spPr>
            <a:xfrm>
              <a:off x="10037266" y="2057876"/>
              <a:ext cx="361593" cy="361593"/>
            </a:xfrm>
            <a:prstGeom prst="roundRect">
              <a:avLst>
                <a:gd name="adj" fmla="val 252881"/>
              </a:avLst>
            </a:prstGeom>
            <a:solidFill>
              <a:srgbClr val="FFFFFF"/>
            </a:solidFill>
            <a:ln/>
          </p:spPr>
          <p:txBody>
            <a:bodyPr/>
            <a:lstStyle/>
            <a:p>
              <a:endParaRPr lang="en-US"/>
            </a:p>
          </p:txBody>
        </p:sp>
        <p:sp>
          <p:nvSpPr>
            <p:cNvPr id="19" name="Text 17"/>
            <p:cNvSpPr/>
            <p:nvPr/>
          </p:nvSpPr>
          <p:spPr>
            <a:xfrm>
              <a:off x="10145732" y="2148245"/>
              <a:ext cx="144542" cy="180737"/>
            </a:xfrm>
            <a:prstGeom prst="rect">
              <a:avLst/>
            </a:prstGeom>
            <a:noFill/>
            <a:ln/>
          </p:spPr>
          <p:txBody>
            <a:bodyPr wrap="none" lIns="0" tIns="0" rIns="0" bIns="0" rtlCol="0" anchor="t"/>
            <a:lstStyle/>
            <a:p>
              <a:pPr marL="0" indent="0" algn="l">
                <a:lnSpc>
                  <a:spcPts val="1300"/>
                </a:lnSpc>
                <a:buNone/>
              </a:pPr>
              <a:r>
                <a:rPr lang="en-US" sz="1100" b="1" dirty="0">
                  <a:solidFill>
                    <a:srgbClr val="000000"/>
                  </a:solidFill>
                  <a:latin typeface="Montserrat Bold" pitchFamily="34" charset="0"/>
                  <a:ea typeface="Montserrat Bold" pitchFamily="34" charset="-122"/>
                  <a:cs typeface="Montserrat Bold" pitchFamily="34" charset="-120"/>
                </a:rPr>
                <a:t>3</a:t>
              </a:r>
              <a:endParaRPr lang="en-US" sz="1100" dirty="0"/>
            </a:p>
          </p:txBody>
        </p:sp>
        <p:sp>
          <p:nvSpPr>
            <p:cNvPr id="20" name="Text 18"/>
            <p:cNvSpPr/>
            <p:nvPr/>
          </p:nvSpPr>
          <p:spPr>
            <a:xfrm>
              <a:off x="8935998" y="2539960"/>
              <a:ext cx="1976438"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SI İstifadəsini Sənədləşdirin</a:t>
              </a:r>
              <a:endParaRPr lang="en-US" sz="1050" dirty="0"/>
            </a:p>
          </p:txBody>
        </p:sp>
        <p:sp>
          <p:nvSpPr>
            <p:cNvPr id="21" name="Text 19"/>
            <p:cNvSpPr/>
            <p:nvPr/>
          </p:nvSpPr>
          <p:spPr>
            <a:xfrm>
              <a:off x="8935998" y="2751534"/>
              <a:ext cx="2564249" cy="562927"/>
            </a:xfrm>
            <a:prstGeom prst="rect">
              <a:avLst/>
            </a:prstGeom>
            <a:noFill/>
            <a:ln/>
          </p:spPr>
          <p:txBody>
            <a:bodyPr wrap="square" lIns="0" tIns="0" rIns="0" bIns="0" rtlCol="0" anchor="t"/>
            <a:lstStyle/>
            <a:p>
              <a:pPr marL="0" indent="0" algn="l">
                <a:lnSpc>
                  <a:spcPts val="1100"/>
                </a:lnSpc>
                <a:buNone/>
              </a:pPr>
              <a:r>
                <a:rPr lang="en-US" sz="900" dirty="0">
                  <a:solidFill>
                    <a:srgbClr val="E2E6E9"/>
                  </a:solidFill>
                  <a:latin typeface="Source Sans 3" pitchFamily="34" charset="0"/>
                  <a:ea typeface="Source Sans 3" pitchFamily="34" charset="-122"/>
                  <a:cs typeface="Source Sans 3" pitchFamily="34" charset="-120"/>
                </a:rPr>
                <a:t>Hansı SI alətlərindən necə istifadə etdiyinizi qeyd edin. Ən az 3 SI tərəfindən generasiya edilmiş ideya variantını göstərin və niyə sonunda bu ideyayı seçdiyinizi izah edin.</a:t>
              </a:r>
              <a:endParaRPr lang="en-US" sz="900" dirty="0"/>
            </a:p>
          </p:txBody>
        </p:sp>
        <p:sp>
          <p:nvSpPr>
            <p:cNvPr id="22" name="Shape 20"/>
            <p:cNvSpPr/>
            <p:nvPr/>
          </p:nvSpPr>
          <p:spPr>
            <a:xfrm>
              <a:off x="3113662" y="3966865"/>
              <a:ext cx="4191909" cy="676811"/>
            </a:xfrm>
            <a:prstGeom prst="roundRect">
              <a:avLst>
                <a:gd name="adj" fmla="val 654"/>
              </a:avLst>
            </a:prstGeom>
            <a:solidFill>
              <a:srgbClr val="1D1F22"/>
            </a:solidFill>
            <a:ln/>
          </p:spPr>
          <p:txBody>
            <a:bodyPr/>
            <a:lstStyle/>
            <a:p>
              <a:endParaRPr lang="en-US" sz="2200" dirty="0"/>
            </a:p>
          </p:txBody>
        </p:sp>
        <p:sp>
          <p:nvSpPr>
            <p:cNvPr id="23" name="Text 21"/>
            <p:cNvSpPr/>
            <p:nvPr/>
          </p:nvSpPr>
          <p:spPr>
            <a:xfrm>
              <a:off x="3113662" y="3743443"/>
              <a:ext cx="1518166" cy="171212"/>
            </a:xfrm>
            <a:prstGeom prst="rect">
              <a:avLst/>
            </a:prstGeom>
            <a:noFill/>
            <a:ln/>
          </p:spPr>
          <p:txBody>
            <a:bodyPr wrap="none" lIns="0" tIns="0" rIns="0" bIns="0" rtlCol="0" anchor="t"/>
            <a:lstStyle/>
            <a:p>
              <a:pPr marL="0" indent="0" algn="l">
                <a:lnSpc>
                  <a:spcPts val="1300"/>
                </a:lnSpc>
                <a:buNone/>
              </a:pPr>
              <a:r>
                <a:rPr lang="en-US" sz="1050" b="1" dirty="0">
                  <a:solidFill>
                    <a:srgbClr val="000000"/>
                  </a:solidFill>
                  <a:latin typeface="Montserrat Bold" pitchFamily="34" charset="0"/>
                  <a:ea typeface="Montserrat Bold" pitchFamily="34" charset="-122"/>
                  <a:cs typeface="Montserrat Bold" pitchFamily="34" charset="-120"/>
                </a:rPr>
                <a:t>📋</a:t>
              </a:r>
              <a:r>
                <a:rPr lang="en-US" sz="1050" b="1" dirty="0">
                  <a:solidFill>
                    <a:srgbClr val="FFFFFF"/>
                  </a:solidFill>
                  <a:latin typeface="Montserrat Bold" pitchFamily="34" charset="0"/>
                  <a:ea typeface="Montserrat Bold" pitchFamily="34" charset="-122"/>
                  <a:cs typeface="Montserrat Bold" pitchFamily="34" charset="-120"/>
                </a:rPr>
                <a:t> Formatın Tələbləri</a:t>
              </a:r>
              <a:endParaRPr lang="en-US" sz="1050" dirty="0"/>
            </a:p>
          </p:txBody>
        </p:sp>
        <p:sp>
          <p:nvSpPr>
            <p:cNvPr id="24" name="Text 22"/>
            <p:cNvSpPr/>
            <p:nvPr/>
          </p:nvSpPr>
          <p:spPr>
            <a:xfrm>
              <a:off x="3160453" y="4071283"/>
              <a:ext cx="4106347" cy="846415"/>
            </a:xfrm>
            <a:prstGeom prst="rect">
              <a:avLst/>
            </a:prstGeom>
            <a:noFill/>
            <a:ln/>
          </p:spPr>
          <p:txBody>
            <a:bodyPr wrap="square" lIns="0" tIns="0" rIns="0" bIns="0" rtlCol="0" anchor="t"/>
            <a:lstStyle/>
            <a:p>
              <a:pPr marL="342900" indent="-342900" algn="l">
                <a:lnSpc>
                  <a:spcPts val="11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Həcm: 500–700 söz (və ya 8–10 slayd)</a:t>
              </a:r>
              <a:endParaRPr lang="en-US" sz="1200" dirty="0"/>
            </a:p>
            <a:p>
              <a:pPr marL="342900" indent="-342900" algn="l">
                <a:lnSpc>
                  <a:spcPts val="11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SI söhbət ekran görüntüsü əlavə edilsin</a:t>
              </a:r>
              <a:endParaRPr lang="en-US" sz="1200" dirty="0"/>
            </a:p>
            <a:p>
              <a:pPr marL="342900" indent="-342900" algn="l">
                <a:lnSpc>
                  <a:spcPts val="11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Giriş, əsas hissə, nəticə strukturu saxlanılsın</a:t>
              </a:r>
              <a:endParaRPr lang="en-US" sz="1200" dirty="0"/>
            </a:p>
            <a:p>
              <a:pPr marL="342900" indent="-342900" algn="l">
                <a:lnSpc>
                  <a:spcPts val="11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Elektron formatda (PDF və ya PPTX) təhvil verilsin</a:t>
              </a:r>
              <a:endParaRPr lang="en-US" sz="1200" dirty="0"/>
            </a:p>
            <a:p>
              <a:pPr marL="342900" indent="-342900" algn="l">
                <a:lnSpc>
                  <a:spcPts val="1100"/>
                </a:lnSpc>
                <a:buSzPct val="100000"/>
                <a:buChar char="•"/>
              </a:pPr>
              <a:r>
                <a:rPr lang="en-US" sz="1200" dirty="0">
                  <a:solidFill>
                    <a:srgbClr val="E2E6E9"/>
                  </a:solidFill>
                  <a:latin typeface="Source Sans 3" pitchFamily="34" charset="0"/>
                  <a:ea typeface="Source Sans 3" pitchFamily="34" charset="-122"/>
                  <a:cs typeface="Source Sans 3" pitchFamily="34" charset="-120"/>
                </a:rPr>
                <a:t>Son tarix: növbəti dərsdən əvvəl</a:t>
              </a:r>
              <a:endParaRPr lang="en-US" sz="1200" dirty="0"/>
            </a:p>
          </p:txBody>
        </p:sp>
        <p:sp>
          <p:nvSpPr>
            <p:cNvPr id="25" name="Text 23"/>
            <p:cNvSpPr/>
            <p:nvPr/>
          </p:nvSpPr>
          <p:spPr>
            <a:xfrm>
              <a:off x="7469743" y="3733800"/>
              <a:ext cx="2088952" cy="171212"/>
            </a:xfrm>
            <a:prstGeom prst="rect">
              <a:avLst/>
            </a:prstGeom>
            <a:noFill/>
            <a:ln/>
          </p:spPr>
          <p:txBody>
            <a:bodyPr wrap="none" lIns="0" tIns="0" rIns="0" bIns="0" rtlCol="0" anchor="t"/>
            <a:lstStyle/>
            <a:p>
              <a:pPr marL="0" indent="0" algn="l">
                <a:lnSpc>
                  <a:spcPts val="1300"/>
                </a:lnSpc>
                <a:buNone/>
              </a:pPr>
              <a:r>
                <a:rPr lang="en-US" sz="1050" b="1" dirty="0">
                  <a:solidFill>
                    <a:srgbClr val="000000"/>
                  </a:solidFill>
                  <a:latin typeface="Montserrat Bold" pitchFamily="34" charset="0"/>
                  <a:ea typeface="Montserrat Bold" pitchFamily="34" charset="-122"/>
                  <a:cs typeface="Montserrat Bold" pitchFamily="34" charset="-120"/>
                </a:rPr>
                <a:t>⭐</a:t>
              </a:r>
              <a:r>
                <a:rPr lang="en-US" sz="1050" b="1" dirty="0">
                  <a:solidFill>
                    <a:srgbClr val="FFFFFF"/>
                  </a:solidFill>
                  <a:latin typeface="Montserrat Bold" pitchFamily="34" charset="0"/>
                  <a:ea typeface="Montserrat Bold" pitchFamily="34" charset="-122"/>
                  <a:cs typeface="Montserrat Bold" pitchFamily="34" charset="-120"/>
                </a:rPr>
                <a:t> Qiymətləndirmə Meyarları</a:t>
              </a:r>
              <a:endParaRPr lang="en-US" sz="1050" dirty="0"/>
            </a:p>
          </p:txBody>
        </p:sp>
        <p:sp>
          <p:nvSpPr>
            <p:cNvPr id="26" name="Shape 24"/>
            <p:cNvSpPr/>
            <p:nvPr/>
          </p:nvSpPr>
          <p:spPr>
            <a:xfrm>
              <a:off x="7469743" y="4040862"/>
              <a:ext cx="3759756" cy="150614"/>
            </a:xfrm>
            <a:prstGeom prst="roundRect">
              <a:avLst>
                <a:gd name="adj" fmla="val 12005"/>
              </a:avLst>
            </a:prstGeom>
            <a:solidFill>
              <a:srgbClr val="303132"/>
            </a:solidFill>
            <a:ln/>
          </p:spPr>
          <p:txBody>
            <a:bodyPr/>
            <a:lstStyle/>
            <a:p>
              <a:endParaRPr lang="en-US"/>
            </a:p>
          </p:txBody>
        </p:sp>
        <p:sp>
          <p:nvSpPr>
            <p:cNvPr id="27" name="Shape 25"/>
            <p:cNvSpPr/>
            <p:nvPr/>
          </p:nvSpPr>
          <p:spPr>
            <a:xfrm>
              <a:off x="7469743" y="4040862"/>
              <a:ext cx="1127879" cy="150614"/>
            </a:xfrm>
            <a:prstGeom prst="roundRect">
              <a:avLst>
                <a:gd name="adj" fmla="val 12005"/>
              </a:avLst>
            </a:prstGeom>
            <a:solidFill>
              <a:srgbClr val="FFFFFF"/>
            </a:solidFill>
            <a:ln/>
          </p:spPr>
          <p:txBody>
            <a:bodyPr/>
            <a:lstStyle/>
            <a:p>
              <a:endParaRPr lang="en-US"/>
            </a:p>
          </p:txBody>
        </p:sp>
        <p:sp>
          <p:nvSpPr>
            <p:cNvPr id="28" name="Text 26"/>
            <p:cNvSpPr/>
            <p:nvPr/>
          </p:nvSpPr>
          <p:spPr>
            <a:xfrm>
              <a:off x="11319867" y="4040862"/>
              <a:ext cx="323612" cy="150614"/>
            </a:xfrm>
            <a:prstGeom prst="rect">
              <a:avLst/>
            </a:prstGeom>
            <a:noFill/>
            <a:ln/>
          </p:spPr>
          <p:txBody>
            <a:bodyPr wrap="none" lIns="0" tIns="0" rIns="0" bIns="0" rtlCol="0" anchor="t"/>
            <a:lstStyle/>
            <a:p>
              <a:pPr marL="0" indent="0" algn="l">
                <a:lnSpc>
                  <a:spcPts val="1150"/>
                </a:lnSpc>
                <a:buNone/>
              </a:pPr>
              <a:r>
                <a:rPr lang="en-US" sz="1150" b="1" dirty="0">
                  <a:solidFill>
                    <a:srgbClr val="E2E6E9"/>
                  </a:solidFill>
                  <a:latin typeface="Montserrat Bold" pitchFamily="34" charset="0"/>
                  <a:ea typeface="Montserrat Bold" pitchFamily="34" charset="-122"/>
                  <a:cs typeface="Montserrat Bold" pitchFamily="34" charset="-120"/>
                </a:rPr>
                <a:t>30%</a:t>
              </a:r>
              <a:endParaRPr lang="en-US" sz="1150" dirty="0"/>
            </a:p>
          </p:txBody>
        </p:sp>
        <p:sp>
          <p:nvSpPr>
            <p:cNvPr id="29" name="Text 27"/>
            <p:cNvSpPr/>
            <p:nvPr/>
          </p:nvSpPr>
          <p:spPr>
            <a:xfrm>
              <a:off x="7469743" y="4302085"/>
              <a:ext cx="1371005"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İdeyanın orijinallığı</a:t>
              </a:r>
              <a:endParaRPr lang="en-US" sz="1050" dirty="0"/>
            </a:p>
          </p:txBody>
        </p:sp>
        <p:sp>
          <p:nvSpPr>
            <p:cNvPr id="30" name="Shape 28"/>
            <p:cNvSpPr/>
            <p:nvPr/>
          </p:nvSpPr>
          <p:spPr>
            <a:xfrm>
              <a:off x="7469743" y="4668083"/>
              <a:ext cx="3759756" cy="150614"/>
            </a:xfrm>
            <a:prstGeom prst="roundRect">
              <a:avLst>
                <a:gd name="adj" fmla="val 12005"/>
              </a:avLst>
            </a:prstGeom>
            <a:solidFill>
              <a:srgbClr val="303132"/>
            </a:solidFill>
            <a:ln/>
          </p:spPr>
          <p:txBody>
            <a:bodyPr/>
            <a:lstStyle/>
            <a:p>
              <a:endParaRPr lang="en-US"/>
            </a:p>
          </p:txBody>
        </p:sp>
        <p:sp>
          <p:nvSpPr>
            <p:cNvPr id="31" name="Shape 29"/>
            <p:cNvSpPr/>
            <p:nvPr/>
          </p:nvSpPr>
          <p:spPr>
            <a:xfrm>
              <a:off x="7469743" y="4668083"/>
              <a:ext cx="1127879" cy="150614"/>
            </a:xfrm>
            <a:prstGeom prst="roundRect">
              <a:avLst>
                <a:gd name="adj" fmla="val 12005"/>
              </a:avLst>
            </a:prstGeom>
            <a:solidFill>
              <a:srgbClr val="FFFFFF"/>
            </a:solidFill>
            <a:ln/>
          </p:spPr>
          <p:txBody>
            <a:bodyPr/>
            <a:lstStyle/>
            <a:p>
              <a:endParaRPr lang="en-US"/>
            </a:p>
          </p:txBody>
        </p:sp>
        <p:sp>
          <p:nvSpPr>
            <p:cNvPr id="32" name="Text 30"/>
            <p:cNvSpPr/>
            <p:nvPr/>
          </p:nvSpPr>
          <p:spPr>
            <a:xfrm>
              <a:off x="11319867" y="4668083"/>
              <a:ext cx="323612" cy="150614"/>
            </a:xfrm>
            <a:prstGeom prst="rect">
              <a:avLst/>
            </a:prstGeom>
            <a:noFill/>
            <a:ln/>
          </p:spPr>
          <p:txBody>
            <a:bodyPr wrap="none" lIns="0" tIns="0" rIns="0" bIns="0" rtlCol="0" anchor="t"/>
            <a:lstStyle/>
            <a:p>
              <a:pPr marL="0" indent="0" algn="l">
                <a:lnSpc>
                  <a:spcPts val="1150"/>
                </a:lnSpc>
                <a:buNone/>
              </a:pPr>
              <a:r>
                <a:rPr lang="en-US" sz="1150" b="1" dirty="0">
                  <a:solidFill>
                    <a:srgbClr val="E2E6E9"/>
                  </a:solidFill>
                  <a:latin typeface="Montserrat Bold" pitchFamily="34" charset="0"/>
                  <a:ea typeface="Montserrat Bold" pitchFamily="34" charset="-122"/>
                  <a:cs typeface="Montserrat Bold" pitchFamily="34" charset="-120"/>
                </a:rPr>
                <a:t>30%</a:t>
              </a:r>
              <a:endParaRPr lang="en-US" sz="1150" dirty="0"/>
            </a:p>
          </p:txBody>
        </p:sp>
        <p:sp>
          <p:nvSpPr>
            <p:cNvPr id="33" name="Text 31"/>
            <p:cNvSpPr/>
            <p:nvPr/>
          </p:nvSpPr>
          <p:spPr>
            <a:xfrm>
              <a:off x="7469743" y="4929307"/>
              <a:ext cx="2249091"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Növün düzgün əsaslandırılması</a:t>
              </a:r>
              <a:endParaRPr lang="en-US" sz="1050" dirty="0"/>
            </a:p>
          </p:txBody>
        </p:sp>
        <p:sp>
          <p:nvSpPr>
            <p:cNvPr id="34" name="Shape 32"/>
            <p:cNvSpPr/>
            <p:nvPr/>
          </p:nvSpPr>
          <p:spPr>
            <a:xfrm>
              <a:off x="7469743" y="5295305"/>
              <a:ext cx="3774281" cy="150614"/>
            </a:xfrm>
            <a:prstGeom prst="roundRect">
              <a:avLst>
                <a:gd name="adj" fmla="val 12005"/>
              </a:avLst>
            </a:prstGeom>
            <a:solidFill>
              <a:srgbClr val="303132"/>
            </a:solidFill>
            <a:ln/>
          </p:spPr>
          <p:txBody>
            <a:bodyPr/>
            <a:lstStyle/>
            <a:p>
              <a:endParaRPr lang="en-US"/>
            </a:p>
          </p:txBody>
        </p:sp>
        <p:sp>
          <p:nvSpPr>
            <p:cNvPr id="35" name="Shape 33"/>
            <p:cNvSpPr/>
            <p:nvPr/>
          </p:nvSpPr>
          <p:spPr>
            <a:xfrm>
              <a:off x="7469743" y="5295305"/>
              <a:ext cx="943570" cy="150614"/>
            </a:xfrm>
            <a:prstGeom prst="roundRect">
              <a:avLst>
                <a:gd name="adj" fmla="val 12005"/>
              </a:avLst>
            </a:prstGeom>
            <a:solidFill>
              <a:srgbClr val="FFFFFF"/>
            </a:solidFill>
            <a:ln/>
          </p:spPr>
          <p:txBody>
            <a:bodyPr/>
            <a:lstStyle/>
            <a:p>
              <a:endParaRPr lang="en-US"/>
            </a:p>
          </p:txBody>
        </p:sp>
        <p:sp>
          <p:nvSpPr>
            <p:cNvPr id="36" name="Text 34"/>
            <p:cNvSpPr/>
            <p:nvPr/>
          </p:nvSpPr>
          <p:spPr>
            <a:xfrm>
              <a:off x="11334393" y="5295305"/>
              <a:ext cx="309086" cy="150614"/>
            </a:xfrm>
            <a:prstGeom prst="rect">
              <a:avLst/>
            </a:prstGeom>
            <a:noFill/>
            <a:ln/>
          </p:spPr>
          <p:txBody>
            <a:bodyPr wrap="none" lIns="0" tIns="0" rIns="0" bIns="0" rtlCol="0" anchor="t"/>
            <a:lstStyle/>
            <a:p>
              <a:pPr marL="0" indent="0" algn="l">
                <a:lnSpc>
                  <a:spcPts val="1150"/>
                </a:lnSpc>
                <a:buNone/>
              </a:pPr>
              <a:r>
                <a:rPr lang="en-US" sz="1150" b="1" dirty="0">
                  <a:solidFill>
                    <a:srgbClr val="E2E6E9"/>
                  </a:solidFill>
                  <a:latin typeface="Montserrat Bold" pitchFamily="34" charset="0"/>
                  <a:ea typeface="Montserrat Bold" pitchFamily="34" charset="-122"/>
                  <a:cs typeface="Montserrat Bold" pitchFamily="34" charset="-120"/>
                </a:rPr>
                <a:t>25%</a:t>
              </a:r>
              <a:endParaRPr lang="en-US" sz="1150" dirty="0"/>
            </a:p>
          </p:txBody>
        </p:sp>
        <p:sp>
          <p:nvSpPr>
            <p:cNvPr id="37" name="Text 35"/>
            <p:cNvSpPr/>
            <p:nvPr/>
          </p:nvSpPr>
          <p:spPr>
            <a:xfrm>
              <a:off x="7469743" y="5556528"/>
              <a:ext cx="1889879"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SI istifadəsinin refleksiyası</a:t>
              </a:r>
              <a:endParaRPr lang="en-US" sz="1050" dirty="0"/>
            </a:p>
          </p:txBody>
        </p:sp>
        <p:sp>
          <p:nvSpPr>
            <p:cNvPr id="38" name="Shape 36"/>
            <p:cNvSpPr/>
            <p:nvPr/>
          </p:nvSpPr>
          <p:spPr>
            <a:xfrm>
              <a:off x="7469743" y="5922526"/>
              <a:ext cx="3804047" cy="150614"/>
            </a:xfrm>
            <a:prstGeom prst="roundRect">
              <a:avLst>
                <a:gd name="adj" fmla="val 12005"/>
              </a:avLst>
            </a:prstGeom>
            <a:solidFill>
              <a:srgbClr val="303132"/>
            </a:solidFill>
            <a:ln/>
          </p:spPr>
          <p:txBody>
            <a:bodyPr/>
            <a:lstStyle/>
            <a:p>
              <a:endParaRPr lang="en-US"/>
            </a:p>
          </p:txBody>
        </p:sp>
        <p:sp>
          <p:nvSpPr>
            <p:cNvPr id="39" name="Shape 37"/>
            <p:cNvSpPr/>
            <p:nvPr/>
          </p:nvSpPr>
          <p:spPr>
            <a:xfrm>
              <a:off x="7469743" y="5922526"/>
              <a:ext cx="570548" cy="150614"/>
            </a:xfrm>
            <a:prstGeom prst="roundRect">
              <a:avLst>
                <a:gd name="adj" fmla="val 12005"/>
              </a:avLst>
            </a:prstGeom>
            <a:solidFill>
              <a:srgbClr val="FFFFFF"/>
            </a:solidFill>
            <a:ln/>
          </p:spPr>
          <p:txBody>
            <a:bodyPr/>
            <a:lstStyle/>
            <a:p>
              <a:endParaRPr lang="en-US"/>
            </a:p>
          </p:txBody>
        </p:sp>
        <p:sp>
          <p:nvSpPr>
            <p:cNvPr id="40" name="Text 38"/>
            <p:cNvSpPr/>
            <p:nvPr/>
          </p:nvSpPr>
          <p:spPr>
            <a:xfrm>
              <a:off x="11364158" y="5922526"/>
              <a:ext cx="279321" cy="150614"/>
            </a:xfrm>
            <a:prstGeom prst="rect">
              <a:avLst/>
            </a:prstGeom>
            <a:noFill/>
            <a:ln/>
          </p:spPr>
          <p:txBody>
            <a:bodyPr wrap="none" lIns="0" tIns="0" rIns="0" bIns="0" rtlCol="0" anchor="t"/>
            <a:lstStyle/>
            <a:p>
              <a:pPr marL="0" indent="0" algn="l">
                <a:lnSpc>
                  <a:spcPts val="1150"/>
                </a:lnSpc>
                <a:buNone/>
              </a:pPr>
              <a:r>
                <a:rPr lang="en-US" sz="1150" b="1" dirty="0">
                  <a:solidFill>
                    <a:srgbClr val="E2E6E9"/>
                  </a:solidFill>
                  <a:latin typeface="Montserrat Bold" pitchFamily="34" charset="0"/>
                  <a:ea typeface="Montserrat Bold" pitchFamily="34" charset="-122"/>
                  <a:cs typeface="Montserrat Bold" pitchFamily="34" charset="-120"/>
                </a:rPr>
                <a:t>15%</a:t>
              </a:r>
              <a:endParaRPr lang="en-US" sz="1150" dirty="0"/>
            </a:p>
          </p:txBody>
        </p:sp>
        <p:sp>
          <p:nvSpPr>
            <p:cNvPr id="41" name="Text 39"/>
            <p:cNvSpPr/>
            <p:nvPr/>
          </p:nvSpPr>
          <p:spPr>
            <a:xfrm>
              <a:off x="7469743" y="6183749"/>
              <a:ext cx="1552694" cy="171212"/>
            </a:xfrm>
            <a:prstGeom prst="rect">
              <a:avLst/>
            </a:prstGeom>
            <a:noFill/>
            <a:ln/>
          </p:spPr>
          <p:txBody>
            <a:bodyPr wrap="none" lIns="0" tIns="0" rIns="0" bIns="0" rtlCol="0" anchor="t"/>
            <a:lstStyle/>
            <a:p>
              <a:pPr marL="0" indent="0" algn="l">
                <a:lnSpc>
                  <a:spcPts val="1300"/>
                </a:lnSpc>
                <a:buNone/>
              </a:pPr>
              <a:r>
                <a:rPr lang="en-US" sz="1050" b="1" dirty="0">
                  <a:solidFill>
                    <a:srgbClr val="E2E6E9"/>
                  </a:solidFill>
                  <a:latin typeface="Montserrat Bold" pitchFamily="34" charset="0"/>
                  <a:ea typeface="Montserrat Bold" pitchFamily="34" charset="-122"/>
                  <a:cs typeface="Montserrat Bold" pitchFamily="34" charset="-120"/>
                </a:rPr>
                <a:t>Təqdimatın keyfiyyəti</a:t>
              </a:r>
              <a:endParaRPr lang="en-US" sz="1050" dirty="0"/>
            </a:p>
          </p:txBody>
        </p:sp>
        <p:sp>
          <p:nvSpPr>
            <p:cNvPr id="42" name="Shape 40"/>
            <p:cNvSpPr/>
            <p:nvPr/>
          </p:nvSpPr>
          <p:spPr>
            <a:xfrm>
              <a:off x="2994303" y="6506170"/>
              <a:ext cx="8641675" cy="358854"/>
            </a:xfrm>
            <a:prstGeom prst="roundRect">
              <a:avLst>
                <a:gd name="adj" fmla="val 5039"/>
              </a:avLst>
            </a:prstGeom>
            <a:solidFill>
              <a:srgbClr val="262626"/>
            </a:solidFill>
            <a:ln/>
          </p:spPr>
          <p:txBody>
            <a:bodyPr/>
            <a:lstStyle/>
            <a:p>
              <a:endParaRPr lang="en-US"/>
            </a:p>
          </p:txBody>
        </p:sp>
        <p:pic>
          <p:nvPicPr>
            <p:cNvPr id="43" name="Image 0" descr="preencoded.png"/>
            <p:cNvPicPr>
              <a:picLocks noChangeAspect="1"/>
            </p:cNvPicPr>
            <p:nvPr/>
          </p:nvPicPr>
          <p:blipFill>
            <a:blip r:embed="rId3"/>
            <a:stretch>
              <a:fillRect/>
            </a:stretch>
          </p:blipFill>
          <p:spPr>
            <a:xfrm>
              <a:off x="3114794" y="6657975"/>
              <a:ext cx="150614" cy="120491"/>
            </a:xfrm>
            <a:prstGeom prst="rect">
              <a:avLst/>
            </a:prstGeom>
          </p:spPr>
        </p:pic>
        <p:sp>
          <p:nvSpPr>
            <p:cNvPr id="44" name="Text 41"/>
            <p:cNvSpPr/>
            <p:nvPr/>
          </p:nvSpPr>
          <p:spPr>
            <a:xfrm>
              <a:off x="3385899" y="6603563"/>
              <a:ext cx="8129588" cy="140732"/>
            </a:xfrm>
            <a:prstGeom prst="rect">
              <a:avLst/>
            </a:prstGeom>
            <a:noFill/>
            <a:ln/>
          </p:spPr>
          <p:txBody>
            <a:bodyPr wrap="none" lIns="0" tIns="0" rIns="0" bIns="0" rtlCol="0" anchor="t"/>
            <a:lstStyle/>
            <a:p>
              <a:pPr marL="0" indent="0" algn="l">
                <a:lnSpc>
                  <a:spcPts val="1100"/>
                </a:lnSpc>
                <a:buNone/>
              </a:pPr>
              <a:r>
                <a:rPr lang="en-US" sz="900" dirty="0">
                  <a:solidFill>
                    <a:srgbClr val="000000"/>
                  </a:solidFill>
                  <a:latin typeface="Source Sans 3" pitchFamily="34" charset="0"/>
                  <a:ea typeface="Source Sans 3" pitchFamily="34" charset="-122"/>
                  <a:cs typeface="Source Sans 3" pitchFamily="34" charset="-120"/>
                </a:rPr>
                <a:t>🚀</a:t>
              </a:r>
              <a:r>
                <a:rPr lang="en-US" sz="900" dirty="0">
                  <a:solidFill>
                    <a:srgbClr val="FFFFFF"/>
                  </a:solidFill>
                  <a:latin typeface="Source Sans 3" pitchFamily="34" charset="0"/>
                  <a:ea typeface="Source Sans 3" pitchFamily="34" charset="-122"/>
                  <a:cs typeface="Source Sans 3" pitchFamily="34" charset="-120"/>
                </a:rPr>
                <a:t> </a:t>
              </a:r>
              <a:r>
                <a:rPr lang="en-US" sz="900" b="1" dirty="0">
                  <a:solidFill>
                    <a:srgbClr val="FFFFFF"/>
                  </a:solidFill>
                  <a:latin typeface="Source Sans 3" pitchFamily="34" charset="0"/>
                  <a:ea typeface="Source Sans 3" pitchFamily="34" charset="-122"/>
                  <a:cs typeface="Source Sans 3" pitchFamily="34" charset="-120"/>
                </a:rPr>
                <a:t>Uğur Məsləhəti:</a:t>
              </a:r>
              <a:r>
                <a:rPr lang="en-US" sz="900" dirty="0">
                  <a:solidFill>
                    <a:srgbClr val="FFFFFF"/>
                  </a:solidFill>
                  <a:latin typeface="Source Sans 3" pitchFamily="34" charset="0"/>
                  <a:ea typeface="Source Sans 3" pitchFamily="34" charset="-122"/>
                  <a:cs typeface="Source Sans 3" pitchFamily="34" charset="-120"/>
                </a:rPr>
                <a:t> Ən yaxşı işlər SI-ni passiv istifadə edən yox, SI ilə </a:t>
              </a:r>
              <a:r>
                <a:rPr lang="en-US" sz="900" i="1" dirty="0">
                  <a:solidFill>
                    <a:srgbClr val="FFFFFF"/>
                  </a:solidFill>
                  <a:latin typeface="Source Sans 3" pitchFamily="34" charset="0"/>
                  <a:ea typeface="Source Sans 3" pitchFamily="34" charset="-122"/>
                  <a:cs typeface="Source Sans 3" pitchFamily="34" charset="-120"/>
                </a:rPr>
                <a:t>dialoq aparan</a:t>
              </a:r>
              <a:r>
                <a:rPr lang="en-US" sz="900" dirty="0">
                  <a:solidFill>
                    <a:srgbClr val="FFFFFF"/>
                  </a:solidFill>
                  <a:latin typeface="Source Sans 3" pitchFamily="34" charset="0"/>
                  <a:ea typeface="Source Sans 3" pitchFamily="34" charset="-122"/>
                  <a:cs typeface="Source Sans 3" pitchFamily="34" charset="-120"/>
                </a:rPr>
                <a:t> tələbələrə məxsusdur. Soruşun, etiraz edin, dəqiqləşdirin!</a:t>
              </a:r>
              <a:endParaRPr lang="en-US" sz="900" dirty="0"/>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TotalTime>
  <Words>2025</Words>
  <Application>Microsoft Office PowerPoint</Application>
  <PresentationFormat>Custom</PresentationFormat>
  <Paragraphs>199</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Source Sans 3</vt:lpstr>
      <vt:lpstr>Montserrat Light</vt:lpstr>
      <vt:lpstr>Arial</vt:lpstr>
      <vt:lpstr>Montserrat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Orkhan Iskandarov</cp:lastModifiedBy>
  <cp:revision>7</cp:revision>
  <dcterms:created xsi:type="dcterms:W3CDTF">2026-03-13T08:31:05Z</dcterms:created>
  <dcterms:modified xsi:type="dcterms:W3CDTF">2026-03-13T09:34:40Z</dcterms:modified>
</cp:coreProperties>
</file>