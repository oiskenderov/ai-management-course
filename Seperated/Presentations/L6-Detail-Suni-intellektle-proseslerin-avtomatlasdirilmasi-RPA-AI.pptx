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ppt/slideLayouts/slideLayout12.xml" ContentType="application/vnd.openxmlformats-officedocument.presentationml.slideLayout+xml"/>
  <Override PartName="/ppt/theme/theme12.xml" ContentType="application/vnd.openxmlformats-officedocument.theme+xml"/>
  <Override PartName="/ppt/theme/theme1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 id="2147483670" r:id="rId12"/>
  </p:sldMasterIdLst>
  <p:notesMasterIdLst>
    <p:notesMasterId r:id="rId24"/>
  </p:notesMasterIdLst>
  <p:sldIdLst>
    <p:sldId id="256" r:id="rId13"/>
    <p:sldId id="257" r:id="rId14"/>
    <p:sldId id="258" r:id="rId15"/>
    <p:sldId id="259" r:id="rId16"/>
    <p:sldId id="260" r:id="rId17"/>
    <p:sldId id="261" r:id="rId18"/>
    <p:sldId id="262" r:id="rId19"/>
    <p:sldId id="263" r:id="rId20"/>
    <p:sldId id="264" r:id="rId21"/>
    <p:sldId id="265" r:id="rId22"/>
    <p:sldId id="266" r:id="rId23"/>
  </p:sldIdLst>
  <p:sldSz cx="14630400" cy="8229600"/>
  <p:notesSz cx="8229600" cy="14630400"/>
  <p:defaultText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0"/>
    <p:restoredTop sz="94619"/>
  </p:normalViewPr>
  <p:slideViewPr>
    <p:cSldViewPr snapToGrid="0">
      <p:cViewPr varScale="1">
        <p:scale>
          <a:sx n="91" d="100"/>
          <a:sy n="91" d="100"/>
        </p:scale>
        <p:origin x="680"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slide" Target="slides/slide1.xml"/><Relationship Id="rId18" Type="http://schemas.openxmlformats.org/officeDocument/2006/relationships/slide" Target="slides/slide6.xml"/><Relationship Id="rId26" Type="http://schemas.openxmlformats.org/officeDocument/2006/relationships/viewProps" Target="viewProps.xml"/><Relationship Id="rId3" Type="http://schemas.openxmlformats.org/officeDocument/2006/relationships/slideMaster" Target="slideMasters/slideMaster3.xml"/><Relationship Id="rId21" Type="http://schemas.openxmlformats.org/officeDocument/2006/relationships/slide" Target="slides/slide9.xml"/><Relationship Id="rId7" Type="http://schemas.openxmlformats.org/officeDocument/2006/relationships/slideMaster" Target="slideMasters/slideMaster7.xml"/><Relationship Id="rId12" Type="http://schemas.openxmlformats.org/officeDocument/2006/relationships/slideMaster" Target="slideMasters/slideMaster12.xml"/><Relationship Id="rId17" Type="http://schemas.openxmlformats.org/officeDocument/2006/relationships/slide" Target="slides/slide5.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4.xml"/><Relationship Id="rId20" Type="http://schemas.openxmlformats.org/officeDocument/2006/relationships/slide" Target="slides/slide8.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notesMaster" Target="notesMasters/notesMaster1.xml"/><Relationship Id="rId5" Type="http://schemas.openxmlformats.org/officeDocument/2006/relationships/slideMaster" Target="slideMasters/slideMaster5.xml"/><Relationship Id="rId15" Type="http://schemas.openxmlformats.org/officeDocument/2006/relationships/slide" Target="slides/slide3.xml"/><Relationship Id="rId23" Type="http://schemas.openxmlformats.org/officeDocument/2006/relationships/slide" Target="slides/slide11.xml"/><Relationship Id="rId28" Type="http://schemas.openxmlformats.org/officeDocument/2006/relationships/tableStyles" Target="tableStyles.xml"/><Relationship Id="rId10" Type="http://schemas.openxmlformats.org/officeDocument/2006/relationships/slideMaster" Target="slideMasters/slideMaster10.xml"/><Relationship Id="rId19" Type="http://schemas.openxmlformats.org/officeDocument/2006/relationships/slide" Target="slides/slide7.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2.xml"/><Relationship Id="rId22" Type="http://schemas.openxmlformats.org/officeDocument/2006/relationships/slide" Target="slides/slide10.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4"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pPr algn="ctr"/>
            <a:r>
              <a:rPr lang="en-US" sz="4400" b="0" strike="noStrike" spc="-1">
                <a:solidFill>
                  <a:schemeClr val="dk1"/>
                </a:solidFill>
                <a:latin typeface="Calibri Light"/>
              </a:rPr>
              <a:t>Click to move the slide</a:t>
            </a:r>
          </a:p>
        </p:txBody>
      </p:sp>
      <p:sp>
        <p:nvSpPr>
          <p:cNvPr id="4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Click to edit the notes format</a:t>
            </a:r>
          </a:p>
        </p:txBody>
      </p:sp>
      <p:sp>
        <p:nvSpPr>
          <p:cNvPr id="46"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buNone/>
            </a:pPr>
            <a:r>
              <a:rPr lang="en-US" sz="1400" b="0" strike="noStrike" spc="-1">
                <a:solidFill>
                  <a:srgbClr val="000000"/>
                </a:solidFill>
                <a:latin typeface="Times New Roman"/>
              </a:rPr>
              <a:t>&lt;header&gt;</a:t>
            </a:r>
          </a:p>
        </p:txBody>
      </p:sp>
      <p:sp>
        <p:nvSpPr>
          <p:cNvPr id="47"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strike="noStrike" spc="-1">
                <a:solidFill>
                  <a:srgbClr val="000000"/>
                </a:solidFill>
                <a:latin typeface="Times New Roman"/>
              </a:defRPr>
            </a:lvl1pPr>
          </a:lstStyle>
          <a:p>
            <a:pPr indent="0" algn="r">
              <a:buNone/>
            </a:pPr>
            <a:r>
              <a:rPr lang="en-US" sz="1400" b="0" strike="noStrike" spc="-1">
                <a:solidFill>
                  <a:srgbClr val="000000"/>
                </a:solidFill>
                <a:latin typeface="Times New Roman"/>
              </a:rPr>
              <a:t>&lt;date/time&gt;</a:t>
            </a:r>
          </a:p>
        </p:txBody>
      </p:sp>
      <p:sp>
        <p:nvSpPr>
          <p:cNvPr id="48"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&lt;footer&gt;</a:t>
            </a:r>
          </a:p>
        </p:txBody>
      </p:sp>
      <p:sp>
        <p:nvSpPr>
          <p:cNvPr id="49"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strike="noStrike" spc="-1">
                <a:solidFill>
                  <a:srgbClr val="000000"/>
                </a:solidFill>
                <a:latin typeface="Times New Roman"/>
              </a:defRPr>
            </a:lvl1pPr>
          </a:lstStyle>
          <a:p>
            <a:pPr indent="0" algn="r">
              <a:buNone/>
            </a:pPr>
            <a:fld id="{EE450955-5945-4B48-BE4A-21CB4F78792B}" type="slidenum">
              <a:rPr lang="en-US" sz="1400" b="0" strike="noStrike" spc="-1">
                <a:solidFill>
                  <a:srgbClr val="000000"/>
                </a:solidFill>
                <a:latin typeface="Times New Roman"/>
              </a:rPr>
              <a:t>‹#›</a:t>
            </a:fld>
            <a:endParaRPr lang="en-US"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PlaceHolder 1"/>
          <p:cNvSpPr>
            <a:spLocks noGrp="1" noRot="1" noChangeAspect="1"/>
          </p:cNvSpPr>
          <p:nvPr>
            <p:ph type="sldImg"/>
          </p:nvPr>
        </p:nvSpPr>
        <p:spPr>
          <a:xfrm>
            <a:off x="685800" y="1143000"/>
            <a:ext cx="5486400" cy="3086100"/>
          </a:xfrm>
          <a:prstGeom prst="rect">
            <a:avLst/>
          </a:prstGeom>
          <a:ln w="0">
            <a:noFill/>
          </a:ln>
        </p:spPr>
      </p:sp>
      <p:sp>
        <p:nvSpPr>
          <p:cNvPr id="18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187"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F9FE8D9C-D152-426B-8599-798638BBBA4D}" type="slidenum">
              <a:rPr lang="en-US" sz="1200" b="0" strike="noStrike" spc="-1">
                <a:solidFill>
                  <a:srgbClr val="000000"/>
                </a:solidFill>
                <a:latin typeface="Times New Roman"/>
              </a:rPr>
              <a:t>1</a:t>
            </a:fld>
            <a:endParaRPr lang="en-US" sz="1200" b="0" strike="noStrike" spc="-1">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PlaceHolder 1"/>
          <p:cNvSpPr>
            <a:spLocks noGrp="1" noRot="1" noChangeAspect="1"/>
          </p:cNvSpPr>
          <p:nvPr>
            <p:ph type="sldImg"/>
          </p:nvPr>
        </p:nvSpPr>
        <p:spPr>
          <a:xfrm>
            <a:off x="685800" y="1143000"/>
            <a:ext cx="5486040" cy="3085920"/>
          </a:xfrm>
          <a:prstGeom prst="rect">
            <a:avLst/>
          </a:prstGeom>
          <a:ln w="0">
            <a:noFill/>
          </a:ln>
        </p:spPr>
      </p:sp>
      <p:sp>
        <p:nvSpPr>
          <p:cNvPr id="18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190"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28F93F24-3058-4FF4-A478-79B76471E5C1}" type="slidenum">
              <a:rPr lang="en-US" sz="1200" b="0" strike="noStrike" spc="-1">
                <a:solidFill>
                  <a:srgbClr val="000000"/>
                </a:solidFill>
                <a:latin typeface="Times New Roman"/>
              </a:rPr>
              <a:t>2</a:t>
            </a:fld>
            <a:endParaRPr lang="en-US" sz="1200" b="0" strike="noStrike" spc="-1">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 name="PlaceHolder 1"/>
          <p:cNvSpPr>
            <a:spLocks noGrp="1" noRot="1" noChangeAspect="1"/>
          </p:cNvSpPr>
          <p:nvPr>
            <p:ph type="sldImg"/>
          </p:nvPr>
        </p:nvSpPr>
        <p:spPr>
          <a:xfrm>
            <a:off x="685800" y="1143000"/>
            <a:ext cx="5486040" cy="3085920"/>
          </a:xfrm>
          <a:prstGeom prst="rect">
            <a:avLst/>
          </a:prstGeom>
          <a:ln w="0">
            <a:noFill/>
          </a:ln>
        </p:spPr>
      </p:sp>
      <p:sp>
        <p:nvSpPr>
          <p:cNvPr id="19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193"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2E76DB68-40E3-41BD-A13D-6458FEA55FD8}" type="slidenum">
              <a:rPr lang="en-US" sz="1200" b="0" strike="noStrike" spc="-1">
                <a:solidFill>
                  <a:srgbClr val="000000"/>
                </a:solidFill>
                <a:latin typeface="Times New Roman"/>
              </a:rPr>
              <a:t>3</a:t>
            </a:fld>
            <a:endParaRPr lang="en-US" sz="1200" b="0" strike="noStrike" spc="-1">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PlaceHolder 1"/>
          <p:cNvSpPr>
            <a:spLocks noGrp="1" noRot="1" noChangeAspect="1"/>
          </p:cNvSpPr>
          <p:nvPr>
            <p:ph type="sldImg"/>
          </p:nvPr>
        </p:nvSpPr>
        <p:spPr>
          <a:xfrm>
            <a:off x="685800" y="1143000"/>
            <a:ext cx="5486040" cy="3085920"/>
          </a:xfrm>
          <a:prstGeom prst="rect">
            <a:avLst/>
          </a:prstGeom>
          <a:ln w="0">
            <a:noFill/>
          </a:ln>
        </p:spPr>
      </p:sp>
      <p:sp>
        <p:nvSpPr>
          <p:cNvPr id="19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196"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B2DA598E-472C-4369-85B7-30CB64873D77}" type="slidenum">
              <a:rPr lang="en-US" sz="1200" b="0" strike="noStrike" spc="-1">
                <a:solidFill>
                  <a:srgbClr val="000000"/>
                </a:solidFill>
                <a:latin typeface="Times New Roman"/>
              </a:rPr>
              <a:t>4</a:t>
            </a:fld>
            <a:endParaRPr lang="en-US" sz="1200" b="0" strike="noStrike" spc="-1">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PlaceHolder 1"/>
          <p:cNvSpPr>
            <a:spLocks noGrp="1" noRot="1" noChangeAspect="1"/>
          </p:cNvSpPr>
          <p:nvPr>
            <p:ph type="sldImg"/>
          </p:nvPr>
        </p:nvSpPr>
        <p:spPr>
          <a:xfrm>
            <a:off x="685800" y="1143000"/>
            <a:ext cx="5486040" cy="3085920"/>
          </a:xfrm>
          <a:prstGeom prst="rect">
            <a:avLst/>
          </a:prstGeom>
          <a:ln w="0">
            <a:noFill/>
          </a:ln>
        </p:spPr>
      </p:sp>
      <p:sp>
        <p:nvSpPr>
          <p:cNvPr id="19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199"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968AC0C2-B83E-44D4-B376-9D203721ADE1}" type="slidenum">
              <a:rPr lang="en-US" sz="1200" b="0" strike="noStrike" spc="-1">
                <a:solidFill>
                  <a:srgbClr val="000000"/>
                </a:solidFill>
                <a:latin typeface="Times New Roman"/>
              </a:rPr>
              <a:t>5</a:t>
            </a:fld>
            <a:endParaRPr lang="en-US" sz="1200" b="0" strike="noStrike" spc="-1">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PlaceHolder 1"/>
          <p:cNvSpPr>
            <a:spLocks noGrp="1" noRot="1" noChangeAspect="1"/>
          </p:cNvSpPr>
          <p:nvPr>
            <p:ph type="sldImg"/>
          </p:nvPr>
        </p:nvSpPr>
        <p:spPr>
          <a:xfrm>
            <a:off x="685800" y="1143000"/>
            <a:ext cx="5486040" cy="3085920"/>
          </a:xfrm>
          <a:prstGeom prst="rect">
            <a:avLst/>
          </a:prstGeom>
          <a:ln w="0">
            <a:noFill/>
          </a:ln>
        </p:spPr>
      </p:sp>
      <p:sp>
        <p:nvSpPr>
          <p:cNvPr id="20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202"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F7F4FB8C-6EE2-4BB3-8D2D-FAF90035C281}" type="slidenum">
              <a:rPr lang="en-US" sz="1200" b="0" strike="noStrike" spc="-1">
                <a:solidFill>
                  <a:srgbClr val="000000"/>
                </a:solidFill>
                <a:latin typeface="Times New Roman"/>
              </a:rPr>
              <a:t>6</a:t>
            </a:fld>
            <a:endParaRPr lang="en-US" sz="1200" b="0" strike="noStrike" spc="-1">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PlaceHolder 1"/>
          <p:cNvSpPr>
            <a:spLocks noGrp="1" noRot="1" noChangeAspect="1"/>
          </p:cNvSpPr>
          <p:nvPr>
            <p:ph type="sldImg"/>
          </p:nvPr>
        </p:nvSpPr>
        <p:spPr>
          <a:xfrm>
            <a:off x="685800" y="1143000"/>
            <a:ext cx="5486040" cy="3085920"/>
          </a:xfrm>
          <a:prstGeom prst="rect">
            <a:avLst/>
          </a:prstGeom>
          <a:ln w="0">
            <a:noFill/>
          </a:ln>
        </p:spPr>
      </p:sp>
      <p:sp>
        <p:nvSpPr>
          <p:cNvPr id="20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205"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796E8525-7501-4408-879F-D783A0D06B59}" type="slidenum">
              <a:rPr lang="en-US" sz="1200" b="0" strike="noStrike" spc="-1">
                <a:solidFill>
                  <a:srgbClr val="000000"/>
                </a:solidFill>
                <a:latin typeface="Times New Roman"/>
              </a:rPr>
              <a:t>7</a:t>
            </a:fld>
            <a:endParaRPr lang="en-US" sz="1200" b="0" strike="noStrike" spc="-1">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PlaceHolder 1"/>
          <p:cNvSpPr>
            <a:spLocks noGrp="1" noRot="1" noChangeAspect="1"/>
          </p:cNvSpPr>
          <p:nvPr>
            <p:ph type="sldImg"/>
          </p:nvPr>
        </p:nvSpPr>
        <p:spPr>
          <a:xfrm>
            <a:off x="685800" y="1143000"/>
            <a:ext cx="5486400" cy="3086100"/>
          </a:xfrm>
          <a:prstGeom prst="rect">
            <a:avLst/>
          </a:prstGeom>
          <a:ln w="0">
            <a:noFill/>
          </a:ln>
        </p:spPr>
      </p:sp>
      <p:sp>
        <p:nvSpPr>
          <p:cNvPr id="20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208"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67144B24-F545-4BAC-B228-3199FB60D6F2}" type="slidenum">
              <a:rPr lang="en-US" sz="1200" b="0" strike="noStrike" spc="-1">
                <a:solidFill>
                  <a:srgbClr val="000000"/>
                </a:solidFill>
                <a:latin typeface="Times New Roman"/>
              </a:rPr>
              <a:t>8</a:t>
            </a:fld>
            <a:endParaRPr lang="en-US" sz="1200" b="0" strike="noStrike" spc="-1">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 name="PlaceHolder 1"/>
          <p:cNvSpPr>
            <a:spLocks noGrp="1" noRot="1" noChangeAspect="1"/>
          </p:cNvSpPr>
          <p:nvPr>
            <p:ph type="sldImg"/>
          </p:nvPr>
        </p:nvSpPr>
        <p:spPr>
          <a:xfrm>
            <a:off x="685800" y="1143000"/>
            <a:ext cx="5486040" cy="3085920"/>
          </a:xfrm>
          <a:prstGeom prst="rect">
            <a:avLst/>
          </a:prstGeom>
          <a:ln w="0">
            <a:noFill/>
          </a:ln>
        </p:spPr>
      </p:sp>
      <p:sp>
        <p:nvSpPr>
          <p:cNvPr id="21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211"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53D271A1-2B9B-4490-B4BF-2F983939B26B}" type="slidenum">
              <a:rPr lang="en-US" sz="1200" b="0" strike="noStrike" spc="-1">
                <a:solidFill>
                  <a:srgbClr val="000000"/>
                </a:solidFill>
                <a:latin typeface="Times New Roman"/>
              </a:rPr>
              <a:t>9</a:t>
            </a:fld>
            <a:endParaRPr lang="en-US" sz="1200" b="0" strike="noStrike" spc="-1">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 name="PlaceHolder 1"/>
          <p:cNvSpPr>
            <a:spLocks noGrp="1" noRot="1" noChangeAspect="1"/>
          </p:cNvSpPr>
          <p:nvPr>
            <p:ph type="sldImg"/>
          </p:nvPr>
        </p:nvSpPr>
        <p:spPr>
          <a:xfrm>
            <a:off x="685800" y="1143000"/>
            <a:ext cx="5486040" cy="3085920"/>
          </a:xfrm>
          <a:prstGeom prst="rect">
            <a:avLst/>
          </a:prstGeom>
          <a:ln w="0">
            <a:noFill/>
          </a:ln>
        </p:spPr>
      </p:sp>
      <p:sp>
        <p:nvSpPr>
          <p:cNvPr id="21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214"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46EB4918-B75E-4616-B38B-FAB7EA2C7BB2}" type="slidenum">
              <a:rPr lang="en-US" sz="1200" b="0" strike="noStrike" spc="-1">
                <a:solidFill>
                  <a:srgbClr val="000000"/>
                </a:solidFill>
                <a:latin typeface="Times New Roman"/>
              </a:rPr>
              <a:t>10</a:t>
            </a:fld>
            <a:endParaRPr lang="en-US" sz="1200" b="0" strike="noStrike" spc="-1">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PlaceHolder 1"/>
          <p:cNvSpPr>
            <a:spLocks noGrp="1" noRot="1" noChangeAspect="1"/>
          </p:cNvSpPr>
          <p:nvPr>
            <p:ph type="sldImg"/>
          </p:nvPr>
        </p:nvSpPr>
        <p:spPr>
          <a:xfrm>
            <a:off x="685800" y="1143000"/>
            <a:ext cx="5486040" cy="3085920"/>
          </a:xfrm>
          <a:prstGeom prst="rect">
            <a:avLst/>
          </a:prstGeom>
          <a:ln w="0">
            <a:noFill/>
          </a:ln>
        </p:spPr>
      </p:sp>
      <p:sp>
        <p:nvSpPr>
          <p:cNvPr id="21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217"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B9C35FE2-460F-42D5-9B0E-15C88425F63F}" type="slidenum">
              <a:rPr lang="en-US" sz="1200" b="0" strike="noStrike" spc="-1">
                <a:solidFill>
                  <a:srgbClr val="000000"/>
                </a:solidFill>
                <a:latin typeface="Times New Roman"/>
              </a:rPr>
              <a:t>11</a:t>
            </a:fld>
            <a:endParaRPr lang="en-US" sz="1200" b="0" strike="noStrike" spc="-1">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Slide 9 master">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Slide 10 master">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Slide 11 master">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Slide 1 master">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Slide 2 master">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Slide 3 master">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Slide 4 master">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Slide 5 master">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Slide 6 master">
    <p:spTree>
      <p:nvGrpSpPr>
        <p:cNvPr id="1" name=""/>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Slide 7 master">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 8 master">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_rels/slideMaster12.xml.rels><?xml version="1.0" encoding="UTF-8" standalone="yes"?>
<Relationships xmlns="http://schemas.openxmlformats.org/package/2006/relationships"><Relationship Id="rId2" Type="http://schemas.openxmlformats.org/officeDocument/2006/relationships/theme" Target="../theme/theme1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5"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3"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5"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6"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7"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0"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11"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3"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4"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15"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6"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7"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8"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19"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1"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2"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23"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4"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5"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6"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27"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8"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9"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30"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31"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2"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33"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34"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35"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6"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37"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38"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39"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0"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1"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2"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43"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0.xml"/><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1.xml"/><Relationship Id="rId6" Type="http://schemas.openxmlformats.org/officeDocument/2006/relationships/image" Target="../media/image10.sv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svg"/><Relationship Id="rId3" Type="http://schemas.openxmlformats.org/officeDocument/2006/relationships/image" Target="../media/image15.png"/><Relationship Id="rId7" Type="http://schemas.openxmlformats.org/officeDocument/2006/relationships/image" Target="../media/image19.svg"/><Relationship Id="rId12"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image" Target="../media/image18.png"/><Relationship Id="rId11" Type="http://schemas.openxmlformats.org/officeDocument/2006/relationships/image" Target="../media/image23.svg"/><Relationship Id="rId5" Type="http://schemas.openxmlformats.org/officeDocument/2006/relationships/image" Target="../media/image17.sv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svg"/></Relationships>
</file>

<file path=ppt/slides/_rels/slide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 name="Image 0" descr="preencoded.png"/>
          <p:cNvPicPr/>
          <p:nvPr/>
        </p:nvPicPr>
        <p:blipFill>
          <a:blip r:embed="rId3"/>
          <a:stretch/>
        </p:blipFill>
        <p:spPr>
          <a:xfrm>
            <a:off x="0" y="0"/>
            <a:ext cx="5486040" cy="8229240"/>
          </a:xfrm>
          <a:prstGeom prst="rect">
            <a:avLst/>
          </a:prstGeom>
          <a:ln w="0">
            <a:noFill/>
          </a:ln>
        </p:spPr>
      </p:pic>
      <p:sp>
        <p:nvSpPr>
          <p:cNvPr id="51" name="Text 0"/>
          <p:cNvSpPr/>
          <p:nvPr/>
        </p:nvSpPr>
        <p:spPr>
          <a:xfrm>
            <a:off x="6350040" y="2223360"/>
            <a:ext cx="7416000" cy="184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4799"/>
              </a:lnSpc>
              <a:tabLst>
                <a:tab pos="0" algn="l"/>
              </a:tabLst>
            </a:pPr>
            <a:r>
              <a:rPr lang="en-US" sz="3850" b="1" strike="noStrike" spc="-1">
                <a:solidFill>
                  <a:srgbClr val="FFFFFF"/>
                </a:solidFill>
                <a:latin typeface="Montserrat Bold"/>
                <a:ea typeface="Montserrat Bold"/>
              </a:rPr>
              <a:t>SI-nın Ağıllı Prosesi Avtomatlaşdırması: RPA-dan IPA-ya</a:t>
            </a:r>
            <a:endParaRPr lang="en-US" sz="3850" b="0" strike="noStrike" spc="-1">
              <a:solidFill>
                <a:srgbClr val="000000"/>
              </a:solidFill>
              <a:latin typeface="Arial"/>
            </a:endParaRPr>
          </a:p>
        </p:txBody>
      </p:sp>
      <p:sp>
        <p:nvSpPr>
          <p:cNvPr id="52" name="Text 1"/>
          <p:cNvSpPr/>
          <p:nvPr/>
        </p:nvSpPr>
        <p:spPr>
          <a:xfrm>
            <a:off x="6350040" y="4387680"/>
            <a:ext cx="7416000" cy="97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Gündəlik tapşırıqların sadə avtomatlaşdırılmasından süni intellektlə gücləndirilmiş, konteksti başa düşən sistemlərə doğru — müasir iş dünyasının transformasiya yolculuğu.</a:t>
            </a:r>
            <a:endParaRPr lang="en-US" sz="1700" b="0" strike="noStrike" spc="-1">
              <a:solidFill>
                <a:srgbClr val="000000"/>
              </a:solidFill>
              <a:latin typeface="Arial"/>
            </a:endParaRPr>
          </a:p>
        </p:txBody>
      </p:sp>
      <p:sp>
        <p:nvSpPr>
          <p:cNvPr id="53" name="Shape 2"/>
          <p:cNvSpPr/>
          <p:nvPr/>
        </p:nvSpPr>
        <p:spPr>
          <a:xfrm>
            <a:off x="6345496" y="5602320"/>
            <a:ext cx="1993320" cy="403560"/>
          </a:xfrm>
          <a:prstGeom prst="roundRect">
            <a:avLst>
              <a:gd name="adj" fmla="val 6417"/>
            </a:avLst>
          </a:prstGeom>
          <a:noFill/>
          <a:ln w="762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54" name="Text 3"/>
          <p:cNvSpPr/>
          <p:nvPr/>
        </p:nvSpPr>
        <p:spPr>
          <a:xfrm>
            <a:off x="6487200" y="5675040"/>
            <a:ext cx="1719000" cy="2588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001"/>
              </a:lnSpc>
              <a:tabLst>
                <a:tab pos="0" algn="l"/>
              </a:tabLst>
            </a:pPr>
            <a:r>
              <a:rPr lang="en-US" sz="1350" b="0" strike="noStrike" spc="-1">
                <a:solidFill>
                  <a:srgbClr val="FFFFFF"/>
                </a:solidFill>
                <a:latin typeface="Source Sans 3"/>
                <a:ea typeface="Source Sans 3"/>
              </a:rPr>
              <a:t>PEŞƏKAR TƏLIM KURSU</a:t>
            </a:r>
            <a:endParaRPr lang="en-US" sz="1350" b="0" strike="noStrike" spc="-1">
              <a:solidFill>
                <a:srgbClr val="000000"/>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Text 0"/>
          <p:cNvSpPr/>
          <p:nvPr/>
        </p:nvSpPr>
        <p:spPr>
          <a:xfrm>
            <a:off x="863640" y="1287360"/>
            <a:ext cx="6846120" cy="613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4799"/>
              </a:lnSpc>
              <a:tabLst>
                <a:tab pos="0" algn="l"/>
              </a:tabLst>
            </a:pPr>
            <a:r>
              <a:rPr lang="en-US" sz="3850" b="1" strike="noStrike" spc="-1">
                <a:solidFill>
                  <a:srgbClr val="FFFFFF"/>
                </a:solidFill>
                <a:latin typeface="Montserrat Bold"/>
                <a:ea typeface="Montserrat Bold"/>
              </a:rPr>
              <a:t>Bu Gün Nəyi Öyrənəcəyik?</a:t>
            </a:r>
            <a:endParaRPr lang="en-US" sz="3850" b="0" strike="noStrike" spc="-1">
              <a:solidFill>
                <a:srgbClr val="000000"/>
              </a:solidFill>
              <a:latin typeface="Arial"/>
            </a:endParaRPr>
          </a:p>
        </p:txBody>
      </p:sp>
      <p:sp>
        <p:nvSpPr>
          <p:cNvPr id="56" name="Text 1"/>
          <p:cNvSpPr/>
          <p:nvPr/>
        </p:nvSpPr>
        <p:spPr>
          <a:xfrm>
            <a:off x="863640" y="2332800"/>
            <a:ext cx="1290240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Bu dərsdə biz gündəlik tapşırıqların avtomatlaşdırılmasından intellektual avtomatlaşdırmaya keçidin yolunu birlikdə kəşf edəcəyik — məhz o nöqtəyə çatacağıq ki, süni intellekt artıq yalnız icra etmir, </a:t>
            </a:r>
            <a:r>
              <a:rPr lang="en-US" sz="1700" b="1" strike="noStrike" spc="-1">
                <a:solidFill>
                  <a:srgbClr val="E2E6E9"/>
                </a:solidFill>
                <a:latin typeface="Source Sans 3"/>
                <a:ea typeface="Source Sans 3"/>
              </a:rPr>
              <a:t>konteksti başa düşür</a:t>
            </a:r>
            <a:r>
              <a:rPr lang="en-US" sz="1700" b="0" strike="noStrike" spc="-1">
                <a:solidFill>
                  <a:srgbClr val="E2E6E9"/>
                </a:solidFill>
                <a:latin typeface="Source Sans 3"/>
                <a:ea typeface="Source Sans 3"/>
              </a:rPr>
              <a:t>.</a:t>
            </a:r>
            <a:endParaRPr lang="en-US" sz="1700" b="0" strike="noStrike" spc="-1">
              <a:solidFill>
                <a:srgbClr val="000000"/>
              </a:solidFill>
              <a:latin typeface="Arial"/>
            </a:endParaRPr>
          </a:p>
        </p:txBody>
      </p:sp>
      <p:sp>
        <p:nvSpPr>
          <p:cNvPr id="57" name="Text 2"/>
          <p:cNvSpPr/>
          <p:nvPr/>
        </p:nvSpPr>
        <p:spPr>
          <a:xfrm>
            <a:off x="863640" y="3223440"/>
            <a:ext cx="215640" cy="2696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551"/>
              </a:lnSpc>
              <a:tabLst>
                <a:tab pos="0" algn="l"/>
              </a:tabLst>
            </a:pPr>
            <a:r>
              <a:rPr lang="en-US" sz="1700" b="0" strike="noStrike" spc="-1">
                <a:solidFill>
                  <a:srgbClr val="E2E6E9"/>
                </a:solidFill>
                <a:latin typeface="Montserrat Light"/>
                <a:ea typeface="Montserrat Light"/>
              </a:rPr>
              <a:t>01</a:t>
            </a:r>
            <a:endParaRPr lang="en-US" sz="1700" b="0" strike="noStrike" spc="-1">
              <a:solidFill>
                <a:srgbClr val="000000"/>
              </a:solidFill>
              <a:latin typeface="Arial"/>
            </a:endParaRPr>
          </a:p>
        </p:txBody>
      </p:sp>
      <p:sp>
        <p:nvSpPr>
          <p:cNvPr id="58" name="Shape 3"/>
          <p:cNvSpPr/>
          <p:nvPr/>
        </p:nvSpPr>
        <p:spPr>
          <a:xfrm>
            <a:off x="863640" y="3560040"/>
            <a:ext cx="6343200" cy="3024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14400" rIns="90000" bIns="-14400" anchor="t">
            <a:noAutofit/>
          </a:bodyPr>
          <a:lstStyle/>
          <a:p>
            <a:endParaRPr lang="en-US" sz="1800" b="0" strike="noStrike" spc="-1">
              <a:solidFill>
                <a:srgbClr val="000000"/>
              </a:solidFill>
              <a:latin typeface="Arial"/>
            </a:endParaRPr>
          </a:p>
        </p:txBody>
      </p:sp>
      <p:sp>
        <p:nvSpPr>
          <p:cNvPr id="59" name="Text 4"/>
          <p:cNvSpPr/>
          <p:nvPr/>
        </p:nvSpPr>
        <p:spPr>
          <a:xfrm>
            <a:off x="863640" y="3728880"/>
            <a:ext cx="245376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RPA-nı anlamaq</a:t>
            </a:r>
            <a:endParaRPr lang="en-US" sz="1900" b="0" strike="noStrike" spc="-1">
              <a:solidFill>
                <a:srgbClr val="000000"/>
              </a:solidFill>
              <a:latin typeface="Arial"/>
            </a:endParaRPr>
          </a:p>
        </p:txBody>
      </p:sp>
      <p:sp>
        <p:nvSpPr>
          <p:cNvPr id="60" name="Text 5"/>
          <p:cNvSpPr/>
          <p:nvPr/>
        </p:nvSpPr>
        <p:spPr>
          <a:xfrm>
            <a:off x="863640" y="4165200"/>
            <a:ext cx="634320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Robot Proses Avtomatlaşdırmasının əsas prinsiplərini, üstünlüklərini və klassik istifadə hallarını öyrənmək.</a:t>
            </a:r>
            <a:endParaRPr lang="en-US" sz="1700" b="0" strike="noStrike" spc="-1">
              <a:solidFill>
                <a:srgbClr val="000000"/>
              </a:solidFill>
              <a:latin typeface="Arial"/>
            </a:endParaRPr>
          </a:p>
        </p:txBody>
      </p:sp>
      <p:sp>
        <p:nvSpPr>
          <p:cNvPr id="61" name="Text 6"/>
          <p:cNvSpPr/>
          <p:nvPr/>
        </p:nvSpPr>
        <p:spPr>
          <a:xfrm>
            <a:off x="7423200" y="3223440"/>
            <a:ext cx="215640" cy="2696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551"/>
              </a:lnSpc>
              <a:tabLst>
                <a:tab pos="0" algn="l"/>
              </a:tabLst>
            </a:pPr>
            <a:r>
              <a:rPr lang="en-US" sz="1700" b="0" strike="noStrike" spc="-1">
                <a:solidFill>
                  <a:srgbClr val="E2E6E9"/>
                </a:solidFill>
                <a:latin typeface="Montserrat Light"/>
                <a:ea typeface="Montserrat Light"/>
              </a:rPr>
              <a:t>02</a:t>
            </a:r>
            <a:endParaRPr lang="en-US" sz="1700" b="0" strike="noStrike" spc="-1">
              <a:solidFill>
                <a:srgbClr val="000000"/>
              </a:solidFill>
              <a:latin typeface="Arial"/>
            </a:endParaRPr>
          </a:p>
        </p:txBody>
      </p:sp>
      <p:sp>
        <p:nvSpPr>
          <p:cNvPr id="62" name="Shape 7"/>
          <p:cNvSpPr/>
          <p:nvPr/>
        </p:nvSpPr>
        <p:spPr>
          <a:xfrm>
            <a:off x="7423200" y="3560040"/>
            <a:ext cx="6343200" cy="3024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14400" rIns="90000" bIns="-14400" anchor="t">
            <a:noAutofit/>
          </a:bodyPr>
          <a:lstStyle/>
          <a:p>
            <a:endParaRPr lang="en-US" sz="1800" b="0" strike="noStrike" spc="-1">
              <a:solidFill>
                <a:srgbClr val="000000"/>
              </a:solidFill>
              <a:latin typeface="Arial"/>
            </a:endParaRPr>
          </a:p>
        </p:txBody>
      </p:sp>
      <p:sp>
        <p:nvSpPr>
          <p:cNvPr id="63" name="Text 8"/>
          <p:cNvSpPr/>
          <p:nvPr/>
        </p:nvSpPr>
        <p:spPr>
          <a:xfrm>
            <a:off x="7423200" y="3728880"/>
            <a:ext cx="463320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Məhdudiyyətləri müəyyənləşdirmək</a:t>
            </a:r>
            <a:endParaRPr lang="en-US" sz="1900" b="0" strike="noStrike" spc="-1">
              <a:solidFill>
                <a:srgbClr val="000000"/>
              </a:solidFill>
              <a:latin typeface="Arial"/>
            </a:endParaRPr>
          </a:p>
        </p:txBody>
      </p:sp>
      <p:sp>
        <p:nvSpPr>
          <p:cNvPr id="64" name="Text 9"/>
          <p:cNvSpPr/>
          <p:nvPr/>
        </p:nvSpPr>
        <p:spPr>
          <a:xfrm>
            <a:off x="7423200" y="4165200"/>
            <a:ext cx="634320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Klassik RPA-nın harada dayandığını və niyə daha ağıllı həllərə ehtiyac olduğunu anlamaq.</a:t>
            </a:r>
            <a:endParaRPr lang="en-US" sz="1700" b="0" strike="noStrike" spc="-1">
              <a:solidFill>
                <a:srgbClr val="000000"/>
              </a:solidFill>
              <a:latin typeface="Arial"/>
            </a:endParaRPr>
          </a:p>
        </p:txBody>
      </p:sp>
      <p:sp>
        <p:nvSpPr>
          <p:cNvPr id="65" name="Text 10"/>
          <p:cNvSpPr/>
          <p:nvPr/>
        </p:nvSpPr>
        <p:spPr>
          <a:xfrm>
            <a:off x="863640" y="5190840"/>
            <a:ext cx="215640" cy="2696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551"/>
              </a:lnSpc>
              <a:tabLst>
                <a:tab pos="0" algn="l"/>
              </a:tabLst>
            </a:pPr>
            <a:r>
              <a:rPr lang="en-US" sz="1700" b="0" strike="noStrike" spc="-1">
                <a:solidFill>
                  <a:srgbClr val="E2E6E9"/>
                </a:solidFill>
                <a:latin typeface="Montserrat Light"/>
                <a:ea typeface="Montserrat Light"/>
              </a:rPr>
              <a:t>03</a:t>
            </a:r>
            <a:endParaRPr lang="en-US" sz="1700" b="0" strike="noStrike" spc="-1">
              <a:solidFill>
                <a:srgbClr val="000000"/>
              </a:solidFill>
              <a:latin typeface="Arial"/>
            </a:endParaRPr>
          </a:p>
        </p:txBody>
      </p:sp>
      <p:sp>
        <p:nvSpPr>
          <p:cNvPr id="66" name="Shape 11"/>
          <p:cNvSpPr/>
          <p:nvPr/>
        </p:nvSpPr>
        <p:spPr>
          <a:xfrm>
            <a:off x="863640" y="5527080"/>
            <a:ext cx="6343200" cy="3024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14400" rIns="90000" bIns="-14400" anchor="t">
            <a:noAutofit/>
          </a:bodyPr>
          <a:lstStyle/>
          <a:p>
            <a:endParaRPr lang="en-US" sz="1800" b="0" strike="noStrike" spc="-1">
              <a:solidFill>
                <a:srgbClr val="000000"/>
              </a:solidFill>
              <a:latin typeface="Arial"/>
            </a:endParaRPr>
          </a:p>
        </p:txBody>
      </p:sp>
      <p:sp>
        <p:nvSpPr>
          <p:cNvPr id="67" name="Text 12"/>
          <p:cNvSpPr/>
          <p:nvPr/>
        </p:nvSpPr>
        <p:spPr>
          <a:xfrm>
            <a:off x="863640" y="5695920"/>
            <a:ext cx="245376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IPA-ya keçid</a:t>
            </a:r>
            <a:endParaRPr lang="en-US" sz="1900" b="0" strike="noStrike" spc="-1">
              <a:solidFill>
                <a:srgbClr val="000000"/>
              </a:solidFill>
              <a:latin typeface="Arial"/>
            </a:endParaRPr>
          </a:p>
        </p:txBody>
      </p:sp>
      <p:sp>
        <p:nvSpPr>
          <p:cNvPr id="68" name="Text 13"/>
          <p:cNvSpPr/>
          <p:nvPr/>
        </p:nvSpPr>
        <p:spPr>
          <a:xfrm>
            <a:off x="863640" y="6132240"/>
            <a:ext cx="634320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Süni intellekt texnologiyalarının RPA ilə necə birləşərək Ağıllı Proses Avtomatlaşdırmasını yaratdığını kəşf etmək.</a:t>
            </a:r>
            <a:endParaRPr lang="en-US" sz="1700" b="0" strike="noStrike" spc="-1">
              <a:solidFill>
                <a:srgbClr val="000000"/>
              </a:solidFill>
              <a:latin typeface="Arial"/>
            </a:endParaRPr>
          </a:p>
        </p:txBody>
      </p:sp>
      <p:sp>
        <p:nvSpPr>
          <p:cNvPr id="69" name="Text 14"/>
          <p:cNvSpPr/>
          <p:nvPr/>
        </p:nvSpPr>
        <p:spPr>
          <a:xfrm>
            <a:off x="7423200" y="5190840"/>
            <a:ext cx="215640" cy="2696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551"/>
              </a:lnSpc>
              <a:tabLst>
                <a:tab pos="0" algn="l"/>
              </a:tabLst>
            </a:pPr>
            <a:r>
              <a:rPr lang="en-US" sz="1700" b="0" strike="noStrike" spc="-1">
                <a:solidFill>
                  <a:srgbClr val="E2E6E9"/>
                </a:solidFill>
                <a:latin typeface="Montserrat Light"/>
                <a:ea typeface="Montserrat Light"/>
              </a:rPr>
              <a:t>04</a:t>
            </a:r>
            <a:endParaRPr lang="en-US" sz="1700" b="0" strike="noStrike" spc="-1">
              <a:solidFill>
                <a:srgbClr val="000000"/>
              </a:solidFill>
              <a:latin typeface="Arial"/>
            </a:endParaRPr>
          </a:p>
        </p:txBody>
      </p:sp>
      <p:sp>
        <p:nvSpPr>
          <p:cNvPr id="70" name="Shape 15"/>
          <p:cNvSpPr/>
          <p:nvPr/>
        </p:nvSpPr>
        <p:spPr>
          <a:xfrm>
            <a:off x="7423200" y="5527080"/>
            <a:ext cx="6343200" cy="3024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14400" rIns="90000" bIns="-14400" anchor="t">
            <a:noAutofit/>
          </a:bodyPr>
          <a:lstStyle/>
          <a:p>
            <a:endParaRPr lang="en-US" sz="1800" b="0" strike="noStrike" spc="-1">
              <a:solidFill>
                <a:srgbClr val="000000"/>
              </a:solidFill>
              <a:latin typeface="Arial"/>
            </a:endParaRPr>
          </a:p>
        </p:txBody>
      </p:sp>
      <p:sp>
        <p:nvSpPr>
          <p:cNvPr id="71" name="Text 16"/>
          <p:cNvSpPr/>
          <p:nvPr/>
        </p:nvSpPr>
        <p:spPr>
          <a:xfrm>
            <a:off x="7423200" y="5695920"/>
            <a:ext cx="245376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Praktiki tətbiq</a:t>
            </a:r>
            <a:endParaRPr lang="en-US" sz="1900" b="0" strike="noStrike" spc="-1">
              <a:solidFill>
                <a:srgbClr val="000000"/>
              </a:solidFill>
              <a:latin typeface="Arial"/>
            </a:endParaRPr>
          </a:p>
        </p:txBody>
      </p:sp>
      <p:sp>
        <p:nvSpPr>
          <p:cNvPr id="72" name="Text 17"/>
          <p:cNvSpPr/>
          <p:nvPr/>
        </p:nvSpPr>
        <p:spPr>
          <a:xfrm>
            <a:off x="7423200" y="6132240"/>
            <a:ext cx="634320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Real iş ssenarilərini təhlil etmək, ROI hesablamaq və öz prosesinizi avtomatlaşdırmaq üçün addımlar atmaq.</a:t>
            </a:r>
            <a:endParaRPr lang="en-US" sz="1700" b="0" strike="noStrike" spc="-1">
              <a:solidFill>
                <a:srgbClr val="000000"/>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3" name="Image 0" descr="preencoded.png"/>
          <p:cNvPicPr/>
          <p:nvPr/>
        </p:nvPicPr>
        <p:blipFill>
          <a:blip r:embed="rId3"/>
          <a:stretch/>
        </p:blipFill>
        <p:spPr>
          <a:xfrm>
            <a:off x="9144000" y="0"/>
            <a:ext cx="5486040" cy="8229240"/>
          </a:xfrm>
          <a:prstGeom prst="rect">
            <a:avLst/>
          </a:prstGeom>
          <a:ln w="0">
            <a:noFill/>
          </a:ln>
        </p:spPr>
      </p:pic>
      <p:sp>
        <p:nvSpPr>
          <p:cNvPr id="74" name="Text 0"/>
          <p:cNvSpPr/>
          <p:nvPr/>
        </p:nvSpPr>
        <p:spPr>
          <a:xfrm>
            <a:off x="863640" y="775440"/>
            <a:ext cx="4908240" cy="613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4799"/>
              </a:lnSpc>
              <a:tabLst>
                <a:tab pos="0" algn="l"/>
              </a:tabLst>
            </a:pPr>
            <a:r>
              <a:rPr lang="en-US" sz="3850" b="1" strike="noStrike" spc="-1">
                <a:solidFill>
                  <a:srgbClr val="FFFFFF"/>
                </a:solidFill>
                <a:latin typeface="Montserrat Bold"/>
                <a:ea typeface="Montserrat Bold"/>
              </a:rPr>
              <a:t>RPA Nədir?</a:t>
            </a:r>
            <a:endParaRPr lang="en-US" sz="3850" b="0" strike="noStrike" spc="-1">
              <a:solidFill>
                <a:srgbClr val="000000"/>
              </a:solidFill>
              <a:latin typeface="Arial"/>
            </a:endParaRPr>
          </a:p>
        </p:txBody>
      </p:sp>
      <p:sp>
        <p:nvSpPr>
          <p:cNvPr id="75" name="Text 1"/>
          <p:cNvSpPr/>
          <p:nvPr/>
        </p:nvSpPr>
        <p:spPr>
          <a:xfrm>
            <a:off x="863640" y="1424880"/>
            <a:ext cx="7416000" cy="129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1" strike="noStrike" spc="-1">
                <a:solidFill>
                  <a:srgbClr val="E2E6E9"/>
                </a:solidFill>
                <a:latin typeface="Source Sans 3"/>
                <a:ea typeface="Source Sans 3"/>
              </a:rPr>
              <a:t>Robot Proses Avtomatlaşdırması (RPA)</a:t>
            </a:r>
            <a:r>
              <a:rPr lang="en-US" sz="1700" b="0" strike="noStrike" spc="-1">
                <a:solidFill>
                  <a:srgbClr val="E2E6E9"/>
                </a:solidFill>
                <a:latin typeface="Source Sans 3"/>
                <a:ea typeface="Source Sans 3"/>
              </a:rPr>
              <a:t> — proqram təminatı "botları" vasitəsilə insan hərəkətlərini kompüter interfeyslərində dəqiq şəkildə təqlid edən texnologiyadır. Bot sizin əvəzinizə məlumat daxil edir, kopyalayır, yapışdırır, elektron poçt göndərir və sistemlər arasında məlumat ötürür.</a:t>
            </a:r>
            <a:endParaRPr lang="en-US" sz="1700" b="0" strike="noStrike" spc="-1">
              <a:solidFill>
                <a:srgbClr val="000000"/>
              </a:solidFill>
              <a:latin typeface="Arial"/>
            </a:endParaRPr>
          </a:p>
        </p:txBody>
      </p:sp>
      <p:sp>
        <p:nvSpPr>
          <p:cNvPr id="76" name="Shape 2"/>
          <p:cNvSpPr/>
          <p:nvPr/>
        </p:nvSpPr>
        <p:spPr>
          <a:xfrm>
            <a:off x="863640" y="3251880"/>
            <a:ext cx="3600000" cy="2470320"/>
          </a:xfrm>
          <a:prstGeom prst="roundRect">
            <a:avLst>
              <a:gd name="adj" fmla="val 1311"/>
            </a:avLst>
          </a:prstGeom>
          <a:solidFill>
            <a:srgbClr val="30313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77" name="Text 3"/>
          <p:cNvSpPr/>
          <p:nvPr/>
        </p:nvSpPr>
        <p:spPr>
          <a:xfrm>
            <a:off x="1079640" y="3467520"/>
            <a:ext cx="245376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000000"/>
                </a:solidFill>
                <a:latin typeface="Montserrat Bold"/>
                <a:ea typeface="Montserrat Bold"/>
              </a:rPr>
              <a:t>📋</a:t>
            </a:r>
            <a:r>
              <a:rPr lang="en-US" sz="1900" b="1" strike="noStrike" spc="-1">
                <a:solidFill>
                  <a:srgbClr val="E2E6E9"/>
                </a:solidFill>
                <a:latin typeface="Montserrat Bold"/>
                <a:ea typeface="Montserrat Bold"/>
              </a:rPr>
              <a:t> Qaydalara əsaslı</a:t>
            </a:r>
            <a:endParaRPr lang="en-US" sz="1900" b="0" strike="noStrike" spc="-1">
              <a:solidFill>
                <a:srgbClr val="000000"/>
              </a:solidFill>
              <a:latin typeface="Arial"/>
            </a:endParaRPr>
          </a:p>
        </p:txBody>
      </p:sp>
      <p:sp>
        <p:nvSpPr>
          <p:cNvPr id="78" name="Text 4"/>
          <p:cNvSpPr/>
          <p:nvPr/>
        </p:nvSpPr>
        <p:spPr>
          <a:xfrm>
            <a:off x="1079640" y="3903840"/>
            <a:ext cx="3168000" cy="129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Bot yalnız əvvəlcədən təyin edilmiş, aydın qaydalara uyğun işləyir. Hər addım dəqiq proqramlaşdırılmışdır.</a:t>
            </a:r>
            <a:endParaRPr lang="en-US" sz="1700" b="0" strike="noStrike" spc="-1">
              <a:solidFill>
                <a:srgbClr val="000000"/>
              </a:solidFill>
              <a:latin typeface="Arial"/>
            </a:endParaRPr>
          </a:p>
        </p:txBody>
      </p:sp>
      <p:sp>
        <p:nvSpPr>
          <p:cNvPr id="79" name="Shape 5"/>
          <p:cNvSpPr/>
          <p:nvPr/>
        </p:nvSpPr>
        <p:spPr>
          <a:xfrm>
            <a:off x="4680000" y="3251880"/>
            <a:ext cx="3600000" cy="2470320"/>
          </a:xfrm>
          <a:prstGeom prst="roundRect">
            <a:avLst>
              <a:gd name="adj" fmla="val 1311"/>
            </a:avLst>
          </a:prstGeom>
          <a:solidFill>
            <a:srgbClr val="30313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80" name="Text 6"/>
          <p:cNvSpPr/>
          <p:nvPr/>
        </p:nvSpPr>
        <p:spPr>
          <a:xfrm>
            <a:off x="4895640" y="3467520"/>
            <a:ext cx="3168360" cy="613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401"/>
              </a:lnSpc>
              <a:tabLst>
                <a:tab pos="0" algn="l"/>
              </a:tabLst>
            </a:pPr>
            <a:r>
              <a:rPr lang="en-US" sz="1900" b="1" strike="noStrike" spc="-1">
                <a:solidFill>
                  <a:srgbClr val="000000"/>
                </a:solidFill>
                <a:latin typeface="Montserrat Bold"/>
                <a:ea typeface="Montserrat Bold"/>
              </a:rPr>
              <a:t>🖥️</a:t>
            </a:r>
            <a:r>
              <a:rPr lang="en-US" sz="1900" b="1" strike="noStrike" spc="-1">
                <a:solidFill>
                  <a:srgbClr val="E2E6E9"/>
                </a:solidFill>
                <a:latin typeface="Montserrat Bold"/>
                <a:ea typeface="Montserrat Bold"/>
              </a:rPr>
              <a:t> İnterfeys səviyyəsində</a:t>
            </a:r>
            <a:endParaRPr lang="en-US" sz="1900" b="0" strike="noStrike" spc="-1">
              <a:solidFill>
                <a:srgbClr val="000000"/>
              </a:solidFill>
              <a:latin typeface="Arial"/>
            </a:endParaRPr>
          </a:p>
        </p:txBody>
      </p:sp>
      <p:sp>
        <p:nvSpPr>
          <p:cNvPr id="81" name="Text 7"/>
          <p:cNvSpPr/>
          <p:nvPr/>
        </p:nvSpPr>
        <p:spPr>
          <a:xfrm>
            <a:off x="4895640" y="4210560"/>
            <a:ext cx="3168360" cy="129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Proqramların daxilinə müdaxilə etmədən, ekrandakı elementləri "görərək" hərəkət edir — insan kimi.</a:t>
            </a:r>
            <a:endParaRPr lang="en-US" sz="1700" b="0" strike="noStrike" spc="-1">
              <a:solidFill>
                <a:srgbClr val="000000"/>
              </a:solidFill>
              <a:latin typeface="Arial"/>
            </a:endParaRPr>
          </a:p>
        </p:txBody>
      </p:sp>
      <p:sp>
        <p:nvSpPr>
          <p:cNvPr id="82" name="Shape 8"/>
          <p:cNvSpPr/>
          <p:nvPr/>
        </p:nvSpPr>
        <p:spPr>
          <a:xfrm>
            <a:off x="863640" y="5938200"/>
            <a:ext cx="7416000" cy="1515600"/>
          </a:xfrm>
          <a:prstGeom prst="roundRect">
            <a:avLst>
              <a:gd name="adj" fmla="val 2137"/>
            </a:avLst>
          </a:prstGeom>
          <a:solidFill>
            <a:srgbClr val="30313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83" name="Text 9"/>
          <p:cNvSpPr/>
          <p:nvPr/>
        </p:nvSpPr>
        <p:spPr>
          <a:xfrm>
            <a:off x="1079640" y="6153840"/>
            <a:ext cx="245376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000000"/>
                </a:solidFill>
                <a:latin typeface="Montserrat Bold"/>
                <a:ea typeface="Montserrat Bold"/>
              </a:rPr>
              <a:t>⚡</a:t>
            </a:r>
            <a:r>
              <a:rPr lang="en-US" sz="1900" b="1" strike="noStrike" spc="-1">
                <a:solidFill>
                  <a:srgbClr val="E2E6E9"/>
                </a:solidFill>
                <a:latin typeface="Montserrat Bold"/>
                <a:ea typeface="Montserrat Bold"/>
              </a:rPr>
              <a:t> Sürətli icra</a:t>
            </a:r>
            <a:endParaRPr lang="en-US" sz="1900" b="0" strike="noStrike" spc="-1">
              <a:solidFill>
                <a:srgbClr val="000000"/>
              </a:solidFill>
              <a:latin typeface="Arial"/>
            </a:endParaRPr>
          </a:p>
        </p:txBody>
      </p:sp>
      <p:sp>
        <p:nvSpPr>
          <p:cNvPr id="84" name="Text 10"/>
          <p:cNvSpPr/>
          <p:nvPr/>
        </p:nvSpPr>
        <p:spPr>
          <a:xfrm>
            <a:off x="1079640" y="6590160"/>
            <a:ext cx="698436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Eyni tapşırığı gecə-gündüz, fasiləsiz, səhvsiz şəkildə yerinə yetirir — insan sürətindən dəfələrlə sürətli.</a:t>
            </a:r>
            <a:endParaRPr lang="en-US" sz="1700" b="0" strike="noStrike" spc="-1">
              <a:solidFill>
                <a:srgbClr val="000000"/>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Text 0"/>
          <p:cNvSpPr/>
          <p:nvPr/>
        </p:nvSpPr>
        <p:spPr>
          <a:xfrm>
            <a:off x="863640" y="1557000"/>
            <a:ext cx="8353800" cy="613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4799"/>
              </a:lnSpc>
              <a:tabLst>
                <a:tab pos="0" algn="l"/>
              </a:tabLst>
            </a:pPr>
            <a:r>
              <a:rPr lang="en-US" sz="3850" b="1" strike="noStrike" spc="-1">
                <a:solidFill>
                  <a:srgbClr val="FFFFFF"/>
                </a:solidFill>
                <a:latin typeface="Montserrat Bold"/>
                <a:ea typeface="Montserrat Bold"/>
              </a:rPr>
              <a:t>Klassik RPA-nın Məhdudiyyətləri</a:t>
            </a:r>
            <a:endParaRPr lang="en-US" sz="3850" b="0" strike="noStrike" spc="-1">
              <a:solidFill>
                <a:srgbClr val="000000"/>
              </a:solidFill>
              <a:latin typeface="Arial"/>
            </a:endParaRPr>
          </a:p>
        </p:txBody>
      </p:sp>
      <p:sp>
        <p:nvSpPr>
          <p:cNvPr id="86" name="Text 1"/>
          <p:cNvSpPr/>
          <p:nvPr/>
        </p:nvSpPr>
        <p:spPr>
          <a:xfrm>
            <a:off x="863640" y="2602440"/>
            <a:ext cx="1290240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RPA güclü bir alətdir, lakin hər problemin həlli deyil. Qurulmamış məlumatlarla üzləşdikdə və ya gözlənilməz vəziyyətlər yarandıqda klassik RPA botları çaşıb qalır. Bu məhdudiyyətlər bizə daha ağıllı bir həllə — IPA-ya doğru baxmağı məcbur edir.</a:t>
            </a:r>
            <a:endParaRPr lang="en-US" sz="1700" b="0" strike="noStrike" spc="-1">
              <a:solidFill>
                <a:srgbClr val="000000"/>
              </a:solidFill>
              <a:latin typeface="Arial"/>
            </a:endParaRPr>
          </a:p>
        </p:txBody>
      </p:sp>
      <p:sp>
        <p:nvSpPr>
          <p:cNvPr id="87" name="Shape 2"/>
          <p:cNvSpPr/>
          <p:nvPr/>
        </p:nvSpPr>
        <p:spPr>
          <a:xfrm>
            <a:off x="863640" y="3493080"/>
            <a:ext cx="4156560" cy="3179160"/>
          </a:xfrm>
          <a:prstGeom prst="roundRect">
            <a:avLst>
              <a:gd name="adj" fmla="val 4602"/>
            </a:avLst>
          </a:prstGeom>
          <a:solidFill>
            <a:srgbClr val="111213"/>
          </a:solidFill>
          <a:ln w="30480">
            <a:solidFill>
              <a:srgbClr val="494A4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88" name="Shape 3"/>
          <p:cNvSpPr/>
          <p:nvPr/>
        </p:nvSpPr>
        <p:spPr>
          <a:xfrm>
            <a:off x="833400" y="3493080"/>
            <a:ext cx="121680" cy="3179160"/>
          </a:xfrm>
          <a:prstGeom prst="roundRect">
            <a:avLst>
              <a:gd name="adj" fmla="val 26572"/>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89" name="Text 4"/>
          <p:cNvSpPr/>
          <p:nvPr/>
        </p:nvSpPr>
        <p:spPr>
          <a:xfrm>
            <a:off x="1201680" y="3703680"/>
            <a:ext cx="3572640" cy="613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401"/>
              </a:lnSpc>
              <a:tabLst>
                <a:tab pos="0" algn="l"/>
              </a:tabLst>
            </a:pPr>
            <a:r>
              <a:rPr lang="en-US" sz="1900" b="1" strike="noStrike" spc="-1">
                <a:solidFill>
                  <a:srgbClr val="000000"/>
                </a:solidFill>
                <a:latin typeface="Montserrat Bold"/>
                <a:ea typeface="Montserrat Bold"/>
              </a:rPr>
              <a:t>📄</a:t>
            </a:r>
            <a:r>
              <a:rPr lang="en-US" sz="1900" b="1" strike="noStrike" spc="-1">
                <a:solidFill>
                  <a:srgbClr val="E2E6E9"/>
                </a:solidFill>
                <a:latin typeface="Montserrat Bold"/>
                <a:ea typeface="Montserrat Bold"/>
              </a:rPr>
              <a:t> Qurulmamış məlumatlarla işləyə bilmir</a:t>
            </a:r>
            <a:endParaRPr lang="en-US" sz="1900" b="0" strike="noStrike" spc="-1">
              <a:solidFill>
                <a:srgbClr val="000000"/>
              </a:solidFill>
              <a:latin typeface="Arial"/>
            </a:endParaRPr>
          </a:p>
        </p:txBody>
      </p:sp>
      <p:sp>
        <p:nvSpPr>
          <p:cNvPr id="90" name="Text 5"/>
          <p:cNvSpPr/>
          <p:nvPr/>
        </p:nvSpPr>
        <p:spPr>
          <a:xfrm>
            <a:off x="1201680" y="4338360"/>
            <a:ext cx="3572640" cy="1943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Elektron məktublar, PDF sənədlər, skanlanan formalar, əl yazısı — bunlar standart RPA üçün "görünməz"dir. Bot yalnız strukturlaşdırılmış, proqnozlaşdırılan məlumatları emal edə bilər.</a:t>
            </a:r>
            <a:endParaRPr lang="en-US" sz="1700" b="0" strike="noStrike" spc="-1">
              <a:solidFill>
                <a:srgbClr val="000000"/>
              </a:solidFill>
              <a:latin typeface="Arial"/>
            </a:endParaRPr>
          </a:p>
        </p:txBody>
      </p:sp>
      <p:sp>
        <p:nvSpPr>
          <p:cNvPr id="91" name="Shape 6"/>
          <p:cNvSpPr/>
          <p:nvPr/>
        </p:nvSpPr>
        <p:spPr>
          <a:xfrm>
            <a:off x="5236560" y="3493080"/>
            <a:ext cx="4156560" cy="3179160"/>
          </a:xfrm>
          <a:prstGeom prst="roundRect">
            <a:avLst>
              <a:gd name="adj" fmla="val 4602"/>
            </a:avLst>
          </a:prstGeom>
          <a:solidFill>
            <a:srgbClr val="111213"/>
          </a:solidFill>
          <a:ln w="30480">
            <a:solidFill>
              <a:srgbClr val="494A4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2" name="Shape 7"/>
          <p:cNvSpPr/>
          <p:nvPr/>
        </p:nvSpPr>
        <p:spPr>
          <a:xfrm>
            <a:off x="5205960" y="3493080"/>
            <a:ext cx="121680" cy="3179160"/>
          </a:xfrm>
          <a:prstGeom prst="roundRect">
            <a:avLst>
              <a:gd name="adj" fmla="val 26572"/>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93" name="Text 8"/>
          <p:cNvSpPr/>
          <p:nvPr/>
        </p:nvSpPr>
        <p:spPr>
          <a:xfrm>
            <a:off x="5574240" y="3739680"/>
            <a:ext cx="3572640" cy="613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401"/>
              </a:lnSpc>
              <a:tabLst>
                <a:tab pos="0" algn="l"/>
              </a:tabLst>
            </a:pPr>
            <a:r>
              <a:rPr lang="en-US" sz="1900" b="1" strike="noStrike" spc="-1">
                <a:solidFill>
                  <a:srgbClr val="000000"/>
                </a:solidFill>
                <a:latin typeface="Montserrat Bold"/>
                <a:ea typeface="Montserrat Bold"/>
              </a:rPr>
              <a:t>🚫</a:t>
            </a:r>
            <a:r>
              <a:rPr lang="en-US" sz="1900" b="1" strike="noStrike" spc="-1">
                <a:solidFill>
                  <a:srgbClr val="E2E6E9"/>
                </a:solidFill>
                <a:latin typeface="Montserrat Bold"/>
                <a:ea typeface="Montserrat Bold"/>
              </a:rPr>
              <a:t> Müstəqil qərar qəbul edə bilmir</a:t>
            </a:r>
            <a:endParaRPr lang="en-US" sz="1900" b="0" strike="noStrike" spc="-1">
              <a:solidFill>
                <a:srgbClr val="000000"/>
              </a:solidFill>
              <a:latin typeface="Arial"/>
            </a:endParaRPr>
          </a:p>
        </p:txBody>
      </p:sp>
      <p:sp>
        <p:nvSpPr>
          <p:cNvPr id="94" name="Text 9"/>
          <p:cNvSpPr/>
          <p:nvPr/>
        </p:nvSpPr>
        <p:spPr>
          <a:xfrm>
            <a:off x="5574240" y="4482360"/>
            <a:ext cx="3572640" cy="161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Qaydaların xaricindəki hər hansı vəziyyət botu dayandırır. İstisna hallar, anormal məlumatlar və ya qeyri-standart ssenarilər üçün mütləq insan müdaxiləsi tələb olunur.</a:t>
            </a:r>
            <a:endParaRPr lang="en-US" sz="1700" b="0" strike="noStrike" spc="-1">
              <a:solidFill>
                <a:srgbClr val="000000"/>
              </a:solidFill>
              <a:latin typeface="Arial"/>
            </a:endParaRPr>
          </a:p>
        </p:txBody>
      </p:sp>
      <p:sp>
        <p:nvSpPr>
          <p:cNvPr id="95" name="Shape 10"/>
          <p:cNvSpPr/>
          <p:nvPr/>
        </p:nvSpPr>
        <p:spPr>
          <a:xfrm>
            <a:off x="9609480" y="3493080"/>
            <a:ext cx="4156560" cy="3179160"/>
          </a:xfrm>
          <a:prstGeom prst="roundRect">
            <a:avLst>
              <a:gd name="adj" fmla="val 4602"/>
            </a:avLst>
          </a:prstGeom>
          <a:solidFill>
            <a:srgbClr val="111213"/>
          </a:solidFill>
          <a:ln w="30480">
            <a:solidFill>
              <a:srgbClr val="494A4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6" name="Shape 11"/>
          <p:cNvSpPr/>
          <p:nvPr/>
        </p:nvSpPr>
        <p:spPr>
          <a:xfrm>
            <a:off x="9578880" y="3493080"/>
            <a:ext cx="121680" cy="3179160"/>
          </a:xfrm>
          <a:prstGeom prst="roundRect">
            <a:avLst>
              <a:gd name="adj" fmla="val 26572"/>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97" name="Text 12"/>
          <p:cNvSpPr/>
          <p:nvPr/>
        </p:nvSpPr>
        <p:spPr>
          <a:xfrm>
            <a:off x="9947160" y="3739680"/>
            <a:ext cx="3572640" cy="613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401"/>
              </a:lnSpc>
              <a:tabLst>
                <a:tab pos="0" algn="l"/>
              </a:tabLst>
            </a:pPr>
            <a:r>
              <a:rPr lang="en-US" sz="1900" b="1" strike="noStrike" spc="-1">
                <a:solidFill>
                  <a:srgbClr val="000000"/>
                </a:solidFill>
                <a:latin typeface="Montserrat Bold"/>
                <a:ea typeface="Montserrat Bold"/>
              </a:rPr>
              <a:t>🔧</a:t>
            </a:r>
            <a:r>
              <a:rPr lang="en-US" sz="1900" b="1" strike="noStrike" spc="-1">
                <a:solidFill>
                  <a:srgbClr val="E2E6E9"/>
                </a:solidFill>
                <a:latin typeface="Montserrat Bold"/>
                <a:ea typeface="Montserrat Bold"/>
              </a:rPr>
              <a:t> İnterfeys dəyişikliyinə həssasdır</a:t>
            </a:r>
            <a:endParaRPr lang="en-US" sz="1900" b="0" strike="noStrike" spc="-1">
              <a:solidFill>
                <a:srgbClr val="000000"/>
              </a:solidFill>
              <a:latin typeface="Arial"/>
            </a:endParaRPr>
          </a:p>
        </p:txBody>
      </p:sp>
      <p:sp>
        <p:nvSpPr>
          <p:cNvPr id="98" name="Text 13"/>
          <p:cNvSpPr/>
          <p:nvPr/>
        </p:nvSpPr>
        <p:spPr>
          <a:xfrm>
            <a:off x="9947160" y="4482360"/>
            <a:ext cx="3572640" cy="129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Tətbiqin ekranında kiçik bir dəyişiklik — bir düymənin yerinin dəyişdirilməsi belə — botu tamamilə sıradan çıxara bilər. Saxlama xərcləri yüksəkdir.</a:t>
            </a:r>
            <a:endParaRPr lang="en-US" sz="1700" b="0" strike="noStrike" spc="-1">
              <a:solidFill>
                <a:srgbClr val="000000"/>
              </a:solidFill>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9" name="Image 0" descr="preencoded.png"/>
          <p:cNvPicPr/>
          <p:nvPr/>
        </p:nvPicPr>
        <p:blipFill>
          <a:blip r:embed="rId3"/>
          <a:stretch/>
        </p:blipFill>
        <p:spPr>
          <a:xfrm>
            <a:off x="0" y="0"/>
            <a:ext cx="5486040" cy="8229240"/>
          </a:xfrm>
          <a:prstGeom prst="rect">
            <a:avLst/>
          </a:prstGeom>
          <a:ln w="0">
            <a:noFill/>
          </a:ln>
        </p:spPr>
      </p:pic>
      <p:sp>
        <p:nvSpPr>
          <p:cNvPr id="100" name="Text 0"/>
          <p:cNvSpPr/>
          <p:nvPr/>
        </p:nvSpPr>
        <p:spPr>
          <a:xfrm>
            <a:off x="6309720" y="783720"/>
            <a:ext cx="7496640" cy="1169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4601"/>
              </a:lnSpc>
              <a:tabLst>
                <a:tab pos="0" algn="l"/>
              </a:tabLst>
            </a:pPr>
            <a:r>
              <a:rPr lang="en-US" sz="3650" b="1" strike="noStrike" spc="-1">
                <a:solidFill>
                  <a:srgbClr val="FFFFFF"/>
                </a:solidFill>
                <a:latin typeface="Montserrat Bold"/>
                <a:ea typeface="Montserrat Bold"/>
              </a:rPr>
              <a:t>Ağıllı Proses Avtomatlaşdırması (IPA)</a:t>
            </a:r>
            <a:endParaRPr lang="en-US" sz="3650" b="0" strike="noStrike" spc="-1">
              <a:solidFill>
                <a:srgbClr val="000000"/>
              </a:solidFill>
              <a:latin typeface="Arial"/>
            </a:endParaRPr>
          </a:p>
        </p:txBody>
      </p:sp>
      <p:sp>
        <p:nvSpPr>
          <p:cNvPr id="101" name="Text 1"/>
          <p:cNvSpPr/>
          <p:nvPr/>
        </p:nvSpPr>
        <p:spPr>
          <a:xfrm>
            <a:off x="6309720" y="2247480"/>
            <a:ext cx="7496640" cy="1613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6350"/>
              </a:lnSpc>
              <a:tabLst>
                <a:tab pos="0" algn="l"/>
              </a:tabLst>
            </a:pPr>
            <a:r>
              <a:rPr lang="en-US" sz="5050" b="1" strike="noStrike" spc="-1">
                <a:solidFill>
                  <a:srgbClr val="FFFFFF"/>
                </a:solidFill>
                <a:latin typeface="Montserrat Bold"/>
                <a:ea typeface="Montserrat Bold"/>
              </a:rPr>
              <a:t>RPA + Süni İntellekt = IPA</a:t>
            </a:r>
            <a:endParaRPr lang="en-US" sz="5050" b="0" strike="noStrike" spc="-1">
              <a:solidFill>
                <a:srgbClr val="000000"/>
              </a:solidFill>
              <a:latin typeface="Arial"/>
            </a:endParaRPr>
          </a:p>
        </p:txBody>
      </p:sp>
      <p:sp>
        <p:nvSpPr>
          <p:cNvPr id="102" name="Text 2"/>
          <p:cNvSpPr/>
          <p:nvPr/>
        </p:nvSpPr>
        <p:spPr>
          <a:xfrm>
            <a:off x="6309720" y="4155840"/>
            <a:ext cx="7496640" cy="90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350"/>
              </a:lnSpc>
              <a:tabLst>
                <a:tab pos="0" algn="l"/>
              </a:tabLst>
            </a:pPr>
            <a:r>
              <a:rPr lang="en-US" sz="1600" b="0" strike="noStrike" spc="-1">
                <a:solidFill>
                  <a:srgbClr val="E2E6E9"/>
                </a:solidFill>
                <a:latin typeface="Source Sans 3"/>
                <a:ea typeface="Source Sans 3"/>
              </a:rPr>
              <a:t>IPA, klassik RPA-nın icra gücünü süni intellektin anlama qabiliyyəti ilə birləşdirir. Nəticədə ortaya çıxan bot artıq yalnız göstərişləri icra etmir — </a:t>
            </a:r>
            <a:r>
              <a:rPr lang="en-US" sz="1600" b="1" strike="noStrike" spc="-1">
                <a:solidFill>
                  <a:srgbClr val="E2E6E9"/>
                </a:solidFill>
                <a:latin typeface="Source Sans 3"/>
                <a:ea typeface="Source Sans 3"/>
              </a:rPr>
              <a:t>məzmunu başa düşür, qərar qəbul edir və zamanla öyrənir</a:t>
            </a:r>
            <a:r>
              <a:rPr lang="en-US" sz="1600" b="0" strike="noStrike" spc="-1">
                <a:solidFill>
                  <a:srgbClr val="E2E6E9"/>
                </a:solidFill>
                <a:latin typeface="Source Sans 3"/>
                <a:ea typeface="Source Sans 3"/>
              </a:rPr>
              <a:t>.</a:t>
            </a:r>
            <a:endParaRPr lang="en-US" sz="1600" b="0" strike="noStrike" spc="-1">
              <a:solidFill>
                <a:srgbClr val="000000"/>
              </a:solidFill>
              <a:latin typeface="Arial"/>
            </a:endParaRPr>
          </a:p>
        </p:txBody>
      </p:sp>
      <p:sp>
        <p:nvSpPr>
          <p:cNvPr id="103" name="Shape 3"/>
          <p:cNvSpPr/>
          <p:nvPr/>
        </p:nvSpPr>
        <p:spPr>
          <a:xfrm>
            <a:off x="6161760" y="5280840"/>
            <a:ext cx="3793680" cy="2262960"/>
          </a:xfrm>
          <a:prstGeom prst="roundRect">
            <a:avLst>
              <a:gd name="adj" fmla="val 1426"/>
            </a:avLst>
          </a:prstGeom>
          <a:solidFill>
            <a:srgbClr val="1D1F2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04" name="Text 4"/>
          <p:cNvSpPr/>
          <p:nvPr/>
        </p:nvSpPr>
        <p:spPr>
          <a:xfrm>
            <a:off x="6367320" y="5477400"/>
            <a:ext cx="2338920" cy="2919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299"/>
              </a:lnSpc>
              <a:tabLst>
                <a:tab pos="0" algn="l"/>
              </a:tabLst>
            </a:pPr>
            <a:r>
              <a:rPr lang="en-US" sz="1800" b="1" strike="noStrike" spc="-1">
                <a:solidFill>
                  <a:srgbClr val="FFFFFF"/>
                </a:solidFill>
                <a:latin typeface="Montserrat Bold"/>
                <a:ea typeface="Montserrat Bold"/>
              </a:rPr>
              <a:t>Klassik RPA botu</a:t>
            </a:r>
            <a:endParaRPr lang="en-US" sz="1800" b="0" strike="noStrike" spc="-1">
              <a:solidFill>
                <a:srgbClr val="000000"/>
              </a:solidFill>
              <a:latin typeface="Arial"/>
            </a:endParaRPr>
          </a:p>
        </p:txBody>
      </p:sp>
      <p:sp>
        <p:nvSpPr>
          <p:cNvPr id="105" name="Text 5"/>
          <p:cNvSpPr/>
          <p:nvPr/>
        </p:nvSpPr>
        <p:spPr>
          <a:xfrm>
            <a:off x="6367320" y="5965920"/>
            <a:ext cx="3381840" cy="1411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a:lnSpc>
                <a:spcPts val="2350"/>
              </a:lnSpc>
              <a:buClr>
                <a:srgbClr val="E2E6E9"/>
              </a:buClr>
              <a:buFont typeface="Symbol" charset="2"/>
              <a:buChar char=""/>
            </a:pPr>
            <a:r>
              <a:rPr lang="en-US" sz="1600" b="0" strike="noStrike" spc="-1">
                <a:solidFill>
                  <a:srgbClr val="E2E6E9"/>
                </a:solidFill>
                <a:latin typeface="Source Sans 3"/>
                <a:ea typeface="Source Sans 3"/>
              </a:rPr>
              <a:t>Yalnız strukturlaşdırılmış məlumat</a:t>
            </a:r>
            <a:endParaRPr lang="en-US" sz="1600" b="0" strike="noStrike" spc="-1">
              <a:solidFill>
                <a:srgbClr val="000000"/>
              </a:solidFill>
              <a:latin typeface="Arial"/>
            </a:endParaRPr>
          </a:p>
          <a:p>
            <a:pPr marL="343080" indent="-343080">
              <a:lnSpc>
                <a:spcPts val="2350"/>
              </a:lnSpc>
              <a:buClr>
                <a:srgbClr val="E2E6E9"/>
              </a:buClr>
              <a:buFont typeface="Symbol" charset="2"/>
              <a:buChar char=""/>
            </a:pPr>
            <a:r>
              <a:rPr lang="en-US" sz="1600" b="0" strike="noStrike" spc="-1">
                <a:solidFill>
                  <a:srgbClr val="E2E6E9"/>
                </a:solidFill>
                <a:latin typeface="Source Sans 3"/>
                <a:ea typeface="Source Sans 3"/>
              </a:rPr>
              <a:t>Sabit qaydalar çərçivəsində</a:t>
            </a:r>
            <a:endParaRPr lang="en-US" sz="1600" b="0" strike="noStrike" spc="-1">
              <a:solidFill>
                <a:srgbClr val="000000"/>
              </a:solidFill>
              <a:latin typeface="Arial"/>
            </a:endParaRPr>
          </a:p>
          <a:p>
            <a:pPr marL="343080" indent="-343080">
              <a:lnSpc>
                <a:spcPts val="2350"/>
              </a:lnSpc>
              <a:buClr>
                <a:srgbClr val="E2E6E9"/>
              </a:buClr>
              <a:buFont typeface="Symbol" charset="2"/>
              <a:buChar char=""/>
            </a:pPr>
            <a:r>
              <a:rPr lang="en-US" sz="1600" b="0" strike="noStrike" spc="-1">
                <a:solidFill>
                  <a:srgbClr val="E2E6E9"/>
                </a:solidFill>
                <a:latin typeface="Source Sans 3"/>
                <a:ea typeface="Source Sans 3"/>
              </a:rPr>
              <a:t>Öyrənmir, dəyişmir</a:t>
            </a:r>
            <a:endParaRPr lang="en-US" sz="1600" b="0" strike="noStrike" spc="-1">
              <a:solidFill>
                <a:srgbClr val="000000"/>
              </a:solidFill>
              <a:latin typeface="Arial"/>
            </a:endParaRPr>
          </a:p>
          <a:p>
            <a:pPr marL="343080" indent="-343080">
              <a:lnSpc>
                <a:spcPts val="2350"/>
              </a:lnSpc>
              <a:buClr>
                <a:srgbClr val="E2E6E9"/>
              </a:buClr>
              <a:buFont typeface="Symbol" charset="2"/>
              <a:buChar char=""/>
            </a:pPr>
            <a:r>
              <a:rPr lang="en-US" sz="1600" b="0" strike="noStrike" spc="-1">
                <a:solidFill>
                  <a:srgbClr val="E2E6E9"/>
                </a:solidFill>
                <a:latin typeface="Source Sans 3"/>
                <a:ea typeface="Source Sans 3"/>
              </a:rPr>
              <a:t>İnsan nəzarəti tələb edir</a:t>
            </a:r>
            <a:endParaRPr lang="en-US" sz="1600" b="0" strike="noStrike" spc="-1">
              <a:solidFill>
                <a:srgbClr val="000000"/>
              </a:solidFill>
              <a:latin typeface="Arial"/>
            </a:endParaRPr>
          </a:p>
        </p:txBody>
      </p:sp>
      <p:sp>
        <p:nvSpPr>
          <p:cNvPr id="106" name="Text 6"/>
          <p:cNvSpPr/>
          <p:nvPr/>
        </p:nvSpPr>
        <p:spPr>
          <a:xfrm>
            <a:off x="10317240" y="5477400"/>
            <a:ext cx="2338920" cy="2919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299"/>
              </a:lnSpc>
              <a:tabLst>
                <a:tab pos="0" algn="l"/>
              </a:tabLst>
            </a:pPr>
            <a:r>
              <a:rPr lang="en-US" sz="1800" b="1" strike="noStrike" spc="-1">
                <a:solidFill>
                  <a:srgbClr val="FFFFFF"/>
                </a:solidFill>
                <a:latin typeface="Montserrat Bold"/>
                <a:ea typeface="Montserrat Bold"/>
              </a:rPr>
              <a:t>IPA — Ağıllı Bot</a:t>
            </a:r>
            <a:endParaRPr lang="en-US" sz="1800" b="0" strike="noStrike" spc="-1">
              <a:solidFill>
                <a:srgbClr val="000000"/>
              </a:solidFill>
              <a:latin typeface="Arial"/>
            </a:endParaRPr>
          </a:p>
        </p:txBody>
      </p:sp>
      <p:sp>
        <p:nvSpPr>
          <p:cNvPr id="107" name="Text 7"/>
          <p:cNvSpPr/>
          <p:nvPr/>
        </p:nvSpPr>
        <p:spPr>
          <a:xfrm>
            <a:off x="10317240" y="5965920"/>
            <a:ext cx="3497040" cy="1411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a:lnSpc>
                <a:spcPts val="2350"/>
              </a:lnSpc>
              <a:buClr>
                <a:srgbClr val="E2E6E9"/>
              </a:buClr>
              <a:buFont typeface="Symbol" charset="2"/>
              <a:buChar char=""/>
            </a:pPr>
            <a:r>
              <a:rPr lang="en-US" sz="1600" b="0" strike="noStrike" spc="-1">
                <a:solidFill>
                  <a:srgbClr val="E2E6E9"/>
                </a:solidFill>
                <a:latin typeface="Source Sans 3"/>
                <a:ea typeface="Source Sans 3"/>
              </a:rPr>
              <a:t>Qurulmamış məlumatları emal edir</a:t>
            </a:r>
            <a:endParaRPr lang="en-US" sz="1600" b="0" strike="noStrike" spc="-1">
              <a:solidFill>
                <a:srgbClr val="000000"/>
              </a:solidFill>
              <a:latin typeface="Arial"/>
            </a:endParaRPr>
          </a:p>
          <a:p>
            <a:pPr marL="343080" indent="-343080">
              <a:lnSpc>
                <a:spcPts val="2350"/>
              </a:lnSpc>
              <a:buClr>
                <a:srgbClr val="E2E6E9"/>
              </a:buClr>
              <a:buFont typeface="Symbol" charset="2"/>
              <a:buChar char=""/>
            </a:pPr>
            <a:r>
              <a:rPr lang="en-US" sz="1600" b="0" strike="noStrike" spc="-1">
                <a:solidFill>
                  <a:srgbClr val="E2E6E9"/>
                </a:solidFill>
                <a:latin typeface="Source Sans 3"/>
                <a:ea typeface="Source Sans 3"/>
              </a:rPr>
              <a:t>Kontekstə görə qərar verir</a:t>
            </a:r>
            <a:endParaRPr lang="en-US" sz="1600" b="0" strike="noStrike" spc="-1">
              <a:solidFill>
                <a:srgbClr val="000000"/>
              </a:solidFill>
              <a:latin typeface="Arial"/>
            </a:endParaRPr>
          </a:p>
          <a:p>
            <a:pPr marL="343080" indent="-343080">
              <a:lnSpc>
                <a:spcPts val="2350"/>
              </a:lnSpc>
              <a:buClr>
                <a:srgbClr val="E2E6E9"/>
              </a:buClr>
              <a:buFont typeface="Symbol" charset="2"/>
              <a:buChar char=""/>
            </a:pPr>
            <a:r>
              <a:rPr lang="en-US" sz="1600" b="0" strike="noStrike" spc="-1">
                <a:solidFill>
                  <a:srgbClr val="E2E6E9"/>
                </a:solidFill>
                <a:latin typeface="Source Sans 3"/>
                <a:ea typeface="Source Sans 3"/>
              </a:rPr>
              <a:t>Hər tapşırıqdan öyrənir</a:t>
            </a:r>
            <a:endParaRPr lang="en-US" sz="1600" b="0" strike="noStrike" spc="-1">
              <a:solidFill>
                <a:srgbClr val="000000"/>
              </a:solidFill>
              <a:latin typeface="Arial"/>
            </a:endParaRPr>
          </a:p>
          <a:p>
            <a:pPr marL="343080" indent="-343080">
              <a:lnSpc>
                <a:spcPts val="2350"/>
              </a:lnSpc>
              <a:buClr>
                <a:srgbClr val="E2E6E9"/>
              </a:buClr>
              <a:buFont typeface="Symbol" charset="2"/>
              <a:buChar char=""/>
            </a:pPr>
            <a:r>
              <a:rPr lang="en-US" sz="1600" b="0" strike="noStrike" spc="-1">
                <a:solidFill>
                  <a:srgbClr val="E2E6E9"/>
                </a:solidFill>
                <a:latin typeface="Source Sans 3"/>
                <a:ea typeface="Source Sans 3"/>
              </a:rPr>
              <a:t>Özü monitorinq edir</a:t>
            </a:r>
            <a:endParaRPr lang="en-US" sz="1600" b="0" strike="noStrike" spc="-1">
              <a:solidFill>
                <a:srgbClr val="000000"/>
              </a:solidFill>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 0"/>
          <p:cNvSpPr/>
          <p:nvPr/>
        </p:nvSpPr>
        <p:spPr>
          <a:xfrm>
            <a:off x="863640" y="1641240"/>
            <a:ext cx="6263280" cy="613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4799"/>
              </a:lnSpc>
              <a:tabLst>
                <a:tab pos="0" algn="l"/>
              </a:tabLst>
            </a:pPr>
            <a:r>
              <a:rPr lang="en-US" sz="3850" b="1" strike="noStrike" spc="-1">
                <a:solidFill>
                  <a:srgbClr val="FFFFFF"/>
                </a:solidFill>
                <a:latin typeface="Montserrat Bold"/>
                <a:ea typeface="Montserrat Bold"/>
              </a:rPr>
              <a:t>Əsas IPA Texnologiyaları</a:t>
            </a:r>
            <a:endParaRPr lang="en-US" sz="3850" b="0" strike="noStrike" spc="-1">
              <a:solidFill>
                <a:srgbClr val="000000"/>
              </a:solidFill>
              <a:latin typeface="Arial"/>
            </a:endParaRPr>
          </a:p>
        </p:txBody>
      </p:sp>
      <p:sp>
        <p:nvSpPr>
          <p:cNvPr id="109" name="Text 1"/>
          <p:cNvSpPr/>
          <p:nvPr/>
        </p:nvSpPr>
        <p:spPr>
          <a:xfrm>
            <a:off x="863640" y="2686680"/>
            <a:ext cx="1290240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IPA-nın gücü onun arxasındakı süni intellekt texnologiyalarından gəlir. Bu texnologiyalar birlikdə işləyərək sistemə görmə, anlama və öyrənmə qabiliyyəti verir.</a:t>
            </a:r>
            <a:endParaRPr lang="en-US" sz="1700" b="0" strike="noStrike" spc="-1">
              <a:solidFill>
                <a:srgbClr val="000000"/>
              </a:solidFill>
              <a:latin typeface="Arial"/>
            </a:endParaRPr>
          </a:p>
        </p:txBody>
      </p:sp>
      <p:pic>
        <p:nvPicPr>
          <p:cNvPr id="110" name="Image 0" descr="preencoded.png"/>
          <p:cNvPicPr/>
          <p:nvPr/>
        </p:nvPicPr>
        <p:blipFill>
          <a:blip r:embed="rId3"/>
          <a:stretch/>
        </p:blipFill>
        <p:spPr>
          <a:xfrm>
            <a:off x="863640" y="3577320"/>
            <a:ext cx="906120" cy="906120"/>
          </a:xfrm>
          <a:prstGeom prst="rect">
            <a:avLst/>
          </a:prstGeom>
          <a:ln w="0">
            <a:noFill/>
          </a:ln>
        </p:spPr>
      </p:pic>
      <p:sp>
        <p:nvSpPr>
          <p:cNvPr id="111" name="Text 2"/>
          <p:cNvSpPr/>
          <p:nvPr/>
        </p:nvSpPr>
        <p:spPr>
          <a:xfrm>
            <a:off x="2040120" y="3577320"/>
            <a:ext cx="2944080" cy="613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OCR + NLP — Sənədləri Oxumaq</a:t>
            </a:r>
            <a:endParaRPr lang="en-US" sz="1900" b="0" strike="noStrike" spc="-1">
              <a:solidFill>
                <a:srgbClr val="000000"/>
              </a:solidFill>
              <a:latin typeface="Arial"/>
            </a:endParaRPr>
          </a:p>
        </p:txBody>
      </p:sp>
      <p:sp>
        <p:nvSpPr>
          <p:cNvPr id="112" name="Text 3"/>
          <p:cNvSpPr/>
          <p:nvPr/>
        </p:nvSpPr>
        <p:spPr>
          <a:xfrm>
            <a:off x="2040120" y="4320360"/>
            <a:ext cx="2944080" cy="2267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1" strike="noStrike" spc="-1">
                <a:solidFill>
                  <a:srgbClr val="E2E6E9"/>
                </a:solidFill>
                <a:latin typeface="Source Sans 3"/>
                <a:ea typeface="Source Sans 3"/>
              </a:rPr>
              <a:t>Optik Simvol Tanıma (OCR)</a:t>
            </a:r>
            <a:r>
              <a:rPr lang="en-US" sz="1700" b="0" strike="noStrike" spc="-1">
                <a:solidFill>
                  <a:srgbClr val="E2E6E9"/>
                </a:solidFill>
                <a:latin typeface="Source Sans 3"/>
                <a:ea typeface="Source Sans 3"/>
              </a:rPr>
              <a:t> sənədlərdəki mətni rəqəmsallaşdırır; </a:t>
            </a:r>
            <a:r>
              <a:rPr lang="en-US" sz="1700" b="1" strike="noStrike" spc="-1">
                <a:solidFill>
                  <a:srgbClr val="E2E6E9"/>
                </a:solidFill>
                <a:latin typeface="Source Sans 3"/>
                <a:ea typeface="Source Sans 3"/>
              </a:rPr>
              <a:t>Təbii Dil Emalı (NLP)</a:t>
            </a:r>
            <a:r>
              <a:rPr lang="en-US" sz="1700" b="0" strike="noStrike" spc="-1">
                <a:solidFill>
                  <a:srgbClr val="E2E6E9"/>
                </a:solidFill>
                <a:latin typeface="Source Sans 3"/>
                <a:ea typeface="Source Sans 3"/>
              </a:rPr>
              <a:t> isə bu mətni mənalı şəkildə təhlil edir. Nəticə: fakturalar, müqavilələr, e-poçtlar avtomatik emal olunur.</a:t>
            </a:r>
            <a:endParaRPr lang="en-US" sz="1700" b="0" strike="noStrike" spc="-1">
              <a:solidFill>
                <a:srgbClr val="000000"/>
              </a:solidFill>
              <a:latin typeface="Arial"/>
            </a:endParaRPr>
          </a:p>
        </p:txBody>
      </p:sp>
      <p:pic>
        <p:nvPicPr>
          <p:cNvPr id="113" name="Image 1" descr="preencoded.png"/>
          <p:cNvPicPr/>
          <p:nvPr/>
        </p:nvPicPr>
        <p:blipFill>
          <a:blip r:embed="rId4"/>
          <a:stretch/>
        </p:blipFill>
        <p:spPr>
          <a:xfrm>
            <a:off x="5254560" y="3577320"/>
            <a:ext cx="906120" cy="906120"/>
          </a:xfrm>
          <a:prstGeom prst="rect">
            <a:avLst/>
          </a:prstGeom>
          <a:ln w="0">
            <a:noFill/>
          </a:ln>
        </p:spPr>
      </p:pic>
      <p:sp>
        <p:nvSpPr>
          <p:cNvPr id="114" name="Text 4"/>
          <p:cNvSpPr/>
          <p:nvPr/>
        </p:nvSpPr>
        <p:spPr>
          <a:xfrm>
            <a:off x="6431040" y="3577320"/>
            <a:ext cx="2944080" cy="613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Maşın Öyrənməsi — Ağıllı Təsnifat</a:t>
            </a:r>
            <a:endParaRPr lang="en-US" sz="1900" b="0" strike="noStrike" spc="-1">
              <a:solidFill>
                <a:srgbClr val="000000"/>
              </a:solidFill>
              <a:latin typeface="Arial"/>
            </a:endParaRPr>
          </a:p>
        </p:txBody>
      </p:sp>
      <p:sp>
        <p:nvSpPr>
          <p:cNvPr id="115" name="Text 5"/>
          <p:cNvSpPr/>
          <p:nvPr/>
        </p:nvSpPr>
        <p:spPr>
          <a:xfrm>
            <a:off x="6431040" y="4320360"/>
            <a:ext cx="2944080" cy="1943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ML modelləri gələn sorğuları, sənədləri və məlumatları avtomatik olaraq kateqoriyalara ayırır. Nə qədər çox məlumat emal etsə, bir o qədər dəqiq olur.</a:t>
            </a:r>
            <a:endParaRPr lang="en-US" sz="1700" b="0" strike="noStrike" spc="-1">
              <a:solidFill>
                <a:srgbClr val="000000"/>
              </a:solidFill>
              <a:latin typeface="Arial"/>
            </a:endParaRPr>
          </a:p>
        </p:txBody>
      </p:sp>
      <p:pic>
        <p:nvPicPr>
          <p:cNvPr id="116" name="Image 2" descr="preencoded.png"/>
          <p:cNvPicPr/>
          <p:nvPr/>
        </p:nvPicPr>
        <p:blipFill>
          <a:blip r:embed="rId5"/>
          <a:stretch/>
        </p:blipFill>
        <p:spPr>
          <a:xfrm>
            <a:off x="9645480" y="3577320"/>
            <a:ext cx="906120" cy="906120"/>
          </a:xfrm>
          <a:prstGeom prst="rect">
            <a:avLst/>
          </a:prstGeom>
          <a:ln w="0">
            <a:noFill/>
          </a:ln>
        </p:spPr>
      </p:pic>
      <p:sp>
        <p:nvSpPr>
          <p:cNvPr id="117" name="Text 6"/>
          <p:cNvSpPr/>
          <p:nvPr/>
        </p:nvSpPr>
        <p:spPr>
          <a:xfrm>
            <a:off x="10821960" y="3577320"/>
            <a:ext cx="2944080" cy="613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Çatbotlar — İlkin Müştəri Dəstəyi</a:t>
            </a:r>
            <a:endParaRPr lang="en-US" sz="1900" b="0" strike="noStrike" spc="-1">
              <a:solidFill>
                <a:srgbClr val="000000"/>
              </a:solidFill>
              <a:latin typeface="Arial"/>
            </a:endParaRPr>
          </a:p>
        </p:txBody>
      </p:sp>
      <p:sp>
        <p:nvSpPr>
          <p:cNvPr id="118" name="Text 7"/>
          <p:cNvSpPr/>
          <p:nvPr/>
        </p:nvSpPr>
        <p:spPr>
          <a:xfrm>
            <a:off x="10821960" y="4320360"/>
            <a:ext cx="2944080" cy="1943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NLP əsaslı çatbotlar müştəri sorğularını ilk olaraq qəbul edir, cavablandırır və lazım gəldikdə düzgün departamentə yönləndirir — 7/24 fasiləsiz xidmət.</a:t>
            </a:r>
            <a:endParaRPr lang="en-US" sz="1700" b="0" strike="noStrike" spc="-1">
              <a:solidFill>
                <a:srgbClr val="000000"/>
              </a:solidFill>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Text 0"/>
          <p:cNvSpPr/>
          <p:nvPr/>
        </p:nvSpPr>
        <p:spPr>
          <a:xfrm>
            <a:off x="863640" y="1684440"/>
            <a:ext cx="6903360" cy="613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4799"/>
              </a:lnSpc>
              <a:tabLst>
                <a:tab pos="0" algn="l"/>
              </a:tabLst>
            </a:pPr>
            <a:r>
              <a:rPr lang="en-US" sz="3850" b="1" strike="noStrike" spc="-1">
                <a:solidFill>
                  <a:srgbClr val="FFFFFF"/>
                </a:solidFill>
                <a:latin typeface="Montserrat Bold"/>
                <a:ea typeface="Montserrat Bold"/>
              </a:rPr>
              <a:t>Tipik İdarəetmə Ssenariləri</a:t>
            </a:r>
            <a:endParaRPr lang="en-US" sz="3850" b="0" strike="noStrike" spc="-1">
              <a:solidFill>
                <a:srgbClr val="000000"/>
              </a:solidFill>
              <a:latin typeface="Arial"/>
            </a:endParaRPr>
          </a:p>
        </p:txBody>
      </p:sp>
      <p:sp>
        <p:nvSpPr>
          <p:cNvPr id="120" name="Text 1"/>
          <p:cNvSpPr/>
          <p:nvPr/>
        </p:nvSpPr>
        <p:spPr>
          <a:xfrm>
            <a:off x="431640" y="2621880"/>
            <a:ext cx="12902400" cy="3236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IPA texnologiyaları müxtəlif sektorlarda real biznes proseslərini dəyişdirir. Aşağıdakı nümunələr ən geniş tətbiq olunan sahələri əks etdirir.</a:t>
            </a:r>
            <a:endParaRPr lang="en-US" sz="1700" b="0" strike="noStrike" spc="-1">
              <a:solidFill>
                <a:srgbClr val="000000"/>
              </a:solidFill>
              <a:latin typeface="Arial"/>
            </a:endParaRPr>
          </a:p>
        </p:txBody>
      </p:sp>
      <p:pic>
        <p:nvPicPr>
          <p:cNvPr id="121" name="Image 0" descr="preencoded.png"/>
          <p:cNvPicPr/>
          <p:nvPr/>
        </p:nvPicPr>
        <p:blipFill>
          <a:blip r:embed="rId3">
            <a:extLst>
              <a:ext uri="{96DAC541-7B7A-43D3-8B79-37D633B846F1}">
                <asvg:svgBlip xmlns:asvg="http://schemas.microsoft.com/office/drawing/2016/SVG/main" r:embed="rId4"/>
              </a:ext>
            </a:extLst>
          </a:blip>
          <a:stretch/>
        </p:blipFill>
        <p:spPr>
          <a:xfrm>
            <a:off x="863640" y="3296880"/>
            <a:ext cx="539640" cy="539640"/>
          </a:xfrm>
          <a:prstGeom prst="rect">
            <a:avLst/>
          </a:prstGeom>
          <a:ln w="0">
            <a:noFill/>
          </a:ln>
        </p:spPr>
      </p:pic>
      <p:sp>
        <p:nvSpPr>
          <p:cNvPr id="122" name="Text 2"/>
          <p:cNvSpPr/>
          <p:nvPr/>
        </p:nvSpPr>
        <p:spPr>
          <a:xfrm>
            <a:off x="1673640" y="3296880"/>
            <a:ext cx="390996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Faktura və Çatdırılma Qeydləri</a:t>
            </a:r>
            <a:endParaRPr lang="en-US" sz="1900" b="0" strike="noStrike" spc="-1">
              <a:solidFill>
                <a:srgbClr val="000000"/>
              </a:solidFill>
              <a:latin typeface="Arial"/>
            </a:endParaRPr>
          </a:p>
        </p:txBody>
      </p:sp>
      <p:sp>
        <p:nvSpPr>
          <p:cNvPr id="123" name="Text 3"/>
          <p:cNvSpPr/>
          <p:nvPr/>
        </p:nvSpPr>
        <p:spPr>
          <a:xfrm>
            <a:off x="1673640" y="3733200"/>
            <a:ext cx="5506200" cy="97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Gələn fakturaları OCR ilə oxuyur, məlumatları mühasibat sisteminə daxil edir, uyğunluğu yoxlayır və ödənişi avtomatik təsdiqləyir — manual əməliyyat sıfıra endirilir.</a:t>
            </a:r>
            <a:endParaRPr lang="en-US" sz="1700" b="0" strike="noStrike" spc="-1">
              <a:solidFill>
                <a:srgbClr val="000000"/>
              </a:solidFill>
              <a:latin typeface="Arial"/>
            </a:endParaRPr>
          </a:p>
        </p:txBody>
      </p:sp>
      <p:pic>
        <p:nvPicPr>
          <p:cNvPr id="124" name="Image 1" descr="preencoded.png"/>
          <p:cNvPicPr/>
          <p:nvPr/>
        </p:nvPicPr>
        <p:blipFill>
          <a:blip r:embed="rId5">
            <a:extLst>
              <a:ext uri="{96DAC541-7B7A-43D3-8B79-37D633B846F1}">
                <asvg:svgBlip xmlns:asvg="http://schemas.microsoft.com/office/drawing/2016/SVG/main" r:embed="rId6"/>
              </a:ext>
            </a:extLst>
          </a:blip>
          <a:stretch/>
        </p:blipFill>
        <p:spPr>
          <a:xfrm>
            <a:off x="7450200" y="3296880"/>
            <a:ext cx="539640" cy="539640"/>
          </a:xfrm>
          <a:prstGeom prst="rect">
            <a:avLst/>
          </a:prstGeom>
          <a:ln w="0">
            <a:noFill/>
          </a:ln>
        </p:spPr>
      </p:pic>
      <p:sp>
        <p:nvSpPr>
          <p:cNvPr id="125" name="Text 4"/>
          <p:cNvSpPr/>
          <p:nvPr/>
        </p:nvSpPr>
        <p:spPr>
          <a:xfrm>
            <a:off x="8259840" y="3296880"/>
            <a:ext cx="306936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Yeni İşçilərin İşə Qəbulu</a:t>
            </a:r>
            <a:endParaRPr lang="en-US" sz="1900" b="0" strike="noStrike" spc="-1">
              <a:solidFill>
                <a:srgbClr val="000000"/>
              </a:solidFill>
              <a:latin typeface="Arial"/>
            </a:endParaRPr>
          </a:p>
        </p:txBody>
      </p:sp>
      <p:sp>
        <p:nvSpPr>
          <p:cNvPr id="126" name="Text 5"/>
          <p:cNvSpPr/>
          <p:nvPr/>
        </p:nvSpPr>
        <p:spPr>
          <a:xfrm>
            <a:off x="8259840" y="3733200"/>
            <a:ext cx="5506560" cy="97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Yeni əməkdaşın sənədlərini emal edir, sistemlərə giriş hüquqları yaradır, təlim planı hazırlayır və bütün departamentlərə avtomatik bildiriş göndərir.</a:t>
            </a:r>
            <a:endParaRPr lang="en-US" sz="1700" b="0" strike="noStrike" spc="-1">
              <a:solidFill>
                <a:srgbClr val="000000"/>
              </a:solidFill>
              <a:latin typeface="Arial"/>
            </a:endParaRPr>
          </a:p>
        </p:txBody>
      </p:sp>
      <p:pic>
        <p:nvPicPr>
          <p:cNvPr id="127" name="Image 2" descr="preencoded.png"/>
          <p:cNvPicPr/>
          <p:nvPr/>
        </p:nvPicPr>
        <p:blipFill>
          <a:blip r:embed="rId7">
            <a:extLst>
              <a:ext uri="{96DAC541-7B7A-43D3-8B79-37D633B846F1}">
                <asvg:svgBlip xmlns:asvg="http://schemas.microsoft.com/office/drawing/2016/SVG/main" r:embed="rId8"/>
              </a:ext>
            </a:extLst>
          </a:blip>
          <a:stretch/>
        </p:blipFill>
        <p:spPr>
          <a:xfrm>
            <a:off x="863640" y="5136840"/>
            <a:ext cx="539640" cy="539640"/>
          </a:xfrm>
          <a:prstGeom prst="rect">
            <a:avLst/>
          </a:prstGeom>
          <a:ln w="0">
            <a:noFill/>
          </a:ln>
        </p:spPr>
      </p:pic>
      <p:sp>
        <p:nvSpPr>
          <p:cNvPr id="128" name="Text 6"/>
          <p:cNvSpPr/>
          <p:nvPr/>
        </p:nvSpPr>
        <p:spPr>
          <a:xfrm>
            <a:off x="1673640" y="5136840"/>
            <a:ext cx="344232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Müştəri Sorğularının Təhlili</a:t>
            </a:r>
            <a:endParaRPr lang="en-US" sz="1900" b="0" strike="noStrike" spc="-1">
              <a:solidFill>
                <a:srgbClr val="000000"/>
              </a:solidFill>
              <a:latin typeface="Arial"/>
            </a:endParaRPr>
          </a:p>
        </p:txBody>
      </p:sp>
      <p:sp>
        <p:nvSpPr>
          <p:cNvPr id="129" name="Text 7"/>
          <p:cNvSpPr/>
          <p:nvPr/>
        </p:nvSpPr>
        <p:spPr>
          <a:xfrm>
            <a:off x="1673640" y="5573160"/>
            <a:ext cx="5506200" cy="97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Daxil olan e-poçt və mesajları oxuyur, mövzuya və prioritetə görə təsnif edir, düzgün komandaya yönləndirir və cavab şablonu hazırlayır.</a:t>
            </a:r>
            <a:endParaRPr lang="en-US" sz="1700" b="0" strike="noStrike" spc="-1">
              <a:solidFill>
                <a:srgbClr val="000000"/>
              </a:solidFill>
              <a:latin typeface="Arial"/>
            </a:endParaRPr>
          </a:p>
        </p:txBody>
      </p:sp>
      <p:pic>
        <p:nvPicPr>
          <p:cNvPr id="130" name="Image 3" descr="preencoded.png"/>
          <p:cNvPicPr/>
          <p:nvPr/>
        </p:nvPicPr>
        <p:blipFill>
          <a:blip r:embed="rId9">
            <a:extLst>
              <a:ext uri="{96DAC541-7B7A-43D3-8B79-37D633B846F1}">
                <asvg:svgBlip xmlns:asvg="http://schemas.microsoft.com/office/drawing/2016/SVG/main" r:embed="rId10"/>
              </a:ext>
            </a:extLst>
          </a:blip>
          <a:stretch/>
        </p:blipFill>
        <p:spPr>
          <a:xfrm>
            <a:off x="7450200" y="5136840"/>
            <a:ext cx="539640" cy="539640"/>
          </a:xfrm>
          <a:prstGeom prst="rect">
            <a:avLst/>
          </a:prstGeom>
          <a:ln w="0">
            <a:noFill/>
          </a:ln>
        </p:spPr>
      </p:pic>
      <p:sp>
        <p:nvSpPr>
          <p:cNvPr id="131" name="Text 8"/>
          <p:cNvSpPr/>
          <p:nvPr/>
        </p:nvSpPr>
        <p:spPr>
          <a:xfrm>
            <a:off x="8259840" y="5136840"/>
            <a:ext cx="304920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Tənzimləyici Hesabatlar</a:t>
            </a:r>
            <a:endParaRPr lang="en-US" sz="1900" b="0" strike="noStrike" spc="-1">
              <a:solidFill>
                <a:srgbClr val="000000"/>
              </a:solidFill>
              <a:latin typeface="Arial"/>
            </a:endParaRPr>
          </a:p>
        </p:txBody>
      </p:sp>
      <p:sp>
        <p:nvSpPr>
          <p:cNvPr id="132" name="Text 9"/>
          <p:cNvSpPr/>
          <p:nvPr/>
        </p:nvSpPr>
        <p:spPr>
          <a:xfrm>
            <a:off x="8259840" y="5573160"/>
            <a:ext cx="5506560" cy="97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Müxtəlif sistemlərdən məlumatları toplayır, birləşdirir, formatlaşdırır və müəyyən edilmiş müddətdə tənzimləyici qurumlara avtomatik hesabat göndərir.</a:t>
            </a:r>
            <a:endParaRPr lang="en-US" sz="1700" b="0" strike="noStrike" spc="-1">
              <a:solidFill>
                <a:srgbClr val="000000"/>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Text 0"/>
          <p:cNvSpPr/>
          <p:nvPr/>
        </p:nvSpPr>
        <p:spPr>
          <a:xfrm>
            <a:off x="783360" y="538560"/>
            <a:ext cx="5400000" cy="5558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4351"/>
              </a:lnSpc>
              <a:tabLst>
                <a:tab pos="0" algn="l"/>
              </a:tabLst>
            </a:pPr>
            <a:r>
              <a:rPr lang="en-US" sz="3500" b="1" strike="noStrike" spc="-1">
                <a:solidFill>
                  <a:srgbClr val="FFFFFF"/>
                </a:solidFill>
                <a:latin typeface="Montserrat Bold"/>
                <a:ea typeface="Montserrat Bold"/>
              </a:rPr>
              <a:t>Hibrid Prosesin Dizaynı</a:t>
            </a:r>
            <a:endParaRPr lang="en-US" sz="3500" b="0" strike="noStrike" spc="-1">
              <a:solidFill>
                <a:srgbClr val="000000"/>
              </a:solidFill>
              <a:latin typeface="Arial"/>
            </a:endParaRPr>
          </a:p>
        </p:txBody>
      </p:sp>
      <p:sp>
        <p:nvSpPr>
          <p:cNvPr id="134" name="Text 1"/>
          <p:cNvSpPr/>
          <p:nvPr/>
        </p:nvSpPr>
        <p:spPr>
          <a:xfrm>
            <a:off x="783360" y="1449720"/>
            <a:ext cx="13063680" cy="559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200"/>
              </a:lnSpc>
              <a:tabLst>
                <a:tab pos="0" algn="l"/>
              </a:tabLst>
            </a:pPr>
            <a:r>
              <a:rPr lang="en-US" sz="1500" b="0" strike="noStrike" spc="-1">
                <a:solidFill>
                  <a:srgbClr val="E2E6E9"/>
                </a:solidFill>
                <a:latin typeface="Source Sans 3"/>
                <a:ea typeface="Source Sans 3"/>
              </a:rPr>
              <a:t>Effektiv IPA həlləri botun gücünü insan mühakiməsi ilə birləşdirir. Aşağıdakı nümunə e-poçt əsaslı sorğu emalının addım-addım necə işlədiyini göstərir — yüksək etibarlı hallarda tam avtomatik, şübhəli hallarda isə insana ötürülür.</a:t>
            </a:r>
            <a:endParaRPr lang="en-US" sz="1500" b="0" strike="noStrike" spc="-1">
              <a:solidFill>
                <a:srgbClr val="000000"/>
              </a:solidFill>
              <a:latin typeface="Arial"/>
            </a:endParaRPr>
          </a:p>
        </p:txBody>
      </p:sp>
      <p:pic>
        <p:nvPicPr>
          <p:cNvPr id="135" name="Image 0" descr="preencoded.png"/>
          <p:cNvPicPr/>
          <p:nvPr/>
        </p:nvPicPr>
        <p:blipFill>
          <a:blip r:embed="rId3"/>
          <a:stretch/>
        </p:blipFill>
        <p:spPr>
          <a:xfrm>
            <a:off x="992520" y="2209320"/>
            <a:ext cx="12645000" cy="4744800"/>
          </a:xfrm>
          <a:prstGeom prst="rect">
            <a:avLst/>
          </a:prstGeom>
          <a:ln w="0">
            <a:noFill/>
          </a:ln>
        </p:spPr>
      </p:pic>
      <p:pic>
        <p:nvPicPr>
          <p:cNvPr id="136" name="Image 1" descr="preencoded.png"/>
          <p:cNvPicPr/>
          <p:nvPr/>
        </p:nvPicPr>
        <p:blipFill>
          <a:blip r:embed="rId4">
            <a:extLst>
              <a:ext uri="{96DAC541-7B7A-43D3-8B79-37D633B846F1}">
                <asvg:svgBlip xmlns:asvg="http://schemas.microsoft.com/office/drawing/2016/SVG/main" r:embed="rId5"/>
              </a:ext>
            </a:extLst>
          </a:blip>
          <a:stretch/>
        </p:blipFill>
        <p:spPr>
          <a:xfrm>
            <a:off x="11791800" y="3418200"/>
            <a:ext cx="652680" cy="652680"/>
          </a:xfrm>
          <a:prstGeom prst="rect">
            <a:avLst/>
          </a:prstGeom>
          <a:ln w="0">
            <a:noFill/>
          </a:ln>
        </p:spPr>
      </p:pic>
      <p:sp>
        <p:nvSpPr>
          <p:cNvPr id="137" name="Text 2"/>
          <p:cNvSpPr/>
          <p:nvPr/>
        </p:nvSpPr>
        <p:spPr>
          <a:xfrm>
            <a:off x="11209680" y="5652360"/>
            <a:ext cx="1906920" cy="66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a:lnSpc>
                <a:spcPts val="2599"/>
              </a:lnSpc>
              <a:tabLst>
                <a:tab pos="0" algn="l"/>
              </a:tabLst>
            </a:pPr>
            <a:r>
              <a:rPr lang="en-US" sz="2100" b="1" strike="noStrike" spc="-1" dirty="0">
                <a:solidFill>
                  <a:srgbClr val="E2E6E9"/>
                </a:solidFill>
                <a:latin typeface="Montserrat Bold"/>
                <a:ea typeface="Montserrat Bold"/>
              </a:rPr>
              <a:t>90%-</a:t>
            </a:r>
            <a:r>
              <a:rPr lang="en-US" sz="2100" b="1" strike="noStrike" spc="-1" dirty="0" err="1">
                <a:solidFill>
                  <a:srgbClr val="E2E6E9"/>
                </a:solidFill>
                <a:latin typeface="Montserrat Bold"/>
                <a:ea typeface="Montserrat Bold"/>
              </a:rPr>
              <a:t>dən</a:t>
            </a:r>
            <a:r>
              <a:rPr lang="en-US" sz="2100" b="1" strike="noStrike" spc="-1" dirty="0">
                <a:solidFill>
                  <a:srgbClr val="E2E6E9"/>
                </a:solidFill>
                <a:latin typeface="Montserrat Bold"/>
                <a:ea typeface="Montserrat Bold"/>
              </a:rPr>
              <a:t> </a:t>
            </a:r>
            <a:r>
              <a:rPr lang="en-US" sz="2100" b="1" strike="noStrike" spc="-1" dirty="0" err="1">
                <a:solidFill>
                  <a:srgbClr val="E2E6E9"/>
                </a:solidFill>
                <a:latin typeface="Montserrat Bold"/>
                <a:ea typeface="Montserrat Bold"/>
              </a:rPr>
              <a:t>aşağı</a:t>
            </a:r>
            <a:r>
              <a:rPr lang="en-US" sz="2100" b="1" strike="noStrike" spc="-1" dirty="0">
                <a:solidFill>
                  <a:srgbClr val="E2E6E9"/>
                </a:solidFill>
                <a:latin typeface="Montserrat Bold"/>
                <a:ea typeface="Montserrat Bold"/>
              </a:rPr>
              <a:t>: </a:t>
            </a:r>
            <a:r>
              <a:rPr lang="en-US" sz="2100" b="1" strike="noStrike" spc="-1" dirty="0" err="1">
                <a:solidFill>
                  <a:srgbClr val="E2E6E9"/>
                </a:solidFill>
                <a:latin typeface="Montserrat Bold"/>
                <a:ea typeface="Montserrat Bold"/>
              </a:rPr>
              <a:t>İcmal</a:t>
            </a:r>
            <a:endParaRPr lang="en-US" sz="2100" b="0" strike="noStrike" spc="-1" dirty="0">
              <a:solidFill>
                <a:srgbClr val="000000"/>
              </a:solidFill>
              <a:latin typeface="Arial"/>
            </a:endParaRPr>
          </a:p>
        </p:txBody>
      </p:sp>
      <p:pic>
        <p:nvPicPr>
          <p:cNvPr id="138" name="Image 2" descr="preencoded.png"/>
          <p:cNvPicPr/>
          <p:nvPr/>
        </p:nvPicPr>
        <p:blipFill>
          <a:blip r:embed="rId6">
            <a:extLst>
              <a:ext uri="{96DAC541-7B7A-43D3-8B79-37D633B846F1}">
                <asvg:svgBlip xmlns:asvg="http://schemas.microsoft.com/office/drawing/2016/SVG/main" r:embed="rId7"/>
              </a:ext>
            </a:extLst>
          </a:blip>
          <a:stretch/>
        </p:blipFill>
        <p:spPr>
          <a:xfrm>
            <a:off x="9400320" y="3419280"/>
            <a:ext cx="652680" cy="652680"/>
          </a:xfrm>
          <a:prstGeom prst="rect">
            <a:avLst/>
          </a:prstGeom>
          <a:ln w="0">
            <a:noFill/>
          </a:ln>
        </p:spPr>
      </p:pic>
      <p:sp>
        <p:nvSpPr>
          <p:cNvPr id="139" name="Text 3"/>
          <p:cNvSpPr/>
          <p:nvPr/>
        </p:nvSpPr>
        <p:spPr>
          <a:xfrm>
            <a:off x="8805960" y="5652360"/>
            <a:ext cx="1906920" cy="66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a:lnSpc>
                <a:spcPts val="2599"/>
              </a:lnSpc>
              <a:tabLst>
                <a:tab pos="0" algn="l"/>
              </a:tabLst>
            </a:pPr>
            <a:r>
              <a:rPr lang="en-US" sz="2100" b="1" strike="noStrike" spc="-1" dirty="0">
                <a:solidFill>
                  <a:srgbClr val="E2E6E9"/>
                </a:solidFill>
                <a:latin typeface="Montserrat Bold"/>
                <a:ea typeface="Montserrat Bold"/>
              </a:rPr>
              <a:t>90%-</a:t>
            </a:r>
            <a:r>
              <a:rPr lang="en-US" sz="2100" b="1" strike="noStrike" spc="-1" dirty="0" err="1">
                <a:solidFill>
                  <a:srgbClr val="E2E6E9"/>
                </a:solidFill>
                <a:latin typeface="Montserrat Bold"/>
                <a:ea typeface="Montserrat Bold"/>
              </a:rPr>
              <a:t>dən</a:t>
            </a:r>
            <a:r>
              <a:rPr lang="en-US" sz="2100" b="1" strike="noStrike" spc="-1" dirty="0">
                <a:solidFill>
                  <a:srgbClr val="E2E6E9"/>
                </a:solidFill>
                <a:latin typeface="Montserrat Bold"/>
                <a:ea typeface="Montserrat Bold"/>
              </a:rPr>
              <a:t> </a:t>
            </a:r>
            <a:r>
              <a:rPr lang="en-US" sz="2100" b="1" strike="noStrike" spc="-1" dirty="0" err="1">
                <a:solidFill>
                  <a:srgbClr val="E2E6E9"/>
                </a:solidFill>
                <a:latin typeface="Montserrat Bold"/>
                <a:ea typeface="Montserrat Bold"/>
              </a:rPr>
              <a:t>çox</a:t>
            </a:r>
            <a:r>
              <a:rPr lang="en-US" sz="2100" b="1" strike="noStrike" spc="-1" dirty="0">
                <a:solidFill>
                  <a:srgbClr val="E2E6E9"/>
                </a:solidFill>
                <a:latin typeface="Montserrat Bold"/>
                <a:ea typeface="Montserrat Bold"/>
              </a:rPr>
              <a:t>: </a:t>
            </a:r>
            <a:r>
              <a:rPr lang="en-US" sz="2100" b="1" strike="noStrike" spc="-1" dirty="0" err="1">
                <a:solidFill>
                  <a:srgbClr val="E2E6E9"/>
                </a:solidFill>
                <a:latin typeface="Montserrat Bold"/>
                <a:ea typeface="Montserrat Bold"/>
              </a:rPr>
              <a:t>Avtomatik</a:t>
            </a:r>
            <a:endParaRPr lang="en-US" sz="2100" b="0" strike="noStrike" spc="-1" dirty="0">
              <a:solidFill>
                <a:srgbClr val="000000"/>
              </a:solidFill>
              <a:latin typeface="Arial"/>
            </a:endParaRPr>
          </a:p>
        </p:txBody>
      </p:sp>
      <p:pic>
        <p:nvPicPr>
          <p:cNvPr id="140" name="Image 3" descr="preencoded.png"/>
          <p:cNvPicPr/>
          <p:nvPr/>
        </p:nvPicPr>
        <p:blipFill>
          <a:blip r:embed="rId8">
            <a:extLst>
              <a:ext uri="{96DAC541-7B7A-43D3-8B79-37D633B846F1}">
                <asvg:svgBlip xmlns:asvg="http://schemas.microsoft.com/office/drawing/2016/SVG/main" r:embed="rId9"/>
              </a:ext>
            </a:extLst>
          </a:blip>
          <a:stretch/>
        </p:blipFill>
        <p:spPr>
          <a:xfrm>
            <a:off x="7009920" y="3419280"/>
            <a:ext cx="652680" cy="652680"/>
          </a:xfrm>
          <a:prstGeom prst="rect">
            <a:avLst/>
          </a:prstGeom>
          <a:ln w="0">
            <a:noFill/>
          </a:ln>
        </p:spPr>
      </p:pic>
      <p:sp>
        <p:nvSpPr>
          <p:cNvPr id="141" name="Text 4"/>
          <p:cNvSpPr/>
          <p:nvPr/>
        </p:nvSpPr>
        <p:spPr>
          <a:xfrm>
            <a:off x="6415560" y="5652360"/>
            <a:ext cx="2109462" cy="11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a:lnSpc>
                <a:spcPts val="2599"/>
              </a:lnSpc>
              <a:tabLst>
                <a:tab pos="0" algn="l"/>
              </a:tabLst>
            </a:pPr>
            <a:r>
              <a:rPr lang="en-US" sz="2100" b="1" strike="noStrike" spc="-1" dirty="0" err="1">
                <a:solidFill>
                  <a:srgbClr val="E2E6E9"/>
                </a:solidFill>
                <a:latin typeface="Montserrat Bold"/>
                <a:ea typeface="Montserrat Bold"/>
              </a:rPr>
              <a:t>Modelin</a:t>
            </a:r>
            <a:r>
              <a:rPr lang="en-US" sz="2100" b="1" strike="noStrike" spc="-1" dirty="0">
                <a:solidFill>
                  <a:srgbClr val="E2E6E9"/>
                </a:solidFill>
                <a:latin typeface="Montserrat Bold"/>
                <a:ea typeface="Montserrat Bold"/>
              </a:rPr>
              <a:t> </a:t>
            </a:r>
            <a:r>
              <a:rPr lang="en-US" sz="2100" b="1" spc="-1" dirty="0" err="1">
                <a:solidFill>
                  <a:srgbClr val="E2E6E9"/>
                </a:solidFill>
                <a:latin typeface="Montserrat Bold"/>
                <a:ea typeface="Montserrat Bold"/>
              </a:rPr>
              <a:t>E</a:t>
            </a:r>
            <a:r>
              <a:rPr lang="en-US" sz="2100" b="1" strike="noStrike" spc="-1" dirty="0" err="1">
                <a:solidFill>
                  <a:srgbClr val="E2E6E9"/>
                </a:solidFill>
                <a:latin typeface="Montserrat Bold"/>
                <a:ea typeface="Montserrat Bold"/>
              </a:rPr>
              <a:t>tibarlılıq</a:t>
            </a:r>
            <a:r>
              <a:rPr lang="en-US" sz="2100" b="1" strike="noStrike" spc="-1" dirty="0">
                <a:solidFill>
                  <a:srgbClr val="E2E6E9"/>
                </a:solidFill>
                <a:latin typeface="Montserrat Bold"/>
                <a:ea typeface="Montserrat Bold"/>
              </a:rPr>
              <a:t> </a:t>
            </a:r>
            <a:r>
              <a:rPr lang="en-US" sz="2100" b="1" strike="noStrike" spc="-1" dirty="0" err="1">
                <a:solidFill>
                  <a:srgbClr val="E2E6E9"/>
                </a:solidFill>
                <a:latin typeface="Montserrat Bold"/>
                <a:ea typeface="Montserrat Bold"/>
              </a:rPr>
              <a:t>göstəricisi</a:t>
            </a:r>
            <a:endParaRPr lang="en-US" sz="2100" b="0" strike="noStrike" spc="-1" dirty="0">
              <a:solidFill>
                <a:srgbClr val="000000"/>
              </a:solidFill>
              <a:latin typeface="Arial"/>
            </a:endParaRPr>
          </a:p>
        </p:txBody>
      </p:sp>
      <p:pic>
        <p:nvPicPr>
          <p:cNvPr id="142" name="Image 4" descr="preencoded.png"/>
          <p:cNvPicPr/>
          <p:nvPr/>
        </p:nvPicPr>
        <p:blipFill>
          <a:blip r:embed="rId10">
            <a:extLst>
              <a:ext uri="{96DAC541-7B7A-43D3-8B79-37D633B846F1}">
                <asvg:svgBlip xmlns:asvg="http://schemas.microsoft.com/office/drawing/2016/SVG/main" r:embed="rId11"/>
              </a:ext>
            </a:extLst>
          </a:blip>
          <a:stretch/>
        </p:blipFill>
        <p:spPr>
          <a:xfrm>
            <a:off x="4619160" y="3419280"/>
            <a:ext cx="652680" cy="652680"/>
          </a:xfrm>
          <a:prstGeom prst="rect">
            <a:avLst/>
          </a:prstGeom>
          <a:ln w="0">
            <a:noFill/>
          </a:ln>
        </p:spPr>
      </p:pic>
      <p:sp>
        <p:nvSpPr>
          <p:cNvPr id="143" name="Text 5"/>
          <p:cNvSpPr/>
          <p:nvPr/>
        </p:nvSpPr>
        <p:spPr>
          <a:xfrm>
            <a:off x="4024800" y="5652360"/>
            <a:ext cx="1906920" cy="66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a:lnSpc>
                <a:spcPts val="2599"/>
              </a:lnSpc>
              <a:tabLst>
                <a:tab pos="0" algn="l"/>
              </a:tabLst>
            </a:pPr>
            <a:r>
              <a:rPr lang="en-US" sz="2100" b="1" strike="noStrike" spc="-1" dirty="0">
                <a:solidFill>
                  <a:srgbClr val="E2E6E9"/>
                </a:solidFill>
                <a:latin typeface="Montserrat Bold"/>
                <a:ea typeface="Montserrat Bold"/>
              </a:rPr>
              <a:t>NLP </a:t>
            </a:r>
          </a:p>
          <a:p>
            <a:pPr algn="ctr">
              <a:lnSpc>
                <a:spcPts val="2599"/>
              </a:lnSpc>
              <a:tabLst>
                <a:tab pos="0" algn="l"/>
              </a:tabLst>
            </a:pPr>
            <a:r>
              <a:rPr lang="en-US" sz="2100" b="1" strike="noStrike" spc="-1" dirty="0" err="1">
                <a:solidFill>
                  <a:srgbClr val="E2E6E9"/>
                </a:solidFill>
                <a:latin typeface="Montserrat Bold"/>
                <a:ea typeface="Montserrat Bold"/>
              </a:rPr>
              <a:t>Təsnifatı</a:t>
            </a:r>
            <a:endParaRPr lang="en-US" sz="2100" b="0" strike="noStrike" spc="-1" dirty="0">
              <a:solidFill>
                <a:srgbClr val="000000"/>
              </a:solidFill>
              <a:latin typeface="Arial"/>
            </a:endParaRPr>
          </a:p>
        </p:txBody>
      </p:sp>
      <p:pic>
        <p:nvPicPr>
          <p:cNvPr id="144" name="Image 5" descr="preencoded.png"/>
          <p:cNvPicPr/>
          <p:nvPr/>
        </p:nvPicPr>
        <p:blipFill>
          <a:blip r:embed="rId12">
            <a:extLst>
              <a:ext uri="{96DAC541-7B7A-43D3-8B79-37D633B846F1}">
                <asvg:svgBlip xmlns:asvg="http://schemas.microsoft.com/office/drawing/2016/SVG/main" r:embed="rId13"/>
              </a:ext>
            </a:extLst>
          </a:blip>
          <a:stretch/>
        </p:blipFill>
        <p:spPr>
          <a:xfrm>
            <a:off x="2215440" y="3419280"/>
            <a:ext cx="652680" cy="652680"/>
          </a:xfrm>
          <a:prstGeom prst="rect">
            <a:avLst/>
          </a:prstGeom>
          <a:ln w="0">
            <a:noFill/>
          </a:ln>
        </p:spPr>
      </p:pic>
      <p:sp>
        <p:nvSpPr>
          <p:cNvPr id="145" name="Text 6"/>
          <p:cNvSpPr/>
          <p:nvPr/>
        </p:nvSpPr>
        <p:spPr>
          <a:xfrm>
            <a:off x="1581840" y="5652360"/>
            <a:ext cx="1906920" cy="66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a:lnSpc>
                <a:spcPts val="2599"/>
              </a:lnSpc>
              <a:tabLst>
                <a:tab pos="0" algn="l"/>
              </a:tabLst>
            </a:pPr>
            <a:r>
              <a:rPr lang="en-US" sz="2100" b="1" strike="noStrike" spc="-1" dirty="0">
                <a:solidFill>
                  <a:srgbClr val="E2E6E9"/>
                </a:solidFill>
                <a:latin typeface="Montserrat Bold"/>
                <a:ea typeface="Montserrat Bold"/>
              </a:rPr>
              <a:t>E‑</a:t>
            </a:r>
            <a:r>
              <a:rPr lang="en-US" sz="2100" b="1" spc="-1" dirty="0" err="1">
                <a:solidFill>
                  <a:srgbClr val="E2E6E9"/>
                </a:solidFill>
                <a:latin typeface="Montserrat Bold"/>
                <a:ea typeface="Montserrat Bold"/>
              </a:rPr>
              <a:t>poçt</a:t>
            </a:r>
            <a:r>
              <a:rPr lang="en-US" sz="2100" b="1" spc="-1" dirty="0">
                <a:solidFill>
                  <a:srgbClr val="E2E6E9"/>
                </a:solidFill>
                <a:latin typeface="Montserrat Bold"/>
                <a:ea typeface="Montserrat Bold"/>
              </a:rPr>
              <a:t> </a:t>
            </a:r>
            <a:r>
              <a:rPr lang="en-US" sz="2100" b="1" strike="noStrike" spc="-1" dirty="0" err="1">
                <a:solidFill>
                  <a:srgbClr val="E2E6E9"/>
                </a:solidFill>
                <a:latin typeface="Montserrat Bold"/>
                <a:ea typeface="Montserrat Bold"/>
              </a:rPr>
              <a:t>Oxunma</a:t>
            </a:r>
            <a:endParaRPr lang="en-US" sz="2100" b="0" strike="noStrike" spc="-1" dirty="0">
              <a:solidFill>
                <a:srgbClr val="000000"/>
              </a:solidFill>
              <a:latin typeface="Arial"/>
            </a:endParaRPr>
          </a:p>
        </p:txBody>
      </p:sp>
      <p:sp>
        <p:nvSpPr>
          <p:cNvPr id="146" name="Text 7"/>
          <p:cNvSpPr/>
          <p:nvPr/>
        </p:nvSpPr>
        <p:spPr>
          <a:xfrm>
            <a:off x="783360" y="7154280"/>
            <a:ext cx="13063680" cy="559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200"/>
              </a:lnSpc>
              <a:tabLst>
                <a:tab pos="0" algn="l"/>
              </a:tabLst>
            </a:pPr>
            <a:r>
              <a:rPr lang="en-US" sz="1500" b="0" strike="noStrike" spc="-1" dirty="0">
                <a:solidFill>
                  <a:srgbClr val="E2E6E9"/>
                </a:solidFill>
                <a:latin typeface="Source Sans 3"/>
                <a:ea typeface="Source Sans 3"/>
              </a:rPr>
              <a:t>Bu </a:t>
            </a:r>
            <a:r>
              <a:rPr lang="en-US" sz="1500" b="0" strike="noStrike" spc="-1" dirty="0" err="1">
                <a:solidFill>
                  <a:srgbClr val="E2E6E9"/>
                </a:solidFill>
                <a:latin typeface="Source Sans 3"/>
                <a:ea typeface="Source Sans 3"/>
              </a:rPr>
              <a:t>hibrid</a:t>
            </a:r>
            <a:r>
              <a:rPr lang="en-US" sz="1500" b="0" strike="noStrike" spc="-1" dirty="0">
                <a:solidFill>
                  <a:srgbClr val="E2E6E9"/>
                </a:solidFill>
                <a:latin typeface="Source Sans 3"/>
                <a:ea typeface="Source Sans 3"/>
              </a:rPr>
              <a:t> model </a:t>
            </a:r>
            <a:r>
              <a:rPr lang="en-US" sz="1500" b="0" strike="noStrike" spc="-1" dirty="0" err="1">
                <a:solidFill>
                  <a:srgbClr val="E2E6E9"/>
                </a:solidFill>
                <a:latin typeface="Source Sans 3"/>
                <a:ea typeface="Source Sans 3"/>
              </a:rPr>
              <a:t>ən</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yaxşı</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nəticəni</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verir</a:t>
            </a:r>
            <a:r>
              <a:rPr lang="en-US" sz="1500" b="0" strike="noStrike" spc="-1" dirty="0">
                <a:solidFill>
                  <a:srgbClr val="E2E6E9"/>
                </a:solidFill>
                <a:latin typeface="Source Sans 3"/>
                <a:ea typeface="Source Sans 3"/>
              </a:rPr>
              <a:t>: </a:t>
            </a:r>
            <a:r>
              <a:rPr lang="en-US" sz="1500" b="1" strike="noStrike" spc="-1" dirty="0" err="1">
                <a:solidFill>
                  <a:srgbClr val="E2E6E9"/>
                </a:solidFill>
                <a:latin typeface="Source Sans 3"/>
                <a:ea typeface="Source Sans 3"/>
              </a:rPr>
              <a:t>yüksək</a:t>
            </a:r>
            <a:r>
              <a:rPr lang="en-US" sz="1500" b="1" strike="noStrike" spc="-1" dirty="0">
                <a:solidFill>
                  <a:srgbClr val="E2E6E9"/>
                </a:solidFill>
                <a:latin typeface="Source Sans 3"/>
                <a:ea typeface="Source Sans 3"/>
              </a:rPr>
              <a:t> </a:t>
            </a:r>
            <a:r>
              <a:rPr lang="en-US" sz="1500" b="1" strike="noStrike" spc="-1" dirty="0" err="1">
                <a:solidFill>
                  <a:srgbClr val="E2E6E9"/>
                </a:solidFill>
                <a:latin typeface="Source Sans 3"/>
                <a:ea typeface="Source Sans 3"/>
              </a:rPr>
              <a:t>həcmli</a:t>
            </a:r>
            <a:r>
              <a:rPr lang="en-US" sz="1500" b="1" strike="noStrike" spc="-1" dirty="0">
                <a:solidFill>
                  <a:srgbClr val="E2E6E9"/>
                </a:solidFill>
                <a:latin typeface="Source Sans 3"/>
                <a:ea typeface="Source Sans 3"/>
              </a:rPr>
              <a:t>, </a:t>
            </a:r>
            <a:r>
              <a:rPr lang="en-US" sz="1500" b="1" strike="noStrike" spc="-1" dirty="0" err="1">
                <a:solidFill>
                  <a:srgbClr val="E2E6E9"/>
                </a:solidFill>
                <a:latin typeface="Source Sans 3"/>
                <a:ea typeface="Source Sans 3"/>
              </a:rPr>
              <a:t>standart</a:t>
            </a:r>
            <a:r>
              <a:rPr lang="en-US" sz="1500" b="1" strike="noStrike" spc="-1" dirty="0">
                <a:solidFill>
                  <a:srgbClr val="E2E6E9"/>
                </a:solidFill>
                <a:latin typeface="Source Sans 3"/>
                <a:ea typeface="Source Sans 3"/>
              </a:rPr>
              <a:t> </a:t>
            </a:r>
            <a:r>
              <a:rPr lang="en-US" sz="1500" b="1" strike="noStrike" spc="-1" dirty="0" err="1">
                <a:solidFill>
                  <a:srgbClr val="E2E6E9"/>
                </a:solidFill>
                <a:latin typeface="Source Sans 3"/>
                <a:ea typeface="Source Sans 3"/>
              </a:rPr>
              <a:t>hallar</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tamamilə</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avtomatlaşdırılır</a:t>
            </a:r>
            <a:r>
              <a:rPr lang="en-US" sz="1500" b="0" strike="noStrike" spc="-1" dirty="0">
                <a:solidFill>
                  <a:srgbClr val="E2E6E9"/>
                </a:solidFill>
                <a:latin typeface="Source Sans 3"/>
                <a:ea typeface="Source Sans 3"/>
              </a:rPr>
              <a:t>, </a:t>
            </a:r>
            <a:r>
              <a:rPr lang="en-US" sz="1500" b="1" strike="noStrike" spc="-1" dirty="0" err="1">
                <a:solidFill>
                  <a:srgbClr val="E2E6E9"/>
                </a:solidFill>
                <a:latin typeface="Source Sans 3"/>
                <a:ea typeface="Source Sans 3"/>
              </a:rPr>
              <a:t>mürəkkəb</a:t>
            </a:r>
            <a:r>
              <a:rPr lang="en-US" sz="1500" b="1" strike="noStrike" spc="-1" dirty="0">
                <a:solidFill>
                  <a:srgbClr val="E2E6E9"/>
                </a:solidFill>
                <a:latin typeface="Source Sans 3"/>
                <a:ea typeface="Source Sans 3"/>
              </a:rPr>
              <a:t> </a:t>
            </a:r>
            <a:r>
              <a:rPr lang="en-US" sz="1500" b="1" strike="noStrike" spc="-1" dirty="0" err="1">
                <a:solidFill>
                  <a:srgbClr val="E2E6E9"/>
                </a:solidFill>
                <a:latin typeface="Source Sans 3"/>
                <a:ea typeface="Source Sans 3"/>
              </a:rPr>
              <a:t>və</a:t>
            </a:r>
            <a:r>
              <a:rPr lang="en-US" sz="1500" b="1" strike="noStrike" spc="-1" dirty="0">
                <a:solidFill>
                  <a:srgbClr val="E2E6E9"/>
                </a:solidFill>
                <a:latin typeface="Source Sans 3"/>
                <a:ea typeface="Source Sans 3"/>
              </a:rPr>
              <a:t> </a:t>
            </a:r>
            <a:r>
              <a:rPr lang="en-US" sz="1500" b="1" strike="noStrike" spc="-1" dirty="0" err="1">
                <a:solidFill>
                  <a:srgbClr val="E2E6E9"/>
                </a:solidFill>
                <a:latin typeface="Source Sans 3"/>
                <a:ea typeface="Source Sans 3"/>
              </a:rPr>
              <a:t>qeyri-müəyyən</a:t>
            </a:r>
            <a:r>
              <a:rPr lang="en-US" sz="1500" b="1" strike="noStrike" spc="-1" dirty="0">
                <a:solidFill>
                  <a:srgbClr val="E2E6E9"/>
                </a:solidFill>
                <a:latin typeface="Source Sans 3"/>
                <a:ea typeface="Source Sans 3"/>
              </a:rPr>
              <a:t> </a:t>
            </a:r>
            <a:r>
              <a:rPr lang="en-US" sz="1500" b="1" strike="noStrike" spc="-1" dirty="0" err="1">
                <a:solidFill>
                  <a:srgbClr val="E2E6E9"/>
                </a:solidFill>
                <a:latin typeface="Source Sans 3"/>
                <a:ea typeface="Source Sans 3"/>
              </a:rPr>
              <a:t>hallar</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isə</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mütəxəssisə</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yönləndirilir</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Nəticədə</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həm</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sürət</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artır</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həm</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də</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keyfiyyət</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təmin</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olunur</a:t>
            </a:r>
            <a:r>
              <a:rPr lang="en-US" sz="1500" b="0" strike="noStrike" spc="-1" dirty="0">
                <a:solidFill>
                  <a:srgbClr val="E2E6E9"/>
                </a:solidFill>
                <a:latin typeface="Source Sans 3"/>
                <a:ea typeface="Source Sans 3"/>
              </a:rPr>
              <a:t>.</a:t>
            </a:r>
            <a:endParaRPr lang="en-US" sz="1500" b="0" strike="noStrike" spc="-1" dirty="0">
              <a:solidFill>
                <a:srgbClr val="000000"/>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xt 0"/>
          <p:cNvSpPr/>
          <p:nvPr/>
        </p:nvSpPr>
        <p:spPr>
          <a:xfrm>
            <a:off x="863640" y="923040"/>
            <a:ext cx="5699880" cy="613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4799"/>
              </a:lnSpc>
              <a:tabLst>
                <a:tab pos="0" algn="l"/>
              </a:tabLst>
            </a:pPr>
            <a:r>
              <a:rPr lang="en-US" sz="3850" b="1" strike="noStrike" spc="-1">
                <a:solidFill>
                  <a:srgbClr val="FFFFFF"/>
                </a:solidFill>
                <a:latin typeface="Montserrat Bold"/>
                <a:ea typeface="Montserrat Bold"/>
              </a:rPr>
              <a:t>ROI Qiymətləndirməsi</a:t>
            </a:r>
            <a:endParaRPr lang="en-US" sz="3850" b="0" strike="noStrike" spc="-1">
              <a:solidFill>
                <a:srgbClr val="000000"/>
              </a:solidFill>
              <a:latin typeface="Arial"/>
            </a:endParaRPr>
          </a:p>
        </p:txBody>
      </p:sp>
      <p:sp>
        <p:nvSpPr>
          <p:cNvPr id="148" name="Text 1"/>
          <p:cNvSpPr/>
          <p:nvPr/>
        </p:nvSpPr>
        <p:spPr>
          <a:xfrm>
            <a:off x="863640" y="1968480"/>
            <a:ext cx="1290240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IPA investisiyasının geri dönüşünü düzgün hesablamaq üçün həm qazanılan dəyərləri, həm də real xərcləri obyektiv şəkildə nəzərə almaq lazımdır. Uğurlu tətbiqlər adətən 6-18 ay ərzində özünü ödəyir.</a:t>
            </a:r>
            <a:endParaRPr lang="en-US" sz="1700" b="0" strike="noStrike" spc="-1">
              <a:solidFill>
                <a:srgbClr val="000000"/>
              </a:solidFill>
              <a:latin typeface="Arial"/>
            </a:endParaRPr>
          </a:p>
        </p:txBody>
      </p:sp>
      <p:sp>
        <p:nvSpPr>
          <p:cNvPr id="149" name="Shape 2"/>
          <p:cNvSpPr/>
          <p:nvPr/>
        </p:nvSpPr>
        <p:spPr>
          <a:xfrm>
            <a:off x="708120" y="2859480"/>
            <a:ext cx="6498720" cy="2983680"/>
          </a:xfrm>
          <a:prstGeom prst="roundRect">
            <a:avLst>
              <a:gd name="adj" fmla="val 1086"/>
            </a:avLst>
          </a:prstGeom>
          <a:solidFill>
            <a:srgbClr val="1D1F2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50" name="Text 3"/>
          <p:cNvSpPr/>
          <p:nvPr/>
        </p:nvSpPr>
        <p:spPr>
          <a:xfrm>
            <a:off x="924120" y="3075120"/>
            <a:ext cx="296604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000000"/>
                </a:solidFill>
                <a:latin typeface="Montserrat Bold"/>
                <a:ea typeface="Montserrat Bold"/>
              </a:rPr>
              <a:t>✅</a:t>
            </a:r>
            <a:r>
              <a:rPr lang="en-US" sz="1900" b="1" strike="noStrike" spc="-1">
                <a:solidFill>
                  <a:srgbClr val="FFFFFF"/>
                </a:solidFill>
                <a:latin typeface="Montserrat Bold"/>
                <a:ea typeface="Montserrat Bold"/>
              </a:rPr>
              <a:t> Əldə edilən dəyərlər</a:t>
            </a:r>
            <a:endParaRPr lang="en-US" sz="1900" b="0" strike="noStrike" spc="-1">
              <a:solidFill>
                <a:srgbClr val="000000"/>
              </a:solidFill>
              <a:latin typeface="Arial"/>
            </a:endParaRPr>
          </a:p>
        </p:txBody>
      </p:sp>
      <p:sp>
        <p:nvSpPr>
          <p:cNvPr id="151" name="Text 4"/>
          <p:cNvSpPr/>
          <p:nvPr/>
        </p:nvSpPr>
        <p:spPr>
          <a:xfrm>
            <a:off x="924120" y="3597840"/>
            <a:ext cx="6067080" cy="2170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1" strike="noStrike" spc="-1">
                <a:solidFill>
                  <a:srgbClr val="E2E6E9"/>
                </a:solidFill>
                <a:latin typeface="Source Sans 3"/>
                <a:ea typeface="Source Sans 3"/>
              </a:rPr>
              <a:t>Vaxt qənaəti:</a:t>
            </a:r>
            <a:r>
              <a:rPr lang="en-US" sz="1700" b="0" strike="noStrike" spc="-1">
                <a:solidFill>
                  <a:srgbClr val="E2E6E9"/>
                </a:solidFill>
                <a:latin typeface="Source Sans 3"/>
                <a:ea typeface="Source Sans 3"/>
              </a:rPr>
              <a:t> Əməkdaşlar yüksək dəyərli işlərə fokuslanır</a:t>
            </a:r>
            <a:endParaRPr lang="en-US" sz="1700" b="0" strike="noStrike" spc="-1">
              <a:solidFill>
                <a:srgbClr val="000000"/>
              </a:solidFill>
              <a:latin typeface="Arial"/>
            </a:endParaRPr>
          </a:p>
          <a:p>
            <a:pPr>
              <a:lnSpc>
                <a:spcPts val="2551"/>
              </a:lnSpc>
              <a:tabLst>
                <a:tab pos="0" algn="l"/>
              </a:tabLst>
            </a:pPr>
            <a:r>
              <a:rPr lang="en-US" sz="1700" b="1" strike="noStrike" spc="-1">
                <a:solidFill>
                  <a:srgbClr val="E2E6E9"/>
                </a:solidFill>
                <a:latin typeface="Source Sans 3"/>
                <a:ea typeface="Source Sans 3"/>
              </a:rPr>
              <a:t>Azalmış səhvlər:</a:t>
            </a:r>
            <a:r>
              <a:rPr lang="en-US" sz="1700" b="0" strike="noStrike" spc="-1">
                <a:solidFill>
                  <a:srgbClr val="E2E6E9"/>
                </a:solidFill>
                <a:latin typeface="Source Sans 3"/>
                <a:ea typeface="Source Sans 3"/>
              </a:rPr>
              <a:t> Manual daxiletmə xətaları praktiki olaraq sıfıra enir</a:t>
            </a:r>
            <a:endParaRPr lang="en-US" sz="1700" b="0" strike="noStrike" spc="-1">
              <a:solidFill>
                <a:srgbClr val="000000"/>
              </a:solidFill>
              <a:latin typeface="Arial"/>
            </a:endParaRPr>
          </a:p>
          <a:p>
            <a:pPr>
              <a:lnSpc>
                <a:spcPts val="2551"/>
              </a:lnSpc>
              <a:tabLst>
                <a:tab pos="0" algn="l"/>
              </a:tabLst>
            </a:pPr>
            <a:r>
              <a:rPr lang="en-US" sz="1700" b="1" strike="noStrike" spc="-1">
                <a:solidFill>
                  <a:srgbClr val="E2E6E9"/>
                </a:solidFill>
                <a:latin typeface="Source Sans 3"/>
                <a:ea typeface="Source Sans 3"/>
              </a:rPr>
              <a:t>Miqyaslanma:</a:t>
            </a:r>
            <a:r>
              <a:rPr lang="en-US" sz="1700" b="0" strike="noStrike" spc="-1">
                <a:solidFill>
                  <a:srgbClr val="E2E6E9"/>
                </a:solidFill>
                <a:latin typeface="Source Sans 3"/>
                <a:ea typeface="Source Sans 3"/>
              </a:rPr>
              <a:t> Artan iş yükünü əlavə işçi olmadan emal etmək imkanı</a:t>
            </a:r>
            <a:endParaRPr lang="en-US" sz="1700" b="0" strike="noStrike" spc="-1">
              <a:solidFill>
                <a:srgbClr val="000000"/>
              </a:solidFill>
              <a:latin typeface="Arial"/>
            </a:endParaRPr>
          </a:p>
          <a:p>
            <a:pPr>
              <a:lnSpc>
                <a:spcPts val="2551"/>
              </a:lnSpc>
              <a:tabLst>
                <a:tab pos="0" algn="l"/>
              </a:tabLst>
            </a:pPr>
            <a:r>
              <a:rPr lang="en-US" sz="1700" b="1" strike="noStrike" spc="-1">
                <a:solidFill>
                  <a:srgbClr val="E2E6E9"/>
                </a:solidFill>
                <a:latin typeface="Source Sans 3"/>
                <a:ea typeface="Source Sans 3"/>
              </a:rPr>
              <a:t>Sürət:</a:t>
            </a:r>
            <a:r>
              <a:rPr lang="en-US" sz="1700" b="0" strike="noStrike" spc="-1">
                <a:solidFill>
                  <a:srgbClr val="E2E6E9"/>
                </a:solidFill>
                <a:latin typeface="Source Sans 3"/>
                <a:ea typeface="Source Sans 3"/>
              </a:rPr>
              <a:t> 24/7 fasiləsiz işləmə, sıfır gözləmə müddəti</a:t>
            </a:r>
            <a:endParaRPr lang="en-US" sz="1700" b="0" strike="noStrike" spc="-1">
              <a:solidFill>
                <a:srgbClr val="000000"/>
              </a:solidFill>
              <a:latin typeface="Arial"/>
            </a:endParaRPr>
          </a:p>
        </p:txBody>
      </p:sp>
      <p:sp>
        <p:nvSpPr>
          <p:cNvPr id="152" name="Text 5"/>
          <p:cNvSpPr/>
          <p:nvPr/>
        </p:nvSpPr>
        <p:spPr>
          <a:xfrm>
            <a:off x="7586280" y="3075120"/>
            <a:ext cx="331272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000000"/>
                </a:solidFill>
                <a:latin typeface="Montserrat Bold"/>
                <a:ea typeface="Montserrat Bold"/>
              </a:rPr>
              <a:t>⚠️</a:t>
            </a:r>
            <a:r>
              <a:rPr lang="en-US" sz="1900" b="1" strike="noStrike" spc="-1">
                <a:solidFill>
                  <a:srgbClr val="FFFFFF"/>
                </a:solidFill>
                <a:latin typeface="Montserrat Bold"/>
                <a:ea typeface="Montserrat Bold"/>
              </a:rPr>
              <a:t> Nəzərə alınmalı xərclər</a:t>
            </a:r>
            <a:endParaRPr lang="en-US" sz="1900" b="0" strike="noStrike" spc="-1">
              <a:solidFill>
                <a:srgbClr val="000000"/>
              </a:solidFill>
              <a:latin typeface="Arial"/>
            </a:endParaRPr>
          </a:p>
        </p:txBody>
      </p:sp>
      <p:sp>
        <p:nvSpPr>
          <p:cNvPr id="153" name="Text 6"/>
          <p:cNvSpPr/>
          <p:nvPr/>
        </p:nvSpPr>
        <p:spPr>
          <a:xfrm>
            <a:off x="7586280" y="3597840"/>
            <a:ext cx="6187680" cy="2170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1" strike="noStrike" spc="-1">
                <a:solidFill>
                  <a:srgbClr val="E2E6E9"/>
                </a:solidFill>
                <a:latin typeface="Source Sans 3"/>
                <a:ea typeface="Source Sans 3"/>
              </a:rPr>
              <a:t>Tətbiq xərcləri:</a:t>
            </a:r>
            <a:r>
              <a:rPr lang="en-US" sz="1700" b="0" strike="noStrike" spc="-1">
                <a:solidFill>
                  <a:srgbClr val="E2E6E9"/>
                </a:solidFill>
                <a:latin typeface="Source Sans 3"/>
                <a:ea typeface="Source Sans 3"/>
              </a:rPr>
              <a:t> Lisenziya, konfiqurasiya, inteqrasiya işləri</a:t>
            </a:r>
            <a:endParaRPr lang="en-US" sz="1700" b="0" strike="noStrike" spc="-1">
              <a:solidFill>
                <a:srgbClr val="000000"/>
              </a:solidFill>
              <a:latin typeface="Arial"/>
            </a:endParaRPr>
          </a:p>
          <a:p>
            <a:pPr>
              <a:lnSpc>
                <a:spcPts val="2551"/>
              </a:lnSpc>
              <a:tabLst>
                <a:tab pos="0" algn="l"/>
              </a:tabLst>
            </a:pPr>
            <a:r>
              <a:rPr lang="en-US" sz="1700" b="1" strike="noStrike" spc="-1">
                <a:solidFill>
                  <a:srgbClr val="E2E6E9"/>
                </a:solidFill>
                <a:latin typeface="Source Sans 3"/>
                <a:ea typeface="Source Sans 3"/>
              </a:rPr>
              <a:t>Davamlı dəstək:</a:t>
            </a:r>
            <a:r>
              <a:rPr lang="en-US" sz="1700" b="0" strike="noStrike" spc="-1">
                <a:solidFill>
                  <a:srgbClr val="E2E6E9"/>
                </a:solidFill>
                <a:latin typeface="Source Sans 3"/>
                <a:ea typeface="Source Sans 3"/>
              </a:rPr>
              <a:t> Bot saxlanması, sistem yeniləmələri, monitorinq</a:t>
            </a:r>
            <a:endParaRPr lang="en-US" sz="1700" b="0" strike="noStrike" spc="-1">
              <a:solidFill>
                <a:srgbClr val="000000"/>
              </a:solidFill>
              <a:latin typeface="Arial"/>
            </a:endParaRPr>
          </a:p>
          <a:p>
            <a:pPr>
              <a:lnSpc>
                <a:spcPts val="2551"/>
              </a:lnSpc>
              <a:tabLst>
                <a:tab pos="0" algn="l"/>
              </a:tabLst>
            </a:pPr>
            <a:r>
              <a:rPr lang="en-US" sz="1700" b="1" strike="noStrike" spc="-1">
                <a:solidFill>
                  <a:srgbClr val="E2E6E9"/>
                </a:solidFill>
                <a:latin typeface="Source Sans 3"/>
                <a:ea typeface="Source Sans 3"/>
              </a:rPr>
              <a:t>İşçi təlimi:</a:t>
            </a:r>
            <a:r>
              <a:rPr lang="en-US" sz="1700" b="0" strike="noStrike" spc="-1">
                <a:solidFill>
                  <a:srgbClr val="E2E6E9"/>
                </a:solidFill>
                <a:latin typeface="Source Sans 3"/>
                <a:ea typeface="Source Sans 3"/>
              </a:rPr>
              <a:t> Komandanın yeni iş modelinə adaptasiyası</a:t>
            </a:r>
            <a:endParaRPr lang="en-US" sz="1700" b="0" strike="noStrike" spc="-1">
              <a:solidFill>
                <a:srgbClr val="000000"/>
              </a:solidFill>
              <a:latin typeface="Arial"/>
            </a:endParaRPr>
          </a:p>
          <a:p>
            <a:pPr>
              <a:lnSpc>
                <a:spcPts val="2551"/>
              </a:lnSpc>
              <a:tabLst>
                <a:tab pos="0" algn="l"/>
              </a:tabLst>
            </a:pPr>
            <a:r>
              <a:rPr lang="en-US" sz="1700" b="1" strike="noStrike" spc="-1">
                <a:solidFill>
                  <a:srgbClr val="E2E6E9"/>
                </a:solidFill>
                <a:latin typeface="Source Sans 3"/>
                <a:ea typeface="Source Sans 3"/>
              </a:rPr>
              <a:t>Gözlənilməz dəyişikliklər:</a:t>
            </a:r>
            <a:r>
              <a:rPr lang="en-US" sz="1700" b="0" strike="noStrike" spc="-1">
                <a:solidFill>
                  <a:srgbClr val="E2E6E9"/>
                </a:solidFill>
                <a:latin typeface="Source Sans 3"/>
                <a:ea typeface="Source Sans 3"/>
              </a:rPr>
              <a:t> Sistemlər dəyişdikdə yenidən konfiqurasiya</a:t>
            </a:r>
            <a:endParaRPr lang="en-US" sz="1700" b="0" strike="noStrike" spc="-1">
              <a:solidFill>
                <a:srgbClr val="000000"/>
              </a:solidFill>
              <a:latin typeface="Arial"/>
            </a:endParaRPr>
          </a:p>
        </p:txBody>
      </p:sp>
      <p:sp>
        <p:nvSpPr>
          <p:cNvPr id="154" name="Shape 7"/>
          <p:cNvSpPr/>
          <p:nvPr/>
        </p:nvSpPr>
        <p:spPr>
          <a:xfrm>
            <a:off x="863640" y="6086520"/>
            <a:ext cx="12902400" cy="1219680"/>
          </a:xfrm>
          <a:prstGeom prst="roundRect">
            <a:avLst>
              <a:gd name="adj" fmla="val 2656"/>
            </a:avLst>
          </a:prstGeom>
          <a:solidFill>
            <a:srgbClr val="26262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pic>
        <p:nvPicPr>
          <p:cNvPr id="155" name="Image 0" descr="preencoded.png"/>
          <p:cNvPicPr/>
          <p:nvPr/>
        </p:nvPicPr>
        <p:blipFill>
          <a:blip r:embed="rId3"/>
          <a:stretch/>
        </p:blipFill>
        <p:spPr>
          <a:xfrm>
            <a:off x="1079640" y="6395760"/>
            <a:ext cx="269640" cy="215640"/>
          </a:xfrm>
          <a:prstGeom prst="rect">
            <a:avLst/>
          </a:prstGeom>
          <a:ln w="0">
            <a:noFill/>
          </a:ln>
        </p:spPr>
      </p:pic>
      <p:sp>
        <p:nvSpPr>
          <p:cNvPr id="156" name="Text 8"/>
          <p:cNvSpPr/>
          <p:nvPr/>
        </p:nvSpPr>
        <p:spPr>
          <a:xfrm>
            <a:off x="1565280" y="6356160"/>
            <a:ext cx="1198512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000000"/>
                </a:solidFill>
                <a:latin typeface="Source Sans 3"/>
                <a:ea typeface="Source Sans 3"/>
              </a:rPr>
              <a:t>💡</a:t>
            </a:r>
            <a:r>
              <a:rPr lang="en-US" sz="1700" b="0" strike="noStrike" spc="-1">
                <a:solidFill>
                  <a:srgbClr val="FFFFFF"/>
                </a:solidFill>
                <a:latin typeface="Source Sans 3"/>
                <a:ea typeface="Source Sans 3"/>
              </a:rPr>
              <a:t> </a:t>
            </a:r>
            <a:r>
              <a:rPr lang="en-US" sz="1700" b="1" strike="noStrike" spc="-1">
                <a:solidFill>
                  <a:srgbClr val="FFFFFF"/>
                </a:solidFill>
                <a:latin typeface="Source Sans 3"/>
                <a:ea typeface="Source Sans 3"/>
              </a:rPr>
              <a:t>Tövsiyə:</a:t>
            </a:r>
            <a:r>
              <a:rPr lang="en-US" sz="1700" b="0" strike="noStrike" spc="-1">
                <a:solidFill>
                  <a:srgbClr val="FFFFFF"/>
                </a:solidFill>
                <a:latin typeface="Source Sans 3"/>
                <a:ea typeface="Source Sans 3"/>
              </a:rPr>
              <a:t> Pilot proyektlə başlayın — bir prosesi tam avtomatlaşdırın, ROI-ni ölçün, sonra genişləndirin. Bu yanaşma riski minimuma endirir.</a:t>
            </a:r>
            <a:endParaRPr lang="en-US" sz="1700" b="0" strike="noStrike" spc="-1">
              <a:solidFill>
                <a:srgbClr val="000000"/>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7" name="Image 0" descr="preencoded.png"/>
          <p:cNvPicPr/>
          <p:nvPr/>
        </p:nvPicPr>
        <p:blipFill>
          <a:blip r:embed="rId3"/>
          <a:stretch/>
        </p:blipFill>
        <p:spPr>
          <a:xfrm>
            <a:off x="0" y="0"/>
            <a:ext cx="5486040" cy="8229240"/>
          </a:xfrm>
          <a:prstGeom prst="rect">
            <a:avLst/>
          </a:prstGeom>
          <a:ln w="0">
            <a:noFill/>
          </a:ln>
        </p:spPr>
      </p:pic>
      <p:sp>
        <p:nvSpPr>
          <p:cNvPr id="158" name="Text 0"/>
          <p:cNvSpPr/>
          <p:nvPr/>
        </p:nvSpPr>
        <p:spPr>
          <a:xfrm>
            <a:off x="6341400" y="594000"/>
            <a:ext cx="6566760" cy="6069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4751"/>
              </a:lnSpc>
              <a:tabLst>
                <a:tab pos="0" algn="l"/>
              </a:tabLst>
            </a:pPr>
            <a:r>
              <a:rPr lang="en-US" sz="3800" b="1" strike="noStrike" spc="-1">
                <a:solidFill>
                  <a:srgbClr val="FFFFFF"/>
                </a:solidFill>
                <a:latin typeface="Montserrat Bold"/>
                <a:ea typeface="Montserrat Bold"/>
              </a:rPr>
              <a:t>Etik və Təşkilati Aspektlər</a:t>
            </a:r>
            <a:endParaRPr lang="en-US" sz="3800" b="0" strike="noStrike" spc="-1">
              <a:solidFill>
                <a:srgbClr val="000000"/>
              </a:solidFill>
              <a:latin typeface="Arial"/>
            </a:endParaRPr>
          </a:p>
        </p:txBody>
      </p:sp>
      <p:sp>
        <p:nvSpPr>
          <p:cNvPr id="159" name="Text 1"/>
          <p:cNvSpPr/>
          <p:nvPr/>
        </p:nvSpPr>
        <p:spPr>
          <a:xfrm>
            <a:off x="6341400" y="1230840"/>
            <a:ext cx="7433280" cy="95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00"/>
              </a:lnSpc>
              <a:tabLst>
                <a:tab pos="0" algn="l"/>
              </a:tabLst>
            </a:pPr>
            <a:r>
              <a:rPr lang="en-US" sz="1650" b="0" strike="noStrike" spc="-1">
                <a:solidFill>
                  <a:srgbClr val="E2E6E9"/>
                </a:solidFill>
                <a:latin typeface="Source Sans 3"/>
                <a:ea typeface="Source Sans 3"/>
              </a:rPr>
              <a:t>Texnologiya nə qədər güclü olsa da, onun insan amili ilə düzgün balanslaşdırılması uğurlu tətbiqin əsas şərtidir. Bu məsələlərə vaxtında diqqət yetirilmədikdə ən yaxşı texniki həll belə şirkət daxilindən müqavimətlə üzləşə bilər.</a:t>
            </a:r>
            <a:endParaRPr lang="en-US" sz="1650" b="0" strike="noStrike" spc="-1">
              <a:solidFill>
                <a:srgbClr val="000000"/>
              </a:solidFill>
              <a:latin typeface="Arial"/>
            </a:endParaRPr>
          </a:p>
        </p:txBody>
      </p:sp>
      <p:sp>
        <p:nvSpPr>
          <p:cNvPr id="160" name="Shape 2"/>
          <p:cNvSpPr/>
          <p:nvPr/>
        </p:nvSpPr>
        <p:spPr>
          <a:xfrm>
            <a:off x="6341400" y="2714040"/>
            <a:ext cx="3610800" cy="3144600"/>
          </a:xfrm>
          <a:prstGeom prst="roundRect">
            <a:avLst>
              <a:gd name="adj" fmla="val 1020"/>
            </a:avLst>
          </a:prstGeom>
          <a:solidFill>
            <a:srgbClr val="111213"/>
          </a:solidFill>
          <a:ln w="30480">
            <a:solidFill>
              <a:srgbClr val="494A4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61" name="Text 3"/>
          <p:cNvSpPr/>
          <p:nvPr/>
        </p:nvSpPr>
        <p:spPr>
          <a:xfrm>
            <a:off x="6585840" y="2958480"/>
            <a:ext cx="2675880" cy="3110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350"/>
              </a:lnSpc>
              <a:tabLst>
                <a:tab pos="0" algn="l"/>
              </a:tabLst>
            </a:pPr>
            <a:r>
              <a:rPr lang="en-US" sz="1900" b="1" strike="noStrike" spc="-1">
                <a:solidFill>
                  <a:srgbClr val="000000"/>
                </a:solidFill>
                <a:latin typeface="Montserrat Bold"/>
                <a:ea typeface="Montserrat Bold"/>
              </a:rPr>
              <a:t>😟</a:t>
            </a:r>
            <a:r>
              <a:rPr lang="en-US" sz="1900" b="1" strike="noStrike" spc="-1">
                <a:solidFill>
                  <a:srgbClr val="E2E6E9"/>
                </a:solidFill>
                <a:latin typeface="Montserrat Bold"/>
                <a:ea typeface="Montserrat Bold"/>
              </a:rPr>
              <a:t> İş itirmək qorxusu</a:t>
            </a:r>
            <a:endParaRPr lang="en-US" sz="1900" b="0" strike="noStrike" spc="-1">
              <a:solidFill>
                <a:srgbClr val="000000"/>
              </a:solidFill>
              <a:latin typeface="Arial"/>
            </a:endParaRPr>
          </a:p>
        </p:txBody>
      </p:sp>
      <p:sp>
        <p:nvSpPr>
          <p:cNvPr id="162" name="Text 4"/>
          <p:cNvSpPr/>
          <p:nvPr/>
        </p:nvSpPr>
        <p:spPr>
          <a:xfrm>
            <a:off x="6585840" y="3396600"/>
            <a:ext cx="3122280" cy="1595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00"/>
              </a:lnSpc>
              <a:tabLst>
                <a:tab pos="0" algn="l"/>
              </a:tabLst>
            </a:pPr>
            <a:r>
              <a:rPr lang="en-US" sz="1650" b="0" strike="noStrike" spc="-1">
                <a:solidFill>
                  <a:srgbClr val="E2E6E9"/>
                </a:solidFill>
                <a:latin typeface="Source Sans 3"/>
                <a:ea typeface="Source Sans 3"/>
              </a:rPr>
              <a:t>Əməkdaşların ən böyük narahatlığı budur. Açıq ünsiyyət, şəffaflıq və "botlar işlərimi əlimdən alır" deyil, "botlar məni azad edir" mesajı vacibdir.</a:t>
            </a:r>
            <a:endParaRPr lang="en-US" sz="1650" b="0" strike="noStrike" spc="-1">
              <a:solidFill>
                <a:srgbClr val="000000"/>
              </a:solidFill>
              <a:latin typeface="Arial"/>
            </a:endParaRPr>
          </a:p>
        </p:txBody>
      </p:sp>
      <p:sp>
        <p:nvSpPr>
          <p:cNvPr id="163" name="Shape 5"/>
          <p:cNvSpPr/>
          <p:nvPr/>
        </p:nvSpPr>
        <p:spPr>
          <a:xfrm>
            <a:off x="10164240" y="2714040"/>
            <a:ext cx="3610800" cy="3144600"/>
          </a:xfrm>
          <a:prstGeom prst="roundRect">
            <a:avLst>
              <a:gd name="adj" fmla="val 1020"/>
            </a:avLst>
          </a:prstGeom>
          <a:solidFill>
            <a:srgbClr val="111213"/>
          </a:solidFill>
          <a:ln w="30480">
            <a:solidFill>
              <a:srgbClr val="494A4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64" name="Text 6"/>
          <p:cNvSpPr/>
          <p:nvPr/>
        </p:nvSpPr>
        <p:spPr>
          <a:xfrm>
            <a:off x="10408320" y="2958480"/>
            <a:ext cx="3122280" cy="614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350"/>
              </a:lnSpc>
              <a:tabLst>
                <a:tab pos="0" algn="l"/>
              </a:tabLst>
            </a:pPr>
            <a:r>
              <a:rPr lang="en-US" sz="1900" b="1" strike="noStrike" spc="-1">
                <a:solidFill>
                  <a:srgbClr val="000000"/>
                </a:solidFill>
                <a:latin typeface="Montserrat Bold"/>
                <a:ea typeface="Montserrat Bold"/>
              </a:rPr>
              <a:t>🎓</a:t>
            </a:r>
            <a:r>
              <a:rPr lang="en-US" sz="1900" b="1" strike="noStrike" spc="-1">
                <a:solidFill>
                  <a:srgbClr val="E2E6E9"/>
                </a:solidFill>
                <a:latin typeface="Montserrat Bold"/>
                <a:ea typeface="Montserrat Bold"/>
              </a:rPr>
              <a:t> Yenidən hazırlıq ehtiyacı</a:t>
            </a:r>
            <a:endParaRPr lang="en-US" sz="1900" b="0" strike="noStrike" spc="-1">
              <a:solidFill>
                <a:srgbClr val="000000"/>
              </a:solidFill>
              <a:latin typeface="Arial"/>
            </a:endParaRPr>
          </a:p>
        </p:txBody>
      </p:sp>
      <p:sp>
        <p:nvSpPr>
          <p:cNvPr id="165" name="Text 7"/>
          <p:cNvSpPr/>
          <p:nvPr/>
        </p:nvSpPr>
        <p:spPr>
          <a:xfrm>
            <a:off x="10408320" y="3700440"/>
            <a:ext cx="3122280" cy="191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00"/>
              </a:lnSpc>
              <a:tabLst>
                <a:tab pos="0" algn="l"/>
              </a:tabLst>
            </a:pPr>
            <a:r>
              <a:rPr lang="en-US" sz="1650" b="0" strike="noStrike" spc="-1">
                <a:solidFill>
                  <a:srgbClr val="E2E6E9"/>
                </a:solidFill>
                <a:latin typeface="Source Sans 3"/>
                <a:ea typeface="Source Sans 3"/>
              </a:rPr>
              <a:t>Avtomatlaşdırma yeni bacarıqlar tələb edir: bot idarəetməsi, məlumat analitikası, proses dizaynı. Komandaların bu bacarıqları qazanması üçün investisiya şərtdir.</a:t>
            </a:r>
            <a:endParaRPr lang="en-US" sz="1650" b="0" strike="noStrike" spc="-1">
              <a:solidFill>
                <a:srgbClr val="000000"/>
              </a:solidFill>
              <a:latin typeface="Arial"/>
            </a:endParaRPr>
          </a:p>
        </p:txBody>
      </p:sp>
      <p:sp>
        <p:nvSpPr>
          <p:cNvPr id="166" name="Shape 8"/>
          <p:cNvSpPr/>
          <p:nvPr/>
        </p:nvSpPr>
        <p:spPr>
          <a:xfrm>
            <a:off x="6341400" y="6070680"/>
            <a:ext cx="7433280" cy="1564560"/>
          </a:xfrm>
          <a:prstGeom prst="roundRect">
            <a:avLst>
              <a:gd name="adj" fmla="val 2049"/>
            </a:avLst>
          </a:prstGeom>
          <a:solidFill>
            <a:srgbClr val="111213"/>
          </a:solidFill>
          <a:ln w="30480">
            <a:solidFill>
              <a:srgbClr val="494A4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67" name="Text 9"/>
          <p:cNvSpPr/>
          <p:nvPr/>
        </p:nvSpPr>
        <p:spPr>
          <a:xfrm>
            <a:off x="6585840" y="6314760"/>
            <a:ext cx="2928960" cy="3110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350"/>
              </a:lnSpc>
              <a:tabLst>
                <a:tab pos="0" algn="l"/>
              </a:tabLst>
            </a:pPr>
            <a:r>
              <a:rPr lang="en-US" sz="1900" b="1" strike="noStrike" spc="-1">
                <a:solidFill>
                  <a:srgbClr val="000000"/>
                </a:solidFill>
                <a:latin typeface="Montserrat Bold"/>
                <a:ea typeface="Montserrat Bold"/>
              </a:rPr>
              <a:t>⚖️</a:t>
            </a:r>
            <a:r>
              <a:rPr lang="en-US" sz="1900" b="1" strike="noStrike" spc="-1">
                <a:solidFill>
                  <a:srgbClr val="E2E6E9"/>
                </a:solidFill>
                <a:latin typeface="Montserrat Bold"/>
                <a:ea typeface="Montserrat Bold"/>
              </a:rPr>
              <a:t> Məsuliyyət məsələsi</a:t>
            </a:r>
            <a:endParaRPr lang="en-US" sz="1900" b="0" strike="noStrike" spc="-1">
              <a:solidFill>
                <a:srgbClr val="000000"/>
              </a:solidFill>
              <a:latin typeface="Arial"/>
            </a:endParaRPr>
          </a:p>
        </p:txBody>
      </p:sp>
      <p:sp>
        <p:nvSpPr>
          <p:cNvPr id="168" name="Text 10"/>
          <p:cNvSpPr/>
          <p:nvPr/>
        </p:nvSpPr>
        <p:spPr>
          <a:xfrm>
            <a:off x="6585840" y="6753240"/>
            <a:ext cx="6945120" cy="63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00"/>
              </a:lnSpc>
              <a:tabLst>
                <a:tab pos="0" algn="l"/>
              </a:tabLst>
            </a:pPr>
            <a:r>
              <a:rPr lang="en-US" sz="1650" b="0" strike="noStrike" spc="-1">
                <a:solidFill>
                  <a:srgbClr val="E2E6E9"/>
                </a:solidFill>
                <a:latin typeface="Source Sans 3"/>
                <a:ea typeface="Source Sans 3"/>
              </a:rPr>
              <a:t>Bot yanlış qərar verdikdə kim cavabdehdir? Sistemin dizayncısı? İdarəçisi? Şirkət? Bu suallar tətbiqdən əvvəl aydınlaşdırılmalıdır.</a:t>
            </a:r>
            <a:endParaRPr lang="en-US" sz="1650" b="0" strike="noStrike" spc="-1">
              <a:solidFill>
                <a:srgbClr val="000000"/>
              </a:solidFill>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Text 0"/>
          <p:cNvSpPr/>
          <p:nvPr/>
        </p:nvSpPr>
        <p:spPr>
          <a:xfrm>
            <a:off x="820440" y="804600"/>
            <a:ext cx="4662000" cy="5824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4550"/>
              </a:lnSpc>
              <a:tabLst>
                <a:tab pos="0" algn="l"/>
              </a:tabLst>
            </a:pPr>
            <a:r>
              <a:rPr lang="en-US" sz="3650" b="1" strike="noStrike" spc="-1">
                <a:solidFill>
                  <a:srgbClr val="FFFFFF"/>
                </a:solidFill>
                <a:latin typeface="Montserrat Bold"/>
                <a:ea typeface="Montserrat Bold"/>
              </a:rPr>
              <a:t>Praktik Tapşırıq</a:t>
            </a:r>
            <a:endParaRPr lang="en-US" sz="3650" b="0" strike="noStrike" spc="-1">
              <a:solidFill>
                <a:srgbClr val="000000"/>
              </a:solidFill>
              <a:latin typeface="Arial"/>
            </a:endParaRPr>
          </a:p>
        </p:txBody>
      </p:sp>
      <p:sp>
        <p:nvSpPr>
          <p:cNvPr id="170" name="Text 1"/>
          <p:cNvSpPr/>
          <p:nvPr/>
        </p:nvSpPr>
        <p:spPr>
          <a:xfrm>
            <a:off x="820440" y="1776960"/>
            <a:ext cx="12988800" cy="29952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350"/>
              </a:lnSpc>
              <a:tabLst>
                <a:tab pos="0" algn="l"/>
              </a:tabLst>
            </a:pPr>
            <a:r>
              <a:rPr lang="en-US" sz="1600" b="0" strike="noStrike" spc="-1">
                <a:solidFill>
                  <a:srgbClr val="E2E6E9"/>
                </a:solidFill>
                <a:latin typeface="Source Sans 3"/>
                <a:ea typeface="Source Sans 3"/>
              </a:rPr>
              <a:t>İndi öyrəndiklərinizi öz iş mühitinizə tətbiq etməyin vaxtıdır. Bu tapşırıq sizə avtomatlaşdırma düşüncə tərzini inkişaf etdirməkdə kömək edəcək.</a:t>
            </a:r>
            <a:endParaRPr lang="en-US" sz="1600" b="0" strike="noStrike" spc="-1">
              <a:solidFill>
                <a:srgbClr val="000000"/>
              </a:solidFill>
              <a:latin typeface="Arial"/>
            </a:endParaRPr>
          </a:p>
        </p:txBody>
      </p:sp>
      <p:sp>
        <p:nvSpPr>
          <p:cNvPr id="171" name="Text 2"/>
          <p:cNvSpPr/>
          <p:nvPr/>
        </p:nvSpPr>
        <p:spPr>
          <a:xfrm>
            <a:off x="1128240" y="2515320"/>
            <a:ext cx="12681360" cy="599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350"/>
              </a:lnSpc>
              <a:tabLst>
                <a:tab pos="0" algn="l"/>
              </a:tabLst>
            </a:pPr>
            <a:r>
              <a:rPr lang="en-US" sz="1600" b="0" strike="noStrike" spc="-1">
                <a:solidFill>
                  <a:srgbClr val="E2E6E9"/>
                </a:solidFill>
                <a:latin typeface="Source Sans 3"/>
                <a:ea typeface="Source Sans 3"/>
              </a:rPr>
              <a:t>"İşinizdə </a:t>
            </a:r>
            <a:r>
              <a:rPr lang="en-US" sz="1600" b="1" strike="noStrike" spc="-1">
                <a:solidFill>
                  <a:srgbClr val="E2E6E9"/>
                </a:solidFill>
                <a:latin typeface="Source Sans 3"/>
                <a:ea typeface="Source Sans 3"/>
              </a:rPr>
              <a:t>təkrarlanan bir proses seçin.</a:t>
            </a:r>
            <a:r>
              <a:rPr lang="en-US" sz="1600" b="0" strike="noStrike" spc="-1">
                <a:solidFill>
                  <a:srgbClr val="E2E6E9"/>
                </a:solidFill>
                <a:latin typeface="Source Sans 3"/>
                <a:ea typeface="Source Sans 3"/>
              </a:rPr>
              <a:t> Bu avtomatlaşdırıla bilərmi? Klassik RPA-ya uyğundurmu, yoxsa süni intellekt tələb edirmi? Süni intellekt hansı rolu oynayacaq?"</a:t>
            </a:r>
            <a:endParaRPr lang="en-US" sz="1600" b="0" strike="noStrike" spc="-1">
              <a:solidFill>
                <a:srgbClr val="000000"/>
              </a:solidFill>
              <a:latin typeface="Arial"/>
            </a:endParaRPr>
          </a:p>
        </p:txBody>
      </p:sp>
      <p:sp>
        <p:nvSpPr>
          <p:cNvPr id="172" name="Shape 3"/>
          <p:cNvSpPr/>
          <p:nvPr/>
        </p:nvSpPr>
        <p:spPr>
          <a:xfrm>
            <a:off x="820440" y="2296080"/>
            <a:ext cx="22680" cy="10378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pic>
        <p:nvPicPr>
          <p:cNvPr id="173" name="Image 0" descr="preencoded.png"/>
          <p:cNvPicPr/>
          <p:nvPr/>
        </p:nvPicPr>
        <p:blipFill>
          <a:blip r:embed="rId3"/>
          <a:stretch/>
        </p:blipFill>
        <p:spPr>
          <a:xfrm>
            <a:off x="820440" y="3553560"/>
            <a:ext cx="4329360" cy="820080"/>
          </a:xfrm>
          <a:prstGeom prst="rect">
            <a:avLst/>
          </a:prstGeom>
          <a:ln w="0">
            <a:noFill/>
          </a:ln>
        </p:spPr>
      </p:pic>
      <p:sp>
        <p:nvSpPr>
          <p:cNvPr id="174" name="Text 4"/>
          <p:cNvSpPr/>
          <p:nvPr/>
        </p:nvSpPr>
        <p:spPr>
          <a:xfrm>
            <a:off x="1025640" y="4568760"/>
            <a:ext cx="2750040" cy="29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251"/>
              </a:lnSpc>
              <a:tabLst>
                <a:tab pos="0" algn="l"/>
              </a:tabLst>
            </a:pPr>
            <a:r>
              <a:rPr lang="en-US" sz="1800" b="1" strike="noStrike" spc="-1">
                <a:solidFill>
                  <a:srgbClr val="E2E6E9"/>
                </a:solidFill>
                <a:latin typeface="Montserrat Bold"/>
                <a:ea typeface="Montserrat Bold"/>
              </a:rPr>
              <a:t>Prosesi müəyyənləşdir</a:t>
            </a:r>
            <a:endParaRPr lang="en-US" sz="1800" b="0" strike="noStrike" spc="-1">
              <a:solidFill>
                <a:srgbClr val="000000"/>
              </a:solidFill>
              <a:latin typeface="Arial"/>
            </a:endParaRPr>
          </a:p>
        </p:txBody>
      </p:sp>
      <p:sp>
        <p:nvSpPr>
          <p:cNvPr id="175" name="Text 5"/>
          <p:cNvSpPr/>
          <p:nvPr/>
        </p:nvSpPr>
        <p:spPr>
          <a:xfrm>
            <a:off x="1025640" y="4977000"/>
            <a:ext cx="3918960" cy="899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350"/>
              </a:lnSpc>
              <a:tabLst>
                <a:tab pos="0" algn="l"/>
              </a:tabLst>
            </a:pPr>
            <a:r>
              <a:rPr lang="en-US" sz="1600" b="0" strike="noStrike" spc="-1">
                <a:solidFill>
                  <a:srgbClr val="E2E6E9"/>
                </a:solidFill>
                <a:latin typeface="Source Sans 3"/>
                <a:ea typeface="Source Sans 3"/>
              </a:rPr>
              <a:t>Həftəlik ən az 2 saat aparan, təkrarlanan bir tapşırığı seçin. Ən yaxşısı — qaydaları aydın olan tapşırıqdır.</a:t>
            </a:r>
            <a:endParaRPr lang="en-US" sz="1600" b="0" strike="noStrike" spc="-1">
              <a:solidFill>
                <a:srgbClr val="000000"/>
              </a:solidFill>
              <a:latin typeface="Arial"/>
            </a:endParaRPr>
          </a:p>
        </p:txBody>
      </p:sp>
      <p:pic>
        <p:nvPicPr>
          <p:cNvPr id="176" name="Image 1" descr="preencoded.png"/>
          <p:cNvPicPr/>
          <p:nvPr/>
        </p:nvPicPr>
        <p:blipFill>
          <a:blip r:embed="rId4"/>
          <a:stretch/>
        </p:blipFill>
        <p:spPr>
          <a:xfrm>
            <a:off x="5150160" y="3553560"/>
            <a:ext cx="4329360" cy="820080"/>
          </a:xfrm>
          <a:prstGeom prst="rect">
            <a:avLst/>
          </a:prstGeom>
          <a:ln w="0">
            <a:noFill/>
          </a:ln>
        </p:spPr>
      </p:pic>
      <p:sp>
        <p:nvSpPr>
          <p:cNvPr id="177" name="Text 6"/>
          <p:cNvSpPr/>
          <p:nvPr/>
        </p:nvSpPr>
        <p:spPr>
          <a:xfrm>
            <a:off x="5355360" y="4568760"/>
            <a:ext cx="3082680" cy="29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251"/>
              </a:lnSpc>
              <a:tabLst>
                <a:tab pos="0" algn="l"/>
              </a:tabLst>
            </a:pPr>
            <a:r>
              <a:rPr lang="en-US" sz="1800" b="1" strike="noStrike" spc="-1">
                <a:solidFill>
                  <a:srgbClr val="E2E6E9"/>
                </a:solidFill>
                <a:latin typeface="Montserrat Bold"/>
                <a:ea typeface="Montserrat Bold"/>
              </a:rPr>
              <a:t>Məlumat növünü təhlil et</a:t>
            </a:r>
            <a:endParaRPr lang="en-US" sz="1800" b="0" strike="noStrike" spc="-1">
              <a:solidFill>
                <a:srgbClr val="000000"/>
              </a:solidFill>
              <a:latin typeface="Arial"/>
            </a:endParaRPr>
          </a:p>
        </p:txBody>
      </p:sp>
      <p:sp>
        <p:nvSpPr>
          <p:cNvPr id="178" name="Text 7"/>
          <p:cNvSpPr/>
          <p:nvPr/>
        </p:nvSpPr>
        <p:spPr>
          <a:xfrm>
            <a:off x="5355360" y="4977000"/>
            <a:ext cx="3918960" cy="1199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350"/>
              </a:lnSpc>
              <a:tabLst>
                <a:tab pos="0" algn="l"/>
              </a:tabLst>
            </a:pPr>
            <a:r>
              <a:rPr lang="en-US" sz="1600" b="0" strike="noStrike" spc="-1">
                <a:solidFill>
                  <a:srgbClr val="E2E6E9"/>
                </a:solidFill>
                <a:latin typeface="Source Sans 3"/>
                <a:ea typeface="Source Sans 3"/>
              </a:rPr>
              <a:t>Bu proses strukturlaşdırılmış məlumatlarla mı işləyir, yoxsa e-poçtlar, PDF-lər, sənədlər kimi qurulmamış məlumatlarla? Bu cavab RPA vs IPA seçimini müəyyənləşdirir.</a:t>
            </a:r>
            <a:endParaRPr lang="en-US" sz="1600" b="0" strike="noStrike" spc="-1">
              <a:solidFill>
                <a:srgbClr val="000000"/>
              </a:solidFill>
              <a:latin typeface="Arial"/>
            </a:endParaRPr>
          </a:p>
        </p:txBody>
      </p:sp>
      <p:pic>
        <p:nvPicPr>
          <p:cNvPr id="179" name="Image 2" descr="preencoded.png"/>
          <p:cNvPicPr/>
          <p:nvPr/>
        </p:nvPicPr>
        <p:blipFill>
          <a:blip r:embed="rId5"/>
          <a:stretch/>
        </p:blipFill>
        <p:spPr>
          <a:xfrm>
            <a:off x="9479880" y="3553560"/>
            <a:ext cx="4329360" cy="820080"/>
          </a:xfrm>
          <a:prstGeom prst="rect">
            <a:avLst/>
          </a:prstGeom>
          <a:ln w="0">
            <a:noFill/>
          </a:ln>
        </p:spPr>
      </p:pic>
      <p:sp>
        <p:nvSpPr>
          <p:cNvPr id="180" name="Text 8"/>
          <p:cNvSpPr/>
          <p:nvPr/>
        </p:nvSpPr>
        <p:spPr>
          <a:xfrm>
            <a:off x="9685080" y="4568760"/>
            <a:ext cx="3189240" cy="29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251"/>
              </a:lnSpc>
              <a:tabLst>
                <a:tab pos="0" algn="l"/>
              </a:tabLst>
            </a:pPr>
            <a:r>
              <a:rPr lang="en-US" sz="1800" b="1" strike="noStrike" spc="-1">
                <a:solidFill>
                  <a:srgbClr val="E2E6E9"/>
                </a:solidFill>
                <a:latin typeface="Montserrat Bold"/>
                <a:ea typeface="Montserrat Bold"/>
              </a:rPr>
              <a:t>Süni intellektin rolunu tap</a:t>
            </a:r>
            <a:endParaRPr lang="en-US" sz="1800" b="0" strike="noStrike" spc="-1">
              <a:solidFill>
                <a:srgbClr val="000000"/>
              </a:solidFill>
              <a:latin typeface="Arial"/>
            </a:endParaRPr>
          </a:p>
        </p:txBody>
      </p:sp>
      <p:sp>
        <p:nvSpPr>
          <p:cNvPr id="181" name="Text 9"/>
          <p:cNvSpPr/>
          <p:nvPr/>
        </p:nvSpPr>
        <p:spPr>
          <a:xfrm>
            <a:off x="9685080" y="4977000"/>
            <a:ext cx="3918960" cy="899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350"/>
              </a:lnSpc>
              <a:tabLst>
                <a:tab pos="0" algn="l"/>
              </a:tabLst>
            </a:pPr>
            <a:r>
              <a:rPr lang="en-US" sz="1600" b="0" strike="noStrike" spc="-1">
                <a:solidFill>
                  <a:srgbClr val="E2E6E9"/>
                </a:solidFill>
                <a:latin typeface="Source Sans 3"/>
                <a:ea typeface="Source Sans 3"/>
              </a:rPr>
              <a:t>OCR, NLP, ML, çatbot — hansı texnologiya bu prosesi daha ağıllı edəcək? İnsan nəzarəti harda lazım olacaq?</a:t>
            </a:r>
            <a:endParaRPr lang="en-US" sz="1600" b="0" strike="noStrike" spc="-1">
              <a:solidFill>
                <a:srgbClr val="000000"/>
              </a:solidFill>
              <a:latin typeface="Arial"/>
            </a:endParaRPr>
          </a:p>
        </p:txBody>
      </p:sp>
      <p:sp>
        <p:nvSpPr>
          <p:cNvPr id="182" name="Shape 10"/>
          <p:cNvSpPr/>
          <p:nvPr/>
        </p:nvSpPr>
        <p:spPr>
          <a:xfrm>
            <a:off x="820440" y="6601320"/>
            <a:ext cx="12988800" cy="823320"/>
          </a:xfrm>
          <a:prstGeom prst="roundRect">
            <a:avLst>
              <a:gd name="adj" fmla="val 3735"/>
            </a:avLst>
          </a:prstGeom>
          <a:solidFill>
            <a:srgbClr val="26262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pic>
        <p:nvPicPr>
          <p:cNvPr id="183" name="Image 3" descr="preencoded.png"/>
          <p:cNvPicPr/>
          <p:nvPr/>
        </p:nvPicPr>
        <p:blipFill>
          <a:blip r:embed="rId6"/>
          <a:stretch/>
        </p:blipFill>
        <p:spPr>
          <a:xfrm>
            <a:off x="1025640" y="6891480"/>
            <a:ext cx="255960" cy="204840"/>
          </a:xfrm>
          <a:prstGeom prst="rect">
            <a:avLst/>
          </a:prstGeom>
          <a:ln w="0">
            <a:noFill/>
          </a:ln>
        </p:spPr>
      </p:pic>
      <p:sp>
        <p:nvSpPr>
          <p:cNvPr id="184" name="Text 11"/>
          <p:cNvSpPr/>
          <p:nvPr/>
        </p:nvSpPr>
        <p:spPr>
          <a:xfrm>
            <a:off x="1487160" y="6847200"/>
            <a:ext cx="12117240" cy="29952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350"/>
              </a:lnSpc>
              <a:tabLst>
                <a:tab pos="0" algn="l"/>
              </a:tabLst>
            </a:pPr>
            <a:r>
              <a:rPr lang="en-US" sz="1600" b="0" strike="noStrike" spc="-1">
                <a:solidFill>
                  <a:srgbClr val="000000"/>
                </a:solidFill>
                <a:latin typeface="Source Sans 3"/>
                <a:ea typeface="Source Sans 3"/>
              </a:rPr>
              <a:t>📝</a:t>
            </a:r>
            <a:r>
              <a:rPr lang="en-US" sz="1600" b="0" strike="noStrike" spc="-1">
                <a:solidFill>
                  <a:srgbClr val="FFFFFF"/>
                </a:solidFill>
                <a:latin typeface="Source Sans 3"/>
                <a:ea typeface="Source Sans 3"/>
              </a:rPr>
              <a:t> Tapşırığınızı növbəti dərsdə müzakirə edəcəyik. Seçdiyiniz prosesin addımlarını qısaca yazıb gətirin.</a:t>
            </a:r>
            <a:endParaRPr lang="en-US" sz="1600" b="0" strike="noStrike" spc="-1">
              <a:solidFill>
                <a:srgbClr val="000000"/>
              </a:solidFill>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0.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3.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265</TotalTime>
  <Words>1194</Words>
  <Application>Microsoft Macintosh PowerPoint</Application>
  <PresentationFormat>Custom</PresentationFormat>
  <Paragraphs>115</Paragraphs>
  <Slides>11</Slides>
  <Notes>11</Notes>
  <HiddenSlides>0</HiddenSlides>
  <MMClips>0</MMClips>
  <ScaleCrop>false</ScaleCrop>
  <HeadingPairs>
    <vt:vector size="6" baseType="variant">
      <vt:variant>
        <vt:lpstr>Fonts Used</vt:lpstr>
      </vt:variant>
      <vt:variant>
        <vt:i4>9</vt:i4>
      </vt:variant>
      <vt:variant>
        <vt:lpstr>Theme</vt:lpstr>
      </vt:variant>
      <vt:variant>
        <vt:i4>12</vt:i4>
      </vt:variant>
      <vt:variant>
        <vt:lpstr>Slide Titles</vt:lpstr>
      </vt:variant>
      <vt:variant>
        <vt:i4>11</vt:i4>
      </vt:variant>
    </vt:vector>
  </HeadingPairs>
  <TitlesOfParts>
    <vt:vector size="32" baseType="lpstr">
      <vt:lpstr>Arial</vt:lpstr>
      <vt:lpstr>Calibri</vt:lpstr>
      <vt:lpstr>Calibri Light</vt:lpstr>
      <vt:lpstr>Montserrat Bold</vt:lpstr>
      <vt:lpstr>Montserrat Light</vt:lpstr>
      <vt:lpstr>Source Sans 3</vt:lpstr>
      <vt:lpstr>Symbol</vt:lpstr>
      <vt:lpstr>Times New Roman</vt:lpstr>
      <vt:lpstr>Wingdings</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dc:description/>
  <cp:lastModifiedBy>Microsoft Office User</cp:lastModifiedBy>
  <cp:revision>5</cp:revision>
  <dcterms:created xsi:type="dcterms:W3CDTF">2026-03-25T15:48:08Z</dcterms:created>
  <dcterms:modified xsi:type="dcterms:W3CDTF">2026-03-26T12:41:33Z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11</vt:i4>
  </property>
  <property fmtid="{D5CDD505-2E9C-101B-9397-08002B2CF9AE}" pid="3" name="PresentationFormat">
    <vt:lpwstr>On-screen Show (16:9)</vt:lpwstr>
  </property>
  <property fmtid="{D5CDD505-2E9C-101B-9397-08002B2CF9AE}" pid="4" name="Slides">
    <vt:i4>11</vt:i4>
  </property>
</Properties>
</file>