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7.png" ContentType="image/png"/>
  <Override PartName="/ppt/media/image11.png" ContentType="image/png"/>
  <Override PartName="/ppt/media/image16.png" ContentType="image/png"/>
  <Override PartName="/ppt/media/image8.svg" ContentType="image/svg"/>
  <Override PartName="/ppt/media/image17.svg" ContentType="image/svg"/>
  <Override PartName="/ppt/media/image12.svg" ContentType="image/svg"/>
  <Override PartName="/ppt/media/image20.png" ContentType="image/png"/>
  <Override PartName="/ppt/media/image18.png" ContentType="image/png"/>
  <Override PartName="/ppt/media/image9.png" ContentType="image/png"/>
  <Override PartName="/ppt/media/image10.svg" ContentType="image/svg"/>
  <Override PartName="/ppt/media/image13.png" ContentType="image/png"/>
  <Override PartName="/ppt/media/image30.png" ContentType="image/png"/>
  <Override PartName="/ppt/media/image31.png" ContentType="image/png"/>
  <Override PartName="/ppt/media/image15.png" ContentType="image/png"/>
  <Override PartName="/ppt/media/image5.png" ContentType="image/png"/>
  <Override PartName="/ppt/media/image6.png" ContentType="image/png"/>
  <Override PartName="/ppt/media/image25.svg" ContentType="image/svg"/>
  <Override PartName="/ppt/media/image3.png" ContentType="image/png"/>
  <Override PartName="/ppt/media/image4.png" ContentType="image/png"/>
  <Override PartName="/ppt/media/image23.svg" ContentType="image/svg"/>
  <Override PartName="/ppt/media/image1.png" ContentType="image/png"/>
  <Override PartName="/ppt/media/image19.svg" ContentType="image/svg"/>
  <Override PartName="/ppt/media/image2.png" ContentType="image/png"/>
  <Override PartName="/ppt/media/image21.svg" ContentType="image/svg"/>
  <Override PartName="/ppt/media/image22.png" ContentType="image/png"/>
  <Override PartName="/ppt/media/image24.png" ContentType="image/png"/>
  <Override PartName="/ppt/media/image26.png" ContentType="image/png"/>
  <Override PartName="/ppt/media/image14.svg" ContentType="image/svg"/>
  <Override PartName="/ppt/media/image27.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notesMaster" Target="notesMasters/notesMaster1.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pc="-1" strike="noStrike">
                <a:solidFill>
                  <a:schemeClr val="dk1"/>
                </a:solidFill>
                <a:latin typeface="Calibri Light"/>
              </a:rPr>
              <a:t>Click to move the slide</a:t>
            </a:r>
            <a:endParaRPr b="0" lang="en-US" sz="4400" spc="-1" strike="noStrike">
              <a:solidFill>
                <a:schemeClr val="dk1"/>
              </a:solidFill>
              <a:latin typeface="Calibri Light"/>
            </a:endParaRPr>
          </a:p>
        </p:txBody>
      </p:sp>
      <p:sp>
        <p:nvSpPr>
          <p:cNvPr id="45"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6"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7"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8"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EE450955-5945-4B48-BE4A-21CB4F78792B}"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sldImg"/>
          </p:nvPr>
        </p:nvSpPr>
        <p:spPr>
          <a:xfrm>
            <a:off x="685800" y="1143000"/>
            <a:ext cx="5486040" cy="3085920"/>
          </a:xfrm>
          <a:prstGeom prst="rect">
            <a:avLst/>
          </a:prstGeom>
          <a:ln w="0">
            <a:noFill/>
          </a:ln>
        </p:spPr>
      </p:sp>
      <p:sp>
        <p:nvSpPr>
          <p:cNvPr id="18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7"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9FE8D9C-D152-426B-8599-798638BBBA4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685800" y="1143000"/>
            <a:ext cx="5486040" cy="3085920"/>
          </a:xfrm>
          <a:prstGeom prst="rect">
            <a:avLst/>
          </a:prstGeom>
          <a:ln w="0">
            <a:noFill/>
          </a:ln>
        </p:spPr>
      </p:sp>
      <p:sp>
        <p:nvSpPr>
          <p:cNvPr id="18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0"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8F93F24-3058-4FF4-A478-79B76471E5C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685800" y="1143000"/>
            <a:ext cx="5486040" cy="3085920"/>
          </a:xfrm>
          <a:prstGeom prst="rect">
            <a:avLst/>
          </a:prstGeom>
          <a:ln w="0">
            <a:noFill/>
          </a:ln>
        </p:spPr>
      </p:sp>
      <p:sp>
        <p:nvSpPr>
          <p:cNvPr id="19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3"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E76DB68-40E3-41BD-A13D-6458FEA55FD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685800" y="1143000"/>
            <a:ext cx="5486040" cy="3085920"/>
          </a:xfrm>
          <a:prstGeom prst="rect">
            <a:avLst/>
          </a:prstGeom>
          <a:ln w="0">
            <a:noFill/>
          </a:ln>
        </p:spPr>
      </p:sp>
      <p:sp>
        <p:nvSpPr>
          <p:cNvPr id="19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6"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2DA598E-472C-4369-85B7-30CB64873D7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685800" y="1143000"/>
            <a:ext cx="5486040" cy="3085920"/>
          </a:xfrm>
          <a:prstGeom prst="rect">
            <a:avLst/>
          </a:prstGeom>
          <a:ln w="0">
            <a:noFill/>
          </a:ln>
        </p:spPr>
      </p:sp>
      <p:sp>
        <p:nvSpPr>
          <p:cNvPr id="19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9"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68AC0C2-B83E-44D4-B376-9D203721ADE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685800" y="1143000"/>
            <a:ext cx="5486040" cy="3085920"/>
          </a:xfrm>
          <a:prstGeom prst="rect">
            <a:avLst/>
          </a:prstGeom>
          <a:ln w="0">
            <a:noFill/>
          </a:ln>
        </p:spPr>
      </p:sp>
      <p:sp>
        <p:nvSpPr>
          <p:cNvPr id="20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2"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7F4FB8C-6EE2-4BB3-8D2D-FAF90035C28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sldImg"/>
          </p:nvPr>
        </p:nvSpPr>
        <p:spPr>
          <a:xfrm>
            <a:off x="685800" y="1143000"/>
            <a:ext cx="5486040" cy="3085920"/>
          </a:xfrm>
          <a:prstGeom prst="rect">
            <a:avLst/>
          </a:prstGeom>
          <a:ln w="0">
            <a:noFill/>
          </a:ln>
        </p:spPr>
      </p:sp>
      <p:sp>
        <p:nvSpPr>
          <p:cNvPr id="20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5"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96E8525-7501-4408-879F-D783A0D06B5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ldImg"/>
          </p:nvPr>
        </p:nvSpPr>
        <p:spPr>
          <a:xfrm>
            <a:off x="685800" y="1143000"/>
            <a:ext cx="5486040" cy="3085920"/>
          </a:xfrm>
          <a:prstGeom prst="rect">
            <a:avLst/>
          </a:prstGeom>
          <a:ln w="0">
            <a:noFill/>
          </a:ln>
        </p:spPr>
      </p:sp>
      <p:sp>
        <p:nvSpPr>
          <p:cNvPr id="20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8"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7144B24-F545-4BAC-B228-3199FB60D6F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sldImg"/>
          </p:nvPr>
        </p:nvSpPr>
        <p:spPr>
          <a:xfrm>
            <a:off x="685800" y="1143000"/>
            <a:ext cx="5486040" cy="3085920"/>
          </a:xfrm>
          <a:prstGeom prst="rect">
            <a:avLst/>
          </a:prstGeom>
          <a:ln w="0">
            <a:noFill/>
          </a:ln>
        </p:spPr>
      </p:sp>
      <p:sp>
        <p:nvSpPr>
          <p:cNvPr id="21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1"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3D271A1-2B9B-4490-B4BF-2F983939B26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685800" y="1143000"/>
            <a:ext cx="5486040" cy="3085920"/>
          </a:xfrm>
          <a:prstGeom prst="rect">
            <a:avLst/>
          </a:prstGeom>
          <a:ln w="0">
            <a:noFill/>
          </a:ln>
        </p:spPr>
      </p:sp>
      <p:sp>
        <p:nvSpPr>
          <p:cNvPr id="21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4"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6EB4918-B75E-4616-B38B-FAB7EA2C7BB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685800" y="1143000"/>
            <a:ext cx="5486040" cy="3085920"/>
          </a:xfrm>
          <a:prstGeom prst="rect">
            <a:avLst/>
          </a:prstGeom>
          <a:ln w="0">
            <a:noFill/>
          </a:ln>
        </p:spPr>
      </p:sp>
      <p:sp>
        <p:nvSpPr>
          <p:cNvPr id="21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7"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9C35FE2-460F-42D5-9B0E-15C88425F63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1 master">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a:t>
            </a:r>
            <a:r>
              <a:rPr b="0" lang="en-US" sz="4400" spc="-1" strike="noStrike">
                <a:solidFill>
                  <a:schemeClr val="dk1"/>
                </a:solidFill>
                <a:latin typeface="Calibri Light"/>
              </a:rPr>
              <a:t>format</a:t>
            </a:r>
            <a:endParaRPr b="0" lang="en-US" sz="4400" spc="-1" strike="noStrike">
              <a:solidFill>
                <a:schemeClr val="dk1"/>
              </a:solidFill>
              <a:latin typeface="Calibri Light"/>
            </a:endParaRPr>
          </a:p>
        </p:txBody>
      </p:sp>
      <p:sp>
        <p:nvSpPr>
          <p:cNvPr id="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a:t>
            </a:r>
            <a:r>
              <a:rPr b="0" lang="en-US" sz="4400" spc="-1" strike="noStrike">
                <a:solidFill>
                  <a:schemeClr val="dk1"/>
                </a:solidFill>
                <a:latin typeface="Calibri Light"/>
              </a:rPr>
              <a:t>l</a:t>
            </a:r>
            <a:r>
              <a:rPr b="0" lang="en-US" sz="4400" spc="-1" strike="noStrike">
                <a:solidFill>
                  <a:schemeClr val="dk1"/>
                </a:solidFill>
                <a:latin typeface="Calibri Light"/>
              </a:rPr>
              <a:t>i</a:t>
            </a:r>
            <a:r>
              <a:rPr b="0" lang="en-US" sz="4400" spc="-1" strike="noStrike">
                <a:solidFill>
                  <a:schemeClr val="dk1"/>
                </a:solidFill>
                <a:latin typeface="Calibri Light"/>
              </a:rPr>
              <a:t>c</a:t>
            </a:r>
            <a:r>
              <a:rPr b="0" lang="en-US" sz="4400" spc="-1" strike="noStrike">
                <a:solidFill>
                  <a:schemeClr val="dk1"/>
                </a:solidFill>
                <a:latin typeface="Calibri Light"/>
              </a:rPr>
              <a:t>k</a:t>
            </a:r>
            <a:r>
              <a:rPr b="0" lang="en-US" sz="4400" spc="-1" strike="noStrike">
                <a:solidFill>
                  <a:schemeClr val="dk1"/>
                </a:solidFill>
                <a:latin typeface="Calibri Light"/>
              </a:rPr>
              <a:t> </a:t>
            </a:r>
            <a:r>
              <a:rPr b="0" lang="en-US" sz="4400" spc="-1" strike="noStrike">
                <a:solidFill>
                  <a:schemeClr val="dk1"/>
                </a:solidFill>
                <a:latin typeface="Calibri Light"/>
              </a:rPr>
              <a:t>t</a:t>
            </a:r>
            <a:r>
              <a:rPr b="0" lang="en-US" sz="4400" spc="-1" strike="noStrike">
                <a:solidFill>
                  <a:schemeClr val="dk1"/>
                </a:solidFill>
                <a:latin typeface="Calibri Light"/>
              </a:rPr>
              <a:t>o</a:t>
            </a:r>
            <a:r>
              <a:rPr b="0" lang="en-US" sz="4400" spc="-1" strike="noStrike">
                <a:solidFill>
                  <a:schemeClr val="dk1"/>
                </a:solidFill>
                <a:latin typeface="Calibri Light"/>
              </a:rPr>
              <a:t> </a:t>
            </a:r>
            <a:r>
              <a:rPr b="0" lang="en-US" sz="4400" spc="-1" strike="noStrike">
                <a:solidFill>
                  <a:schemeClr val="dk1"/>
                </a:solidFill>
                <a:latin typeface="Calibri Light"/>
              </a:rPr>
              <a:t>e</a:t>
            </a:r>
            <a:r>
              <a:rPr b="0" lang="en-US" sz="4400" spc="-1" strike="noStrike">
                <a:solidFill>
                  <a:schemeClr val="dk1"/>
                </a:solidFill>
                <a:latin typeface="Calibri Light"/>
              </a:rPr>
              <a:t>d</a:t>
            </a:r>
            <a:r>
              <a:rPr b="0" lang="en-US" sz="4400" spc="-1" strike="noStrike">
                <a:solidFill>
                  <a:schemeClr val="dk1"/>
                </a:solidFill>
                <a:latin typeface="Calibri Light"/>
              </a:rPr>
              <a:t>i</a:t>
            </a:r>
            <a:r>
              <a:rPr b="0" lang="en-US" sz="4400" spc="-1" strike="noStrike">
                <a:solidFill>
                  <a:schemeClr val="dk1"/>
                </a:solidFill>
                <a:latin typeface="Calibri Light"/>
              </a:rPr>
              <a:t>t </a:t>
            </a:r>
            <a:r>
              <a:rPr b="0" lang="en-US" sz="4400" spc="-1" strike="noStrike">
                <a:solidFill>
                  <a:schemeClr val="dk1"/>
                </a:solidFill>
                <a:latin typeface="Calibri Light"/>
              </a:rPr>
              <a:t>t</a:t>
            </a:r>
            <a:r>
              <a:rPr b="0" lang="en-US" sz="4400" spc="-1" strike="noStrike">
                <a:solidFill>
                  <a:schemeClr val="dk1"/>
                </a:solidFill>
                <a:latin typeface="Calibri Light"/>
              </a:rPr>
              <a:t>h</a:t>
            </a:r>
            <a:r>
              <a:rPr b="0" lang="en-US" sz="4400" spc="-1" strike="noStrike">
                <a:solidFill>
                  <a:schemeClr val="dk1"/>
                </a:solidFill>
                <a:latin typeface="Calibri Light"/>
              </a:rPr>
              <a:t>e</a:t>
            </a:r>
            <a:r>
              <a:rPr b="0" lang="en-US" sz="4400" spc="-1" strike="noStrike">
                <a:solidFill>
                  <a:schemeClr val="dk1"/>
                </a:solidFill>
                <a:latin typeface="Calibri Light"/>
              </a:rPr>
              <a:t> </a:t>
            </a:r>
            <a:r>
              <a:rPr b="0" lang="en-US" sz="4400" spc="-1" strike="noStrike">
                <a:solidFill>
                  <a:schemeClr val="dk1"/>
                </a:solidFill>
                <a:latin typeface="Calibri Light"/>
              </a:rPr>
              <a:t>t</a:t>
            </a:r>
            <a:r>
              <a:rPr b="0" lang="en-US" sz="4400" spc="-1" strike="noStrike">
                <a:solidFill>
                  <a:schemeClr val="dk1"/>
                </a:solidFill>
                <a:latin typeface="Calibri Light"/>
              </a:rPr>
              <a:t>i</a:t>
            </a:r>
            <a:r>
              <a:rPr b="0" lang="en-US" sz="4400" spc="-1" strike="noStrike">
                <a:solidFill>
                  <a:schemeClr val="dk1"/>
                </a:solidFill>
                <a:latin typeface="Calibri Light"/>
              </a:rPr>
              <a:t>t</a:t>
            </a:r>
            <a:r>
              <a:rPr b="0" lang="en-US" sz="4400" spc="-1" strike="noStrike">
                <a:solidFill>
                  <a:schemeClr val="dk1"/>
                </a:solidFill>
                <a:latin typeface="Calibri Light"/>
              </a:rPr>
              <a:t>l</a:t>
            </a:r>
            <a:r>
              <a:rPr b="0" lang="en-US" sz="4400" spc="-1" strike="noStrike">
                <a:solidFill>
                  <a:schemeClr val="dk1"/>
                </a:solidFill>
                <a:latin typeface="Calibri Light"/>
              </a:rPr>
              <a:t>e</a:t>
            </a:r>
            <a:r>
              <a:rPr b="0" lang="en-US" sz="4400" spc="-1" strike="noStrike">
                <a:solidFill>
                  <a:schemeClr val="dk1"/>
                </a:solidFill>
                <a:latin typeface="Calibri Light"/>
              </a:rPr>
              <a:t> </a:t>
            </a:r>
            <a:r>
              <a:rPr b="0" lang="en-US" sz="4400" spc="-1" strike="noStrike">
                <a:solidFill>
                  <a:schemeClr val="dk1"/>
                </a:solidFill>
                <a:latin typeface="Calibri Light"/>
              </a:rPr>
              <a:t>t</a:t>
            </a:r>
            <a:r>
              <a:rPr b="0" lang="en-US" sz="4400" spc="-1" strike="noStrike">
                <a:solidFill>
                  <a:schemeClr val="dk1"/>
                </a:solidFill>
                <a:latin typeface="Calibri Light"/>
              </a:rPr>
              <a:t>e</a:t>
            </a:r>
            <a:r>
              <a:rPr b="0" lang="en-US" sz="4400" spc="-1" strike="noStrike">
                <a:solidFill>
                  <a:schemeClr val="dk1"/>
                </a:solidFill>
                <a:latin typeface="Calibri Light"/>
              </a:rPr>
              <a:t>x</a:t>
            </a:r>
            <a:r>
              <a:rPr b="0" lang="en-US" sz="4400" spc="-1" strike="noStrike">
                <a:solidFill>
                  <a:schemeClr val="dk1"/>
                </a:solidFill>
                <a:latin typeface="Calibri Light"/>
              </a:rPr>
              <a:t>t </a:t>
            </a:r>
            <a:r>
              <a:rPr b="0" lang="en-US" sz="4400" spc="-1" strike="noStrike">
                <a:solidFill>
                  <a:schemeClr val="dk1"/>
                </a:solidFill>
                <a:latin typeface="Calibri Light"/>
              </a:rPr>
              <a:t>f</a:t>
            </a:r>
            <a:r>
              <a:rPr b="0" lang="en-US" sz="4400" spc="-1" strike="noStrike">
                <a:solidFill>
                  <a:schemeClr val="dk1"/>
                </a:solidFill>
                <a:latin typeface="Calibri Light"/>
              </a:rPr>
              <a:t>o</a:t>
            </a:r>
            <a:r>
              <a:rPr b="0" lang="en-US" sz="4400" spc="-1" strike="noStrike">
                <a:solidFill>
                  <a:schemeClr val="dk1"/>
                </a:solidFill>
                <a:latin typeface="Calibri Light"/>
              </a:rPr>
              <a:t>r</a:t>
            </a:r>
            <a:r>
              <a:rPr b="0" lang="en-US" sz="4400" spc="-1" strike="noStrike">
                <a:solidFill>
                  <a:schemeClr val="dk1"/>
                </a:solidFill>
                <a:latin typeface="Calibri Light"/>
              </a:rPr>
              <a:t>m</a:t>
            </a:r>
            <a:r>
              <a:rPr b="0" lang="en-US" sz="4400" spc="-1" strike="noStrike">
                <a:solidFill>
                  <a:schemeClr val="dk1"/>
                </a:solidFill>
                <a:latin typeface="Calibri Light"/>
              </a:rPr>
              <a:t>a</a:t>
            </a:r>
            <a:r>
              <a:rPr b="0" lang="en-US" sz="4400" spc="-1" strike="noStrike">
                <a:solidFill>
                  <a:schemeClr val="dk1"/>
                </a:solidFill>
                <a:latin typeface="Calibri Light"/>
              </a:rPr>
              <a:t>t</a:t>
            </a:r>
            <a:endParaRPr b="0" lang="en-US" sz="4400" spc="-1" strike="noStrike">
              <a:solidFill>
                <a:schemeClr val="dk1"/>
              </a:solidFill>
              <a:latin typeface="Calibri Light"/>
            </a:endParaRPr>
          </a:p>
        </p:txBody>
      </p:sp>
      <p:sp>
        <p:nvSpPr>
          <p:cNvPr id="1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a:t>
            </a:r>
            <a:r>
              <a:rPr b="0" lang="en-US" sz="4400" spc="-1" strike="noStrike">
                <a:solidFill>
                  <a:schemeClr val="dk1"/>
                </a:solidFill>
                <a:latin typeface="Calibri Light"/>
              </a:rPr>
              <a:t>text format</a:t>
            </a:r>
            <a:endParaRPr b="0" lang="en-US" sz="4400" spc="-1" strike="noStrike">
              <a:solidFill>
                <a:schemeClr val="dk1"/>
              </a:solidFill>
              <a:latin typeface="Calibri Light"/>
            </a:endParaRPr>
          </a:p>
        </p:txBody>
      </p:sp>
      <p:sp>
        <p:nvSpPr>
          <p:cNvPr id="1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a:t>
            </a:r>
            <a:r>
              <a:rPr b="0" lang="en-US" sz="4400" spc="-1" strike="noStrike">
                <a:solidFill>
                  <a:schemeClr val="dk1"/>
                </a:solidFill>
                <a:latin typeface="Calibri Light"/>
              </a:rPr>
              <a:t>edit the </a:t>
            </a:r>
            <a:r>
              <a:rPr b="0" lang="en-US" sz="4400" spc="-1" strike="noStrike">
                <a:solidFill>
                  <a:schemeClr val="dk1"/>
                </a:solidFill>
                <a:latin typeface="Calibri Light"/>
              </a:rPr>
              <a:t>title text </a:t>
            </a:r>
            <a:r>
              <a:rPr b="0" lang="en-US" sz="4400" spc="-1" strike="noStrike">
                <a:solidFill>
                  <a:schemeClr val="dk1"/>
                </a:solidFill>
                <a:latin typeface="Calibri Light"/>
              </a:rPr>
              <a:t>format</a:t>
            </a:r>
            <a:endParaRPr b="0" lang="en-US" sz="4400" spc="-1" strike="noStrike">
              <a:solidFill>
                <a:schemeClr val="dk1"/>
              </a:solidFill>
              <a:latin typeface="Calibri Light"/>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a:t>
            </a:r>
            <a:r>
              <a:rPr b="0" lang="en-US" sz="4400" spc="-1" strike="noStrike">
                <a:solidFill>
                  <a:schemeClr val="dk1"/>
                </a:solidFill>
                <a:latin typeface="Calibri Light"/>
              </a:rPr>
              <a:t>l</a:t>
            </a:r>
            <a:r>
              <a:rPr b="0" lang="en-US" sz="4400" spc="-1" strike="noStrike">
                <a:solidFill>
                  <a:schemeClr val="dk1"/>
                </a:solidFill>
                <a:latin typeface="Calibri Light"/>
              </a:rPr>
              <a:t>i</a:t>
            </a:r>
            <a:r>
              <a:rPr b="0" lang="en-US" sz="4400" spc="-1" strike="noStrike">
                <a:solidFill>
                  <a:schemeClr val="dk1"/>
                </a:solidFill>
                <a:latin typeface="Calibri Light"/>
              </a:rPr>
              <a:t>c</a:t>
            </a:r>
            <a:r>
              <a:rPr b="0" lang="en-US" sz="4400" spc="-1" strike="noStrike">
                <a:solidFill>
                  <a:schemeClr val="dk1"/>
                </a:solidFill>
                <a:latin typeface="Calibri Light"/>
              </a:rPr>
              <a:t>k</a:t>
            </a:r>
            <a:r>
              <a:rPr b="0" lang="en-US" sz="4400" spc="-1" strike="noStrike">
                <a:solidFill>
                  <a:schemeClr val="dk1"/>
                </a:solidFill>
                <a:latin typeface="Calibri Light"/>
              </a:rPr>
              <a:t> </a:t>
            </a:r>
            <a:r>
              <a:rPr b="0" lang="en-US" sz="4400" spc="-1" strike="noStrike">
                <a:solidFill>
                  <a:schemeClr val="dk1"/>
                </a:solidFill>
                <a:latin typeface="Calibri Light"/>
              </a:rPr>
              <a:t>t</a:t>
            </a:r>
            <a:r>
              <a:rPr b="0" lang="en-US" sz="4400" spc="-1" strike="noStrike">
                <a:solidFill>
                  <a:schemeClr val="dk1"/>
                </a:solidFill>
                <a:latin typeface="Calibri Light"/>
              </a:rPr>
              <a:t>o</a:t>
            </a:r>
            <a:r>
              <a:rPr b="0" lang="en-US" sz="4400" spc="-1" strike="noStrike">
                <a:solidFill>
                  <a:schemeClr val="dk1"/>
                </a:solidFill>
                <a:latin typeface="Calibri Light"/>
              </a:rPr>
              <a:t> </a:t>
            </a:r>
            <a:r>
              <a:rPr b="0" lang="en-US" sz="4400" spc="-1" strike="noStrike">
                <a:solidFill>
                  <a:schemeClr val="dk1"/>
                </a:solidFill>
                <a:latin typeface="Calibri Light"/>
              </a:rPr>
              <a:t>e</a:t>
            </a:r>
            <a:r>
              <a:rPr b="0" lang="en-US" sz="4400" spc="-1" strike="noStrike">
                <a:solidFill>
                  <a:schemeClr val="dk1"/>
                </a:solidFill>
                <a:latin typeface="Calibri Light"/>
              </a:rPr>
              <a:t>d</a:t>
            </a:r>
            <a:r>
              <a:rPr b="0" lang="en-US" sz="4400" spc="-1" strike="noStrike">
                <a:solidFill>
                  <a:schemeClr val="dk1"/>
                </a:solidFill>
                <a:latin typeface="Calibri Light"/>
              </a:rPr>
              <a:t>i</a:t>
            </a:r>
            <a:r>
              <a:rPr b="0" lang="en-US" sz="4400" spc="-1" strike="noStrike">
                <a:solidFill>
                  <a:schemeClr val="dk1"/>
                </a:solidFill>
                <a:latin typeface="Calibri Light"/>
              </a:rPr>
              <a:t>t </a:t>
            </a:r>
            <a:r>
              <a:rPr b="0" lang="en-US" sz="4400" spc="-1" strike="noStrike">
                <a:solidFill>
                  <a:schemeClr val="dk1"/>
                </a:solidFill>
                <a:latin typeface="Calibri Light"/>
              </a:rPr>
              <a:t>t</a:t>
            </a:r>
            <a:r>
              <a:rPr b="0" lang="en-US" sz="4400" spc="-1" strike="noStrike">
                <a:solidFill>
                  <a:schemeClr val="dk1"/>
                </a:solidFill>
                <a:latin typeface="Calibri Light"/>
              </a:rPr>
              <a:t>h</a:t>
            </a:r>
            <a:r>
              <a:rPr b="0" lang="en-US" sz="4400" spc="-1" strike="noStrike">
                <a:solidFill>
                  <a:schemeClr val="dk1"/>
                </a:solidFill>
                <a:latin typeface="Calibri Light"/>
              </a:rPr>
              <a:t>e</a:t>
            </a:r>
            <a:r>
              <a:rPr b="0" lang="en-US" sz="4400" spc="-1" strike="noStrike">
                <a:solidFill>
                  <a:schemeClr val="dk1"/>
                </a:solidFill>
                <a:latin typeface="Calibri Light"/>
              </a:rPr>
              <a:t> </a:t>
            </a:r>
            <a:r>
              <a:rPr b="0" lang="en-US" sz="4400" spc="-1" strike="noStrike">
                <a:solidFill>
                  <a:schemeClr val="dk1"/>
                </a:solidFill>
                <a:latin typeface="Calibri Light"/>
              </a:rPr>
              <a:t>t</a:t>
            </a:r>
            <a:r>
              <a:rPr b="0" lang="en-US" sz="4400" spc="-1" strike="noStrike">
                <a:solidFill>
                  <a:schemeClr val="dk1"/>
                </a:solidFill>
                <a:latin typeface="Calibri Light"/>
              </a:rPr>
              <a:t>i</a:t>
            </a:r>
            <a:r>
              <a:rPr b="0" lang="en-US" sz="4400" spc="-1" strike="noStrike">
                <a:solidFill>
                  <a:schemeClr val="dk1"/>
                </a:solidFill>
                <a:latin typeface="Calibri Light"/>
              </a:rPr>
              <a:t>t</a:t>
            </a:r>
            <a:r>
              <a:rPr b="0" lang="en-US" sz="4400" spc="-1" strike="noStrike">
                <a:solidFill>
                  <a:schemeClr val="dk1"/>
                </a:solidFill>
                <a:latin typeface="Calibri Light"/>
              </a:rPr>
              <a:t>l</a:t>
            </a:r>
            <a:r>
              <a:rPr b="0" lang="en-US" sz="4400" spc="-1" strike="noStrike">
                <a:solidFill>
                  <a:schemeClr val="dk1"/>
                </a:solidFill>
                <a:latin typeface="Calibri Light"/>
              </a:rPr>
              <a:t>e</a:t>
            </a:r>
            <a:r>
              <a:rPr b="0" lang="en-US" sz="4400" spc="-1" strike="noStrike">
                <a:solidFill>
                  <a:schemeClr val="dk1"/>
                </a:solidFill>
                <a:latin typeface="Calibri Light"/>
              </a:rPr>
              <a:t> </a:t>
            </a:r>
            <a:r>
              <a:rPr b="0" lang="en-US" sz="4400" spc="-1" strike="noStrike">
                <a:solidFill>
                  <a:schemeClr val="dk1"/>
                </a:solidFill>
                <a:latin typeface="Calibri Light"/>
              </a:rPr>
              <a:t>t</a:t>
            </a:r>
            <a:r>
              <a:rPr b="0" lang="en-US" sz="4400" spc="-1" strike="noStrike">
                <a:solidFill>
                  <a:schemeClr val="dk1"/>
                </a:solidFill>
                <a:latin typeface="Calibri Light"/>
              </a:rPr>
              <a:t>e</a:t>
            </a:r>
            <a:r>
              <a:rPr b="0" lang="en-US" sz="4400" spc="-1" strike="noStrike">
                <a:solidFill>
                  <a:schemeClr val="dk1"/>
                </a:solidFill>
                <a:latin typeface="Calibri Light"/>
              </a:rPr>
              <a:t>x</a:t>
            </a:r>
            <a:r>
              <a:rPr b="0" lang="en-US" sz="4400" spc="-1" strike="noStrike">
                <a:solidFill>
                  <a:schemeClr val="dk1"/>
                </a:solidFill>
                <a:latin typeface="Calibri Light"/>
              </a:rPr>
              <a:t>t </a:t>
            </a:r>
            <a:r>
              <a:rPr b="0" lang="en-US" sz="4400" spc="-1" strike="noStrike">
                <a:solidFill>
                  <a:schemeClr val="dk1"/>
                </a:solidFill>
                <a:latin typeface="Calibri Light"/>
              </a:rPr>
              <a:t>f</a:t>
            </a:r>
            <a:r>
              <a:rPr b="0" lang="en-US" sz="4400" spc="-1" strike="noStrike">
                <a:solidFill>
                  <a:schemeClr val="dk1"/>
                </a:solidFill>
                <a:latin typeface="Calibri Light"/>
              </a:rPr>
              <a:t>o</a:t>
            </a:r>
            <a:r>
              <a:rPr b="0" lang="en-US" sz="4400" spc="-1" strike="noStrike">
                <a:solidFill>
                  <a:schemeClr val="dk1"/>
                </a:solidFill>
                <a:latin typeface="Calibri Light"/>
              </a:rPr>
              <a:t>r</a:t>
            </a:r>
            <a:r>
              <a:rPr b="0" lang="en-US" sz="4400" spc="-1" strike="noStrike">
                <a:solidFill>
                  <a:schemeClr val="dk1"/>
                </a:solidFill>
                <a:latin typeface="Calibri Light"/>
              </a:rPr>
              <a:t>m</a:t>
            </a:r>
            <a:r>
              <a:rPr b="0" lang="en-US" sz="4400" spc="-1" strike="noStrike">
                <a:solidFill>
                  <a:schemeClr val="dk1"/>
                </a:solidFill>
                <a:latin typeface="Calibri Light"/>
              </a:rPr>
              <a:t>a</a:t>
            </a:r>
            <a:r>
              <a:rPr b="0" lang="en-US" sz="4400" spc="-1" strike="noStrike">
                <a:solidFill>
                  <a:schemeClr val="dk1"/>
                </a:solidFill>
                <a:latin typeface="Calibri Light"/>
              </a:rPr>
              <a:t>t</a:t>
            </a:r>
            <a:endParaRPr b="0" lang="en-US" sz="4400" spc="-1" strike="noStrike">
              <a:solidFill>
                <a:schemeClr val="dk1"/>
              </a:solidFill>
              <a:latin typeface="Calibri Light"/>
            </a:endParaRPr>
          </a:p>
        </p:txBody>
      </p:sp>
      <p:sp>
        <p:nvSpPr>
          <p:cNvPr id="2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2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a:t>
            </a:r>
            <a:r>
              <a:rPr b="0" lang="en-US" sz="4400" spc="-1" strike="noStrike">
                <a:solidFill>
                  <a:schemeClr val="dk1"/>
                </a:solidFill>
                <a:latin typeface="Calibri Light"/>
              </a:rPr>
              <a:t>format</a:t>
            </a:r>
            <a:endParaRPr b="0" lang="en-US" sz="4400" spc="-1" strike="noStrike">
              <a:solidFill>
                <a:schemeClr val="dk1"/>
              </a:solidFill>
              <a:latin typeface="Calibri Light"/>
            </a:endParaRPr>
          </a:p>
        </p:txBody>
      </p:sp>
      <p:sp>
        <p:nvSpPr>
          <p:cNvPr id="3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3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3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4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10.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image" Target="../media/image13.png"/><Relationship Id="rId8" Type="http://schemas.openxmlformats.org/officeDocument/2006/relationships/image" Target="../media/image14.svg"/><Relationship Id="rId9" Type="http://schemas.openxmlformats.org/officeDocument/2006/relationships/slideLayout" Target="../slideLayouts/slideLayout11.xml"/><Relationship Id="rId10"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image" Target="../media/image18.png"/><Relationship Id="rId5" Type="http://schemas.openxmlformats.org/officeDocument/2006/relationships/image" Target="../media/image19.svg"/><Relationship Id="rId6" Type="http://schemas.openxmlformats.org/officeDocument/2006/relationships/image" Target="../media/image20.png"/><Relationship Id="rId7" Type="http://schemas.openxmlformats.org/officeDocument/2006/relationships/image" Target="../media/image21.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image" Target="../media/image24.png"/><Relationship Id="rId11" Type="http://schemas.openxmlformats.org/officeDocument/2006/relationships/image" Target="../media/image25.svg"/><Relationship Id="rId12" Type="http://schemas.openxmlformats.org/officeDocument/2006/relationships/slideLayout" Target="../slideLayouts/slideLayout12.xml"/><Relationship Id="rId1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2.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slideLayout" Target="../slideLayouts/slideLayout4.xml"/><Relationship Id="rId6"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Image 0" descr="preencoded.png"/>
          <p:cNvPicPr/>
          <p:nvPr/>
        </p:nvPicPr>
        <p:blipFill>
          <a:blip r:embed="rId1"/>
          <a:stretch/>
        </p:blipFill>
        <p:spPr>
          <a:xfrm>
            <a:off x="0" y="0"/>
            <a:ext cx="5486040" cy="8229240"/>
          </a:xfrm>
          <a:prstGeom prst="rect">
            <a:avLst/>
          </a:prstGeom>
          <a:ln w="0">
            <a:noFill/>
          </a:ln>
        </p:spPr>
      </p:pic>
      <p:sp>
        <p:nvSpPr>
          <p:cNvPr id="51" name="Text 0"/>
          <p:cNvSpPr/>
          <p:nvPr/>
        </p:nvSpPr>
        <p:spPr>
          <a:xfrm>
            <a:off x="6350040" y="2223360"/>
            <a:ext cx="7416000" cy="1840320"/>
          </a:xfrm>
          <a:prstGeom prst="rect">
            <a:avLst/>
          </a:prstGeom>
          <a:noFill/>
          <a:ln w="0">
            <a:noFill/>
          </a:ln>
        </p:spPr>
        <p:style>
          <a:lnRef idx="0"/>
          <a:fillRef idx="0"/>
          <a:effectRef idx="0"/>
          <a:fontRef idx="minor"/>
        </p:style>
        <p:txBody>
          <a:bodyPr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SI-nın Ağıllı Prosesi Avtomatlaşdırması: RPA-dan IPA-ya</a:t>
            </a:r>
            <a:endParaRPr b="0" lang="en-US" sz="3850" spc="-1" strike="noStrike">
              <a:solidFill>
                <a:srgbClr val="000000"/>
              </a:solidFill>
              <a:latin typeface="Arial"/>
            </a:endParaRPr>
          </a:p>
        </p:txBody>
      </p:sp>
      <p:sp>
        <p:nvSpPr>
          <p:cNvPr id="52" name="Text 1"/>
          <p:cNvSpPr/>
          <p:nvPr/>
        </p:nvSpPr>
        <p:spPr>
          <a:xfrm>
            <a:off x="6350040" y="4387680"/>
            <a:ext cx="7416000" cy="971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Gündəlik tapşırıqların sadə avtomatlaşdırılmasından süni intellektlə gücləndirilmiş, konteksti başa düşən sistemlərə doğru — müasir iş dünyasının transformasiya yolculuğu.</a:t>
            </a:r>
            <a:endParaRPr b="0" lang="en-US" sz="1700" spc="-1" strike="noStrike">
              <a:solidFill>
                <a:srgbClr val="000000"/>
              </a:solidFill>
              <a:latin typeface="Arial"/>
            </a:endParaRPr>
          </a:p>
        </p:txBody>
      </p:sp>
      <p:sp>
        <p:nvSpPr>
          <p:cNvPr id="53" name="Shape 2"/>
          <p:cNvSpPr/>
          <p:nvPr/>
        </p:nvSpPr>
        <p:spPr>
          <a:xfrm>
            <a:off x="6458040" y="5602320"/>
            <a:ext cx="1993320" cy="403560"/>
          </a:xfrm>
          <a:prstGeom prst="roundRect">
            <a:avLst>
              <a:gd name="adj" fmla="val 6417"/>
            </a:avLst>
          </a:prstGeom>
          <a:noFill/>
          <a:ln w="762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4" name="Text 3"/>
          <p:cNvSpPr/>
          <p:nvPr/>
        </p:nvSpPr>
        <p:spPr>
          <a:xfrm>
            <a:off x="6487200" y="5675040"/>
            <a:ext cx="1719000" cy="25884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350" spc="-1" strike="noStrike">
                <a:solidFill>
                  <a:srgbClr val="ffffff"/>
                </a:solidFill>
                <a:latin typeface="Source Sans 3"/>
                <a:ea typeface="Source Sans 3"/>
              </a:rPr>
              <a:t>PEŞƏKAR TƏLIM KURSU</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Text 0"/>
          <p:cNvSpPr/>
          <p:nvPr/>
        </p:nvSpPr>
        <p:spPr>
          <a:xfrm>
            <a:off x="863640" y="1287360"/>
            <a:ext cx="6846120" cy="61308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Bu Gün Nəyi Öyrənəcəyik?</a:t>
            </a:r>
            <a:endParaRPr b="0" lang="en-US" sz="3850" spc="-1" strike="noStrike">
              <a:solidFill>
                <a:srgbClr val="000000"/>
              </a:solidFill>
              <a:latin typeface="Arial"/>
            </a:endParaRPr>
          </a:p>
        </p:txBody>
      </p:sp>
      <p:sp>
        <p:nvSpPr>
          <p:cNvPr id="56" name="Text 1"/>
          <p:cNvSpPr/>
          <p:nvPr/>
        </p:nvSpPr>
        <p:spPr>
          <a:xfrm>
            <a:off x="863640" y="2332800"/>
            <a:ext cx="1290240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Bu dərsdə biz gündəlik tapşırıqların avtomatlaşdırılmasından intellektual avtomatlaşdırmaya keçidin yolunu birlikdə kəşf edəcəyik — məhz o nöqtəyə çatacağıq ki, süni intellekt artıq yalnız icra etmir, </a:t>
            </a:r>
            <a:r>
              <a:rPr b="1" lang="en-US" sz="1700" spc="-1" strike="noStrike">
                <a:solidFill>
                  <a:srgbClr val="e2e6e9"/>
                </a:solidFill>
                <a:latin typeface="Source Sans 3"/>
                <a:ea typeface="Source Sans 3"/>
              </a:rPr>
              <a:t>konteksti başa düşür</a:t>
            </a:r>
            <a:r>
              <a:rPr b="0" lang="en-US" sz="1700" spc="-1" strike="noStrike">
                <a:solidFill>
                  <a:srgbClr val="e2e6e9"/>
                </a:solidFill>
                <a:latin typeface="Source Sans 3"/>
                <a:ea typeface="Source Sans 3"/>
              </a:rPr>
              <a:t>.</a:t>
            </a:r>
            <a:endParaRPr b="0" lang="en-US" sz="1700" spc="-1" strike="noStrike">
              <a:solidFill>
                <a:srgbClr val="000000"/>
              </a:solidFill>
              <a:latin typeface="Arial"/>
            </a:endParaRPr>
          </a:p>
        </p:txBody>
      </p:sp>
      <p:sp>
        <p:nvSpPr>
          <p:cNvPr id="57" name="Text 2"/>
          <p:cNvSpPr/>
          <p:nvPr/>
        </p:nvSpPr>
        <p:spPr>
          <a:xfrm>
            <a:off x="863640" y="3223440"/>
            <a:ext cx="215640" cy="2696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01</a:t>
            </a:r>
            <a:endParaRPr b="0" lang="en-US" sz="1700" spc="-1" strike="noStrike">
              <a:solidFill>
                <a:srgbClr val="000000"/>
              </a:solidFill>
              <a:latin typeface="Arial"/>
            </a:endParaRPr>
          </a:p>
        </p:txBody>
      </p:sp>
      <p:sp>
        <p:nvSpPr>
          <p:cNvPr id="58" name="Shape 3"/>
          <p:cNvSpPr/>
          <p:nvPr/>
        </p:nvSpPr>
        <p:spPr>
          <a:xfrm>
            <a:off x="863640" y="3560040"/>
            <a:ext cx="6343200" cy="30240"/>
          </a:xfrm>
          <a:prstGeom prst="rect">
            <a:avLst/>
          </a:prstGeom>
          <a:solidFill>
            <a:srgbClr val="ffffff"/>
          </a:solidFill>
          <a:ln w="0">
            <a:noFill/>
          </a:ln>
        </p:spPr>
        <p:style>
          <a:lnRef idx="0"/>
          <a:fillRef idx="0"/>
          <a:effectRef idx="0"/>
          <a:fontRef idx="minor"/>
        </p:style>
        <p:txBody>
          <a:bodyPr lIns="90000" rIns="90000" tIns="-14400" bIns="-14400" anchor="t">
            <a:noAutofit/>
          </a:bodyPr>
          <a:p>
            <a:endParaRPr b="0" lang="en-US" sz="1800" spc="-1" strike="noStrike">
              <a:solidFill>
                <a:srgbClr val="000000"/>
              </a:solidFill>
              <a:latin typeface="Arial"/>
            </a:endParaRPr>
          </a:p>
        </p:txBody>
      </p:sp>
      <p:sp>
        <p:nvSpPr>
          <p:cNvPr id="59" name="Text 4"/>
          <p:cNvSpPr/>
          <p:nvPr/>
        </p:nvSpPr>
        <p:spPr>
          <a:xfrm>
            <a:off x="863640" y="3728880"/>
            <a:ext cx="245376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RPA-nı anlamaq</a:t>
            </a:r>
            <a:endParaRPr b="0" lang="en-US" sz="1900" spc="-1" strike="noStrike">
              <a:solidFill>
                <a:srgbClr val="000000"/>
              </a:solidFill>
              <a:latin typeface="Arial"/>
            </a:endParaRPr>
          </a:p>
        </p:txBody>
      </p:sp>
      <p:sp>
        <p:nvSpPr>
          <p:cNvPr id="60" name="Text 5"/>
          <p:cNvSpPr/>
          <p:nvPr/>
        </p:nvSpPr>
        <p:spPr>
          <a:xfrm>
            <a:off x="863640" y="4165200"/>
            <a:ext cx="634320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Robot Proses Avtomatlaşdırmasının əsas prinsiplərini, üstünlüklərini və klassik istifadə hallarını öyrənmək.</a:t>
            </a:r>
            <a:endParaRPr b="0" lang="en-US" sz="1700" spc="-1" strike="noStrike">
              <a:solidFill>
                <a:srgbClr val="000000"/>
              </a:solidFill>
              <a:latin typeface="Arial"/>
            </a:endParaRPr>
          </a:p>
        </p:txBody>
      </p:sp>
      <p:sp>
        <p:nvSpPr>
          <p:cNvPr id="61" name="Text 6"/>
          <p:cNvSpPr/>
          <p:nvPr/>
        </p:nvSpPr>
        <p:spPr>
          <a:xfrm>
            <a:off x="7423200" y="3223440"/>
            <a:ext cx="215640" cy="2696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02</a:t>
            </a:r>
            <a:endParaRPr b="0" lang="en-US" sz="1700" spc="-1" strike="noStrike">
              <a:solidFill>
                <a:srgbClr val="000000"/>
              </a:solidFill>
              <a:latin typeface="Arial"/>
            </a:endParaRPr>
          </a:p>
        </p:txBody>
      </p:sp>
      <p:sp>
        <p:nvSpPr>
          <p:cNvPr id="62" name="Shape 7"/>
          <p:cNvSpPr/>
          <p:nvPr/>
        </p:nvSpPr>
        <p:spPr>
          <a:xfrm>
            <a:off x="7423200" y="3560040"/>
            <a:ext cx="6343200" cy="30240"/>
          </a:xfrm>
          <a:prstGeom prst="rect">
            <a:avLst/>
          </a:prstGeom>
          <a:solidFill>
            <a:srgbClr val="ffffff"/>
          </a:solidFill>
          <a:ln w="0">
            <a:noFill/>
          </a:ln>
        </p:spPr>
        <p:style>
          <a:lnRef idx="0"/>
          <a:fillRef idx="0"/>
          <a:effectRef idx="0"/>
          <a:fontRef idx="minor"/>
        </p:style>
        <p:txBody>
          <a:bodyPr lIns="90000" rIns="90000" tIns="-14400" bIns="-14400" anchor="t">
            <a:noAutofit/>
          </a:bodyPr>
          <a:p>
            <a:endParaRPr b="0" lang="en-US" sz="1800" spc="-1" strike="noStrike">
              <a:solidFill>
                <a:srgbClr val="000000"/>
              </a:solidFill>
              <a:latin typeface="Arial"/>
            </a:endParaRPr>
          </a:p>
        </p:txBody>
      </p:sp>
      <p:sp>
        <p:nvSpPr>
          <p:cNvPr id="63" name="Text 8"/>
          <p:cNvSpPr/>
          <p:nvPr/>
        </p:nvSpPr>
        <p:spPr>
          <a:xfrm>
            <a:off x="7423200" y="3728880"/>
            <a:ext cx="463320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Məhdudiyyətləri müəyyənləşdirmək</a:t>
            </a:r>
            <a:endParaRPr b="0" lang="en-US" sz="1900" spc="-1" strike="noStrike">
              <a:solidFill>
                <a:srgbClr val="000000"/>
              </a:solidFill>
              <a:latin typeface="Arial"/>
            </a:endParaRPr>
          </a:p>
        </p:txBody>
      </p:sp>
      <p:sp>
        <p:nvSpPr>
          <p:cNvPr id="64" name="Text 9"/>
          <p:cNvSpPr/>
          <p:nvPr/>
        </p:nvSpPr>
        <p:spPr>
          <a:xfrm>
            <a:off x="7423200" y="4165200"/>
            <a:ext cx="634320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Klassik RPA-nın harada dayandığını və niyə daha ağıllı həllərə ehtiyac olduğunu anlamaq.</a:t>
            </a:r>
            <a:endParaRPr b="0" lang="en-US" sz="1700" spc="-1" strike="noStrike">
              <a:solidFill>
                <a:srgbClr val="000000"/>
              </a:solidFill>
              <a:latin typeface="Arial"/>
            </a:endParaRPr>
          </a:p>
        </p:txBody>
      </p:sp>
      <p:sp>
        <p:nvSpPr>
          <p:cNvPr id="65" name="Text 10"/>
          <p:cNvSpPr/>
          <p:nvPr/>
        </p:nvSpPr>
        <p:spPr>
          <a:xfrm>
            <a:off x="863640" y="5190840"/>
            <a:ext cx="215640" cy="2696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03</a:t>
            </a:r>
            <a:endParaRPr b="0" lang="en-US" sz="1700" spc="-1" strike="noStrike">
              <a:solidFill>
                <a:srgbClr val="000000"/>
              </a:solidFill>
              <a:latin typeface="Arial"/>
            </a:endParaRPr>
          </a:p>
        </p:txBody>
      </p:sp>
      <p:sp>
        <p:nvSpPr>
          <p:cNvPr id="66" name="Shape 11"/>
          <p:cNvSpPr/>
          <p:nvPr/>
        </p:nvSpPr>
        <p:spPr>
          <a:xfrm>
            <a:off x="863640" y="5527080"/>
            <a:ext cx="6343200" cy="30240"/>
          </a:xfrm>
          <a:prstGeom prst="rect">
            <a:avLst/>
          </a:prstGeom>
          <a:solidFill>
            <a:srgbClr val="ffffff"/>
          </a:solidFill>
          <a:ln w="0">
            <a:noFill/>
          </a:ln>
        </p:spPr>
        <p:style>
          <a:lnRef idx="0"/>
          <a:fillRef idx="0"/>
          <a:effectRef idx="0"/>
          <a:fontRef idx="minor"/>
        </p:style>
        <p:txBody>
          <a:bodyPr lIns="90000" rIns="90000" tIns="-14400" bIns="-14400" anchor="t">
            <a:noAutofit/>
          </a:bodyPr>
          <a:p>
            <a:endParaRPr b="0" lang="en-US" sz="1800" spc="-1" strike="noStrike">
              <a:solidFill>
                <a:srgbClr val="000000"/>
              </a:solidFill>
              <a:latin typeface="Arial"/>
            </a:endParaRPr>
          </a:p>
        </p:txBody>
      </p:sp>
      <p:sp>
        <p:nvSpPr>
          <p:cNvPr id="67" name="Text 12"/>
          <p:cNvSpPr/>
          <p:nvPr/>
        </p:nvSpPr>
        <p:spPr>
          <a:xfrm>
            <a:off x="863640" y="5695920"/>
            <a:ext cx="245376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IPA-ya keçid</a:t>
            </a:r>
            <a:endParaRPr b="0" lang="en-US" sz="1900" spc="-1" strike="noStrike">
              <a:solidFill>
                <a:srgbClr val="000000"/>
              </a:solidFill>
              <a:latin typeface="Arial"/>
            </a:endParaRPr>
          </a:p>
        </p:txBody>
      </p:sp>
      <p:sp>
        <p:nvSpPr>
          <p:cNvPr id="68" name="Text 13"/>
          <p:cNvSpPr/>
          <p:nvPr/>
        </p:nvSpPr>
        <p:spPr>
          <a:xfrm>
            <a:off x="863640" y="6132240"/>
            <a:ext cx="634320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Süni intellekt texnologiyalarının RPA ilə necə birləşərək Ağıllı Proses Avtomatlaşdırmasını yaratdığını kəşf etmək.</a:t>
            </a:r>
            <a:endParaRPr b="0" lang="en-US" sz="1700" spc="-1" strike="noStrike">
              <a:solidFill>
                <a:srgbClr val="000000"/>
              </a:solidFill>
              <a:latin typeface="Arial"/>
            </a:endParaRPr>
          </a:p>
        </p:txBody>
      </p:sp>
      <p:sp>
        <p:nvSpPr>
          <p:cNvPr id="69" name="Text 14"/>
          <p:cNvSpPr/>
          <p:nvPr/>
        </p:nvSpPr>
        <p:spPr>
          <a:xfrm>
            <a:off x="7423200" y="5190840"/>
            <a:ext cx="215640" cy="2696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04</a:t>
            </a:r>
            <a:endParaRPr b="0" lang="en-US" sz="1700" spc="-1" strike="noStrike">
              <a:solidFill>
                <a:srgbClr val="000000"/>
              </a:solidFill>
              <a:latin typeface="Arial"/>
            </a:endParaRPr>
          </a:p>
        </p:txBody>
      </p:sp>
      <p:sp>
        <p:nvSpPr>
          <p:cNvPr id="70" name="Shape 15"/>
          <p:cNvSpPr/>
          <p:nvPr/>
        </p:nvSpPr>
        <p:spPr>
          <a:xfrm>
            <a:off x="7423200" y="5527080"/>
            <a:ext cx="6343200" cy="30240"/>
          </a:xfrm>
          <a:prstGeom prst="rect">
            <a:avLst/>
          </a:prstGeom>
          <a:solidFill>
            <a:srgbClr val="ffffff"/>
          </a:solidFill>
          <a:ln w="0">
            <a:noFill/>
          </a:ln>
        </p:spPr>
        <p:style>
          <a:lnRef idx="0"/>
          <a:fillRef idx="0"/>
          <a:effectRef idx="0"/>
          <a:fontRef idx="minor"/>
        </p:style>
        <p:txBody>
          <a:bodyPr lIns="90000" rIns="90000" tIns="-14400" bIns="-14400" anchor="t">
            <a:noAutofit/>
          </a:bodyPr>
          <a:p>
            <a:endParaRPr b="0" lang="en-US" sz="1800" spc="-1" strike="noStrike">
              <a:solidFill>
                <a:srgbClr val="000000"/>
              </a:solidFill>
              <a:latin typeface="Arial"/>
            </a:endParaRPr>
          </a:p>
        </p:txBody>
      </p:sp>
      <p:sp>
        <p:nvSpPr>
          <p:cNvPr id="71" name="Text 16"/>
          <p:cNvSpPr/>
          <p:nvPr/>
        </p:nvSpPr>
        <p:spPr>
          <a:xfrm>
            <a:off x="7423200" y="5695920"/>
            <a:ext cx="245376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Praktiki tətbiq</a:t>
            </a:r>
            <a:endParaRPr b="0" lang="en-US" sz="1900" spc="-1" strike="noStrike">
              <a:solidFill>
                <a:srgbClr val="000000"/>
              </a:solidFill>
              <a:latin typeface="Arial"/>
            </a:endParaRPr>
          </a:p>
        </p:txBody>
      </p:sp>
      <p:sp>
        <p:nvSpPr>
          <p:cNvPr id="72" name="Text 17"/>
          <p:cNvSpPr/>
          <p:nvPr/>
        </p:nvSpPr>
        <p:spPr>
          <a:xfrm>
            <a:off x="7423200" y="6132240"/>
            <a:ext cx="634320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Real iş ssenarilərini təhlil etmək, ROI hesablamaq və öz prosesinizi avtomatlaşdırmaq üçün addımlar atmaq.</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3" name="Image 0" descr="preencoded.png"/>
          <p:cNvPicPr/>
          <p:nvPr/>
        </p:nvPicPr>
        <p:blipFill>
          <a:blip r:embed="rId1"/>
          <a:stretch/>
        </p:blipFill>
        <p:spPr>
          <a:xfrm>
            <a:off x="9144000" y="0"/>
            <a:ext cx="5486040" cy="8229240"/>
          </a:xfrm>
          <a:prstGeom prst="rect">
            <a:avLst/>
          </a:prstGeom>
          <a:ln w="0">
            <a:noFill/>
          </a:ln>
        </p:spPr>
      </p:pic>
      <p:sp>
        <p:nvSpPr>
          <p:cNvPr id="74" name="Text 0"/>
          <p:cNvSpPr/>
          <p:nvPr/>
        </p:nvSpPr>
        <p:spPr>
          <a:xfrm>
            <a:off x="863640" y="775440"/>
            <a:ext cx="4908240" cy="61308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RPA Nədir?</a:t>
            </a:r>
            <a:endParaRPr b="0" lang="en-US" sz="3850" spc="-1" strike="noStrike">
              <a:solidFill>
                <a:srgbClr val="000000"/>
              </a:solidFill>
              <a:latin typeface="Arial"/>
            </a:endParaRPr>
          </a:p>
        </p:txBody>
      </p:sp>
      <p:sp>
        <p:nvSpPr>
          <p:cNvPr id="75" name="Text 1"/>
          <p:cNvSpPr/>
          <p:nvPr/>
        </p:nvSpPr>
        <p:spPr>
          <a:xfrm>
            <a:off x="863640" y="1424880"/>
            <a:ext cx="7416000" cy="1295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e2e6e9"/>
                </a:solidFill>
                <a:latin typeface="Source Sans 3"/>
                <a:ea typeface="Source Sans 3"/>
              </a:rPr>
              <a:t>Robot Proses Avtomatlaşdırması (RPA)</a:t>
            </a:r>
            <a:r>
              <a:rPr b="0" lang="en-US" sz="1700" spc="-1" strike="noStrike">
                <a:solidFill>
                  <a:srgbClr val="e2e6e9"/>
                </a:solidFill>
                <a:latin typeface="Source Sans 3"/>
                <a:ea typeface="Source Sans 3"/>
              </a:rPr>
              <a:t> — proqram təminatı "botları" vasitəsilə insan hərəkətlərini kompüter interfeyslərində dəqiq şəkildə təqlid edən texnologiyadır. Bot sizin əvəzinizə məlumat daxil edir, kopyalayır, yapışdırır, elektron poçt göndərir və sistemlər arasında məlumat ötürür.</a:t>
            </a:r>
            <a:endParaRPr b="0" lang="en-US" sz="1700" spc="-1" strike="noStrike">
              <a:solidFill>
                <a:srgbClr val="000000"/>
              </a:solidFill>
              <a:latin typeface="Arial"/>
            </a:endParaRPr>
          </a:p>
        </p:txBody>
      </p:sp>
      <p:sp>
        <p:nvSpPr>
          <p:cNvPr id="76" name="Shape 2"/>
          <p:cNvSpPr/>
          <p:nvPr/>
        </p:nvSpPr>
        <p:spPr>
          <a:xfrm>
            <a:off x="863640" y="3251880"/>
            <a:ext cx="3600000" cy="2470320"/>
          </a:xfrm>
          <a:prstGeom prst="roundRect">
            <a:avLst>
              <a:gd name="adj" fmla="val 1311"/>
            </a:avLst>
          </a:prstGeom>
          <a:solidFill>
            <a:srgbClr val="30313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 name="Text 3"/>
          <p:cNvSpPr/>
          <p:nvPr/>
        </p:nvSpPr>
        <p:spPr>
          <a:xfrm>
            <a:off x="1079640" y="3467520"/>
            <a:ext cx="245376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Qaydalara əsaslı</a:t>
            </a:r>
            <a:endParaRPr b="0" lang="en-US" sz="1900" spc="-1" strike="noStrike">
              <a:solidFill>
                <a:srgbClr val="000000"/>
              </a:solidFill>
              <a:latin typeface="Arial"/>
            </a:endParaRPr>
          </a:p>
        </p:txBody>
      </p:sp>
      <p:sp>
        <p:nvSpPr>
          <p:cNvPr id="78" name="Text 4"/>
          <p:cNvSpPr/>
          <p:nvPr/>
        </p:nvSpPr>
        <p:spPr>
          <a:xfrm>
            <a:off x="1079640" y="3903840"/>
            <a:ext cx="3168000" cy="1295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Bot yalnız əvvəlcədən təyin edilmiş, aydın qaydalara uyğun işləyir. Hər addım dəqiq proqramlaşdırılmışdır.</a:t>
            </a:r>
            <a:endParaRPr b="0" lang="en-US" sz="1700" spc="-1" strike="noStrike">
              <a:solidFill>
                <a:srgbClr val="000000"/>
              </a:solidFill>
              <a:latin typeface="Arial"/>
            </a:endParaRPr>
          </a:p>
        </p:txBody>
      </p:sp>
      <p:sp>
        <p:nvSpPr>
          <p:cNvPr id="79" name="Shape 5"/>
          <p:cNvSpPr/>
          <p:nvPr/>
        </p:nvSpPr>
        <p:spPr>
          <a:xfrm>
            <a:off x="4680000" y="3251880"/>
            <a:ext cx="3600000" cy="2470320"/>
          </a:xfrm>
          <a:prstGeom prst="roundRect">
            <a:avLst>
              <a:gd name="adj" fmla="val 1311"/>
            </a:avLst>
          </a:prstGeom>
          <a:solidFill>
            <a:srgbClr val="30313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0" name="Text 6"/>
          <p:cNvSpPr/>
          <p:nvPr/>
        </p:nvSpPr>
        <p:spPr>
          <a:xfrm>
            <a:off x="4895640" y="3467520"/>
            <a:ext cx="3168360" cy="61308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İnterfeys səviyyəsində</a:t>
            </a:r>
            <a:endParaRPr b="0" lang="en-US" sz="1900" spc="-1" strike="noStrike">
              <a:solidFill>
                <a:srgbClr val="000000"/>
              </a:solidFill>
              <a:latin typeface="Arial"/>
            </a:endParaRPr>
          </a:p>
        </p:txBody>
      </p:sp>
      <p:sp>
        <p:nvSpPr>
          <p:cNvPr id="81" name="Text 7"/>
          <p:cNvSpPr/>
          <p:nvPr/>
        </p:nvSpPr>
        <p:spPr>
          <a:xfrm>
            <a:off x="4895640" y="4210560"/>
            <a:ext cx="3168360" cy="1295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Proqramların daxilinə müdaxilə etmədən, ekrandakı elementləri "görərək" hərəkət edir — insan kimi.</a:t>
            </a:r>
            <a:endParaRPr b="0" lang="en-US" sz="1700" spc="-1" strike="noStrike">
              <a:solidFill>
                <a:srgbClr val="000000"/>
              </a:solidFill>
              <a:latin typeface="Arial"/>
            </a:endParaRPr>
          </a:p>
        </p:txBody>
      </p:sp>
      <p:sp>
        <p:nvSpPr>
          <p:cNvPr id="82" name="Shape 8"/>
          <p:cNvSpPr/>
          <p:nvPr/>
        </p:nvSpPr>
        <p:spPr>
          <a:xfrm>
            <a:off x="863640" y="5938200"/>
            <a:ext cx="7416000" cy="1515600"/>
          </a:xfrm>
          <a:prstGeom prst="roundRect">
            <a:avLst>
              <a:gd name="adj" fmla="val 2137"/>
            </a:avLst>
          </a:prstGeom>
          <a:solidFill>
            <a:srgbClr val="30313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3" name="Text 9"/>
          <p:cNvSpPr/>
          <p:nvPr/>
        </p:nvSpPr>
        <p:spPr>
          <a:xfrm>
            <a:off x="1079640" y="6153840"/>
            <a:ext cx="245376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Sürətli icra</a:t>
            </a:r>
            <a:endParaRPr b="0" lang="en-US" sz="1900" spc="-1" strike="noStrike">
              <a:solidFill>
                <a:srgbClr val="000000"/>
              </a:solidFill>
              <a:latin typeface="Arial"/>
            </a:endParaRPr>
          </a:p>
        </p:txBody>
      </p:sp>
      <p:sp>
        <p:nvSpPr>
          <p:cNvPr id="84" name="Text 10"/>
          <p:cNvSpPr/>
          <p:nvPr/>
        </p:nvSpPr>
        <p:spPr>
          <a:xfrm>
            <a:off x="1079640" y="6590160"/>
            <a:ext cx="698436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Eyni tapşırığı gecə-gündüz, fasiləsiz, səhvsiz şəkildə yerinə yetirir — insan sürətindən dəfələrlə sürətli.</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Text 0"/>
          <p:cNvSpPr/>
          <p:nvPr/>
        </p:nvSpPr>
        <p:spPr>
          <a:xfrm>
            <a:off x="863640" y="1557000"/>
            <a:ext cx="8353800" cy="61308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Klassik RPA-nın Məhdudiyyətləri</a:t>
            </a:r>
            <a:endParaRPr b="0" lang="en-US" sz="3850" spc="-1" strike="noStrike">
              <a:solidFill>
                <a:srgbClr val="000000"/>
              </a:solidFill>
              <a:latin typeface="Arial"/>
            </a:endParaRPr>
          </a:p>
        </p:txBody>
      </p:sp>
      <p:sp>
        <p:nvSpPr>
          <p:cNvPr id="86" name="Text 1"/>
          <p:cNvSpPr/>
          <p:nvPr/>
        </p:nvSpPr>
        <p:spPr>
          <a:xfrm>
            <a:off x="863640" y="2602440"/>
            <a:ext cx="1290240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RPA güclü bir alətdir, lakin hər problemin həlli deyil. Qurulmamış məlumatlarla üzləşdikdə və ya gözlənilməz vəziyyətlər yarandıqda klassik RPA botları çaşıb qalır. Bu məhdudiyyətlər bizə daha ağıllı bir həllə — IPA-ya doğru baxmağı məcbur edir.</a:t>
            </a:r>
            <a:endParaRPr b="0" lang="en-US" sz="1700" spc="-1" strike="noStrike">
              <a:solidFill>
                <a:srgbClr val="000000"/>
              </a:solidFill>
              <a:latin typeface="Arial"/>
            </a:endParaRPr>
          </a:p>
        </p:txBody>
      </p:sp>
      <p:sp>
        <p:nvSpPr>
          <p:cNvPr id="87" name="Shape 2"/>
          <p:cNvSpPr/>
          <p:nvPr/>
        </p:nvSpPr>
        <p:spPr>
          <a:xfrm>
            <a:off x="863640" y="3493080"/>
            <a:ext cx="4156560" cy="3179160"/>
          </a:xfrm>
          <a:prstGeom prst="roundRect">
            <a:avLst>
              <a:gd name="adj" fmla="val 4602"/>
            </a:avLst>
          </a:prstGeom>
          <a:solidFill>
            <a:srgbClr val="111213"/>
          </a:solidFill>
          <a:ln w="30480">
            <a:solidFill>
              <a:srgbClr val="494a4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8" name="Shape 3"/>
          <p:cNvSpPr/>
          <p:nvPr/>
        </p:nvSpPr>
        <p:spPr>
          <a:xfrm>
            <a:off x="833400" y="3493080"/>
            <a:ext cx="121680" cy="317916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9" name="Text 4"/>
          <p:cNvSpPr/>
          <p:nvPr/>
        </p:nvSpPr>
        <p:spPr>
          <a:xfrm>
            <a:off x="1201680" y="3703680"/>
            <a:ext cx="3572640" cy="61308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Qurulmamış məlumatlarla işləyə bilmir</a:t>
            </a:r>
            <a:endParaRPr b="0" lang="en-US" sz="1900" spc="-1" strike="noStrike">
              <a:solidFill>
                <a:srgbClr val="000000"/>
              </a:solidFill>
              <a:latin typeface="Arial"/>
            </a:endParaRPr>
          </a:p>
        </p:txBody>
      </p:sp>
      <p:sp>
        <p:nvSpPr>
          <p:cNvPr id="90" name="Text 5"/>
          <p:cNvSpPr/>
          <p:nvPr/>
        </p:nvSpPr>
        <p:spPr>
          <a:xfrm>
            <a:off x="1201680" y="4338360"/>
            <a:ext cx="3572640" cy="19432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Elektron məktublar, PDF sənədlər, skanlanan formalar, əl yazısı — bunlar standart RPA üçün "görünməz"dir. Bot yalnız strukturlaşdırılmış, proqnozlaşdırılan məlumatları emal edə bilər.</a:t>
            </a:r>
            <a:endParaRPr b="0" lang="en-US" sz="1700" spc="-1" strike="noStrike">
              <a:solidFill>
                <a:srgbClr val="000000"/>
              </a:solidFill>
              <a:latin typeface="Arial"/>
            </a:endParaRPr>
          </a:p>
        </p:txBody>
      </p:sp>
      <p:sp>
        <p:nvSpPr>
          <p:cNvPr id="91" name="Shape 6"/>
          <p:cNvSpPr/>
          <p:nvPr/>
        </p:nvSpPr>
        <p:spPr>
          <a:xfrm>
            <a:off x="5236560" y="3493080"/>
            <a:ext cx="4156560" cy="3179160"/>
          </a:xfrm>
          <a:prstGeom prst="roundRect">
            <a:avLst>
              <a:gd name="adj" fmla="val 4602"/>
            </a:avLst>
          </a:prstGeom>
          <a:solidFill>
            <a:srgbClr val="111213"/>
          </a:solidFill>
          <a:ln w="30480">
            <a:solidFill>
              <a:srgbClr val="494a4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2" name="Shape 7"/>
          <p:cNvSpPr/>
          <p:nvPr/>
        </p:nvSpPr>
        <p:spPr>
          <a:xfrm>
            <a:off x="5205960" y="3493080"/>
            <a:ext cx="121680" cy="317916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3" name="Text 8"/>
          <p:cNvSpPr/>
          <p:nvPr/>
        </p:nvSpPr>
        <p:spPr>
          <a:xfrm>
            <a:off x="5574240" y="3739680"/>
            <a:ext cx="3572640" cy="61308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Müstəqil qərar qəbul edə bilmir</a:t>
            </a:r>
            <a:endParaRPr b="0" lang="en-US" sz="1900" spc="-1" strike="noStrike">
              <a:solidFill>
                <a:srgbClr val="000000"/>
              </a:solidFill>
              <a:latin typeface="Arial"/>
            </a:endParaRPr>
          </a:p>
        </p:txBody>
      </p:sp>
      <p:sp>
        <p:nvSpPr>
          <p:cNvPr id="94" name="Text 9"/>
          <p:cNvSpPr/>
          <p:nvPr/>
        </p:nvSpPr>
        <p:spPr>
          <a:xfrm>
            <a:off x="5574240" y="4482360"/>
            <a:ext cx="3572640" cy="1619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Qaydaların xaricindəki hər hansı vəziyyət botu dayandırır. İstisna hallar, anormal məlumatlar və ya qeyri-standart ssenarilər üçün mütləq insan müdaxiləsi tələb olunur.</a:t>
            </a:r>
            <a:endParaRPr b="0" lang="en-US" sz="1700" spc="-1" strike="noStrike">
              <a:solidFill>
                <a:srgbClr val="000000"/>
              </a:solidFill>
              <a:latin typeface="Arial"/>
            </a:endParaRPr>
          </a:p>
        </p:txBody>
      </p:sp>
      <p:sp>
        <p:nvSpPr>
          <p:cNvPr id="95" name="Shape 10"/>
          <p:cNvSpPr/>
          <p:nvPr/>
        </p:nvSpPr>
        <p:spPr>
          <a:xfrm>
            <a:off x="9609480" y="3493080"/>
            <a:ext cx="4156560" cy="3179160"/>
          </a:xfrm>
          <a:prstGeom prst="roundRect">
            <a:avLst>
              <a:gd name="adj" fmla="val 4602"/>
            </a:avLst>
          </a:prstGeom>
          <a:solidFill>
            <a:srgbClr val="111213"/>
          </a:solidFill>
          <a:ln w="30480">
            <a:solidFill>
              <a:srgbClr val="494a4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6" name="Shape 11"/>
          <p:cNvSpPr/>
          <p:nvPr/>
        </p:nvSpPr>
        <p:spPr>
          <a:xfrm>
            <a:off x="9578880" y="3493080"/>
            <a:ext cx="121680" cy="317916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7" name="Text 12"/>
          <p:cNvSpPr/>
          <p:nvPr/>
        </p:nvSpPr>
        <p:spPr>
          <a:xfrm>
            <a:off x="9947160" y="3739680"/>
            <a:ext cx="3572640" cy="61308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İnterfeys dəyişikliyinə həssasdır</a:t>
            </a:r>
            <a:endParaRPr b="0" lang="en-US" sz="1900" spc="-1" strike="noStrike">
              <a:solidFill>
                <a:srgbClr val="000000"/>
              </a:solidFill>
              <a:latin typeface="Arial"/>
            </a:endParaRPr>
          </a:p>
        </p:txBody>
      </p:sp>
      <p:sp>
        <p:nvSpPr>
          <p:cNvPr id="98" name="Text 13"/>
          <p:cNvSpPr/>
          <p:nvPr/>
        </p:nvSpPr>
        <p:spPr>
          <a:xfrm>
            <a:off x="9947160" y="4482360"/>
            <a:ext cx="3572640" cy="1295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Tətbiqin ekranında kiçik bir dəyişiklik — bir düymənin yerinin dəyişdirilməsi belə — botu tamamilə sıradan çıxara bilər. Saxlama xərcləri yüksəkdir.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9" name="Image 0" descr="preencoded.png"/>
          <p:cNvPicPr/>
          <p:nvPr/>
        </p:nvPicPr>
        <p:blipFill>
          <a:blip r:embed="rId1"/>
          <a:stretch/>
        </p:blipFill>
        <p:spPr>
          <a:xfrm>
            <a:off x="0" y="0"/>
            <a:ext cx="5486040" cy="8229240"/>
          </a:xfrm>
          <a:prstGeom prst="rect">
            <a:avLst/>
          </a:prstGeom>
          <a:ln w="0">
            <a:noFill/>
          </a:ln>
        </p:spPr>
      </p:pic>
      <p:sp>
        <p:nvSpPr>
          <p:cNvPr id="100" name="Text 0"/>
          <p:cNvSpPr/>
          <p:nvPr/>
        </p:nvSpPr>
        <p:spPr>
          <a:xfrm>
            <a:off x="6309720" y="783720"/>
            <a:ext cx="7496640" cy="1169280"/>
          </a:xfrm>
          <a:prstGeom prst="rect">
            <a:avLst/>
          </a:prstGeom>
          <a:noFill/>
          <a:ln w="0">
            <a:noFill/>
          </a:ln>
        </p:spPr>
        <p:style>
          <a:lnRef idx="0"/>
          <a:fillRef idx="0"/>
          <a:effectRef idx="0"/>
          <a:fontRef idx="minor"/>
        </p:style>
        <p:txBody>
          <a:bodyPr lIns="0" rIns="0" tIns="0" bIns="0" anchor="t">
            <a:noAutofit/>
          </a:bodyPr>
          <a:p>
            <a:pPr>
              <a:lnSpc>
                <a:spcPts val="4601"/>
              </a:lnSpc>
              <a:tabLst>
                <a:tab algn="l" pos="0"/>
              </a:tabLst>
            </a:pPr>
            <a:r>
              <a:rPr b="1" lang="en-US" sz="3650" spc="-1" strike="noStrike">
                <a:solidFill>
                  <a:srgbClr val="ffffff"/>
                </a:solidFill>
                <a:latin typeface="Montserrat Bold"/>
                <a:ea typeface="Montserrat Bold"/>
              </a:rPr>
              <a:t>Ağıllı Proses Avtomatlaşdırması (IPA)</a:t>
            </a:r>
            <a:endParaRPr b="0" lang="en-US" sz="3650" spc="-1" strike="noStrike">
              <a:solidFill>
                <a:srgbClr val="000000"/>
              </a:solidFill>
              <a:latin typeface="Arial"/>
            </a:endParaRPr>
          </a:p>
        </p:txBody>
      </p:sp>
      <p:sp>
        <p:nvSpPr>
          <p:cNvPr id="101" name="Text 1"/>
          <p:cNvSpPr/>
          <p:nvPr/>
        </p:nvSpPr>
        <p:spPr>
          <a:xfrm>
            <a:off x="6309720" y="2247480"/>
            <a:ext cx="7496640" cy="1613520"/>
          </a:xfrm>
          <a:prstGeom prst="rect">
            <a:avLst/>
          </a:prstGeom>
          <a:noFill/>
          <a:ln w="0">
            <a:noFill/>
          </a:ln>
        </p:spPr>
        <p:style>
          <a:lnRef idx="0"/>
          <a:fillRef idx="0"/>
          <a:effectRef idx="0"/>
          <a:fontRef idx="minor"/>
        </p:style>
        <p:txBody>
          <a:bodyPr lIns="0" rIns="0" tIns="0" bIns="0" anchor="t">
            <a:noAutofit/>
          </a:bodyPr>
          <a:p>
            <a:pPr>
              <a:lnSpc>
                <a:spcPts val="6350"/>
              </a:lnSpc>
              <a:tabLst>
                <a:tab algn="l" pos="0"/>
              </a:tabLst>
            </a:pPr>
            <a:r>
              <a:rPr b="1" lang="en-US" sz="5050" spc="-1" strike="noStrike">
                <a:solidFill>
                  <a:srgbClr val="ffffff"/>
                </a:solidFill>
                <a:latin typeface="Montserrat Bold"/>
                <a:ea typeface="Montserrat Bold"/>
              </a:rPr>
              <a:t>RPA + Süni İntellekt = IPA</a:t>
            </a:r>
            <a:endParaRPr b="0" lang="en-US" sz="5050" spc="-1" strike="noStrike">
              <a:solidFill>
                <a:srgbClr val="000000"/>
              </a:solidFill>
              <a:latin typeface="Arial"/>
            </a:endParaRPr>
          </a:p>
        </p:txBody>
      </p:sp>
      <p:sp>
        <p:nvSpPr>
          <p:cNvPr id="102" name="Text 2"/>
          <p:cNvSpPr/>
          <p:nvPr/>
        </p:nvSpPr>
        <p:spPr>
          <a:xfrm>
            <a:off x="6309720" y="4155840"/>
            <a:ext cx="7496640" cy="90396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IPA, klassik RPA-nın icra gücünü süni intellektin anlama qabiliyyəti ilə birləşdirir. Nəticədə ortaya çıxan bot artıq yalnız göstərişləri icra etmir — </a:t>
            </a:r>
            <a:r>
              <a:rPr b="1" lang="en-US" sz="1600" spc="-1" strike="noStrike">
                <a:solidFill>
                  <a:srgbClr val="e2e6e9"/>
                </a:solidFill>
                <a:latin typeface="Source Sans 3"/>
                <a:ea typeface="Source Sans 3"/>
              </a:rPr>
              <a:t>məzmunu başa düşür, qərar qəbul edir və zamanla öyrənir</a:t>
            </a:r>
            <a:r>
              <a:rPr b="0" lang="en-US" sz="1600" spc="-1" strike="noStrike">
                <a:solidFill>
                  <a:srgbClr val="e2e6e9"/>
                </a:solidFill>
                <a:latin typeface="Source Sans 3"/>
                <a:ea typeface="Source Sans 3"/>
              </a:rPr>
              <a:t>.</a:t>
            </a:r>
            <a:endParaRPr b="0" lang="en-US" sz="1600" spc="-1" strike="noStrike">
              <a:solidFill>
                <a:srgbClr val="000000"/>
              </a:solidFill>
              <a:latin typeface="Arial"/>
            </a:endParaRPr>
          </a:p>
        </p:txBody>
      </p:sp>
      <p:sp>
        <p:nvSpPr>
          <p:cNvPr id="103" name="Shape 3"/>
          <p:cNvSpPr/>
          <p:nvPr/>
        </p:nvSpPr>
        <p:spPr>
          <a:xfrm>
            <a:off x="6161760" y="5280840"/>
            <a:ext cx="3793680" cy="2262960"/>
          </a:xfrm>
          <a:prstGeom prst="roundRect">
            <a:avLst>
              <a:gd name="adj" fmla="val 1426"/>
            </a:avLst>
          </a:prstGeom>
          <a:solidFill>
            <a:srgbClr val="1d1f2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4" name="Text 4"/>
          <p:cNvSpPr/>
          <p:nvPr/>
        </p:nvSpPr>
        <p:spPr>
          <a:xfrm>
            <a:off x="6367320" y="5477400"/>
            <a:ext cx="2338920" cy="29196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1" lang="en-US" sz="1800" spc="-1" strike="noStrike">
                <a:solidFill>
                  <a:srgbClr val="ffffff"/>
                </a:solidFill>
                <a:latin typeface="Montserrat Bold"/>
                <a:ea typeface="Montserrat Bold"/>
              </a:rPr>
              <a:t>Klassik RPA botu</a:t>
            </a:r>
            <a:endParaRPr b="0" lang="en-US" sz="1800" spc="-1" strike="noStrike">
              <a:solidFill>
                <a:srgbClr val="000000"/>
              </a:solidFill>
              <a:latin typeface="Arial"/>
            </a:endParaRPr>
          </a:p>
        </p:txBody>
      </p:sp>
      <p:sp>
        <p:nvSpPr>
          <p:cNvPr id="105" name="Text 5"/>
          <p:cNvSpPr/>
          <p:nvPr/>
        </p:nvSpPr>
        <p:spPr>
          <a:xfrm>
            <a:off x="6367320" y="5965920"/>
            <a:ext cx="3381840" cy="1411200"/>
          </a:xfrm>
          <a:prstGeom prst="rect">
            <a:avLst/>
          </a:prstGeom>
          <a:noFill/>
          <a:ln w="0">
            <a:noFill/>
          </a:ln>
        </p:spPr>
        <p:style>
          <a:lnRef idx="0"/>
          <a:fillRef idx="0"/>
          <a:effectRef idx="0"/>
          <a:fontRef idx="minor"/>
        </p:style>
        <p:txBody>
          <a:bodyPr lIns="0" rIns="0" tIns="0" bIns="0" anchor="t">
            <a:noAutofit/>
          </a:bodyPr>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Yalnız strukturlaşdırılmış məlumat</a:t>
            </a:r>
            <a:endParaRPr b="0" lang="en-US" sz="1600" spc="-1" strike="noStrike">
              <a:solidFill>
                <a:srgbClr val="000000"/>
              </a:solidFill>
              <a:latin typeface="Arial"/>
            </a:endParaRPr>
          </a:p>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Sabit qaydalar çərçivəsində</a:t>
            </a:r>
            <a:endParaRPr b="0" lang="en-US" sz="1600" spc="-1" strike="noStrike">
              <a:solidFill>
                <a:srgbClr val="000000"/>
              </a:solidFill>
              <a:latin typeface="Arial"/>
            </a:endParaRPr>
          </a:p>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Öyrənmir, dəyişmir</a:t>
            </a:r>
            <a:endParaRPr b="0" lang="en-US" sz="1600" spc="-1" strike="noStrike">
              <a:solidFill>
                <a:srgbClr val="000000"/>
              </a:solidFill>
              <a:latin typeface="Arial"/>
            </a:endParaRPr>
          </a:p>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İnsan nəzarəti tələb edir</a:t>
            </a:r>
            <a:endParaRPr b="0" lang="en-US" sz="1600" spc="-1" strike="noStrike">
              <a:solidFill>
                <a:srgbClr val="000000"/>
              </a:solidFill>
              <a:latin typeface="Arial"/>
            </a:endParaRPr>
          </a:p>
        </p:txBody>
      </p:sp>
      <p:sp>
        <p:nvSpPr>
          <p:cNvPr id="106" name="Text 6"/>
          <p:cNvSpPr/>
          <p:nvPr/>
        </p:nvSpPr>
        <p:spPr>
          <a:xfrm>
            <a:off x="10317240" y="5477400"/>
            <a:ext cx="2338920" cy="29196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1" lang="en-US" sz="1800" spc="-1" strike="noStrike">
                <a:solidFill>
                  <a:srgbClr val="ffffff"/>
                </a:solidFill>
                <a:latin typeface="Montserrat Bold"/>
                <a:ea typeface="Montserrat Bold"/>
              </a:rPr>
              <a:t>IPA — Ağıllı Bot</a:t>
            </a:r>
            <a:endParaRPr b="0" lang="en-US" sz="1800" spc="-1" strike="noStrike">
              <a:solidFill>
                <a:srgbClr val="000000"/>
              </a:solidFill>
              <a:latin typeface="Arial"/>
            </a:endParaRPr>
          </a:p>
        </p:txBody>
      </p:sp>
      <p:sp>
        <p:nvSpPr>
          <p:cNvPr id="107" name="Text 7"/>
          <p:cNvSpPr/>
          <p:nvPr/>
        </p:nvSpPr>
        <p:spPr>
          <a:xfrm>
            <a:off x="10317240" y="5965920"/>
            <a:ext cx="3497040" cy="1411200"/>
          </a:xfrm>
          <a:prstGeom prst="rect">
            <a:avLst/>
          </a:prstGeom>
          <a:noFill/>
          <a:ln w="0">
            <a:noFill/>
          </a:ln>
        </p:spPr>
        <p:style>
          <a:lnRef idx="0"/>
          <a:fillRef idx="0"/>
          <a:effectRef idx="0"/>
          <a:fontRef idx="minor"/>
        </p:style>
        <p:txBody>
          <a:bodyPr lIns="0" rIns="0" tIns="0" bIns="0" anchor="t">
            <a:noAutofit/>
          </a:bodyPr>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Qurulmamış məlumatları emal edir</a:t>
            </a:r>
            <a:endParaRPr b="0" lang="en-US" sz="1600" spc="-1" strike="noStrike">
              <a:solidFill>
                <a:srgbClr val="000000"/>
              </a:solidFill>
              <a:latin typeface="Arial"/>
            </a:endParaRPr>
          </a:p>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Kontekstə görə qərar verir</a:t>
            </a:r>
            <a:endParaRPr b="0" lang="en-US" sz="1600" spc="-1" strike="noStrike">
              <a:solidFill>
                <a:srgbClr val="000000"/>
              </a:solidFill>
              <a:latin typeface="Arial"/>
            </a:endParaRPr>
          </a:p>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Hər tapşırıqdan öyrənir</a:t>
            </a:r>
            <a:endParaRPr b="0" lang="en-US" sz="1600" spc="-1" strike="noStrike">
              <a:solidFill>
                <a:srgbClr val="000000"/>
              </a:solidFill>
              <a:latin typeface="Arial"/>
            </a:endParaRPr>
          </a:p>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Özü monitorinq edir</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Text 0"/>
          <p:cNvSpPr/>
          <p:nvPr/>
        </p:nvSpPr>
        <p:spPr>
          <a:xfrm>
            <a:off x="863640" y="1641240"/>
            <a:ext cx="6263280" cy="61308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Əsas IPA Texnologiyaları</a:t>
            </a:r>
            <a:endParaRPr b="0" lang="en-US" sz="3850" spc="-1" strike="noStrike">
              <a:solidFill>
                <a:srgbClr val="000000"/>
              </a:solidFill>
              <a:latin typeface="Arial"/>
            </a:endParaRPr>
          </a:p>
        </p:txBody>
      </p:sp>
      <p:sp>
        <p:nvSpPr>
          <p:cNvPr id="109" name="Text 1"/>
          <p:cNvSpPr/>
          <p:nvPr/>
        </p:nvSpPr>
        <p:spPr>
          <a:xfrm>
            <a:off x="863640" y="2686680"/>
            <a:ext cx="1290240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IPA-nın gücü onun arxasındakı süni intellekt texnologiyalarından gəlir. Bu texnologiyalar birlikdə işləyərək sistemə görmə, anlama və öyrənmə qabiliyyəti verir.</a:t>
            </a:r>
            <a:endParaRPr b="0" lang="en-US" sz="1700" spc="-1" strike="noStrike">
              <a:solidFill>
                <a:srgbClr val="000000"/>
              </a:solidFill>
              <a:latin typeface="Arial"/>
            </a:endParaRPr>
          </a:p>
        </p:txBody>
      </p:sp>
      <p:pic>
        <p:nvPicPr>
          <p:cNvPr id="110" name="Image 0" descr="preencoded.png"/>
          <p:cNvPicPr/>
          <p:nvPr/>
        </p:nvPicPr>
        <p:blipFill>
          <a:blip r:embed="rId1"/>
          <a:stretch/>
        </p:blipFill>
        <p:spPr>
          <a:xfrm>
            <a:off x="863640" y="3577320"/>
            <a:ext cx="906120" cy="906120"/>
          </a:xfrm>
          <a:prstGeom prst="rect">
            <a:avLst/>
          </a:prstGeom>
          <a:ln w="0">
            <a:noFill/>
          </a:ln>
        </p:spPr>
      </p:pic>
      <p:sp>
        <p:nvSpPr>
          <p:cNvPr id="111" name="Text 2"/>
          <p:cNvSpPr/>
          <p:nvPr/>
        </p:nvSpPr>
        <p:spPr>
          <a:xfrm>
            <a:off x="2040120" y="3577320"/>
            <a:ext cx="2944080" cy="61308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OCR + NLP — Sənədləri Oxumaq</a:t>
            </a:r>
            <a:endParaRPr b="0" lang="en-US" sz="1900" spc="-1" strike="noStrike">
              <a:solidFill>
                <a:srgbClr val="000000"/>
              </a:solidFill>
              <a:latin typeface="Arial"/>
            </a:endParaRPr>
          </a:p>
        </p:txBody>
      </p:sp>
      <p:sp>
        <p:nvSpPr>
          <p:cNvPr id="112" name="Text 3"/>
          <p:cNvSpPr/>
          <p:nvPr/>
        </p:nvSpPr>
        <p:spPr>
          <a:xfrm>
            <a:off x="2040120" y="4320360"/>
            <a:ext cx="2944080" cy="22672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e2e6e9"/>
                </a:solidFill>
                <a:latin typeface="Source Sans 3"/>
                <a:ea typeface="Source Sans 3"/>
              </a:rPr>
              <a:t>Optik Simvol Tanıma (OCR)</a:t>
            </a:r>
            <a:r>
              <a:rPr b="0" lang="en-US" sz="1700" spc="-1" strike="noStrike">
                <a:solidFill>
                  <a:srgbClr val="e2e6e9"/>
                </a:solidFill>
                <a:latin typeface="Source Sans 3"/>
                <a:ea typeface="Source Sans 3"/>
              </a:rPr>
              <a:t> sənədlərdəki mətni rəqəmsallaşdırır; </a:t>
            </a:r>
            <a:r>
              <a:rPr b="1" lang="en-US" sz="1700" spc="-1" strike="noStrike">
                <a:solidFill>
                  <a:srgbClr val="e2e6e9"/>
                </a:solidFill>
                <a:latin typeface="Source Sans 3"/>
                <a:ea typeface="Source Sans 3"/>
              </a:rPr>
              <a:t>Təbii Dil Emalı (NLP)</a:t>
            </a:r>
            <a:r>
              <a:rPr b="0" lang="en-US" sz="1700" spc="-1" strike="noStrike">
                <a:solidFill>
                  <a:srgbClr val="e2e6e9"/>
                </a:solidFill>
                <a:latin typeface="Source Sans 3"/>
                <a:ea typeface="Source Sans 3"/>
              </a:rPr>
              <a:t> isə bu mətni mənalı şəkildə təhlil edir. Nəticə: fakturalar, müqavilələr, e-poçtlar avtomatik emal olunur.</a:t>
            </a:r>
            <a:endParaRPr b="0" lang="en-US" sz="1700" spc="-1" strike="noStrike">
              <a:solidFill>
                <a:srgbClr val="000000"/>
              </a:solidFill>
              <a:latin typeface="Arial"/>
            </a:endParaRPr>
          </a:p>
        </p:txBody>
      </p:sp>
      <p:pic>
        <p:nvPicPr>
          <p:cNvPr id="113" name="Image 1" descr="preencoded.png"/>
          <p:cNvPicPr/>
          <p:nvPr/>
        </p:nvPicPr>
        <p:blipFill>
          <a:blip r:embed="rId2"/>
          <a:stretch/>
        </p:blipFill>
        <p:spPr>
          <a:xfrm>
            <a:off x="5254560" y="3577320"/>
            <a:ext cx="906120" cy="906120"/>
          </a:xfrm>
          <a:prstGeom prst="rect">
            <a:avLst/>
          </a:prstGeom>
          <a:ln w="0">
            <a:noFill/>
          </a:ln>
        </p:spPr>
      </p:pic>
      <p:sp>
        <p:nvSpPr>
          <p:cNvPr id="114" name="Text 4"/>
          <p:cNvSpPr/>
          <p:nvPr/>
        </p:nvSpPr>
        <p:spPr>
          <a:xfrm>
            <a:off x="6431040" y="3577320"/>
            <a:ext cx="2944080" cy="61308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Maşın Öyrənməsi — Ağıllı Təsnifat</a:t>
            </a:r>
            <a:endParaRPr b="0" lang="en-US" sz="1900" spc="-1" strike="noStrike">
              <a:solidFill>
                <a:srgbClr val="000000"/>
              </a:solidFill>
              <a:latin typeface="Arial"/>
            </a:endParaRPr>
          </a:p>
        </p:txBody>
      </p:sp>
      <p:sp>
        <p:nvSpPr>
          <p:cNvPr id="115" name="Text 5"/>
          <p:cNvSpPr/>
          <p:nvPr/>
        </p:nvSpPr>
        <p:spPr>
          <a:xfrm>
            <a:off x="6431040" y="4320360"/>
            <a:ext cx="2944080" cy="19432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ML modelləri gələn sorğuları, sənədləri və məlumatları avtomatik olaraq kateqoriyalara ayırır. Nə qədər çox məlumat emal etsə, bir o qədər dəqiq olur.</a:t>
            </a:r>
            <a:endParaRPr b="0" lang="en-US" sz="1700" spc="-1" strike="noStrike">
              <a:solidFill>
                <a:srgbClr val="000000"/>
              </a:solidFill>
              <a:latin typeface="Arial"/>
            </a:endParaRPr>
          </a:p>
        </p:txBody>
      </p:sp>
      <p:pic>
        <p:nvPicPr>
          <p:cNvPr id="116" name="Image 2" descr="preencoded.png"/>
          <p:cNvPicPr/>
          <p:nvPr/>
        </p:nvPicPr>
        <p:blipFill>
          <a:blip r:embed="rId3"/>
          <a:stretch/>
        </p:blipFill>
        <p:spPr>
          <a:xfrm>
            <a:off x="9645480" y="3577320"/>
            <a:ext cx="906120" cy="906120"/>
          </a:xfrm>
          <a:prstGeom prst="rect">
            <a:avLst/>
          </a:prstGeom>
          <a:ln w="0">
            <a:noFill/>
          </a:ln>
        </p:spPr>
      </p:pic>
      <p:sp>
        <p:nvSpPr>
          <p:cNvPr id="117" name="Text 6"/>
          <p:cNvSpPr/>
          <p:nvPr/>
        </p:nvSpPr>
        <p:spPr>
          <a:xfrm>
            <a:off x="10821960" y="3577320"/>
            <a:ext cx="2944080" cy="61308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Çatbotlar — İlkin Müştəri Dəstəyi</a:t>
            </a:r>
            <a:endParaRPr b="0" lang="en-US" sz="1900" spc="-1" strike="noStrike">
              <a:solidFill>
                <a:srgbClr val="000000"/>
              </a:solidFill>
              <a:latin typeface="Arial"/>
            </a:endParaRPr>
          </a:p>
        </p:txBody>
      </p:sp>
      <p:sp>
        <p:nvSpPr>
          <p:cNvPr id="118" name="Text 7"/>
          <p:cNvSpPr/>
          <p:nvPr/>
        </p:nvSpPr>
        <p:spPr>
          <a:xfrm>
            <a:off x="10821960" y="4320360"/>
            <a:ext cx="2944080" cy="19432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NLP əsaslı çatbotlar müştəri sorğularını ilk olaraq qəbul edir, cavablandırır və lazım gəldikdə düzgün departamentə yönləndirir — 7/24 fasiləsiz xidmət.</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Text 0"/>
          <p:cNvSpPr/>
          <p:nvPr/>
        </p:nvSpPr>
        <p:spPr>
          <a:xfrm>
            <a:off x="863640" y="1684440"/>
            <a:ext cx="6903360" cy="61308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Tipik İdarəetmə Ssenariləri</a:t>
            </a:r>
            <a:endParaRPr b="0" lang="en-US" sz="3850" spc="-1" strike="noStrike">
              <a:solidFill>
                <a:srgbClr val="000000"/>
              </a:solidFill>
              <a:latin typeface="Arial"/>
            </a:endParaRPr>
          </a:p>
        </p:txBody>
      </p:sp>
      <p:sp>
        <p:nvSpPr>
          <p:cNvPr id="120" name="Text 1"/>
          <p:cNvSpPr/>
          <p:nvPr/>
        </p:nvSpPr>
        <p:spPr>
          <a:xfrm>
            <a:off x="431640" y="2621880"/>
            <a:ext cx="12902400" cy="3236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IPA texnologiyaları müxtəlif sektorlarda real biznes proseslərini dəyişdirir. Aşağıdakı nümunələr ən geniş tətbiq olunan sahələri əks etdirir.</a:t>
            </a:r>
            <a:endParaRPr b="0" lang="en-US" sz="1700" spc="-1" strike="noStrike">
              <a:solidFill>
                <a:srgbClr val="000000"/>
              </a:solidFill>
              <a:latin typeface="Arial"/>
            </a:endParaRPr>
          </a:p>
        </p:txBody>
      </p:sp>
      <p:pic>
        <p:nvPicPr>
          <p:cNvPr id="121" name="Image 0" descr="preencoded.png"/>
          <p:cNvPicPr/>
          <p:nvPr/>
        </p:nvPicPr>
        <p:blipFill>
          <a:blip r:embed="rId1">
            <a:extLst>
              <a:ext uri="{96DAC541-7B7A-43D3-8B79-37D633B846F1}">
                <asvg:svgBlip xmlns:asvg="http://schemas.microsoft.com/office/drawing/2016/SVG/main" r:embed="rId2"/>
              </a:ext>
            </a:extLst>
          </a:blip>
          <a:stretch/>
        </p:blipFill>
        <p:spPr>
          <a:xfrm>
            <a:off x="863640" y="3296880"/>
            <a:ext cx="539640" cy="539640"/>
          </a:xfrm>
          <a:prstGeom prst="rect">
            <a:avLst/>
          </a:prstGeom>
          <a:ln w="0">
            <a:noFill/>
          </a:ln>
        </p:spPr>
      </p:pic>
      <p:sp>
        <p:nvSpPr>
          <p:cNvPr id="122" name="Text 2"/>
          <p:cNvSpPr/>
          <p:nvPr/>
        </p:nvSpPr>
        <p:spPr>
          <a:xfrm>
            <a:off x="1673640" y="3296880"/>
            <a:ext cx="390996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Faktura və Çatdırılma Qeydləri</a:t>
            </a:r>
            <a:endParaRPr b="0" lang="en-US" sz="1900" spc="-1" strike="noStrike">
              <a:solidFill>
                <a:srgbClr val="000000"/>
              </a:solidFill>
              <a:latin typeface="Arial"/>
            </a:endParaRPr>
          </a:p>
        </p:txBody>
      </p:sp>
      <p:sp>
        <p:nvSpPr>
          <p:cNvPr id="123" name="Text 3"/>
          <p:cNvSpPr/>
          <p:nvPr/>
        </p:nvSpPr>
        <p:spPr>
          <a:xfrm>
            <a:off x="1673640" y="3733200"/>
            <a:ext cx="5506200" cy="971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Gələn fakturaları OCR ilə oxuyur, məlumatları mühasibat sisteminə daxil edir, uyğunluğu yoxlayır və ödənişi avtomatik təsdiqləyir — manual əməliyyat sıfıra endirilir.</a:t>
            </a:r>
            <a:endParaRPr b="0" lang="en-US" sz="1700" spc="-1" strike="noStrike">
              <a:solidFill>
                <a:srgbClr val="000000"/>
              </a:solidFill>
              <a:latin typeface="Arial"/>
            </a:endParaRPr>
          </a:p>
        </p:txBody>
      </p:sp>
      <p:pic>
        <p:nvPicPr>
          <p:cNvPr id="124" name="Image 1" descr="preencoded.png"/>
          <p:cNvPicPr/>
          <p:nvPr/>
        </p:nvPicPr>
        <p:blipFill>
          <a:blip r:embed="rId3">
            <a:extLst>
              <a:ext uri="{96DAC541-7B7A-43D3-8B79-37D633B846F1}">
                <asvg:svgBlip xmlns:asvg="http://schemas.microsoft.com/office/drawing/2016/SVG/main" r:embed="rId4"/>
              </a:ext>
            </a:extLst>
          </a:blip>
          <a:stretch/>
        </p:blipFill>
        <p:spPr>
          <a:xfrm>
            <a:off x="7450200" y="3296880"/>
            <a:ext cx="539640" cy="539640"/>
          </a:xfrm>
          <a:prstGeom prst="rect">
            <a:avLst/>
          </a:prstGeom>
          <a:ln w="0">
            <a:noFill/>
          </a:ln>
        </p:spPr>
      </p:pic>
      <p:sp>
        <p:nvSpPr>
          <p:cNvPr id="125" name="Text 4"/>
          <p:cNvSpPr/>
          <p:nvPr/>
        </p:nvSpPr>
        <p:spPr>
          <a:xfrm>
            <a:off x="8259840" y="3296880"/>
            <a:ext cx="306936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Yeni İşçilərin İşə Qəbulu</a:t>
            </a:r>
            <a:endParaRPr b="0" lang="en-US" sz="1900" spc="-1" strike="noStrike">
              <a:solidFill>
                <a:srgbClr val="000000"/>
              </a:solidFill>
              <a:latin typeface="Arial"/>
            </a:endParaRPr>
          </a:p>
        </p:txBody>
      </p:sp>
      <p:sp>
        <p:nvSpPr>
          <p:cNvPr id="126" name="Text 5"/>
          <p:cNvSpPr/>
          <p:nvPr/>
        </p:nvSpPr>
        <p:spPr>
          <a:xfrm>
            <a:off x="8259840" y="3733200"/>
            <a:ext cx="5506560" cy="971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Yeni əməkdaşın sənədlərini emal edir, sistemlərə giriş hüquqları yaradır, təlim planı hazırlayır və bütün departamentlərə avtomatik bildiriş göndərir.</a:t>
            </a:r>
            <a:endParaRPr b="0" lang="en-US" sz="1700" spc="-1" strike="noStrike">
              <a:solidFill>
                <a:srgbClr val="000000"/>
              </a:solidFill>
              <a:latin typeface="Arial"/>
            </a:endParaRPr>
          </a:p>
        </p:txBody>
      </p:sp>
      <p:pic>
        <p:nvPicPr>
          <p:cNvPr id="127" name="Image 2" descr="preencoded.png"/>
          <p:cNvPicPr/>
          <p:nvPr/>
        </p:nvPicPr>
        <p:blipFill>
          <a:blip r:embed="rId5">
            <a:extLst>
              <a:ext uri="{96DAC541-7B7A-43D3-8B79-37D633B846F1}">
                <asvg:svgBlip xmlns:asvg="http://schemas.microsoft.com/office/drawing/2016/SVG/main" r:embed="rId6"/>
              </a:ext>
            </a:extLst>
          </a:blip>
          <a:stretch/>
        </p:blipFill>
        <p:spPr>
          <a:xfrm>
            <a:off x="863640" y="5136840"/>
            <a:ext cx="539640" cy="539640"/>
          </a:xfrm>
          <a:prstGeom prst="rect">
            <a:avLst/>
          </a:prstGeom>
          <a:ln w="0">
            <a:noFill/>
          </a:ln>
        </p:spPr>
      </p:pic>
      <p:sp>
        <p:nvSpPr>
          <p:cNvPr id="128" name="Text 6"/>
          <p:cNvSpPr/>
          <p:nvPr/>
        </p:nvSpPr>
        <p:spPr>
          <a:xfrm>
            <a:off x="1673640" y="5136840"/>
            <a:ext cx="344232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Müştəri Sorğularının Təhlili</a:t>
            </a:r>
            <a:endParaRPr b="0" lang="en-US" sz="1900" spc="-1" strike="noStrike">
              <a:solidFill>
                <a:srgbClr val="000000"/>
              </a:solidFill>
              <a:latin typeface="Arial"/>
            </a:endParaRPr>
          </a:p>
        </p:txBody>
      </p:sp>
      <p:sp>
        <p:nvSpPr>
          <p:cNvPr id="129" name="Text 7"/>
          <p:cNvSpPr/>
          <p:nvPr/>
        </p:nvSpPr>
        <p:spPr>
          <a:xfrm>
            <a:off x="1673640" y="5573160"/>
            <a:ext cx="5506200" cy="971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Daxil olan e-poçt və mesajları oxuyur, mövzuya və prioritetə görə təsnif edir, düzgün komandaya yönləndirir və cavab şablonu hazırlayır.</a:t>
            </a:r>
            <a:endParaRPr b="0" lang="en-US" sz="1700" spc="-1" strike="noStrike">
              <a:solidFill>
                <a:srgbClr val="000000"/>
              </a:solidFill>
              <a:latin typeface="Arial"/>
            </a:endParaRPr>
          </a:p>
        </p:txBody>
      </p:sp>
      <p:pic>
        <p:nvPicPr>
          <p:cNvPr id="130" name="Image 3" descr="preencoded.png"/>
          <p:cNvPicPr/>
          <p:nvPr/>
        </p:nvPicPr>
        <p:blipFill>
          <a:blip r:embed="rId7">
            <a:extLst>
              <a:ext uri="{96DAC541-7B7A-43D3-8B79-37D633B846F1}">
                <asvg:svgBlip xmlns:asvg="http://schemas.microsoft.com/office/drawing/2016/SVG/main" r:embed="rId8"/>
              </a:ext>
            </a:extLst>
          </a:blip>
          <a:stretch/>
        </p:blipFill>
        <p:spPr>
          <a:xfrm>
            <a:off x="7450200" y="5136840"/>
            <a:ext cx="539640" cy="539640"/>
          </a:xfrm>
          <a:prstGeom prst="rect">
            <a:avLst/>
          </a:prstGeom>
          <a:ln w="0">
            <a:noFill/>
          </a:ln>
        </p:spPr>
      </p:pic>
      <p:sp>
        <p:nvSpPr>
          <p:cNvPr id="131" name="Text 8"/>
          <p:cNvSpPr/>
          <p:nvPr/>
        </p:nvSpPr>
        <p:spPr>
          <a:xfrm>
            <a:off x="8259840" y="5136840"/>
            <a:ext cx="304920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Tənzimləyici Hesabatlar</a:t>
            </a:r>
            <a:endParaRPr b="0" lang="en-US" sz="1900" spc="-1" strike="noStrike">
              <a:solidFill>
                <a:srgbClr val="000000"/>
              </a:solidFill>
              <a:latin typeface="Arial"/>
            </a:endParaRPr>
          </a:p>
        </p:txBody>
      </p:sp>
      <p:sp>
        <p:nvSpPr>
          <p:cNvPr id="132" name="Text 9"/>
          <p:cNvSpPr/>
          <p:nvPr/>
        </p:nvSpPr>
        <p:spPr>
          <a:xfrm>
            <a:off x="8259840" y="5573160"/>
            <a:ext cx="5506560" cy="971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Müxtəlif sistemlərdən məlumatları toplayır, birləşdirir, formatlaşdırır və müəyyən edilmiş müddətdə tənzimləyici qurumlara avtomatik hesabat göndərir.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Text 0"/>
          <p:cNvSpPr/>
          <p:nvPr/>
        </p:nvSpPr>
        <p:spPr>
          <a:xfrm>
            <a:off x="783360" y="538560"/>
            <a:ext cx="5400000" cy="555840"/>
          </a:xfrm>
          <a:prstGeom prst="rect">
            <a:avLst/>
          </a:prstGeom>
          <a:noFill/>
          <a:ln w="0">
            <a:noFill/>
          </a:ln>
        </p:spPr>
        <p:style>
          <a:lnRef idx="0"/>
          <a:fillRef idx="0"/>
          <a:effectRef idx="0"/>
          <a:fontRef idx="minor"/>
        </p:style>
        <p:txBody>
          <a:bodyPr wrap="none" lIns="0" rIns="0" tIns="0" bIns="0" anchor="t">
            <a:noAutofit/>
          </a:bodyPr>
          <a:p>
            <a:pPr>
              <a:lnSpc>
                <a:spcPts val="4351"/>
              </a:lnSpc>
              <a:tabLst>
                <a:tab algn="l" pos="0"/>
              </a:tabLst>
            </a:pPr>
            <a:r>
              <a:rPr b="1" lang="en-US" sz="3500" spc="-1" strike="noStrike">
                <a:solidFill>
                  <a:srgbClr val="ffffff"/>
                </a:solidFill>
                <a:latin typeface="Montserrat Bold"/>
                <a:ea typeface="Montserrat Bold"/>
              </a:rPr>
              <a:t>Hibrid Prosesin Dizaynı</a:t>
            </a:r>
            <a:endParaRPr b="0" lang="en-US" sz="3500" spc="-1" strike="noStrike">
              <a:solidFill>
                <a:srgbClr val="000000"/>
              </a:solidFill>
              <a:latin typeface="Arial"/>
            </a:endParaRPr>
          </a:p>
        </p:txBody>
      </p:sp>
      <p:sp>
        <p:nvSpPr>
          <p:cNvPr id="134" name="Text 1"/>
          <p:cNvSpPr/>
          <p:nvPr/>
        </p:nvSpPr>
        <p:spPr>
          <a:xfrm>
            <a:off x="783360" y="1449720"/>
            <a:ext cx="13063680" cy="55980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0" lang="en-US" sz="1500" spc="-1" strike="noStrike">
                <a:solidFill>
                  <a:srgbClr val="e2e6e9"/>
                </a:solidFill>
                <a:latin typeface="Source Sans 3"/>
                <a:ea typeface="Source Sans 3"/>
              </a:rPr>
              <a:t>Effektiv IPA həlləri botun gücünü insan mühakiməsi ilə birləşdirir. Aşağıdakı nümunə e-poçt əsaslı sorğu emalının addım-addım necə işlədiyini göstərir — yüksək etibarlı hallarda tam avtomatik, şübhəli hallarda isə insana ötürülür.</a:t>
            </a:r>
            <a:endParaRPr b="0" lang="en-US" sz="1500" spc="-1" strike="noStrike">
              <a:solidFill>
                <a:srgbClr val="000000"/>
              </a:solidFill>
              <a:latin typeface="Arial"/>
            </a:endParaRPr>
          </a:p>
        </p:txBody>
      </p:sp>
      <p:pic>
        <p:nvPicPr>
          <p:cNvPr id="135" name="Image 0" descr="preencoded.png"/>
          <p:cNvPicPr/>
          <p:nvPr/>
        </p:nvPicPr>
        <p:blipFill>
          <a:blip r:embed="rId1"/>
          <a:stretch/>
        </p:blipFill>
        <p:spPr>
          <a:xfrm>
            <a:off x="992520" y="2209320"/>
            <a:ext cx="12645000" cy="4744800"/>
          </a:xfrm>
          <a:prstGeom prst="rect">
            <a:avLst/>
          </a:prstGeom>
          <a:ln w="0">
            <a:noFill/>
          </a:ln>
        </p:spPr>
      </p:pic>
      <p:pic>
        <p:nvPicPr>
          <p:cNvPr id="136" name="Image 1" descr="preencoded.png"/>
          <p:cNvPicPr/>
          <p:nvPr/>
        </p:nvPicPr>
        <p:blipFill>
          <a:blip r:embed="rId2">
            <a:extLst>
              <a:ext uri="{96DAC541-7B7A-43D3-8B79-37D633B846F1}">
                <asvg:svgBlip xmlns:asvg="http://schemas.microsoft.com/office/drawing/2016/SVG/main" r:embed="rId3"/>
              </a:ext>
            </a:extLst>
          </a:blip>
          <a:stretch/>
        </p:blipFill>
        <p:spPr>
          <a:xfrm>
            <a:off x="11791800" y="3418200"/>
            <a:ext cx="652680" cy="652680"/>
          </a:xfrm>
          <a:prstGeom prst="rect">
            <a:avLst/>
          </a:prstGeom>
          <a:ln w="0">
            <a:noFill/>
          </a:ln>
        </p:spPr>
      </p:pic>
      <p:sp>
        <p:nvSpPr>
          <p:cNvPr id="137" name="Text 2"/>
          <p:cNvSpPr/>
          <p:nvPr/>
        </p:nvSpPr>
        <p:spPr>
          <a:xfrm>
            <a:off x="11209680" y="5652360"/>
            <a:ext cx="1906920" cy="667440"/>
          </a:xfrm>
          <a:prstGeom prst="rect">
            <a:avLst/>
          </a:prstGeom>
          <a:noFill/>
          <a:ln w="0">
            <a:noFill/>
          </a:ln>
        </p:spPr>
        <p:style>
          <a:lnRef idx="0"/>
          <a:fillRef idx="0"/>
          <a:effectRef idx="0"/>
          <a:fontRef idx="minor"/>
        </p:style>
        <p:txBody>
          <a:bodyPr lIns="0" rIns="0" tIns="0" bIns="0" anchor="t">
            <a:noAutofit/>
          </a:bodyPr>
          <a:p>
            <a:pPr algn="ctr">
              <a:lnSpc>
                <a:spcPts val="2599"/>
              </a:lnSpc>
              <a:tabLst>
                <a:tab algn="l" pos="0"/>
              </a:tabLst>
            </a:pPr>
            <a:r>
              <a:rPr b="1" lang="en-US" sz="2100" spc="-1" strike="noStrike">
                <a:solidFill>
                  <a:srgbClr val="e2e6e9"/>
                </a:solidFill>
                <a:latin typeface="Montserrat Bold"/>
                <a:ea typeface="Montserrat Bold"/>
              </a:rPr>
              <a:t>%90 Altı: İncele</a:t>
            </a:r>
            <a:endParaRPr b="0" lang="en-US" sz="2100" spc="-1" strike="noStrike">
              <a:solidFill>
                <a:srgbClr val="000000"/>
              </a:solidFill>
              <a:latin typeface="Arial"/>
            </a:endParaRPr>
          </a:p>
        </p:txBody>
      </p:sp>
      <p:pic>
        <p:nvPicPr>
          <p:cNvPr id="138" name="Image 2" descr="preencoded.png"/>
          <p:cNvPicPr/>
          <p:nvPr/>
        </p:nvPicPr>
        <p:blipFill>
          <a:blip r:embed="rId4">
            <a:extLst>
              <a:ext uri="{96DAC541-7B7A-43D3-8B79-37D633B846F1}">
                <asvg:svgBlip xmlns:asvg="http://schemas.microsoft.com/office/drawing/2016/SVG/main" r:embed="rId5"/>
              </a:ext>
            </a:extLst>
          </a:blip>
          <a:stretch/>
        </p:blipFill>
        <p:spPr>
          <a:xfrm>
            <a:off x="9400320" y="3419280"/>
            <a:ext cx="652680" cy="652680"/>
          </a:xfrm>
          <a:prstGeom prst="rect">
            <a:avLst/>
          </a:prstGeom>
          <a:ln w="0">
            <a:noFill/>
          </a:ln>
        </p:spPr>
      </p:pic>
      <p:sp>
        <p:nvSpPr>
          <p:cNvPr id="139" name="Text 3"/>
          <p:cNvSpPr/>
          <p:nvPr/>
        </p:nvSpPr>
        <p:spPr>
          <a:xfrm>
            <a:off x="8805960" y="5652360"/>
            <a:ext cx="1906920" cy="667440"/>
          </a:xfrm>
          <a:prstGeom prst="rect">
            <a:avLst/>
          </a:prstGeom>
          <a:noFill/>
          <a:ln w="0">
            <a:noFill/>
          </a:ln>
        </p:spPr>
        <p:style>
          <a:lnRef idx="0"/>
          <a:fillRef idx="0"/>
          <a:effectRef idx="0"/>
          <a:fontRef idx="minor"/>
        </p:style>
        <p:txBody>
          <a:bodyPr lIns="0" rIns="0" tIns="0" bIns="0" anchor="t">
            <a:noAutofit/>
          </a:bodyPr>
          <a:p>
            <a:pPr algn="ctr">
              <a:lnSpc>
                <a:spcPts val="2599"/>
              </a:lnSpc>
              <a:tabLst>
                <a:tab algn="l" pos="0"/>
              </a:tabLst>
            </a:pPr>
            <a:r>
              <a:rPr b="1" lang="en-US" sz="2100" spc="-1" strike="noStrike">
                <a:solidFill>
                  <a:srgbClr val="e2e6e9"/>
                </a:solidFill>
                <a:latin typeface="Montserrat Bold"/>
                <a:ea typeface="Montserrat Bold"/>
              </a:rPr>
              <a:t>%90 Üzeri: Otomatik</a:t>
            </a:r>
            <a:endParaRPr b="0" lang="en-US" sz="2100" spc="-1" strike="noStrike">
              <a:solidFill>
                <a:srgbClr val="000000"/>
              </a:solidFill>
              <a:latin typeface="Arial"/>
            </a:endParaRPr>
          </a:p>
        </p:txBody>
      </p:sp>
      <p:pic>
        <p:nvPicPr>
          <p:cNvPr id="140" name="Image 3" descr="preencoded.png"/>
          <p:cNvPicPr/>
          <p:nvPr/>
        </p:nvPicPr>
        <p:blipFill>
          <a:blip r:embed="rId6">
            <a:extLst>
              <a:ext uri="{96DAC541-7B7A-43D3-8B79-37D633B846F1}">
                <asvg:svgBlip xmlns:asvg="http://schemas.microsoft.com/office/drawing/2016/SVG/main" r:embed="rId7"/>
              </a:ext>
            </a:extLst>
          </a:blip>
          <a:stretch/>
        </p:blipFill>
        <p:spPr>
          <a:xfrm>
            <a:off x="7009920" y="3419280"/>
            <a:ext cx="652680" cy="652680"/>
          </a:xfrm>
          <a:prstGeom prst="rect">
            <a:avLst/>
          </a:prstGeom>
          <a:ln w="0">
            <a:noFill/>
          </a:ln>
        </p:spPr>
      </p:pic>
      <p:sp>
        <p:nvSpPr>
          <p:cNvPr id="141" name="Text 4"/>
          <p:cNvSpPr/>
          <p:nvPr/>
        </p:nvSpPr>
        <p:spPr>
          <a:xfrm>
            <a:off x="6415560" y="5652360"/>
            <a:ext cx="1906920" cy="667440"/>
          </a:xfrm>
          <a:prstGeom prst="rect">
            <a:avLst/>
          </a:prstGeom>
          <a:noFill/>
          <a:ln w="0">
            <a:noFill/>
          </a:ln>
        </p:spPr>
        <p:style>
          <a:lnRef idx="0"/>
          <a:fillRef idx="0"/>
          <a:effectRef idx="0"/>
          <a:fontRef idx="minor"/>
        </p:style>
        <p:txBody>
          <a:bodyPr lIns="0" rIns="0" tIns="0" bIns="0" anchor="t">
            <a:noAutofit/>
          </a:bodyPr>
          <a:p>
            <a:pPr algn="ctr">
              <a:lnSpc>
                <a:spcPts val="2599"/>
              </a:lnSpc>
              <a:tabLst>
                <a:tab algn="l" pos="0"/>
              </a:tabLst>
            </a:pPr>
            <a:r>
              <a:rPr b="1" lang="en-US" sz="2100" spc="-1" strike="noStrike">
                <a:solidFill>
                  <a:srgbClr val="e2e6e9"/>
                </a:solidFill>
                <a:latin typeface="Montserrat Bold"/>
                <a:ea typeface="Montserrat Bold"/>
              </a:rPr>
              <a:t>Model Güven Skoru</a:t>
            </a:r>
            <a:endParaRPr b="0" lang="en-US" sz="2100" spc="-1" strike="noStrike">
              <a:solidFill>
                <a:srgbClr val="000000"/>
              </a:solidFill>
              <a:latin typeface="Arial"/>
            </a:endParaRPr>
          </a:p>
        </p:txBody>
      </p:sp>
      <p:pic>
        <p:nvPicPr>
          <p:cNvPr id="142" name="Image 4" descr="preencoded.png"/>
          <p:cNvPicPr/>
          <p:nvPr/>
        </p:nvPicPr>
        <p:blipFill>
          <a:blip r:embed="rId8">
            <a:extLst>
              <a:ext uri="{96DAC541-7B7A-43D3-8B79-37D633B846F1}">
                <asvg:svgBlip xmlns:asvg="http://schemas.microsoft.com/office/drawing/2016/SVG/main" r:embed="rId9"/>
              </a:ext>
            </a:extLst>
          </a:blip>
          <a:stretch/>
        </p:blipFill>
        <p:spPr>
          <a:xfrm>
            <a:off x="4619160" y="3419280"/>
            <a:ext cx="652680" cy="652680"/>
          </a:xfrm>
          <a:prstGeom prst="rect">
            <a:avLst/>
          </a:prstGeom>
          <a:ln w="0">
            <a:noFill/>
          </a:ln>
        </p:spPr>
      </p:pic>
      <p:sp>
        <p:nvSpPr>
          <p:cNvPr id="143" name="Text 5"/>
          <p:cNvSpPr/>
          <p:nvPr/>
        </p:nvSpPr>
        <p:spPr>
          <a:xfrm>
            <a:off x="4024800" y="5652360"/>
            <a:ext cx="1906920" cy="667440"/>
          </a:xfrm>
          <a:prstGeom prst="rect">
            <a:avLst/>
          </a:prstGeom>
          <a:noFill/>
          <a:ln w="0">
            <a:noFill/>
          </a:ln>
        </p:spPr>
        <p:style>
          <a:lnRef idx="0"/>
          <a:fillRef idx="0"/>
          <a:effectRef idx="0"/>
          <a:fontRef idx="minor"/>
        </p:style>
        <p:txBody>
          <a:bodyPr lIns="0" rIns="0" tIns="0" bIns="0" anchor="t">
            <a:noAutofit/>
          </a:bodyPr>
          <a:p>
            <a:pPr algn="ctr">
              <a:lnSpc>
                <a:spcPts val="2599"/>
              </a:lnSpc>
              <a:tabLst>
                <a:tab algn="l" pos="0"/>
              </a:tabLst>
            </a:pPr>
            <a:r>
              <a:rPr b="1" lang="en-US" sz="2100" spc="-1" strike="noStrike">
                <a:solidFill>
                  <a:srgbClr val="e2e6e9"/>
                </a:solidFill>
                <a:latin typeface="Montserrat Bold"/>
                <a:ea typeface="Montserrat Bold"/>
              </a:rPr>
              <a:t>NLP Sınıflama</a:t>
            </a:r>
            <a:endParaRPr b="0" lang="en-US" sz="2100" spc="-1" strike="noStrike">
              <a:solidFill>
                <a:srgbClr val="000000"/>
              </a:solidFill>
              <a:latin typeface="Arial"/>
            </a:endParaRPr>
          </a:p>
        </p:txBody>
      </p:sp>
      <p:pic>
        <p:nvPicPr>
          <p:cNvPr id="144" name="Image 5" descr="preencoded.png"/>
          <p:cNvPicPr/>
          <p:nvPr/>
        </p:nvPicPr>
        <p:blipFill>
          <a:blip r:embed="rId10">
            <a:extLst>
              <a:ext uri="{96DAC541-7B7A-43D3-8B79-37D633B846F1}">
                <asvg:svgBlip xmlns:asvg="http://schemas.microsoft.com/office/drawing/2016/SVG/main" r:embed="rId11"/>
              </a:ext>
            </a:extLst>
          </a:blip>
          <a:stretch/>
        </p:blipFill>
        <p:spPr>
          <a:xfrm>
            <a:off x="2215440" y="3419280"/>
            <a:ext cx="652680" cy="652680"/>
          </a:xfrm>
          <a:prstGeom prst="rect">
            <a:avLst/>
          </a:prstGeom>
          <a:ln w="0">
            <a:noFill/>
          </a:ln>
        </p:spPr>
      </p:pic>
      <p:sp>
        <p:nvSpPr>
          <p:cNvPr id="145" name="Text 6"/>
          <p:cNvSpPr/>
          <p:nvPr/>
        </p:nvSpPr>
        <p:spPr>
          <a:xfrm>
            <a:off x="1581840" y="5652360"/>
            <a:ext cx="1906920" cy="667440"/>
          </a:xfrm>
          <a:prstGeom prst="rect">
            <a:avLst/>
          </a:prstGeom>
          <a:noFill/>
          <a:ln w="0">
            <a:noFill/>
          </a:ln>
        </p:spPr>
        <p:style>
          <a:lnRef idx="0"/>
          <a:fillRef idx="0"/>
          <a:effectRef idx="0"/>
          <a:fontRef idx="minor"/>
        </p:style>
        <p:txBody>
          <a:bodyPr lIns="0" rIns="0" tIns="0" bIns="0" anchor="t">
            <a:noAutofit/>
          </a:bodyPr>
          <a:p>
            <a:pPr algn="ctr">
              <a:lnSpc>
                <a:spcPts val="2599"/>
              </a:lnSpc>
              <a:tabLst>
                <a:tab algn="l" pos="0"/>
              </a:tabLst>
            </a:pPr>
            <a:r>
              <a:rPr b="1" lang="en-US" sz="2100" spc="-1" strike="noStrike">
                <a:solidFill>
                  <a:srgbClr val="e2e6e9"/>
                </a:solidFill>
                <a:latin typeface="Montserrat Bold"/>
                <a:ea typeface="Montserrat Bold"/>
              </a:rPr>
              <a:t>E‑posta Okuma</a:t>
            </a:r>
            <a:endParaRPr b="0" lang="en-US" sz="2100" spc="-1" strike="noStrike">
              <a:solidFill>
                <a:srgbClr val="000000"/>
              </a:solidFill>
              <a:latin typeface="Arial"/>
            </a:endParaRPr>
          </a:p>
        </p:txBody>
      </p:sp>
      <p:sp>
        <p:nvSpPr>
          <p:cNvPr id="146" name="Text 7"/>
          <p:cNvSpPr/>
          <p:nvPr/>
        </p:nvSpPr>
        <p:spPr>
          <a:xfrm>
            <a:off x="783360" y="7154280"/>
            <a:ext cx="13063680" cy="55980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0" lang="en-US" sz="1500" spc="-1" strike="noStrike">
                <a:solidFill>
                  <a:srgbClr val="e2e6e9"/>
                </a:solidFill>
                <a:latin typeface="Source Sans 3"/>
                <a:ea typeface="Source Sans 3"/>
              </a:rPr>
              <a:t>Bu hibrid model ən yaxşı nəticəni verir: </a:t>
            </a:r>
            <a:r>
              <a:rPr b="1" lang="en-US" sz="1500" spc="-1" strike="noStrike">
                <a:solidFill>
                  <a:srgbClr val="e2e6e9"/>
                </a:solidFill>
                <a:latin typeface="Source Sans 3"/>
                <a:ea typeface="Source Sans 3"/>
              </a:rPr>
              <a:t>yüksək həcmli, standart hallar</a:t>
            </a:r>
            <a:r>
              <a:rPr b="0" lang="en-US" sz="1500" spc="-1" strike="noStrike">
                <a:solidFill>
                  <a:srgbClr val="e2e6e9"/>
                </a:solidFill>
                <a:latin typeface="Source Sans 3"/>
                <a:ea typeface="Source Sans 3"/>
              </a:rPr>
              <a:t> tamamilə avtomatlaşdırılır, </a:t>
            </a:r>
            <a:r>
              <a:rPr b="1" lang="en-US" sz="1500" spc="-1" strike="noStrike">
                <a:solidFill>
                  <a:srgbClr val="e2e6e9"/>
                </a:solidFill>
                <a:latin typeface="Source Sans 3"/>
                <a:ea typeface="Source Sans 3"/>
              </a:rPr>
              <a:t>mürəkkəb və qeyri-müəyyən hallar</a:t>
            </a:r>
            <a:r>
              <a:rPr b="0" lang="en-US" sz="1500" spc="-1" strike="noStrike">
                <a:solidFill>
                  <a:srgbClr val="e2e6e9"/>
                </a:solidFill>
                <a:latin typeface="Source Sans 3"/>
                <a:ea typeface="Source Sans 3"/>
              </a:rPr>
              <a:t> isə mütəxəssisə yönləndirilir. Nəticədə həm sürət artır, həm də keyfiyyət təmin olunur.</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Text 0"/>
          <p:cNvSpPr/>
          <p:nvPr/>
        </p:nvSpPr>
        <p:spPr>
          <a:xfrm>
            <a:off x="863640" y="923040"/>
            <a:ext cx="5699880" cy="61308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ROI Qiymətləndirməsi</a:t>
            </a:r>
            <a:endParaRPr b="0" lang="en-US" sz="3850" spc="-1" strike="noStrike">
              <a:solidFill>
                <a:srgbClr val="000000"/>
              </a:solidFill>
              <a:latin typeface="Arial"/>
            </a:endParaRPr>
          </a:p>
        </p:txBody>
      </p:sp>
      <p:sp>
        <p:nvSpPr>
          <p:cNvPr id="148" name="Text 1"/>
          <p:cNvSpPr/>
          <p:nvPr/>
        </p:nvSpPr>
        <p:spPr>
          <a:xfrm>
            <a:off x="863640" y="1968480"/>
            <a:ext cx="1290240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IPA investisiyasının geri dönüşünü düzgün hesablamaq üçün həm qazanılan dəyərləri, həm də real xərcləri obyektiv şəkildə nəzərə almaq lazımdır. Uğurlu tətbiqlər adətən 6-18 ay ərzində özünü ödəyir.</a:t>
            </a:r>
            <a:endParaRPr b="0" lang="en-US" sz="1700" spc="-1" strike="noStrike">
              <a:solidFill>
                <a:srgbClr val="000000"/>
              </a:solidFill>
              <a:latin typeface="Arial"/>
            </a:endParaRPr>
          </a:p>
        </p:txBody>
      </p:sp>
      <p:sp>
        <p:nvSpPr>
          <p:cNvPr id="149" name="Shape 2"/>
          <p:cNvSpPr/>
          <p:nvPr/>
        </p:nvSpPr>
        <p:spPr>
          <a:xfrm>
            <a:off x="708120" y="2859480"/>
            <a:ext cx="6498720" cy="2983680"/>
          </a:xfrm>
          <a:prstGeom prst="roundRect">
            <a:avLst>
              <a:gd name="adj" fmla="val 1086"/>
            </a:avLst>
          </a:prstGeom>
          <a:solidFill>
            <a:srgbClr val="1d1f2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0" name="Text 3"/>
          <p:cNvSpPr/>
          <p:nvPr/>
        </p:nvSpPr>
        <p:spPr>
          <a:xfrm>
            <a:off x="924120" y="3075120"/>
            <a:ext cx="296604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ffffff"/>
                </a:solidFill>
                <a:latin typeface="Montserrat Bold"/>
                <a:ea typeface="Montserrat Bold"/>
              </a:rPr>
              <a:t> </a:t>
            </a:r>
            <a:r>
              <a:rPr b="1" lang="en-US" sz="1900" spc="-1" strike="noStrike">
                <a:solidFill>
                  <a:srgbClr val="ffffff"/>
                </a:solidFill>
                <a:latin typeface="Montserrat Bold"/>
                <a:ea typeface="Montserrat Bold"/>
              </a:rPr>
              <a:t>Əldə edilən dəyərlər</a:t>
            </a:r>
            <a:endParaRPr b="0" lang="en-US" sz="1900" spc="-1" strike="noStrike">
              <a:solidFill>
                <a:srgbClr val="000000"/>
              </a:solidFill>
              <a:latin typeface="Arial"/>
            </a:endParaRPr>
          </a:p>
        </p:txBody>
      </p:sp>
      <p:sp>
        <p:nvSpPr>
          <p:cNvPr id="151" name="Text 4"/>
          <p:cNvSpPr/>
          <p:nvPr/>
        </p:nvSpPr>
        <p:spPr>
          <a:xfrm>
            <a:off x="924120" y="3597840"/>
            <a:ext cx="6067080" cy="21700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e2e6e9"/>
                </a:solidFill>
                <a:latin typeface="Source Sans 3"/>
                <a:ea typeface="Source Sans 3"/>
              </a:rPr>
              <a:t>Vaxt qənaəti:</a:t>
            </a:r>
            <a:r>
              <a:rPr b="0" lang="en-US" sz="1700" spc="-1" strike="noStrike">
                <a:solidFill>
                  <a:srgbClr val="e2e6e9"/>
                </a:solidFill>
                <a:latin typeface="Source Sans 3"/>
                <a:ea typeface="Source Sans 3"/>
              </a:rPr>
              <a:t> Əməkdaşlar yüksək dəyərli işlərə fokuslanır</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Azalmış səhvlər:</a:t>
            </a:r>
            <a:r>
              <a:rPr b="0" lang="en-US" sz="1700" spc="-1" strike="noStrike">
                <a:solidFill>
                  <a:srgbClr val="e2e6e9"/>
                </a:solidFill>
                <a:latin typeface="Source Sans 3"/>
                <a:ea typeface="Source Sans 3"/>
              </a:rPr>
              <a:t> Manual daxiletmə xətaları praktiki olaraq sıfıra enir</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Miqyaslanma:</a:t>
            </a:r>
            <a:r>
              <a:rPr b="0" lang="en-US" sz="1700" spc="-1" strike="noStrike">
                <a:solidFill>
                  <a:srgbClr val="e2e6e9"/>
                </a:solidFill>
                <a:latin typeface="Source Sans 3"/>
                <a:ea typeface="Source Sans 3"/>
              </a:rPr>
              <a:t> Artan iş yükünü əlavə işçi olmadan emal etmək imkanı</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Sürət:</a:t>
            </a:r>
            <a:r>
              <a:rPr b="0" lang="en-US" sz="1700" spc="-1" strike="noStrike">
                <a:solidFill>
                  <a:srgbClr val="e2e6e9"/>
                </a:solidFill>
                <a:latin typeface="Source Sans 3"/>
                <a:ea typeface="Source Sans 3"/>
              </a:rPr>
              <a:t> 24/7 fasiləsiz işləmə, sıfır gözləmə müddəti</a:t>
            </a:r>
            <a:endParaRPr b="0" lang="en-US" sz="1700" spc="-1" strike="noStrike">
              <a:solidFill>
                <a:srgbClr val="000000"/>
              </a:solidFill>
              <a:latin typeface="Arial"/>
            </a:endParaRPr>
          </a:p>
        </p:txBody>
      </p:sp>
      <p:sp>
        <p:nvSpPr>
          <p:cNvPr id="152" name="Text 5"/>
          <p:cNvSpPr/>
          <p:nvPr/>
        </p:nvSpPr>
        <p:spPr>
          <a:xfrm>
            <a:off x="7586280" y="3075120"/>
            <a:ext cx="331272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ffffff"/>
                </a:solidFill>
                <a:latin typeface="Montserrat Bold"/>
                <a:ea typeface="Montserrat Bold"/>
              </a:rPr>
              <a:t> </a:t>
            </a:r>
            <a:r>
              <a:rPr b="1" lang="en-US" sz="1900" spc="-1" strike="noStrike">
                <a:solidFill>
                  <a:srgbClr val="ffffff"/>
                </a:solidFill>
                <a:latin typeface="Montserrat Bold"/>
                <a:ea typeface="Montserrat Bold"/>
              </a:rPr>
              <a:t>Nəzərə alınmalı xərclər</a:t>
            </a:r>
            <a:endParaRPr b="0" lang="en-US" sz="1900" spc="-1" strike="noStrike">
              <a:solidFill>
                <a:srgbClr val="000000"/>
              </a:solidFill>
              <a:latin typeface="Arial"/>
            </a:endParaRPr>
          </a:p>
        </p:txBody>
      </p:sp>
      <p:sp>
        <p:nvSpPr>
          <p:cNvPr id="153" name="Text 6"/>
          <p:cNvSpPr/>
          <p:nvPr/>
        </p:nvSpPr>
        <p:spPr>
          <a:xfrm>
            <a:off x="7586280" y="3597840"/>
            <a:ext cx="6187680" cy="21700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e2e6e9"/>
                </a:solidFill>
                <a:latin typeface="Source Sans 3"/>
                <a:ea typeface="Source Sans 3"/>
              </a:rPr>
              <a:t>Tətbiq xərcləri:</a:t>
            </a:r>
            <a:r>
              <a:rPr b="0" lang="en-US" sz="1700" spc="-1" strike="noStrike">
                <a:solidFill>
                  <a:srgbClr val="e2e6e9"/>
                </a:solidFill>
                <a:latin typeface="Source Sans 3"/>
                <a:ea typeface="Source Sans 3"/>
              </a:rPr>
              <a:t> Lisenziya, konfiqurasiya, inteqrasiya işləri</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Davamlı dəstək:</a:t>
            </a:r>
            <a:r>
              <a:rPr b="0" lang="en-US" sz="1700" spc="-1" strike="noStrike">
                <a:solidFill>
                  <a:srgbClr val="e2e6e9"/>
                </a:solidFill>
                <a:latin typeface="Source Sans 3"/>
                <a:ea typeface="Source Sans 3"/>
              </a:rPr>
              <a:t> Bot saxlanması, sistem yeniləmələri, monitorinq</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İşçi təlimi:</a:t>
            </a:r>
            <a:r>
              <a:rPr b="0" lang="en-US" sz="1700" spc="-1" strike="noStrike">
                <a:solidFill>
                  <a:srgbClr val="e2e6e9"/>
                </a:solidFill>
                <a:latin typeface="Source Sans 3"/>
                <a:ea typeface="Source Sans 3"/>
              </a:rPr>
              <a:t> Komandanın yeni iş modelinə adaptasiyası</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Gözlənilməz dəyişikliklər:</a:t>
            </a:r>
            <a:r>
              <a:rPr b="0" lang="en-US" sz="1700" spc="-1" strike="noStrike">
                <a:solidFill>
                  <a:srgbClr val="e2e6e9"/>
                </a:solidFill>
                <a:latin typeface="Source Sans 3"/>
                <a:ea typeface="Source Sans 3"/>
              </a:rPr>
              <a:t> Sistemlər dəyişdikdə yenidən konfiqurasiya</a:t>
            </a:r>
            <a:endParaRPr b="0" lang="en-US" sz="1700" spc="-1" strike="noStrike">
              <a:solidFill>
                <a:srgbClr val="000000"/>
              </a:solidFill>
              <a:latin typeface="Arial"/>
            </a:endParaRPr>
          </a:p>
        </p:txBody>
      </p:sp>
      <p:sp>
        <p:nvSpPr>
          <p:cNvPr id="154" name="Shape 7"/>
          <p:cNvSpPr/>
          <p:nvPr/>
        </p:nvSpPr>
        <p:spPr>
          <a:xfrm>
            <a:off x="863640" y="6086520"/>
            <a:ext cx="12902400" cy="1219680"/>
          </a:xfrm>
          <a:prstGeom prst="roundRect">
            <a:avLst>
              <a:gd name="adj" fmla="val 2656"/>
            </a:avLst>
          </a:prstGeom>
          <a:solidFill>
            <a:srgbClr val="262626"/>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55" name="Image 0" descr="preencoded.png"/>
          <p:cNvPicPr/>
          <p:nvPr/>
        </p:nvPicPr>
        <p:blipFill>
          <a:blip r:embed="rId1"/>
          <a:stretch/>
        </p:blipFill>
        <p:spPr>
          <a:xfrm>
            <a:off x="1079640" y="6395760"/>
            <a:ext cx="269640" cy="215640"/>
          </a:xfrm>
          <a:prstGeom prst="rect">
            <a:avLst/>
          </a:prstGeom>
          <a:ln w="0">
            <a:noFill/>
          </a:ln>
        </p:spPr>
      </p:pic>
      <p:sp>
        <p:nvSpPr>
          <p:cNvPr id="156" name="Text 8"/>
          <p:cNvSpPr/>
          <p:nvPr/>
        </p:nvSpPr>
        <p:spPr>
          <a:xfrm>
            <a:off x="1565280" y="6356160"/>
            <a:ext cx="1198512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000000"/>
                </a:solidFill>
                <a:latin typeface="Source Sans 3"/>
                <a:ea typeface="Source Sans 3"/>
              </a:rPr>
              <a:t>💡</a:t>
            </a:r>
            <a:r>
              <a:rPr b="0" lang="en-US" sz="1700" spc="-1" strike="noStrike">
                <a:solidFill>
                  <a:srgbClr val="ffffff"/>
                </a:solidFill>
                <a:latin typeface="Source Sans 3"/>
                <a:ea typeface="Source Sans 3"/>
              </a:rPr>
              <a:t> </a:t>
            </a:r>
            <a:r>
              <a:rPr b="1" lang="en-US" sz="1700" spc="-1" strike="noStrike">
                <a:solidFill>
                  <a:srgbClr val="ffffff"/>
                </a:solidFill>
                <a:latin typeface="Source Sans 3"/>
                <a:ea typeface="Source Sans 3"/>
              </a:rPr>
              <a:t>Tövsiyə:</a:t>
            </a:r>
            <a:r>
              <a:rPr b="0" lang="en-US" sz="1700" spc="-1" strike="noStrike">
                <a:solidFill>
                  <a:srgbClr val="ffffff"/>
                </a:solidFill>
                <a:latin typeface="Source Sans 3"/>
                <a:ea typeface="Source Sans 3"/>
              </a:rPr>
              <a:t> Pilot proyektlə başlayın — bir prosesi tam avtomatlaşdırın, ROI-ni ölçün, sonra genişləndirin. Bu yanaşma riski minimuma endirir.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7" name="Image 0" descr="preencoded.png"/>
          <p:cNvPicPr/>
          <p:nvPr/>
        </p:nvPicPr>
        <p:blipFill>
          <a:blip r:embed="rId1"/>
          <a:stretch/>
        </p:blipFill>
        <p:spPr>
          <a:xfrm>
            <a:off x="0" y="0"/>
            <a:ext cx="5486040" cy="8229240"/>
          </a:xfrm>
          <a:prstGeom prst="rect">
            <a:avLst/>
          </a:prstGeom>
          <a:ln w="0">
            <a:noFill/>
          </a:ln>
        </p:spPr>
      </p:pic>
      <p:sp>
        <p:nvSpPr>
          <p:cNvPr id="158" name="Text 0"/>
          <p:cNvSpPr/>
          <p:nvPr/>
        </p:nvSpPr>
        <p:spPr>
          <a:xfrm>
            <a:off x="6341400" y="594000"/>
            <a:ext cx="6566760" cy="606960"/>
          </a:xfrm>
          <a:prstGeom prst="rect">
            <a:avLst/>
          </a:prstGeom>
          <a:noFill/>
          <a:ln w="0">
            <a:noFill/>
          </a:ln>
        </p:spPr>
        <p:style>
          <a:lnRef idx="0"/>
          <a:fillRef idx="0"/>
          <a:effectRef idx="0"/>
          <a:fontRef idx="minor"/>
        </p:style>
        <p:txBody>
          <a:bodyPr wrap="none" lIns="0" rIns="0" tIns="0" bIns="0" anchor="t">
            <a:noAutofit/>
          </a:bodyPr>
          <a:p>
            <a:pPr>
              <a:lnSpc>
                <a:spcPts val="4751"/>
              </a:lnSpc>
              <a:tabLst>
                <a:tab algn="l" pos="0"/>
              </a:tabLst>
            </a:pPr>
            <a:r>
              <a:rPr b="1" lang="en-US" sz="3800" spc="-1" strike="noStrike">
                <a:solidFill>
                  <a:srgbClr val="ffffff"/>
                </a:solidFill>
                <a:latin typeface="Montserrat Bold"/>
                <a:ea typeface="Montserrat Bold"/>
              </a:rPr>
              <a:t>Etik və Təşkilati Aspektlər</a:t>
            </a:r>
            <a:endParaRPr b="0" lang="en-US" sz="3800" spc="-1" strike="noStrike">
              <a:solidFill>
                <a:srgbClr val="000000"/>
              </a:solidFill>
              <a:latin typeface="Arial"/>
            </a:endParaRPr>
          </a:p>
        </p:txBody>
      </p:sp>
      <p:sp>
        <p:nvSpPr>
          <p:cNvPr id="159" name="Text 1"/>
          <p:cNvSpPr/>
          <p:nvPr/>
        </p:nvSpPr>
        <p:spPr>
          <a:xfrm>
            <a:off x="6341400" y="1230840"/>
            <a:ext cx="7433280" cy="95688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Texnologiya nə qədər güclü olsa da, onun insan amili ilə düzgün balanslaşdırılması uğurlu tətbiqin əsas şərtidir. Bu məsələlərə vaxtında diqqət yetirilmədikdə ən yaxşı texniki həll belə şirkət daxilindən müqavimətlə üzləşə bilər.</a:t>
            </a:r>
            <a:endParaRPr b="0" lang="en-US" sz="1650" spc="-1" strike="noStrike">
              <a:solidFill>
                <a:srgbClr val="000000"/>
              </a:solidFill>
              <a:latin typeface="Arial"/>
            </a:endParaRPr>
          </a:p>
        </p:txBody>
      </p:sp>
      <p:sp>
        <p:nvSpPr>
          <p:cNvPr id="160" name="Shape 2"/>
          <p:cNvSpPr/>
          <p:nvPr/>
        </p:nvSpPr>
        <p:spPr>
          <a:xfrm>
            <a:off x="6341400" y="2714040"/>
            <a:ext cx="3610800" cy="3144600"/>
          </a:xfrm>
          <a:prstGeom prst="roundRect">
            <a:avLst>
              <a:gd name="adj" fmla="val 1020"/>
            </a:avLst>
          </a:prstGeom>
          <a:solidFill>
            <a:srgbClr val="111213"/>
          </a:solidFill>
          <a:ln w="30480">
            <a:solidFill>
              <a:srgbClr val="494a4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1" name="Text 3"/>
          <p:cNvSpPr/>
          <p:nvPr/>
        </p:nvSpPr>
        <p:spPr>
          <a:xfrm>
            <a:off x="6585840" y="2958480"/>
            <a:ext cx="2675880" cy="31104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İş itirmək qorxusu</a:t>
            </a:r>
            <a:endParaRPr b="0" lang="en-US" sz="1900" spc="-1" strike="noStrike">
              <a:solidFill>
                <a:srgbClr val="000000"/>
              </a:solidFill>
              <a:latin typeface="Arial"/>
            </a:endParaRPr>
          </a:p>
        </p:txBody>
      </p:sp>
      <p:sp>
        <p:nvSpPr>
          <p:cNvPr id="162" name="Text 4"/>
          <p:cNvSpPr/>
          <p:nvPr/>
        </p:nvSpPr>
        <p:spPr>
          <a:xfrm>
            <a:off x="6585840" y="3396600"/>
            <a:ext cx="3122280" cy="159516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Əməkdaşların ən böyük narahatlığı budur. Açıq ünsiyyət, şəffaflıq və "botlar işlərimi əlimdən alır" deyil, "botlar məni azad edir" mesajı vacibdir.</a:t>
            </a:r>
            <a:endParaRPr b="0" lang="en-US" sz="1650" spc="-1" strike="noStrike">
              <a:solidFill>
                <a:srgbClr val="000000"/>
              </a:solidFill>
              <a:latin typeface="Arial"/>
            </a:endParaRPr>
          </a:p>
        </p:txBody>
      </p:sp>
      <p:sp>
        <p:nvSpPr>
          <p:cNvPr id="163" name="Shape 5"/>
          <p:cNvSpPr/>
          <p:nvPr/>
        </p:nvSpPr>
        <p:spPr>
          <a:xfrm>
            <a:off x="10164240" y="2714040"/>
            <a:ext cx="3610800" cy="3144600"/>
          </a:xfrm>
          <a:prstGeom prst="roundRect">
            <a:avLst>
              <a:gd name="adj" fmla="val 1020"/>
            </a:avLst>
          </a:prstGeom>
          <a:solidFill>
            <a:srgbClr val="111213"/>
          </a:solidFill>
          <a:ln w="30480">
            <a:solidFill>
              <a:srgbClr val="494a4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4" name="Text 6"/>
          <p:cNvSpPr/>
          <p:nvPr/>
        </p:nvSpPr>
        <p:spPr>
          <a:xfrm>
            <a:off x="10408320" y="2958480"/>
            <a:ext cx="3122280" cy="61488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Yenidən hazırlıq ehtiyacı</a:t>
            </a:r>
            <a:endParaRPr b="0" lang="en-US" sz="1900" spc="-1" strike="noStrike">
              <a:solidFill>
                <a:srgbClr val="000000"/>
              </a:solidFill>
              <a:latin typeface="Arial"/>
            </a:endParaRPr>
          </a:p>
        </p:txBody>
      </p:sp>
      <p:sp>
        <p:nvSpPr>
          <p:cNvPr id="165" name="Text 7"/>
          <p:cNvSpPr/>
          <p:nvPr/>
        </p:nvSpPr>
        <p:spPr>
          <a:xfrm>
            <a:off x="10408320" y="3700440"/>
            <a:ext cx="3122280" cy="191412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Avtomatlaşdırma yeni bacarıqlar tələb edir: bot idarəetməsi, məlumat analitikası, proses dizaynı. Komandaların bu bacarıqları qazanması üçün investisiya şərtdir.</a:t>
            </a:r>
            <a:endParaRPr b="0" lang="en-US" sz="1650" spc="-1" strike="noStrike">
              <a:solidFill>
                <a:srgbClr val="000000"/>
              </a:solidFill>
              <a:latin typeface="Arial"/>
            </a:endParaRPr>
          </a:p>
        </p:txBody>
      </p:sp>
      <p:sp>
        <p:nvSpPr>
          <p:cNvPr id="166" name="Shape 8"/>
          <p:cNvSpPr/>
          <p:nvPr/>
        </p:nvSpPr>
        <p:spPr>
          <a:xfrm>
            <a:off x="6341400" y="6070680"/>
            <a:ext cx="7433280" cy="1564560"/>
          </a:xfrm>
          <a:prstGeom prst="roundRect">
            <a:avLst>
              <a:gd name="adj" fmla="val 2049"/>
            </a:avLst>
          </a:prstGeom>
          <a:solidFill>
            <a:srgbClr val="111213"/>
          </a:solidFill>
          <a:ln w="30480">
            <a:solidFill>
              <a:srgbClr val="494a4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7" name="Text 9"/>
          <p:cNvSpPr/>
          <p:nvPr/>
        </p:nvSpPr>
        <p:spPr>
          <a:xfrm>
            <a:off x="6585840" y="6314760"/>
            <a:ext cx="2928960" cy="31104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Məsuliyyət məsələsi</a:t>
            </a:r>
            <a:endParaRPr b="0" lang="en-US" sz="1900" spc="-1" strike="noStrike">
              <a:solidFill>
                <a:srgbClr val="000000"/>
              </a:solidFill>
              <a:latin typeface="Arial"/>
            </a:endParaRPr>
          </a:p>
        </p:txBody>
      </p:sp>
      <p:sp>
        <p:nvSpPr>
          <p:cNvPr id="168" name="Text 10"/>
          <p:cNvSpPr/>
          <p:nvPr/>
        </p:nvSpPr>
        <p:spPr>
          <a:xfrm>
            <a:off x="6585840" y="6753240"/>
            <a:ext cx="6945120" cy="63792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Bot yanlış qərar verdikdə kim cavabdehdir? Sistemin dizayncısı? İdarəçisi? Şirkət? Bu suallar tətbiqdən əvvəl aydınlaşdırılmalıdır.</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Text 0"/>
          <p:cNvSpPr/>
          <p:nvPr/>
        </p:nvSpPr>
        <p:spPr>
          <a:xfrm>
            <a:off x="820440" y="804600"/>
            <a:ext cx="4662000" cy="582480"/>
          </a:xfrm>
          <a:prstGeom prst="rect">
            <a:avLst/>
          </a:prstGeom>
          <a:noFill/>
          <a:ln w="0">
            <a:noFill/>
          </a:ln>
        </p:spPr>
        <p:style>
          <a:lnRef idx="0"/>
          <a:fillRef idx="0"/>
          <a:effectRef idx="0"/>
          <a:fontRef idx="minor"/>
        </p:style>
        <p:txBody>
          <a:bodyPr wrap="none" lIns="0" rIns="0" tIns="0" bIns="0" anchor="t">
            <a:noAutofit/>
          </a:bodyPr>
          <a:p>
            <a:pPr>
              <a:lnSpc>
                <a:spcPts val="4550"/>
              </a:lnSpc>
              <a:tabLst>
                <a:tab algn="l" pos="0"/>
              </a:tabLst>
            </a:pPr>
            <a:r>
              <a:rPr b="1" lang="en-US" sz="3650" spc="-1" strike="noStrike">
                <a:solidFill>
                  <a:srgbClr val="ffffff"/>
                </a:solidFill>
                <a:latin typeface="Montserrat Bold"/>
                <a:ea typeface="Montserrat Bold"/>
              </a:rPr>
              <a:t>Praktik Tapşırıq</a:t>
            </a:r>
            <a:endParaRPr b="0" lang="en-US" sz="3650" spc="-1" strike="noStrike">
              <a:solidFill>
                <a:srgbClr val="000000"/>
              </a:solidFill>
              <a:latin typeface="Arial"/>
            </a:endParaRPr>
          </a:p>
        </p:txBody>
      </p:sp>
      <p:sp>
        <p:nvSpPr>
          <p:cNvPr id="170" name="Text 1"/>
          <p:cNvSpPr/>
          <p:nvPr/>
        </p:nvSpPr>
        <p:spPr>
          <a:xfrm>
            <a:off x="820440" y="1776960"/>
            <a:ext cx="12988800" cy="29952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0" lang="en-US" sz="1600" spc="-1" strike="noStrike">
                <a:solidFill>
                  <a:srgbClr val="e2e6e9"/>
                </a:solidFill>
                <a:latin typeface="Source Sans 3"/>
                <a:ea typeface="Source Sans 3"/>
              </a:rPr>
              <a:t>İndi öyrəndiklərinizi öz iş mühitinizə tətbiq etməyin vaxtıdır. Bu tapşırıq sizə avtomatlaşdırma düşüncə tərzini inkişaf etdirməkdə kömək edəcək.</a:t>
            </a:r>
            <a:endParaRPr b="0" lang="en-US" sz="1600" spc="-1" strike="noStrike">
              <a:solidFill>
                <a:srgbClr val="000000"/>
              </a:solidFill>
              <a:latin typeface="Arial"/>
            </a:endParaRPr>
          </a:p>
        </p:txBody>
      </p:sp>
      <p:sp>
        <p:nvSpPr>
          <p:cNvPr id="171" name="Text 2"/>
          <p:cNvSpPr/>
          <p:nvPr/>
        </p:nvSpPr>
        <p:spPr>
          <a:xfrm>
            <a:off x="1128240" y="2515320"/>
            <a:ext cx="12681360" cy="59940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"İşinizdə </a:t>
            </a:r>
            <a:r>
              <a:rPr b="1" lang="en-US" sz="1600" spc="-1" strike="noStrike">
                <a:solidFill>
                  <a:srgbClr val="e2e6e9"/>
                </a:solidFill>
                <a:latin typeface="Source Sans 3"/>
                <a:ea typeface="Source Sans 3"/>
              </a:rPr>
              <a:t>təkrarlanan bir proses seçin.</a:t>
            </a:r>
            <a:r>
              <a:rPr b="0" lang="en-US" sz="1600" spc="-1" strike="noStrike">
                <a:solidFill>
                  <a:srgbClr val="e2e6e9"/>
                </a:solidFill>
                <a:latin typeface="Source Sans 3"/>
                <a:ea typeface="Source Sans 3"/>
              </a:rPr>
              <a:t> Bu avtomatlaşdırıla bilərmi? Klassik RPA-ya uyğundurmu, yoxsa süni intellekt tələb edirmi? Süni intellekt hansı rolu oynayacaq?"</a:t>
            </a:r>
            <a:endParaRPr b="0" lang="en-US" sz="1600" spc="-1" strike="noStrike">
              <a:solidFill>
                <a:srgbClr val="000000"/>
              </a:solidFill>
              <a:latin typeface="Arial"/>
            </a:endParaRPr>
          </a:p>
        </p:txBody>
      </p:sp>
      <p:sp>
        <p:nvSpPr>
          <p:cNvPr id="172" name="Shape 3"/>
          <p:cNvSpPr/>
          <p:nvPr/>
        </p:nvSpPr>
        <p:spPr>
          <a:xfrm>
            <a:off x="820440" y="2296080"/>
            <a:ext cx="22680" cy="103788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73" name="Image 0" descr="preencoded.png"/>
          <p:cNvPicPr/>
          <p:nvPr/>
        </p:nvPicPr>
        <p:blipFill>
          <a:blip r:embed="rId1"/>
          <a:stretch/>
        </p:blipFill>
        <p:spPr>
          <a:xfrm>
            <a:off x="820440" y="3553560"/>
            <a:ext cx="4329360" cy="820080"/>
          </a:xfrm>
          <a:prstGeom prst="rect">
            <a:avLst/>
          </a:prstGeom>
          <a:ln w="0">
            <a:noFill/>
          </a:ln>
        </p:spPr>
      </p:pic>
      <p:sp>
        <p:nvSpPr>
          <p:cNvPr id="174" name="Text 4"/>
          <p:cNvSpPr/>
          <p:nvPr/>
        </p:nvSpPr>
        <p:spPr>
          <a:xfrm>
            <a:off x="1025640" y="4568760"/>
            <a:ext cx="2750040" cy="290880"/>
          </a:xfrm>
          <a:prstGeom prst="rect">
            <a:avLst/>
          </a:prstGeom>
          <a:noFill/>
          <a:ln w="0">
            <a:noFill/>
          </a:ln>
        </p:spPr>
        <p:style>
          <a:lnRef idx="0"/>
          <a:fillRef idx="0"/>
          <a:effectRef idx="0"/>
          <a:fontRef idx="minor"/>
        </p:style>
        <p:txBody>
          <a:bodyPr wrap="none" lIns="0" rIns="0" tIns="0" bIns="0" anchor="t">
            <a:noAutofit/>
          </a:bodyPr>
          <a:p>
            <a:pPr>
              <a:lnSpc>
                <a:spcPts val="2251"/>
              </a:lnSpc>
              <a:tabLst>
                <a:tab algn="l" pos="0"/>
              </a:tabLst>
            </a:pPr>
            <a:r>
              <a:rPr b="1" lang="en-US" sz="1800" spc="-1" strike="noStrike">
                <a:solidFill>
                  <a:srgbClr val="e2e6e9"/>
                </a:solidFill>
                <a:latin typeface="Montserrat Bold"/>
                <a:ea typeface="Montserrat Bold"/>
              </a:rPr>
              <a:t>Prosesi müəyyənləşdir</a:t>
            </a:r>
            <a:endParaRPr b="0" lang="en-US" sz="1800" spc="-1" strike="noStrike">
              <a:solidFill>
                <a:srgbClr val="000000"/>
              </a:solidFill>
              <a:latin typeface="Arial"/>
            </a:endParaRPr>
          </a:p>
        </p:txBody>
      </p:sp>
      <p:sp>
        <p:nvSpPr>
          <p:cNvPr id="175" name="Text 5"/>
          <p:cNvSpPr/>
          <p:nvPr/>
        </p:nvSpPr>
        <p:spPr>
          <a:xfrm>
            <a:off x="1025640" y="4977000"/>
            <a:ext cx="3918960" cy="89928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Həftəlik ən az 2 saat aparan, təkrarlanan bir tapşırığı seçin. Ən yaxşısı — qaydaları aydın olan tapşırıqdır.</a:t>
            </a:r>
            <a:endParaRPr b="0" lang="en-US" sz="1600" spc="-1" strike="noStrike">
              <a:solidFill>
                <a:srgbClr val="000000"/>
              </a:solidFill>
              <a:latin typeface="Arial"/>
            </a:endParaRPr>
          </a:p>
        </p:txBody>
      </p:sp>
      <p:pic>
        <p:nvPicPr>
          <p:cNvPr id="176" name="Image 1" descr="preencoded.png"/>
          <p:cNvPicPr/>
          <p:nvPr/>
        </p:nvPicPr>
        <p:blipFill>
          <a:blip r:embed="rId2"/>
          <a:stretch/>
        </p:blipFill>
        <p:spPr>
          <a:xfrm>
            <a:off x="5150160" y="3553560"/>
            <a:ext cx="4329360" cy="820080"/>
          </a:xfrm>
          <a:prstGeom prst="rect">
            <a:avLst/>
          </a:prstGeom>
          <a:ln w="0">
            <a:noFill/>
          </a:ln>
        </p:spPr>
      </p:pic>
      <p:sp>
        <p:nvSpPr>
          <p:cNvPr id="177" name="Text 6"/>
          <p:cNvSpPr/>
          <p:nvPr/>
        </p:nvSpPr>
        <p:spPr>
          <a:xfrm>
            <a:off x="5355360" y="4568760"/>
            <a:ext cx="3082680" cy="290880"/>
          </a:xfrm>
          <a:prstGeom prst="rect">
            <a:avLst/>
          </a:prstGeom>
          <a:noFill/>
          <a:ln w="0">
            <a:noFill/>
          </a:ln>
        </p:spPr>
        <p:style>
          <a:lnRef idx="0"/>
          <a:fillRef idx="0"/>
          <a:effectRef idx="0"/>
          <a:fontRef idx="minor"/>
        </p:style>
        <p:txBody>
          <a:bodyPr wrap="none" lIns="0" rIns="0" tIns="0" bIns="0" anchor="t">
            <a:noAutofit/>
          </a:bodyPr>
          <a:p>
            <a:pPr>
              <a:lnSpc>
                <a:spcPts val="2251"/>
              </a:lnSpc>
              <a:tabLst>
                <a:tab algn="l" pos="0"/>
              </a:tabLst>
            </a:pPr>
            <a:r>
              <a:rPr b="1" lang="en-US" sz="1800" spc="-1" strike="noStrike">
                <a:solidFill>
                  <a:srgbClr val="e2e6e9"/>
                </a:solidFill>
                <a:latin typeface="Montserrat Bold"/>
                <a:ea typeface="Montserrat Bold"/>
              </a:rPr>
              <a:t>Məlumat növünü təhlil et</a:t>
            </a:r>
            <a:endParaRPr b="0" lang="en-US" sz="1800" spc="-1" strike="noStrike">
              <a:solidFill>
                <a:srgbClr val="000000"/>
              </a:solidFill>
              <a:latin typeface="Arial"/>
            </a:endParaRPr>
          </a:p>
        </p:txBody>
      </p:sp>
      <p:sp>
        <p:nvSpPr>
          <p:cNvPr id="178" name="Text 7"/>
          <p:cNvSpPr/>
          <p:nvPr/>
        </p:nvSpPr>
        <p:spPr>
          <a:xfrm>
            <a:off x="5355360" y="4977000"/>
            <a:ext cx="3918960" cy="119916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Bu proses strukturlaşdırılmış məlumatlarla mı işləyir, yoxsa e-poçtlar, PDF-lər, sənədlər kimi qurulmamış məlumatlarla? Bu cavab RPA vs IPA seçimini müəyyənləşdirir.</a:t>
            </a:r>
            <a:endParaRPr b="0" lang="en-US" sz="1600" spc="-1" strike="noStrike">
              <a:solidFill>
                <a:srgbClr val="000000"/>
              </a:solidFill>
              <a:latin typeface="Arial"/>
            </a:endParaRPr>
          </a:p>
        </p:txBody>
      </p:sp>
      <p:pic>
        <p:nvPicPr>
          <p:cNvPr id="179" name="Image 2" descr="preencoded.png"/>
          <p:cNvPicPr/>
          <p:nvPr/>
        </p:nvPicPr>
        <p:blipFill>
          <a:blip r:embed="rId3"/>
          <a:stretch/>
        </p:blipFill>
        <p:spPr>
          <a:xfrm>
            <a:off x="9479880" y="3553560"/>
            <a:ext cx="4329360" cy="820080"/>
          </a:xfrm>
          <a:prstGeom prst="rect">
            <a:avLst/>
          </a:prstGeom>
          <a:ln w="0">
            <a:noFill/>
          </a:ln>
        </p:spPr>
      </p:pic>
      <p:sp>
        <p:nvSpPr>
          <p:cNvPr id="180" name="Text 8"/>
          <p:cNvSpPr/>
          <p:nvPr/>
        </p:nvSpPr>
        <p:spPr>
          <a:xfrm>
            <a:off x="9685080" y="4568760"/>
            <a:ext cx="3189240" cy="290880"/>
          </a:xfrm>
          <a:prstGeom prst="rect">
            <a:avLst/>
          </a:prstGeom>
          <a:noFill/>
          <a:ln w="0">
            <a:noFill/>
          </a:ln>
        </p:spPr>
        <p:style>
          <a:lnRef idx="0"/>
          <a:fillRef idx="0"/>
          <a:effectRef idx="0"/>
          <a:fontRef idx="minor"/>
        </p:style>
        <p:txBody>
          <a:bodyPr wrap="none" lIns="0" rIns="0" tIns="0" bIns="0" anchor="t">
            <a:noAutofit/>
          </a:bodyPr>
          <a:p>
            <a:pPr>
              <a:lnSpc>
                <a:spcPts val="2251"/>
              </a:lnSpc>
              <a:tabLst>
                <a:tab algn="l" pos="0"/>
              </a:tabLst>
            </a:pPr>
            <a:r>
              <a:rPr b="1" lang="en-US" sz="1800" spc="-1" strike="noStrike">
                <a:solidFill>
                  <a:srgbClr val="e2e6e9"/>
                </a:solidFill>
                <a:latin typeface="Montserrat Bold"/>
                <a:ea typeface="Montserrat Bold"/>
              </a:rPr>
              <a:t>Süni intellektin rolunu tap</a:t>
            </a:r>
            <a:endParaRPr b="0" lang="en-US" sz="1800" spc="-1" strike="noStrike">
              <a:solidFill>
                <a:srgbClr val="000000"/>
              </a:solidFill>
              <a:latin typeface="Arial"/>
            </a:endParaRPr>
          </a:p>
        </p:txBody>
      </p:sp>
      <p:sp>
        <p:nvSpPr>
          <p:cNvPr id="181" name="Text 9"/>
          <p:cNvSpPr/>
          <p:nvPr/>
        </p:nvSpPr>
        <p:spPr>
          <a:xfrm>
            <a:off x="9685080" y="4977000"/>
            <a:ext cx="3918960" cy="89928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OCR, NLP, ML, çatbot — hansı texnologiya bu prosesi daha ağıllı edəcək? İnsan nəzarəti harda lazım olacaq?</a:t>
            </a:r>
            <a:endParaRPr b="0" lang="en-US" sz="1600" spc="-1" strike="noStrike">
              <a:solidFill>
                <a:srgbClr val="000000"/>
              </a:solidFill>
              <a:latin typeface="Arial"/>
            </a:endParaRPr>
          </a:p>
        </p:txBody>
      </p:sp>
      <p:sp>
        <p:nvSpPr>
          <p:cNvPr id="182" name="Shape 10"/>
          <p:cNvSpPr/>
          <p:nvPr/>
        </p:nvSpPr>
        <p:spPr>
          <a:xfrm>
            <a:off x="820440" y="6601320"/>
            <a:ext cx="12988800" cy="823320"/>
          </a:xfrm>
          <a:prstGeom prst="roundRect">
            <a:avLst>
              <a:gd name="adj" fmla="val 3735"/>
            </a:avLst>
          </a:prstGeom>
          <a:solidFill>
            <a:srgbClr val="262626"/>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83" name="Image 3" descr="preencoded.png"/>
          <p:cNvPicPr/>
          <p:nvPr/>
        </p:nvPicPr>
        <p:blipFill>
          <a:blip r:embed="rId4"/>
          <a:stretch/>
        </p:blipFill>
        <p:spPr>
          <a:xfrm>
            <a:off x="1025640" y="6891480"/>
            <a:ext cx="255960" cy="204840"/>
          </a:xfrm>
          <a:prstGeom prst="rect">
            <a:avLst/>
          </a:prstGeom>
          <a:ln w="0">
            <a:noFill/>
          </a:ln>
        </p:spPr>
      </p:pic>
      <p:sp>
        <p:nvSpPr>
          <p:cNvPr id="184" name="Text 11"/>
          <p:cNvSpPr/>
          <p:nvPr/>
        </p:nvSpPr>
        <p:spPr>
          <a:xfrm>
            <a:off x="1487160" y="6847200"/>
            <a:ext cx="12117240" cy="29952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0" lang="en-US" sz="1600" spc="-1" strike="noStrike">
                <a:solidFill>
                  <a:srgbClr val="000000"/>
                </a:solidFill>
                <a:latin typeface="Source Sans 3"/>
                <a:ea typeface="Source Sans 3"/>
              </a:rPr>
              <a:t>📝</a:t>
            </a:r>
            <a:r>
              <a:rPr b="0" lang="en-US" sz="1600" spc="-1" strike="noStrike">
                <a:solidFill>
                  <a:srgbClr val="ffffff"/>
                </a:solidFill>
                <a:latin typeface="Source Sans 3"/>
                <a:ea typeface="Source Sans 3"/>
              </a:rPr>
              <a:t> </a:t>
            </a:r>
            <a:r>
              <a:rPr b="0" lang="en-US" sz="1600" spc="-1" strike="noStrike">
                <a:solidFill>
                  <a:srgbClr val="ffffff"/>
                </a:solidFill>
                <a:latin typeface="Source Sans 3"/>
                <a:ea typeface="Source Sans 3"/>
              </a:rPr>
              <a:t>Tapşırığınızı növbəti dərsdə müzakirə edəcəyik. Seçdiyiniz prosesin addımlarını qısaca yazıb gətirin.</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2026-03-25T15:48:08Z</dcterms:created>
  <dc:creator/>
  <dc:description/>
  <dc:language>en-US</dc:language>
  <cp:lastModifiedBy/>
  <dcterms:modified xsi:type="dcterms:W3CDTF">2026-03-25T19:52:53Z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