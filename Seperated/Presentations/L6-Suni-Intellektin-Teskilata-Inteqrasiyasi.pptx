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2.svg" ContentType="image/svg"/>
  <Override PartName="/ppt/media/image13.png" ContentType="image/png"/>
  <Override PartName="/ppt/media/image4.png" ContentType="image/png"/>
  <Override PartName="/ppt/media/image10.svg" ContentType="image/svg"/>
  <Override PartName="/ppt/media/image9.png" ContentType="image/png"/>
  <Override PartName="/ppt/media/image8.png" ContentType="image/png"/>
  <Override PartName="/ppt/media/image17.png" ContentType="image/png"/>
  <Override PartName="/ppt/media/image11.png" ContentType="image/png"/>
  <Override PartName="/ppt/media/image2.png" ContentType="image/png"/>
  <Override PartName="/ppt/media/image7.png" ContentType="image/png"/>
  <Override PartName="/ppt/media/image6.png" ContentType="image/png"/>
  <Override PartName="/ppt/media/image15.png" ContentType="image/png"/>
  <Override PartName="/ppt/media/image5.png" ContentType="image/png"/>
  <Override PartName="/ppt/media/image26.png" ContentType="image/png"/>
  <Override PartName="/ppt/media/image25.png" ContentType="image/png"/>
  <Override PartName="/ppt/media/image24.png" ContentType="image/png"/>
  <Override PartName="/ppt/media/image23.png" ContentType="image/png"/>
  <Override PartName="/ppt/media/image22.png" ContentType="image/png"/>
  <Override PartName="/ppt/media/image21.png" ContentType="image/png"/>
  <Override PartName="/ppt/media/image19.png" ContentType="image/png"/>
  <Override PartName="/ppt/media/image16.svg" ContentType="image/svg"/>
  <Override PartName="/ppt/media/image20.svg" ContentType="image/svg"/>
  <Override PartName="/ppt/media/image18.svg" ContentType="image/svg"/>
  <Override PartName="/ppt/media/image14.svg" ContentType="image/svg"/>
  <Override PartName="/ppt/media/image1.png" ContentType="image/png"/>
  <Override PartName="/ppt/media/image3.png" ContentType="image/png"/>
  <Override PartName="/ppt/slides/slide1.xml" ContentType="application/vnd.openxmlformats-officedocument.presentationml.slide+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chemeClr val="dk1"/>
                </a:solidFill>
                <a:latin typeface="Calibri Light"/>
              </a:rPr>
              <a:t>Click to move the slide</a:t>
            </a:r>
            <a:endParaRPr b="0" lang="en-US" sz="4400" spc="-1" strike="noStrike">
              <a:solidFill>
                <a:schemeClr val="dk1"/>
              </a:solidFill>
              <a:latin typeface="Calibri Light"/>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92CA6CFF-9D0D-45DC-BDB9-D5FB3E6FAB60}"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sldImg"/>
          </p:nvPr>
        </p:nvSpPr>
        <p:spPr>
          <a:xfrm>
            <a:off x="685800" y="1143000"/>
            <a:ext cx="5486040" cy="3085920"/>
          </a:xfrm>
          <a:prstGeom prst="rect">
            <a:avLst/>
          </a:prstGeom>
          <a:ln w="0">
            <a:noFill/>
          </a:ln>
        </p:spPr>
      </p:sp>
      <p:sp>
        <p:nvSpPr>
          <p:cNvPr id="2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23"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F1FBA0C-0FCE-4B5D-B4FA-16BF4989A72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sldImg"/>
          </p:nvPr>
        </p:nvSpPr>
        <p:spPr>
          <a:xfrm>
            <a:off x="685800" y="1143000"/>
            <a:ext cx="5486040" cy="3085920"/>
          </a:xfrm>
          <a:prstGeom prst="rect">
            <a:avLst/>
          </a:prstGeom>
          <a:ln w="0">
            <a:noFill/>
          </a:ln>
        </p:spPr>
      </p:sp>
      <p:sp>
        <p:nvSpPr>
          <p:cNvPr id="2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26"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7F3B05C-5C6E-4582-AF28-C54E99C92C7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sldImg"/>
          </p:nvPr>
        </p:nvSpPr>
        <p:spPr>
          <a:xfrm>
            <a:off x="685800" y="1143000"/>
            <a:ext cx="5486040" cy="308592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29"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3C6E2C4-105C-4765-A64E-F284CCB500F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685800" y="1143000"/>
            <a:ext cx="5486040" cy="308592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32"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32C20D6-C88B-4CCD-88F2-6A6F1DB1220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6040" cy="308592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35"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1922FAC-C4EA-4BB6-9847-D522AC78474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685800" y="1143000"/>
            <a:ext cx="5486040" cy="308592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38"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A63280A-ABAA-40AD-B7BF-01B7C3F899D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sldImg"/>
          </p:nvPr>
        </p:nvSpPr>
        <p:spPr>
          <a:xfrm>
            <a:off x="685800" y="1143000"/>
            <a:ext cx="5486040" cy="308592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1"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A92B837-E7B3-4260-AEB7-8E763AA476B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685800" y="1143000"/>
            <a:ext cx="5486040" cy="308592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4"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AC96E05-A5A8-4557-A0E5-62A5942C84E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685800" y="1143000"/>
            <a:ext cx="5486040" cy="3085920"/>
          </a:xfrm>
          <a:prstGeom prst="rect">
            <a:avLst/>
          </a:prstGeom>
          <a:ln w="0">
            <a:noFill/>
          </a:ln>
        </p:spPr>
      </p:sp>
      <p:sp>
        <p:nvSpPr>
          <p:cNvPr id="24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7"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6B0BCD3-8512-469C-B360-491CAFD0B38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sldImg"/>
          </p:nvPr>
        </p:nvSpPr>
        <p:spPr>
          <a:xfrm>
            <a:off x="685800" y="1143000"/>
            <a:ext cx="5486040" cy="3085920"/>
          </a:xfrm>
          <a:prstGeom prst="rect">
            <a:avLst/>
          </a:prstGeom>
          <a:ln w="0">
            <a:noFill/>
          </a:ln>
        </p:spPr>
      </p:sp>
      <p:sp>
        <p:nvSpPr>
          <p:cNvPr id="24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0"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BA4F05E-1A54-4EE9-B0AA-4E3A7B6ECC8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sldImg"/>
          </p:nvPr>
        </p:nvSpPr>
        <p:spPr>
          <a:xfrm>
            <a:off x="685800" y="1143000"/>
            <a:ext cx="5486040" cy="3085920"/>
          </a:xfrm>
          <a:prstGeom prst="rect">
            <a:avLst/>
          </a:prstGeom>
          <a:ln w="0">
            <a:noFill/>
          </a:ln>
        </p:spPr>
      </p:sp>
      <p:sp>
        <p:nvSpPr>
          <p:cNvPr id="25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3"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DBAAC7A-706B-49DE-A1A8-D9462ABE49D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a:t>
            </a:r>
            <a:r>
              <a:rPr b="0" lang="en-US" sz="4400" spc="-1" strike="noStrike">
                <a:solidFill>
                  <a:schemeClr val="dk1"/>
                </a:solidFill>
                <a:latin typeface="Calibri Light"/>
              </a:rPr>
              <a:t>title text format</a:t>
            </a:r>
            <a:endParaRPr b="0" lang="en-US" sz="4400" spc="-1" strike="noStrike">
              <a:solidFill>
                <a:schemeClr val="dk1"/>
              </a:solidFill>
              <a:latin typeface="Calibri Light"/>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a:t>
            </a:r>
            <a:r>
              <a:rPr b="0" lang="en-US" sz="4400" spc="-1" strike="noStrike">
                <a:solidFill>
                  <a:schemeClr val="dk1"/>
                </a:solidFill>
                <a:latin typeface="Calibri Light"/>
              </a:rPr>
              <a:t>text format</a:t>
            </a:r>
            <a:endParaRPr b="0" lang="en-US" sz="4400" spc="-1" strike="noStrike">
              <a:solidFill>
                <a:schemeClr val="dk1"/>
              </a:solidFill>
              <a:latin typeface="Calibri Light"/>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a:t>
            </a:r>
            <a:r>
              <a:rPr b="0" lang="en-US" sz="4400" spc="-1" strike="noStrike">
                <a:solidFill>
                  <a:schemeClr val="dk1"/>
                </a:solidFill>
                <a:latin typeface="Calibri Light"/>
              </a:rPr>
              <a:t>the title text </a:t>
            </a:r>
            <a:r>
              <a:rPr b="0" lang="en-US" sz="4400" spc="-1" strike="noStrike">
                <a:solidFill>
                  <a:schemeClr val="dk1"/>
                </a:solidFill>
                <a:latin typeface="Calibri Light"/>
              </a:rPr>
              <a:t>format</a:t>
            </a:r>
            <a:endParaRPr b="0" lang="en-US" sz="4400" spc="-1" strike="noStrike">
              <a:solidFill>
                <a:schemeClr val="dk1"/>
              </a:solidFill>
              <a:latin typeface="Calibri Light"/>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a:t>
            </a:r>
            <a:r>
              <a:rPr b="0" lang="en-US" sz="4400" spc="-1" strike="noStrike">
                <a:solidFill>
                  <a:schemeClr val="dk1"/>
                </a:solidFill>
                <a:latin typeface="Calibri Light"/>
              </a:rPr>
              <a:t>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forma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a:t>
            </a:r>
            <a:r>
              <a:rPr b="0" lang="en-US" sz="4400" spc="-1" strike="noStrike">
                <a:solidFill>
                  <a:schemeClr val="dk1"/>
                </a:solidFill>
                <a:latin typeface="Calibri Light"/>
              </a:rPr>
              <a:t>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forma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a:t>
            </a:r>
            <a:r>
              <a:rPr b="0" lang="en-US" sz="4400" spc="-1" strike="noStrike">
                <a:solidFill>
                  <a:schemeClr val="dk1"/>
                </a:solidFill>
                <a:latin typeface="Calibri Light"/>
              </a:rPr>
              <a:t>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a:t>
            </a:r>
            <a:r>
              <a:rPr b="0" lang="en-US" sz="4400" spc="-1" strike="noStrike">
                <a:solidFill>
                  <a:schemeClr val="dk1"/>
                </a:solidFill>
                <a:latin typeface="Calibri Light"/>
              </a:rPr>
              <a:t>mat</a:t>
            </a:r>
            <a:endParaRPr b="0" lang="en-US" sz="4400" spc="-1" strike="noStrike">
              <a:solidFill>
                <a:schemeClr val="dk1"/>
              </a:solidFill>
              <a:latin typeface="Calibri Light"/>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6.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slideLayout" Target="../slideLayouts/slideLayout7.xml"/><Relationship Id="rId5"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8.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png"/><Relationship Id="rId7" Type="http://schemas.openxmlformats.org/officeDocument/2006/relationships/image" Target="../media/image14.svg"/><Relationship Id="rId8" Type="http://schemas.openxmlformats.org/officeDocument/2006/relationships/slideLayout" Target="../slideLayouts/slideLayout11.xml"/><Relationship Id="rId9"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svg"/><Relationship Id="rId3" Type="http://schemas.openxmlformats.org/officeDocument/2006/relationships/image" Target="../media/image17.png"/><Relationship Id="rId4" Type="http://schemas.openxmlformats.org/officeDocument/2006/relationships/image" Target="../media/image18.svg"/><Relationship Id="rId5" Type="http://schemas.openxmlformats.org/officeDocument/2006/relationships/image" Target="../media/image19.png"/><Relationship Id="rId6" Type="http://schemas.openxmlformats.org/officeDocument/2006/relationships/image" Target="../media/image20.svg"/><Relationship Id="rId7" Type="http://schemas.openxmlformats.org/officeDocument/2006/relationships/slideLayout" Target="../slideLayouts/slideLayout12.xml"/><Relationship Id="rId8"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0" y="0"/>
            <a:ext cx="5486040" cy="8229240"/>
          </a:xfrm>
          <a:prstGeom prst="rect">
            <a:avLst/>
          </a:prstGeom>
          <a:ln w="0">
            <a:noFill/>
          </a:ln>
        </p:spPr>
      </p:pic>
      <p:sp>
        <p:nvSpPr>
          <p:cNvPr id="51" name="Text 0"/>
          <p:cNvSpPr/>
          <p:nvPr/>
        </p:nvSpPr>
        <p:spPr>
          <a:xfrm>
            <a:off x="6350040" y="2861640"/>
            <a:ext cx="7416000" cy="122652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Süni İntellektin Təşkilata İnteqrasiyası</a:t>
            </a:r>
            <a:endParaRPr b="0" lang="en-US" sz="3850" spc="-1" strike="noStrike">
              <a:solidFill>
                <a:srgbClr val="000000"/>
              </a:solidFill>
              <a:latin typeface="Arial"/>
            </a:endParaRPr>
          </a:p>
        </p:txBody>
      </p:sp>
      <p:sp>
        <p:nvSpPr>
          <p:cNvPr id="52" name="Text 1"/>
          <p:cNvSpPr/>
          <p:nvPr/>
        </p:nvSpPr>
        <p:spPr>
          <a:xfrm>
            <a:off x="6350040" y="4412520"/>
            <a:ext cx="74160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Düzgün strategiya, effektiv tətbiq və davamlı transformasiya üçün praktiki bələdçi</a:t>
            </a:r>
            <a:endParaRPr b="0" lang="en-US" sz="1700" spc="-1" strike="noStrike">
              <a:solidFill>
                <a:srgbClr val="000000"/>
              </a:solidFill>
              <a:latin typeface="Arial"/>
            </a:endParaRPr>
          </a:p>
        </p:txBody>
      </p:sp>
      <p:sp>
        <p:nvSpPr>
          <p:cNvPr id="53" name="Shape 2"/>
          <p:cNvSpPr/>
          <p:nvPr/>
        </p:nvSpPr>
        <p:spPr>
          <a:xfrm>
            <a:off x="6350040" y="4979160"/>
            <a:ext cx="1978200" cy="38844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4" name="Text 3"/>
          <p:cNvSpPr/>
          <p:nvPr/>
        </p:nvSpPr>
        <p:spPr>
          <a:xfrm>
            <a:off x="6479640" y="5043960"/>
            <a:ext cx="1719000" cy="25884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PEŞƏKAR TƏLIM KURSU</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5" name="Image 0" descr="preencoded.png"/>
          <p:cNvPicPr/>
          <p:nvPr/>
        </p:nvPicPr>
        <p:blipFill>
          <a:blip r:embed="rId1"/>
          <a:stretch/>
        </p:blipFill>
        <p:spPr>
          <a:xfrm>
            <a:off x="0" y="0"/>
            <a:ext cx="5486040" cy="8229240"/>
          </a:xfrm>
          <a:prstGeom prst="rect">
            <a:avLst/>
          </a:prstGeom>
          <a:ln w="0">
            <a:noFill/>
          </a:ln>
        </p:spPr>
      </p:pic>
      <p:sp>
        <p:nvSpPr>
          <p:cNvPr id="56" name="Text 0"/>
          <p:cNvSpPr/>
          <p:nvPr/>
        </p:nvSpPr>
        <p:spPr>
          <a:xfrm>
            <a:off x="6269040" y="807840"/>
            <a:ext cx="4447080" cy="555480"/>
          </a:xfrm>
          <a:prstGeom prst="rect">
            <a:avLst/>
          </a:prstGeom>
          <a:noFill/>
          <a:ln w="0">
            <a:noFill/>
          </a:ln>
        </p:spPr>
        <p:style>
          <a:lnRef idx="0"/>
          <a:fillRef idx="0"/>
          <a:effectRef idx="0"/>
          <a:fontRef idx="minor"/>
        </p:style>
        <p:txBody>
          <a:bodyPr wrap="none" lIns="0" rIns="0" tIns="0" bIns="0" anchor="t">
            <a:noAutofit/>
          </a:bodyPr>
          <a:p>
            <a:pPr>
              <a:lnSpc>
                <a:spcPts val="4351"/>
              </a:lnSpc>
              <a:tabLst>
                <a:tab algn="l" pos="0"/>
              </a:tabLst>
            </a:pPr>
            <a:r>
              <a:rPr b="1" lang="en-US" sz="3500" spc="-1" strike="noStrike">
                <a:solidFill>
                  <a:srgbClr val="ffffff"/>
                </a:solidFill>
                <a:latin typeface="Montserrat Bold"/>
                <a:ea typeface="Montserrat Bold"/>
              </a:rPr>
              <a:t>Dərsin Məqsədləri</a:t>
            </a:r>
            <a:endParaRPr b="0" lang="en-US" sz="3500" spc="-1" strike="noStrike">
              <a:solidFill>
                <a:srgbClr val="000000"/>
              </a:solidFill>
              <a:latin typeface="Arial"/>
            </a:endParaRPr>
          </a:p>
        </p:txBody>
      </p:sp>
      <p:sp>
        <p:nvSpPr>
          <p:cNvPr id="57" name="Text 1"/>
          <p:cNvSpPr/>
          <p:nvPr/>
        </p:nvSpPr>
        <p:spPr>
          <a:xfrm>
            <a:off x="6269040" y="1377360"/>
            <a:ext cx="7578360" cy="83916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0" lang="en-US" sz="1500" spc="-1" strike="noStrike">
                <a:solidFill>
                  <a:srgbClr val="e2e6e9"/>
                </a:solidFill>
                <a:latin typeface="Source Sans 3"/>
                <a:ea typeface="Source Sans 3"/>
              </a:rPr>
              <a:t>Bu dərsdə biz süni intellekti təşkilata necə düzgün, effektiv və davamlı şəkildə inteqrasiya etməyi ətraflı müzakirə edəcəyik. Məqsədimiz nəzəriyyəni praktiki addımlarla birləşdirərək real iş mühitinə tətbiq edilə bilən bilik və bacarıqlar formalaşdırmaqdır.</a:t>
            </a:r>
            <a:endParaRPr b="0" lang="en-US" sz="1500" spc="-1" strike="noStrike">
              <a:solidFill>
                <a:srgbClr val="000000"/>
              </a:solidFill>
              <a:latin typeface="Arial"/>
            </a:endParaRPr>
          </a:p>
        </p:txBody>
      </p:sp>
      <p:sp>
        <p:nvSpPr>
          <p:cNvPr id="58" name="Shape 2"/>
          <p:cNvSpPr/>
          <p:nvPr/>
        </p:nvSpPr>
        <p:spPr>
          <a:xfrm>
            <a:off x="6269040" y="2668320"/>
            <a:ext cx="7578360" cy="1055160"/>
          </a:xfrm>
          <a:prstGeom prst="roundRect">
            <a:avLst>
              <a:gd name="adj" fmla="val 278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9" name="Text 3"/>
          <p:cNvSpPr/>
          <p:nvPr/>
        </p:nvSpPr>
        <p:spPr>
          <a:xfrm>
            <a:off x="6464880" y="2863800"/>
            <a:ext cx="2223360" cy="27756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50" spc="-1" strike="noStrike">
                <a:solidFill>
                  <a:srgbClr val="000000"/>
                </a:solidFill>
                <a:latin typeface="Montserrat Bold"/>
                <a:ea typeface="Montserrat Bold"/>
              </a:rPr>
              <a:t>🎯</a:t>
            </a:r>
            <a:r>
              <a:rPr b="1" lang="en-US" sz="1750" spc="-1" strike="noStrike">
                <a:solidFill>
                  <a:srgbClr val="e2e6e9"/>
                </a:solidFill>
                <a:latin typeface="Montserrat Bold"/>
                <a:ea typeface="Montserrat Bold"/>
              </a:rPr>
              <a:t> </a:t>
            </a:r>
            <a:r>
              <a:rPr b="1" lang="en-US" sz="1750" spc="-1" strike="noStrike">
                <a:solidFill>
                  <a:srgbClr val="e2e6e9"/>
                </a:solidFill>
                <a:latin typeface="Montserrat Bold"/>
                <a:ea typeface="Montserrat Bold"/>
              </a:rPr>
              <a:t>Strategiya</a:t>
            </a:r>
            <a:endParaRPr b="0" lang="en-US" sz="1750" spc="-1" strike="noStrike">
              <a:solidFill>
                <a:srgbClr val="000000"/>
              </a:solidFill>
              <a:latin typeface="Arial"/>
            </a:endParaRPr>
          </a:p>
        </p:txBody>
      </p:sp>
      <p:sp>
        <p:nvSpPr>
          <p:cNvPr id="60" name="Text 4"/>
          <p:cNvSpPr/>
          <p:nvPr/>
        </p:nvSpPr>
        <p:spPr>
          <a:xfrm>
            <a:off x="6464880" y="3248280"/>
            <a:ext cx="718704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0" lang="en-US" sz="1500" spc="-1" strike="noStrike">
                <a:solidFill>
                  <a:srgbClr val="e2e6e9"/>
                </a:solidFill>
                <a:latin typeface="Source Sans 3"/>
                <a:ea typeface="Source Sans 3"/>
              </a:rPr>
              <a:t>SI tətbiq yollarını müəyyən etmək</a:t>
            </a:r>
            <a:endParaRPr b="0" lang="en-US" sz="1500" spc="-1" strike="noStrike">
              <a:solidFill>
                <a:srgbClr val="000000"/>
              </a:solidFill>
              <a:latin typeface="Arial"/>
            </a:endParaRPr>
          </a:p>
        </p:txBody>
      </p:sp>
      <p:sp>
        <p:nvSpPr>
          <p:cNvPr id="61" name="Shape 5"/>
          <p:cNvSpPr/>
          <p:nvPr/>
        </p:nvSpPr>
        <p:spPr>
          <a:xfrm>
            <a:off x="6269040" y="3900960"/>
            <a:ext cx="7578360" cy="1055160"/>
          </a:xfrm>
          <a:prstGeom prst="roundRect">
            <a:avLst>
              <a:gd name="adj" fmla="val 278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2" name="Text 6"/>
          <p:cNvSpPr/>
          <p:nvPr/>
        </p:nvSpPr>
        <p:spPr>
          <a:xfrm>
            <a:off x="6464880" y="4096440"/>
            <a:ext cx="2223360" cy="27756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50" spc="-1" strike="noStrike">
                <a:solidFill>
                  <a:srgbClr val="000000"/>
                </a:solidFill>
                <a:latin typeface="Montserrat Bold"/>
                <a:ea typeface="Montserrat Bold"/>
              </a:rPr>
              <a:t>🔄</a:t>
            </a:r>
            <a:r>
              <a:rPr b="1" lang="en-US" sz="1750" spc="-1" strike="noStrike">
                <a:solidFill>
                  <a:srgbClr val="e2e6e9"/>
                </a:solidFill>
                <a:latin typeface="Montserrat Bold"/>
                <a:ea typeface="Montserrat Bold"/>
              </a:rPr>
              <a:t> </a:t>
            </a:r>
            <a:r>
              <a:rPr b="1" lang="en-US" sz="1750" spc="-1" strike="noStrike">
                <a:solidFill>
                  <a:srgbClr val="e2e6e9"/>
                </a:solidFill>
                <a:latin typeface="Montserrat Bold"/>
                <a:ea typeface="Montserrat Bold"/>
              </a:rPr>
              <a:t>Proses</a:t>
            </a:r>
            <a:endParaRPr b="0" lang="en-US" sz="1750" spc="-1" strike="noStrike">
              <a:solidFill>
                <a:srgbClr val="000000"/>
              </a:solidFill>
              <a:latin typeface="Arial"/>
            </a:endParaRPr>
          </a:p>
        </p:txBody>
      </p:sp>
      <p:sp>
        <p:nvSpPr>
          <p:cNvPr id="63" name="Text 7"/>
          <p:cNvSpPr/>
          <p:nvPr/>
        </p:nvSpPr>
        <p:spPr>
          <a:xfrm>
            <a:off x="6464880" y="4480920"/>
            <a:ext cx="718704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0" lang="en-US" sz="1500" spc="-1" strike="noStrike">
                <a:solidFill>
                  <a:srgbClr val="e2e6e9"/>
                </a:solidFill>
                <a:latin typeface="Source Sans 3"/>
                <a:ea typeface="Source Sans 3"/>
              </a:rPr>
              <a:t>Mərhələli tətbiq addımlarını anlamaq</a:t>
            </a:r>
            <a:endParaRPr b="0" lang="en-US" sz="1500" spc="-1" strike="noStrike">
              <a:solidFill>
                <a:srgbClr val="000000"/>
              </a:solidFill>
              <a:latin typeface="Arial"/>
            </a:endParaRPr>
          </a:p>
        </p:txBody>
      </p:sp>
      <p:sp>
        <p:nvSpPr>
          <p:cNvPr id="64" name="Shape 8"/>
          <p:cNvSpPr/>
          <p:nvPr/>
        </p:nvSpPr>
        <p:spPr>
          <a:xfrm>
            <a:off x="6269040" y="5133600"/>
            <a:ext cx="7578360" cy="1055160"/>
          </a:xfrm>
          <a:prstGeom prst="roundRect">
            <a:avLst>
              <a:gd name="adj" fmla="val 278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5" name="Text 9"/>
          <p:cNvSpPr/>
          <p:nvPr/>
        </p:nvSpPr>
        <p:spPr>
          <a:xfrm>
            <a:off x="6464880" y="5329080"/>
            <a:ext cx="2223360" cy="27756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50" spc="-1" strike="noStrike">
                <a:solidFill>
                  <a:srgbClr val="000000"/>
                </a:solidFill>
                <a:latin typeface="Montserrat Bold"/>
                <a:ea typeface="Montserrat Bold"/>
              </a:rPr>
              <a:t>⚠️</a:t>
            </a:r>
            <a:r>
              <a:rPr b="1" lang="en-US" sz="1750" spc="-1" strike="noStrike">
                <a:solidFill>
                  <a:srgbClr val="e2e6e9"/>
                </a:solidFill>
                <a:latin typeface="Montserrat Bold"/>
                <a:ea typeface="Montserrat Bold"/>
              </a:rPr>
              <a:t> </a:t>
            </a:r>
            <a:r>
              <a:rPr b="1" lang="en-US" sz="1750" spc="-1" strike="noStrike">
                <a:solidFill>
                  <a:srgbClr val="e2e6e9"/>
                </a:solidFill>
                <a:latin typeface="Montserrat Bold"/>
                <a:ea typeface="Montserrat Bold"/>
              </a:rPr>
              <a:t>Risklər</a:t>
            </a:r>
            <a:endParaRPr b="0" lang="en-US" sz="1750" spc="-1" strike="noStrike">
              <a:solidFill>
                <a:srgbClr val="000000"/>
              </a:solidFill>
              <a:latin typeface="Arial"/>
            </a:endParaRPr>
          </a:p>
        </p:txBody>
      </p:sp>
      <p:sp>
        <p:nvSpPr>
          <p:cNvPr id="66" name="Text 10"/>
          <p:cNvSpPr/>
          <p:nvPr/>
        </p:nvSpPr>
        <p:spPr>
          <a:xfrm>
            <a:off x="6464880" y="5713560"/>
            <a:ext cx="718704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0" lang="en-US" sz="1500" spc="-1" strike="noStrike">
                <a:solidFill>
                  <a:srgbClr val="e2e6e9"/>
                </a:solidFill>
                <a:latin typeface="Source Sans 3"/>
                <a:ea typeface="Source Sans 3"/>
              </a:rPr>
              <a:t>Əsas risklər və onların idarəsi</a:t>
            </a:r>
            <a:endParaRPr b="0" lang="en-US" sz="1500" spc="-1" strike="noStrike">
              <a:solidFill>
                <a:srgbClr val="000000"/>
              </a:solidFill>
              <a:latin typeface="Arial"/>
            </a:endParaRPr>
          </a:p>
        </p:txBody>
      </p:sp>
      <p:sp>
        <p:nvSpPr>
          <p:cNvPr id="67" name="Shape 11"/>
          <p:cNvSpPr/>
          <p:nvPr/>
        </p:nvSpPr>
        <p:spPr>
          <a:xfrm>
            <a:off x="6269040" y="6366240"/>
            <a:ext cx="7578360" cy="1055160"/>
          </a:xfrm>
          <a:prstGeom prst="roundRect">
            <a:avLst>
              <a:gd name="adj" fmla="val 278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8" name="Text 12"/>
          <p:cNvSpPr/>
          <p:nvPr/>
        </p:nvSpPr>
        <p:spPr>
          <a:xfrm>
            <a:off x="6464880" y="6561720"/>
            <a:ext cx="2223360" cy="27756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50" spc="-1" strike="noStrike">
                <a:solidFill>
                  <a:srgbClr val="000000"/>
                </a:solidFill>
                <a:latin typeface="Montserrat Bold"/>
                <a:ea typeface="Montserrat Bold"/>
              </a:rPr>
              <a:t>📊</a:t>
            </a:r>
            <a:r>
              <a:rPr b="1" lang="en-US" sz="1750" spc="-1" strike="noStrike">
                <a:solidFill>
                  <a:srgbClr val="e2e6e9"/>
                </a:solidFill>
                <a:latin typeface="Montserrat Bold"/>
                <a:ea typeface="Montserrat Bold"/>
              </a:rPr>
              <a:t> </a:t>
            </a:r>
            <a:r>
              <a:rPr b="1" lang="en-US" sz="1750" spc="-1" strike="noStrike">
                <a:solidFill>
                  <a:srgbClr val="e2e6e9"/>
                </a:solidFill>
                <a:latin typeface="Montserrat Bold"/>
                <a:ea typeface="Montserrat Bold"/>
              </a:rPr>
              <a:t>Ölçmə</a:t>
            </a:r>
            <a:endParaRPr b="0" lang="en-US" sz="1750" spc="-1" strike="noStrike">
              <a:solidFill>
                <a:srgbClr val="000000"/>
              </a:solidFill>
              <a:latin typeface="Arial"/>
            </a:endParaRPr>
          </a:p>
        </p:txBody>
      </p:sp>
      <p:sp>
        <p:nvSpPr>
          <p:cNvPr id="69" name="Text 13"/>
          <p:cNvSpPr/>
          <p:nvPr/>
        </p:nvSpPr>
        <p:spPr>
          <a:xfrm>
            <a:off x="6464880" y="6946200"/>
            <a:ext cx="718704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0" lang="en-US" sz="1500" spc="-1" strike="noStrike">
                <a:solidFill>
                  <a:srgbClr val="e2e6e9"/>
                </a:solidFill>
                <a:latin typeface="Source Sans 3"/>
                <a:ea typeface="Source Sans 3"/>
              </a:rPr>
              <a:t>ROI və effektivliyi qiymətləndirmək</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Text 0"/>
          <p:cNvSpPr/>
          <p:nvPr/>
        </p:nvSpPr>
        <p:spPr>
          <a:xfrm>
            <a:off x="863640" y="1965240"/>
            <a:ext cx="579744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SI Tətbiq Strategiyaları</a:t>
            </a:r>
            <a:endParaRPr b="0" lang="en-US" sz="3850" spc="-1" strike="noStrike">
              <a:solidFill>
                <a:srgbClr val="000000"/>
              </a:solidFill>
              <a:latin typeface="Arial"/>
            </a:endParaRPr>
          </a:p>
        </p:txBody>
      </p:sp>
      <p:sp>
        <p:nvSpPr>
          <p:cNvPr id="71" name="Text 1"/>
          <p:cNvSpPr/>
          <p:nvPr/>
        </p:nvSpPr>
        <p:spPr>
          <a:xfrm>
            <a:off x="863640" y="3010680"/>
            <a:ext cx="1290240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Hər təşkilatın ehtiyacları fərqlidir. Düzgün strategiyanın seçilməsi uğurun əsas şərtidir. Aşağıdakı üç yanaşma — resurslarınıza, riskə tolerantlığınıza və transformasiya hazırlığınıza görə fərqlənir.</a:t>
            </a:r>
            <a:endParaRPr b="0" lang="en-US" sz="1700" spc="-1" strike="noStrike">
              <a:solidFill>
                <a:srgbClr val="000000"/>
              </a:solidFill>
              <a:latin typeface="Arial"/>
            </a:endParaRPr>
          </a:p>
        </p:txBody>
      </p:sp>
      <p:pic>
        <p:nvPicPr>
          <p:cNvPr id="72" name="Image 0" descr="preencoded.png"/>
          <p:cNvPicPr/>
          <p:nvPr/>
        </p:nvPicPr>
        <p:blipFill>
          <a:blip r:embed="rId1"/>
          <a:stretch/>
        </p:blipFill>
        <p:spPr>
          <a:xfrm>
            <a:off x="863640" y="3901320"/>
            <a:ext cx="1194840" cy="738360"/>
          </a:xfrm>
          <a:prstGeom prst="rect">
            <a:avLst/>
          </a:prstGeom>
          <a:ln w="0">
            <a:noFill/>
          </a:ln>
        </p:spPr>
      </p:pic>
      <p:sp>
        <p:nvSpPr>
          <p:cNvPr id="73" name="Text 2"/>
          <p:cNvSpPr/>
          <p:nvPr/>
        </p:nvSpPr>
        <p:spPr>
          <a:xfrm>
            <a:off x="2328840" y="39013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Pilot Layihə</a:t>
            </a:r>
            <a:endParaRPr b="0" lang="en-US" sz="1900" spc="-1" strike="noStrike">
              <a:solidFill>
                <a:srgbClr val="000000"/>
              </a:solidFill>
              <a:latin typeface="Arial"/>
            </a:endParaRPr>
          </a:p>
        </p:txBody>
      </p:sp>
      <p:sp>
        <p:nvSpPr>
          <p:cNvPr id="74" name="Text 3"/>
          <p:cNvSpPr/>
          <p:nvPr/>
        </p:nvSpPr>
        <p:spPr>
          <a:xfrm>
            <a:off x="2328840" y="4337640"/>
            <a:ext cx="265572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Məhdud miqyasda başlayın, nəticələri ölçün. Az riskli, öyrənmə yönümlü yanaşma. Kiçik bir şöbə və ya prosesdə sınaqdan keçirilir.</a:t>
            </a:r>
            <a:endParaRPr b="0" lang="en-US" sz="1700" spc="-1" strike="noStrike">
              <a:solidFill>
                <a:srgbClr val="000000"/>
              </a:solidFill>
              <a:latin typeface="Arial"/>
            </a:endParaRPr>
          </a:p>
        </p:txBody>
      </p:sp>
      <p:pic>
        <p:nvPicPr>
          <p:cNvPr id="75" name="Image 1" descr="preencoded.png"/>
          <p:cNvPicPr/>
          <p:nvPr/>
        </p:nvPicPr>
        <p:blipFill>
          <a:blip r:embed="rId2"/>
          <a:stretch/>
        </p:blipFill>
        <p:spPr>
          <a:xfrm>
            <a:off x="5254560" y="3901320"/>
            <a:ext cx="1194840" cy="738360"/>
          </a:xfrm>
          <a:prstGeom prst="rect">
            <a:avLst/>
          </a:prstGeom>
          <a:ln w="0">
            <a:noFill/>
          </a:ln>
        </p:spPr>
      </p:pic>
      <p:sp>
        <p:nvSpPr>
          <p:cNvPr id="76" name="Text 4"/>
          <p:cNvSpPr/>
          <p:nvPr/>
        </p:nvSpPr>
        <p:spPr>
          <a:xfrm>
            <a:off x="6719760" y="39013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Mərhələli Tətbiq</a:t>
            </a:r>
            <a:endParaRPr b="0" lang="en-US" sz="1900" spc="-1" strike="noStrike">
              <a:solidFill>
                <a:srgbClr val="000000"/>
              </a:solidFill>
              <a:latin typeface="Arial"/>
            </a:endParaRPr>
          </a:p>
        </p:txBody>
      </p:sp>
      <p:sp>
        <p:nvSpPr>
          <p:cNvPr id="77" name="Text 5"/>
          <p:cNvSpPr/>
          <p:nvPr/>
        </p:nvSpPr>
        <p:spPr>
          <a:xfrm>
            <a:off x="6719760" y="4337640"/>
            <a:ext cx="265572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Uğurlu pilotdan sonra tədricən genişlənmə. Hər mərhələdə dərsler çıxarılır, resurslar optimallaşdırılır və işçilər sistemə alışdırılır.</a:t>
            </a:r>
            <a:endParaRPr b="0" lang="en-US" sz="1700" spc="-1" strike="noStrike">
              <a:solidFill>
                <a:srgbClr val="000000"/>
              </a:solidFill>
              <a:latin typeface="Arial"/>
            </a:endParaRPr>
          </a:p>
        </p:txBody>
      </p:sp>
      <p:pic>
        <p:nvPicPr>
          <p:cNvPr id="78" name="Image 2" descr="preencoded.png"/>
          <p:cNvPicPr/>
          <p:nvPr/>
        </p:nvPicPr>
        <p:blipFill>
          <a:blip r:embed="rId3"/>
          <a:stretch/>
        </p:blipFill>
        <p:spPr>
          <a:xfrm>
            <a:off x="9645480" y="3901320"/>
            <a:ext cx="1194840" cy="738360"/>
          </a:xfrm>
          <a:prstGeom prst="rect">
            <a:avLst/>
          </a:prstGeom>
          <a:ln w="0">
            <a:noFill/>
          </a:ln>
        </p:spPr>
      </p:pic>
      <p:sp>
        <p:nvSpPr>
          <p:cNvPr id="79" name="Text 6"/>
          <p:cNvSpPr/>
          <p:nvPr/>
        </p:nvSpPr>
        <p:spPr>
          <a:xfrm>
            <a:off x="11110680" y="3901320"/>
            <a:ext cx="265572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Tam Miqyaslı Transformasiya</a:t>
            </a:r>
            <a:endParaRPr b="0" lang="en-US" sz="1900" spc="-1" strike="noStrike">
              <a:solidFill>
                <a:srgbClr val="000000"/>
              </a:solidFill>
              <a:latin typeface="Arial"/>
            </a:endParaRPr>
          </a:p>
        </p:txBody>
      </p:sp>
      <p:sp>
        <p:nvSpPr>
          <p:cNvPr id="80" name="Text 7"/>
          <p:cNvSpPr/>
          <p:nvPr/>
        </p:nvSpPr>
        <p:spPr>
          <a:xfrm>
            <a:off x="11110680" y="4644360"/>
            <a:ext cx="265572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Bütün təşkilatı əhatə edən, kökündən yenilənmə prosesi. Güclü rəhbərlik dəstəyi, böyük investisiya və dərin hazırlıq tələb edir.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Text 0"/>
          <p:cNvSpPr/>
          <p:nvPr/>
        </p:nvSpPr>
        <p:spPr>
          <a:xfrm>
            <a:off x="1031760" y="492120"/>
            <a:ext cx="3983760" cy="497520"/>
          </a:xfrm>
          <a:prstGeom prst="rect">
            <a:avLst/>
          </a:prstGeom>
          <a:noFill/>
          <a:ln w="0">
            <a:noFill/>
          </a:ln>
        </p:spPr>
        <p:style>
          <a:lnRef idx="0"/>
          <a:fillRef idx="0"/>
          <a:effectRef idx="0"/>
          <a:fontRef idx="minor"/>
        </p:style>
        <p:txBody>
          <a:bodyPr wrap="none" lIns="0" rIns="0" tIns="0" bIns="0" anchor="t">
            <a:noAutofit/>
          </a:bodyPr>
          <a:p>
            <a:pPr>
              <a:lnSpc>
                <a:spcPts val="3900"/>
              </a:lnSpc>
              <a:tabLst>
                <a:tab algn="l" pos="0"/>
              </a:tabLst>
            </a:pPr>
            <a:r>
              <a:rPr b="1" lang="en-US" sz="3100" spc="-1" strike="noStrike">
                <a:solidFill>
                  <a:srgbClr val="ffffff"/>
                </a:solidFill>
                <a:latin typeface="Montserrat Bold"/>
                <a:ea typeface="Montserrat Bold"/>
              </a:rPr>
              <a:t>Tətbiq Mərhələləri</a:t>
            </a:r>
            <a:endParaRPr b="0" lang="en-US" sz="3100" spc="-1" strike="noStrike">
              <a:solidFill>
                <a:srgbClr val="000000"/>
              </a:solidFill>
              <a:latin typeface="Arial"/>
            </a:endParaRPr>
          </a:p>
        </p:txBody>
      </p:sp>
      <p:sp>
        <p:nvSpPr>
          <p:cNvPr id="82" name="Text 1"/>
          <p:cNvSpPr/>
          <p:nvPr/>
        </p:nvSpPr>
        <p:spPr>
          <a:xfrm>
            <a:off x="1031760" y="1274760"/>
            <a:ext cx="12566520" cy="23760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0" lang="en-US" sz="1350" spc="-1" strike="noStrike">
                <a:solidFill>
                  <a:srgbClr val="e2e6e9"/>
                </a:solidFill>
                <a:latin typeface="Source Sans 3"/>
                <a:ea typeface="Source Sans 3"/>
              </a:rPr>
              <a:t>SI layihəsinin uğuru strukturlu bir yola əməl etməkdən keçir. Aşağıdakı altı mərhələ hər tətbiq üçün universal çərçivə rolunu oynayır.</a:t>
            </a:r>
            <a:endParaRPr b="0" lang="en-US" sz="1350" spc="-1" strike="noStrike">
              <a:solidFill>
                <a:srgbClr val="000000"/>
              </a:solidFill>
              <a:latin typeface="Arial"/>
            </a:endParaRPr>
          </a:p>
        </p:txBody>
      </p:sp>
      <p:pic>
        <p:nvPicPr>
          <p:cNvPr id="83" name="Image 0" descr="preencoded.png"/>
          <p:cNvPicPr/>
          <p:nvPr/>
        </p:nvPicPr>
        <p:blipFill>
          <a:blip r:embed="rId1"/>
          <a:stretch/>
        </p:blipFill>
        <p:spPr>
          <a:xfrm>
            <a:off x="1031760" y="1672920"/>
            <a:ext cx="12566520" cy="5428080"/>
          </a:xfrm>
          <a:prstGeom prst="rect">
            <a:avLst/>
          </a:prstGeom>
          <a:ln w="0">
            <a:noFill/>
          </a:ln>
        </p:spPr>
      </p:pic>
      <p:sp>
        <p:nvSpPr>
          <p:cNvPr id="84" name="Text 2"/>
          <p:cNvSpPr/>
          <p:nvPr/>
        </p:nvSpPr>
        <p:spPr>
          <a:xfrm>
            <a:off x="4030560" y="5402520"/>
            <a:ext cx="1865520" cy="617400"/>
          </a:xfrm>
          <a:prstGeom prst="rect">
            <a:avLst/>
          </a:prstGeom>
          <a:noFill/>
          <a:ln w="0">
            <a:noFill/>
          </a:ln>
        </p:spPr>
        <p:style>
          <a:lnRef idx="0"/>
          <a:fillRef idx="0"/>
          <a:effectRef idx="0"/>
          <a:fontRef idx="minor"/>
        </p:style>
        <p:txBody>
          <a:bodyPr lIns="0" rIns="0" tIns="0" bIns="0" anchor="t">
            <a:noAutofit/>
          </a:bodyPr>
          <a:p>
            <a:pPr algn="ctr">
              <a:lnSpc>
                <a:spcPts val="2401"/>
              </a:lnSpc>
              <a:tabLst>
                <a:tab algn="l" pos="0"/>
              </a:tabLst>
            </a:pPr>
            <a:r>
              <a:rPr b="1" lang="en-US" sz="1900" spc="-1" strike="noStrike">
                <a:solidFill>
                  <a:srgbClr val="e2e6e9"/>
                </a:solidFill>
                <a:latin typeface="Montserrat Bold"/>
                <a:ea typeface="Montserrat Bold"/>
              </a:rPr>
              <a:t>Məlumatı hazırla</a:t>
            </a:r>
            <a:endParaRPr b="0" lang="en-US" sz="1900" spc="-1" strike="noStrike">
              <a:solidFill>
                <a:srgbClr val="000000"/>
              </a:solidFill>
              <a:latin typeface="Arial"/>
            </a:endParaRPr>
          </a:p>
        </p:txBody>
      </p:sp>
      <p:sp>
        <p:nvSpPr>
          <p:cNvPr id="85" name="Text 3"/>
          <p:cNvSpPr/>
          <p:nvPr/>
        </p:nvSpPr>
        <p:spPr>
          <a:xfrm>
            <a:off x="4030560" y="6116760"/>
            <a:ext cx="1865520" cy="492120"/>
          </a:xfrm>
          <a:prstGeom prst="rect">
            <a:avLst/>
          </a:prstGeom>
          <a:noFill/>
          <a:ln w="0">
            <a:noFill/>
          </a:ln>
        </p:spPr>
        <p:style>
          <a:lnRef idx="0"/>
          <a:fillRef idx="0"/>
          <a:effectRef idx="0"/>
          <a:fontRef idx="minor"/>
        </p:style>
        <p:txBody>
          <a:bodyPr lIns="0" rIns="0" tIns="0" bIns="0" anchor="t">
            <a:noAutofit/>
          </a:bodyPr>
          <a:p>
            <a:pPr algn="ctr">
              <a:lnSpc>
                <a:spcPts val="1899"/>
              </a:lnSpc>
              <a:tabLst>
                <a:tab algn="l" pos="0"/>
              </a:tabLst>
            </a:pPr>
            <a:r>
              <a:rPr b="0" lang="en-US" sz="1700" spc="-1" strike="noStrike">
                <a:solidFill>
                  <a:srgbClr val="e2e6e9"/>
                </a:solidFill>
                <a:latin typeface="Source Sans 3"/>
                <a:ea typeface="Source Sans 3"/>
              </a:rPr>
              <a:t>Təmizləmə və etiketləmə işləri</a:t>
            </a:r>
            <a:endParaRPr b="0" lang="en-US" sz="1700" spc="-1" strike="noStrike">
              <a:solidFill>
                <a:srgbClr val="000000"/>
              </a:solidFill>
              <a:latin typeface="Arial"/>
            </a:endParaRPr>
          </a:p>
        </p:txBody>
      </p:sp>
      <p:sp>
        <p:nvSpPr>
          <p:cNvPr id="86" name="Text 4"/>
          <p:cNvSpPr/>
          <p:nvPr/>
        </p:nvSpPr>
        <p:spPr>
          <a:xfrm>
            <a:off x="8821800" y="5465160"/>
            <a:ext cx="1865520" cy="308520"/>
          </a:xfrm>
          <a:prstGeom prst="rect">
            <a:avLst/>
          </a:prstGeom>
          <a:noFill/>
          <a:ln w="0">
            <a:noFill/>
          </a:ln>
        </p:spPr>
        <p:style>
          <a:lnRef idx="0"/>
          <a:fillRef idx="0"/>
          <a:effectRef idx="0"/>
          <a:fontRef idx="minor"/>
        </p:style>
        <p:txBody>
          <a:bodyPr wrap="none" lIns="0" rIns="0" tIns="0" bIns="0" anchor="t">
            <a:noAutofit/>
          </a:bodyPr>
          <a:p>
            <a:pPr algn="ctr">
              <a:lnSpc>
                <a:spcPts val="2401"/>
              </a:lnSpc>
              <a:tabLst>
                <a:tab algn="l" pos="0"/>
              </a:tabLst>
            </a:pPr>
            <a:r>
              <a:rPr b="1" lang="en-US" sz="1900" spc="-1" strike="noStrike">
                <a:solidFill>
                  <a:srgbClr val="ffffff"/>
                </a:solidFill>
                <a:latin typeface="Montserrat Bold"/>
                <a:ea typeface="Montserrat Bold"/>
              </a:rPr>
              <a:t>Test et</a:t>
            </a:r>
            <a:endParaRPr b="0" lang="en-US" sz="1900" spc="-1" strike="noStrike">
              <a:solidFill>
                <a:srgbClr val="000000"/>
              </a:solidFill>
              <a:latin typeface="Arial"/>
            </a:endParaRPr>
          </a:p>
        </p:txBody>
      </p:sp>
      <p:sp>
        <p:nvSpPr>
          <p:cNvPr id="87" name="Text 5"/>
          <p:cNvSpPr/>
          <p:nvPr/>
        </p:nvSpPr>
        <p:spPr>
          <a:xfrm>
            <a:off x="8821800" y="5870520"/>
            <a:ext cx="1865520" cy="738360"/>
          </a:xfrm>
          <a:prstGeom prst="rect">
            <a:avLst/>
          </a:prstGeom>
          <a:noFill/>
          <a:ln w="0">
            <a:noFill/>
          </a:ln>
        </p:spPr>
        <p:style>
          <a:lnRef idx="0"/>
          <a:fillRef idx="0"/>
          <a:effectRef idx="0"/>
          <a:fontRef idx="minor"/>
        </p:style>
        <p:txBody>
          <a:bodyPr lIns="0" rIns="0" tIns="0" bIns="0" anchor="t">
            <a:noAutofit/>
          </a:bodyPr>
          <a:p>
            <a:pPr algn="ctr">
              <a:lnSpc>
                <a:spcPts val="1899"/>
              </a:lnSpc>
              <a:tabLst>
                <a:tab algn="l" pos="0"/>
              </a:tabLst>
            </a:pPr>
            <a:r>
              <a:rPr b="0" lang="en-US" sz="1700" spc="-1" strike="noStrike">
                <a:solidFill>
                  <a:srgbClr val="e2e6e9"/>
                </a:solidFill>
                <a:latin typeface="Source Sans 3"/>
                <a:ea typeface="Source Sans 3"/>
              </a:rPr>
              <a:t>Performans və təhlükəsizlik yoxlamaları</a:t>
            </a:r>
            <a:endParaRPr b="0" lang="en-US" sz="1700" spc="-1" strike="noStrike">
              <a:solidFill>
                <a:srgbClr val="000000"/>
              </a:solidFill>
              <a:latin typeface="Arial"/>
            </a:endParaRPr>
          </a:p>
        </p:txBody>
      </p:sp>
      <p:sp>
        <p:nvSpPr>
          <p:cNvPr id="88" name="Text 6"/>
          <p:cNvSpPr/>
          <p:nvPr/>
        </p:nvSpPr>
        <p:spPr>
          <a:xfrm>
            <a:off x="1640880" y="2162520"/>
            <a:ext cx="1865520" cy="617400"/>
          </a:xfrm>
          <a:prstGeom prst="rect">
            <a:avLst/>
          </a:prstGeom>
          <a:noFill/>
          <a:ln w="0">
            <a:noFill/>
          </a:ln>
        </p:spPr>
        <p:style>
          <a:lnRef idx="0"/>
          <a:fillRef idx="0"/>
          <a:effectRef idx="0"/>
          <a:fontRef idx="minor"/>
        </p:style>
        <p:txBody>
          <a:bodyPr lIns="0" rIns="0" tIns="0" bIns="0" anchor="t">
            <a:noAutofit/>
          </a:bodyPr>
          <a:p>
            <a:pPr algn="ctr">
              <a:lnSpc>
                <a:spcPts val="2401"/>
              </a:lnSpc>
              <a:tabLst>
                <a:tab algn="l" pos="0"/>
              </a:tabLst>
            </a:pPr>
            <a:r>
              <a:rPr b="1" lang="en-US" sz="1900" spc="-1" strike="noStrike">
                <a:solidFill>
                  <a:srgbClr val="e2e6e9"/>
                </a:solidFill>
                <a:latin typeface="Montserrat Bold"/>
                <a:ea typeface="Montserrat Bold"/>
              </a:rPr>
              <a:t>Problemi müəyyən et</a:t>
            </a:r>
            <a:endParaRPr b="0" lang="en-US" sz="1900" spc="-1" strike="noStrike">
              <a:solidFill>
                <a:srgbClr val="000000"/>
              </a:solidFill>
              <a:latin typeface="Arial"/>
            </a:endParaRPr>
          </a:p>
        </p:txBody>
      </p:sp>
      <p:sp>
        <p:nvSpPr>
          <p:cNvPr id="89" name="Text 7"/>
          <p:cNvSpPr/>
          <p:nvPr/>
        </p:nvSpPr>
        <p:spPr>
          <a:xfrm>
            <a:off x="1640880" y="2877120"/>
            <a:ext cx="1865520" cy="738360"/>
          </a:xfrm>
          <a:prstGeom prst="rect">
            <a:avLst/>
          </a:prstGeom>
          <a:noFill/>
          <a:ln w="0">
            <a:noFill/>
          </a:ln>
        </p:spPr>
        <p:style>
          <a:lnRef idx="0"/>
          <a:fillRef idx="0"/>
          <a:effectRef idx="0"/>
          <a:fontRef idx="minor"/>
        </p:style>
        <p:txBody>
          <a:bodyPr lIns="0" rIns="0" tIns="0" bIns="0" anchor="t">
            <a:noAutofit/>
          </a:bodyPr>
          <a:p>
            <a:pPr algn="ctr">
              <a:lnSpc>
                <a:spcPts val="1899"/>
              </a:lnSpc>
              <a:tabLst>
                <a:tab algn="l" pos="0"/>
              </a:tabLst>
            </a:pPr>
            <a:r>
              <a:rPr b="0" lang="en-US" sz="1700" spc="-1" strike="noStrike">
                <a:solidFill>
                  <a:srgbClr val="e2e6e9"/>
                </a:solidFill>
                <a:latin typeface="Source Sans 3"/>
                <a:ea typeface="Source Sans 3"/>
              </a:rPr>
              <a:t>Tələbləri və məqsədləri dəqiqləşdir</a:t>
            </a:r>
            <a:endParaRPr b="0" lang="en-US" sz="1700" spc="-1" strike="noStrike">
              <a:solidFill>
                <a:srgbClr val="000000"/>
              </a:solidFill>
              <a:latin typeface="Arial"/>
            </a:endParaRPr>
          </a:p>
        </p:txBody>
      </p:sp>
      <p:sp>
        <p:nvSpPr>
          <p:cNvPr id="90" name="Text 8"/>
          <p:cNvSpPr/>
          <p:nvPr/>
        </p:nvSpPr>
        <p:spPr>
          <a:xfrm>
            <a:off x="11140560" y="2162520"/>
            <a:ext cx="1865520" cy="308520"/>
          </a:xfrm>
          <a:prstGeom prst="rect">
            <a:avLst/>
          </a:prstGeom>
          <a:noFill/>
          <a:ln w="0">
            <a:noFill/>
          </a:ln>
        </p:spPr>
        <p:style>
          <a:lnRef idx="0"/>
          <a:fillRef idx="0"/>
          <a:effectRef idx="0"/>
          <a:fontRef idx="minor"/>
        </p:style>
        <p:txBody>
          <a:bodyPr wrap="none" lIns="0" rIns="0" tIns="0" bIns="0" anchor="t">
            <a:noAutofit/>
          </a:bodyPr>
          <a:p>
            <a:pPr algn="ctr">
              <a:lnSpc>
                <a:spcPts val="2401"/>
              </a:lnSpc>
              <a:tabLst>
                <a:tab algn="l" pos="0"/>
              </a:tabLst>
            </a:pPr>
            <a:r>
              <a:rPr b="1" lang="en-US" sz="1900" spc="-1" strike="noStrike">
                <a:solidFill>
                  <a:srgbClr val="e2e6e9"/>
                </a:solidFill>
                <a:latin typeface="Montserrat Bold"/>
                <a:ea typeface="Montserrat Bold"/>
              </a:rPr>
              <a:t>İstismara ver</a:t>
            </a:r>
            <a:endParaRPr b="0" lang="en-US" sz="1900" spc="-1" strike="noStrike">
              <a:solidFill>
                <a:srgbClr val="000000"/>
              </a:solidFill>
              <a:latin typeface="Arial"/>
            </a:endParaRPr>
          </a:p>
        </p:txBody>
      </p:sp>
      <p:sp>
        <p:nvSpPr>
          <p:cNvPr id="91" name="Text 9"/>
          <p:cNvSpPr/>
          <p:nvPr/>
        </p:nvSpPr>
        <p:spPr>
          <a:xfrm>
            <a:off x="11140560" y="2568240"/>
            <a:ext cx="1865520" cy="492120"/>
          </a:xfrm>
          <a:prstGeom prst="rect">
            <a:avLst/>
          </a:prstGeom>
          <a:noFill/>
          <a:ln w="0">
            <a:noFill/>
          </a:ln>
        </p:spPr>
        <p:style>
          <a:lnRef idx="0"/>
          <a:fillRef idx="0"/>
          <a:effectRef idx="0"/>
          <a:fontRef idx="minor"/>
        </p:style>
        <p:txBody>
          <a:bodyPr lIns="0" rIns="0" tIns="0" bIns="0" anchor="t">
            <a:noAutofit/>
          </a:bodyPr>
          <a:p>
            <a:pPr algn="ctr">
              <a:lnSpc>
                <a:spcPts val="1899"/>
              </a:lnSpc>
              <a:tabLst>
                <a:tab algn="l" pos="0"/>
              </a:tabLst>
            </a:pPr>
            <a:r>
              <a:rPr b="0" lang="en-US" sz="1700" spc="-1" strike="noStrike">
                <a:solidFill>
                  <a:srgbClr val="e2e6e9"/>
                </a:solidFill>
                <a:latin typeface="Source Sans 3"/>
                <a:ea typeface="Source Sans 3"/>
              </a:rPr>
              <a:t>Canlı mühitə inteqrasiya et</a:t>
            </a:r>
            <a:endParaRPr b="0" lang="en-US" sz="1700" spc="-1" strike="noStrike">
              <a:solidFill>
                <a:srgbClr val="000000"/>
              </a:solidFill>
              <a:latin typeface="Arial"/>
            </a:endParaRPr>
          </a:p>
        </p:txBody>
      </p:sp>
      <p:sp>
        <p:nvSpPr>
          <p:cNvPr id="92" name="Text 10"/>
          <p:cNvSpPr/>
          <p:nvPr/>
        </p:nvSpPr>
        <p:spPr>
          <a:xfrm>
            <a:off x="6455880" y="2162520"/>
            <a:ext cx="1865520" cy="308520"/>
          </a:xfrm>
          <a:prstGeom prst="rect">
            <a:avLst/>
          </a:prstGeom>
          <a:noFill/>
          <a:ln w="0">
            <a:noFill/>
          </a:ln>
        </p:spPr>
        <p:style>
          <a:lnRef idx="0"/>
          <a:fillRef idx="0"/>
          <a:effectRef idx="0"/>
          <a:fontRef idx="minor"/>
        </p:style>
        <p:txBody>
          <a:bodyPr wrap="none" lIns="0" rIns="0" tIns="0" bIns="0" anchor="t">
            <a:noAutofit/>
          </a:bodyPr>
          <a:p>
            <a:pPr algn="ctr">
              <a:lnSpc>
                <a:spcPts val="2401"/>
              </a:lnSpc>
              <a:tabLst>
                <a:tab algn="l" pos="0"/>
              </a:tabLst>
            </a:pPr>
            <a:r>
              <a:rPr b="1" lang="en-US" sz="1900" spc="-1" strike="noStrike">
                <a:solidFill>
                  <a:srgbClr val="ffffff"/>
                </a:solidFill>
                <a:latin typeface="Montserrat Bold"/>
                <a:ea typeface="Montserrat Bold"/>
              </a:rPr>
              <a:t>Model seçimi</a:t>
            </a:r>
            <a:endParaRPr b="0" lang="en-US" sz="1900" spc="-1" strike="noStrike">
              <a:solidFill>
                <a:srgbClr val="000000"/>
              </a:solidFill>
              <a:latin typeface="Arial"/>
            </a:endParaRPr>
          </a:p>
        </p:txBody>
      </p:sp>
      <p:sp>
        <p:nvSpPr>
          <p:cNvPr id="93" name="Text 11"/>
          <p:cNvSpPr/>
          <p:nvPr/>
        </p:nvSpPr>
        <p:spPr>
          <a:xfrm>
            <a:off x="6455880" y="2568240"/>
            <a:ext cx="1865520" cy="492120"/>
          </a:xfrm>
          <a:prstGeom prst="rect">
            <a:avLst/>
          </a:prstGeom>
          <a:noFill/>
          <a:ln w="0">
            <a:noFill/>
          </a:ln>
        </p:spPr>
        <p:style>
          <a:lnRef idx="0"/>
          <a:fillRef idx="0"/>
          <a:effectRef idx="0"/>
          <a:fontRef idx="minor"/>
        </p:style>
        <p:txBody>
          <a:bodyPr lIns="0" rIns="0" tIns="0" bIns="0" anchor="t">
            <a:noAutofit/>
          </a:bodyPr>
          <a:p>
            <a:pPr algn="ctr">
              <a:lnSpc>
                <a:spcPts val="1899"/>
              </a:lnSpc>
              <a:tabLst>
                <a:tab algn="l" pos="0"/>
              </a:tabLst>
            </a:pPr>
            <a:r>
              <a:rPr b="0" lang="en-US" sz="1700" spc="-1" strike="noStrike">
                <a:solidFill>
                  <a:srgbClr val="e2e6e9"/>
                </a:solidFill>
                <a:latin typeface="Source Sans 3"/>
                <a:ea typeface="Source Sans 3"/>
              </a:rPr>
              <a:t>Uyğun arxitektura və alqoritm seç</a:t>
            </a:r>
            <a:endParaRPr b="0" lang="en-US" sz="1700" spc="-1" strike="noStrike">
              <a:solidFill>
                <a:srgbClr val="000000"/>
              </a:solidFill>
              <a:latin typeface="Arial"/>
            </a:endParaRPr>
          </a:p>
        </p:txBody>
      </p:sp>
      <p:sp>
        <p:nvSpPr>
          <p:cNvPr id="94" name="Text 12"/>
          <p:cNvSpPr/>
          <p:nvPr/>
        </p:nvSpPr>
        <p:spPr>
          <a:xfrm>
            <a:off x="1031760" y="7261200"/>
            <a:ext cx="12566520" cy="475920"/>
          </a:xfrm>
          <a:prstGeom prst="rect">
            <a:avLst/>
          </a:prstGeom>
          <a:noFill/>
          <a:ln w="0">
            <a:noFill/>
          </a:ln>
        </p:spPr>
        <p:style>
          <a:lnRef idx="0"/>
          <a:fillRef idx="0"/>
          <a:effectRef idx="0"/>
          <a:fontRef idx="minor"/>
        </p:style>
        <p:txBody>
          <a:bodyPr lIns="0" rIns="0" tIns="0" bIns="0" anchor="t">
            <a:noAutofit/>
          </a:bodyPr>
          <a:p>
            <a:pPr>
              <a:lnSpc>
                <a:spcPts val="1851"/>
              </a:lnSpc>
              <a:tabLst>
                <a:tab algn="l" pos="0"/>
              </a:tabLst>
            </a:pPr>
            <a:r>
              <a:rPr b="0" lang="en-US" sz="1350" spc="-1" strike="noStrike">
                <a:solidFill>
                  <a:srgbClr val="e2e6e9"/>
                </a:solidFill>
                <a:latin typeface="Source Sans 3"/>
                <a:ea typeface="Source Sans 3"/>
              </a:rPr>
              <a:t>Hər mərhələ növbəti üçün zəmin hazırlayır. Problemin dəqiq müəyyən edilməsi olmadan ən güclü model belə faydasız qala bilər. Monitorinq isə tətbiqin davamlılığını təmin edir.</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5" name="Image 0" descr="preencoded.png"/>
          <p:cNvPicPr/>
          <p:nvPr/>
        </p:nvPicPr>
        <p:blipFill>
          <a:blip r:embed="rId1"/>
          <a:stretch/>
        </p:blipFill>
        <p:spPr>
          <a:xfrm>
            <a:off x="0" y="0"/>
            <a:ext cx="5486040" cy="8229240"/>
          </a:xfrm>
          <a:prstGeom prst="rect">
            <a:avLst/>
          </a:prstGeom>
          <a:ln w="0">
            <a:noFill/>
          </a:ln>
        </p:spPr>
      </p:pic>
      <p:sp>
        <p:nvSpPr>
          <p:cNvPr id="96" name="Text 0"/>
          <p:cNvSpPr/>
          <p:nvPr/>
        </p:nvSpPr>
        <p:spPr>
          <a:xfrm>
            <a:off x="6350040" y="1843560"/>
            <a:ext cx="660456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Rəqəmsal Transformasiya</a:t>
            </a:r>
            <a:endParaRPr b="0" lang="en-US" sz="3850" spc="-1" strike="noStrike">
              <a:solidFill>
                <a:srgbClr val="000000"/>
              </a:solidFill>
              <a:latin typeface="Arial"/>
            </a:endParaRPr>
          </a:p>
        </p:txBody>
      </p:sp>
      <p:sp>
        <p:nvSpPr>
          <p:cNvPr id="97" name="Text 1"/>
          <p:cNvSpPr/>
          <p:nvPr/>
        </p:nvSpPr>
        <p:spPr>
          <a:xfrm>
            <a:off x="6674040" y="3023640"/>
            <a:ext cx="709236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Rəqəmsal transformasiya texnologiyanın deyil, </a:t>
            </a:r>
            <a:r>
              <a:rPr b="1" lang="en-US" sz="1700" spc="-1" strike="noStrike">
                <a:solidFill>
                  <a:srgbClr val="e2e6e9"/>
                </a:solidFill>
                <a:latin typeface="Source Sans 3"/>
                <a:ea typeface="Source Sans 3"/>
              </a:rPr>
              <a:t>biznes modelinin dəyişməsidir.</a:t>
            </a:r>
            <a:endParaRPr b="0" lang="en-US" sz="1700" spc="-1" strike="noStrike">
              <a:solidFill>
                <a:srgbClr val="000000"/>
              </a:solidFill>
              <a:latin typeface="Arial"/>
            </a:endParaRPr>
          </a:p>
        </p:txBody>
      </p:sp>
      <p:sp>
        <p:nvSpPr>
          <p:cNvPr id="98" name="Shape 2"/>
          <p:cNvSpPr/>
          <p:nvPr/>
        </p:nvSpPr>
        <p:spPr>
          <a:xfrm>
            <a:off x="6350040" y="2781000"/>
            <a:ext cx="30240" cy="113328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99" name="Shape 3"/>
          <p:cNvSpPr/>
          <p:nvPr/>
        </p:nvSpPr>
        <p:spPr>
          <a:xfrm>
            <a:off x="6194520" y="4157280"/>
            <a:ext cx="3755520" cy="2228400"/>
          </a:xfrm>
          <a:prstGeom prst="roundRect">
            <a:avLst>
              <a:gd name="adj" fmla="val 1454"/>
            </a:avLst>
          </a:prstGeom>
          <a:solidFill>
            <a:srgbClr val="1d1f2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0" name="Text 4"/>
          <p:cNvSpPr/>
          <p:nvPr/>
        </p:nvSpPr>
        <p:spPr>
          <a:xfrm>
            <a:off x="6410520" y="437328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Yanlış Anlayış</a:t>
            </a:r>
            <a:endParaRPr b="0" lang="en-US" sz="1900" spc="-1" strike="noStrike">
              <a:solidFill>
                <a:srgbClr val="000000"/>
              </a:solidFill>
              <a:latin typeface="Arial"/>
            </a:endParaRPr>
          </a:p>
        </p:txBody>
      </p:sp>
      <p:sp>
        <p:nvSpPr>
          <p:cNvPr id="101" name="Text 5"/>
          <p:cNvSpPr/>
          <p:nvPr/>
        </p:nvSpPr>
        <p:spPr>
          <a:xfrm>
            <a:off x="6410520" y="4896000"/>
            <a:ext cx="332388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Yeni texnologiya almaq = transformasiya. Əslində, texnologiya yalnız bir vasitədir — məqsəd deyil.</a:t>
            </a:r>
            <a:endParaRPr b="0" lang="en-US" sz="1700" spc="-1" strike="noStrike">
              <a:solidFill>
                <a:srgbClr val="000000"/>
              </a:solidFill>
              <a:latin typeface="Arial"/>
            </a:endParaRPr>
          </a:p>
        </p:txBody>
      </p:sp>
      <p:sp>
        <p:nvSpPr>
          <p:cNvPr id="102" name="Text 6"/>
          <p:cNvSpPr/>
          <p:nvPr/>
        </p:nvSpPr>
        <p:spPr>
          <a:xfrm>
            <a:off x="10329480" y="437328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Düzgün Yanaşma</a:t>
            </a:r>
            <a:endParaRPr b="0" lang="en-US" sz="1900" spc="-1" strike="noStrike">
              <a:solidFill>
                <a:srgbClr val="000000"/>
              </a:solidFill>
              <a:latin typeface="Arial"/>
            </a:endParaRPr>
          </a:p>
        </p:txBody>
      </p:sp>
      <p:sp>
        <p:nvSpPr>
          <p:cNvPr id="103" name="Text 7"/>
          <p:cNvSpPr/>
          <p:nvPr/>
        </p:nvSpPr>
        <p:spPr>
          <a:xfrm>
            <a:off x="10329480" y="4896000"/>
            <a:ext cx="344448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Müştəri dəyəri, iş prosesləri və gəlir modeli yenidən düşünülməlidir. SI bu dəyişikliyi sürətləndirir, amma özü dəyişiklik deyil.</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Text 0"/>
          <p:cNvSpPr/>
          <p:nvPr/>
        </p:nvSpPr>
        <p:spPr>
          <a:xfrm>
            <a:off x="863640" y="1872360"/>
            <a:ext cx="771120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Dəyişikliklərin İdarə Olunması</a:t>
            </a:r>
            <a:endParaRPr b="0" lang="en-US" sz="3850" spc="-1" strike="noStrike">
              <a:solidFill>
                <a:srgbClr val="000000"/>
              </a:solidFill>
              <a:latin typeface="Arial"/>
            </a:endParaRPr>
          </a:p>
        </p:txBody>
      </p:sp>
      <p:sp>
        <p:nvSpPr>
          <p:cNvPr id="105" name="Text 1"/>
          <p:cNvSpPr/>
          <p:nvPr/>
        </p:nvSpPr>
        <p:spPr>
          <a:xfrm>
            <a:off x="863640" y="2917800"/>
            <a:ext cx="1290240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SI tətbiqinin ən çətin hissəsi texnologiya deyil — insanlardır. Dəyişikliyə müqavimət, qeyri-müəyyənlik qorxusu və bacarıq boşluqları ən çox rast gəlinən maneələrdir. Effektiv dəyişiklik menecmenti bu prosesi hamarlaşdırır.</a:t>
            </a:r>
            <a:endParaRPr b="0" lang="en-US" sz="1700" spc="-1" strike="noStrike">
              <a:solidFill>
                <a:srgbClr val="000000"/>
              </a:solidFill>
              <a:latin typeface="Arial"/>
            </a:endParaRPr>
          </a:p>
        </p:txBody>
      </p:sp>
      <p:sp>
        <p:nvSpPr>
          <p:cNvPr id="106" name="Shape 2"/>
          <p:cNvSpPr/>
          <p:nvPr/>
        </p:nvSpPr>
        <p:spPr>
          <a:xfrm>
            <a:off x="863640" y="3808440"/>
            <a:ext cx="4156560" cy="2548440"/>
          </a:xfrm>
          <a:prstGeom prst="roundRect">
            <a:avLst>
              <a:gd name="adj" fmla="val 5740"/>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7" name="Shape 3"/>
          <p:cNvSpPr/>
          <p:nvPr/>
        </p:nvSpPr>
        <p:spPr>
          <a:xfrm>
            <a:off x="833400" y="3808440"/>
            <a:ext cx="121680" cy="2548440"/>
          </a:xfrm>
          <a:prstGeom prst="roundRect">
            <a:avLst>
              <a:gd name="adj" fmla="val 26572"/>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8" name="Text 4"/>
          <p:cNvSpPr/>
          <p:nvPr/>
        </p:nvSpPr>
        <p:spPr>
          <a:xfrm>
            <a:off x="1201680" y="4054680"/>
            <a:ext cx="318744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İşçilərin Cəlb Edilməsi</a:t>
            </a:r>
            <a:endParaRPr b="0" lang="en-US" sz="1900" spc="-1" strike="noStrike">
              <a:solidFill>
                <a:srgbClr val="000000"/>
              </a:solidFill>
              <a:latin typeface="Arial"/>
            </a:endParaRPr>
          </a:p>
        </p:txBody>
      </p:sp>
      <p:sp>
        <p:nvSpPr>
          <p:cNvPr id="109" name="Text 5"/>
          <p:cNvSpPr/>
          <p:nvPr/>
        </p:nvSpPr>
        <p:spPr>
          <a:xfrm>
            <a:off x="1201680" y="4491000"/>
            <a:ext cx="357264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Qərar proseslərinə işçiləri erkən daxil edin. Şəffaflıq və ünsiyyət etimanı artırır, müqaviməti azaldır. İşçilər "niyə" sualına cavab aldıqda dəyişikliyə daha açıq olurlar.</a:t>
            </a:r>
            <a:endParaRPr b="0" lang="en-US" sz="1700" spc="-1" strike="noStrike">
              <a:solidFill>
                <a:srgbClr val="000000"/>
              </a:solidFill>
              <a:latin typeface="Arial"/>
            </a:endParaRPr>
          </a:p>
        </p:txBody>
      </p:sp>
      <p:sp>
        <p:nvSpPr>
          <p:cNvPr id="110" name="Shape 6"/>
          <p:cNvSpPr/>
          <p:nvPr/>
        </p:nvSpPr>
        <p:spPr>
          <a:xfrm>
            <a:off x="5236560" y="3808440"/>
            <a:ext cx="4156560" cy="2548440"/>
          </a:xfrm>
          <a:prstGeom prst="roundRect">
            <a:avLst>
              <a:gd name="adj" fmla="val 5740"/>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1" name="Shape 7"/>
          <p:cNvSpPr/>
          <p:nvPr/>
        </p:nvSpPr>
        <p:spPr>
          <a:xfrm>
            <a:off x="5205960" y="3808440"/>
            <a:ext cx="121680" cy="2548440"/>
          </a:xfrm>
          <a:prstGeom prst="roundRect">
            <a:avLst>
              <a:gd name="adj" fmla="val 26572"/>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2" name="Text 8"/>
          <p:cNvSpPr/>
          <p:nvPr/>
        </p:nvSpPr>
        <p:spPr>
          <a:xfrm>
            <a:off x="5574240" y="405468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Təlim və İnkişaf</a:t>
            </a:r>
            <a:endParaRPr b="0" lang="en-US" sz="1900" spc="-1" strike="noStrike">
              <a:solidFill>
                <a:srgbClr val="000000"/>
              </a:solidFill>
              <a:latin typeface="Arial"/>
            </a:endParaRPr>
          </a:p>
        </p:txBody>
      </p:sp>
      <p:sp>
        <p:nvSpPr>
          <p:cNvPr id="113" name="Text 9"/>
          <p:cNvSpPr/>
          <p:nvPr/>
        </p:nvSpPr>
        <p:spPr>
          <a:xfrm>
            <a:off x="5574240" y="4491000"/>
            <a:ext cx="357264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SI savadlılığı üzrə strukturlu təlim proqramları hazırlayın. Yalnız texniki işçilər deyil, bütün şöbə rəhbərləri əsas anlayışları bilməlidir.</a:t>
            </a:r>
            <a:endParaRPr b="0" lang="en-US" sz="1700" spc="-1" strike="noStrike">
              <a:solidFill>
                <a:srgbClr val="000000"/>
              </a:solidFill>
              <a:latin typeface="Arial"/>
            </a:endParaRPr>
          </a:p>
        </p:txBody>
      </p:sp>
      <p:sp>
        <p:nvSpPr>
          <p:cNvPr id="114" name="Shape 10"/>
          <p:cNvSpPr/>
          <p:nvPr/>
        </p:nvSpPr>
        <p:spPr>
          <a:xfrm>
            <a:off x="9609480" y="3808440"/>
            <a:ext cx="4156560" cy="2548440"/>
          </a:xfrm>
          <a:prstGeom prst="roundRect">
            <a:avLst>
              <a:gd name="adj" fmla="val 5740"/>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5" name="Shape 11"/>
          <p:cNvSpPr/>
          <p:nvPr/>
        </p:nvSpPr>
        <p:spPr>
          <a:xfrm>
            <a:off x="9578880" y="3808440"/>
            <a:ext cx="121680" cy="2548440"/>
          </a:xfrm>
          <a:prstGeom prst="roundRect">
            <a:avLst>
              <a:gd name="adj" fmla="val 26572"/>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16" name="Text 12"/>
          <p:cNvSpPr/>
          <p:nvPr/>
        </p:nvSpPr>
        <p:spPr>
          <a:xfrm>
            <a:off x="9947160" y="4054680"/>
            <a:ext cx="357264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Müqavimətin Azaldılması</a:t>
            </a:r>
            <a:endParaRPr b="0" lang="en-US" sz="1900" spc="-1" strike="noStrike">
              <a:solidFill>
                <a:srgbClr val="000000"/>
              </a:solidFill>
              <a:latin typeface="Arial"/>
            </a:endParaRPr>
          </a:p>
        </p:txBody>
      </p:sp>
      <p:sp>
        <p:nvSpPr>
          <p:cNvPr id="117" name="Text 13"/>
          <p:cNvSpPr/>
          <p:nvPr/>
        </p:nvSpPr>
        <p:spPr>
          <a:xfrm>
            <a:off x="9947160" y="4473720"/>
            <a:ext cx="357264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Narahatlıqları açıq şəkildə dinləyin. "SI işimi əlindən alacaq" qorxusunu faktlar və yenidən ixtisaslaşma perspektivləri ilə aradan qaldırın.</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8" name="Image 0" descr="preencoded.png"/>
          <p:cNvPicPr/>
          <p:nvPr/>
        </p:nvPicPr>
        <p:blipFill>
          <a:blip r:embed="rId1"/>
          <a:stretch/>
        </p:blipFill>
        <p:spPr>
          <a:xfrm>
            <a:off x="9144000" y="0"/>
            <a:ext cx="5486040" cy="8229240"/>
          </a:xfrm>
          <a:prstGeom prst="rect">
            <a:avLst/>
          </a:prstGeom>
          <a:ln w="0">
            <a:noFill/>
          </a:ln>
        </p:spPr>
      </p:pic>
      <p:sp>
        <p:nvSpPr>
          <p:cNvPr id="119" name="Text 0"/>
          <p:cNvSpPr/>
          <p:nvPr/>
        </p:nvSpPr>
        <p:spPr>
          <a:xfrm>
            <a:off x="822600" y="628920"/>
            <a:ext cx="5700240" cy="583920"/>
          </a:xfrm>
          <a:prstGeom prst="rect">
            <a:avLst/>
          </a:prstGeom>
          <a:noFill/>
          <a:ln w="0">
            <a:noFill/>
          </a:ln>
        </p:spPr>
        <p:style>
          <a:lnRef idx="0"/>
          <a:fillRef idx="0"/>
          <a:effectRef idx="0"/>
          <a:fontRef idx="minor"/>
        </p:style>
        <p:txBody>
          <a:bodyPr wrap="none" lIns="0" rIns="0" tIns="0" bIns="0" anchor="t">
            <a:noAutofit/>
          </a:bodyPr>
          <a:p>
            <a:pPr>
              <a:lnSpc>
                <a:spcPts val="4601"/>
              </a:lnSpc>
              <a:tabLst>
                <a:tab algn="l" pos="0"/>
              </a:tabLst>
            </a:pPr>
            <a:r>
              <a:rPr b="1" lang="en-US" sz="3650" spc="-1" strike="noStrike">
                <a:solidFill>
                  <a:srgbClr val="ffffff"/>
                </a:solidFill>
                <a:latin typeface="Montserrat Bold"/>
                <a:ea typeface="Montserrat Bold"/>
              </a:rPr>
              <a:t>SI Layihələrinin Riskləri</a:t>
            </a:r>
            <a:endParaRPr b="0" lang="en-US" sz="3650" spc="-1" strike="noStrike">
              <a:solidFill>
                <a:srgbClr val="000000"/>
              </a:solidFill>
              <a:latin typeface="Arial"/>
            </a:endParaRPr>
          </a:p>
        </p:txBody>
      </p:sp>
      <p:sp>
        <p:nvSpPr>
          <p:cNvPr id="120" name="Text 1"/>
          <p:cNvSpPr/>
          <p:nvPr/>
        </p:nvSpPr>
        <p:spPr>
          <a:xfrm>
            <a:off x="822600" y="1506960"/>
            <a:ext cx="7498080" cy="60192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Hər SI layihəsi unikal risklər daşıyır. Bu riskləri əvvəlcədən müəyyən etmək və idarə etmək layihənin uzunmüddətli uğurunu təmin edir.</a:t>
            </a:r>
            <a:endParaRPr b="0" lang="en-US" sz="1600" spc="-1" strike="noStrike">
              <a:solidFill>
                <a:srgbClr val="000000"/>
              </a:solidFill>
              <a:latin typeface="Arial"/>
            </a:endParaRPr>
          </a:p>
        </p:txBody>
      </p:sp>
      <p:sp>
        <p:nvSpPr>
          <p:cNvPr id="121" name="Shape 2"/>
          <p:cNvSpPr/>
          <p:nvPr/>
        </p:nvSpPr>
        <p:spPr>
          <a:xfrm>
            <a:off x="822600" y="2329920"/>
            <a:ext cx="3650760" cy="2838240"/>
          </a:xfrm>
          <a:prstGeom prst="roundRect">
            <a:avLst>
              <a:gd name="adj" fmla="val 1087"/>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2" name="Shape 3"/>
          <p:cNvSpPr/>
          <p:nvPr/>
        </p:nvSpPr>
        <p:spPr>
          <a:xfrm>
            <a:off x="1028520" y="2535480"/>
            <a:ext cx="616680" cy="616680"/>
          </a:xfrm>
          <a:prstGeom prst="roundRect">
            <a:avLst>
              <a:gd name="adj" fmla="val 14819048"/>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23" name="Image 1" descr="preencoded.png"/>
          <p:cNvPicPr/>
          <p:nvPr/>
        </p:nvPicPr>
        <p:blipFill>
          <a:blip r:embed="rId2">
            <a:extLst>
              <a:ext uri="{96DAC541-7B7A-43D3-8B79-37D633B846F1}">
                <asvg:svgBlip xmlns:asvg="http://schemas.microsoft.com/office/drawing/2016/SVG/main" r:embed="rId3"/>
              </a:ext>
            </a:extLst>
          </a:blip>
          <a:stretch/>
        </p:blipFill>
        <p:spPr>
          <a:xfrm>
            <a:off x="1198080" y="2705040"/>
            <a:ext cx="277200" cy="277200"/>
          </a:xfrm>
          <a:prstGeom prst="rect">
            <a:avLst/>
          </a:prstGeom>
          <a:ln w="0">
            <a:noFill/>
          </a:ln>
        </p:spPr>
      </p:pic>
      <p:sp>
        <p:nvSpPr>
          <p:cNvPr id="124" name="Text 4"/>
          <p:cNvSpPr/>
          <p:nvPr/>
        </p:nvSpPr>
        <p:spPr>
          <a:xfrm>
            <a:off x="1028520" y="3348360"/>
            <a:ext cx="2967840" cy="29160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1" lang="en-US" sz="1800" spc="-1" strike="noStrike">
                <a:solidFill>
                  <a:srgbClr val="e2e6e9"/>
                </a:solidFill>
                <a:latin typeface="Montserrat Bold"/>
                <a:ea typeface="Montserrat Bold"/>
              </a:rPr>
              <a:t>Məlumat Keyfiyyətsizliyi</a:t>
            </a:r>
            <a:endParaRPr b="0" lang="en-US" sz="1800" spc="-1" strike="noStrike">
              <a:solidFill>
                <a:srgbClr val="000000"/>
              </a:solidFill>
              <a:latin typeface="Arial"/>
            </a:endParaRPr>
          </a:p>
        </p:txBody>
      </p:sp>
      <p:sp>
        <p:nvSpPr>
          <p:cNvPr id="125" name="Text 5"/>
          <p:cNvSpPr/>
          <p:nvPr/>
        </p:nvSpPr>
        <p:spPr>
          <a:xfrm>
            <a:off x="1028520" y="3758040"/>
            <a:ext cx="3239640" cy="120456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Natamam, qərəzli və ya köhnəlmiş məlumatlar modelin dəqiqliyini ciddi şəkildə azaldır. "Zibil girər, zibil çıxar" prinsipi.</a:t>
            </a:r>
            <a:endParaRPr b="0" lang="en-US" sz="1600" spc="-1" strike="noStrike">
              <a:solidFill>
                <a:srgbClr val="000000"/>
              </a:solidFill>
              <a:latin typeface="Arial"/>
            </a:endParaRPr>
          </a:p>
        </p:txBody>
      </p:sp>
      <p:sp>
        <p:nvSpPr>
          <p:cNvPr id="126" name="Shape 6"/>
          <p:cNvSpPr/>
          <p:nvPr/>
        </p:nvSpPr>
        <p:spPr>
          <a:xfrm>
            <a:off x="4669920" y="2329920"/>
            <a:ext cx="3651120" cy="2838240"/>
          </a:xfrm>
          <a:prstGeom prst="roundRect">
            <a:avLst>
              <a:gd name="adj" fmla="val 1087"/>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7" name="Shape 7"/>
          <p:cNvSpPr/>
          <p:nvPr/>
        </p:nvSpPr>
        <p:spPr>
          <a:xfrm>
            <a:off x="4875480" y="2535480"/>
            <a:ext cx="616680" cy="616680"/>
          </a:xfrm>
          <a:prstGeom prst="roundRect">
            <a:avLst>
              <a:gd name="adj" fmla="val 14819048"/>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28" name="Image 2" descr="preencoded.png"/>
          <p:cNvPicPr/>
          <p:nvPr/>
        </p:nvPicPr>
        <p:blipFill>
          <a:blip r:embed="rId4">
            <a:extLst>
              <a:ext uri="{96DAC541-7B7A-43D3-8B79-37D633B846F1}">
                <asvg:svgBlip xmlns:asvg="http://schemas.microsoft.com/office/drawing/2016/SVG/main" r:embed="rId5"/>
              </a:ext>
            </a:extLst>
          </a:blip>
          <a:stretch/>
        </p:blipFill>
        <p:spPr>
          <a:xfrm>
            <a:off x="5045040" y="2705040"/>
            <a:ext cx="277200" cy="277200"/>
          </a:xfrm>
          <a:prstGeom prst="rect">
            <a:avLst/>
          </a:prstGeom>
          <a:ln w="0">
            <a:noFill/>
          </a:ln>
        </p:spPr>
      </p:pic>
      <p:sp>
        <p:nvSpPr>
          <p:cNvPr id="129" name="Text 8"/>
          <p:cNvSpPr/>
          <p:nvPr/>
        </p:nvSpPr>
        <p:spPr>
          <a:xfrm>
            <a:off x="4875480" y="3348360"/>
            <a:ext cx="2337120" cy="29160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1" lang="en-US" sz="1800" spc="-1" strike="noStrike">
                <a:solidFill>
                  <a:srgbClr val="e2e6e9"/>
                </a:solidFill>
                <a:latin typeface="Montserrat Bold"/>
                <a:ea typeface="Montserrat Bold"/>
              </a:rPr>
              <a:t>Texniki Asılılıq</a:t>
            </a:r>
            <a:endParaRPr b="0" lang="en-US" sz="1800" spc="-1" strike="noStrike">
              <a:solidFill>
                <a:srgbClr val="000000"/>
              </a:solidFill>
              <a:latin typeface="Arial"/>
            </a:endParaRPr>
          </a:p>
        </p:txBody>
      </p:sp>
      <p:sp>
        <p:nvSpPr>
          <p:cNvPr id="130" name="Text 9"/>
          <p:cNvSpPr/>
          <p:nvPr/>
        </p:nvSpPr>
        <p:spPr>
          <a:xfrm>
            <a:off x="4875480" y="3758040"/>
            <a:ext cx="3239640" cy="120456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Tək bir vendora və ya platformaya həddindən artıq güvənmək uzunmüddətli çevikliyi məhdudlaşdırır və xərcləri artırır.</a:t>
            </a:r>
            <a:endParaRPr b="0" lang="en-US" sz="1600" spc="-1" strike="noStrike">
              <a:solidFill>
                <a:srgbClr val="000000"/>
              </a:solidFill>
              <a:latin typeface="Arial"/>
            </a:endParaRPr>
          </a:p>
        </p:txBody>
      </p:sp>
      <p:sp>
        <p:nvSpPr>
          <p:cNvPr id="131" name="Shape 10"/>
          <p:cNvSpPr/>
          <p:nvPr/>
        </p:nvSpPr>
        <p:spPr>
          <a:xfrm>
            <a:off x="822600" y="5364360"/>
            <a:ext cx="7498080" cy="2235600"/>
          </a:xfrm>
          <a:prstGeom prst="roundRect">
            <a:avLst>
              <a:gd name="adj" fmla="val 1380"/>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2" name="Shape 11"/>
          <p:cNvSpPr/>
          <p:nvPr/>
        </p:nvSpPr>
        <p:spPr>
          <a:xfrm>
            <a:off x="1028520" y="5569920"/>
            <a:ext cx="616680" cy="616680"/>
          </a:xfrm>
          <a:prstGeom prst="roundRect">
            <a:avLst>
              <a:gd name="adj" fmla="val 14819048"/>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33" name="Image 3" descr="preencoded.png"/>
          <p:cNvPicPr/>
          <p:nvPr/>
        </p:nvPicPr>
        <p:blipFill>
          <a:blip r:embed="rId6">
            <a:extLst>
              <a:ext uri="{96DAC541-7B7A-43D3-8B79-37D633B846F1}">
                <asvg:svgBlip xmlns:asvg="http://schemas.microsoft.com/office/drawing/2016/SVG/main" r:embed="rId7"/>
              </a:ext>
            </a:extLst>
          </a:blip>
          <a:stretch/>
        </p:blipFill>
        <p:spPr>
          <a:xfrm>
            <a:off x="1198080" y="5739480"/>
            <a:ext cx="277200" cy="277200"/>
          </a:xfrm>
          <a:prstGeom prst="rect">
            <a:avLst/>
          </a:prstGeom>
          <a:ln w="0">
            <a:noFill/>
          </a:ln>
        </p:spPr>
      </p:pic>
      <p:sp>
        <p:nvSpPr>
          <p:cNvPr id="134" name="Text 12"/>
          <p:cNvSpPr/>
          <p:nvPr/>
        </p:nvSpPr>
        <p:spPr>
          <a:xfrm>
            <a:off x="1028520" y="6382800"/>
            <a:ext cx="2337120" cy="29160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1" lang="en-US" sz="1800" spc="-1" strike="noStrike">
                <a:solidFill>
                  <a:srgbClr val="e2e6e9"/>
                </a:solidFill>
                <a:latin typeface="Montserrat Bold"/>
                <a:ea typeface="Montserrat Bold"/>
              </a:rPr>
              <a:t>Etik Risklər</a:t>
            </a:r>
            <a:endParaRPr b="0" lang="en-US" sz="1800" spc="-1" strike="noStrike">
              <a:solidFill>
                <a:srgbClr val="000000"/>
              </a:solidFill>
              <a:latin typeface="Arial"/>
            </a:endParaRPr>
          </a:p>
        </p:txBody>
      </p:sp>
      <p:sp>
        <p:nvSpPr>
          <p:cNvPr id="135" name="Text 13"/>
          <p:cNvSpPr/>
          <p:nvPr/>
        </p:nvSpPr>
        <p:spPr>
          <a:xfrm>
            <a:off x="1028520" y="6792480"/>
            <a:ext cx="7086960" cy="60192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Ayrı-seçkilik, məxfilik pozuntuları və şəffaflıq çatışmazlığı həm hüquqi, həm də reputasiya baxımından ciddi nəticələr doğura bilər.</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Text 0"/>
          <p:cNvSpPr/>
          <p:nvPr/>
        </p:nvSpPr>
        <p:spPr>
          <a:xfrm>
            <a:off x="863640" y="1749600"/>
            <a:ext cx="490824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Uğur Faktorları</a:t>
            </a:r>
            <a:endParaRPr b="0" lang="en-US" sz="3850" spc="-1" strike="noStrike">
              <a:solidFill>
                <a:srgbClr val="000000"/>
              </a:solidFill>
              <a:latin typeface="Arial"/>
            </a:endParaRPr>
          </a:p>
        </p:txBody>
      </p:sp>
      <p:sp>
        <p:nvSpPr>
          <p:cNvPr id="137" name="Text 1"/>
          <p:cNvSpPr/>
          <p:nvPr/>
        </p:nvSpPr>
        <p:spPr>
          <a:xfrm>
            <a:off x="863640" y="2795040"/>
            <a:ext cx="129024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Tədqiqatlar göstərir ki, SI layihələrinin 70%-dən çoxu gözlənilən nəticəni vermir. Uğurlu layihələrin isə bir sıra ortaq xüsusiyyətləri var:</a:t>
            </a:r>
            <a:endParaRPr b="0" lang="en-US" sz="1700" spc="-1" strike="noStrike">
              <a:solidFill>
                <a:srgbClr val="000000"/>
              </a:solidFill>
              <a:latin typeface="Arial"/>
            </a:endParaRPr>
          </a:p>
        </p:txBody>
      </p:sp>
      <p:sp>
        <p:nvSpPr>
          <p:cNvPr id="138" name="Shape 2"/>
          <p:cNvSpPr/>
          <p:nvPr/>
        </p:nvSpPr>
        <p:spPr>
          <a:xfrm>
            <a:off x="1187640" y="4225680"/>
            <a:ext cx="3832560" cy="215640"/>
          </a:xfrm>
          <a:prstGeom prst="roundRect">
            <a:avLst>
              <a:gd name="adj" fmla="val 15008"/>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9" name="Shape 3"/>
          <p:cNvSpPr/>
          <p:nvPr/>
        </p:nvSpPr>
        <p:spPr>
          <a:xfrm>
            <a:off x="863640" y="4009320"/>
            <a:ext cx="647280" cy="647280"/>
          </a:xfrm>
          <a:prstGeom prst="roundRect">
            <a:avLst>
              <a:gd name="adj" fmla="val 70575"/>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40" name="Image 0" descr="preencoded.png"/>
          <p:cNvPicPr/>
          <p:nvPr/>
        </p:nvPicPr>
        <p:blipFill>
          <a:blip r:embed="rId1">
            <a:extLst>
              <a:ext uri="{96DAC541-7B7A-43D3-8B79-37D633B846F1}">
                <asvg:svgBlip xmlns:asvg="http://schemas.microsoft.com/office/drawing/2016/SVG/main" r:embed="rId2"/>
              </a:ext>
            </a:extLst>
          </a:blip>
          <a:stretch/>
        </p:blipFill>
        <p:spPr>
          <a:xfrm>
            <a:off x="1025640" y="4171320"/>
            <a:ext cx="323640" cy="323640"/>
          </a:xfrm>
          <a:prstGeom prst="rect">
            <a:avLst/>
          </a:prstGeom>
          <a:ln w="0">
            <a:noFill/>
          </a:ln>
        </p:spPr>
      </p:pic>
      <p:sp>
        <p:nvSpPr>
          <p:cNvPr id="141" name="Text 4"/>
          <p:cNvSpPr/>
          <p:nvPr/>
        </p:nvSpPr>
        <p:spPr>
          <a:xfrm>
            <a:off x="1079640" y="4873320"/>
            <a:ext cx="372492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Güclü Məlumat İnfrastrukturu</a:t>
            </a:r>
            <a:endParaRPr b="0" lang="en-US" sz="1900" spc="-1" strike="noStrike">
              <a:solidFill>
                <a:srgbClr val="000000"/>
              </a:solidFill>
              <a:latin typeface="Arial"/>
            </a:endParaRPr>
          </a:p>
        </p:txBody>
      </p:sp>
      <p:sp>
        <p:nvSpPr>
          <p:cNvPr id="142" name="Text 5"/>
          <p:cNvSpPr/>
          <p:nvPr/>
        </p:nvSpPr>
        <p:spPr>
          <a:xfrm>
            <a:off x="1079640" y="5364000"/>
            <a:ext cx="372492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Keyfiyyətli, əlçatan və strukturlu məlumat bazası hər şeyin təməlidir.</a:t>
            </a:r>
            <a:endParaRPr b="0" lang="en-US" sz="1700" spc="-1" strike="noStrike">
              <a:solidFill>
                <a:srgbClr val="000000"/>
              </a:solidFill>
              <a:latin typeface="Arial"/>
            </a:endParaRPr>
          </a:p>
        </p:txBody>
      </p:sp>
      <p:sp>
        <p:nvSpPr>
          <p:cNvPr id="143" name="Shape 6"/>
          <p:cNvSpPr/>
          <p:nvPr/>
        </p:nvSpPr>
        <p:spPr>
          <a:xfrm>
            <a:off x="5560560" y="3901680"/>
            <a:ext cx="3832560" cy="215640"/>
          </a:xfrm>
          <a:prstGeom prst="roundRect">
            <a:avLst>
              <a:gd name="adj" fmla="val 15008"/>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4" name="Shape 7"/>
          <p:cNvSpPr/>
          <p:nvPr/>
        </p:nvSpPr>
        <p:spPr>
          <a:xfrm>
            <a:off x="5236560" y="3685680"/>
            <a:ext cx="647280" cy="647280"/>
          </a:xfrm>
          <a:prstGeom prst="roundRect">
            <a:avLst>
              <a:gd name="adj" fmla="val 70575"/>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45" name="Image 1" descr="preencoded.png"/>
          <p:cNvPicPr/>
          <p:nvPr/>
        </p:nvPicPr>
        <p:blipFill>
          <a:blip r:embed="rId3">
            <a:extLst>
              <a:ext uri="{96DAC541-7B7A-43D3-8B79-37D633B846F1}">
                <asvg:svgBlip xmlns:asvg="http://schemas.microsoft.com/office/drawing/2016/SVG/main" r:embed="rId4"/>
              </a:ext>
            </a:extLst>
          </a:blip>
          <a:stretch/>
        </p:blipFill>
        <p:spPr>
          <a:xfrm>
            <a:off x="5398560" y="3847320"/>
            <a:ext cx="323640" cy="323640"/>
          </a:xfrm>
          <a:prstGeom prst="rect">
            <a:avLst/>
          </a:prstGeom>
          <a:ln w="0">
            <a:noFill/>
          </a:ln>
        </p:spPr>
      </p:pic>
      <p:sp>
        <p:nvSpPr>
          <p:cNvPr id="146" name="Text 8"/>
          <p:cNvSpPr/>
          <p:nvPr/>
        </p:nvSpPr>
        <p:spPr>
          <a:xfrm>
            <a:off x="5452560" y="45493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Aydın KPI-lər</a:t>
            </a:r>
            <a:endParaRPr b="0" lang="en-US" sz="1900" spc="-1" strike="noStrike">
              <a:solidFill>
                <a:srgbClr val="000000"/>
              </a:solidFill>
              <a:latin typeface="Arial"/>
            </a:endParaRPr>
          </a:p>
        </p:txBody>
      </p:sp>
      <p:sp>
        <p:nvSpPr>
          <p:cNvPr id="147" name="Text 9"/>
          <p:cNvSpPr/>
          <p:nvPr/>
        </p:nvSpPr>
        <p:spPr>
          <a:xfrm>
            <a:off x="5452560" y="4985640"/>
            <a:ext cx="37249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Uğur meyarları tətbiqdən əvvəl müəyyən edilməli, ölçülə bilən göstəricilər təyin olunmalıdır.</a:t>
            </a:r>
            <a:endParaRPr b="0" lang="en-US" sz="1700" spc="-1" strike="noStrike">
              <a:solidFill>
                <a:srgbClr val="000000"/>
              </a:solidFill>
              <a:latin typeface="Arial"/>
            </a:endParaRPr>
          </a:p>
        </p:txBody>
      </p:sp>
      <p:sp>
        <p:nvSpPr>
          <p:cNvPr id="148" name="Shape 10"/>
          <p:cNvSpPr/>
          <p:nvPr/>
        </p:nvSpPr>
        <p:spPr>
          <a:xfrm>
            <a:off x="9933480" y="3577680"/>
            <a:ext cx="3832560" cy="215640"/>
          </a:xfrm>
          <a:prstGeom prst="roundRect">
            <a:avLst>
              <a:gd name="adj" fmla="val 15008"/>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9" name="Shape 11"/>
          <p:cNvSpPr/>
          <p:nvPr/>
        </p:nvSpPr>
        <p:spPr>
          <a:xfrm>
            <a:off x="9609480" y="3361680"/>
            <a:ext cx="647280" cy="647280"/>
          </a:xfrm>
          <a:prstGeom prst="roundRect">
            <a:avLst>
              <a:gd name="adj" fmla="val 70575"/>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50" name="Image 2" descr="preencoded.png"/>
          <p:cNvPicPr/>
          <p:nvPr/>
        </p:nvPicPr>
        <p:blipFill>
          <a:blip r:embed="rId5">
            <a:extLst>
              <a:ext uri="{96DAC541-7B7A-43D3-8B79-37D633B846F1}">
                <asvg:svgBlip xmlns:asvg="http://schemas.microsoft.com/office/drawing/2016/SVG/main" r:embed="rId6"/>
              </a:ext>
            </a:extLst>
          </a:blip>
          <a:stretch/>
        </p:blipFill>
        <p:spPr>
          <a:xfrm>
            <a:off x="9771480" y="3523680"/>
            <a:ext cx="323640" cy="323640"/>
          </a:xfrm>
          <a:prstGeom prst="rect">
            <a:avLst/>
          </a:prstGeom>
          <a:ln w="0">
            <a:noFill/>
          </a:ln>
        </p:spPr>
      </p:pic>
      <p:sp>
        <p:nvSpPr>
          <p:cNvPr id="151" name="Text 12"/>
          <p:cNvSpPr/>
          <p:nvPr/>
        </p:nvSpPr>
        <p:spPr>
          <a:xfrm>
            <a:off x="9825480" y="4225320"/>
            <a:ext cx="250164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Rəhbərliyin Dəstəyi</a:t>
            </a:r>
            <a:endParaRPr b="0" lang="en-US" sz="1900" spc="-1" strike="noStrike">
              <a:solidFill>
                <a:srgbClr val="000000"/>
              </a:solidFill>
              <a:latin typeface="Arial"/>
            </a:endParaRPr>
          </a:p>
        </p:txBody>
      </p:sp>
      <p:sp>
        <p:nvSpPr>
          <p:cNvPr id="152" name="Text 13"/>
          <p:cNvSpPr/>
          <p:nvPr/>
        </p:nvSpPr>
        <p:spPr>
          <a:xfrm>
            <a:off x="9825480" y="4661640"/>
            <a:ext cx="37249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C-səviyyəsindən aktiv dəstək olmadan SI layihələri çox vaxt prioritet itirərək dayandırılır.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 name="Text 0"/>
          <p:cNvSpPr/>
          <p:nvPr/>
        </p:nvSpPr>
        <p:spPr>
          <a:xfrm>
            <a:off x="174600" y="201240"/>
            <a:ext cx="547632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ROI və Effektivliyin Ölçülməsi</a:t>
            </a:r>
            <a:endParaRPr b="0" lang="en-US" sz="1900" spc="-1" strike="noStrike">
              <a:solidFill>
                <a:srgbClr val="000000"/>
              </a:solidFill>
              <a:latin typeface="Arial"/>
            </a:endParaRPr>
          </a:p>
        </p:txBody>
      </p:sp>
      <p:sp>
        <p:nvSpPr>
          <p:cNvPr id="154" name="Text 1"/>
          <p:cNvSpPr/>
          <p:nvPr/>
        </p:nvSpPr>
        <p:spPr>
          <a:xfrm>
            <a:off x="174600" y="615960"/>
            <a:ext cx="11174040" cy="120960"/>
          </a:xfrm>
          <a:prstGeom prst="rect">
            <a:avLst/>
          </a:prstGeom>
          <a:noFill/>
          <a:ln w="0">
            <a:noFill/>
          </a:ln>
        </p:spPr>
        <p:style>
          <a:lnRef idx="0"/>
          <a:fillRef idx="0"/>
          <a:effectRef idx="0"/>
          <a:fontRef idx="minor"/>
        </p:style>
        <p:txBody>
          <a:bodyPr wrap="none" lIns="0" rIns="0" tIns="0" bIns="0" anchor="t">
            <a:noAutofit/>
          </a:bodyPr>
          <a:p>
            <a:pPr>
              <a:lnSpc>
                <a:spcPts val="950"/>
              </a:lnSpc>
              <a:tabLst>
                <a:tab algn="l" pos="0"/>
              </a:tabLst>
            </a:pPr>
            <a:r>
              <a:rPr b="0" lang="en-US" sz="850" spc="-1" strike="noStrike">
                <a:solidFill>
                  <a:srgbClr val="e2e6e9"/>
                </a:solidFill>
                <a:latin typeface="Source Sans 3"/>
                <a:ea typeface="Source Sans 3"/>
              </a:rPr>
              <a:t>SI investisiyasının geri dönüşünü düzgün hesablamaq üçün həm birbaşa, həm də dolayı faydaları nəzərə almaq lazımdır.</a:t>
            </a:r>
            <a:endParaRPr b="0" lang="en-US" sz="850" spc="-1" strike="noStrike">
              <a:solidFill>
                <a:srgbClr val="000000"/>
              </a:solidFill>
              <a:latin typeface="Arial"/>
            </a:endParaRPr>
          </a:p>
        </p:txBody>
      </p:sp>
      <p:sp>
        <p:nvSpPr>
          <p:cNvPr id="155" name="Text 2"/>
          <p:cNvSpPr/>
          <p:nvPr/>
        </p:nvSpPr>
        <p:spPr>
          <a:xfrm>
            <a:off x="174600" y="85212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ffffff"/>
                </a:solidFill>
                <a:latin typeface="Montserrat Bold"/>
                <a:ea typeface="Montserrat Bold"/>
              </a:rPr>
              <a:t>Xərclər</a:t>
            </a:r>
            <a:endParaRPr b="0" lang="en-US" sz="950" spc="-1" strike="noStrike">
              <a:solidFill>
                <a:srgbClr val="000000"/>
              </a:solidFill>
              <a:latin typeface="Arial"/>
            </a:endParaRPr>
          </a:p>
        </p:txBody>
      </p:sp>
      <p:sp>
        <p:nvSpPr>
          <p:cNvPr id="156" name="Shape 3"/>
          <p:cNvSpPr/>
          <p:nvPr/>
        </p:nvSpPr>
        <p:spPr>
          <a:xfrm>
            <a:off x="174600" y="1065960"/>
            <a:ext cx="2658960" cy="543960"/>
          </a:xfrm>
          <a:prstGeom prst="roundRect">
            <a:avLst>
              <a:gd name="adj" fmla="val 2975"/>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57" name="Text 4"/>
          <p:cNvSpPr/>
          <p:nvPr/>
        </p:nvSpPr>
        <p:spPr>
          <a:xfrm>
            <a:off x="330480" y="117396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e2e6e9"/>
                </a:solidFill>
                <a:latin typeface="Montserrat Bold"/>
                <a:ea typeface="Montserrat Bold"/>
              </a:rPr>
              <a:t>Texnologiya</a:t>
            </a:r>
            <a:endParaRPr b="0" lang="en-US" sz="950" spc="-1" strike="noStrike">
              <a:solidFill>
                <a:srgbClr val="000000"/>
              </a:solidFill>
              <a:latin typeface="Arial"/>
            </a:endParaRPr>
          </a:p>
        </p:txBody>
      </p:sp>
      <p:sp>
        <p:nvSpPr>
          <p:cNvPr id="158" name="Text 5"/>
          <p:cNvSpPr/>
          <p:nvPr/>
        </p:nvSpPr>
        <p:spPr>
          <a:xfrm>
            <a:off x="330480" y="1381320"/>
            <a:ext cx="2347920" cy="120960"/>
          </a:xfrm>
          <a:prstGeom prst="rect">
            <a:avLst/>
          </a:prstGeom>
          <a:noFill/>
          <a:ln w="0">
            <a:noFill/>
          </a:ln>
        </p:spPr>
        <p:style>
          <a:lnRef idx="0"/>
          <a:fillRef idx="0"/>
          <a:effectRef idx="0"/>
          <a:fontRef idx="minor"/>
        </p:style>
        <p:txBody>
          <a:bodyPr wrap="none" lIns="0" rIns="0" tIns="0" bIns="0" anchor="t">
            <a:noAutofit/>
          </a:bodyPr>
          <a:p>
            <a:pPr>
              <a:lnSpc>
                <a:spcPts val="950"/>
              </a:lnSpc>
              <a:tabLst>
                <a:tab algn="l" pos="0"/>
              </a:tabLst>
            </a:pPr>
            <a:r>
              <a:rPr b="0" lang="en-US" sz="850" spc="-1" strike="noStrike">
                <a:solidFill>
                  <a:srgbClr val="e2e6e9"/>
                </a:solidFill>
                <a:latin typeface="Source Sans 3"/>
                <a:ea typeface="Source Sans 3"/>
              </a:rPr>
              <a:t>Proqram, aparat, bulud xidmətləri</a:t>
            </a:r>
            <a:endParaRPr b="0" lang="en-US" sz="850" spc="-1" strike="noStrike">
              <a:solidFill>
                <a:srgbClr val="000000"/>
              </a:solidFill>
              <a:latin typeface="Arial"/>
            </a:endParaRPr>
          </a:p>
        </p:txBody>
      </p:sp>
      <p:sp>
        <p:nvSpPr>
          <p:cNvPr id="159" name="Shape 6"/>
          <p:cNvSpPr/>
          <p:nvPr/>
        </p:nvSpPr>
        <p:spPr>
          <a:xfrm>
            <a:off x="2912040" y="1065960"/>
            <a:ext cx="2659320" cy="543960"/>
          </a:xfrm>
          <a:prstGeom prst="roundRect">
            <a:avLst>
              <a:gd name="adj" fmla="val 2975"/>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60" name="Text 7"/>
          <p:cNvSpPr/>
          <p:nvPr/>
        </p:nvSpPr>
        <p:spPr>
          <a:xfrm>
            <a:off x="3067560" y="117396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e2e6e9"/>
                </a:solidFill>
                <a:latin typeface="Montserrat Bold"/>
                <a:ea typeface="Montserrat Bold"/>
              </a:rPr>
              <a:t>İnsan Resursu</a:t>
            </a:r>
            <a:endParaRPr b="0" lang="en-US" sz="950" spc="-1" strike="noStrike">
              <a:solidFill>
                <a:srgbClr val="000000"/>
              </a:solidFill>
              <a:latin typeface="Arial"/>
            </a:endParaRPr>
          </a:p>
        </p:txBody>
      </p:sp>
      <p:sp>
        <p:nvSpPr>
          <p:cNvPr id="161" name="Text 8"/>
          <p:cNvSpPr/>
          <p:nvPr/>
        </p:nvSpPr>
        <p:spPr>
          <a:xfrm>
            <a:off x="3067560" y="1381320"/>
            <a:ext cx="2347920" cy="120960"/>
          </a:xfrm>
          <a:prstGeom prst="rect">
            <a:avLst/>
          </a:prstGeom>
          <a:noFill/>
          <a:ln w="0">
            <a:noFill/>
          </a:ln>
        </p:spPr>
        <p:style>
          <a:lnRef idx="0"/>
          <a:fillRef idx="0"/>
          <a:effectRef idx="0"/>
          <a:fontRef idx="minor"/>
        </p:style>
        <p:txBody>
          <a:bodyPr wrap="none" lIns="0" rIns="0" tIns="0" bIns="0" anchor="t">
            <a:noAutofit/>
          </a:bodyPr>
          <a:p>
            <a:pPr>
              <a:lnSpc>
                <a:spcPts val="950"/>
              </a:lnSpc>
              <a:tabLst>
                <a:tab algn="l" pos="0"/>
              </a:tabLst>
            </a:pPr>
            <a:r>
              <a:rPr b="0" lang="en-US" sz="850" spc="-1" strike="noStrike">
                <a:solidFill>
                  <a:srgbClr val="e2e6e9"/>
                </a:solidFill>
                <a:latin typeface="Source Sans 3"/>
                <a:ea typeface="Source Sans 3"/>
              </a:rPr>
              <a:t>Təlim, işə götürmə, konsaltinq</a:t>
            </a:r>
            <a:endParaRPr b="0" lang="en-US" sz="850" spc="-1" strike="noStrike">
              <a:solidFill>
                <a:srgbClr val="000000"/>
              </a:solidFill>
              <a:latin typeface="Arial"/>
            </a:endParaRPr>
          </a:p>
        </p:txBody>
      </p:sp>
      <p:sp>
        <p:nvSpPr>
          <p:cNvPr id="162" name="Shape 9"/>
          <p:cNvSpPr/>
          <p:nvPr/>
        </p:nvSpPr>
        <p:spPr>
          <a:xfrm>
            <a:off x="174600" y="1664280"/>
            <a:ext cx="5396760" cy="543960"/>
          </a:xfrm>
          <a:prstGeom prst="roundRect">
            <a:avLst>
              <a:gd name="adj" fmla="val 2975"/>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63" name="Text 10"/>
          <p:cNvSpPr/>
          <p:nvPr/>
        </p:nvSpPr>
        <p:spPr>
          <a:xfrm>
            <a:off x="330480" y="177228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e2e6e9"/>
                </a:solidFill>
                <a:latin typeface="Montserrat Bold"/>
                <a:ea typeface="Montserrat Bold"/>
              </a:rPr>
              <a:t>İnteqrasiya</a:t>
            </a:r>
            <a:endParaRPr b="0" lang="en-US" sz="950" spc="-1" strike="noStrike">
              <a:solidFill>
                <a:srgbClr val="000000"/>
              </a:solidFill>
              <a:latin typeface="Arial"/>
            </a:endParaRPr>
          </a:p>
        </p:txBody>
      </p:sp>
      <p:sp>
        <p:nvSpPr>
          <p:cNvPr id="164" name="Text 11"/>
          <p:cNvSpPr/>
          <p:nvPr/>
        </p:nvSpPr>
        <p:spPr>
          <a:xfrm>
            <a:off x="330480" y="1979640"/>
            <a:ext cx="5085360" cy="120960"/>
          </a:xfrm>
          <a:prstGeom prst="rect">
            <a:avLst/>
          </a:prstGeom>
          <a:noFill/>
          <a:ln w="0">
            <a:noFill/>
          </a:ln>
        </p:spPr>
        <p:style>
          <a:lnRef idx="0"/>
          <a:fillRef idx="0"/>
          <a:effectRef idx="0"/>
          <a:fontRef idx="minor"/>
        </p:style>
        <p:txBody>
          <a:bodyPr wrap="none" lIns="0" rIns="0" tIns="0" bIns="0" anchor="t">
            <a:noAutofit/>
          </a:bodyPr>
          <a:p>
            <a:pPr>
              <a:lnSpc>
                <a:spcPts val="950"/>
              </a:lnSpc>
              <a:tabLst>
                <a:tab algn="l" pos="0"/>
              </a:tabLst>
            </a:pPr>
            <a:r>
              <a:rPr b="0" lang="en-US" sz="850" spc="-1" strike="noStrike">
                <a:solidFill>
                  <a:srgbClr val="e2e6e9"/>
                </a:solidFill>
                <a:latin typeface="Source Sans 3"/>
                <a:ea typeface="Source Sans 3"/>
              </a:rPr>
              <a:t>Mövcud sistemlərlə birləşdirmə</a:t>
            </a:r>
            <a:endParaRPr b="0" lang="en-US" sz="850" spc="-1" strike="noStrike">
              <a:solidFill>
                <a:srgbClr val="000000"/>
              </a:solidFill>
              <a:latin typeface="Arial"/>
            </a:endParaRPr>
          </a:p>
        </p:txBody>
      </p:sp>
      <p:sp>
        <p:nvSpPr>
          <p:cNvPr id="165" name="Shape 12"/>
          <p:cNvSpPr/>
          <p:nvPr/>
        </p:nvSpPr>
        <p:spPr>
          <a:xfrm>
            <a:off x="5850720" y="798120"/>
            <a:ext cx="5621400" cy="1592640"/>
          </a:xfrm>
          <a:prstGeom prst="roundRect">
            <a:avLst>
              <a:gd name="adj" fmla="val 1017"/>
            </a:avLst>
          </a:prstGeom>
          <a:solidFill>
            <a:srgbClr val="1d1f2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66" name="Text 13"/>
          <p:cNvSpPr/>
          <p:nvPr/>
        </p:nvSpPr>
        <p:spPr>
          <a:xfrm>
            <a:off x="6006600" y="85212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ffffff"/>
                </a:solidFill>
                <a:latin typeface="Montserrat Bold"/>
                <a:ea typeface="Montserrat Bold"/>
              </a:rPr>
              <a:t>Nəticələr</a:t>
            </a:r>
            <a:endParaRPr b="0" lang="en-US" sz="950" spc="-1" strike="noStrike">
              <a:solidFill>
                <a:srgbClr val="000000"/>
              </a:solidFill>
              <a:latin typeface="Arial"/>
            </a:endParaRPr>
          </a:p>
        </p:txBody>
      </p:sp>
      <p:sp>
        <p:nvSpPr>
          <p:cNvPr id="167" name="Shape 14"/>
          <p:cNvSpPr/>
          <p:nvPr/>
        </p:nvSpPr>
        <p:spPr>
          <a:xfrm>
            <a:off x="6006600" y="1065960"/>
            <a:ext cx="2615400" cy="665640"/>
          </a:xfrm>
          <a:prstGeom prst="roundRect">
            <a:avLst>
              <a:gd name="adj" fmla="val 2432"/>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68" name="Text 15"/>
          <p:cNvSpPr/>
          <p:nvPr/>
        </p:nvSpPr>
        <p:spPr>
          <a:xfrm>
            <a:off x="6162120" y="117396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e2e6e9"/>
                </a:solidFill>
                <a:latin typeface="Montserrat Bold"/>
                <a:ea typeface="Montserrat Bold"/>
              </a:rPr>
              <a:t>Məhsuldarlıq</a:t>
            </a:r>
            <a:endParaRPr b="0" lang="en-US" sz="950" spc="-1" strike="noStrike">
              <a:solidFill>
                <a:srgbClr val="000000"/>
              </a:solidFill>
              <a:latin typeface="Arial"/>
            </a:endParaRPr>
          </a:p>
        </p:txBody>
      </p:sp>
      <p:sp>
        <p:nvSpPr>
          <p:cNvPr id="169" name="Text 16"/>
          <p:cNvSpPr/>
          <p:nvPr/>
        </p:nvSpPr>
        <p:spPr>
          <a:xfrm>
            <a:off x="6162120" y="1381320"/>
            <a:ext cx="2304000" cy="242640"/>
          </a:xfrm>
          <a:prstGeom prst="rect">
            <a:avLst/>
          </a:prstGeom>
          <a:noFill/>
          <a:ln w="0">
            <a:noFill/>
          </a:ln>
        </p:spPr>
        <p:style>
          <a:lnRef idx="0"/>
          <a:fillRef idx="0"/>
          <a:effectRef idx="0"/>
          <a:fontRef idx="minor"/>
        </p:style>
        <p:txBody>
          <a:bodyPr lIns="0" rIns="0" tIns="0" bIns="0" anchor="t">
            <a:noAutofit/>
          </a:bodyPr>
          <a:p>
            <a:pPr>
              <a:lnSpc>
                <a:spcPts val="950"/>
              </a:lnSpc>
              <a:tabLst>
                <a:tab algn="l" pos="0"/>
              </a:tabLst>
            </a:pPr>
            <a:r>
              <a:rPr b="0" lang="en-US" sz="850" spc="-1" strike="noStrike">
                <a:solidFill>
                  <a:srgbClr val="e2e6e9"/>
                </a:solidFill>
                <a:latin typeface="Source Sans 3"/>
                <a:ea typeface="Source Sans 3"/>
              </a:rPr>
              <a:t>Proseslərin sürətlənməsi, avtomatlaşma</a:t>
            </a:r>
            <a:endParaRPr b="0" lang="en-US" sz="850" spc="-1" strike="noStrike">
              <a:solidFill>
                <a:srgbClr val="000000"/>
              </a:solidFill>
              <a:latin typeface="Arial"/>
            </a:endParaRPr>
          </a:p>
        </p:txBody>
      </p:sp>
      <p:sp>
        <p:nvSpPr>
          <p:cNvPr id="170" name="Shape 17"/>
          <p:cNvSpPr/>
          <p:nvPr/>
        </p:nvSpPr>
        <p:spPr>
          <a:xfrm>
            <a:off x="8700480" y="1065960"/>
            <a:ext cx="2616120" cy="665640"/>
          </a:xfrm>
          <a:prstGeom prst="roundRect">
            <a:avLst>
              <a:gd name="adj" fmla="val 2432"/>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1" name="Text 18"/>
          <p:cNvSpPr/>
          <p:nvPr/>
        </p:nvSpPr>
        <p:spPr>
          <a:xfrm>
            <a:off x="8856000" y="117396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e2e6e9"/>
                </a:solidFill>
                <a:latin typeface="Montserrat Bold"/>
                <a:ea typeface="Montserrat Bold"/>
              </a:rPr>
              <a:t>Xərclərin Azalması</a:t>
            </a:r>
            <a:endParaRPr b="0" lang="en-US" sz="950" spc="-1" strike="noStrike">
              <a:solidFill>
                <a:srgbClr val="000000"/>
              </a:solidFill>
              <a:latin typeface="Arial"/>
            </a:endParaRPr>
          </a:p>
        </p:txBody>
      </p:sp>
      <p:sp>
        <p:nvSpPr>
          <p:cNvPr id="172" name="Text 19"/>
          <p:cNvSpPr/>
          <p:nvPr/>
        </p:nvSpPr>
        <p:spPr>
          <a:xfrm>
            <a:off x="8856000" y="1381320"/>
            <a:ext cx="2304000" cy="242640"/>
          </a:xfrm>
          <a:prstGeom prst="rect">
            <a:avLst/>
          </a:prstGeom>
          <a:noFill/>
          <a:ln w="0">
            <a:noFill/>
          </a:ln>
        </p:spPr>
        <p:style>
          <a:lnRef idx="0"/>
          <a:fillRef idx="0"/>
          <a:effectRef idx="0"/>
          <a:fontRef idx="minor"/>
        </p:style>
        <p:txBody>
          <a:bodyPr lIns="0" rIns="0" tIns="0" bIns="0" anchor="t">
            <a:noAutofit/>
          </a:bodyPr>
          <a:p>
            <a:pPr>
              <a:lnSpc>
                <a:spcPts val="950"/>
              </a:lnSpc>
              <a:tabLst>
                <a:tab algn="l" pos="0"/>
              </a:tabLst>
            </a:pPr>
            <a:r>
              <a:rPr b="0" lang="en-US" sz="850" spc="-1" strike="noStrike">
                <a:solidFill>
                  <a:srgbClr val="e2e6e9"/>
                </a:solidFill>
                <a:latin typeface="Source Sans 3"/>
                <a:ea typeface="Source Sans 3"/>
              </a:rPr>
              <a:t>Əməliyyat xərclərinin optimallaşması</a:t>
            </a:r>
            <a:endParaRPr b="0" lang="en-US" sz="850" spc="-1" strike="noStrike">
              <a:solidFill>
                <a:srgbClr val="000000"/>
              </a:solidFill>
              <a:latin typeface="Arial"/>
            </a:endParaRPr>
          </a:p>
        </p:txBody>
      </p:sp>
      <p:sp>
        <p:nvSpPr>
          <p:cNvPr id="173" name="Shape 20"/>
          <p:cNvSpPr/>
          <p:nvPr/>
        </p:nvSpPr>
        <p:spPr>
          <a:xfrm>
            <a:off x="6006600" y="1785960"/>
            <a:ext cx="5310000" cy="543960"/>
          </a:xfrm>
          <a:prstGeom prst="roundRect">
            <a:avLst>
              <a:gd name="adj" fmla="val 2975"/>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4" name="Text 21"/>
          <p:cNvSpPr/>
          <p:nvPr/>
        </p:nvSpPr>
        <p:spPr>
          <a:xfrm>
            <a:off x="6162120" y="1893600"/>
            <a:ext cx="1770480" cy="153000"/>
          </a:xfrm>
          <a:prstGeom prst="rect">
            <a:avLst/>
          </a:prstGeom>
          <a:noFill/>
          <a:ln w="0">
            <a:noFill/>
          </a:ln>
        </p:spPr>
        <p:style>
          <a:lnRef idx="0"/>
          <a:fillRef idx="0"/>
          <a:effectRef idx="0"/>
          <a:fontRef idx="minor"/>
        </p:style>
        <p:txBody>
          <a:bodyPr wrap="none" lIns="0" rIns="0" tIns="0" bIns="0" anchor="t">
            <a:noAutofit/>
          </a:bodyPr>
          <a:p>
            <a:pPr>
              <a:lnSpc>
                <a:spcPts val="1199"/>
              </a:lnSpc>
              <a:tabLst>
                <a:tab algn="l" pos="0"/>
              </a:tabLst>
            </a:pPr>
            <a:r>
              <a:rPr b="1" lang="en-US" sz="950" spc="-1" strike="noStrike">
                <a:solidFill>
                  <a:srgbClr val="e2e6e9"/>
                </a:solidFill>
                <a:latin typeface="Montserrat Bold"/>
                <a:ea typeface="Montserrat Bold"/>
              </a:rPr>
              <a:t>Gəlir Artımı</a:t>
            </a:r>
            <a:endParaRPr b="0" lang="en-US" sz="950" spc="-1" strike="noStrike">
              <a:solidFill>
                <a:srgbClr val="000000"/>
              </a:solidFill>
              <a:latin typeface="Arial"/>
            </a:endParaRPr>
          </a:p>
        </p:txBody>
      </p:sp>
      <p:sp>
        <p:nvSpPr>
          <p:cNvPr id="175" name="Text 22"/>
          <p:cNvSpPr/>
          <p:nvPr/>
        </p:nvSpPr>
        <p:spPr>
          <a:xfrm>
            <a:off x="6162120" y="2100960"/>
            <a:ext cx="4998600" cy="120960"/>
          </a:xfrm>
          <a:prstGeom prst="rect">
            <a:avLst/>
          </a:prstGeom>
          <a:noFill/>
          <a:ln w="0">
            <a:noFill/>
          </a:ln>
        </p:spPr>
        <p:style>
          <a:lnRef idx="0"/>
          <a:fillRef idx="0"/>
          <a:effectRef idx="0"/>
          <a:fontRef idx="minor"/>
        </p:style>
        <p:txBody>
          <a:bodyPr wrap="none" lIns="0" rIns="0" tIns="0" bIns="0" anchor="t">
            <a:noAutofit/>
          </a:bodyPr>
          <a:p>
            <a:pPr>
              <a:lnSpc>
                <a:spcPts val="950"/>
              </a:lnSpc>
              <a:tabLst>
                <a:tab algn="l" pos="0"/>
              </a:tabLst>
            </a:pPr>
            <a:r>
              <a:rPr b="0" lang="en-US" sz="850" spc="-1" strike="noStrike">
                <a:solidFill>
                  <a:srgbClr val="e2e6e9"/>
                </a:solidFill>
                <a:latin typeface="Source Sans 3"/>
                <a:ea typeface="Source Sans 3"/>
              </a:rPr>
              <a:t>Yeni imkanlar, müştəri məmnuniyyəti</a:t>
            </a:r>
            <a:endParaRPr b="0" lang="en-US" sz="850" spc="-1" strike="noStrike">
              <a:solidFill>
                <a:srgbClr val="000000"/>
              </a:solidFill>
              <a:latin typeface="Arial"/>
            </a:endParaRPr>
          </a:p>
        </p:txBody>
      </p:sp>
      <p:sp>
        <p:nvSpPr>
          <p:cNvPr id="176" name="Shape 23"/>
          <p:cNvSpPr/>
          <p:nvPr/>
        </p:nvSpPr>
        <p:spPr>
          <a:xfrm>
            <a:off x="174600" y="2451960"/>
            <a:ext cx="1166040" cy="291240"/>
          </a:xfrm>
          <a:prstGeom prst="roundRect">
            <a:avLst>
              <a:gd name="adj" fmla="val 43925"/>
            </a:avLst>
          </a:prstGeom>
          <a:solidFill>
            <a:srgbClr val="ffffff">
              <a:alpha val="20000"/>
            </a:srgbClr>
          </a:solidFill>
          <a:ln w="7620">
            <a:solidFill>
              <a:srgbClr val="000000"/>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77" name="Image 0" descr="preencoded.png"/>
          <p:cNvPicPr/>
          <p:nvPr/>
        </p:nvPicPr>
        <p:blipFill>
          <a:blip r:embed="rId1"/>
          <a:stretch/>
        </p:blipFill>
        <p:spPr>
          <a:xfrm>
            <a:off x="310680" y="2516400"/>
            <a:ext cx="233280" cy="161640"/>
          </a:xfrm>
          <a:prstGeom prst="rect">
            <a:avLst/>
          </a:prstGeom>
          <a:ln w="0">
            <a:noFill/>
          </a:ln>
        </p:spPr>
      </p:pic>
      <p:sp>
        <p:nvSpPr>
          <p:cNvPr id="178" name="Text 24"/>
          <p:cNvSpPr/>
          <p:nvPr/>
        </p:nvSpPr>
        <p:spPr>
          <a:xfrm>
            <a:off x="622440" y="2492280"/>
            <a:ext cx="581760" cy="210240"/>
          </a:xfrm>
          <a:prstGeom prst="rect">
            <a:avLst/>
          </a:prstGeom>
          <a:noFill/>
          <a:ln w="0">
            <a:noFill/>
          </a:ln>
        </p:spPr>
        <p:style>
          <a:lnRef idx="0"/>
          <a:fillRef idx="0"/>
          <a:effectRef idx="0"/>
          <a:fontRef idx="minor"/>
        </p:style>
        <p:txBody>
          <a:bodyPr wrap="none" lIns="0" rIns="0" tIns="0" bIns="0" anchor="t">
            <a:noAutofit/>
          </a:bodyPr>
          <a:p>
            <a:pPr>
              <a:lnSpc>
                <a:spcPts val="901"/>
              </a:lnSpc>
              <a:tabLst>
                <a:tab algn="l" pos="0"/>
              </a:tabLst>
            </a:pPr>
            <a:r>
              <a:rPr b="0" lang="en-US" sz="700" spc="-1" strike="noStrike">
                <a:solidFill>
                  <a:srgbClr val="e2e6e9"/>
                </a:solidFill>
                <a:latin typeface="-apple-system, BlinkMacSystemFont, Segoe UI, Roboto, Helvetica Neue, Arial, sans-serif Medium"/>
                <a:ea typeface="-apple-system, BlinkMacSystemFont, Segoe UI, Roboto, Helvetica Neue, Arial, sans-serif Medium"/>
              </a:rPr>
              <a:t>1-ci İl</a:t>
            </a:r>
            <a:endParaRPr b="0" lang="en-US" sz="700" spc="-1" strike="noStrike">
              <a:solidFill>
                <a:srgbClr val="000000"/>
              </a:solidFill>
              <a:latin typeface="Arial"/>
            </a:endParaRPr>
          </a:p>
        </p:txBody>
      </p:sp>
      <p:sp>
        <p:nvSpPr>
          <p:cNvPr id="179" name="Shape 25"/>
          <p:cNvSpPr/>
          <p:nvPr/>
        </p:nvSpPr>
        <p:spPr>
          <a:xfrm>
            <a:off x="1497240" y="2451960"/>
            <a:ext cx="1166040" cy="291240"/>
          </a:xfrm>
          <a:prstGeom prst="roundRect">
            <a:avLst>
              <a:gd name="adj" fmla="val 43925"/>
            </a:avLst>
          </a:prstGeom>
          <a:solidFill>
            <a:srgbClr val="ffffff">
              <a:alpha val="20000"/>
            </a:srgbClr>
          </a:solidFill>
          <a:ln w="7620">
            <a:solidFill>
              <a:srgbClr val="000000"/>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80" name="Image 1" descr="preencoded.png"/>
          <p:cNvPicPr/>
          <p:nvPr/>
        </p:nvPicPr>
        <p:blipFill>
          <a:blip r:embed="rId2"/>
          <a:stretch/>
        </p:blipFill>
        <p:spPr>
          <a:xfrm>
            <a:off x="1633320" y="2516400"/>
            <a:ext cx="233280" cy="161640"/>
          </a:xfrm>
          <a:prstGeom prst="rect">
            <a:avLst/>
          </a:prstGeom>
          <a:ln w="0">
            <a:noFill/>
          </a:ln>
        </p:spPr>
      </p:pic>
      <p:sp>
        <p:nvSpPr>
          <p:cNvPr id="181" name="Text 26"/>
          <p:cNvSpPr/>
          <p:nvPr/>
        </p:nvSpPr>
        <p:spPr>
          <a:xfrm>
            <a:off x="1945080" y="2492280"/>
            <a:ext cx="581400" cy="210240"/>
          </a:xfrm>
          <a:prstGeom prst="rect">
            <a:avLst/>
          </a:prstGeom>
          <a:noFill/>
          <a:ln w="0">
            <a:noFill/>
          </a:ln>
        </p:spPr>
        <p:style>
          <a:lnRef idx="0"/>
          <a:fillRef idx="0"/>
          <a:effectRef idx="0"/>
          <a:fontRef idx="minor"/>
        </p:style>
        <p:txBody>
          <a:bodyPr wrap="none" lIns="0" rIns="0" tIns="0" bIns="0" anchor="t">
            <a:noAutofit/>
          </a:bodyPr>
          <a:p>
            <a:pPr>
              <a:lnSpc>
                <a:spcPts val="901"/>
              </a:lnSpc>
              <a:tabLst>
                <a:tab algn="l" pos="0"/>
              </a:tabLst>
            </a:pPr>
            <a:r>
              <a:rPr b="0" lang="en-US" sz="700" spc="-1" strike="noStrike">
                <a:solidFill>
                  <a:srgbClr val="e2e6e9"/>
                </a:solidFill>
                <a:latin typeface="-apple-system, BlinkMacSystemFont, Segoe UI, Roboto, Helvetica Neue, Arial, sans-serif Medium"/>
                <a:ea typeface="-apple-system, BlinkMacSystemFont, Segoe UI, Roboto, Helvetica Neue, Arial, sans-serif Medium"/>
              </a:rPr>
              <a:t>2-ci İl</a:t>
            </a:r>
            <a:endParaRPr b="0" lang="en-US" sz="700" spc="-1" strike="noStrike">
              <a:solidFill>
                <a:srgbClr val="000000"/>
              </a:solidFill>
              <a:latin typeface="Arial"/>
            </a:endParaRPr>
          </a:p>
        </p:txBody>
      </p:sp>
      <p:sp>
        <p:nvSpPr>
          <p:cNvPr id="182" name="Shape 27"/>
          <p:cNvSpPr/>
          <p:nvPr/>
        </p:nvSpPr>
        <p:spPr>
          <a:xfrm>
            <a:off x="2819160" y="2451960"/>
            <a:ext cx="1250280" cy="291240"/>
          </a:xfrm>
          <a:prstGeom prst="roundRect">
            <a:avLst>
              <a:gd name="adj" fmla="val 43925"/>
            </a:avLst>
          </a:prstGeom>
          <a:solidFill>
            <a:srgbClr val="ffffff">
              <a:alpha val="20000"/>
            </a:srgbClr>
          </a:solidFill>
          <a:ln w="7620">
            <a:solidFill>
              <a:srgbClr val="000000"/>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83" name="Image 2" descr="preencoded.png"/>
          <p:cNvPicPr/>
          <p:nvPr/>
        </p:nvPicPr>
        <p:blipFill>
          <a:blip r:embed="rId3"/>
          <a:stretch/>
        </p:blipFill>
        <p:spPr>
          <a:xfrm>
            <a:off x="2955960" y="2516400"/>
            <a:ext cx="233280" cy="161640"/>
          </a:xfrm>
          <a:prstGeom prst="rect">
            <a:avLst/>
          </a:prstGeom>
          <a:ln w="0">
            <a:noFill/>
          </a:ln>
        </p:spPr>
      </p:pic>
      <p:sp>
        <p:nvSpPr>
          <p:cNvPr id="184" name="Text 28"/>
          <p:cNvSpPr/>
          <p:nvPr/>
        </p:nvSpPr>
        <p:spPr>
          <a:xfrm>
            <a:off x="3267720" y="2492280"/>
            <a:ext cx="665640" cy="210240"/>
          </a:xfrm>
          <a:prstGeom prst="rect">
            <a:avLst/>
          </a:prstGeom>
          <a:noFill/>
          <a:ln w="0">
            <a:noFill/>
          </a:ln>
        </p:spPr>
        <p:style>
          <a:lnRef idx="0"/>
          <a:fillRef idx="0"/>
          <a:effectRef idx="0"/>
          <a:fontRef idx="minor"/>
        </p:style>
        <p:txBody>
          <a:bodyPr wrap="none" lIns="0" rIns="0" tIns="0" bIns="0" anchor="t">
            <a:noAutofit/>
          </a:bodyPr>
          <a:p>
            <a:pPr>
              <a:lnSpc>
                <a:spcPts val="901"/>
              </a:lnSpc>
              <a:tabLst>
                <a:tab algn="l" pos="0"/>
              </a:tabLst>
            </a:pPr>
            <a:r>
              <a:rPr b="0" lang="en-US" sz="700" spc="-1" strike="noStrike">
                <a:solidFill>
                  <a:srgbClr val="e2e6e9"/>
                </a:solidFill>
                <a:latin typeface="-apple-system, BlinkMacSystemFont, Segoe UI, Roboto, Helvetica Neue, Arial, sans-serif Medium"/>
                <a:ea typeface="-apple-system, BlinkMacSystemFont, Segoe UI, Roboto, Helvetica Neue, Arial, sans-serif Medium"/>
              </a:rPr>
              <a:t>3-cü İl</a:t>
            </a:r>
            <a:endParaRPr b="0" lang="en-US" sz="700" spc="-1" strike="noStrike">
              <a:solidFill>
                <a:srgbClr val="000000"/>
              </a:solidFill>
              <a:latin typeface="Arial"/>
            </a:endParaRPr>
          </a:p>
        </p:txBody>
      </p:sp>
      <p:pic>
        <p:nvPicPr>
          <p:cNvPr id="185" name="Image 3" descr="preencoded.png"/>
          <p:cNvPicPr/>
          <p:nvPr/>
        </p:nvPicPr>
        <p:blipFill>
          <a:blip r:embed="rId4"/>
          <a:stretch/>
        </p:blipFill>
        <p:spPr>
          <a:xfrm>
            <a:off x="174600" y="2743200"/>
            <a:ext cx="14227200" cy="525780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6" name="Image 0" descr="preencoded.png"/>
          <p:cNvPicPr/>
          <p:nvPr/>
        </p:nvPicPr>
        <p:blipFill>
          <a:blip r:embed="rId1"/>
          <a:stretch/>
        </p:blipFill>
        <p:spPr>
          <a:xfrm>
            <a:off x="9144000" y="0"/>
            <a:ext cx="5486040" cy="8229240"/>
          </a:xfrm>
          <a:prstGeom prst="rect">
            <a:avLst/>
          </a:prstGeom>
          <a:ln w="0">
            <a:noFill/>
          </a:ln>
        </p:spPr>
      </p:pic>
      <p:sp>
        <p:nvSpPr>
          <p:cNvPr id="187" name="Text 0"/>
          <p:cNvSpPr/>
          <p:nvPr/>
        </p:nvSpPr>
        <p:spPr>
          <a:xfrm>
            <a:off x="863640" y="869040"/>
            <a:ext cx="581868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Case-Study Müzakirəsi</a:t>
            </a:r>
            <a:endParaRPr b="0" lang="en-US" sz="3850" spc="-1" strike="noStrike">
              <a:solidFill>
                <a:srgbClr val="000000"/>
              </a:solidFill>
              <a:latin typeface="Arial"/>
            </a:endParaRPr>
          </a:p>
        </p:txBody>
      </p:sp>
      <p:sp>
        <p:nvSpPr>
          <p:cNvPr id="188" name="Text 1"/>
          <p:cNvSpPr/>
          <p:nvPr/>
        </p:nvSpPr>
        <p:spPr>
          <a:xfrm>
            <a:off x="863640" y="1806480"/>
            <a:ext cx="741600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Real nümunələr nəzəriyyəni həyata keçirir. Uğurlu və uğursuz tətbiqlər eyni dərəcədə dəyərli dərslər verir.</a:t>
            </a:r>
            <a:endParaRPr b="0" lang="en-US" sz="1700" spc="-1" strike="noStrike">
              <a:solidFill>
                <a:srgbClr val="000000"/>
              </a:solidFill>
              <a:latin typeface="Arial"/>
            </a:endParaRPr>
          </a:p>
        </p:txBody>
      </p:sp>
      <p:sp>
        <p:nvSpPr>
          <p:cNvPr id="189" name="Shape 2"/>
          <p:cNvSpPr/>
          <p:nvPr/>
        </p:nvSpPr>
        <p:spPr>
          <a:xfrm>
            <a:off x="708120" y="2697120"/>
            <a:ext cx="3755520" cy="3200040"/>
          </a:xfrm>
          <a:prstGeom prst="roundRect">
            <a:avLst>
              <a:gd name="adj" fmla="val 1012"/>
            </a:avLst>
          </a:prstGeom>
          <a:solidFill>
            <a:srgbClr val="1d1f2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90" name="Text 3"/>
          <p:cNvSpPr/>
          <p:nvPr/>
        </p:nvSpPr>
        <p:spPr>
          <a:xfrm>
            <a:off x="924120" y="29131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ffffff"/>
                </a:solidFill>
                <a:latin typeface="Montserrat Bold"/>
                <a:ea typeface="Montserrat Bold"/>
              </a:rPr>
              <a:t> </a:t>
            </a:r>
            <a:r>
              <a:rPr b="1" lang="en-US" sz="1900" spc="-1" strike="noStrike">
                <a:solidFill>
                  <a:srgbClr val="ffffff"/>
                </a:solidFill>
                <a:latin typeface="Montserrat Bold"/>
                <a:ea typeface="Montserrat Bold"/>
              </a:rPr>
              <a:t>Uğurlu Nümunə</a:t>
            </a:r>
            <a:endParaRPr b="0" lang="en-US" sz="1900" spc="-1" strike="noStrike">
              <a:solidFill>
                <a:srgbClr val="000000"/>
              </a:solidFill>
              <a:latin typeface="Arial"/>
            </a:endParaRPr>
          </a:p>
        </p:txBody>
      </p:sp>
      <p:sp>
        <p:nvSpPr>
          <p:cNvPr id="191" name="Text 4"/>
          <p:cNvSpPr/>
          <p:nvPr/>
        </p:nvSpPr>
        <p:spPr>
          <a:xfrm>
            <a:off x="924120" y="3435840"/>
            <a:ext cx="3323880" cy="1943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Amazon</a:t>
            </a:r>
            <a:r>
              <a:rPr b="0" lang="en-US" sz="1700" spc="-1" strike="noStrike">
                <a:solidFill>
                  <a:srgbClr val="e2e6e9"/>
                </a:solidFill>
                <a:latin typeface="Source Sans 3"/>
                <a:ea typeface="Source Sans 3"/>
              </a:rPr>
              <a:t> — Təchizat zəncirinin idarəsində SI tətbiqi. Tələb proqnozlaması ilə anbar xərclərini 25% azaltdı. </a:t>
            </a:r>
            <a:r>
              <a:rPr b="1" lang="en-US" sz="1700" spc="-1" strike="noStrike">
                <a:solidFill>
                  <a:srgbClr val="e2e6e9"/>
                </a:solidFill>
                <a:latin typeface="Source Sans 3"/>
                <a:ea typeface="Source Sans 3"/>
              </a:rPr>
              <a:t>Uğur amili:</a:t>
            </a:r>
            <a:r>
              <a:rPr b="0" lang="en-US" sz="1700" spc="-1" strike="noStrike">
                <a:solidFill>
                  <a:srgbClr val="e2e6e9"/>
                </a:solidFill>
                <a:latin typeface="Source Sans 3"/>
                <a:ea typeface="Source Sans 3"/>
              </a:rPr>
              <a:t> Güclü məlumat infrastrukturu, aydın KPI-lər və rəhbərliyin tam dəstəyi.</a:t>
            </a:r>
            <a:endParaRPr b="0" lang="en-US" sz="1700" spc="-1" strike="noStrike">
              <a:solidFill>
                <a:srgbClr val="000000"/>
              </a:solidFill>
              <a:latin typeface="Arial"/>
            </a:endParaRPr>
          </a:p>
        </p:txBody>
      </p:sp>
      <p:sp>
        <p:nvSpPr>
          <p:cNvPr id="192" name="Text 5"/>
          <p:cNvSpPr/>
          <p:nvPr/>
        </p:nvSpPr>
        <p:spPr>
          <a:xfrm>
            <a:off x="4843080" y="2913120"/>
            <a:ext cx="263268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ffffff"/>
                </a:solidFill>
                <a:latin typeface="Montserrat Bold"/>
                <a:ea typeface="Montserrat Bold"/>
              </a:rPr>
              <a:t> </a:t>
            </a:r>
            <a:r>
              <a:rPr b="1" lang="en-US" sz="1900" spc="-1" strike="noStrike">
                <a:solidFill>
                  <a:srgbClr val="ffffff"/>
                </a:solidFill>
                <a:latin typeface="Montserrat Bold"/>
                <a:ea typeface="Montserrat Bold"/>
              </a:rPr>
              <a:t>Uğursuz Nümunə</a:t>
            </a:r>
            <a:endParaRPr b="0" lang="en-US" sz="1900" spc="-1" strike="noStrike">
              <a:solidFill>
                <a:srgbClr val="000000"/>
              </a:solidFill>
              <a:latin typeface="Arial"/>
            </a:endParaRPr>
          </a:p>
        </p:txBody>
      </p:sp>
      <p:sp>
        <p:nvSpPr>
          <p:cNvPr id="193" name="Text 6"/>
          <p:cNvSpPr/>
          <p:nvPr/>
        </p:nvSpPr>
        <p:spPr>
          <a:xfrm>
            <a:off x="4843080" y="3435840"/>
            <a:ext cx="3444480" cy="226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IBM Watson Health</a:t>
            </a:r>
            <a:r>
              <a:rPr b="0" lang="en-US" sz="1700" spc="-1" strike="noStrike">
                <a:solidFill>
                  <a:srgbClr val="e2e6e9"/>
                </a:solidFill>
                <a:latin typeface="Source Sans 3"/>
                <a:ea typeface="Source Sans 3"/>
              </a:rPr>
              <a:t> — Xərçəng diaqnostikası layihəsi. Keyfiyyətsiz tibbi məlumatlar və həkim cəlb olunmaması layihənin bağlanmasına gətirib çıxardı. </a:t>
            </a:r>
            <a:r>
              <a:rPr b="1" lang="en-US" sz="1700" spc="-1" strike="noStrike">
                <a:solidFill>
                  <a:srgbClr val="e2e6e9"/>
                </a:solidFill>
                <a:latin typeface="Source Sans 3"/>
                <a:ea typeface="Source Sans 3"/>
              </a:rPr>
              <a:t>Dərs:</a:t>
            </a:r>
            <a:r>
              <a:rPr b="0" lang="en-US" sz="1700" spc="-1" strike="noStrike">
                <a:solidFill>
                  <a:srgbClr val="e2e6e9"/>
                </a:solidFill>
                <a:latin typeface="Source Sans 3"/>
                <a:ea typeface="Source Sans 3"/>
              </a:rPr>
              <a:t> Texnologiya problemin özü deyil, həllinin bir hissəsidir.</a:t>
            </a:r>
            <a:endParaRPr b="0" lang="en-US" sz="1700" spc="-1" strike="noStrike">
              <a:solidFill>
                <a:srgbClr val="000000"/>
              </a:solidFill>
              <a:latin typeface="Arial"/>
            </a:endParaRPr>
          </a:p>
        </p:txBody>
      </p:sp>
      <p:sp>
        <p:nvSpPr>
          <p:cNvPr id="194" name="Shape 7"/>
          <p:cNvSpPr/>
          <p:nvPr/>
        </p:nvSpPr>
        <p:spPr>
          <a:xfrm>
            <a:off x="863640" y="6140520"/>
            <a:ext cx="7416000" cy="1219680"/>
          </a:xfrm>
          <a:prstGeom prst="roundRect">
            <a:avLst>
              <a:gd name="adj" fmla="val 2656"/>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95" name="Image 1" descr="preencoded.png"/>
          <p:cNvPicPr/>
          <p:nvPr/>
        </p:nvPicPr>
        <p:blipFill>
          <a:blip r:embed="rId2"/>
          <a:stretch/>
        </p:blipFill>
        <p:spPr>
          <a:xfrm>
            <a:off x="1079640" y="6450120"/>
            <a:ext cx="269640" cy="215640"/>
          </a:xfrm>
          <a:prstGeom prst="rect">
            <a:avLst/>
          </a:prstGeom>
          <a:ln w="0">
            <a:noFill/>
          </a:ln>
        </p:spPr>
      </p:pic>
      <p:sp>
        <p:nvSpPr>
          <p:cNvPr id="196" name="Text 8"/>
          <p:cNvSpPr/>
          <p:nvPr/>
        </p:nvSpPr>
        <p:spPr>
          <a:xfrm>
            <a:off x="1565280" y="6410520"/>
            <a:ext cx="649872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ffffff"/>
                </a:solidFill>
                <a:latin typeface="Source Sans 3"/>
                <a:ea typeface="Source Sans 3"/>
              </a:rPr>
              <a:t>Müzakirə sualı:</a:t>
            </a:r>
            <a:r>
              <a:rPr b="0" lang="en-US" sz="1700" spc="-1" strike="noStrike">
                <a:solidFill>
                  <a:srgbClr val="ffffff"/>
                </a:solidFill>
                <a:latin typeface="Source Sans 3"/>
                <a:ea typeface="Source Sans 3"/>
              </a:rPr>
              <a:t> Sizin təşkilatınızda hansı şöbə SI tətbiqi üçün ən hazır görünür? Niyə?</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Text 0"/>
          <p:cNvSpPr/>
          <p:nvPr/>
        </p:nvSpPr>
        <p:spPr>
          <a:xfrm>
            <a:off x="863640" y="1085040"/>
            <a:ext cx="490824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Ev Tapşırığı</a:t>
            </a:r>
            <a:endParaRPr b="0" lang="en-US" sz="3850" spc="-1" strike="noStrike">
              <a:solidFill>
                <a:srgbClr val="000000"/>
              </a:solidFill>
              <a:latin typeface="Arial"/>
            </a:endParaRPr>
          </a:p>
        </p:txBody>
      </p:sp>
      <p:sp>
        <p:nvSpPr>
          <p:cNvPr id="198" name="Text 1"/>
          <p:cNvSpPr/>
          <p:nvPr/>
        </p:nvSpPr>
        <p:spPr>
          <a:xfrm>
            <a:off x="1187640" y="2373120"/>
            <a:ext cx="1257876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Şirkətiniz üçün SI tətbiq planının ilkin layihəsini hazırlayın.</a:t>
            </a:r>
            <a:endParaRPr b="0" lang="en-US" sz="1700" spc="-1" strike="noStrike">
              <a:solidFill>
                <a:srgbClr val="000000"/>
              </a:solidFill>
              <a:latin typeface="Arial"/>
            </a:endParaRPr>
          </a:p>
        </p:txBody>
      </p:sp>
      <p:sp>
        <p:nvSpPr>
          <p:cNvPr id="199" name="Shape 2"/>
          <p:cNvSpPr/>
          <p:nvPr/>
        </p:nvSpPr>
        <p:spPr>
          <a:xfrm>
            <a:off x="863640" y="2130480"/>
            <a:ext cx="30240" cy="80928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200" name="Text 3"/>
          <p:cNvSpPr/>
          <p:nvPr/>
        </p:nvSpPr>
        <p:spPr>
          <a:xfrm>
            <a:off x="863640" y="3003120"/>
            <a:ext cx="129024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Bu tapşırıq dərsdə əldə etdiyiniz bilikləri real bir kontekstə tətbiq etmək üçün əla fürsətdir. </a:t>
            </a:r>
            <a:endParaRPr b="0" lang="en-US" sz="1700" spc="-1" strike="noStrike">
              <a:solidFill>
                <a:srgbClr val="000000"/>
              </a:solidFill>
              <a:latin typeface="Arial"/>
            </a:endParaRPr>
          </a:p>
          <a:p>
            <a:pPr>
              <a:lnSpc>
                <a:spcPts val="2551"/>
              </a:lnSpc>
              <a:tabLst>
                <a:tab algn="l" pos="0"/>
              </a:tabLst>
            </a:pPr>
            <a:r>
              <a:rPr b="0" lang="en-US" sz="1700" spc="-1" strike="noStrike">
                <a:solidFill>
                  <a:srgbClr val="e2e6e9"/>
                </a:solidFill>
                <a:latin typeface="Source Sans 3"/>
                <a:ea typeface="Source Sans 3"/>
              </a:rPr>
              <a:t>Planınız aşağıdakı komponentləri əhatə etməlidir:</a:t>
            </a:r>
            <a:endParaRPr b="0" lang="en-US" sz="1700" spc="-1" strike="noStrike">
              <a:solidFill>
                <a:srgbClr val="000000"/>
              </a:solidFill>
              <a:latin typeface="Arial"/>
            </a:endParaRPr>
          </a:p>
        </p:txBody>
      </p:sp>
      <p:sp>
        <p:nvSpPr>
          <p:cNvPr id="201" name="Text 4"/>
          <p:cNvSpPr/>
          <p:nvPr/>
        </p:nvSpPr>
        <p:spPr>
          <a:xfrm>
            <a:off x="863640" y="374976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01</a:t>
            </a:r>
            <a:endParaRPr b="0" lang="en-US" sz="1700" spc="-1" strike="noStrike">
              <a:solidFill>
                <a:srgbClr val="000000"/>
              </a:solidFill>
              <a:latin typeface="Arial"/>
            </a:endParaRPr>
          </a:p>
        </p:txBody>
      </p:sp>
      <p:sp>
        <p:nvSpPr>
          <p:cNvPr id="202" name="Shape 5"/>
          <p:cNvSpPr/>
          <p:nvPr/>
        </p:nvSpPr>
        <p:spPr>
          <a:xfrm>
            <a:off x="863640" y="4086360"/>
            <a:ext cx="415656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203" name="Text 6"/>
          <p:cNvSpPr/>
          <p:nvPr/>
        </p:nvSpPr>
        <p:spPr>
          <a:xfrm>
            <a:off x="863640" y="425520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Problem Bəyanı</a:t>
            </a:r>
            <a:endParaRPr b="0" lang="en-US" sz="1900" spc="-1" strike="noStrike">
              <a:solidFill>
                <a:srgbClr val="000000"/>
              </a:solidFill>
              <a:latin typeface="Arial"/>
            </a:endParaRPr>
          </a:p>
        </p:txBody>
      </p:sp>
      <p:sp>
        <p:nvSpPr>
          <p:cNvPr id="204" name="Text 7"/>
          <p:cNvSpPr/>
          <p:nvPr/>
        </p:nvSpPr>
        <p:spPr>
          <a:xfrm>
            <a:off x="863640" y="4691520"/>
            <a:ext cx="415656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Həll etmək istədiyiniz biznes problemini aydın şəkildə müəyyən edin.</a:t>
            </a:r>
            <a:endParaRPr b="0" lang="en-US" sz="1700" spc="-1" strike="noStrike">
              <a:solidFill>
                <a:srgbClr val="000000"/>
              </a:solidFill>
              <a:latin typeface="Arial"/>
            </a:endParaRPr>
          </a:p>
        </p:txBody>
      </p:sp>
      <p:sp>
        <p:nvSpPr>
          <p:cNvPr id="205" name="Text 8"/>
          <p:cNvSpPr/>
          <p:nvPr/>
        </p:nvSpPr>
        <p:spPr>
          <a:xfrm>
            <a:off x="5236560" y="374976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02</a:t>
            </a:r>
            <a:endParaRPr b="0" lang="en-US" sz="1700" spc="-1" strike="noStrike">
              <a:solidFill>
                <a:srgbClr val="000000"/>
              </a:solidFill>
              <a:latin typeface="Arial"/>
            </a:endParaRPr>
          </a:p>
        </p:txBody>
      </p:sp>
      <p:sp>
        <p:nvSpPr>
          <p:cNvPr id="206" name="Shape 9"/>
          <p:cNvSpPr/>
          <p:nvPr/>
        </p:nvSpPr>
        <p:spPr>
          <a:xfrm>
            <a:off x="5236560" y="4086360"/>
            <a:ext cx="415656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207" name="Text 10"/>
          <p:cNvSpPr/>
          <p:nvPr/>
        </p:nvSpPr>
        <p:spPr>
          <a:xfrm>
            <a:off x="5236560" y="4255200"/>
            <a:ext cx="352728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Məlumat Qiymətləndirməsi</a:t>
            </a:r>
            <a:endParaRPr b="0" lang="en-US" sz="1900" spc="-1" strike="noStrike">
              <a:solidFill>
                <a:srgbClr val="000000"/>
              </a:solidFill>
              <a:latin typeface="Arial"/>
            </a:endParaRPr>
          </a:p>
        </p:txBody>
      </p:sp>
      <p:sp>
        <p:nvSpPr>
          <p:cNvPr id="208" name="Text 11"/>
          <p:cNvSpPr/>
          <p:nvPr/>
        </p:nvSpPr>
        <p:spPr>
          <a:xfrm>
            <a:off x="5236560" y="4691520"/>
            <a:ext cx="415656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Hansı məlumatların mövcud olduğunu, hansıların çatışmadığını təsvir edin.</a:t>
            </a:r>
            <a:endParaRPr b="0" lang="en-US" sz="1700" spc="-1" strike="noStrike">
              <a:solidFill>
                <a:srgbClr val="000000"/>
              </a:solidFill>
              <a:latin typeface="Arial"/>
            </a:endParaRPr>
          </a:p>
        </p:txBody>
      </p:sp>
      <p:sp>
        <p:nvSpPr>
          <p:cNvPr id="209" name="Text 12"/>
          <p:cNvSpPr/>
          <p:nvPr/>
        </p:nvSpPr>
        <p:spPr>
          <a:xfrm>
            <a:off x="9609480" y="374976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03</a:t>
            </a:r>
            <a:endParaRPr b="0" lang="en-US" sz="1700" spc="-1" strike="noStrike">
              <a:solidFill>
                <a:srgbClr val="000000"/>
              </a:solidFill>
              <a:latin typeface="Arial"/>
            </a:endParaRPr>
          </a:p>
        </p:txBody>
      </p:sp>
      <p:sp>
        <p:nvSpPr>
          <p:cNvPr id="210" name="Shape 13"/>
          <p:cNvSpPr/>
          <p:nvPr/>
        </p:nvSpPr>
        <p:spPr>
          <a:xfrm>
            <a:off x="9609480" y="4086360"/>
            <a:ext cx="415656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211" name="Text 14"/>
          <p:cNvSpPr/>
          <p:nvPr/>
        </p:nvSpPr>
        <p:spPr>
          <a:xfrm>
            <a:off x="9609480" y="425520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Tətbiq Strategiyası</a:t>
            </a:r>
            <a:endParaRPr b="0" lang="en-US" sz="1900" spc="-1" strike="noStrike">
              <a:solidFill>
                <a:srgbClr val="000000"/>
              </a:solidFill>
              <a:latin typeface="Arial"/>
            </a:endParaRPr>
          </a:p>
        </p:txBody>
      </p:sp>
      <p:sp>
        <p:nvSpPr>
          <p:cNvPr id="212" name="Text 15"/>
          <p:cNvSpPr/>
          <p:nvPr/>
        </p:nvSpPr>
        <p:spPr>
          <a:xfrm>
            <a:off x="9609480" y="4691520"/>
            <a:ext cx="415656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Pilot, mərhələli və ya tam miqyaslı — hansını seçirsiniz və niyə?</a:t>
            </a:r>
            <a:endParaRPr b="0" lang="en-US" sz="1700" spc="-1" strike="noStrike">
              <a:solidFill>
                <a:srgbClr val="000000"/>
              </a:solidFill>
              <a:latin typeface="Arial"/>
            </a:endParaRPr>
          </a:p>
        </p:txBody>
      </p:sp>
      <p:sp>
        <p:nvSpPr>
          <p:cNvPr id="213" name="Text 16"/>
          <p:cNvSpPr/>
          <p:nvPr/>
        </p:nvSpPr>
        <p:spPr>
          <a:xfrm>
            <a:off x="863640" y="571716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04</a:t>
            </a:r>
            <a:endParaRPr b="0" lang="en-US" sz="1700" spc="-1" strike="noStrike">
              <a:solidFill>
                <a:srgbClr val="000000"/>
              </a:solidFill>
              <a:latin typeface="Arial"/>
            </a:endParaRPr>
          </a:p>
        </p:txBody>
      </p:sp>
      <p:sp>
        <p:nvSpPr>
          <p:cNvPr id="214" name="Shape 17"/>
          <p:cNvSpPr/>
          <p:nvPr/>
        </p:nvSpPr>
        <p:spPr>
          <a:xfrm>
            <a:off x="863640" y="6053760"/>
            <a:ext cx="634320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215" name="Text 18"/>
          <p:cNvSpPr/>
          <p:nvPr/>
        </p:nvSpPr>
        <p:spPr>
          <a:xfrm>
            <a:off x="863640" y="622260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Uğur Meyarları</a:t>
            </a:r>
            <a:endParaRPr b="0" lang="en-US" sz="1900" spc="-1" strike="noStrike">
              <a:solidFill>
                <a:srgbClr val="000000"/>
              </a:solidFill>
              <a:latin typeface="Arial"/>
            </a:endParaRPr>
          </a:p>
        </p:txBody>
      </p:sp>
      <p:sp>
        <p:nvSpPr>
          <p:cNvPr id="216" name="Text 19"/>
          <p:cNvSpPr/>
          <p:nvPr/>
        </p:nvSpPr>
        <p:spPr>
          <a:xfrm>
            <a:off x="863640" y="6658560"/>
            <a:ext cx="63432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Hansı KPI-lar layihənin uğurunu ölçəcək? Realist hədəflər qoyun.</a:t>
            </a:r>
            <a:endParaRPr b="0" lang="en-US" sz="1700" spc="-1" strike="noStrike">
              <a:solidFill>
                <a:srgbClr val="000000"/>
              </a:solidFill>
              <a:latin typeface="Arial"/>
            </a:endParaRPr>
          </a:p>
        </p:txBody>
      </p:sp>
      <p:sp>
        <p:nvSpPr>
          <p:cNvPr id="217" name="Text 20"/>
          <p:cNvSpPr/>
          <p:nvPr/>
        </p:nvSpPr>
        <p:spPr>
          <a:xfrm>
            <a:off x="7423200" y="571716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05</a:t>
            </a:r>
            <a:endParaRPr b="0" lang="en-US" sz="1700" spc="-1" strike="noStrike">
              <a:solidFill>
                <a:srgbClr val="000000"/>
              </a:solidFill>
              <a:latin typeface="Arial"/>
            </a:endParaRPr>
          </a:p>
        </p:txBody>
      </p:sp>
      <p:sp>
        <p:nvSpPr>
          <p:cNvPr id="218" name="Shape 21"/>
          <p:cNvSpPr/>
          <p:nvPr/>
        </p:nvSpPr>
        <p:spPr>
          <a:xfrm>
            <a:off x="7423200" y="6053760"/>
            <a:ext cx="634320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219" name="Text 22"/>
          <p:cNvSpPr/>
          <p:nvPr/>
        </p:nvSpPr>
        <p:spPr>
          <a:xfrm>
            <a:off x="7423200" y="622260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Risk Analizi</a:t>
            </a:r>
            <a:endParaRPr b="0" lang="en-US" sz="1900" spc="-1" strike="noStrike">
              <a:solidFill>
                <a:srgbClr val="000000"/>
              </a:solidFill>
              <a:latin typeface="Arial"/>
            </a:endParaRPr>
          </a:p>
        </p:txBody>
      </p:sp>
      <p:sp>
        <p:nvSpPr>
          <p:cNvPr id="220" name="Text 23"/>
          <p:cNvSpPr/>
          <p:nvPr/>
        </p:nvSpPr>
        <p:spPr>
          <a:xfrm>
            <a:off x="7423200" y="6658560"/>
            <a:ext cx="63432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Gözlənilən əsas risklər və onlara qarşı tədbirlər nələrdir?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8</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2026-03-13T11:07:36Z</dcterms:created>
  <dc:creator/>
  <dc:description/>
  <dc:language>en-US</dc:language>
  <cp:lastModifiedBy/>
  <dcterms:modified xsi:type="dcterms:W3CDTF">2026-03-25T17:41:04Z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