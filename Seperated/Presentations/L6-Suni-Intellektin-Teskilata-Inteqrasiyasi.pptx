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Montserrat"/>
      <p:regular r:id="rId18"/>
    </p:embeddedFont>
    <p:embeddedFont>
      <p:font typeface="Montserrat"/>
      <p:regular r:id="rId19"/>
    </p:embeddedFont>
    <p:embeddedFont>
      <p:font typeface="Montserrat"/>
      <p:regular r:id="rId20"/>
    </p:embeddedFont>
    <p:embeddedFont>
      <p:font typeface="Montserrat"/>
      <p:regular r:id="rId21"/>
    </p:embeddedFont>
    <p:embeddedFont>
      <p:font typeface="Source Sans 3"/>
      <p:regular r:id="rId22"/>
    </p:embeddedFont>
    <p:embeddedFont>
      <p:font typeface="Source Sans 3"/>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slideLayout" Target="../slideLayouts/slideLayout8.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9.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198" y="2861548"/>
            <a:ext cx="7416403" cy="1227058"/>
          </a:xfrm>
          <a:prstGeom prst="rect">
            <a:avLst/>
          </a:prstGeom>
          <a:noFill/>
          <a:ln/>
        </p:spPr>
        <p:txBody>
          <a:bodyPr wrap="square" lIns="0" tIns="0" rIns="0" bIns="0" rtlCol="0" anchor="t"/>
          <a:lstStyle/>
          <a:p>
            <a:pPr algn="l" indent="0" marL="0">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Süni İntellektin Təşkilata İnteqrasiyası</a:t>
            </a:r>
            <a:endParaRPr lang="en-US" sz="3850" dirty="0"/>
          </a:p>
        </p:txBody>
      </p:sp>
      <p:sp>
        <p:nvSpPr>
          <p:cNvPr id="4" name="Text 1"/>
          <p:cNvSpPr/>
          <p:nvPr/>
        </p:nvSpPr>
        <p:spPr>
          <a:xfrm>
            <a:off x="6350198" y="4412456"/>
            <a:ext cx="7416403" cy="323969"/>
          </a:xfrm>
          <a:prstGeom prst="rect">
            <a:avLst/>
          </a:prstGeom>
          <a:noFill/>
          <a:ln/>
        </p:spPr>
        <p:txBody>
          <a:bodyPr wrap="non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Düzgün strategiya, effektiv tətbiq və davamlı transformasiya üçün praktiki bələdçi</a:t>
            </a:r>
            <a:endParaRPr lang="en-US" sz="1700" dirty="0"/>
          </a:p>
        </p:txBody>
      </p:sp>
      <p:sp>
        <p:nvSpPr>
          <p:cNvPr id="5" name="Shape 2"/>
          <p:cNvSpPr/>
          <p:nvPr/>
        </p:nvSpPr>
        <p:spPr>
          <a:xfrm>
            <a:off x="6350198" y="4979313"/>
            <a:ext cx="1978581" cy="388620"/>
          </a:xfrm>
          <a:prstGeom prst="roundRect">
            <a:avLst>
              <a:gd name="adj" fmla="val 6669"/>
            </a:avLst>
          </a:prstGeom>
          <a:solidFill>
            <a:srgbClr val="262626"/>
          </a:solidFill>
          <a:ln/>
        </p:spPr>
      </p:sp>
      <p:sp>
        <p:nvSpPr>
          <p:cNvPr id="6" name="Text 3"/>
          <p:cNvSpPr/>
          <p:nvPr/>
        </p:nvSpPr>
        <p:spPr>
          <a:xfrm>
            <a:off x="6479738" y="5044083"/>
            <a:ext cx="1719501" cy="259080"/>
          </a:xfrm>
          <a:prstGeom prst="rect">
            <a:avLst/>
          </a:prstGeom>
          <a:noFill/>
          <a:ln/>
        </p:spPr>
        <p:txBody>
          <a:bodyPr wrap="none" lIns="0" tIns="0" rIns="0" bIns="0" rtlCol="0" anchor="t"/>
          <a:lstStyle/>
          <a:p>
            <a:pPr algn="l" indent="0" marL="0">
              <a:lnSpc>
                <a:spcPts val="2000"/>
              </a:lnSpc>
              <a:buNone/>
            </a:pPr>
            <a:r>
              <a:rPr lang="en-US" sz="1350" dirty="0">
                <a:solidFill>
                  <a:srgbClr val="E2E6E9"/>
                </a:solidFill>
                <a:latin typeface="Source Sans 3" pitchFamily="34" charset="0"/>
                <a:ea typeface="Source Sans 3" pitchFamily="34" charset="-122"/>
                <a:cs typeface="Source Sans 3" pitchFamily="34" charset="-120"/>
              </a:rPr>
              <a:t>PEŞƏKAR TƏLIM KURSU</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69117" y="807839"/>
            <a:ext cx="4447342" cy="555784"/>
          </a:xfrm>
          <a:prstGeom prst="rect">
            <a:avLst/>
          </a:prstGeom>
          <a:noFill/>
          <a:ln/>
        </p:spPr>
        <p:txBody>
          <a:bodyPr wrap="none" lIns="0" tIns="0" rIns="0" bIns="0" rtlCol="0" anchor="t"/>
          <a:lstStyle/>
          <a:p>
            <a:pPr algn="l" indent="0" marL="0">
              <a:lnSpc>
                <a:spcPts val="4350"/>
              </a:lnSpc>
              <a:buNone/>
            </a:pPr>
            <a:r>
              <a:rPr lang="en-US" sz="3500" b="1" dirty="0">
                <a:solidFill>
                  <a:srgbClr val="FFFFFF"/>
                </a:solidFill>
                <a:latin typeface="Montserrat Bold" pitchFamily="34" charset="0"/>
                <a:ea typeface="Montserrat Bold" pitchFamily="34" charset="-122"/>
                <a:cs typeface="Montserrat Bold" pitchFamily="34" charset="-120"/>
              </a:rPr>
              <a:t>Dərsin Məqsədləri</a:t>
            </a:r>
            <a:endParaRPr lang="en-US" sz="3500" dirty="0"/>
          </a:p>
        </p:txBody>
      </p:sp>
      <p:sp>
        <p:nvSpPr>
          <p:cNvPr id="4" name="Text 1"/>
          <p:cNvSpPr/>
          <p:nvPr/>
        </p:nvSpPr>
        <p:spPr>
          <a:xfrm>
            <a:off x="6269117" y="1629489"/>
            <a:ext cx="7578566" cy="839391"/>
          </a:xfrm>
          <a:prstGeom prst="rect">
            <a:avLst/>
          </a:prstGeom>
          <a:noFill/>
          <a:ln/>
        </p:spPr>
        <p:txBody>
          <a:bodyPr wrap="square" lIns="0" tIns="0" rIns="0" bIns="0" rtlCol="0" anchor="t"/>
          <a:lstStyle/>
          <a:p>
            <a:pPr algn="l" indent="0" marL="0">
              <a:lnSpc>
                <a:spcPts val="2200"/>
              </a:lnSpc>
              <a:buNone/>
            </a:pPr>
            <a:r>
              <a:rPr lang="en-US" sz="1500" dirty="0">
                <a:solidFill>
                  <a:srgbClr val="E2E6E9"/>
                </a:solidFill>
                <a:latin typeface="Source Sans 3" pitchFamily="34" charset="0"/>
                <a:ea typeface="Source Sans 3" pitchFamily="34" charset="-122"/>
                <a:cs typeface="Source Sans 3" pitchFamily="34" charset="-120"/>
              </a:rPr>
              <a:t>Bu dərsdə biz süni intellekti təşkilata necə düzgün, effektiv və davamlı şəkildə inteqrasiya etməyi ətraflı müzakirə edəcəyik. Məqsədimiz nəzəriyyəni praktiki addımlarla birləşdirərək real iş mühitinə tətbiq edilə bilən bilik və bacarıqlar formalaşdırmaqdır.</a:t>
            </a:r>
            <a:endParaRPr lang="en-US" sz="1500" dirty="0"/>
          </a:p>
        </p:txBody>
      </p:sp>
      <p:sp>
        <p:nvSpPr>
          <p:cNvPr id="5" name="Shape 2"/>
          <p:cNvSpPr/>
          <p:nvPr/>
        </p:nvSpPr>
        <p:spPr>
          <a:xfrm>
            <a:off x="6269117" y="2668310"/>
            <a:ext cx="7578566" cy="1055370"/>
          </a:xfrm>
          <a:prstGeom prst="roundRect">
            <a:avLst>
              <a:gd name="adj" fmla="val 2781"/>
            </a:avLst>
          </a:prstGeom>
          <a:solidFill>
            <a:srgbClr val="303132"/>
          </a:solidFill>
          <a:ln/>
        </p:spPr>
      </p:sp>
      <p:sp>
        <p:nvSpPr>
          <p:cNvPr id="6" name="Text 3"/>
          <p:cNvSpPr/>
          <p:nvPr/>
        </p:nvSpPr>
        <p:spPr>
          <a:xfrm>
            <a:off x="6464737" y="2863929"/>
            <a:ext cx="2223611" cy="278011"/>
          </a:xfrm>
          <a:prstGeom prst="rect">
            <a:avLst/>
          </a:prstGeom>
          <a:noFill/>
          <a:ln/>
        </p:spPr>
        <p:txBody>
          <a:bodyPr wrap="none" lIns="0" tIns="0" rIns="0" bIns="0" rtlCol="0" anchor="t"/>
          <a:lstStyle/>
          <a:p>
            <a:pPr algn="l" indent="0" marL="0">
              <a:lnSpc>
                <a:spcPts val="2150"/>
              </a:lnSpc>
              <a:buNone/>
            </a:pPr>
            <a:r>
              <a:rPr lang="en-US" sz="1750" b="1" dirty="0">
                <a:solidFill>
                  <a:srgbClr val="000000"/>
                </a:solidFill>
                <a:latin typeface="Montserrat Bold" pitchFamily="34" charset="0"/>
                <a:ea typeface="Montserrat Bold" pitchFamily="34" charset="-122"/>
                <a:cs typeface="Montserrat Bold" pitchFamily="34" charset="-120"/>
              </a:rPr>
              <a:t>🎯</a:t>
            </a:r>
            <a:pPr algn="l" indent="0" marL="0">
              <a:lnSpc>
                <a:spcPts val="2150"/>
              </a:lnSpc>
              <a:buNone/>
            </a:pPr>
            <a:r>
              <a:rPr lang="en-US" sz="1750" b="1" dirty="0">
                <a:solidFill>
                  <a:srgbClr val="E2E6E9"/>
                </a:solidFill>
                <a:latin typeface="Montserrat Bold" pitchFamily="34" charset="0"/>
                <a:ea typeface="Montserrat Bold" pitchFamily="34" charset="-122"/>
                <a:cs typeface="Montserrat Bold" pitchFamily="34" charset="-120"/>
              </a:rPr>
              <a:t> Strategiya</a:t>
            </a:r>
            <a:endParaRPr lang="en-US" sz="1750" dirty="0"/>
          </a:p>
        </p:txBody>
      </p:sp>
      <p:sp>
        <p:nvSpPr>
          <p:cNvPr id="7" name="Text 4"/>
          <p:cNvSpPr/>
          <p:nvPr/>
        </p:nvSpPr>
        <p:spPr>
          <a:xfrm>
            <a:off x="6464737" y="3248263"/>
            <a:ext cx="7187327" cy="279797"/>
          </a:xfrm>
          <a:prstGeom prst="rect">
            <a:avLst/>
          </a:prstGeom>
          <a:noFill/>
          <a:ln/>
        </p:spPr>
        <p:txBody>
          <a:bodyPr wrap="none" lIns="0" tIns="0" rIns="0" bIns="0" rtlCol="0" anchor="t"/>
          <a:lstStyle/>
          <a:p>
            <a:pPr algn="l" indent="0" marL="0">
              <a:lnSpc>
                <a:spcPts val="2200"/>
              </a:lnSpc>
              <a:buNone/>
            </a:pPr>
            <a:r>
              <a:rPr lang="en-US" sz="1500" dirty="0">
                <a:solidFill>
                  <a:srgbClr val="E2E6E9"/>
                </a:solidFill>
                <a:latin typeface="Source Sans 3" pitchFamily="34" charset="0"/>
                <a:ea typeface="Source Sans 3" pitchFamily="34" charset="-122"/>
                <a:cs typeface="Source Sans 3" pitchFamily="34" charset="-120"/>
              </a:rPr>
              <a:t>SI tətbiq yollarını müəyyən etmək</a:t>
            </a:r>
            <a:endParaRPr lang="en-US" sz="1500" dirty="0"/>
          </a:p>
        </p:txBody>
      </p:sp>
      <p:sp>
        <p:nvSpPr>
          <p:cNvPr id="8" name="Shape 5"/>
          <p:cNvSpPr/>
          <p:nvPr/>
        </p:nvSpPr>
        <p:spPr>
          <a:xfrm>
            <a:off x="6269117" y="3900964"/>
            <a:ext cx="7578566" cy="1055370"/>
          </a:xfrm>
          <a:prstGeom prst="roundRect">
            <a:avLst>
              <a:gd name="adj" fmla="val 2781"/>
            </a:avLst>
          </a:prstGeom>
          <a:solidFill>
            <a:srgbClr val="303132"/>
          </a:solidFill>
          <a:ln/>
        </p:spPr>
      </p:sp>
      <p:sp>
        <p:nvSpPr>
          <p:cNvPr id="9" name="Text 6"/>
          <p:cNvSpPr/>
          <p:nvPr/>
        </p:nvSpPr>
        <p:spPr>
          <a:xfrm>
            <a:off x="6464737" y="4096583"/>
            <a:ext cx="2223611" cy="278011"/>
          </a:xfrm>
          <a:prstGeom prst="rect">
            <a:avLst/>
          </a:prstGeom>
          <a:noFill/>
          <a:ln/>
        </p:spPr>
        <p:txBody>
          <a:bodyPr wrap="none" lIns="0" tIns="0" rIns="0" bIns="0" rtlCol="0" anchor="t"/>
          <a:lstStyle/>
          <a:p>
            <a:pPr algn="l" indent="0" marL="0">
              <a:lnSpc>
                <a:spcPts val="2150"/>
              </a:lnSpc>
              <a:buNone/>
            </a:pPr>
            <a:r>
              <a:rPr lang="en-US" sz="1750" b="1" dirty="0">
                <a:solidFill>
                  <a:srgbClr val="000000"/>
                </a:solidFill>
                <a:latin typeface="Montserrat Bold" pitchFamily="34" charset="0"/>
                <a:ea typeface="Montserrat Bold" pitchFamily="34" charset="-122"/>
                <a:cs typeface="Montserrat Bold" pitchFamily="34" charset="-120"/>
              </a:rPr>
              <a:t>🔄</a:t>
            </a:r>
            <a:pPr algn="l" indent="0" marL="0">
              <a:lnSpc>
                <a:spcPts val="2150"/>
              </a:lnSpc>
              <a:buNone/>
            </a:pPr>
            <a:r>
              <a:rPr lang="en-US" sz="1750" b="1" dirty="0">
                <a:solidFill>
                  <a:srgbClr val="E2E6E9"/>
                </a:solidFill>
                <a:latin typeface="Montserrat Bold" pitchFamily="34" charset="0"/>
                <a:ea typeface="Montserrat Bold" pitchFamily="34" charset="-122"/>
                <a:cs typeface="Montserrat Bold" pitchFamily="34" charset="-120"/>
              </a:rPr>
              <a:t> Proses</a:t>
            </a:r>
            <a:endParaRPr lang="en-US" sz="1750" dirty="0"/>
          </a:p>
        </p:txBody>
      </p:sp>
      <p:sp>
        <p:nvSpPr>
          <p:cNvPr id="10" name="Text 7"/>
          <p:cNvSpPr/>
          <p:nvPr/>
        </p:nvSpPr>
        <p:spPr>
          <a:xfrm>
            <a:off x="6464737" y="4480917"/>
            <a:ext cx="7187327" cy="279797"/>
          </a:xfrm>
          <a:prstGeom prst="rect">
            <a:avLst/>
          </a:prstGeom>
          <a:noFill/>
          <a:ln/>
        </p:spPr>
        <p:txBody>
          <a:bodyPr wrap="none" lIns="0" tIns="0" rIns="0" bIns="0" rtlCol="0" anchor="t"/>
          <a:lstStyle/>
          <a:p>
            <a:pPr algn="l" indent="0" marL="0">
              <a:lnSpc>
                <a:spcPts val="2200"/>
              </a:lnSpc>
              <a:buNone/>
            </a:pPr>
            <a:r>
              <a:rPr lang="en-US" sz="1500" dirty="0">
                <a:solidFill>
                  <a:srgbClr val="E2E6E9"/>
                </a:solidFill>
                <a:latin typeface="Source Sans 3" pitchFamily="34" charset="0"/>
                <a:ea typeface="Source Sans 3" pitchFamily="34" charset="-122"/>
                <a:cs typeface="Source Sans 3" pitchFamily="34" charset="-120"/>
              </a:rPr>
              <a:t>Mərhələli tətbiq addımlarını anlamaq</a:t>
            </a:r>
            <a:endParaRPr lang="en-US" sz="1500" dirty="0"/>
          </a:p>
        </p:txBody>
      </p:sp>
      <p:sp>
        <p:nvSpPr>
          <p:cNvPr id="11" name="Shape 8"/>
          <p:cNvSpPr/>
          <p:nvPr/>
        </p:nvSpPr>
        <p:spPr>
          <a:xfrm>
            <a:off x="6269117" y="5133618"/>
            <a:ext cx="7578566" cy="1055370"/>
          </a:xfrm>
          <a:prstGeom prst="roundRect">
            <a:avLst>
              <a:gd name="adj" fmla="val 2781"/>
            </a:avLst>
          </a:prstGeom>
          <a:solidFill>
            <a:srgbClr val="303132"/>
          </a:solidFill>
          <a:ln/>
        </p:spPr>
      </p:sp>
      <p:sp>
        <p:nvSpPr>
          <p:cNvPr id="12" name="Text 9"/>
          <p:cNvSpPr/>
          <p:nvPr/>
        </p:nvSpPr>
        <p:spPr>
          <a:xfrm>
            <a:off x="6464737" y="5329238"/>
            <a:ext cx="2223611" cy="278011"/>
          </a:xfrm>
          <a:prstGeom prst="rect">
            <a:avLst/>
          </a:prstGeom>
          <a:noFill/>
          <a:ln/>
        </p:spPr>
        <p:txBody>
          <a:bodyPr wrap="none" lIns="0" tIns="0" rIns="0" bIns="0" rtlCol="0" anchor="t"/>
          <a:lstStyle/>
          <a:p>
            <a:pPr algn="l" indent="0" marL="0">
              <a:lnSpc>
                <a:spcPts val="2150"/>
              </a:lnSpc>
              <a:buNone/>
            </a:pPr>
            <a:r>
              <a:rPr lang="en-US" sz="1750" b="1" dirty="0">
                <a:solidFill>
                  <a:srgbClr val="000000"/>
                </a:solidFill>
                <a:latin typeface="Montserrat Bold" pitchFamily="34" charset="0"/>
                <a:ea typeface="Montserrat Bold" pitchFamily="34" charset="-122"/>
                <a:cs typeface="Montserrat Bold" pitchFamily="34" charset="-120"/>
              </a:rPr>
              <a:t>⚠️</a:t>
            </a:r>
            <a:pPr algn="l" indent="0" marL="0">
              <a:lnSpc>
                <a:spcPts val="2150"/>
              </a:lnSpc>
              <a:buNone/>
            </a:pPr>
            <a:r>
              <a:rPr lang="en-US" sz="1750" b="1" dirty="0">
                <a:solidFill>
                  <a:srgbClr val="E2E6E9"/>
                </a:solidFill>
                <a:latin typeface="Montserrat Bold" pitchFamily="34" charset="0"/>
                <a:ea typeface="Montserrat Bold" pitchFamily="34" charset="-122"/>
                <a:cs typeface="Montserrat Bold" pitchFamily="34" charset="-120"/>
              </a:rPr>
              <a:t> Risklər</a:t>
            </a:r>
            <a:endParaRPr lang="en-US" sz="1750" dirty="0"/>
          </a:p>
        </p:txBody>
      </p:sp>
      <p:sp>
        <p:nvSpPr>
          <p:cNvPr id="13" name="Text 10"/>
          <p:cNvSpPr/>
          <p:nvPr/>
        </p:nvSpPr>
        <p:spPr>
          <a:xfrm>
            <a:off x="6464737" y="5713571"/>
            <a:ext cx="7187327" cy="279797"/>
          </a:xfrm>
          <a:prstGeom prst="rect">
            <a:avLst/>
          </a:prstGeom>
          <a:noFill/>
          <a:ln/>
        </p:spPr>
        <p:txBody>
          <a:bodyPr wrap="none" lIns="0" tIns="0" rIns="0" bIns="0" rtlCol="0" anchor="t"/>
          <a:lstStyle/>
          <a:p>
            <a:pPr algn="l" indent="0" marL="0">
              <a:lnSpc>
                <a:spcPts val="2200"/>
              </a:lnSpc>
              <a:buNone/>
            </a:pPr>
            <a:r>
              <a:rPr lang="en-US" sz="1500" dirty="0">
                <a:solidFill>
                  <a:srgbClr val="E2E6E9"/>
                </a:solidFill>
                <a:latin typeface="Source Sans 3" pitchFamily="34" charset="0"/>
                <a:ea typeface="Source Sans 3" pitchFamily="34" charset="-122"/>
                <a:cs typeface="Source Sans 3" pitchFamily="34" charset="-120"/>
              </a:rPr>
              <a:t>Əsas risklər və onların idarəsi</a:t>
            </a:r>
            <a:endParaRPr lang="en-US" sz="1500" dirty="0"/>
          </a:p>
        </p:txBody>
      </p:sp>
      <p:sp>
        <p:nvSpPr>
          <p:cNvPr id="14" name="Shape 11"/>
          <p:cNvSpPr/>
          <p:nvPr/>
        </p:nvSpPr>
        <p:spPr>
          <a:xfrm>
            <a:off x="6269117" y="6366272"/>
            <a:ext cx="7578566" cy="1055370"/>
          </a:xfrm>
          <a:prstGeom prst="roundRect">
            <a:avLst>
              <a:gd name="adj" fmla="val 2781"/>
            </a:avLst>
          </a:prstGeom>
          <a:solidFill>
            <a:srgbClr val="303132"/>
          </a:solidFill>
          <a:ln/>
        </p:spPr>
      </p:sp>
      <p:sp>
        <p:nvSpPr>
          <p:cNvPr id="15" name="Text 12"/>
          <p:cNvSpPr/>
          <p:nvPr/>
        </p:nvSpPr>
        <p:spPr>
          <a:xfrm>
            <a:off x="6464737" y="6561892"/>
            <a:ext cx="2223611" cy="278011"/>
          </a:xfrm>
          <a:prstGeom prst="rect">
            <a:avLst/>
          </a:prstGeom>
          <a:noFill/>
          <a:ln/>
        </p:spPr>
        <p:txBody>
          <a:bodyPr wrap="none" lIns="0" tIns="0" rIns="0" bIns="0" rtlCol="0" anchor="t"/>
          <a:lstStyle/>
          <a:p>
            <a:pPr algn="l" indent="0" marL="0">
              <a:lnSpc>
                <a:spcPts val="2150"/>
              </a:lnSpc>
              <a:buNone/>
            </a:pPr>
            <a:r>
              <a:rPr lang="en-US" sz="1750" b="1" dirty="0">
                <a:solidFill>
                  <a:srgbClr val="000000"/>
                </a:solidFill>
                <a:latin typeface="Montserrat Bold" pitchFamily="34" charset="0"/>
                <a:ea typeface="Montserrat Bold" pitchFamily="34" charset="-122"/>
                <a:cs typeface="Montserrat Bold" pitchFamily="34" charset="-120"/>
              </a:rPr>
              <a:t>📊</a:t>
            </a:r>
            <a:pPr algn="l" indent="0" marL="0">
              <a:lnSpc>
                <a:spcPts val="2150"/>
              </a:lnSpc>
              <a:buNone/>
            </a:pPr>
            <a:r>
              <a:rPr lang="en-US" sz="1750" b="1" dirty="0">
                <a:solidFill>
                  <a:srgbClr val="E2E6E9"/>
                </a:solidFill>
                <a:latin typeface="Montserrat Bold" pitchFamily="34" charset="0"/>
                <a:ea typeface="Montserrat Bold" pitchFamily="34" charset="-122"/>
                <a:cs typeface="Montserrat Bold" pitchFamily="34" charset="-120"/>
              </a:rPr>
              <a:t> Ölçmə</a:t>
            </a:r>
            <a:endParaRPr lang="en-US" sz="1750" dirty="0"/>
          </a:p>
        </p:txBody>
      </p:sp>
      <p:sp>
        <p:nvSpPr>
          <p:cNvPr id="16" name="Text 13"/>
          <p:cNvSpPr/>
          <p:nvPr/>
        </p:nvSpPr>
        <p:spPr>
          <a:xfrm>
            <a:off x="6464737" y="6946225"/>
            <a:ext cx="7187327" cy="279797"/>
          </a:xfrm>
          <a:prstGeom prst="rect">
            <a:avLst/>
          </a:prstGeom>
          <a:noFill/>
          <a:ln/>
        </p:spPr>
        <p:txBody>
          <a:bodyPr wrap="none" lIns="0" tIns="0" rIns="0" bIns="0" rtlCol="0" anchor="t"/>
          <a:lstStyle/>
          <a:p>
            <a:pPr algn="l" indent="0" marL="0">
              <a:lnSpc>
                <a:spcPts val="2200"/>
              </a:lnSpc>
              <a:buNone/>
            </a:pPr>
            <a:r>
              <a:rPr lang="en-US" sz="1500" dirty="0">
                <a:solidFill>
                  <a:srgbClr val="E2E6E9"/>
                </a:solidFill>
                <a:latin typeface="Source Sans 3" pitchFamily="34" charset="0"/>
                <a:ea typeface="Source Sans 3" pitchFamily="34" charset="-122"/>
                <a:cs typeface="Source Sans 3" pitchFamily="34" charset="-120"/>
              </a:rPr>
              <a:t>ROI və effektivliyi qiymətləndirmək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1965246"/>
            <a:ext cx="5797629" cy="613529"/>
          </a:xfrm>
          <a:prstGeom prst="rect">
            <a:avLst/>
          </a:prstGeom>
          <a:noFill/>
          <a:ln/>
        </p:spPr>
        <p:txBody>
          <a:bodyPr wrap="none" lIns="0" tIns="0" rIns="0" bIns="0" rtlCol="0" anchor="t"/>
          <a:lstStyle/>
          <a:p>
            <a:pPr algn="l" indent="0" marL="0">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SI Tətbiq Strategiyaları</a:t>
            </a:r>
            <a:endParaRPr lang="en-US" sz="3850" dirty="0"/>
          </a:p>
        </p:txBody>
      </p:sp>
      <p:sp>
        <p:nvSpPr>
          <p:cNvPr id="3" name="Text 1"/>
          <p:cNvSpPr/>
          <p:nvPr/>
        </p:nvSpPr>
        <p:spPr>
          <a:xfrm>
            <a:off x="863798" y="3010614"/>
            <a:ext cx="12902803" cy="647938"/>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Hər təşkilatın ehtiyacları fərqlidir. Düzgün strategiyanın seçilməsi uğurun əsas şərtidir. Aşağıdakı üç yanaşma — resurslarınıza, riskə tolerantlığınıza və transformasiya hazırlığınıza görə fərqlənir.</a:t>
            </a:r>
            <a:endParaRPr lang="en-US" sz="1700" dirty="0"/>
          </a:p>
        </p:txBody>
      </p:sp>
      <p:pic>
        <p:nvPicPr>
          <p:cNvPr id="4" name="Image 0" descr="preencoded.png">    </p:cNvPr>
          <p:cNvPicPr>
            <a:picLocks noChangeAspect="1"/>
          </p:cNvPicPr>
          <p:nvPr/>
        </p:nvPicPr>
        <p:blipFill>
          <a:blip r:embed="rId1"/>
          <a:stretch>
            <a:fillRect/>
          </a:stretch>
        </p:blipFill>
        <p:spPr>
          <a:xfrm>
            <a:off x="863798" y="3901440"/>
            <a:ext cx="1195030" cy="738545"/>
          </a:xfrm>
          <a:prstGeom prst="rect">
            <a:avLst/>
          </a:prstGeom>
        </p:spPr>
      </p:pic>
      <p:sp>
        <p:nvSpPr>
          <p:cNvPr id="5" name="Text 2"/>
          <p:cNvSpPr/>
          <p:nvPr/>
        </p:nvSpPr>
        <p:spPr>
          <a:xfrm>
            <a:off x="2328743" y="3901440"/>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Pilot Layihə</a:t>
            </a:r>
            <a:endParaRPr lang="en-US" sz="1900" dirty="0"/>
          </a:p>
        </p:txBody>
      </p:sp>
      <p:sp>
        <p:nvSpPr>
          <p:cNvPr id="6" name="Text 3"/>
          <p:cNvSpPr/>
          <p:nvPr/>
        </p:nvSpPr>
        <p:spPr>
          <a:xfrm>
            <a:off x="2328743" y="4337685"/>
            <a:ext cx="2656046" cy="1619845"/>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Məhdud miqyasda başlayın, nəticələri ölçün. Az riskli, öyrənmə yönümlü yanaşma. Kiçik bir şöbə və ya prosesdə sınaqdan keçirilir.</a:t>
            </a:r>
            <a:endParaRPr lang="en-US" sz="1700" dirty="0"/>
          </a:p>
        </p:txBody>
      </p:sp>
      <p:pic>
        <p:nvPicPr>
          <p:cNvPr id="7" name="Image 1" descr="preencoded.png">    </p:cNvPr>
          <p:cNvPicPr>
            <a:picLocks noChangeAspect="1"/>
          </p:cNvPicPr>
          <p:nvPr/>
        </p:nvPicPr>
        <p:blipFill>
          <a:blip r:embed="rId2"/>
          <a:stretch>
            <a:fillRect/>
          </a:stretch>
        </p:blipFill>
        <p:spPr>
          <a:xfrm>
            <a:off x="5254704" y="3901440"/>
            <a:ext cx="1195030" cy="738545"/>
          </a:xfrm>
          <a:prstGeom prst="rect">
            <a:avLst/>
          </a:prstGeom>
        </p:spPr>
      </p:pic>
      <p:sp>
        <p:nvSpPr>
          <p:cNvPr id="8" name="Text 4"/>
          <p:cNvSpPr/>
          <p:nvPr/>
        </p:nvSpPr>
        <p:spPr>
          <a:xfrm>
            <a:off x="6719649" y="3901440"/>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Mərhələli Tətbiq</a:t>
            </a:r>
            <a:endParaRPr lang="en-US" sz="1900" dirty="0"/>
          </a:p>
        </p:txBody>
      </p:sp>
      <p:sp>
        <p:nvSpPr>
          <p:cNvPr id="9" name="Text 5"/>
          <p:cNvSpPr/>
          <p:nvPr/>
        </p:nvSpPr>
        <p:spPr>
          <a:xfrm>
            <a:off x="6719649" y="4337685"/>
            <a:ext cx="2656046" cy="1619845"/>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Uğurlu pilotdan sonra tədricən genişlənmə. Hər mərhələdə dərsler çıxarılır, resurslar optimallaşdırılır və işçilər sistemə alışdırılır.</a:t>
            </a:r>
            <a:endParaRPr lang="en-US" sz="1700" dirty="0"/>
          </a:p>
        </p:txBody>
      </p:sp>
      <p:pic>
        <p:nvPicPr>
          <p:cNvPr id="10" name="Image 2" descr="preencoded.png">    </p:cNvPr>
          <p:cNvPicPr>
            <a:picLocks noChangeAspect="1"/>
          </p:cNvPicPr>
          <p:nvPr/>
        </p:nvPicPr>
        <p:blipFill>
          <a:blip r:embed="rId3"/>
          <a:stretch>
            <a:fillRect/>
          </a:stretch>
        </p:blipFill>
        <p:spPr>
          <a:xfrm>
            <a:off x="9645610" y="3901440"/>
            <a:ext cx="1195030" cy="738545"/>
          </a:xfrm>
          <a:prstGeom prst="rect">
            <a:avLst/>
          </a:prstGeom>
        </p:spPr>
      </p:pic>
      <p:sp>
        <p:nvSpPr>
          <p:cNvPr id="11" name="Text 6"/>
          <p:cNvSpPr/>
          <p:nvPr/>
        </p:nvSpPr>
        <p:spPr>
          <a:xfrm>
            <a:off x="11110555" y="3901440"/>
            <a:ext cx="2656046" cy="613410"/>
          </a:xfrm>
          <a:prstGeom prst="rect">
            <a:avLst/>
          </a:prstGeom>
          <a:noFill/>
          <a:ln/>
        </p:spPr>
        <p:txBody>
          <a:bodyPr wrap="squar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Tam Miqyaslı Transformasiya</a:t>
            </a:r>
            <a:endParaRPr lang="en-US" sz="1900" dirty="0"/>
          </a:p>
        </p:txBody>
      </p:sp>
      <p:sp>
        <p:nvSpPr>
          <p:cNvPr id="12" name="Text 7"/>
          <p:cNvSpPr/>
          <p:nvPr/>
        </p:nvSpPr>
        <p:spPr>
          <a:xfrm>
            <a:off x="11110555" y="4644390"/>
            <a:ext cx="2656046" cy="1619845"/>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Bütün təşkilatı əhatə edən, kökündən yenilənmə prosesi. Güclü rəhbərlik dəstəyi, böyük investisiya və dərin hazırlıq tələb edir.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31677" y="492204"/>
            <a:ext cx="3984069" cy="497919"/>
          </a:xfrm>
          <a:prstGeom prst="rect">
            <a:avLst/>
          </a:prstGeom>
          <a:noFill/>
          <a:ln/>
        </p:spPr>
        <p:txBody>
          <a:bodyPr wrap="none" lIns="0" tIns="0" rIns="0" bIns="0" rtlCol="0" anchor="t"/>
          <a:lstStyle/>
          <a:p>
            <a:pPr algn="l" indent="0" marL="0">
              <a:lnSpc>
                <a:spcPts val="3900"/>
              </a:lnSpc>
              <a:buNone/>
            </a:pPr>
            <a:r>
              <a:rPr lang="en-US" sz="3100" b="1" dirty="0">
                <a:solidFill>
                  <a:srgbClr val="FFFFFF"/>
                </a:solidFill>
                <a:latin typeface="Montserrat Bold" pitchFamily="34" charset="0"/>
                <a:ea typeface="Montserrat Bold" pitchFamily="34" charset="-122"/>
                <a:cs typeface="Montserrat Bold" pitchFamily="34" charset="-120"/>
              </a:rPr>
              <a:t>Tətbiq Mərhələləri</a:t>
            </a:r>
            <a:endParaRPr lang="en-US" sz="3100" dirty="0"/>
          </a:p>
        </p:txBody>
      </p:sp>
      <p:sp>
        <p:nvSpPr>
          <p:cNvPr id="3" name="Text 1"/>
          <p:cNvSpPr/>
          <p:nvPr/>
        </p:nvSpPr>
        <p:spPr>
          <a:xfrm>
            <a:off x="1031677" y="1274683"/>
            <a:ext cx="12567047" cy="238125"/>
          </a:xfrm>
          <a:prstGeom prst="rect">
            <a:avLst/>
          </a:prstGeom>
          <a:noFill/>
          <a:ln/>
        </p:spPr>
        <p:txBody>
          <a:bodyPr wrap="none" lIns="0" tIns="0" rIns="0" bIns="0" rtlCol="0" anchor="t"/>
          <a:lstStyle/>
          <a:p>
            <a:pPr algn="l" indent="0" marL="0">
              <a:lnSpc>
                <a:spcPts val="1850"/>
              </a:lnSpc>
              <a:buNone/>
            </a:pPr>
            <a:r>
              <a:rPr lang="en-US" sz="1350" dirty="0">
                <a:solidFill>
                  <a:srgbClr val="E2E6E9"/>
                </a:solidFill>
                <a:latin typeface="Source Sans 3" pitchFamily="34" charset="0"/>
                <a:ea typeface="Source Sans 3" pitchFamily="34" charset="-122"/>
                <a:cs typeface="Source Sans 3" pitchFamily="34" charset="-120"/>
              </a:rPr>
              <a:t>SI layihəsinin uğuru strukturlu bir yola əməl etməkdən keçir. Aşağıdakı altı mərhələ hər tətbiq üçün universal çərçivə rolunu oynayır.</a:t>
            </a:r>
            <a:endParaRPr lang="en-US" sz="1350" dirty="0"/>
          </a:p>
        </p:txBody>
      </p:sp>
      <p:pic>
        <p:nvPicPr>
          <p:cNvPr id="4" name="Image 0" descr="preencoded.png">    </p:cNvPr>
          <p:cNvPicPr>
            <a:picLocks noChangeAspect="1"/>
          </p:cNvPicPr>
          <p:nvPr/>
        </p:nvPicPr>
        <p:blipFill>
          <a:blip r:embed="rId1"/>
          <a:stretch>
            <a:fillRect/>
          </a:stretch>
        </p:blipFill>
        <p:spPr>
          <a:xfrm>
            <a:off x="1031677" y="1672828"/>
            <a:ext cx="12567047" cy="5428298"/>
          </a:xfrm>
          <a:prstGeom prst="rect">
            <a:avLst/>
          </a:prstGeom>
        </p:spPr>
      </p:pic>
      <p:sp>
        <p:nvSpPr>
          <p:cNvPr id="5" name="Text 2"/>
          <p:cNvSpPr/>
          <p:nvPr/>
        </p:nvSpPr>
        <p:spPr>
          <a:xfrm>
            <a:off x="4030477" y="5402406"/>
            <a:ext cx="1865993" cy="617781"/>
          </a:xfrm>
          <a:prstGeom prst="rect">
            <a:avLst/>
          </a:prstGeom>
          <a:noFill/>
          <a:ln/>
        </p:spPr>
        <p:txBody>
          <a:bodyPr wrap="square" lIns="0" tIns="0" rIns="0" bIns="0" rtlCol="0" anchor="t"/>
          <a:lstStyle/>
          <a:p>
            <a:pPr algn="ctr"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Məlumatı hazırla</a:t>
            </a:r>
            <a:endParaRPr lang="en-US" sz="1900" dirty="0"/>
          </a:p>
        </p:txBody>
      </p:sp>
      <p:sp>
        <p:nvSpPr>
          <p:cNvPr id="6" name="Text 3"/>
          <p:cNvSpPr/>
          <p:nvPr/>
        </p:nvSpPr>
        <p:spPr>
          <a:xfrm>
            <a:off x="4030477" y="6116857"/>
            <a:ext cx="1865993" cy="492412"/>
          </a:xfrm>
          <a:prstGeom prst="rect">
            <a:avLst/>
          </a:prstGeom>
          <a:noFill/>
          <a:ln/>
        </p:spPr>
        <p:txBody>
          <a:bodyPr wrap="square" lIns="0" tIns="0" rIns="0" bIns="0" rtlCol="0" anchor="t"/>
          <a:lstStyle/>
          <a:p>
            <a:pPr algn="ctr" indent="0" marL="0">
              <a:lnSpc>
                <a:spcPts val="1900"/>
              </a:lnSpc>
              <a:buNone/>
            </a:pPr>
            <a:r>
              <a:rPr lang="en-US" sz="1700" dirty="0">
                <a:solidFill>
                  <a:srgbClr val="E2E6E9"/>
                </a:solidFill>
                <a:latin typeface="Source Sans 3" pitchFamily="34" charset="0"/>
                <a:ea typeface="Source Sans 3" pitchFamily="34" charset="-122"/>
                <a:cs typeface="Source Sans 3" pitchFamily="34" charset="-120"/>
              </a:rPr>
              <a:t>Təmizləmə və etiketləmə işləri</a:t>
            </a:r>
            <a:endParaRPr lang="en-US" sz="1700" dirty="0"/>
          </a:p>
        </p:txBody>
      </p:sp>
      <p:sp>
        <p:nvSpPr>
          <p:cNvPr id="7" name="Text 4"/>
          <p:cNvSpPr/>
          <p:nvPr/>
        </p:nvSpPr>
        <p:spPr>
          <a:xfrm>
            <a:off x="8821867" y="5465090"/>
            <a:ext cx="1865993" cy="308890"/>
          </a:xfrm>
          <a:prstGeom prst="rect">
            <a:avLst/>
          </a:prstGeom>
          <a:noFill/>
          <a:ln/>
        </p:spPr>
        <p:txBody>
          <a:bodyPr wrap="none" lIns="0" tIns="0" rIns="0" bIns="0" rtlCol="0" anchor="t"/>
          <a:lstStyle/>
          <a:p>
            <a:pPr algn="ctr" indent="0" marL="0">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Test et</a:t>
            </a:r>
            <a:endParaRPr lang="en-US" sz="1900" dirty="0"/>
          </a:p>
        </p:txBody>
      </p:sp>
      <p:sp>
        <p:nvSpPr>
          <p:cNvPr id="8" name="Text 5"/>
          <p:cNvSpPr/>
          <p:nvPr/>
        </p:nvSpPr>
        <p:spPr>
          <a:xfrm>
            <a:off x="8821867" y="5870650"/>
            <a:ext cx="1865993" cy="738618"/>
          </a:xfrm>
          <a:prstGeom prst="rect">
            <a:avLst/>
          </a:prstGeom>
          <a:noFill/>
          <a:ln/>
        </p:spPr>
        <p:txBody>
          <a:bodyPr wrap="square" lIns="0" tIns="0" rIns="0" bIns="0" rtlCol="0" anchor="t"/>
          <a:lstStyle/>
          <a:p>
            <a:pPr algn="ctr" indent="0" marL="0">
              <a:lnSpc>
                <a:spcPts val="1900"/>
              </a:lnSpc>
              <a:buNone/>
            </a:pPr>
            <a:r>
              <a:rPr lang="en-US" sz="1700" dirty="0">
                <a:solidFill>
                  <a:srgbClr val="E2E6E9"/>
                </a:solidFill>
                <a:latin typeface="Source Sans 3" pitchFamily="34" charset="0"/>
                <a:ea typeface="Source Sans 3" pitchFamily="34" charset="-122"/>
                <a:cs typeface="Source Sans 3" pitchFamily="34" charset="-120"/>
              </a:rPr>
              <a:t>Performans və təhlükəsizlik yoxlamaları</a:t>
            </a:r>
            <a:endParaRPr lang="en-US" sz="1700" dirty="0"/>
          </a:p>
        </p:txBody>
      </p:sp>
      <p:sp>
        <p:nvSpPr>
          <p:cNvPr id="9" name="Text 6"/>
          <p:cNvSpPr/>
          <p:nvPr/>
        </p:nvSpPr>
        <p:spPr>
          <a:xfrm>
            <a:off x="1640730" y="2162643"/>
            <a:ext cx="1865993" cy="617781"/>
          </a:xfrm>
          <a:prstGeom prst="rect">
            <a:avLst/>
          </a:prstGeom>
          <a:noFill/>
          <a:ln/>
        </p:spPr>
        <p:txBody>
          <a:bodyPr wrap="square" lIns="0" tIns="0" rIns="0" bIns="0" rtlCol="0" anchor="t"/>
          <a:lstStyle/>
          <a:p>
            <a:pPr algn="ctr"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Problemi müəyyən et</a:t>
            </a:r>
            <a:endParaRPr lang="en-US" sz="1900" dirty="0"/>
          </a:p>
        </p:txBody>
      </p:sp>
      <p:sp>
        <p:nvSpPr>
          <p:cNvPr id="10" name="Text 7"/>
          <p:cNvSpPr/>
          <p:nvPr/>
        </p:nvSpPr>
        <p:spPr>
          <a:xfrm>
            <a:off x="1640730" y="2877094"/>
            <a:ext cx="1865993" cy="738618"/>
          </a:xfrm>
          <a:prstGeom prst="rect">
            <a:avLst/>
          </a:prstGeom>
          <a:noFill/>
          <a:ln/>
        </p:spPr>
        <p:txBody>
          <a:bodyPr wrap="square" lIns="0" tIns="0" rIns="0" bIns="0" rtlCol="0" anchor="t"/>
          <a:lstStyle/>
          <a:p>
            <a:pPr algn="ctr" indent="0" marL="0">
              <a:lnSpc>
                <a:spcPts val="1900"/>
              </a:lnSpc>
              <a:buNone/>
            </a:pPr>
            <a:r>
              <a:rPr lang="en-US" sz="1700" dirty="0">
                <a:solidFill>
                  <a:srgbClr val="E2E6E9"/>
                </a:solidFill>
                <a:latin typeface="Source Sans 3" pitchFamily="34" charset="0"/>
                <a:ea typeface="Source Sans 3" pitchFamily="34" charset="-122"/>
                <a:cs typeface="Source Sans 3" pitchFamily="34" charset="-120"/>
              </a:rPr>
              <a:t>Tələbləri və məqsədləri dəqiqləşdir</a:t>
            </a:r>
            <a:endParaRPr lang="en-US" sz="1700" dirty="0"/>
          </a:p>
        </p:txBody>
      </p:sp>
      <p:sp>
        <p:nvSpPr>
          <p:cNvPr id="11" name="Text 8"/>
          <p:cNvSpPr/>
          <p:nvPr/>
        </p:nvSpPr>
        <p:spPr>
          <a:xfrm>
            <a:off x="11140433" y="2162643"/>
            <a:ext cx="1865993" cy="308891"/>
          </a:xfrm>
          <a:prstGeom prst="rect">
            <a:avLst/>
          </a:prstGeom>
          <a:noFill/>
          <a:ln/>
        </p:spPr>
        <p:txBody>
          <a:bodyPr wrap="none" lIns="0" tIns="0" rIns="0" bIns="0" rtlCol="0" anchor="t"/>
          <a:lstStyle/>
          <a:p>
            <a:pPr algn="ctr"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İstismara ver</a:t>
            </a:r>
            <a:endParaRPr lang="en-US" sz="1900" dirty="0"/>
          </a:p>
        </p:txBody>
      </p:sp>
      <p:sp>
        <p:nvSpPr>
          <p:cNvPr id="12" name="Text 9"/>
          <p:cNvSpPr/>
          <p:nvPr/>
        </p:nvSpPr>
        <p:spPr>
          <a:xfrm>
            <a:off x="11140433" y="2568203"/>
            <a:ext cx="1865993" cy="492412"/>
          </a:xfrm>
          <a:prstGeom prst="rect">
            <a:avLst/>
          </a:prstGeom>
          <a:noFill/>
          <a:ln/>
        </p:spPr>
        <p:txBody>
          <a:bodyPr wrap="square" lIns="0" tIns="0" rIns="0" bIns="0" rtlCol="0" anchor="t"/>
          <a:lstStyle/>
          <a:p>
            <a:pPr algn="ctr" indent="0" marL="0">
              <a:lnSpc>
                <a:spcPts val="1900"/>
              </a:lnSpc>
              <a:buNone/>
            </a:pPr>
            <a:r>
              <a:rPr lang="en-US" sz="1700" dirty="0">
                <a:solidFill>
                  <a:srgbClr val="E2E6E9"/>
                </a:solidFill>
                <a:latin typeface="Source Sans 3" pitchFamily="34" charset="0"/>
                <a:ea typeface="Source Sans 3" pitchFamily="34" charset="-122"/>
                <a:cs typeface="Source Sans 3" pitchFamily="34" charset="-120"/>
              </a:rPr>
              <a:t>Canlı mühitə inteqrasiya et</a:t>
            </a:r>
            <a:endParaRPr lang="en-US" sz="1700" dirty="0"/>
          </a:p>
        </p:txBody>
      </p:sp>
      <p:sp>
        <p:nvSpPr>
          <p:cNvPr id="13" name="Text 10"/>
          <p:cNvSpPr/>
          <p:nvPr/>
        </p:nvSpPr>
        <p:spPr>
          <a:xfrm>
            <a:off x="6455909" y="2162643"/>
            <a:ext cx="1865993" cy="308891"/>
          </a:xfrm>
          <a:prstGeom prst="rect">
            <a:avLst/>
          </a:prstGeom>
          <a:noFill/>
          <a:ln/>
        </p:spPr>
        <p:txBody>
          <a:bodyPr wrap="none" lIns="0" tIns="0" rIns="0" bIns="0" rtlCol="0" anchor="t"/>
          <a:lstStyle/>
          <a:p>
            <a:pPr algn="ctr" indent="0" marL="0">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Model seçimi</a:t>
            </a:r>
            <a:endParaRPr lang="en-US" sz="1900" dirty="0"/>
          </a:p>
        </p:txBody>
      </p:sp>
      <p:sp>
        <p:nvSpPr>
          <p:cNvPr id="14" name="Text 11"/>
          <p:cNvSpPr/>
          <p:nvPr/>
        </p:nvSpPr>
        <p:spPr>
          <a:xfrm>
            <a:off x="6455909" y="2568203"/>
            <a:ext cx="1865993" cy="492412"/>
          </a:xfrm>
          <a:prstGeom prst="rect">
            <a:avLst/>
          </a:prstGeom>
          <a:noFill/>
          <a:ln/>
        </p:spPr>
        <p:txBody>
          <a:bodyPr wrap="square" lIns="0" tIns="0" rIns="0" bIns="0" rtlCol="0" anchor="t"/>
          <a:lstStyle/>
          <a:p>
            <a:pPr algn="ctr" indent="0" marL="0">
              <a:lnSpc>
                <a:spcPts val="1900"/>
              </a:lnSpc>
              <a:buNone/>
            </a:pPr>
            <a:r>
              <a:rPr lang="en-US" sz="1700" dirty="0">
                <a:solidFill>
                  <a:srgbClr val="E2E6E9"/>
                </a:solidFill>
                <a:latin typeface="Source Sans 3" pitchFamily="34" charset="0"/>
                <a:ea typeface="Source Sans 3" pitchFamily="34" charset="-122"/>
                <a:cs typeface="Source Sans 3" pitchFamily="34" charset="-120"/>
              </a:rPr>
              <a:t>Uyğun arxitektura və alqoritm seç</a:t>
            </a:r>
            <a:endParaRPr lang="en-US" sz="1700" dirty="0"/>
          </a:p>
        </p:txBody>
      </p:sp>
      <p:sp>
        <p:nvSpPr>
          <p:cNvPr id="15" name="Text 12"/>
          <p:cNvSpPr/>
          <p:nvPr/>
        </p:nvSpPr>
        <p:spPr>
          <a:xfrm>
            <a:off x="1031677" y="7261146"/>
            <a:ext cx="12567047" cy="476250"/>
          </a:xfrm>
          <a:prstGeom prst="rect">
            <a:avLst/>
          </a:prstGeom>
          <a:noFill/>
          <a:ln/>
        </p:spPr>
        <p:txBody>
          <a:bodyPr wrap="square" lIns="0" tIns="0" rIns="0" bIns="0" rtlCol="0" anchor="t"/>
          <a:lstStyle/>
          <a:p>
            <a:pPr algn="l" indent="0" marL="0">
              <a:lnSpc>
                <a:spcPts val="1850"/>
              </a:lnSpc>
              <a:buNone/>
            </a:pPr>
            <a:r>
              <a:rPr lang="en-US" sz="1350" dirty="0">
                <a:solidFill>
                  <a:srgbClr val="E2E6E9"/>
                </a:solidFill>
                <a:latin typeface="Source Sans 3" pitchFamily="34" charset="0"/>
                <a:ea typeface="Source Sans 3" pitchFamily="34" charset="-122"/>
                <a:cs typeface="Source Sans 3" pitchFamily="34" charset="-120"/>
              </a:rPr>
              <a:t>Hər mərhələ növbəti üçün zəmin hazırlayır. Problemin dəqiq müəyyən edilməsi olmadan ən güclü model belə faydasız qala bilər. Monitorinq isə tətbiqin davamlılığını təmin edir.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198" y="1843445"/>
            <a:ext cx="6604873" cy="613529"/>
          </a:xfrm>
          <a:prstGeom prst="rect">
            <a:avLst/>
          </a:prstGeom>
          <a:noFill/>
          <a:ln/>
        </p:spPr>
        <p:txBody>
          <a:bodyPr wrap="none" lIns="0" tIns="0" rIns="0" bIns="0" rtlCol="0" anchor="t"/>
          <a:lstStyle/>
          <a:p>
            <a:pPr algn="l" indent="0" marL="0">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Rəqəmsal Transformasiya</a:t>
            </a:r>
            <a:endParaRPr lang="en-US" sz="3850" dirty="0"/>
          </a:p>
        </p:txBody>
      </p:sp>
      <p:sp>
        <p:nvSpPr>
          <p:cNvPr id="4" name="Text 1"/>
          <p:cNvSpPr/>
          <p:nvPr/>
        </p:nvSpPr>
        <p:spPr>
          <a:xfrm>
            <a:off x="6674048" y="3023711"/>
            <a:ext cx="7092553" cy="647938"/>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Rəqəmsal transformasiya texnologiyanın deyil, </a:t>
            </a:r>
            <a:pPr algn="l" indent="0" marL="0">
              <a:lnSpc>
                <a:spcPts val="2550"/>
              </a:lnSpc>
              <a:buNone/>
            </a:pPr>
            <a:r>
              <a:rPr lang="en-US" sz="1700" b="1" dirty="0">
                <a:solidFill>
                  <a:srgbClr val="E2E6E9"/>
                </a:solidFill>
                <a:latin typeface="Source Sans 3" pitchFamily="34" charset="0"/>
                <a:ea typeface="Source Sans 3" pitchFamily="34" charset="-122"/>
                <a:cs typeface="Source Sans 3" pitchFamily="34" charset="-120"/>
              </a:rPr>
              <a:t>biznes modelinin dəyişməsidir.</a:t>
            </a:r>
            <a:endParaRPr lang="en-US" sz="1700" dirty="0"/>
          </a:p>
        </p:txBody>
      </p:sp>
      <p:sp>
        <p:nvSpPr>
          <p:cNvPr id="5" name="Shape 2"/>
          <p:cNvSpPr/>
          <p:nvPr/>
        </p:nvSpPr>
        <p:spPr>
          <a:xfrm>
            <a:off x="6350198" y="2780824"/>
            <a:ext cx="30480" cy="1133713"/>
          </a:xfrm>
          <a:prstGeom prst="rect">
            <a:avLst/>
          </a:prstGeom>
          <a:solidFill>
            <a:srgbClr val="FFFFFF"/>
          </a:solidFill>
          <a:ln/>
        </p:spPr>
      </p:sp>
      <p:sp>
        <p:nvSpPr>
          <p:cNvPr id="6" name="Shape 3"/>
          <p:cNvSpPr/>
          <p:nvPr/>
        </p:nvSpPr>
        <p:spPr>
          <a:xfrm>
            <a:off x="6194584" y="4157424"/>
            <a:ext cx="3755946" cy="2228612"/>
          </a:xfrm>
          <a:prstGeom prst="roundRect">
            <a:avLst>
              <a:gd name="adj" fmla="val 1454"/>
            </a:avLst>
          </a:prstGeom>
          <a:solidFill>
            <a:srgbClr val="1D1F22"/>
          </a:solidFill>
          <a:ln/>
        </p:spPr>
      </p:sp>
      <p:sp>
        <p:nvSpPr>
          <p:cNvPr id="7" name="Text 4"/>
          <p:cNvSpPr/>
          <p:nvPr/>
        </p:nvSpPr>
        <p:spPr>
          <a:xfrm>
            <a:off x="6410444" y="4373285"/>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Yanlış Anlayış</a:t>
            </a:r>
            <a:endParaRPr lang="en-US" sz="1900" dirty="0"/>
          </a:p>
        </p:txBody>
      </p:sp>
      <p:sp>
        <p:nvSpPr>
          <p:cNvPr id="8" name="Text 5"/>
          <p:cNvSpPr/>
          <p:nvPr/>
        </p:nvSpPr>
        <p:spPr>
          <a:xfrm>
            <a:off x="6410444" y="4895850"/>
            <a:ext cx="3324225" cy="971907"/>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Yeni texnologiya almaq = transformasiya. Əslində, texnologiya yalnız bir vasitədir — məqsəd deyil.</a:t>
            </a:r>
            <a:endParaRPr lang="en-US" sz="1700" dirty="0"/>
          </a:p>
        </p:txBody>
      </p:sp>
      <p:sp>
        <p:nvSpPr>
          <p:cNvPr id="9" name="Text 6"/>
          <p:cNvSpPr/>
          <p:nvPr/>
        </p:nvSpPr>
        <p:spPr>
          <a:xfrm>
            <a:off x="10329505" y="4373285"/>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Düzgün Yanaşma</a:t>
            </a:r>
            <a:endParaRPr lang="en-US" sz="1900" dirty="0"/>
          </a:p>
        </p:txBody>
      </p:sp>
      <p:sp>
        <p:nvSpPr>
          <p:cNvPr id="10" name="Text 7"/>
          <p:cNvSpPr/>
          <p:nvPr/>
        </p:nvSpPr>
        <p:spPr>
          <a:xfrm>
            <a:off x="10329505" y="4895850"/>
            <a:ext cx="3444716" cy="1295876"/>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Müştəri dəyəri, iş prosesləri və gəlir modeli yenidən düşünülməlidir. SI bu dəyişikliyi sürətləndirir, amma özü dəyişiklik deyil.</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1872258"/>
            <a:ext cx="7711559" cy="613529"/>
          </a:xfrm>
          <a:prstGeom prst="rect">
            <a:avLst/>
          </a:prstGeom>
          <a:noFill/>
          <a:ln/>
        </p:spPr>
        <p:txBody>
          <a:bodyPr wrap="none" lIns="0" tIns="0" rIns="0" bIns="0" rtlCol="0" anchor="t"/>
          <a:lstStyle/>
          <a:p>
            <a:pPr algn="l" indent="0" marL="0">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Dəyişikliklərin İdarə Olunması</a:t>
            </a:r>
            <a:endParaRPr lang="en-US" sz="3850" dirty="0"/>
          </a:p>
        </p:txBody>
      </p:sp>
      <p:sp>
        <p:nvSpPr>
          <p:cNvPr id="3" name="Text 1"/>
          <p:cNvSpPr/>
          <p:nvPr/>
        </p:nvSpPr>
        <p:spPr>
          <a:xfrm>
            <a:off x="863798" y="2917627"/>
            <a:ext cx="12902803" cy="647938"/>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SI tətbiqinin ən çətin hissəsi texnologiya deyil — insanlardır. Dəyişikliyə müqavimət, qeyri-müəyyənlik qorxusu və bacarıq boşluqları ən çox rast gəlinən maneələrdir. Effektiv dəyişiklik menecmenti bu prosesi hamarlaşdırır.</a:t>
            </a:r>
            <a:endParaRPr lang="en-US" sz="1700" dirty="0"/>
          </a:p>
        </p:txBody>
      </p:sp>
      <p:sp>
        <p:nvSpPr>
          <p:cNvPr id="4" name="Shape 2"/>
          <p:cNvSpPr/>
          <p:nvPr/>
        </p:nvSpPr>
        <p:spPr>
          <a:xfrm>
            <a:off x="863798" y="3808452"/>
            <a:ext cx="4156948" cy="2548771"/>
          </a:xfrm>
          <a:prstGeom prst="roundRect">
            <a:avLst>
              <a:gd name="adj" fmla="val 5740"/>
            </a:avLst>
          </a:prstGeom>
          <a:solidFill>
            <a:srgbClr val="111213"/>
          </a:solidFill>
          <a:ln w="30480">
            <a:solidFill>
              <a:srgbClr val="494A4B"/>
            </a:solidFill>
            <a:prstDash val="solid"/>
          </a:ln>
        </p:spPr>
      </p:sp>
      <p:sp>
        <p:nvSpPr>
          <p:cNvPr id="5" name="Shape 3"/>
          <p:cNvSpPr/>
          <p:nvPr/>
        </p:nvSpPr>
        <p:spPr>
          <a:xfrm>
            <a:off x="833318" y="3808452"/>
            <a:ext cx="121920" cy="2548771"/>
          </a:xfrm>
          <a:prstGeom prst="roundRect">
            <a:avLst>
              <a:gd name="adj" fmla="val 26572"/>
            </a:avLst>
          </a:prstGeom>
          <a:solidFill>
            <a:srgbClr val="FFFFFF"/>
          </a:solidFill>
          <a:ln/>
        </p:spPr>
      </p:sp>
      <p:sp>
        <p:nvSpPr>
          <p:cNvPr id="6" name="Text 4"/>
          <p:cNvSpPr/>
          <p:nvPr/>
        </p:nvSpPr>
        <p:spPr>
          <a:xfrm>
            <a:off x="1201579" y="4054793"/>
            <a:ext cx="3187660" cy="306705"/>
          </a:xfrm>
          <a:prstGeom prst="rect">
            <a:avLst/>
          </a:prstGeom>
          <a:noFill/>
          <a:ln/>
        </p:spPr>
        <p:txBody>
          <a:bodyPr wrap="none" lIns="0" tIns="0" rIns="0" bIns="0" rtlCol="0" anchor="t"/>
          <a:lstStyle/>
          <a:p>
            <a:pPr algn="l" indent="0" marL="0">
              <a:lnSpc>
                <a:spcPts val="2400"/>
              </a:lnSpc>
              <a:buNone/>
            </a:pPr>
            <a:r>
              <a:rPr lang="en-US" sz="1900" b="1" dirty="0">
                <a:solidFill>
                  <a:srgbClr val="000000"/>
                </a:solidFill>
                <a:latin typeface="Montserrat Bold" pitchFamily="34" charset="0"/>
                <a:ea typeface="Montserrat Bold" pitchFamily="34" charset="-122"/>
                <a:cs typeface="Montserrat Bold" pitchFamily="34" charset="-120"/>
              </a:rPr>
              <a:t>👥</a:t>
            </a:r>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 İşçilərin Cəlb Edilməsi</a:t>
            </a:r>
            <a:endParaRPr lang="en-US" sz="1900" dirty="0"/>
          </a:p>
        </p:txBody>
      </p:sp>
      <p:sp>
        <p:nvSpPr>
          <p:cNvPr id="7" name="Text 5"/>
          <p:cNvSpPr/>
          <p:nvPr/>
        </p:nvSpPr>
        <p:spPr>
          <a:xfrm>
            <a:off x="1201579" y="4491038"/>
            <a:ext cx="3572828" cy="1619845"/>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Qərar proseslərinə işçiləri erkən daxil edin. Şəffaflıq və ünsiyyət etimanı artırır, müqaviməti azaldır. İşçilər "niyə" sualına cavab aldıqda dəyişikliyə daha açıq olurlar.</a:t>
            </a:r>
            <a:endParaRPr lang="en-US" sz="1700" dirty="0"/>
          </a:p>
        </p:txBody>
      </p:sp>
      <p:sp>
        <p:nvSpPr>
          <p:cNvPr id="8" name="Shape 6"/>
          <p:cNvSpPr/>
          <p:nvPr/>
        </p:nvSpPr>
        <p:spPr>
          <a:xfrm>
            <a:off x="5236607" y="3808452"/>
            <a:ext cx="4157067" cy="2548771"/>
          </a:xfrm>
          <a:prstGeom prst="roundRect">
            <a:avLst>
              <a:gd name="adj" fmla="val 5740"/>
            </a:avLst>
          </a:prstGeom>
          <a:solidFill>
            <a:srgbClr val="111213"/>
          </a:solidFill>
          <a:ln w="30480">
            <a:solidFill>
              <a:srgbClr val="494A4B"/>
            </a:solidFill>
            <a:prstDash val="solid"/>
          </a:ln>
        </p:spPr>
      </p:sp>
      <p:sp>
        <p:nvSpPr>
          <p:cNvPr id="9" name="Shape 7"/>
          <p:cNvSpPr/>
          <p:nvPr/>
        </p:nvSpPr>
        <p:spPr>
          <a:xfrm>
            <a:off x="5206127" y="3808452"/>
            <a:ext cx="121920" cy="2548771"/>
          </a:xfrm>
          <a:prstGeom prst="roundRect">
            <a:avLst>
              <a:gd name="adj" fmla="val 26572"/>
            </a:avLst>
          </a:prstGeom>
          <a:solidFill>
            <a:srgbClr val="FFFFFF"/>
          </a:solidFill>
          <a:ln/>
        </p:spPr>
      </p:sp>
      <p:sp>
        <p:nvSpPr>
          <p:cNvPr id="10" name="Text 8"/>
          <p:cNvSpPr/>
          <p:nvPr/>
        </p:nvSpPr>
        <p:spPr>
          <a:xfrm>
            <a:off x="5574387" y="4054793"/>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000000"/>
                </a:solidFill>
                <a:latin typeface="Montserrat Bold" pitchFamily="34" charset="0"/>
                <a:ea typeface="Montserrat Bold" pitchFamily="34" charset="-122"/>
                <a:cs typeface="Montserrat Bold" pitchFamily="34" charset="-120"/>
              </a:rPr>
              <a:t>🎓</a:t>
            </a:r>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 Təlim və İnkişaf</a:t>
            </a:r>
            <a:endParaRPr lang="en-US" sz="1900" dirty="0"/>
          </a:p>
        </p:txBody>
      </p:sp>
      <p:sp>
        <p:nvSpPr>
          <p:cNvPr id="11" name="Text 9"/>
          <p:cNvSpPr/>
          <p:nvPr/>
        </p:nvSpPr>
        <p:spPr>
          <a:xfrm>
            <a:off x="5574387" y="4491038"/>
            <a:ext cx="3572947" cy="1295876"/>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SI savadlılığı üzrə strukturlu təlim proqramları hazırlayın. Yalnız texniki işçilər deyil, bütün şöbə rəhbərləri əsas anlayışları bilməlidir.</a:t>
            </a:r>
            <a:endParaRPr lang="en-US" sz="1700" dirty="0"/>
          </a:p>
        </p:txBody>
      </p:sp>
      <p:sp>
        <p:nvSpPr>
          <p:cNvPr id="12" name="Shape 10"/>
          <p:cNvSpPr/>
          <p:nvPr/>
        </p:nvSpPr>
        <p:spPr>
          <a:xfrm>
            <a:off x="9609534" y="3808452"/>
            <a:ext cx="4157067" cy="2548771"/>
          </a:xfrm>
          <a:prstGeom prst="roundRect">
            <a:avLst>
              <a:gd name="adj" fmla="val 5740"/>
            </a:avLst>
          </a:prstGeom>
          <a:solidFill>
            <a:srgbClr val="111213"/>
          </a:solidFill>
          <a:ln w="30480">
            <a:solidFill>
              <a:srgbClr val="494A4B"/>
            </a:solidFill>
            <a:prstDash val="solid"/>
          </a:ln>
        </p:spPr>
      </p:sp>
      <p:sp>
        <p:nvSpPr>
          <p:cNvPr id="13" name="Shape 11"/>
          <p:cNvSpPr/>
          <p:nvPr/>
        </p:nvSpPr>
        <p:spPr>
          <a:xfrm>
            <a:off x="9579054" y="3808452"/>
            <a:ext cx="121920" cy="2548771"/>
          </a:xfrm>
          <a:prstGeom prst="roundRect">
            <a:avLst>
              <a:gd name="adj" fmla="val 26572"/>
            </a:avLst>
          </a:prstGeom>
          <a:solidFill>
            <a:srgbClr val="FFFFFF"/>
          </a:solidFill>
          <a:ln/>
        </p:spPr>
      </p:sp>
      <p:sp>
        <p:nvSpPr>
          <p:cNvPr id="14" name="Text 12"/>
          <p:cNvSpPr/>
          <p:nvPr/>
        </p:nvSpPr>
        <p:spPr>
          <a:xfrm>
            <a:off x="9947315" y="4054793"/>
            <a:ext cx="3572947" cy="613410"/>
          </a:xfrm>
          <a:prstGeom prst="rect">
            <a:avLst/>
          </a:prstGeom>
          <a:noFill/>
          <a:ln/>
        </p:spPr>
        <p:txBody>
          <a:bodyPr wrap="square" lIns="0" tIns="0" rIns="0" bIns="0" rtlCol="0" anchor="t"/>
          <a:lstStyle/>
          <a:p>
            <a:pPr algn="l" indent="0" marL="0">
              <a:lnSpc>
                <a:spcPts val="2400"/>
              </a:lnSpc>
              <a:buNone/>
            </a:pPr>
            <a:r>
              <a:rPr lang="en-US" sz="1900" b="1" dirty="0">
                <a:solidFill>
                  <a:srgbClr val="000000"/>
                </a:solidFill>
                <a:latin typeface="Montserrat Bold" pitchFamily="34" charset="0"/>
                <a:ea typeface="Montserrat Bold" pitchFamily="34" charset="-122"/>
                <a:cs typeface="Montserrat Bold" pitchFamily="34" charset="-120"/>
              </a:rPr>
              <a:t>🛡️</a:t>
            </a:r>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 Müqavimətin Azaldılması</a:t>
            </a:r>
            <a:endParaRPr lang="en-US" sz="1900" dirty="0"/>
          </a:p>
        </p:txBody>
      </p:sp>
      <p:sp>
        <p:nvSpPr>
          <p:cNvPr id="15" name="Text 13"/>
          <p:cNvSpPr/>
          <p:nvPr/>
        </p:nvSpPr>
        <p:spPr>
          <a:xfrm>
            <a:off x="9947315" y="4797743"/>
            <a:ext cx="3572947" cy="1295876"/>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Narahatlıqları açıq şəkildə dinləyin. "SI işimi əlindən alacaq" qorxusunu faktlar və yenidən ixtisaslaşma perspektivləri ilə aradan qaldırın.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22722" y="629007"/>
            <a:ext cx="5700474" cy="584240"/>
          </a:xfrm>
          <a:prstGeom prst="rect">
            <a:avLst/>
          </a:prstGeom>
          <a:noFill/>
          <a:ln/>
        </p:spPr>
        <p:txBody>
          <a:bodyPr wrap="none" lIns="0" tIns="0" rIns="0" bIns="0" rtlCol="0" anchor="t"/>
          <a:lstStyle/>
          <a:p>
            <a:pPr algn="l" indent="0" marL="0">
              <a:lnSpc>
                <a:spcPts val="4600"/>
              </a:lnSpc>
              <a:buNone/>
            </a:pPr>
            <a:r>
              <a:rPr lang="en-US" sz="3650" b="1" dirty="0">
                <a:solidFill>
                  <a:srgbClr val="FFFFFF"/>
                </a:solidFill>
                <a:latin typeface="Montserrat Bold" pitchFamily="34" charset="0"/>
                <a:ea typeface="Montserrat Bold" pitchFamily="34" charset="-122"/>
                <a:cs typeface="Montserrat Bold" pitchFamily="34" charset="-120"/>
              </a:rPr>
              <a:t>SI Layihələrinin Riskləri</a:t>
            </a:r>
            <a:endParaRPr lang="en-US" sz="3650" dirty="0"/>
          </a:p>
        </p:txBody>
      </p:sp>
      <p:sp>
        <p:nvSpPr>
          <p:cNvPr id="4" name="Text 1"/>
          <p:cNvSpPr/>
          <p:nvPr/>
        </p:nvSpPr>
        <p:spPr>
          <a:xfrm>
            <a:off x="822722" y="1507093"/>
            <a:ext cx="7498556" cy="602456"/>
          </a:xfrm>
          <a:prstGeom prst="rect">
            <a:avLst/>
          </a:prstGeom>
          <a:noFill/>
          <a:ln/>
        </p:spPr>
        <p:txBody>
          <a:bodyPr wrap="square" lIns="0" tIns="0" rIns="0" bIns="0" rtlCol="0" anchor="t"/>
          <a:lstStyle/>
          <a:p>
            <a:pPr algn="l" indent="0" marL="0">
              <a:lnSpc>
                <a:spcPts val="2350"/>
              </a:lnSpc>
              <a:buNone/>
            </a:pPr>
            <a:r>
              <a:rPr lang="en-US" sz="1600" dirty="0">
                <a:solidFill>
                  <a:srgbClr val="E2E6E9"/>
                </a:solidFill>
                <a:latin typeface="Source Sans 3" pitchFamily="34" charset="0"/>
                <a:ea typeface="Source Sans 3" pitchFamily="34" charset="-122"/>
                <a:cs typeface="Source Sans 3" pitchFamily="34" charset="-120"/>
              </a:rPr>
              <a:t>Hər SI layihəsi unikal risklər daşıyır. Bu riskləri əvvəlcədən müəyyən etmək və idarə etmək layihənin uzunmüddətli uğurunu təmin edir.</a:t>
            </a:r>
            <a:endParaRPr lang="en-US" sz="1600" dirty="0"/>
          </a:p>
        </p:txBody>
      </p:sp>
      <p:sp>
        <p:nvSpPr>
          <p:cNvPr id="5" name="Shape 2"/>
          <p:cNvSpPr/>
          <p:nvPr/>
        </p:nvSpPr>
        <p:spPr>
          <a:xfrm>
            <a:off x="822722" y="2329934"/>
            <a:ext cx="3651290" cy="2838569"/>
          </a:xfrm>
          <a:prstGeom prst="roundRect">
            <a:avLst>
              <a:gd name="adj" fmla="val 1087"/>
            </a:avLst>
          </a:prstGeom>
          <a:solidFill>
            <a:srgbClr val="303132"/>
          </a:solidFill>
          <a:ln/>
        </p:spPr>
      </p:sp>
      <p:sp>
        <p:nvSpPr>
          <p:cNvPr id="6" name="Shape 3"/>
          <p:cNvSpPr/>
          <p:nvPr/>
        </p:nvSpPr>
        <p:spPr>
          <a:xfrm>
            <a:off x="1028343" y="2535555"/>
            <a:ext cx="616982" cy="616982"/>
          </a:xfrm>
          <a:prstGeom prst="roundRect">
            <a:avLst>
              <a:gd name="adj" fmla="val 14819048"/>
            </a:avLst>
          </a:prstGeom>
          <a:solidFill>
            <a:srgbClr val="FFFFFF"/>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8007" y="2705100"/>
            <a:ext cx="277654" cy="277654"/>
          </a:xfrm>
          <a:prstGeom prst="rect">
            <a:avLst/>
          </a:prstGeom>
        </p:spPr>
      </p:pic>
      <p:sp>
        <p:nvSpPr>
          <p:cNvPr id="8" name="Text 4"/>
          <p:cNvSpPr/>
          <p:nvPr/>
        </p:nvSpPr>
        <p:spPr>
          <a:xfrm>
            <a:off x="1028343" y="3348395"/>
            <a:ext cx="2968228" cy="292060"/>
          </a:xfrm>
          <a:prstGeom prst="rect">
            <a:avLst/>
          </a:prstGeom>
          <a:noFill/>
          <a:ln/>
        </p:spPr>
        <p:txBody>
          <a:bodyPr wrap="none" lIns="0" tIns="0" rIns="0" bIns="0" rtlCol="0" anchor="t"/>
          <a:lstStyle/>
          <a:p>
            <a:pPr algn="l" indent="0" marL="0">
              <a:lnSpc>
                <a:spcPts val="2300"/>
              </a:lnSpc>
              <a:buNone/>
            </a:pPr>
            <a:r>
              <a:rPr lang="en-US" sz="1800" b="1" dirty="0">
                <a:solidFill>
                  <a:srgbClr val="E2E6E9"/>
                </a:solidFill>
                <a:latin typeface="Montserrat Bold" pitchFamily="34" charset="0"/>
                <a:ea typeface="Montserrat Bold" pitchFamily="34" charset="-122"/>
                <a:cs typeface="Montserrat Bold" pitchFamily="34" charset="-120"/>
              </a:rPr>
              <a:t>Məlumat Keyfiyyətsizliyi</a:t>
            </a:r>
            <a:endParaRPr lang="en-US" sz="1800" dirty="0"/>
          </a:p>
        </p:txBody>
      </p:sp>
      <p:sp>
        <p:nvSpPr>
          <p:cNvPr id="9" name="Text 5"/>
          <p:cNvSpPr/>
          <p:nvPr/>
        </p:nvSpPr>
        <p:spPr>
          <a:xfrm>
            <a:off x="1028343" y="3757970"/>
            <a:ext cx="3240048" cy="1204913"/>
          </a:xfrm>
          <a:prstGeom prst="rect">
            <a:avLst/>
          </a:prstGeom>
          <a:noFill/>
          <a:ln/>
        </p:spPr>
        <p:txBody>
          <a:bodyPr wrap="square" lIns="0" tIns="0" rIns="0" bIns="0" rtlCol="0" anchor="t"/>
          <a:lstStyle/>
          <a:p>
            <a:pPr algn="l" indent="0" marL="0">
              <a:lnSpc>
                <a:spcPts val="2350"/>
              </a:lnSpc>
              <a:buNone/>
            </a:pPr>
            <a:r>
              <a:rPr lang="en-US" sz="1600" dirty="0">
                <a:solidFill>
                  <a:srgbClr val="E2E6E9"/>
                </a:solidFill>
                <a:latin typeface="Source Sans 3" pitchFamily="34" charset="0"/>
                <a:ea typeface="Source Sans 3" pitchFamily="34" charset="-122"/>
                <a:cs typeface="Source Sans 3" pitchFamily="34" charset="-120"/>
              </a:rPr>
              <a:t>Natamam, qərəzli və ya köhnəlmiş məlumatlar modelin dəqiqliyini ciddi şəkildə azaldır. "Zibil girər, zibil çıxar" prinsipi.</a:t>
            </a:r>
            <a:endParaRPr lang="en-US" sz="1600" dirty="0"/>
          </a:p>
        </p:txBody>
      </p:sp>
      <p:sp>
        <p:nvSpPr>
          <p:cNvPr id="10" name="Shape 6"/>
          <p:cNvSpPr/>
          <p:nvPr/>
        </p:nvSpPr>
        <p:spPr>
          <a:xfrm>
            <a:off x="4669869" y="2329934"/>
            <a:ext cx="3651409" cy="2838569"/>
          </a:xfrm>
          <a:prstGeom prst="roundRect">
            <a:avLst>
              <a:gd name="adj" fmla="val 1087"/>
            </a:avLst>
          </a:prstGeom>
          <a:solidFill>
            <a:srgbClr val="303132"/>
          </a:solidFill>
          <a:ln/>
        </p:spPr>
      </p:sp>
      <p:sp>
        <p:nvSpPr>
          <p:cNvPr id="11" name="Shape 7"/>
          <p:cNvSpPr/>
          <p:nvPr/>
        </p:nvSpPr>
        <p:spPr>
          <a:xfrm>
            <a:off x="4875490" y="2535555"/>
            <a:ext cx="616982" cy="616982"/>
          </a:xfrm>
          <a:prstGeom prst="roundRect">
            <a:avLst>
              <a:gd name="adj" fmla="val 14819048"/>
            </a:avLst>
          </a:prstGeom>
          <a:solidFill>
            <a:srgbClr val="FFFFFF"/>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154" y="2705100"/>
            <a:ext cx="277654" cy="277654"/>
          </a:xfrm>
          <a:prstGeom prst="rect">
            <a:avLst/>
          </a:prstGeom>
        </p:spPr>
      </p:pic>
      <p:sp>
        <p:nvSpPr>
          <p:cNvPr id="13" name="Text 8"/>
          <p:cNvSpPr/>
          <p:nvPr/>
        </p:nvSpPr>
        <p:spPr>
          <a:xfrm>
            <a:off x="4875490" y="3348395"/>
            <a:ext cx="2337316" cy="292060"/>
          </a:xfrm>
          <a:prstGeom prst="rect">
            <a:avLst/>
          </a:prstGeom>
          <a:noFill/>
          <a:ln/>
        </p:spPr>
        <p:txBody>
          <a:bodyPr wrap="none" lIns="0" tIns="0" rIns="0" bIns="0" rtlCol="0" anchor="t"/>
          <a:lstStyle/>
          <a:p>
            <a:pPr algn="l" indent="0" marL="0">
              <a:lnSpc>
                <a:spcPts val="2300"/>
              </a:lnSpc>
              <a:buNone/>
            </a:pPr>
            <a:r>
              <a:rPr lang="en-US" sz="1800" b="1" dirty="0">
                <a:solidFill>
                  <a:srgbClr val="E2E6E9"/>
                </a:solidFill>
                <a:latin typeface="Montserrat Bold" pitchFamily="34" charset="0"/>
                <a:ea typeface="Montserrat Bold" pitchFamily="34" charset="-122"/>
                <a:cs typeface="Montserrat Bold" pitchFamily="34" charset="-120"/>
              </a:rPr>
              <a:t>Texniki Asılılıq</a:t>
            </a:r>
            <a:endParaRPr lang="en-US" sz="1800" dirty="0"/>
          </a:p>
        </p:txBody>
      </p:sp>
      <p:sp>
        <p:nvSpPr>
          <p:cNvPr id="14" name="Text 9"/>
          <p:cNvSpPr/>
          <p:nvPr/>
        </p:nvSpPr>
        <p:spPr>
          <a:xfrm>
            <a:off x="4875490" y="3757970"/>
            <a:ext cx="3240167" cy="1204913"/>
          </a:xfrm>
          <a:prstGeom prst="rect">
            <a:avLst/>
          </a:prstGeom>
          <a:noFill/>
          <a:ln/>
        </p:spPr>
        <p:txBody>
          <a:bodyPr wrap="square" lIns="0" tIns="0" rIns="0" bIns="0" rtlCol="0" anchor="t"/>
          <a:lstStyle/>
          <a:p>
            <a:pPr algn="l" indent="0" marL="0">
              <a:lnSpc>
                <a:spcPts val="2350"/>
              </a:lnSpc>
              <a:buNone/>
            </a:pPr>
            <a:r>
              <a:rPr lang="en-US" sz="1600" dirty="0">
                <a:solidFill>
                  <a:srgbClr val="E2E6E9"/>
                </a:solidFill>
                <a:latin typeface="Source Sans 3" pitchFamily="34" charset="0"/>
                <a:ea typeface="Source Sans 3" pitchFamily="34" charset="-122"/>
                <a:cs typeface="Source Sans 3" pitchFamily="34" charset="-120"/>
              </a:rPr>
              <a:t>Tək bir vendora və ya platformaya həddindən artıq güvənmək uzunmüddətli çevikliyi məhdudlaşdırır və xərcləri artırır.</a:t>
            </a:r>
            <a:endParaRPr lang="en-US" sz="1600" dirty="0"/>
          </a:p>
        </p:txBody>
      </p:sp>
      <p:sp>
        <p:nvSpPr>
          <p:cNvPr id="15" name="Shape 10"/>
          <p:cNvSpPr/>
          <p:nvPr/>
        </p:nvSpPr>
        <p:spPr>
          <a:xfrm>
            <a:off x="822722" y="5364361"/>
            <a:ext cx="7498556" cy="2236113"/>
          </a:xfrm>
          <a:prstGeom prst="roundRect">
            <a:avLst>
              <a:gd name="adj" fmla="val 1380"/>
            </a:avLst>
          </a:prstGeom>
          <a:solidFill>
            <a:srgbClr val="303132"/>
          </a:solidFill>
          <a:ln/>
        </p:spPr>
      </p:sp>
      <p:sp>
        <p:nvSpPr>
          <p:cNvPr id="16" name="Shape 11"/>
          <p:cNvSpPr/>
          <p:nvPr/>
        </p:nvSpPr>
        <p:spPr>
          <a:xfrm>
            <a:off x="1028343" y="5569982"/>
            <a:ext cx="616982" cy="616982"/>
          </a:xfrm>
          <a:prstGeom prst="roundRect">
            <a:avLst>
              <a:gd name="adj" fmla="val 14819048"/>
            </a:avLst>
          </a:prstGeom>
          <a:solidFill>
            <a:srgbClr val="FFFFFF"/>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8007" y="5739527"/>
            <a:ext cx="277654" cy="277654"/>
          </a:xfrm>
          <a:prstGeom prst="rect">
            <a:avLst/>
          </a:prstGeom>
        </p:spPr>
      </p:pic>
      <p:sp>
        <p:nvSpPr>
          <p:cNvPr id="18" name="Text 12"/>
          <p:cNvSpPr/>
          <p:nvPr/>
        </p:nvSpPr>
        <p:spPr>
          <a:xfrm>
            <a:off x="1028343" y="6382822"/>
            <a:ext cx="2337316" cy="292060"/>
          </a:xfrm>
          <a:prstGeom prst="rect">
            <a:avLst/>
          </a:prstGeom>
          <a:noFill/>
          <a:ln/>
        </p:spPr>
        <p:txBody>
          <a:bodyPr wrap="none" lIns="0" tIns="0" rIns="0" bIns="0" rtlCol="0" anchor="t"/>
          <a:lstStyle/>
          <a:p>
            <a:pPr algn="l" indent="0" marL="0">
              <a:lnSpc>
                <a:spcPts val="2300"/>
              </a:lnSpc>
              <a:buNone/>
            </a:pPr>
            <a:r>
              <a:rPr lang="en-US" sz="1800" b="1" dirty="0">
                <a:solidFill>
                  <a:srgbClr val="E2E6E9"/>
                </a:solidFill>
                <a:latin typeface="Montserrat Bold" pitchFamily="34" charset="0"/>
                <a:ea typeface="Montserrat Bold" pitchFamily="34" charset="-122"/>
                <a:cs typeface="Montserrat Bold" pitchFamily="34" charset="-120"/>
              </a:rPr>
              <a:t>Etik Risklər</a:t>
            </a:r>
            <a:endParaRPr lang="en-US" sz="1800" dirty="0"/>
          </a:p>
        </p:txBody>
      </p:sp>
      <p:sp>
        <p:nvSpPr>
          <p:cNvPr id="19" name="Text 13"/>
          <p:cNvSpPr/>
          <p:nvPr/>
        </p:nvSpPr>
        <p:spPr>
          <a:xfrm>
            <a:off x="1028343" y="6792397"/>
            <a:ext cx="7087314" cy="602456"/>
          </a:xfrm>
          <a:prstGeom prst="rect">
            <a:avLst/>
          </a:prstGeom>
          <a:noFill/>
          <a:ln/>
        </p:spPr>
        <p:txBody>
          <a:bodyPr wrap="square" lIns="0" tIns="0" rIns="0" bIns="0" rtlCol="0" anchor="t"/>
          <a:lstStyle/>
          <a:p>
            <a:pPr algn="l" indent="0" marL="0">
              <a:lnSpc>
                <a:spcPts val="2350"/>
              </a:lnSpc>
              <a:buNone/>
            </a:pPr>
            <a:r>
              <a:rPr lang="en-US" sz="1600" dirty="0">
                <a:solidFill>
                  <a:srgbClr val="E2E6E9"/>
                </a:solidFill>
                <a:latin typeface="Source Sans 3" pitchFamily="34" charset="0"/>
                <a:ea typeface="Source Sans 3" pitchFamily="34" charset="-122"/>
                <a:cs typeface="Source Sans 3" pitchFamily="34" charset="-120"/>
              </a:rPr>
              <a:t>Ayrı-seçkilik, məxfilik pozuntuları və şəffaflıq çatışmazlığı həm hüquqi, həm də reputasiya baxımından ciddi nəticələr doğura bilər.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1749504"/>
            <a:ext cx="4908471" cy="613529"/>
          </a:xfrm>
          <a:prstGeom prst="rect">
            <a:avLst/>
          </a:prstGeom>
          <a:noFill/>
          <a:ln/>
        </p:spPr>
        <p:txBody>
          <a:bodyPr wrap="none" lIns="0" tIns="0" rIns="0" bIns="0" rtlCol="0" anchor="t"/>
          <a:lstStyle/>
          <a:p>
            <a:pPr algn="l" indent="0" marL="0">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Uğur Faktorları</a:t>
            </a:r>
            <a:endParaRPr lang="en-US" sz="3850" dirty="0"/>
          </a:p>
        </p:txBody>
      </p:sp>
      <p:sp>
        <p:nvSpPr>
          <p:cNvPr id="3" name="Text 1"/>
          <p:cNvSpPr/>
          <p:nvPr/>
        </p:nvSpPr>
        <p:spPr>
          <a:xfrm>
            <a:off x="863798" y="2794873"/>
            <a:ext cx="12902803" cy="323969"/>
          </a:xfrm>
          <a:prstGeom prst="rect">
            <a:avLst/>
          </a:prstGeom>
          <a:noFill/>
          <a:ln/>
        </p:spPr>
        <p:txBody>
          <a:bodyPr wrap="non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Tədqiqatlar göstərir ki, SI layihələrinin 70%-dən çoxu gözlənilən nəticəni vermir. Uğurlu layihələrin isə bir sıra ortaq xüsusiyyətləri var:</a:t>
            </a:r>
            <a:endParaRPr lang="en-US" sz="1700" dirty="0"/>
          </a:p>
        </p:txBody>
      </p:sp>
      <p:sp>
        <p:nvSpPr>
          <p:cNvPr id="4" name="Shape 2"/>
          <p:cNvSpPr/>
          <p:nvPr/>
        </p:nvSpPr>
        <p:spPr>
          <a:xfrm>
            <a:off x="1187648" y="4225528"/>
            <a:ext cx="3832979" cy="215860"/>
          </a:xfrm>
          <a:prstGeom prst="roundRect">
            <a:avLst>
              <a:gd name="adj" fmla="val 15008"/>
            </a:avLst>
          </a:prstGeom>
          <a:solidFill>
            <a:srgbClr val="303132"/>
          </a:solidFill>
          <a:ln/>
        </p:spPr>
      </p:sp>
      <p:sp>
        <p:nvSpPr>
          <p:cNvPr id="5" name="Shape 3"/>
          <p:cNvSpPr/>
          <p:nvPr/>
        </p:nvSpPr>
        <p:spPr>
          <a:xfrm>
            <a:off x="863798" y="4009489"/>
            <a:ext cx="647819" cy="647819"/>
          </a:xfrm>
          <a:prstGeom prst="roundRect">
            <a:avLst>
              <a:gd name="adj" fmla="val 70575"/>
            </a:avLst>
          </a:prstGeom>
          <a:solidFill>
            <a:srgbClr val="303132"/>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5723" y="4171414"/>
            <a:ext cx="323850" cy="323850"/>
          </a:xfrm>
          <a:prstGeom prst="rect">
            <a:avLst/>
          </a:prstGeom>
        </p:spPr>
      </p:pic>
      <p:sp>
        <p:nvSpPr>
          <p:cNvPr id="7" name="Text 4"/>
          <p:cNvSpPr/>
          <p:nvPr/>
        </p:nvSpPr>
        <p:spPr>
          <a:xfrm>
            <a:off x="1079659" y="4873228"/>
            <a:ext cx="3725228" cy="613410"/>
          </a:xfrm>
          <a:prstGeom prst="rect">
            <a:avLst/>
          </a:prstGeom>
          <a:noFill/>
          <a:ln/>
        </p:spPr>
        <p:txBody>
          <a:bodyPr wrap="squar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Güclü Məlumat İnfrastrukturu</a:t>
            </a:r>
            <a:endParaRPr lang="en-US" sz="1900" dirty="0"/>
          </a:p>
        </p:txBody>
      </p:sp>
      <p:sp>
        <p:nvSpPr>
          <p:cNvPr id="8" name="Text 5"/>
          <p:cNvSpPr/>
          <p:nvPr/>
        </p:nvSpPr>
        <p:spPr>
          <a:xfrm>
            <a:off x="1079659" y="5616178"/>
            <a:ext cx="3725228" cy="647938"/>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Keyfiyyətli, əlçatan və strukturlu məlumat bazası hər şeyin təməlidir.</a:t>
            </a:r>
            <a:endParaRPr lang="en-US" sz="1700" dirty="0"/>
          </a:p>
        </p:txBody>
      </p:sp>
      <p:sp>
        <p:nvSpPr>
          <p:cNvPr id="9" name="Shape 6"/>
          <p:cNvSpPr/>
          <p:nvPr/>
        </p:nvSpPr>
        <p:spPr>
          <a:xfrm>
            <a:off x="5560457" y="3901559"/>
            <a:ext cx="3833098" cy="215860"/>
          </a:xfrm>
          <a:prstGeom prst="roundRect">
            <a:avLst>
              <a:gd name="adj" fmla="val 15008"/>
            </a:avLst>
          </a:prstGeom>
          <a:solidFill>
            <a:srgbClr val="303132"/>
          </a:solidFill>
          <a:ln/>
        </p:spPr>
      </p:sp>
      <p:sp>
        <p:nvSpPr>
          <p:cNvPr id="10" name="Shape 7"/>
          <p:cNvSpPr/>
          <p:nvPr/>
        </p:nvSpPr>
        <p:spPr>
          <a:xfrm>
            <a:off x="5236607" y="3685520"/>
            <a:ext cx="647819" cy="647819"/>
          </a:xfrm>
          <a:prstGeom prst="roundRect">
            <a:avLst>
              <a:gd name="adj" fmla="val 70575"/>
            </a:avLst>
          </a:prstGeom>
          <a:solidFill>
            <a:srgbClr val="303132"/>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98532" y="3847445"/>
            <a:ext cx="323850" cy="323850"/>
          </a:xfrm>
          <a:prstGeom prst="rect">
            <a:avLst/>
          </a:prstGeom>
        </p:spPr>
      </p:pic>
      <p:sp>
        <p:nvSpPr>
          <p:cNvPr id="12" name="Text 8"/>
          <p:cNvSpPr/>
          <p:nvPr/>
        </p:nvSpPr>
        <p:spPr>
          <a:xfrm>
            <a:off x="5452467" y="4549259"/>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Aydın KPI-lər</a:t>
            </a:r>
            <a:endParaRPr lang="en-US" sz="1900" dirty="0"/>
          </a:p>
        </p:txBody>
      </p:sp>
      <p:sp>
        <p:nvSpPr>
          <p:cNvPr id="13" name="Text 9"/>
          <p:cNvSpPr/>
          <p:nvPr/>
        </p:nvSpPr>
        <p:spPr>
          <a:xfrm>
            <a:off x="5452467" y="4985504"/>
            <a:ext cx="3725347" cy="971907"/>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Uğur meyarları tətbiqdən əvvəl müəyyən edilməli, ölçülə bilən göstəricilər təyin olunmalıdır.</a:t>
            </a:r>
            <a:endParaRPr lang="en-US" sz="1700" dirty="0"/>
          </a:p>
        </p:txBody>
      </p:sp>
      <p:sp>
        <p:nvSpPr>
          <p:cNvPr id="14" name="Shape 10"/>
          <p:cNvSpPr/>
          <p:nvPr/>
        </p:nvSpPr>
        <p:spPr>
          <a:xfrm>
            <a:off x="9933384" y="3577709"/>
            <a:ext cx="3833098" cy="215860"/>
          </a:xfrm>
          <a:prstGeom prst="roundRect">
            <a:avLst>
              <a:gd name="adj" fmla="val 15008"/>
            </a:avLst>
          </a:prstGeom>
          <a:solidFill>
            <a:srgbClr val="303132"/>
          </a:solidFill>
          <a:ln/>
        </p:spPr>
      </p:sp>
      <p:sp>
        <p:nvSpPr>
          <p:cNvPr id="15" name="Shape 11"/>
          <p:cNvSpPr/>
          <p:nvPr/>
        </p:nvSpPr>
        <p:spPr>
          <a:xfrm>
            <a:off x="9609534" y="3361670"/>
            <a:ext cx="647819" cy="647819"/>
          </a:xfrm>
          <a:prstGeom prst="roundRect">
            <a:avLst>
              <a:gd name="adj" fmla="val 70575"/>
            </a:avLst>
          </a:prstGeom>
          <a:solidFill>
            <a:srgbClr val="303132"/>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71459" y="3523595"/>
            <a:ext cx="323850" cy="323850"/>
          </a:xfrm>
          <a:prstGeom prst="rect">
            <a:avLst/>
          </a:prstGeom>
        </p:spPr>
      </p:pic>
      <p:sp>
        <p:nvSpPr>
          <p:cNvPr id="17" name="Text 12"/>
          <p:cNvSpPr/>
          <p:nvPr/>
        </p:nvSpPr>
        <p:spPr>
          <a:xfrm>
            <a:off x="9825395" y="4225409"/>
            <a:ext cx="2502098" cy="306705"/>
          </a:xfrm>
          <a:prstGeom prst="rect">
            <a:avLst/>
          </a:prstGeom>
          <a:noFill/>
          <a:ln/>
        </p:spPr>
        <p:txBody>
          <a:bodyPr wrap="non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Rəhbərliyin Dəstəyi</a:t>
            </a:r>
            <a:endParaRPr lang="en-US" sz="1900" dirty="0"/>
          </a:p>
        </p:txBody>
      </p:sp>
      <p:sp>
        <p:nvSpPr>
          <p:cNvPr id="18" name="Text 13"/>
          <p:cNvSpPr/>
          <p:nvPr/>
        </p:nvSpPr>
        <p:spPr>
          <a:xfrm>
            <a:off x="9825395" y="4661654"/>
            <a:ext cx="3725347" cy="971907"/>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C-səviyyəsindən aktiv dəstək olmadan SI layihələri çox vaxt prioritet itirərək dayandırılır.</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444478" y="1181933"/>
            <a:ext cx="3793927" cy="306705"/>
          </a:xfrm>
          <a:prstGeom prst="rect">
            <a:avLst/>
          </a:prstGeom>
          <a:noFill/>
          <a:ln/>
        </p:spPr>
        <p:txBody>
          <a:bodyPr wrap="none" lIns="0" tIns="0" rIns="0" bIns="0" rtlCol="0" anchor="t"/>
          <a:lstStyle/>
          <a:p>
            <a:pPr algn="l" indent="0" marL="0">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ROI və Effektivliyin Ölçülməsi</a:t>
            </a:r>
            <a:endParaRPr lang="en-US" sz="1900" dirty="0"/>
          </a:p>
        </p:txBody>
      </p:sp>
      <p:sp>
        <p:nvSpPr>
          <p:cNvPr id="3" name="Text 1"/>
          <p:cNvSpPr/>
          <p:nvPr/>
        </p:nvSpPr>
        <p:spPr>
          <a:xfrm>
            <a:off x="3444478" y="1596509"/>
            <a:ext cx="7741444" cy="121444"/>
          </a:xfrm>
          <a:prstGeom prst="rect">
            <a:avLst/>
          </a:prstGeom>
          <a:noFill/>
          <a:ln/>
        </p:spPr>
        <p:txBody>
          <a:bodyPr wrap="none" lIns="0" tIns="0" rIns="0" bIns="0" rtlCol="0" anchor="t"/>
          <a:lstStyle/>
          <a:p>
            <a:pPr algn="l" indent="0" marL="0">
              <a:lnSpc>
                <a:spcPts val="950"/>
              </a:lnSpc>
              <a:buNone/>
            </a:pPr>
            <a:r>
              <a:rPr lang="en-US" sz="850" dirty="0">
                <a:solidFill>
                  <a:srgbClr val="E2E6E9"/>
                </a:solidFill>
                <a:latin typeface="Source Sans 3" pitchFamily="34" charset="0"/>
                <a:ea typeface="Source Sans 3" pitchFamily="34" charset="-122"/>
                <a:cs typeface="Source Sans 3" pitchFamily="34" charset="-120"/>
              </a:rPr>
              <a:t>SI investisiyasının geri dönüşünü düzgün hesablamaq üçün həm birbaşa, həm də dolayı faydaları nəzərə almaq lazımdır.</a:t>
            </a:r>
            <a:endParaRPr lang="en-US" sz="850" dirty="0"/>
          </a:p>
        </p:txBody>
      </p:sp>
      <p:sp>
        <p:nvSpPr>
          <p:cNvPr id="4" name="Text 2"/>
          <p:cNvSpPr/>
          <p:nvPr/>
        </p:nvSpPr>
        <p:spPr>
          <a:xfrm>
            <a:off x="3444478" y="1832610"/>
            <a:ext cx="1227058" cy="153352"/>
          </a:xfrm>
          <a:prstGeom prst="rect">
            <a:avLst/>
          </a:prstGeom>
          <a:noFill/>
          <a:ln/>
        </p:spPr>
        <p:txBody>
          <a:bodyPr wrap="none" lIns="0" tIns="0" rIns="0" bIns="0" rtlCol="0" anchor="t"/>
          <a:lstStyle/>
          <a:p>
            <a:pPr algn="l" indent="0" marL="0">
              <a:lnSpc>
                <a:spcPts val="1200"/>
              </a:lnSpc>
              <a:buNone/>
            </a:pPr>
            <a:r>
              <a:rPr lang="en-US" sz="950" b="1" dirty="0">
                <a:solidFill>
                  <a:srgbClr val="FFFFFF"/>
                </a:solidFill>
                <a:latin typeface="Montserrat Bold" pitchFamily="34" charset="0"/>
                <a:ea typeface="Montserrat Bold" pitchFamily="34" charset="-122"/>
                <a:cs typeface="Montserrat Bold" pitchFamily="34" charset="-120"/>
              </a:rPr>
              <a:t>Xərclər</a:t>
            </a:r>
            <a:endParaRPr lang="en-US" sz="950" dirty="0"/>
          </a:p>
        </p:txBody>
      </p:sp>
      <p:sp>
        <p:nvSpPr>
          <p:cNvPr id="5" name="Shape 3"/>
          <p:cNvSpPr/>
          <p:nvPr/>
        </p:nvSpPr>
        <p:spPr>
          <a:xfrm>
            <a:off x="3444478" y="2046684"/>
            <a:ext cx="1842492" cy="544473"/>
          </a:xfrm>
          <a:prstGeom prst="roundRect">
            <a:avLst>
              <a:gd name="adj" fmla="val 2975"/>
            </a:avLst>
          </a:prstGeom>
          <a:solidFill>
            <a:srgbClr val="303132"/>
          </a:solidFill>
          <a:ln/>
        </p:spPr>
      </p:sp>
      <p:sp>
        <p:nvSpPr>
          <p:cNvPr id="6" name="Text 4"/>
          <p:cNvSpPr/>
          <p:nvPr/>
        </p:nvSpPr>
        <p:spPr>
          <a:xfrm>
            <a:off x="3552349" y="2154555"/>
            <a:ext cx="1227058" cy="153352"/>
          </a:xfrm>
          <a:prstGeom prst="rect">
            <a:avLst/>
          </a:prstGeom>
          <a:noFill/>
          <a:ln/>
        </p:spPr>
        <p:txBody>
          <a:bodyPr wrap="none" lIns="0" tIns="0" rIns="0" bIns="0" rtlCol="0" anchor="t"/>
          <a:lstStyle/>
          <a:p>
            <a:pPr algn="l" indent="0" marL="0">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Texnologiya</a:t>
            </a:r>
            <a:endParaRPr lang="en-US" sz="950" dirty="0"/>
          </a:p>
        </p:txBody>
      </p:sp>
      <p:sp>
        <p:nvSpPr>
          <p:cNvPr id="7" name="Text 5"/>
          <p:cNvSpPr/>
          <p:nvPr/>
        </p:nvSpPr>
        <p:spPr>
          <a:xfrm>
            <a:off x="3552349" y="2361843"/>
            <a:ext cx="1626751" cy="121444"/>
          </a:xfrm>
          <a:prstGeom prst="rect">
            <a:avLst/>
          </a:prstGeom>
          <a:noFill/>
          <a:ln/>
        </p:spPr>
        <p:txBody>
          <a:bodyPr wrap="none" lIns="0" tIns="0" rIns="0" bIns="0" rtlCol="0" anchor="t"/>
          <a:lstStyle/>
          <a:p>
            <a:pPr algn="l" indent="0" marL="0">
              <a:lnSpc>
                <a:spcPts val="950"/>
              </a:lnSpc>
              <a:buNone/>
            </a:pPr>
            <a:r>
              <a:rPr lang="en-US" sz="850" dirty="0">
                <a:solidFill>
                  <a:srgbClr val="E2E6E9"/>
                </a:solidFill>
                <a:latin typeface="Source Sans 3" pitchFamily="34" charset="0"/>
                <a:ea typeface="Source Sans 3" pitchFamily="34" charset="-122"/>
                <a:cs typeface="Source Sans 3" pitchFamily="34" charset="-120"/>
              </a:rPr>
              <a:t>Proqram, aparat, bulud xidmətləri</a:t>
            </a:r>
            <a:endParaRPr lang="en-US" sz="850" dirty="0"/>
          </a:p>
        </p:txBody>
      </p:sp>
      <p:sp>
        <p:nvSpPr>
          <p:cNvPr id="8" name="Shape 6"/>
          <p:cNvSpPr/>
          <p:nvPr/>
        </p:nvSpPr>
        <p:spPr>
          <a:xfrm>
            <a:off x="5340906" y="2046684"/>
            <a:ext cx="1842611" cy="544473"/>
          </a:xfrm>
          <a:prstGeom prst="roundRect">
            <a:avLst>
              <a:gd name="adj" fmla="val 2975"/>
            </a:avLst>
          </a:prstGeom>
          <a:solidFill>
            <a:srgbClr val="303132"/>
          </a:solidFill>
          <a:ln/>
        </p:spPr>
      </p:sp>
      <p:sp>
        <p:nvSpPr>
          <p:cNvPr id="9" name="Text 7"/>
          <p:cNvSpPr/>
          <p:nvPr/>
        </p:nvSpPr>
        <p:spPr>
          <a:xfrm>
            <a:off x="5448776" y="2154555"/>
            <a:ext cx="1227058" cy="153352"/>
          </a:xfrm>
          <a:prstGeom prst="rect">
            <a:avLst/>
          </a:prstGeom>
          <a:noFill/>
          <a:ln/>
        </p:spPr>
        <p:txBody>
          <a:bodyPr wrap="none" lIns="0" tIns="0" rIns="0" bIns="0" rtlCol="0" anchor="t"/>
          <a:lstStyle/>
          <a:p>
            <a:pPr algn="l" indent="0" marL="0">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İnsan Resursu</a:t>
            </a:r>
            <a:endParaRPr lang="en-US" sz="950" dirty="0"/>
          </a:p>
        </p:txBody>
      </p:sp>
      <p:sp>
        <p:nvSpPr>
          <p:cNvPr id="10" name="Text 8"/>
          <p:cNvSpPr/>
          <p:nvPr/>
        </p:nvSpPr>
        <p:spPr>
          <a:xfrm>
            <a:off x="5448776" y="2361843"/>
            <a:ext cx="1626870" cy="121444"/>
          </a:xfrm>
          <a:prstGeom prst="rect">
            <a:avLst/>
          </a:prstGeom>
          <a:noFill/>
          <a:ln/>
        </p:spPr>
        <p:txBody>
          <a:bodyPr wrap="none" lIns="0" tIns="0" rIns="0" bIns="0" rtlCol="0" anchor="t"/>
          <a:lstStyle/>
          <a:p>
            <a:pPr algn="l" indent="0" marL="0">
              <a:lnSpc>
                <a:spcPts val="950"/>
              </a:lnSpc>
              <a:buNone/>
            </a:pPr>
            <a:r>
              <a:rPr lang="en-US" sz="850" dirty="0">
                <a:solidFill>
                  <a:srgbClr val="E2E6E9"/>
                </a:solidFill>
                <a:latin typeface="Source Sans 3" pitchFamily="34" charset="0"/>
                <a:ea typeface="Source Sans 3" pitchFamily="34" charset="-122"/>
                <a:cs typeface="Source Sans 3" pitchFamily="34" charset="-120"/>
              </a:rPr>
              <a:t>Təlim, işə götürmə, konsaltinq</a:t>
            </a:r>
            <a:endParaRPr lang="en-US" sz="850" dirty="0"/>
          </a:p>
        </p:txBody>
      </p:sp>
      <p:sp>
        <p:nvSpPr>
          <p:cNvPr id="11" name="Shape 9"/>
          <p:cNvSpPr/>
          <p:nvPr/>
        </p:nvSpPr>
        <p:spPr>
          <a:xfrm>
            <a:off x="3444478" y="2645093"/>
            <a:ext cx="3739039" cy="544473"/>
          </a:xfrm>
          <a:prstGeom prst="roundRect">
            <a:avLst>
              <a:gd name="adj" fmla="val 2975"/>
            </a:avLst>
          </a:prstGeom>
          <a:solidFill>
            <a:srgbClr val="303132"/>
          </a:solidFill>
          <a:ln/>
        </p:spPr>
      </p:sp>
      <p:sp>
        <p:nvSpPr>
          <p:cNvPr id="12" name="Text 10"/>
          <p:cNvSpPr/>
          <p:nvPr/>
        </p:nvSpPr>
        <p:spPr>
          <a:xfrm>
            <a:off x="3552349" y="2752963"/>
            <a:ext cx="1227058" cy="153352"/>
          </a:xfrm>
          <a:prstGeom prst="rect">
            <a:avLst/>
          </a:prstGeom>
          <a:noFill/>
          <a:ln/>
        </p:spPr>
        <p:txBody>
          <a:bodyPr wrap="none" lIns="0" tIns="0" rIns="0" bIns="0" rtlCol="0" anchor="t"/>
          <a:lstStyle/>
          <a:p>
            <a:pPr algn="l" indent="0" marL="0">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İnteqrasiya</a:t>
            </a:r>
            <a:endParaRPr lang="en-US" sz="950" dirty="0"/>
          </a:p>
        </p:txBody>
      </p:sp>
      <p:sp>
        <p:nvSpPr>
          <p:cNvPr id="13" name="Text 11"/>
          <p:cNvSpPr/>
          <p:nvPr/>
        </p:nvSpPr>
        <p:spPr>
          <a:xfrm>
            <a:off x="3552349" y="2960251"/>
            <a:ext cx="3523298" cy="121444"/>
          </a:xfrm>
          <a:prstGeom prst="rect">
            <a:avLst/>
          </a:prstGeom>
          <a:noFill/>
          <a:ln/>
        </p:spPr>
        <p:txBody>
          <a:bodyPr wrap="none" lIns="0" tIns="0" rIns="0" bIns="0" rtlCol="0" anchor="t"/>
          <a:lstStyle/>
          <a:p>
            <a:pPr algn="l" indent="0" marL="0">
              <a:lnSpc>
                <a:spcPts val="950"/>
              </a:lnSpc>
              <a:buNone/>
            </a:pPr>
            <a:r>
              <a:rPr lang="en-US" sz="850" dirty="0">
                <a:solidFill>
                  <a:srgbClr val="E2E6E9"/>
                </a:solidFill>
                <a:latin typeface="Source Sans 3" pitchFamily="34" charset="0"/>
                <a:ea typeface="Source Sans 3" pitchFamily="34" charset="-122"/>
                <a:cs typeface="Source Sans 3" pitchFamily="34" charset="-120"/>
              </a:rPr>
              <a:t>Mövcud sistemlərlə birləşdirmə</a:t>
            </a:r>
            <a:endParaRPr lang="en-US" sz="850" dirty="0"/>
          </a:p>
        </p:txBody>
      </p:sp>
      <p:sp>
        <p:nvSpPr>
          <p:cNvPr id="14" name="Shape 12"/>
          <p:cNvSpPr/>
          <p:nvPr/>
        </p:nvSpPr>
        <p:spPr>
          <a:xfrm>
            <a:off x="7376755" y="1778675"/>
            <a:ext cx="3894534" cy="1593056"/>
          </a:xfrm>
          <a:prstGeom prst="roundRect">
            <a:avLst>
              <a:gd name="adj" fmla="val 1017"/>
            </a:avLst>
          </a:prstGeom>
          <a:solidFill>
            <a:srgbClr val="1D1F22"/>
          </a:solidFill>
          <a:ln/>
        </p:spPr>
      </p:sp>
      <p:sp>
        <p:nvSpPr>
          <p:cNvPr id="15" name="Text 13"/>
          <p:cNvSpPr/>
          <p:nvPr/>
        </p:nvSpPr>
        <p:spPr>
          <a:xfrm>
            <a:off x="7484626" y="1832610"/>
            <a:ext cx="1227058" cy="153352"/>
          </a:xfrm>
          <a:prstGeom prst="rect">
            <a:avLst/>
          </a:prstGeom>
          <a:noFill/>
          <a:ln/>
        </p:spPr>
        <p:txBody>
          <a:bodyPr wrap="none" lIns="0" tIns="0" rIns="0" bIns="0" rtlCol="0" anchor="t"/>
          <a:lstStyle/>
          <a:p>
            <a:pPr algn="l" indent="0" marL="0">
              <a:lnSpc>
                <a:spcPts val="1200"/>
              </a:lnSpc>
              <a:buNone/>
            </a:pPr>
            <a:r>
              <a:rPr lang="en-US" sz="950" b="1" dirty="0">
                <a:solidFill>
                  <a:srgbClr val="FFFFFF"/>
                </a:solidFill>
                <a:latin typeface="Montserrat Bold" pitchFamily="34" charset="0"/>
                <a:ea typeface="Montserrat Bold" pitchFamily="34" charset="-122"/>
                <a:cs typeface="Montserrat Bold" pitchFamily="34" charset="-120"/>
              </a:rPr>
              <a:t>Nəticələr</a:t>
            </a:r>
            <a:endParaRPr lang="en-US" sz="950" dirty="0"/>
          </a:p>
        </p:txBody>
      </p:sp>
      <p:sp>
        <p:nvSpPr>
          <p:cNvPr id="16" name="Shape 14"/>
          <p:cNvSpPr/>
          <p:nvPr/>
        </p:nvSpPr>
        <p:spPr>
          <a:xfrm>
            <a:off x="7484626" y="2046684"/>
            <a:ext cx="1812369" cy="665917"/>
          </a:xfrm>
          <a:prstGeom prst="roundRect">
            <a:avLst>
              <a:gd name="adj" fmla="val 2432"/>
            </a:avLst>
          </a:prstGeom>
          <a:solidFill>
            <a:srgbClr val="303132"/>
          </a:solidFill>
          <a:ln/>
        </p:spPr>
      </p:sp>
      <p:sp>
        <p:nvSpPr>
          <p:cNvPr id="17" name="Text 15"/>
          <p:cNvSpPr/>
          <p:nvPr/>
        </p:nvSpPr>
        <p:spPr>
          <a:xfrm>
            <a:off x="7592497" y="2154555"/>
            <a:ext cx="1227058" cy="153352"/>
          </a:xfrm>
          <a:prstGeom prst="rect">
            <a:avLst/>
          </a:prstGeom>
          <a:noFill/>
          <a:ln/>
        </p:spPr>
        <p:txBody>
          <a:bodyPr wrap="none" lIns="0" tIns="0" rIns="0" bIns="0" rtlCol="0" anchor="t"/>
          <a:lstStyle/>
          <a:p>
            <a:pPr algn="l" indent="0" marL="0">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Məhsuldarlıq</a:t>
            </a:r>
            <a:endParaRPr lang="en-US" sz="950" dirty="0"/>
          </a:p>
        </p:txBody>
      </p:sp>
      <p:sp>
        <p:nvSpPr>
          <p:cNvPr id="18" name="Text 16"/>
          <p:cNvSpPr/>
          <p:nvPr/>
        </p:nvSpPr>
        <p:spPr>
          <a:xfrm>
            <a:off x="7592497" y="2361843"/>
            <a:ext cx="1596628" cy="242888"/>
          </a:xfrm>
          <a:prstGeom prst="rect">
            <a:avLst/>
          </a:prstGeom>
          <a:noFill/>
          <a:ln/>
        </p:spPr>
        <p:txBody>
          <a:bodyPr wrap="square" lIns="0" tIns="0" rIns="0" bIns="0" rtlCol="0" anchor="t"/>
          <a:lstStyle/>
          <a:p>
            <a:pPr algn="l" indent="0" marL="0">
              <a:lnSpc>
                <a:spcPts val="950"/>
              </a:lnSpc>
              <a:buNone/>
            </a:pPr>
            <a:r>
              <a:rPr lang="en-US" sz="850" dirty="0">
                <a:solidFill>
                  <a:srgbClr val="E2E6E9"/>
                </a:solidFill>
                <a:latin typeface="Source Sans 3" pitchFamily="34" charset="0"/>
                <a:ea typeface="Source Sans 3" pitchFamily="34" charset="-122"/>
                <a:cs typeface="Source Sans 3" pitchFamily="34" charset="-120"/>
              </a:rPr>
              <a:t>Proseslərin sürətlənməsi, avtomatlaşma</a:t>
            </a:r>
            <a:endParaRPr lang="en-US" sz="850" dirty="0"/>
          </a:p>
        </p:txBody>
      </p:sp>
      <p:sp>
        <p:nvSpPr>
          <p:cNvPr id="19" name="Shape 17"/>
          <p:cNvSpPr/>
          <p:nvPr/>
        </p:nvSpPr>
        <p:spPr>
          <a:xfrm>
            <a:off x="9350931" y="2046684"/>
            <a:ext cx="1812488" cy="665917"/>
          </a:xfrm>
          <a:prstGeom prst="roundRect">
            <a:avLst>
              <a:gd name="adj" fmla="val 2432"/>
            </a:avLst>
          </a:prstGeom>
          <a:solidFill>
            <a:srgbClr val="303132"/>
          </a:solidFill>
          <a:ln/>
        </p:spPr>
      </p:sp>
      <p:sp>
        <p:nvSpPr>
          <p:cNvPr id="20" name="Text 18"/>
          <p:cNvSpPr/>
          <p:nvPr/>
        </p:nvSpPr>
        <p:spPr>
          <a:xfrm>
            <a:off x="9458801" y="2154555"/>
            <a:ext cx="1227058" cy="153352"/>
          </a:xfrm>
          <a:prstGeom prst="rect">
            <a:avLst/>
          </a:prstGeom>
          <a:noFill/>
          <a:ln/>
        </p:spPr>
        <p:txBody>
          <a:bodyPr wrap="none" lIns="0" tIns="0" rIns="0" bIns="0" rtlCol="0" anchor="t"/>
          <a:lstStyle/>
          <a:p>
            <a:pPr algn="l" indent="0" marL="0">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Xərclərin Azalması</a:t>
            </a:r>
            <a:endParaRPr lang="en-US" sz="950" dirty="0"/>
          </a:p>
        </p:txBody>
      </p:sp>
      <p:sp>
        <p:nvSpPr>
          <p:cNvPr id="21" name="Text 19"/>
          <p:cNvSpPr/>
          <p:nvPr/>
        </p:nvSpPr>
        <p:spPr>
          <a:xfrm>
            <a:off x="9458801" y="2361843"/>
            <a:ext cx="1596747" cy="242888"/>
          </a:xfrm>
          <a:prstGeom prst="rect">
            <a:avLst/>
          </a:prstGeom>
          <a:noFill/>
          <a:ln/>
        </p:spPr>
        <p:txBody>
          <a:bodyPr wrap="square" lIns="0" tIns="0" rIns="0" bIns="0" rtlCol="0" anchor="t"/>
          <a:lstStyle/>
          <a:p>
            <a:pPr algn="l" indent="0" marL="0">
              <a:lnSpc>
                <a:spcPts val="950"/>
              </a:lnSpc>
              <a:buNone/>
            </a:pPr>
            <a:r>
              <a:rPr lang="en-US" sz="850" dirty="0">
                <a:solidFill>
                  <a:srgbClr val="E2E6E9"/>
                </a:solidFill>
                <a:latin typeface="Source Sans 3" pitchFamily="34" charset="0"/>
                <a:ea typeface="Source Sans 3" pitchFamily="34" charset="-122"/>
                <a:cs typeface="Source Sans 3" pitchFamily="34" charset="-120"/>
              </a:rPr>
              <a:t>Əməliyyat xərclərinin optimallaşması</a:t>
            </a:r>
            <a:endParaRPr lang="en-US" sz="850" dirty="0"/>
          </a:p>
        </p:txBody>
      </p:sp>
      <p:sp>
        <p:nvSpPr>
          <p:cNvPr id="22" name="Shape 20"/>
          <p:cNvSpPr/>
          <p:nvPr/>
        </p:nvSpPr>
        <p:spPr>
          <a:xfrm>
            <a:off x="7484626" y="2766536"/>
            <a:ext cx="3678793" cy="544473"/>
          </a:xfrm>
          <a:prstGeom prst="roundRect">
            <a:avLst>
              <a:gd name="adj" fmla="val 2975"/>
            </a:avLst>
          </a:prstGeom>
          <a:solidFill>
            <a:srgbClr val="303132"/>
          </a:solidFill>
          <a:ln/>
        </p:spPr>
      </p:sp>
      <p:sp>
        <p:nvSpPr>
          <p:cNvPr id="23" name="Text 21"/>
          <p:cNvSpPr/>
          <p:nvPr/>
        </p:nvSpPr>
        <p:spPr>
          <a:xfrm>
            <a:off x="7592497" y="2874407"/>
            <a:ext cx="1227058" cy="153352"/>
          </a:xfrm>
          <a:prstGeom prst="rect">
            <a:avLst/>
          </a:prstGeom>
          <a:noFill/>
          <a:ln/>
        </p:spPr>
        <p:txBody>
          <a:bodyPr wrap="none" lIns="0" tIns="0" rIns="0" bIns="0" rtlCol="0" anchor="t"/>
          <a:lstStyle/>
          <a:p>
            <a:pPr algn="l" indent="0" marL="0">
              <a:lnSpc>
                <a:spcPts val="1200"/>
              </a:lnSpc>
              <a:buNone/>
            </a:pPr>
            <a:r>
              <a:rPr lang="en-US" sz="950" b="1" dirty="0">
                <a:solidFill>
                  <a:srgbClr val="E2E6E9"/>
                </a:solidFill>
                <a:latin typeface="Montserrat Bold" pitchFamily="34" charset="0"/>
                <a:ea typeface="Montserrat Bold" pitchFamily="34" charset="-122"/>
                <a:cs typeface="Montserrat Bold" pitchFamily="34" charset="-120"/>
              </a:rPr>
              <a:t>Gəlir Artımı</a:t>
            </a:r>
            <a:endParaRPr lang="en-US" sz="950" dirty="0"/>
          </a:p>
        </p:txBody>
      </p:sp>
      <p:sp>
        <p:nvSpPr>
          <p:cNvPr id="24" name="Text 22"/>
          <p:cNvSpPr/>
          <p:nvPr/>
        </p:nvSpPr>
        <p:spPr>
          <a:xfrm>
            <a:off x="7592497" y="3081695"/>
            <a:ext cx="3463052" cy="121444"/>
          </a:xfrm>
          <a:prstGeom prst="rect">
            <a:avLst/>
          </a:prstGeom>
          <a:noFill/>
          <a:ln/>
        </p:spPr>
        <p:txBody>
          <a:bodyPr wrap="none" lIns="0" tIns="0" rIns="0" bIns="0" rtlCol="0" anchor="t"/>
          <a:lstStyle/>
          <a:p>
            <a:pPr algn="l" indent="0" marL="0">
              <a:lnSpc>
                <a:spcPts val="950"/>
              </a:lnSpc>
              <a:buNone/>
            </a:pPr>
            <a:r>
              <a:rPr lang="en-US" sz="850" dirty="0">
                <a:solidFill>
                  <a:srgbClr val="E2E6E9"/>
                </a:solidFill>
                <a:latin typeface="Source Sans 3" pitchFamily="34" charset="0"/>
                <a:ea typeface="Source Sans 3" pitchFamily="34" charset="-122"/>
                <a:cs typeface="Source Sans 3" pitchFamily="34" charset="-120"/>
              </a:rPr>
              <a:t>Yeni imkanlar, müştəri məmnuniyyəti</a:t>
            </a:r>
            <a:endParaRPr lang="en-US" sz="850" dirty="0"/>
          </a:p>
        </p:txBody>
      </p:sp>
      <p:sp>
        <p:nvSpPr>
          <p:cNvPr id="25" name="Shape 23"/>
          <p:cNvSpPr/>
          <p:nvPr/>
        </p:nvSpPr>
        <p:spPr>
          <a:xfrm>
            <a:off x="3444478" y="3432453"/>
            <a:ext cx="808110" cy="291442"/>
          </a:xfrm>
          <a:prstGeom prst="roundRect">
            <a:avLst>
              <a:gd name="adj" fmla="val 43925"/>
            </a:avLst>
          </a:prstGeom>
          <a:solidFill>
            <a:srgbClr val="FFFFFF">
              <a:alpha val="20000"/>
            </a:srgbClr>
          </a:solidFill>
          <a:ln w="7620">
            <a:solidFill>
              <a:srgbClr val="000000"/>
            </a:solidFill>
            <a:prstDash val="solid"/>
          </a:ln>
        </p:spPr>
      </p:sp>
      <p:pic>
        <p:nvPicPr>
          <p:cNvPr id="26" name="Image 0" descr="preencoded.png">    </p:cNvPr>
          <p:cNvPicPr>
            <a:picLocks noChangeAspect="1"/>
          </p:cNvPicPr>
          <p:nvPr/>
        </p:nvPicPr>
        <p:blipFill>
          <a:blip r:embed="rId1"/>
          <a:stretch>
            <a:fillRect/>
          </a:stretch>
        </p:blipFill>
        <p:spPr>
          <a:xfrm>
            <a:off x="3538954" y="3497194"/>
            <a:ext cx="161959" cy="161959"/>
          </a:xfrm>
          <a:prstGeom prst="rect">
            <a:avLst/>
          </a:prstGeom>
        </p:spPr>
      </p:pic>
      <p:sp>
        <p:nvSpPr>
          <p:cNvPr id="27" name="Text 24"/>
          <p:cNvSpPr/>
          <p:nvPr/>
        </p:nvSpPr>
        <p:spPr>
          <a:xfrm>
            <a:off x="3754900" y="3472943"/>
            <a:ext cx="403211" cy="210463"/>
          </a:xfrm>
          <a:prstGeom prst="rect">
            <a:avLst/>
          </a:prstGeom>
          <a:noFill/>
          <a:ln/>
        </p:spPr>
        <p:txBody>
          <a:bodyPr wrap="none" lIns="0" tIns="0" rIns="0" bIns="0" rtlCol="0" anchor="t"/>
          <a:lstStyle/>
          <a:p>
            <a:pPr algn="l" indent="0" marL="0">
              <a:lnSpc>
                <a:spcPts val="900"/>
              </a:lnSpc>
              <a:buNone/>
            </a:pPr>
            <a:r>
              <a:rPr lang="en-US" sz="700" dirty="0">
                <a:solidFill>
                  <a:srgbClr val="E2E6E9"/>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1-ci İl</a:t>
            </a:r>
            <a:endParaRPr lang="en-US" sz="700" dirty="0"/>
          </a:p>
        </p:txBody>
      </p:sp>
      <p:sp>
        <p:nvSpPr>
          <p:cNvPr id="28" name="Shape 25"/>
          <p:cNvSpPr/>
          <p:nvPr/>
        </p:nvSpPr>
        <p:spPr>
          <a:xfrm>
            <a:off x="4360561" y="3432453"/>
            <a:ext cx="808110" cy="291442"/>
          </a:xfrm>
          <a:prstGeom prst="roundRect">
            <a:avLst>
              <a:gd name="adj" fmla="val 43925"/>
            </a:avLst>
          </a:prstGeom>
          <a:solidFill>
            <a:srgbClr val="FFFFFF">
              <a:alpha val="20000"/>
            </a:srgbClr>
          </a:solidFill>
          <a:ln w="7620">
            <a:solidFill>
              <a:srgbClr val="000000"/>
            </a:solidFill>
            <a:prstDash val="solid"/>
          </a:ln>
        </p:spPr>
      </p:sp>
      <p:pic>
        <p:nvPicPr>
          <p:cNvPr id="29" name="Image 1" descr="preencoded.png">    </p:cNvPr>
          <p:cNvPicPr>
            <a:picLocks noChangeAspect="1"/>
          </p:cNvPicPr>
          <p:nvPr/>
        </p:nvPicPr>
        <p:blipFill>
          <a:blip r:embed="rId2"/>
          <a:stretch>
            <a:fillRect/>
          </a:stretch>
        </p:blipFill>
        <p:spPr>
          <a:xfrm>
            <a:off x="4455037" y="3497194"/>
            <a:ext cx="161959" cy="161959"/>
          </a:xfrm>
          <a:prstGeom prst="rect">
            <a:avLst/>
          </a:prstGeom>
        </p:spPr>
      </p:pic>
      <p:sp>
        <p:nvSpPr>
          <p:cNvPr id="30" name="Text 26"/>
          <p:cNvSpPr/>
          <p:nvPr/>
        </p:nvSpPr>
        <p:spPr>
          <a:xfrm>
            <a:off x="4670983" y="3472943"/>
            <a:ext cx="403212" cy="210463"/>
          </a:xfrm>
          <a:prstGeom prst="rect">
            <a:avLst/>
          </a:prstGeom>
          <a:noFill/>
          <a:ln/>
        </p:spPr>
        <p:txBody>
          <a:bodyPr wrap="none" lIns="0" tIns="0" rIns="0" bIns="0" rtlCol="0" anchor="t"/>
          <a:lstStyle/>
          <a:p>
            <a:pPr algn="l" indent="0" marL="0">
              <a:lnSpc>
                <a:spcPts val="900"/>
              </a:lnSpc>
              <a:buNone/>
            </a:pPr>
            <a:r>
              <a:rPr lang="en-US" sz="700" dirty="0">
                <a:solidFill>
                  <a:srgbClr val="E2E6E9"/>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2-ci İl</a:t>
            </a:r>
            <a:endParaRPr lang="en-US" sz="700" dirty="0"/>
          </a:p>
        </p:txBody>
      </p:sp>
      <p:sp>
        <p:nvSpPr>
          <p:cNvPr id="31" name="Shape 27"/>
          <p:cNvSpPr/>
          <p:nvPr/>
        </p:nvSpPr>
        <p:spPr>
          <a:xfrm>
            <a:off x="5276644" y="3432453"/>
            <a:ext cx="866525" cy="291442"/>
          </a:xfrm>
          <a:prstGeom prst="roundRect">
            <a:avLst>
              <a:gd name="adj" fmla="val 43925"/>
            </a:avLst>
          </a:prstGeom>
          <a:solidFill>
            <a:srgbClr val="FFFFFF">
              <a:alpha val="20000"/>
            </a:srgbClr>
          </a:solidFill>
          <a:ln w="7620">
            <a:solidFill>
              <a:srgbClr val="000000"/>
            </a:solidFill>
            <a:prstDash val="solid"/>
          </a:ln>
        </p:spPr>
      </p:sp>
      <p:pic>
        <p:nvPicPr>
          <p:cNvPr id="32" name="Image 2" descr="preencoded.png">    </p:cNvPr>
          <p:cNvPicPr>
            <a:picLocks noChangeAspect="1"/>
          </p:cNvPicPr>
          <p:nvPr/>
        </p:nvPicPr>
        <p:blipFill>
          <a:blip r:embed="rId3"/>
          <a:stretch>
            <a:fillRect/>
          </a:stretch>
        </p:blipFill>
        <p:spPr>
          <a:xfrm>
            <a:off x="5371120" y="3497194"/>
            <a:ext cx="161959" cy="161959"/>
          </a:xfrm>
          <a:prstGeom prst="rect">
            <a:avLst/>
          </a:prstGeom>
        </p:spPr>
      </p:pic>
      <p:sp>
        <p:nvSpPr>
          <p:cNvPr id="33" name="Text 28"/>
          <p:cNvSpPr/>
          <p:nvPr/>
        </p:nvSpPr>
        <p:spPr>
          <a:xfrm>
            <a:off x="5587065" y="3472943"/>
            <a:ext cx="461627" cy="210463"/>
          </a:xfrm>
          <a:prstGeom prst="rect">
            <a:avLst/>
          </a:prstGeom>
          <a:noFill/>
          <a:ln/>
        </p:spPr>
        <p:txBody>
          <a:bodyPr wrap="none" lIns="0" tIns="0" rIns="0" bIns="0" rtlCol="0" anchor="t"/>
          <a:lstStyle/>
          <a:p>
            <a:pPr algn="l" indent="0" marL="0">
              <a:lnSpc>
                <a:spcPts val="900"/>
              </a:lnSpc>
              <a:buNone/>
            </a:pPr>
            <a:r>
              <a:rPr lang="en-US" sz="700" dirty="0">
                <a:solidFill>
                  <a:srgbClr val="E2E6E9"/>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3-cü İl</a:t>
            </a:r>
            <a:endParaRPr lang="en-US" sz="700" dirty="0"/>
          </a:p>
        </p:txBody>
      </p:sp>
      <p:pic>
        <p:nvPicPr>
          <p:cNvPr id="34" name="Image 3" descr="preencoded.png">    </p:cNvPr>
          <p:cNvPicPr>
            <a:picLocks noChangeAspect="1"/>
          </p:cNvPicPr>
          <p:nvPr/>
        </p:nvPicPr>
        <p:blipFill>
          <a:blip r:embed="rId4"/>
          <a:stretch>
            <a:fillRect/>
          </a:stretch>
        </p:blipFill>
        <p:spPr>
          <a:xfrm>
            <a:off x="3444478" y="3858861"/>
            <a:ext cx="12900654" cy="68820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3798" y="869037"/>
            <a:ext cx="5819180" cy="613529"/>
          </a:xfrm>
          <a:prstGeom prst="rect">
            <a:avLst/>
          </a:prstGeom>
          <a:noFill/>
          <a:ln/>
        </p:spPr>
        <p:txBody>
          <a:bodyPr wrap="none" lIns="0" tIns="0" rIns="0" bIns="0" rtlCol="0" anchor="t"/>
          <a:lstStyle/>
          <a:p>
            <a:pPr algn="l" indent="0" marL="0">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Case-Study Müzakirəsi</a:t>
            </a:r>
            <a:endParaRPr lang="en-US" sz="3850" dirty="0"/>
          </a:p>
        </p:txBody>
      </p:sp>
      <p:sp>
        <p:nvSpPr>
          <p:cNvPr id="4" name="Text 1"/>
          <p:cNvSpPr/>
          <p:nvPr/>
        </p:nvSpPr>
        <p:spPr>
          <a:xfrm>
            <a:off x="863798" y="1806416"/>
            <a:ext cx="7416403" cy="647938"/>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Real nümunələr nəzəriyyəni həyata keçirir. Uğurlu və uğursuz tətbiqlər eyni dərəcədə dəyərli dərslər verir.</a:t>
            </a:r>
            <a:endParaRPr lang="en-US" sz="1700" dirty="0"/>
          </a:p>
        </p:txBody>
      </p:sp>
      <p:sp>
        <p:nvSpPr>
          <p:cNvPr id="5" name="Shape 2"/>
          <p:cNvSpPr/>
          <p:nvPr/>
        </p:nvSpPr>
        <p:spPr>
          <a:xfrm>
            <a:off x="708184" y="2697242"/>
            <a:ext cx="3755946" cy="3200519"/>
          </a:xfrm>
          <a:prstGeom prst="roundRect">
            <a:avLst>
              <a:gd name="adj" fmla="val 1012"/>
            </a:avLst>
          </a:prstGeom>
          <a:solidFill>
            <a:srgbClr val="1D1F22"/>
          </a:solidFill>
          <a:ln/>
        </p:spPr>
      </p:sp>
      <p:sp>
        <p:nvSpPr>
          <p:cNvPr id="6" name="Text 3"/>
          <p:cNvSpPr/>
          <p:nvPr/>
        </p:nvSpPr>
        <p:spPr>
          <a:xfrm>
            <a:off x="924044" y="2913102"/>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000000"/>
                </a:solidFill>
                <a:latin typeface="Montserrat Bold" pitchFamily="34" charset="0"/>
                <a:ea typeface="Montserrat Bold" pitchFamily="34" charset="-122"/>
                <a:cs typeface="Montserrat Bold" pitchFamily="34" charset="-120"/>
              </a:rPr>
              <a:t>✅</a:t>
            </a:r>
            <a:pPr algn="l" indent="0" marL="0">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 Uğurlu Nümunə</a:t>
            </a:r>
            <a:endParaRPr lang="en-US" sz="1900" dirty="0"/>
          </a:p>
        </p:txBody>
      </p:sp>
      <p:sp>
        <p:nvSpPr>
          <p:cNvPr id="7" name="Text 4"/>
          <p:cNvSpPr/>
          <p:nvPr/>
        </p:nvSpPr>
        <p:spPr>
          <a:xfrm>
            <a:off x="924044" y="3435668"/>
            <a:ext cx="3324225" cy="1943814"/>
          </a:xfrm>
          <a:prstGeom prst="rect">
            <a:avLst/>
          </a:prstGeom>
          <a:noFill/>
          <a:ln/>
        </p:spPr>
        <p:txBody>
          <a:bodyPr wrap="square" lIns="0" tIns="0" rIns="0" bIns="0" rtlCol="0" anchor="t"/>
          <a:lstStyle/>
          <a:p>
            <a:pPr algn="l" indent="0" marL="0">
              <a:lnSpc>
                <a:spcPts val="2550"/>
              </a:lnSpc>
              <a:buNone/>
            </a:pPr>
            <a:r>
              <a:rPr lang="en-US" sz="1700" b="1" dirty="0">
                <a:solidFill>
                  <a:srgbClr val="E2E6E9"/>
                </a:solidFill>
                <a:latin typeface="Source Sans 3" pitchFamily="34" charset="0"/>
                <a:ea typeface="Source Sans 3" pitchFamily="34" charset="-122"/>
                <a:cs typeface="Source Sans 3" pitchFamily="34" charset="-120"/>
              </a:rPr>
              <a:t>Amazon</a:t>
            </a:r>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 — Təchizat zəncirinin idarəsində SI tətbiqi. Tələb proqnozlaması ilə anbar xərclərini 25% azaltdı. </a:t>
            </a:r>
            <a:pPr algn="l" indent="0" marL="0">
              <a:lnSpc>
                <a:spcPts val="2550"/>
              </a:lnSpc>
              <a:buNone/>
            </a:pPr>
            <a:r>
              <a:rPr lang="en-US" sz="1700" b="1" dirty="0">
                <a:solidFill>
                  <a:srgbClr val="E2E6E9"/>
                </a:solidFill>
                <a:latin typeface="Source Sans 3" pitchFamily="34" charset="0"/>
                <a:ea typeface="Source Sans 3" pitchFamily="34" charset="-122"/>
                <a:cs typeface="Source Sans 3" pitchFamily="34" charset="-120"/>
              </a:rPr>
              <a:t>Uğur amili:</a:t>
            </a:r>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 Güclü məlumat infrastrukturu, aydın KPI-lər və rəhbərliyin tam dəstəyi.</a:t>
            </a:r>
            <a:endParaRPr lang="en-US" sz="1700" dirty="0"/>
          </a:p>
        </p:txBody>
      </p:sp>
      <p:sp>
        <p:nvSpPr>
          <p:cNvPr id="8" name="Text 5"/>
          <p:cNvSpPr/>
          <p:nvPr/>
        </p:nvSpPr>
        <p:spPr>
          <a:xfrm>
            <a:off x="4843105" y="2913102"/>
            <a:ext cx="2633067" cy="306705"/>
          </a:xfrm>
          <a:prstGeom prst="rect">
            <a:avLst/>
          </a:prstGeom>
          <a:noFill/>
          <a:ln/>
        </p:spPr>
        <p:txBody>
          <a:bodyPr wrap="none" lIns="0" tIns="0" rIns="0" bIns="0" rtlCol="0" anchor="t"/>
          <a:lstStyle/>
          <a:p>
            <a:pPr algn="l" indent="0" marL="0">
              <a:lnSpc>
                <a:spcPts val="2400"/>
              </a:lnSpc>
              <a:buNone/>
            </a:pPr>
            <a:r>
              <a:rPr lang="en-US" sz="1900" b="1" dirty="0">
                <a:solidFill>
                  <a:srgbClr val="000000"/>
                </a:solidFill>
                <a:latin typeface="Montserrat Bold" pitchFamily="34" charset="0"/>
                <a:ea typeface="Montserrat Bold" pitchFamily="34" charset="-122"/>
                <a:cs typeface="Montserrat Bold" pitchFamily="34" charset="-120"/>
              </a:rPr>
              <a:t>❌</a:t>
            </a:r>
            <a:pPr algn="l" indent="0" marL="0">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 Uğursuz Nümunə</a:t>
            </a:r>
            <a:endParaRPr lang="en-US" sz="1900" dirty="0"/>
          </a:p>
        </p:txBody>
      </p:sp>
      <p:sp>
        <p:nvSpPr>
          <p:cNvPr id="9" name="Text 6"/>
          <p:cNvSpPr/>
          <p:nvPr/>
        </p:nvSpPr>
        <p:spPr>
          <a:xfrm>
            <a:off x="4843105" y="3435668"/>
            <a:ext cx="3444716" cy="2267783"/>
          </a:xfrm>
          <a:prstGeom prst="rect">
            <a:avLst/>
          </a:prstGeom>
          <a:noFill/>
          <a:ln/>
        </p:spPr>
        <p:txBody>
          <a:bodyPr wrap="square" lIns="0" tIns="0" rIns="0" bIns="0" rtlCol="0" anchor="t"/>
          <a:lstStyle/>
          <a:p>
            <a:pPr algn="l" indent="0" marL="0">
              <a:lnSpc>
                <a:spcPts val="2550"/>
              </a:lnSpc>
              <a:buNone/>
            </a:pPr>
            <a:r>
              <a:rPr lang="en-US" sz="1700" b="1" dirty="0">
                <a:solidFill>
                  <a:srgbClr val="E2E6E9"/>
                </a:solidFill>
                <a:latin typeface="Source Sans 3" pitchFamily="34" charset="0"/>
                <a:ea typeface="Source Sans 3" pitchFamily="34" charset="-122"/>
                <a:cs typeface="Source Sans 3" pitchFamily="34" charset="-120"/>
              </a:rPr>
              <a:t>IBM Watson Health</a:t>
            </a:r>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 — Xərçəng diaqnostikası layihəsi. Keyfiyyətsiz tibbi məlumatlar və həkim cəlb olunmaması layihənin bağlanmasına gətirib çıxardı. </a:t>
            </a:r>
            <a:pPr algn="l" indent="0" marL="0">
              <a:lnSpc>
                <a:spcPts val="2550"/>
              </a:lnSpc>
              <a:buNone/>
            </a:pPr>
            <a:r>
              <a:rPr lang="en-US" sz="1700" b="1" dirty="0">
                <a:solidFill>
                  <a:srgbClr val="E2E6E9"/>
                </a:solidFill>
                <a:latin typeface="Source Sans 3" pitchFamily="34" charset="0"/>
                <a:ea typeface="Source Sans 3" pitchFamily="34" charset="-122"/>
                <a:cs typeface="Source Sans 3" pitchFamily="34" charset="-120"/>
              </a:rPr>
              <a:t>Dərs:</a:t>
            </a:r>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 Texnologiya problemin özü deyil, həllinin bir hissəsidir.</a:t>
            </a:r>
            <a:endParaRPr lang="en-US" sz="1700" dirty="0"/>
          </a:p>
        </p:txBody>
      </p:sp>
      <p:sp>
        <p:nvSpPr>
          <p:cNvPr id="10" name="Shape 7"/>
          <p:cNvSpPr/>
          <p:nvPr/>
        </p:nvSpPr>
        <p:spPr>
          <a:xfrm>
            <a:off x="863798" y="6140648"/>
            <a:ext cx="7416403" cy="1219914"/>
          </a:xfrm>
          <a:prstGeom prst="roundRect">
            <a:avLst>
              <a:gd name="adj" fmla="val 2656"/>
            </a:avLst>
          </a:prstGeom>
          <a:solidFill>
            <a:srgbClr val="262626"/>
          </a:solidFill>
          <a:ln/>
        </p:spPr>
      </p:sp>
      <p:pic>
        <p:nvPicPr>
          <p:cNvPr id="11" name="Image 1" descr="preencoded.png">    </p:cNvPr>
          <p:cNvPicPr>
            <a:picLocks noChangeAspect="1"/>
          </p:cNvPicPr>
          <p:nvPr/>
        </p:nvPicPr>
        <p:blipFill>
          <a:blip r:embed="rId2"/>
          <a:stretch>
            <a:fillRect/>
          </a:stretch>
        </p:blipFill>
        <p:spPr>
          <a:xfrm>
            <a:off x="1079659" y="6450092"/>
            <a:ext cx="269915" cy="215860"/>
          </a:xfrm>
          <a:prstGeom prst="rect">
            <a:avLst/>
          </a:prstGeom>
        </p:spPr>
      </p:pic>
      <p:sp>
        <p:nvSpPr>
          <p:cNvPr id="12" name="Text 8"/>
          <p:cNvSpPr/>
          <p:nvPr/>
        </p:nvSpPr>
        <p:spPr>
          <a:xfrm>
            <a:off x="1565434" y="6410444"/>
            <a:ext cx="6498907" cy="647938"/>
          </a:xfrm>
          <a:prstGeom prst="rect">
            <a:avLst/>
          </a:prstGeom>
          <a:noFill/>
          <a:ln/>
        </p:spPr>
        <p:txBody>
          <a:bodyPr wrap="square" lIns="0" tIns="0" rIns="0" bIns="0" rtlCol="0" anchor="t"/>
          <a:lstStyle/>
          <a:p>
            <a:pPr algn="l" indent="0" marL="0">
              <a:lnSpc>
                <a:spcPts val="2550"/>
              </a:lnSpc>
              <a:buNone/>
            </a:pPr>
            <a:r>
              <a:rPr lang="en-US" sz="1700" b="1" dirty="0">
                <a:solidFill>
                  <a:srgbClr val="FFFFFF"/>
                </a:solidFill>
                <a:latin typeface="Source Sans 3" pitchFamily="34" charset="0"/>
                <a:ea typeface="Source Sans 3" pitchFamily="34" charset="-122"/>
                <a:cs typeface="Source Sans 3" pitchFamily="34" charset="-120"/>
              </a:rPr>
              <a:t>Müzakirə sualı:</a:t>
            </a:r>
            <a:pPr algn="l" indent="0" marL="0">
              <a:lnSpc>
                <a:spcPts val="2550"/>
              </a:lnSpc>
              <a:buNone/>
            </a:pPr>
            <a:r>
              <a:rPr lang="en-US" sz="1700" dirty="0">
                <a:solidFill>
                  <a:srgbClr val="FFFFFF"/>
                </a:solidFill>
                <a:latin typeface="Source Sans 3" pitchFamily="34" charset="0"/>
                <a:ea typeface="Source Sans 3" pitchFamily="34" charset="-122"/>
                <a:cs typeface="Source Sans 3" pitchFamily="34" charset="-120"/>
              </a:rPr>
              <a:t> Sizin təşkilatınızda hansı şöbə SI tətbiqi üçün ən hazır görünür? Niyə?</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3798" y="1085017"/>
            <a:ext cx="4908471" cy="613529"/>
          </a:xfrm>
          <a:prstGeom prst="rect">
            <a:avLst/>
          </a:prstGeom>
          <a:noFill/>
          <a:ln/>
        </p:spPr>
        <p:txBody>
          <a:bodyPr wrap="none" lIns="0" tIns="0" rIns="0" bIns="0" rtlCol="0" anchor="t"/>
          <a:lstStyle/>
          <a:p>
            <a:pPr algn="l" indent="0" marL="0">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Ev Tapşırığı</a:t>
            </a:r>
            <a:endParaRPr lang="en-US" sz="3850" dirty="0"/>
          </a:p>
        </p:txBody>
      </p:sp>
      <p:sp>
        <p:nvSpPr>
          <p:cNvPr id="3" name="Text 1"/>
          <p:cNvSpPr/>
          <p:nvPr/>
        </p:nvSpPr>
        <p:spPr>
          <a:xfrm>
            <a:off x="1187648" y="2373273"/>
            <a:ext cx="12578953" cy="323969"/>
          </a:xfrm>
          <a:prstGeom prst="rect">
            <a:avLst/>
          </a:prstGeom>
          <a:noFill/>
          <a:ln/>
        </p:spPr>
        <p:txBody>
          <a:bodyPr wrap="none" lIns="0" tIns="0" rIns="0" bIns="0" rtlCol="0" anchor="t"/>
          <a:lstStyle/>
          <a:p>
            <a:pPr algn="l" indent="0" marL="0">
              <a:lnSpc>
                <a:spcPts val="2550"/>
              </a:lnSpc>
              <a:buNone/>
            </a:pPr>
            <a:r>
              <a:rPr lang="en-US" sz="1700" b="1" dirty="0">
                <a:solidFill>
                  <a:srgbClr val="E2E6E9"/>
                </a:solidFill>
                <a:latin typeface="Source Sans 3" pitchFamily="34" charset="0"/>
                <a:ea typeface="Source Sans 3" pitchFamily="34" charset="-122"/>
                <a:cs typeface="Source Sans 3" pitchFamily="34" charset="-120"/>
              </a:rPr>
              <a:t>Şirkətiniz üçün SI tətbiq planının ilkin layihəsini hazırlayın.</a:t>
            </a:r>
            <a:endParaRPr lang="en-US" sz="1700" dirty="0"/>
          </a:p>
        </p:txBody>
      </p:sp>
      <p:sp>
        <p:nvSpPr>
          <p:cNvPr id="4" name="Shape 2"/>
          <p:cNvSpPr/>
          <p:nvPr/>
        </p:nvSpPr>
        <p:spPr>
          <a:xfrm>
            <a:off x="863798" y="2130385"/>
            <a:ext cx="30480" cy="809744"/>
          </a:xfrm>
          <a:prstGeom prst="rect">
            <a:avLst/>
          </a:prstGeom>
          <a:solidFill>
            <a:srgbClr val="FFFFFF"/>
          </a:solidFill>
          <a:ln/>
        </p:spPr>
      </p:sp>
      <p:sp>
        <p:nvSpPr>
          <p:cNvPr id="5" name="Text 3"/>
          <p:cNvSpPr/>
          <p:nvPr/>
        </p:nvSpPr>
        <p:spPr>
          <a:xfrm>
            <a:off x="863798" y="3183017"/>
            <a:ext cx="12902803" cy="323969"/>
          </a:xfrm>
          <a:prstGeom prst="rect">
            <a:avLst/>
          </a:prstGeom>
          <a:noFill/>
          <a:ln/>
        </p:spPr>
        <p:txBody>
          <a:bodyPr wrap="non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Bu tapşırıq dərsdə əldə etdiyiniz bilikləri real bir kontekstə tətbiq etmək üçün əla fürsətdir. Planınız aşağıdakı komponentləri əhatə etməlidir:</a:t>
            </a:r>
            <a:endParaRPr lang="en-US" sz="1700" dirty="0"/>
          </a:p>
        </p:txBody>
      </p:sp>
      <p:sp>
        <p:nvSpPr>
          <p:cNvPr id="6" name="Text 4"/>
          <p:cNvSpPr/>
          <p:nvPr/>
        </p:nvSpPr>
        <p:spPr>
          <a:xfrm>
            <a:off x="863798" y="3749873"/>
            <a:ext cx="215860" cy="269915"/>
          </a:xfrm>
          <a:prstGeom prst="rect">
            <a:avLst/>
          </a:prstGeom>
          <a:noFill/>
          <a:ln/>
        </p:spPr>
        <p:txBody>
          <a:bodyPr wrap="none" lIns="0" tIns="0" rIns="0" bIns="0" rtlCol="0" anchor="t"/>
          <a:lstStyle/>
          <a:p>
            <a:pPr algn="l" indent="0" marL="0">
              <a:lnSpc>
                <a:spcPts val="2550"/>
              </a:lnSpc>
              <a:buNone/>
            </a:pPr>
            <a:r>
              <a:rPr lang="en-US" sz="1700" dirty="0">
                <a:solidFill>
                  <a:srgbClr val="E2E6E9"/>
                </a:solidFill>
                <a:latin typeface="Montserrat Light" pitchFamily="34" charset="0"/>
                <a:ea typeface="Montserrat Light" pitchFamily="34" charset="-122"/>
                <a:cs typeface="Montserrat Light" pitchFamily="34" charset="-120"/>
              </a:rPr>
              <a:t>01</a:t>
            </a:r>
            <a:endParaRPr lang="en-US" sz="1700" dirty="0"/>
          </a:p>
        </p:txBody>
      </p:sp>
      <p:sp>
        <p:nvSpPr>
          <p:cNvPr id="7" name="Shape 5"/>
          <p:cNvSpPr/>
          <p:nvPr/>
        </p:nvSpPr>
        <p:spPr>
          <a:xfrm>
            <a:off x="863798" y="4086344"/>
            <a:ext cx="4156948" cy="30480"/>
          </a:xfrm>
          <a:prstGeom prst="rect">
            <a:avLst/>
          </a:prstGeom>
          <a:solidFill>
            <a:srgbClr val="FFFFFF"/>
          </a:solidFill>
          <a:ln/>
        </p:spPr>
      </p:sp>
      <p:sp>
        <p:nvSpPr>
          <p:cNvPr id="8" name="Text 6"/>
          <p:cNvSpPr/>
          <p:nvPr/>
        </p:nvSpPr>
        <p:spPr>
          <a:xfrm>
            <a:off x="863798" y="4255175"/>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Problem Bəyanı</a:t>
            </a:r>
            <a:endParaRPr lang="en-US" sz="1900" dirty="0"/>
          </a:p>
        </p:txBody>
      </p:sp>
      <p:sp>
        <p:nvSpPr>
          <p:cNvPr id="9" name="Text 7"/>
          <p:cNvSpPr/>
          <p:nvPr/>
        </p:nvSpPr>
        <p:spPr>
          <a:xfrm>
            <a:off x="863798" y="4691420"/>
            <a:ext cx="4156948" cy="647938"/>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Həll etmək istədiyiniz biznes problemini aydın şəkildə müəyyən edin.</a:t>
            </a:r>
            <a:endParaRPr lang="en-US" sz="1700" dirty="0"/>
          </a:p>
        </p:txBody>
      </p:sp>
      <p:sp>
        <p:nvSpPr>
          <p:cNvPr id="10" name="Text 8"/>
          <p:cNvSpPr/>
          <p:nvPr/>
        </p:nvSpPr>
        <p:spPr>
          <a:xfrm>
            <a:off x="5236607" y="3749873"/>
            <a:ext cx="215860" cy="269915"/>
          </a:xfrm>
          <a:prstGeom prst="rect">
            <a:avLst/>
          </a:prstGeom>
          <a:noFill/>
          <a:ln/>
        </p:spPr>
        <p:txBody>
          <a:bodyPr wrap="none" lIns="0" tIns="0" rIns="0" bIns="0" rtlCol="0" anchor="t"/>
          <a:lstStyle/>
          <a:p>
            <a:pPr algn="l" indent="0" marL="0">
              <a:lnSpc>
                <a:spcPts val="2550"/>
              </a:lnSpc>
              <a:buNone/>
            </a:pPr>
            <a:r>
              <a:rPr lang="en-US" sz="1700" dirty="0">
                <a:solidFill>
                  <a:srgbClr val="E2E6E9"/>
                </a:solidFill>
                <a:latin typeface="Montserrat Light" pitchFamily="34" charset="0"/>
                <a:ea typeface="Montserrat Light" pitchFamily="34" charset="-122"/>
                <a:cs typeface="Montserrat Light" pitchFamily="34" charset="-120"/>
              </a:rPr>
              <a:t>02</a:t>
            </a:r>
            <a:endParaRPr lang="en-US" sz="1700" dirty="0"/>
          </a:p>
        </p:txBody>
      </p:sp>
      <p:sp>
        <p:nvSpPr>
          <p:cNvPr id="11" name="Shape 9"/>
          <p:cNvSpPr/>
          <p:nvPr/>
        </p:nvSpPr>
        <p:spPr>
          <a:xfrm>
            <a:off x="5236607" y="4086344"/>
            <a:ext cx="4157067" cy="30480"/>
          </a:xfrm>
          <a:prstGeom prst="rect">
            <a:avLst/>
          </a:prstGeom>
          <a:solidFill>
            <a:srgbClr val="FFFFFF"/>
          </a:solidFill>
          <a:ln/>
        </p:spPr>
      </p:sp>
      <p:sp>
        <p:nvSpPr>
          <p:cNvPr id="12" name="Text 10"/>
          <p:cNvSpPr/>
          <p:nvPr/>
        </p:nvSpPr>
        <p:spPr>
          <a:xfrm>
            <a:off x="5236607" y="4255175"/>
            <a:ext cx="3527703" cy="306705"/>
          </a:xfrm>
          <a:prstGeom prst="rect">
            <a:avLst/>
          </a:prstGeom>
          <a:noFill/>
          <a:ln/>
        </p:spPr>
        <p:txBody>
          <a:bodyPr wrap="non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Məlumat Qiymətləndirməsi</a:t>
            </a:r>
            <a:endParaRPr lang="en-US" sz="1900" dirty="0"/>
          </a:p>
        </p:txBody>
      </p:sp>
      <p:sp>
        <p:nvSpPr>
          <p:cNvPr id="13" name="Text 11"/>
          <p:cNvSpPr/>
          <p:nvPr/>
        </p:nvSpPr>
        <p:spPr>
          <a:xfrm>
            <a:off x="5236607" y="4691420"/>
            <a:ext cx="4157067" cy="647938"/>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Hansı məlumatların mövcud olduğunu, hansıların çatışmadığını təsvir edin.</a:t>
            </a:r>
            <a:endParaRPr lang="en-US" sz="1700" dirty="0"/>
          </a:p>
        </p:txBody>
      </p:sp>
      <p:sp>
        <p:nvSpPr>
          <p:cNvPr id="14" name="Text 12"/>
          <p:cNvSpPr/>
          <p:nvPr/>
        </p:nvSpPr>
        <p:spPr>
          <a:xfrm>
            <a:off x="9609534" y="3749873"/>
            <a:ext cx="215860" cy="269915"/>
          </a:xfrm>
          <a:prstGeom prst="rect">
            <a:avLst/>
          </a:prstGeom>
          <a:noFill/>
          <a:ln/>
        </p:spPr>
        <p:txBody>
          <a:bodyPr wrap="none" lIns="0" tIns="0" rIns="0" bIns="0" rtlCol="0" anchor="t"/>
          <a:lstStyle/>
          <a:p>
            <a:pPr algn="l" indent="0" marL="0">
              <a:lnSpc>
                <a:spcPts val="2550"/>
              </a:lnSpc>
              <a:buNone/>
            </a:pPr>
            <a:r>
              <a:rPr lang="en-US" sz="1700" dirty="0">
                <a:solidFill>
                  <a:srgbClr val="E2E6E9"/>
                </a:solidFill>
                <a:latin typeface="Montserrat Light" pitchFamily="34" charset="0"/>
                <a:ea typeface="Montserrat Light" pitchFamily="34" charset="-122"/>
                <a:cs typeface="Montserrat Light" pitchFamily="34" charset="-120"/>
              </a:rPr>
              <a:t>03</a:t>
            </a:r>
            <a:endParaRPr lang="en-US" sz="1700" dirty="0"/>
          </a:p>
        </p:txBody>
      </p:sp>
      <p:sp>
        <p:nvSpPr>
          <p:cNvPr id="15" name="Shape 13"/>
          <p:cNvSpPr/>
          <p:nvPr/>
        </p:nvSpPr>
        <p:spPr>
          <a:xfrm>
            <a:off x="9609534" y="4086344"/>
            <a:ext cx="4157067" cy="30480"/>
          </a:xfrm>
          <a:prstGeom prst="rect">
            <a:avLst/>
          </a:prstGeom>
          <a:solidFill>
            <a:srgbClr val="FFFFFF"/>
          </a:solidFill>
          <a:ln/>
        </p:spPr>
      </p:sp>
      <p:sp>
        <p:nvSpPr>
          <p:cNvPr id="16" name="Text 14"/>
          <p:cNvSpPr/>
          <p:nvPr/>
        </p:nvSpPr>
        <p:spPr>
          <a:xfrm>
            <a:off x="9609534" y="4255175"/>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Tətbiq Strategiyası</a:t>
            </a:r>
            <a:endParaRPr lang="en-US" sz="1900" dirty="0"/>
          </a:p>
        </p:txBody>
      </p:sp>
      <p:sp>
        <p:nvSpPr>
          <p:cNvPr id="17" name="Text 15"/>
          <p:cNvSpPr/>
          <p:nvPr/>
        </p:nvSpPr>
        <p:spPr>
          <a:xfrm>
            <a:off x="9609534" y="4691420"/>
            <a:ext cx="4157067" cy="647938"/>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Pilot, mərhələli və ya tam miqyaslı — hansını seçirsiniz və niyə?</a:t>
            </a:r>
            <a:endParaRPr lang="en-US" sz="1700" dirty="0"/>
          </a:p>
        </p:txBody>
      </p:sp>
      <p:sp>
        <p:nvSpPr>
          <p:cNvPr id="18" name="Text 16"/>
          <p:cNvSpPr/>
          <p:nvPr/>
        </p:nvSpPr>
        <p:spPr>
          <a:xfrm>
            <a:off x="863798" y="5717143"/>
            <a:ext cx="215860" cy="269915"/>
          </a:xfrm>
          <a:prstGeom prst="rect">
            <a:avLst/>
          </a:prstGeom>
          <a:noFill/>
          <a:ln/>
        </p:spPr>
        <p:txBody>
          <a:bodyPr wrap="none" lIns="0" tIns="0" rIns="0" bIns="0" rtlCol="0" anchor="t"/>
          <a:lstStyle/>
          <a:p>
            <a:pPr algn="l" indent="0" marL="0">
              <a:lnSpc>
                <a:spcPts val="2550"/>
              </a:lnSpc>
              <a:buNone/>
            </a:pPr>
            <a:r>
              <a:rPr lang="en-US" sz="1700" dirty="0">
                <a:solidFill>
                  <a:srgbClr val="E2E6E9"/>
                </a:solidFill>
                <a:latin typeface="Montserrat Light" pitchFamily="34" charset="0"/>
                <a:ea typeface="Montserrat Light" pitchFamily="34" charset="-122"/>
                <a:cs typeface="Montserrat Light" pitchFamily="34" charset="-120"/>
              </a:rPr>
              <a:t>04</a:t>
            </a:r>
            <a:endParaRPr lang="en-US" sz="1700" dirty="0"/>
          </a:p>
        </p:txBody>
      </p:sp>
      <p:sp>
        <p:nvSpPr>
          <p:cNvPr id="19" name="Shape 17"/>
          <p:cNvSpPr/>
          <p:nvPr/>
        </p:nvSpPr>
        <p:spPr>
          <a:xfrm>
            <a:off x="863798" y="6053614"/>
            <a:ext cx="6343412" cy="30480"/>
          </a:xfrm>
          <a:prstGeom prst="rect">
            <a:avLst/>
          </a:prstGeom>
          <a:solidFill>
            <a:srgbClr val="FFFFFF"/>
          </a:solidFill>
          <a:ln/>
        </p:spPr>
      </p:sp>
      <p:sp>
        <p:nvSpPr>
          <p:cNvPr id="20" name="Text 18"/>
          <p:cNvSpPr/>
          <p:nvPr/>
        </p:nvSpPr>
        <p:spPr>
          <a:xfrm>
            <a:off x="863798" y="6222444"/>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Uğur Meyarları</a:t>
            </a:r>
            <a:endParaRPr lang="en-US" sz="1900" dirty="0"/>
          </a:p>
        </p:txBody>
      </p:sp>
      <p:sp>
        <p:nvSpPr>
          <p:cNvPr id="21" name="Text 19"/>
          <p:cNvSpPr/>
          <p:nvPr/>
        </p:nvSpPr>
        <p:spPr>
          <a:xfrm>
            <a:off x="863798" y="6658689"/>
            <a:ext cx="6343412" cy="323969"/>
          </a:xfrm>
          <a:prstGeom prst="rect">
            <a:avLst/>
          </a:prstGeom>
          <a:noFill/>
          <a:ln/>
        </p:spPr>
        <p:txBody>
          <a:bodyPr wrap="non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Hansı KPI-lar layihənin uğurunu ölçəcək? Realist hədəflər qoyun.</a:t>
            </a:r>
            <a:endParaRPr lang="en-US" sz="1700" dirty="0"/>
          </a:p>
        </p:txBody>
      </p:sp>
      <p:sp>
        <p:nvSpPr>
          <p:cNvPr id="22" name="Text 20"/>
          <p:cNvSpPr/>
          <p:nvPr/>
        </p:nvSpPr>
        <p:spPr>
          <a:xfrm>
            <a:off x="7423071" y="5717143"/>
            <a:ext cx="215860" cy="269915"/>
          </a:xfrm>
          <a:prstGeom prst="rect">
            <a:avLst/>
          </a:prstGeom>
          <a:noFill/>
          <a:ln/>
        </p:spPr>
        <p:txBody>
          <a:bodyPr wrap="none" lIns="0" tIns="0" rIns="0" bIns="0" rtlCol="0" anchor="t"/>
          <a:lstStyle/>
          <a:p>
            <a:pPr algn="l" indent="0" marL="0">
              <a:lnSpc>
                <a:spcPts val="2550"/>
              </a:lnSpc>
              <a:buNone/>
            </a:pPr>
            <a:r>
              <a:rPr lang="en-US" sz="1700" dirty="0">
                <a:solidFill>
                  <a:srgbClr val="E2E6E9"/>
                </a:solidFill>
                <a:latin typeface="Montserrat Light" pitchFamily="34" charset="0"/>
                <a:ea typeface="Montserrat Light" pitchFamily="34" charset="-122"/>
                <a:cs typeface="Montserrat Light" pitchFamily="34" charset="-120"/>
              </a:rPr>
              <a:t>05</a:t>
            </a:r>
            <a:endParaRPr lang="en-US" sz="1700" dirty="0"/>
          </a:p>
        </p:txBody>
      </p:sp>
      <p:sp>
        <p:nvSpPr>
          <p:cNvPr id="23" name="Shape 21"/>
          <p:cNvSpPr/>
          <p:nvPr/>
        </p:nvSpPr>
        <p:spPr>
          <a:xfrm>
            <a:off x="7423071" y="6053614"/>
            <a:ext cx="6343531" cy="30480"/>
          </a:xfrm>
          <a:prstGeom prst="rect">
            <a:avLst/>
          </a:prstGeom>
          <a:solidFill>
            <a:srgbClr val="FFFFFF"/>
          </a:solidFill>
          <a:ln/>
        </p:spPr>
      </p:sp>
      <p:sp>
        <p:nvSpPr>
          <p:cNvPr id="24" name="Text 22"/>
          <p:cNvSpPr/>
          <p:nvPr/>
        </p:nvSpPr>
        <p:spPr>
          <a:xfrm>
            <a:off x="7423071" y="6222444"/>
            <a:ext cx="2454235" cy="306705"/>
          </a:xfrm>
          <a:prstGeom prst="rect">
            <a:avLst/>
          </a:prstGeom>
          <a:noFill/>
          <a:ln/>
        </p:spPr>
        <p:txBody>
          <a:bodyPr wrap="none" lIns="0" tIns="0" rIns="0" bIns="0" rtlCol="0" anchor="t"/>
          <a:lstStyle/>
          <a:p>
            <a:pPr algn="l" indent="0" marL="0">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Risk Analizi</a:t>
            </a:r>
            <a:endParaRPr lang="en-US" sz="1900" dirty="0"/>
          </a:p>
        </p:txBody>
      </p:sp>
      <p:sp>
        <p:nvSpPr>
          <p:cNvPr id="25" name="Text 23"/>
          <p:cNvSpPr/>
          <p:nvPr/>
        </p:nvSpPr>
        <p:spPr>
          <a:xfrm>
            <a:off x="7423071" y="6658689"/>
            <a:ext cx="6343531" cy="323969"/>
          </a:xfrm>
          <a:prstGeom prst="rect">
            <a:avLst/>
          </a:prstGeom>
          <a:noFill/>
          <a:ln/>
        </p:spPr>
        <p:txBody>
          <a:bodyPr wrap="non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Gözlənilən əsas risklər və onlara qarşı tədbirlər nələrdir?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2026-03-13T11:07:36Z</dcterms:created>
  <dcterms:modified xsi:type="dcterms:W3CDTF">2026-03-13T11:07:36Z</dcterms:modified>
</cp:coreProperties>
</file>