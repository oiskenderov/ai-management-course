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2.svg" ContentType="image/svg"/>
  <Override PartName="/ppt/media/image8.svg" ContentType="image/svg"/>
  <Override PartName="/ppt/media/image13.png" ContentType="image/png"/>
  <Override PartName="/ppt/media/image10.svg" ContentType="image/svg"/>
  <Override PartName="/ppt/media/image9.png" ContentType="image/png"/>
  <Override PartName="/ppt/media/image18.png" ContentType="image/png"/>
  <Override PartName="/ppt/media/image20.png" ContentType="image/png"/>
  <Override PartName="/ppt/media/image6.svg" ContentType="image/svg"/>
  <Override PartName="/ppt/media/image5.png" ContentType="image/png"/>
  <Override PartName="/ppt/media/image14.png" ContentType="image/png"/>
  <Override PartName="/ppt/media/image11.png" ContentType="image/png"/>
  <Override PartName="/ppt/media/image2.png" ContentType="image/png"/>
  <Override PartName="/ppt/media/image25.png" ContentType="image/png"/>
  <Override PartName="/ppt/media/image24.png" ContentType="image/png"/>
  <Override PartName="/ppt/media/image22.png" ContentType="image/png"/>
  <Override PartName="/ppt/media/image17.png" ContentType="image/png"/>
  <Override PartName="/ppt/media/image15.png" ContentType="image/png"/>
  <Override PartName="/ppt/media/image21.svg" ContentType="image/svg"/>
  <Override PartName="/ppt/media/image19.svg" ContentType="image/svg"/>
  <Override PartName="/ppt/media/image1.png" ContentType="image/png"/>
  <Override PartName="/ppt/media/image23.svg" ContentType="image/svg"/>
  <Override PartName="/ppt/media/image3.png" ContentType="image/png"/>
  <Override PartName="/ppt/media/image4.svg" ContentType="image/svg"/>
  <Override PartName="/ppt/media/image7.png" ContentType="image/png"/>
  <Override PartName="/ppt/media/image16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4D757AC-4FD5-403D-B27E-F64BAD0E1C8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4A530C-27B4-443C-9BBB-DE8EDF37DE5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23C0299-1308-49AA-9D9E-D32E53918C1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0B5D0D-8D08-4323-871D-9ED6F9090A5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38D0F5-2507-4765-B36C-FE8FFDA98CF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F0F95E-D6FF-4B1A-869F-F2D0742BF6E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EEF0B8-747F-4F76-8B28-1B7FC70C7C6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8E13F8-8AEC-415A-AC02-3D0D6F52437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EFCA8F-EEDE-4B4F-A401-6CC09AB4BD4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5C190F-B2F3-4DED-A988-177B48FCDFF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13649A-FEEC-486A-875F-73981552ED0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6CBAF0-5430-40FC-9B6C-610DEC75AF4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8600" cy="822780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2.png"/><Relationship Id="rId7" Type="http://schemas.openxmlformats.org/officeDocument/2006/relationships/image" Target="../media/image23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4600" cy="822780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863640" y="3015360"/>
            <a:ext cx="741456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Strateji Planlaşdırmada Generativ Süni İntellekt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863640" y="4566240"/>
            <a:ext cx="74145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Strategiya hazırlığında "ağıllı tərəfdaş" kimi GenAI-dan istifadə — təcrübəli menecerlər üçün praktik baxış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863640" y="2028240"/>
            <a:ext cx="4906800" cy="6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Dərsin Məqsədləri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1187640" y="3316320"/>
            <a:ext cx="125773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"Bu gün generativ süni intellektdən strateji əvəz etmək üçün deyil, strategiyanın hazırlanmasında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ağıllı tərəfdaş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kimi necə istifadə edəcəyimizi öyrənəcəyik."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863640" y="3073320"/>
            <a:ext cx="28800" cy="11318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863640" y="4449960"/>
            <a:ext cx="2142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863640" y="4786560"/>
            <a:ext cx="4155120" cy="28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863640" y="4955400"/>
            <a:ext cx="2452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GenAI-ı Tanımaq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863640" y="5391720"/>
            <a:ext cx="41551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Generativ süni intellektin iş prinsipi və əsas imkanları ilə tanışlıq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5236560" y="4449960"/>
            <a:ext cx="2142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5236560" y="4786560"/>
            <a:ext cx="4155120" cy="28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5236560" y="4955400"/>
            <a:ext cx="37400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Strateji Tətbiqləri Kəşf Etmək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5236560" y="5391720"/>
            <a:ext cx="41551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SWOT, OKR, ssenari planlaşdırması kimi alətlərə inteqrasiya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9609480" y="4449960"/>
            <a:ext cx="2142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Montserrat Light"/>
                <a:ea typeface="Montserrat Light"/>
              </a:rPr>
              <a:t>03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2"/>
          <p:cNvSpPr/>
          <p:nvPr/>
        </p:nvSpPr>
        <p:spPr>
          <a:xfrm>
            <a:off x="9609480" y="4786560"/>
            <a:ext cx="4155120" cy="28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4400" bIns="-14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9609480" y="4955400"/>
            <a:ext cx="34387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Praktik Bacarıq Qazanmaq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4"/>
          <p:cNvSpPr/>
          <p:nvPr/>
        </p:nvSpPr>
        <p:spPr>
          <a:xfrm>
            <a:off x="9609480" y="5391720"/>
            <a:ext cx="41551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Real iş ssenarilərini GenAI ilə həll etmək üçün praktik tapşırıqlar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4600" cy="8227800"/>
          </a:xfrm>
          <a:prstGeom prst="rect">
            <a:avLst/>
          </a:prstGeom>
          <a:ln w="0">
            <a:noFill/>
          </a:ln>
        </p:spPr>
      </p:pic>
      <p:sp>
        <p:nvSpPr>
          <p:cNvPr id="69" name="Text 0"/>
          <p:cNvSpPr/>
          <p:nvPr/>
        </p:nvSpPr>
        <p:spPr>
          <a:xfrm>
            <a:off x="6350040" y="946080"/>
            <a:ext cx="741456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Generativ Süni İntellekt Nədir?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6350040" y="2496960"/>
            <a:ext cx="7414560" cy="12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Generativ süni intellekt (GenAI) — böyük həcmli məlumat topluları üzərində öyrədilmiş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Böyük Dil Modelləri (LLM)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əsasında işləyir. Bu modellər məlumatlar arasındakı nümunələri öyrənərək yeni mətn, kod, şəkil və digər məzmun yarada bilir.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6350040" y="4035600"/>
            <a:ext cx="3598560" cy="1838160"/>
          </a:xfrm>
          <a:prstGeom prst="roundRect">
            <a:avLst>
              <a:gd name="adj" fmla="val 176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6566040" y="4251600"/>
            <a:ext cx="2452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ChatGPT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6566040" y="4687920"/>
            <a:ext cx="3166560" cy="9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OpenAI tərəfindən hazırlanmış, ən geniş yayılmış danışıq əsaslı AI modeli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10166400" y="4035600"/>
            <a:ext cx="3598560" cy="1838160"/>
          </a:xfrm>
          <a:prstGeom prst="roundRect">
            <a:avLst>
              <a:gd name="adj" fmla="val 176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10382040" y="4251600"/>
            <a:ext cx="2452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Claude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10382040" y="4687920"/>
            <a:ext cx="31669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Anthropic-in uzun kontekstli analiz və sənəd işləmədə güclü modeli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6350040" y="6091560"/>
            <a:ext cx="7414560" cy="1190160"/>
          </a:xfrm>
          <a:prstGeom prst="roundRect">
            <a:avLst>
              <a:gd name="adj" fmla="val 27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6566040" y="6307200"/>
            <a:ext cx="2452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Gemini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6458040" y="6743520"/>
            <a:ext cx="69829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Google-un çoxmodallı AI modeli — mətn, şəkil və məlumat inteqrasiyası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863640" y="1036800"/>
            <a:ext cx="10257840" cy="6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GenAI Strategiyada Nə Üçün Faydalıdır?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863640" y="2082240"/>
            <a:ext cx="129009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Müasir strateji planlaşdırma proseslərində GenAI dörd əsas sahədə əhəmiyyətli dəyər əlavə edir — vaxt qənaəti etməkdən tutmuş keyfiyyətli qərar dəstəyinə qədər.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63640" y="2972880"/>
            <a:ext cx="538200" cy="538200"/>
          </a:xfrm>
          <a:prstGeom prst="rect">
            <a:avLst/>
          </a:prstGeom>
          <a:ln w="0">
            <a:noFill/>
          </a:ln>
        </p:spPr>
      </p:pic>
      <p:sp>
        <p:nvSpPr>
          <p:cNvPr id="83" name="Text 2"/>
          <p:cNvSpPr/>
          <p:nvPr/>
        </p:nvSpPr>
        <p:spPr>
          <a:xfrm>
            <a:off x="863640" y="3782880"/>
            <a:ext cx="46191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Məlumat Toplanmasını Sürətləndirir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863640" y="4218840"/>
            <a:ext cx="63147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Saatlar ərzində toplanan bazar məlumatları, rəqib analizi və sektoral tendensiyalar dəqiqələrə sıxılır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450200" y="2972880"/>
            <a:ext cx="538200" cy="538200"/>
          </a:xfrm>
          <a:prstGeom prst="rect">
            <a:avLst/>
          </a:prstGeom>
          <a:ln w="0">
            <a:noFill/>
          </a:ln>
        </p:spPr>
      </p:pic>
      <p:sp>
        <p:nvSpPr>
          <p:cNvPr id="86" name="Text 4"/>
          <p:cNvSpPr/>
          <p:nvPr/>
        </p:nvSpPr>
        <p:spPr>
          <a:xfrm>
            <a:off x="7450200" y="3782880"/>
            <a:ext cx="32904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Alternativ Baxış Nöqtələri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7450200" y="4218840"/>
            <a:ext cx="63147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Bir məsələyə çoxsaylı rakurslardan baxma imkanı yaradır, "qrup düşüncəsi" tələlərini azaldır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863640" y="5298840"/>
            <a:ext cx="538200" cy="538200"/>
          </a:xfrm>
          <a:prstGeom prst="rect">
            <a:avLst/>
          </a:prstGeom>
          <a:ln w="0">
            <a:noFill/>
          </a:ln>
        </p:spPr>
      </p:pic>
      <p:sp>
        <p:nvSpPr>
          <p:cNvPr id="89" name="Text 6"/>
          <p:cNvSpPr/>
          <p:nvPr/>
        </p:nvSpPr>
        <p:spPr>
          <a:xfrm>
            <a:off x="863640" y="6108480"/>
            <a:ext cx="37558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Fikirlərin Strukturlaşdırılması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863640" y="6544800"/>
            <a:ext cx="63147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Xaotik ideyaları aydın çərçivələrə, prioritet sıralamalarına və icra planlarına çevirir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450200" y="5298840"/>
            <a:ext cx="538200" cy="538200"/>
          </a:xfrm>
          <a:prstGeom prst="rect">
            <a:avLst/>
          </a:prstGeom>
          <a:ln w="0">
            <a:noFill/>
          </a:ln>
        </p:spPr>
      </p:pic>
      <p:sp>
        <p:nvSpPr>
          <p:cNvPr id="92" name="Text 8"/>
          <p:cNvSpPr/>
          <p:nvPr/>
        </p:nvSpPr>
        <p:spPr>
          <a:xfrm>
            <a:off x="7450200" y="6108480"/>
            <a:ext cx="44395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Gələcək Ssenarilərini Modelləşdirir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7450200" y="6544800"/>
            <a:ext cx="63147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Müxtəlif bazar şərtlərini simulyasiya edərək hazırlıqlı qərar qəbulunu dəstəkləyir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863640" y="2278080"/>
            <a:ext cx="9817560" cy="6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Strateji Planlaşdırmada Tipik Tətbiqlər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708120" y="3215520"/>
            <a:ext cx="6497280" cy="2734200"/>
          </a:xfrm>
          <a:prstGeom prst="roundRect">
            <a:avLst>
              <a:gd name="adj" fmla="val 1184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924120" y="3431160"/>
            <a:ext cx="2452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Analiz və Çərçivə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05120" y="3980880"/>
            <a:ext cx="322200" cy="322200"/>
          </a:xfrm>
          <a:prstGeom prst="rect">
            <a:avLst/>
          </a:prstGeom>
          <a:ln w="0">
            <a:noFill/>
          </a:ln>
        </p:spPr>
      </p:pic>
      <p:sp>
        <p:nvSpPr>
          <p:cNvPr id="98" name="Text 3"/>
          <p:cNvSpPr/>
          <p:nvPr/>
        </p:nvSpPr>
        <p:spPr>
          <a:xfrm>
            <a:off x="1625760" y="3980880"/>
            <a:ext cx="536400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SWOT / PESTEL Təhlili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Daxili və xarici mühitin strukturlu qiymətləndirilməsi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05120" y="5060520"/>
            <a:ext cx="322200" cy="322200"/>
          </a:xfrm>
          <a:prstGeom prst="rect">
            <a:avLst/>
          </a:prstGeom>
          <a:ln w="0">
            <a:noFill/>
          </a:ln>
        </p:spPr>
      </p:pic>
      <p:sp>
        <p:nvSpPr>
          <p:cNvPr id="100" name="Text 4"/>
          <p:cNvSpPr/>
          <p:nvPr/>
        </p:nvSpPr>
        <p:spPr>
          <a:xfrm>
            <a:off x="1625760" y="5060520"/>
            <a:ext cx="536400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Missiya, Vizyon, Dəyərlər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Təşkilatın strateji kimliyi üçün əsas sənədlər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7586280" y="3431160"/>
            <a:ext cx="29772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İcra və Kommunikasiya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667280" y="3980880"/>
            <a:ext cx="322200" cy="322200"/>
          </a:xfrm>
          <a:prstGeom prst="rect">
            <a:avLst/>
          </a:prstGeom>
          <a:ln w="0">
            <a:noFill/>
          </a:ln>
        </p:spPr>
      </p:pic>
      <p:sp>
        <p:nvSpPr>
          <p:cNvPr id="103" name="Text 6"/>
          <p:cNvSpPr/>
          <p:nvPr/>
        </p:nvSpPr>
        <p:spPr>
          <a:xfrm>
            <a:off x="8287920" y="3980880"/>
            <a:ext cx="548424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Strateji Təşəbbüslərin İnkişafı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Prioritet layihələrin formalaşdırılması və resursların planlanması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667280" y="5060520"/>
            <a:ext cx="322200" cy="322200"/>
          </a:xfrm>
          <a:prstGeom prst="rect">
            <a:avLst/>
          </a:prstGeom>
          <a:ln w="0">
            <a:noFill/>
          </a:ln>
        </p:spPr>
      </p:pic>
      <p:sp>
        <p:nvSpPr>
          <p:cNvPr id="105" name="Text 7"/>
          <p:cNvSpPr/>
          <p:nvPr/>
        </p:nvSpPr>
        <p:spPr>
          <a:xfrm>
            <a:off x="8287920" y="5060520"/>
            <a:ext cx="548424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Direktorlar Şurası üçün Hesabatlar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İdarə heyəti üçün yüksək keyfiyyətli analitik material hazırlığı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9"/>
          <a:srcRect l="0" t="19489" r="0" b="0"/>
          <a:stretch/>
        </p:blipFill>
        <p:spPr>
          <a:xfrm>
            <a:off x="486000" y="5943600"/>
            <a:ext cx="6829200" cy="220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4600" cy="8227800"/>
          </a:xfrm>
          <a:prstGeom prst="rect">
            <a:avLst/>
          </a:prstGeom>
          <a:ln w="0">
            <a:noFill/>
          </a:ln>
        </p:spPr>
      </p:pic>
      <p:sp>
        <p:nvSpPr>
          <p:cNvPr id="108" name="Text 0"/>
          <p:cNvSpPr/>
          <p:nvPr/>
        </p:nvSpPr>
        <p:spPr>
          <a:xfrm>
            <a:off x="830160" y="923760"/>
            <a:ext cx="7482240" cy="11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601"/>
              </a:lnSpc>
              <a:tabLst>
                <a:tab algn="l" pos="0"/>
              </a:tabLst>
            </a:pPr>
            <a:r>
              <a:rPr b="1" lang="en-US" sz="37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Nümunə: GenAI ilə SWOT Təhlili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"/>
          <p:cNvSpPr/>
          <p:nvPr/>
        </p:nvSpPr>
        <p:spPr>
          <a:xfrm>
            <a:off x="830160" y="2401920"/>
            <a:ext cx="7482240" cy="1150200"/>
          </a:xfrm>
          <a:prstGeom prst="roundRect">
            <a:avLst>
              <a:gd name="adj" fmla="val 2702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0" name="Image 1" descr="preencoded.png"/>
          <p:cNvPicPr/>
          <p:nvPr/>
        </p:nvPicPr>
        <p:blipFill>
          <a:blip r:embed="rId2"/>
          <a:stretch/>
        </p:blipFill>
        <p:spPr>
          <a:xfrm>
            <a:off x="1037520" y="2692800"/>
            <a:ext cx="257400" cy="205560"/>
          </a:xfrm>
          <a:prstGeom prst="rect">
            <a:avLst/>
          </a:prstGeom>
          <a:ln w="0">
            <a:noFill/>
          </a:ln>
        </p:spPr>
      </p:pic>
      <p:sp>
        <p:nvSpPr>
          <p:cNvPr id="111" name="Text 2"/>
          <p:cNvSpPr/>
          <p:nvPr/>
        </p:nvSpPr>
        <p:spPr>
          <a:xfrm>
            <a:off x="1504080" y="2652840"/>
            <a:ext cx="660060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💡</a:t>
            </a:r>
            <a:r>
              <a:rPr b="0" lang="en-US" sz="16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1" lang="en-US" sz="16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Nümayiş sorğusu:</a:t>
            </a:r>
            <a:r>
              <a:rPr b="0" lang="en-US" sz="16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0" i="1" lang="en-US" sz="16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"2026-cı ildə Azərbaycanda bir EdTech şirkəti üçün SWOT təhlili aparın"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830160" y="3778200"/>
            <a:ext cx="748224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nümayişin məqsədi GenAI-ın real iş kontekstinə uyğunluğunu qiymətləndirməkdir. Nəticəni kritik nəzərə alın: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4"/>
          <p:cNvSpPr/>
          <p:nvPr/>
        </p:nvSpPr>
        <p:spPr>
          <a:xfrm>
            <a:off x="830160" y="4613040"/>
            <a:ext cx="2359800" cy="2691000"/>
          </a:xfrm>
          <a:prstGeom prst="roundRect">
            <a:avLst>
              <a:gd name="adj" fmla="val 131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1060200" y="4843080"/>
            <a:ext cx="189936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✅</a:t>
            </a:r>
            <a:r>
              <a:rPr b="1" lang="en-US" sz="18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8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Müvafiq Məqamlar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1060200" y="5559840"/>
            <a:ext cx="1899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güclü/zəif tərəflər Azərbaycan bazarı üçün realdır?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3390840" y="4613040"/>
            <a:ext cx="2360160" cy="2691000"/>
          </a:xfrm>
          <a:prstGeom prst="roundRect">
            <a:avLst>
              <a:gd name="adj" fmla="val 131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3621240" y="4843080"/>
            <a:ext cx="212976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Aydınlaşdırılmalı Məqamlar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3621240" y="5638680"/>
            <a:ext cx="189936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məlumatlar ümumi, yüzeysel və ya lokal kontekstdən kənardır?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10"/>
          <p:cNvSpPr/>
          <p:nvPr/>
        </p:nvSpPr>
        <p:spPr>
          <a:xfrm>
            <a:off x="5952240" y="4613040"/>
            <a:ext cx="2359800" cy="2691000"/>
          </a:xfrm>
          <a:prstGeom prst="roundRect">
            <a:avLst>
              <a:gd name="adj" fmla="val 1318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6182280" y="4843080"/>
            <a:ext cx="1899360" cy="8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85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➕</a:t>
            </a:r>
            <a:r>
              <a:rPr b="1" lang="en-US" sz="18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8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Əlavə Edilməli Məqamlar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6182280" y="5854680"/>
            <a:ext cx="18993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GenAI-ın buraxdığı hansı sektoral xüsusiyyətlər var?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863640" y="1522800"/>
            <a:ext cx="8823240" cy="6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Gələcək Ssenarilərinin Yaradılması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863640" y="2568240"/>
            <a:ext cx="129009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strateji qərar qəbulçularına gələcəyin qeyri-müəyyənliyinə hazırlaşmaq üçün çoxsaylı inkişaf ssenarilərini sürətlə qurmağa imkan verir. Hər ssenari ayrı bir "gələcək dünya" kimi işlənir.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863640" y="3458880"/>
            <a:ext cx="6341760" cy="151416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1079640" y="3566880"/>
            <a:ext cx="26524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🚀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Texnoloji İrəliləyiş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"/>
          <p:cNvSpPr/>
          <p:nvPr/>
        </p:nvSpPr>
        <p:spPr>
          <a:xfrm>
            <a:off x="1115640" y="3859200"/>
            <a:ext cx="59097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AI, avtomatlaşdırma və rəqəmsal transformasiya sektorunuzu kökündən dəyişdirirsə — hansı imkanlar yaranır?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5"/>
          <p:cNvSpPr/>
          <p:nvPr/>
        </p:nvSpPr>
        <p:spPr>
          <a:xfrm>
            <a:off x="7423200" y="3458880"/>
            <a:ext cx="6341760" cy="151416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7638840" y="3674880"/>
            <a:ext cx="36136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⚖️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Tənzimləyici Dəyişikliklər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7638840" y="4111200"/>
            <a:ext cx="59101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Yeni qanunvericilik, vergitutma siyasəti və ya tənzimləmə rejimi strategiyanıza necə təsir edir?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863640" y="5190840"/>
            <a:ext cx="6341760" cy="151416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1079640" y="5406480"/>
            <a:ext cx="27252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⚠️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Böhran Ssenariləri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1079640" y="5842800"/>
            <a:ext cx="59097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İqtisadi tənəzzül, təchizat zənciri pozulması və ya bazarın daralması halında alternativ plan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1"/>
          <p:cNvSpPr/>
          <p:nvPr/>
        </p:nvSpPr>
        <p:spPr>
          <a:xfrm>
            <a:off x="7423200" y="5190840"/>
            <a:ext cx="6341760" cy="1514160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7638840" y="5406480"/>
            <a:ext cx="2452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🌱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Optimal İnkişaf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7638840" y="5842800"/>
            <a:ext cx="59101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Bütün şərtlər əlverişli olduqda — bazar payı, gəlir artımı və brendin ən yaxşı ssenarisi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4600" cy="8227800"/>
          </a:xfrm>
          <a:prstGeom prst="rect">
            <a:avLst/>
          </a:prstGeom>
          <a:ln w="0">
            <a:noFill/>
          </a:ln>
        </p:spPr>
      </p:pic>
      <p:sp>
        <p:nvSpPr>
          <p:cNvPr id="137" name="Text 0"/>
          <p:cNvSpPr/>
          <p:nvPr/>
        </p:nvSpPr>
        <p:spPr>
          <a:xfrm>
            <a:off x="803520" y="838080"/>
            <a:ext cx="5930280" cy="5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tabLst>
                <a:tab algn="l" pos="0"/>
              </a:tabLst>
            </a:pPr>
            <a:r>
              <a:rPr b="1" lang="en-US" sz="35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OKR / BSC ilə İnteqrasiya</a:t>
            </a:r>
            <a:endParaRPr b="0" lang="en-US" sz="3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803520" y="1689120"/>
            <a:ext cx="753516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yalnız analiz alətindən daha artığını təklif edir — bazar məlumatları əsasında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ölçülə bilən məqsədlər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və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əsas nəticələr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formalaşdırmaqda bilavasitə dəstək verir.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803520" y="2667600"/>
            <a:ext cx="352152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OKR Kontekstində GenAI (</a:t>
            </a:r>
            <a:r>
              <a:rPr b="1" i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Objectives and Key Results</a:t>
            </a:r>
            <a:r>
              <a:rPr b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)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803520" y="3448440"/>
            <a:ext cx="450000" cy="45000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892440" y="3503160"/>
            <a:ext cx="27216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49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1442160" y="3379680"/>
            <a:ext cx="28828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Bazar tendensiyalarına uyğun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Məqsəd (Objective)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formalaşdırır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6"/>
          <p:cNvSpPr/>
          <p:nvPr/>
        </p:nvSpPr>
        <p:spPr>
          <a:xfrm>
            <a:off x="803520" y="4479120"/>
            <a:ext cx="450000" cy="45000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892440" y="4533840"/>
            <a:ext cx="27216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49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1442160" y="4410360"/>
            <a:ext cx="28828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KPI bazasında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Əsas Nəticələr (Key Results)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təklif edir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803520" y="5509440"/>
            <a:ext cx="450000" cy="45000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892440" y="5564160"/>
            <a:ext cx="27216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49"/>
              </a:lnSpc>
              <a:tabLst>
                <a:tab algn="l" pos="0"/>
              </a:tabLst>
            </a:pPr>
            <a:r>
              <a:rPr b="1" lang="en-US" sz="21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2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1442160" y="5440680"/>
            <a:ext cx="28828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Rəqib müqayisəsi ilə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Hədəf göstəriciləri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kalibrləyir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>
            <a:off x="4680000" y="2480760"/>
            <a:ext cx="3810960" cy="4375800"/>
          </a:xfrm>
          <a:prstGeom prst="roundRect">
            <a:avLst>
              <a:gd name="adj" fmla="val 790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4880880" y="2667600"/>
            <a:ext cx="3409200" cy="8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7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BSC Perspektivlərində Dəstək (Balanced ScoreCard)</a:t>
            </a:r>
            <a:endParaRPr b="0" lang="en-US" sz="1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14"/>
          <p:cNvSpPr/>
          <p:nvPr/>
        </p:nvSpPr>
        <p:spPr>
          <a:xfrm>
            <a:off x="4880880" y="3510360"/>
            <a:ext cx="98640" cy="98640"/>
          </a:xfrm>
          <a:prstGeom prst="roundRect">
            <a:avLst>
              <a:gd name="adj" fmla="val 4555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5168160" y="3409920"/>
            <a:ext cx="3121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Maliyyə: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Gəlir artımı, xərc optimallaşdırması hədəfləri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6"/>
          <p:cNvSpPr/>
          <p:nvPr/>
        </p:nvSpPr>
        <p:spPr>
          <a:xfrm>
            <a:off x="4880880" y="4465440"/>
            <a:ext cx="98640" cy="98640"/>
          </a:xfrm>
          <a:prstGeom prst="roundRect">
            <a:avLst>
              <a:gd name="adj" fmla="val 4555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5168160" y="4365000"/>
            <a:ext cx="3121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Müştəri: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Məmnuniyyət və bazar payı göstəriciləri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8"/>
          <p:cNvSpPr/>
          <p:nvPr/>
        </p:nvSpPr>
        <p:spPr>
          <a:xfrm>
            <a:off x="4880880" y="5420880"/>
            <a:ext cx="98640" cy="98640"/>
          </a:xfrm>
          <a:prstGeom prst="roundRect">
            <a:avLst>
              <a:gd name="adj" fmla="val 4555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5168160" y="5320440"/>
            <a:ext cx="3121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Daxili Proseslər: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Effektivlik və keyfiyyət metrikləri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20"/>
          <p:cNvSpPr/>
          <p:nvPr/>
        </p:nvSpPr>
        <p:spPr>
          <a:xfrm>
            <a:off x="4880880" y="6375960"/>
            <a:ext cx="98640" cy="98640"/>
          </a:xfrm>
          <a:prstGeom prst="roundRect">
            <a:avLst>
              <a:gd name="adj" fmla="val 455515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5168160" y="6239520"/>
            <a:ext cx="3121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Öyrənmə: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İnnovasiya və kadr inkişafı hədəfləri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863640" y="1872360"/>
            <a:ext cx="6679800" cy="6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Məhdudiyyətlər və Risklər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863640" y="2917800"/>
            <a:ext cx="129009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güclü bir alət olsa da, onun strateji qərar prosesindəki məhdudiyyətlərini bilmək hər menecer üçün vacibdir. Bilinçli istifadə risklərini əhəmiyyətli dərəcədə azaldır.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2"/>
          <p:cNvSpPr/>
          <p:nvPr/>
        </p:nvSpPr>
        <p:spPr>
          <a:xfrm>
            <a:off x="863640" y="3808440"/>
            <a:ext cx="4155120" cy="2547000"/>
          </a:xfrm>
          <a:prstGeom prst="roundRect">
            <a:avLst>
              <a:gd name="adj" fmla="val 574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3"/>
          <p:cNvSpPr/>
          <p:nvPr/>
        </p:nvSpPr>
        <p:spPr>
          <a:xfrm>
            <a:off x="833400" y="3808440"/>
            <a:ext cx="120240" cy="254700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1201680" y="4054680"/>
            <a:ext cx="2452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⚠️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Halüsinasiyalar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1201680" y="4491000"/>
            <a:ext cx="357120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modellər bəzən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uydurma faktlar, saxta statistika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və ya mövcud olmayan mənbələr yarada bilər. Hər kritik məlumat müstəqil mənbələrdə yoxlanılmalıdır.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5236560" y="3808440"/>
            <a:ext cx="4155120" cy="2547000"/>
          </a:xfrm>
          <a:prstGeom prst="roundRect">
            <a:avLst>
              <a:gd name="adj" fmla="val 574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7"/>
          <p:cNvSpPr/>
          <p:nvPr/>
        </p:nvSpPr>
        <p:spPr>
          <a:xfrm>
            <a:off x="5205960" y="3808440"/>
            <a:ext cx="120240" cy="254700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8"/>
          <p:cNvSpPr/>
          <p:nvPr/>
        </p:nvSpPr>
        <p:spPr>
          <a:xfrm>
            <a:off x="5574240" y="4018680"/>
            <a:ext cx="2452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🏢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Kontekst Kəsiyi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9"/>
          <p:cNvSpPr/>
          <p:nvPr/>
        </p:nvSpPr>
        <p:spPr>
          <a:xfrm>
            <a:off x="5574240" y="4347000"/>
            <a:ext cx="3571200" cy="12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Model şirkətinizin daxili mədəniyyəti, qeyri-rəsmi gücü, tarixçəsi və xüsusi bazar dinamikasını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dərindən anlamır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. Nəticələr ümumi xarakter daşıya bilər.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9609480" y="3808440"/>
            <a:ext cx="4155120" cy="2547000"/>
          </a:xfrm>
          <a:prstGeom prst="roundRect">
            <a:avLst>
              <a:gd name="adj" fmla="val 5740"/>
            </a:avLst>
          </a:prstGeom>
          <a:solidFill>
            <a:srgbClr val="111213"/>
          </a:solidFill>
          <a:ln w="3048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11"/>
          <p:cNvSpPr/>
          <p:nvPr/>
        </p:nvSpPr>
        <p:spPr>
          <a:xfrm>
            <a:off x="9578880" y="3808440"/>
            <a:ext cx="120240" cy="254700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9947160" y="4054680"/>
            <a:ext cx="24523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🪞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Səthilik Riski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3"/>
          <p:cNvSpPr/>
          <p:nvPr/>
        </p:nvSpPr>
        <p:spPr>
          <a:xfrm>
            <a:off x="9947160" y="4491000"/>
            <a:ext cx="357120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İnsan incəliyi, intuisiya və uzunmüddətli təcrübə olmadan GenAI çıxışları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yüzeysel qala bilər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— xüsusilə mürəkkəb, çoxölçülü strateji məsələlərdə.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4600" cy="8227800"/>
          </a:xfrm>
          <a:prstGeom prst="rect">
            <a:avLst/>
          </a:prstGeom>
          <a:ln w="0">
            <a:noFill/>
          </a:ln>
        </p:spPr>
      </p:pic>
      <p:sp>
        <p:nvSpPr>
          <p:cNvPr id="174" name="Text 0"/>
          <p:cNvSpPr/>
          <p:nvPr/>
        </p:nvSpPr>
        <p:spPr>
          <a:xfrm>
            <a:off x="863640" y="711000"/>
            <a:ext cx="5056200" cy="6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Ən Yaxşı Təcrübələr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863640" y="1648440"/>
            <a:ext cx="741456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GenAI-dan maksimum strateji dəyər əldə etmək üçün aşağıdakı prinsiplər rəhbərlik kimi işlənib hazırlanmışdır: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1079640" y="2863080"/>
            <a:ext cx="214200" cy="119016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863640" y="2721240"/>
            <a:ext cx="645840" cy="645840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25640" y="2883240"/>
            <a:ext cx="322200" cy="322200"/>
          </a:xfrm>
          <a:prstGeom prst="rect">
            <a:avLst/>
          </a:prstGeom>
          <a:ln w="0">
            <a:noFill/>
          </a:ln>
        </p:spPr>
      </p:pic>
      <p:sp>
        <p:nvSpPr>
          <p:cNvPr id="179" name="Text 4"/>
          <p:cNvSpPr/>
          <p:nvPr/>
        </p:nvSpPr>
        <p:spPr>
          <a:xfrm>
            <a:off x="1727640" y="2755080"/>
            <a:ext cx="31485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Həmişə Faktları Yoxlayın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1727640" y="3191400"/>
            <a:ext cx="65509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çıxışını heç vaxt yeganə mənbə kimi qəbul etməyin. Statistika, tarix və istinadları etibarlı mənbələrdən təsdiqləyin.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>
            <a:off x="1403640" y="4594680"/>
            <a:ext cx="214200" cy="119016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>
            <a:off x="1187640" y="4453200"/>
            <a:ext cx="645840" cy="645840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3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49640" y="4614840"/>
            <a:ext cx="322200" cy="322200"/>
          </a:xfrm>
          <a:prstGeom prst="rect">
            <a:avLst/>
          </a:prstGeom>
          <a:ln w="0">
            <a:noFill/>
          </a:ln>
        </p:spPr>
      </p:pic>
      <p:sp>
        <p:nvSpPr>
          <p:cNvPr id="184" name="Text 8"/>
          <p:cNvSpPr/>
          <p:nvPr/>
        </p:nvSpPr>
        <p:spPr>
          <a:xfrm>
            <a:off x="2051280" y="4486680"/>
            <a:ext cx="491616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Təkrarlanan Yanaşmadan İstifadə Edin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2051280" y="4923000"/>
            <a:ext cx="622692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Sorğu → Nəticəni Qiymətləndir → Düzəliş et → Dəqiqləşdir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dövrü ilə hər addımda keyfiyyəti artırın.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1727640" y="6326640"/>
            <a:ext cx="214200" cy="1190160"/>
          </a:xfrm>
          <a:prstGeom prst="roundRect">
            <a:avLst>
              <a:gd name="adj" fmla="val 1500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11"/>
          <p:cNvSpPr/>
          <p:nvPr/>
        </p:nvSpPr>
        <p:spPr>
          <a:xfrm>
            <a:off x="1511640" y="6184800"/>
            <a:ext cx="645840" cy="645840"/>
          </a:xfrm>
          <a:prstGeom prst="roundRect">
            <a:avLst>
              <a:gd name="adj" fmla="val 70575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8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673640" y="6346800"/>
            <a:ext cx="322200" cy="322200"/>
          </a:xfrm>
          <a:prstGeom prst="rect">
            <a:avLst/>
          </a:prstGeom>
          <a:ln w="0">
            <a:noFill/>
          </a:ln>
        </p:spPr>
      </p:pic>
      <p:sp>
        <p:nvSpPr>
          <p:cNvPr id="189" name="Text 12"/>
          <p:cNvSpPr/>
          <p:nvPr/>
        </p:nvSpPr>
        <p:spPr>
          <a:xfrm>
            <a:off x="2375280" y="6218640"/>
            <a:ext cx="336852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Ekspert Rəyi ilə Birləşdirin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2375280" y="6654600"/>
            <a:ext cx="5903280" cy="64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GenAI çıxışlarını sahə mütəxəssislərinin, sektoral ekspertlərin və təcrübəli menecer dəyərləndirməsi ilə gücləndin.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807120" y="655560"/>
            <a:ext cx="458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501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Praktik Tapşırıq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1"/>
          <p:cNvSpPr/>
          <p:nvPr/>
        </p:nvSpPr>
        <p:spPr>
          <a:xfrm>
            <a:off x="807120" y="1605960"/>
            <a:ext cx="13014720" cy="1100520"/>
          </a:xfrm>
          <a:prstGeom prst="roundRect">
            <a:avLst>
              <a:gd name="adj" fmla="val 2746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3" name="Image 0" descr="preencoded.png"/>
          <p:cNvPicPr/>
          <p:nvPr/>
        </p:nvPicPr>
        <p:blipFill>
          <a:blip r:embed="rId1"/>
          <a:stretch/>
        </p:blipFill>
        <p:spPr>
          <a:xfrm>
            <a:off x="1008720" y="1887120"/>
            <a:ext cx="250200" cy="199800"/>
          </a:xfrm>
          <a:prstGeom prst="rect">
            <a:avLst/>
          </a:prstGeom>
          <a:ln w="0">
            <a:noFill/>
          </a:ln>
        </p:spPr>
      </p:pic>
      <p:sp>
        <p:nvSpPr>
          <p:cNvPr id="194" name="Text 2"/>
          <p:cNvSpPr/>
          <p:nvPr/>
        </p:nvSpPr>
        <p:spPr>
          <a:xfrm>
            <a:off x="1462680" y="1844640"/>
            <a:ext cx="1215720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🎯</a:t>
            </a:r>
            <a:r>
              <a:rPr b="0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1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Tapşırıq:</a:t>
            </a:r>
            <a:r>
              <a:rPr b="0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0" i="1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"Təşkilatınızın və ya layihənizin SWOT (</a:t>
            </a:r>
            <a:r>
              <a:rPr b="0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analysis are strengths, weaknesses, opportunities, and threats</a:t>
            </a:r>
            <a:r>
              <a:rPr b="0" i="1" lang="en-US" sz="15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) təhlilini yaratmaq üçün GenAI-a sorğu göndərin. Onu işə salın və nəticəni təhlil edin."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807120" y="2919960"/>
            <a:ext cx="6411960" cy="603360"/>
          </a:xfrm>
          <a:prstGeom prst="roundRect">
            <a:avLst>
              <a:gd name="adj" fmla="val 4800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3862800" y="3033360"/>
            <a:ext cx="3009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1008720" y="3713760"/>
            <a:ext cx="2291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Sorğu Hazırlayın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6"/>
          <p:cNvSpPr/>
          <p:nvPr/>
        </p:nvSpPr>
        <p:spPr>
          <a:xfrm>
            <a:off x="1008720" y="4113360"/>
            <a:ext cx="600876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Şirkətinizin sektoru, ölçüsü, coğrafiyası və hədəf ili daxil olmaqla dəqiq kontekst verin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7"/>
          <p:cNvSpPr/>
          <p:nvPr/>
        </p:nvSpPr>
        <p:spPr>
          <a:xfrm>
            <a:off x="7409520" y="2919960"/>
            <a:ext cx="6412320" cy="603360"/>
          </a:xfrm>
          <a:prstGeom prst="roundRect">
            <a:avLst>
              <a:gd name="adj" fmla="val 4800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8"/>
          <p:cNvSpPr/>
          <p:nvPr/>
        </p:nvSpPr>
        <p:spPr>
          <a:xfrm>
            <a:off x="10464840" y="3033360"/>
            <a:ext cx="3009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9"/>
          <p:cNvSpPr/>
          <p:nvPr/>
        </p:nvSpPr>
        <p:spPr>
          <a:xfrm>
            <a:off x="7611120" y="3713760"/>
            <a:ext cx="2291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Nəticəni Çalıştırın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7611120" y="4113360"/>
            <a:ext cx="600876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ChatGPT, Claude və ya Gemini-dən birini seçərək sorğunuzu göndərin və cavabı oxuyun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1"/>
          <p:cNvSpPr/>
          <p:nvPr/>
        </p:nvSpPr>
        <p:spPr>
          <a:xfrm>
            <a:off x="807120" y="5088960"/>
            <a:ext cx="6411960" cy="603360"/>
          </a:xfrm>
          <a:prstGeom prst="roundRect">
            <a:avLst>
              <a:gd name="adj" fmla="val 4800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2"/>
          <p:cNvSpPr/>
          <p:nvPr/>
        </p:nvSpPr>
        <p:spPr>
          <a:xfrm>
            <a:off x="3862800" y="5202360"/>
            <a:ext cx="3009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3"/>
          <p:cNvSpPr/>
          <p:nvPr/>
        </p:nvSpPr>
        <p:spPr>
          <a:xfrm>
            <a:off x="1008720" y="5882760"/>
            <a:ext cx="2291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Kritik Analiz Edin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4"/>
          <p:cNvSpPr/>
          <p:nvPr/>
        </p:nvSpPr>
        <p:spPr>
          <a:xfrm>
            <a:off x="1008720" y="6282360"/>
            <a:ext cx="600876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məqamlar realdır? Hansıları yüzeyseldir? Nə əlavə etməliyik? Qrupla müzakirə edin.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5"/>
          <p:cNvSpPr/>
          <p:nvPr/>
        </p:nvSpPr>
        <p:spPr>
          <a:xfrm>
            <a:off x="7409520" y="5088960"/>
            <a:ext cx="6412320" cy="603360"/>
          </a:xfrm>
          <a:prstGeom prst="roundRect">
            <a:avLst>
              <a:gd name="adj" fmla="val 480018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16"/>
          <p:cNvSpPr/>
          <p:nvPr/>
        </p:nvSpPr>
        <p:spPr>
          <a:xfrm>
            <a:off x="10464840" y="5202360"/>
            <a:ext cx="3009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350"/>
              </a:lnSpc>
              <a:tabLst>
                <a:tab algn="l" pos="0"/>
              </a:tabLst>
            </a:pPr>
            <a:r>
              <a:rPr b="1" lang="en-US" sz="235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4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7611120" y="5882760"/>
            <a:ext cx="22910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51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Təkmilləşdirin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18"/>
          <p:cNvSpPr/>
          <p:nvPr/>
        </p:nvSpPr>
        <p:spPr>
          <a:xfrm>
            <a:off x="7611120" y="6282360"/>
            <a:ext cx="600876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Yenidən sorğu göndərərək daha dərin nəticə alın — iterasiya prosesini yaşayın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9"/>
          <p:cNvSpPr/>
          <p:nvPr/>
        </p:nvSpPr>
        <p:spPr>
          <a:xfrm>
            <a:off x="807120" y="7281360"/>
            <a:ext cx="130147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tapşırıq GenAI-ın strateji planlaşdırmadakı real potensialını və məhdudiyyətlərini </a:t>
            </a:r>
            <a:r>
              <a:rPr b="1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əyani şəkildə</a:t>
            </a:r>
            <a:r>
              <a:rPr b="0" lang="en-US" sz="15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hiss etməyə imkan verir.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>
            <a:off x="5029200" y="84600"/>
            <a:ext cx="3149640" cy="5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9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Test Tapşırığı L7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tretch/>
        </p:blipFill>
        <p:spPr>
          <a:xfrm>
            <a:off x="2971800" y="685800"/>
            <a:ext cx="7314120" cy="7314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2026-03-27T06:10:29Z</dcterms:created>
  <dc:creator/>
  <dc:description/>
  <dc:language>en-US</dc:language>
  <cp:lastModifiedBy/>
  <cp:lastPrinted>2026-03-29T16:25:00Z</cp:lastPrinted>
  <dcterms:modified xsi:type="dcterms:W3CDTF">2026-03-29T16:51:09Z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