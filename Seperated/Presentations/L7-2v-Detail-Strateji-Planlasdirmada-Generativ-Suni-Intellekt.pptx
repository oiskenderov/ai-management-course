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2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11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10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9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12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11.xml" ContentType="application/vnd.openxmlformats-officedocument.theme+xml"/>
  <Override PartName="/ppt/theme/theme2.xml" ContentType="application/vnd.openxmlformats-officedocument.theme+xml"/>
  <Override PartName="/ppt/theme/theme12.xml" ContentType="application/vnd.openxmlformats-officedocument.theme+xml"/>
  <Override PartName="/ppt/theme/theme3.xml" ContentType="application/vnd.openxmlformats-officedocument.theme+xml"/>
  <Override PartName="/ppt/theme/theme1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theme/theme10.xml" ContentType="application/vnd.openxmlformats-officedocument.theme+xml"/>
  <Override PartName="/ppt/slideLayouts/_rels/slideLayout9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_rels/presentation.xml.rels" ContentType="application/vnd.openxmlformats-package.relationshi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media/image12.svg" ContentType="image/svg"/>
  <Override PartName="/ppt/media/image8.svg" ContentType="image/svg"/>
  <Override PartName="/ppt/media/image13.png" ContentType="image/png"/>
  <Override PartName="/ppt/media/image10.svg" ContentType="image/svg"/>
  <Override PartName="/ppt/media/image9.png" ContentType="image/png"/>
  <Override PartName="/ppt/media/image6.svg" ContentType="image/svg"/>
  <Override PartName="/ppt/media/image5.png" ContentType="image/png"/>
  <Override PartName="/ppt/media/image14.png" ContentType="image/png"/>
  <Override PartName="/ppt/media/image11.png" ContentType="image/png"/>
  <Override PartName="/ppt/media/image2.png" ContentType="image/png"/>
  <Override PartName="/ppt/media/image22.svg" ContentType="image/svg"/>
  <Override PartName="/ppt/media/image24.png" ContentType="image/png"/>
  <Override PartName="/ppt/media/image23.png" ContentType="image/png"/>
  <Override PartName="/ppt/media/image4.svg" ContentType="image/svg"/>
  <Override PartName="/ppt/media/image21.png" ContentType="image/png"/>
  <Override PartName="/ppt/media/image19.png" ContentType="image/png"/>
  <Override PartName="/ppt/media/image20.svg" ContentType="image/svg"/>
  <Override PartName="/ppt/media/image18.svg" ContentType="image/svg"/>
  <Override PartName="/ppt/media/image17.png" ContentType="image/png"/>
  <Override PartName="/ppt/media/image15.png" ContentType="image/png"/>
  <Override PartName="/ppt/media/image1.png" ContentType="image/png"/>
  <Override PartName="/ppt/media/image3.png" ContentType="image/png"/>
  <Override PartName="/ppt/media/image7.png" ContentType="image/png"/>
  <Override PartName="/ppt/media/image16.png" ContentType="image/png"/>
  <Override PartName="/ppt/slides/slide1.xml" ContentType="application/vnd.openxmlformats-officedocument.presentationml.slide+xml"/>
  <Override PartName="/ppt/slides/_rels/slide12.xml.rels" ContentType="application/vnd.openxmlformats-package.relationships+xml"/>
  <Override PartName="/ppt/slides/_rels/slide9.xml.rels" ContentType="application/vnd.openxmlformats-package.relationships+xml"/>
  <Override PartName="/ppt/slides/_rels/slide11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_rels/slide4.xml.rels" ContentType="application/vnd.openxmlformats-package.relationships+xml"/>
  <Override PartName="/ppt/slides/_rels/slide3.xml.rels" ContentType="application/vnd.openxmlformats-package.relationships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11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_rels/notesSlide11.xml.rels" ContentType="application/vnd.openxmlformats-package.relationships+xml"/>
  <Override PartName="/ppt/notesSlides/_rels/notesSlide4.xml.rels" ContentType="application/vnd.openxmlformats-package.relationships+xml"/>
  <Override PartName="/ppt/notesSlides/_rels/notesSlide9.xml.rels" ContentType="application/vnd.openxmlformats-package.relationships+xml"/>
  <Override PartName="/ppt/notesSlides/_rels/notesSlide10.xml.rels" ContentType="application/vnd.openxmlformats-package.relationships+xml"/>
  <Override PartName="/ppt/notesSlides/_rels/notesSlide3.xml.rels" ContentType="application/vnd.openxmlformats-package.relationships+xml"/>
  <Override PartName="/ppt/notesSlides/_rels/notesSlide8.xml.rels" ContentType="application/vnd.openxmlformats-package.relationships+xml"/>
  <Override PartName="/ppt/notesSlides/_rels/notesSlide7.xml.rels" ContentType="application/vnd.openxmlformats-package.relationships+xml"/>
  <Override PartName="/ppt/notesSlides/_rels/notesSlide6.xml.rels" ContentType="application/vnd.openxmlformats-package.relationships+xml"/>
  <Override PartName="/ppt/notesSlides/_rels/notesSlide5.xml.rels" ContentType="application/vnd.openxmlformats-package.relationships+xml"/>
  <Override PartName="/ppt/notesSlides/_rels/notesSlide2.xml.rels" ContentType="application/vnd.openxmlformats-package.relationships+xml"/>
  <Override PartName="/ppt/notesSlides/_rels/notesSlide1.xml.rels" ContentType="application/vnd.openxmlformats-package.relationships+xml"/>
  <Override PartName="/ppt/notesSlides/notesSlide9.xml" ContentType="application/vnd.openxmlformats-officedocument.presentationml.notesSlide+xml"/>
  <Override PartName="/ppt/notesSlides/notesSlide11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  <p:sldMasterId id="2147483658" r:id="rId7"/>
    <p:sldMasterId id="2147483660" r:id="rId8"/>
    <p:sldMasterId id="2147483662" r:id="rId9"/>
    <p:sldMasterId id="2147483664" r:id="rId10"/>
    <p:sldMasterId id="2147483666" r:id="rId11"/>
    <p:sldMasterId id="2147483668" r:id="rId12"/>
    <p:sldMasterId id="2147483670" r:id="rId13"/>
  </p:sldMasterIdLst>
  <p:notesMasterIdLst>
    <p:notesMasterId r:id="rId14"/>
  </p:notesMasterIdLst>
  <p:sldIdLst>
    <p:sldId id="256" r:id="rId15"/>
    <p:sldId id="257" r:id="rId16"/>
    <p:sldId id="258" r:id="rId17"/>
    <p:sldId id="259" r:id="rId18"/>
    <p:sldId id="260" r:id="rId19"/>
    <p:sldId id="261" r:id="rId20"/>
    <p:sldId id="262" r:id="rId21"/>
    <p:sldId id="263" r:id="rId22"/>
    <p:sldId id="264" r:id="rId23"/>
    <p:sldId id="265" r:id="rId24"/>
    <p:sldId id="266" r:id="rId25"/>
    <p:sldId id="267" r:id="rId26"/>
  </p:sldIdLst>
  <p:sldSz cx="14630400" cy="8229600"/>
  <p:notesSz cx="8229600" cy="14630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slideMaster" Target="slideMasters/slideMaster12.xml"/><Relationship Id="rId14" Type="http://schemas.openxmlformats.org/officeDocument/2006/relationships/notesMaster" Target="notesMasters/notesMaster1.xml"/><Relationship Id="rId15" Type="http://schemas.openxmlformats.org/officeDocument/2006/relationships/slide" Target="slides/slide1.xml"/><Relationship Id="rId16" Type="http://schemas.openxmlformats.org/officeDocument/2006/relationships/slide" Target="slides/slide2.xml"/><Relationship Id="rId17" Type="http://schemas.openxmlformats.org/officeDocument/2006/relationships/slide" Target="slides/slide3.xml"/><Relationship Id="rId18" Type="http://schemas.openxmlformats.org/officeDocument/2006/relationships/slide" Target="slides/slide4.xml"/><Relationship Id="rId19" Type="http://schemas.openxmlformats.org/officeDocument/2006/relationships/slide" Target="slides/slide5.xml"/><Relationship Id="rId20" Type="http://schemas.openxmlformats.org/officeDocument/2006/relationships/slide" Target="slides/slide6.xml"/><Relationship Id="rId21" Type="http://schemas.openxmlformats.org/officeDocument/2006/relationships/slide" Target="slides/slide7.xml"/><Relationship Id="rId22" Type="http://schemas.openxmlformats.org/officeDocument/2006/relationships/slide" Target="slides/slide8.xml"/><Relationship Id="rId23" Type="http://schemas.openxmlformats.org/officeDocument/2006/relationships/slide" Target="slides/slide9.xml"/><Relationship Id="rId24" Type="http://schemas.openxmlformats.org/officeDocument/2006/relationships/slide" Target="slides/slide10.xml"/><Relationship Id="rId25" Type="http://schemas.openxmlformats.org/officeDocument/2006/relationships/slide" Target="slides/slide11.xml"/><Relationship Id="rId26" Type="http://schemas.openxmlformats.org/officeDocument/2006/relationships/slide" Target="slides/slide12.xml"/><Relationship Id="rId27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13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sldImg"/>
          </p:nvPr>
        </p:nvSpPr>
        <p:spPr>
          <a:xfrm>
            <a:off x="0" y="76428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move the slide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Click to edit the notes format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&lt;header&gt;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dt" idx="1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" name="PlaceHolder 5"/>
          <p:cNvSpPr>
            <a:spLocks noGrp="1"/>
          </p:cNvSpPr>
          <p:nvPr>
            <p:ph type="ftr" idx="2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" name="PlaceHolder 6"/>
          <p:cNvSpPr>
            <a:spLocks noGrp="1"/>
          </p:cNvSpPr>
          <p:nvPr>
            <p:ph type="sldNum" idx="3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4944948B-81BD-46E0-9AFC-E160B7E697B2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21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1D96B0AD-77F6-4C7E-8559-AC560C8F7E51}" type="slidenum">
              <a:rPr b="0" lang="en-US" sz="12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21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8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BACBEEAC-03CF-40D2-8AFB-F7C2A332AA91}" type="slidenum">
              <a:rPr b="0" lang="en-US" sz="12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22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1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15D697B1-5916-46C6-B36F-A01942FA4FC2}" type="slidenum">
              <a:rPr b="0" lang="en-US" sz="12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22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4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DB9843E-6480-4606-BBA1-3AFC193899BD}" type="slidenum">
              <a:rPr b="0" lang="en-US" sz="12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22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7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48FAB40-9F31-4077-B233-E99E9F619E58}" type="slidenum">
              <a:rPr b="0" lang="en-US" sz="12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22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0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0923DA0-76A2-452B-9CDA-8E1FDF8E66BD}" type="slidenum">
              <a:rPr b="0" lang="en-US" sz="12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23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3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B7339FE-9853-465A-B267-3D505B0892C9}" type="slidenum">
              <a:rPr b="0" lang="en-US" sz="12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23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6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C04430AD-F4C4-4F74-92FA-B308CD3C09FD}" type="slidenum">
              <a:rPr b="0" lang="en-US" sz="12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23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9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5DB1B81-CA1C-4782-A5FB-91EEE5F9B67C}" type="slidenum">
              <a:rPr b="0" lang="en-US" sz="12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24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F4ADD815-FFF8-4BFD-94BD-10FE748D9FD5}" type="slidenum">
              <a:rPr b="0" lang="en-US" sz="12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24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5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0B2C403F-0693-479E-9013-3E326A86122A}" type="slidenum">
              <a:rPr b="0" lang="en-US" sz="12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lide 9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lide 10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lide 11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lide 1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lide 2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lide 3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lide 4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lide 5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lide 6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lide 7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lide 8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5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7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slideLayout" Target="../slideLayouts/slideLayout8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slideLayout" Target="../slideLayouts/slideLayout9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slideLayout" Target="../slideLayouts/slideLayout1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slideLayout" Target="../slideLayouts/slideLayout11.xml"/>
</Relationships>
</file>

<file path=ppt/slideMasters/_rels/slideMaster12.xml.rels><?xml version="1.0" encoding="UTF-8"?>
<Relationships xmlns="http://schemas.openxmlformats.org/package/2006/relationships"><Relationship Id="rId1" Type="http://schemas.openxmlformats.org/officeDocument/2006/relationships/theme" Target="../theme/theme12.xml"/><Relationship Id="rId2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Shape 0"/>
          <p:cNvSpPr/>
          <p:nvPr/>
        </p:nvSpPr>
        <p:spPr>
          <a:xfrm>
            <a:off x="0" y="0"/>
            <a:ext cx="14629680" cy="8228880"/>
          </a:xfrm>
          <a:prstGeom prst="rect">
            <a:avLst/>
          </a:prstGeom>
          <a:solidFill>
            <a:srgbClr val="181a1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" name="Shape 1"/>
          <p:cNvSpPr/>
          <p:nvPr/>
        </p:nvSpPr>
        <p:spPr>
          <a:xfrm>
            <a:off x="0" y="0"/>
            <a:ext cx="14629680" cy="8228880"/>
          </a:xfrm>
          <a:prstGeom prst="rect">
            <a:avLst/>
          </a:prstGeom>
          <a:solidFill>
            <a:srgbClr val="11121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731520" y="1925640"/>
            <a:ext cx="13167000" cy="477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0"/>
          <p:cNvSpPr/>
          <p:nvPr/>
        </p:nvSpPr>
        <p:spPr>
          <a:xfrm>
            <a:off x="0" y="0"/>
            <a:ext cx="14629680" cy="8228880"/>
          </a:xfrm>
          <a:prstGeom prst="rect">
            <a:avLst/>
          </a:prstGeom>
          <a:solidFill>
            <a:srgbClr val="181a1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" name="Shape 1"/>
          <p:cNvSpPr/>
          <p:nvPr/>
        </p:nvSpPr>
        <p:spPr>
          <a:xfrm>
            <a:off x="0" y="0"/>
            <a:ext cx="14629680" cy="8228880"/>
          </a:xfrm>
          <a:prstGeom prst="rect">
            <a:avLst/>
          </a:prstGeom>
          <a:solidFill>
            <a:srgbClr val="11121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731520" y="1925640"/>
            <a:ext cx="13167000" cy="477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3" r:id="rId2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hape 0"/>
          <p:cNvSpPr/>
          <p:nvPr/>
        </p:nvSpPr>
        <p:spPr>
          <a:xfrm>
            <a:off x="0" y="0"/>
            <a:ext cx="14629680" cy="8228880"/>
          </a:xfrm>
          <a:prstGeom prst="rect">
            <a:avLst/>
          </a:prstGeom>
          <a:solidFill>
            <a:srgbClr val="181a1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" name="Shape 1"/>
          <p:cNvSpPr/>
          <p:nvPr/>
        </p:nvSpPr>
        <p:spPr>
          <a:xfrm>
            <a:off x="0" y="0"/>
            <a:ext cx="14629680" cy="8228880"/>
          </a:xfrm>
          <a:prstGeom prst="rect">
            <a:avLst/>
          </a:prstGeom>
          <a:solidFill>
            <a:srgbClr val="11121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PlaceHolder 2"/>
          <p:cNvSpPr>
            <a:spLocks noGrp="1"/>
          </p:cNvSpPr>
          <p:nvPr>
            <p:ph type="body"/>
          </p:nvPr>
        </p:nvSpPr>
        <p:spPr>
          <a:xfrm>
            <a:off x="731520" y="1925640"/>
            <a:ext cx="13167000" cy="477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5" r:id="rId2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hape 0"/>
          <p:cNvSpPr/>
          <p:nvPr/>
        </p:nvSpPr>
        <p:spPr>
          <a:xfrm>
            <a:off x="0" y="0"/>
            <a:ext cx="14629680" cy="8228880"/>
          </a:xfrm>
          <a:prstGeom prst="rect">
            <a:avLst/>
          </a:prstGeom>
          <a:solidFill>
            <a:srgbClr val="181a1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" name="Shape 1"/>
          <p:cNvSpPr/>
          <p:nvPr/>
        </p:nvSpPr>
        <p:spPr>
          <a:xfrm>
            <a:off x="0" y="0"/>
            <a:ext cx="14629680" cy="8228880"/>
          </a:xfrm>
          <a:prstGeom prst="rect">
            <a:avLst/>
          </a:prstGeom>
          <a:solidFill>
            <a:srgbClr val="11121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 type="body"/>
          </p:nvPr>
        </p:nvSpPr>
        <p:spPr>
          <a:xfrm>
            <a:off x="731520" y="1925640"/>
            <a:ext cx="13167000" cy="477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7" r:id="rId2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Shape 0"/>
          <p:cNvSpPr/>
          <p:nvPr/>
        </p:nvSpPr>
        <p:spPr>
          <a:xfrm>
            <a:off x="0" y="0"/>
            <a:ext cx="14629680" cy="8228880"/>
          </a:xfrm>
          <a:prstGeom prst="rect">
            <a:avLst/>
          </a:prstGeom>
          <a:solidFill>
            <a:srgbClr val="181a1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" name="Shape 1"/>
          <p:cNvSpPr/>
          <p:nvPr/>
        </p:nvSpPr>
        <p:spPr>
          <a:xfrm>
            <a:off x="0" y="0"/>
            <a:ext cx="14629680" cy="8228880"/>
          </a:xfrm>
          <a:prstGeom prst="rect">
            <a:avLst/>
          </a:prstGeom>
          <a:solidFill>
            <a:srgbClr val="11121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 type="body"/>
          </p:nvPr>
        </p:nvSpPr>
        <p:spPr>
          <a:xfrm>
            <a:off x="731520" y="1925640"/>
            <a:ext cx="13167000" cy="477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9" r:id="rId2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Shape 0"/>
          <p:cNvSpPr/>
          <p:nvPr/>
        </p:nvSpPr>
        <p:spPr>
          <a:xfrm>
            <a:off x="0" y="0"/>
            <a:ext cx="14629680" cy="8228880"/>
          </a:xfrm>
          <a:prstGeom prst="rect">
            <a:avLst/>
          </a:prstGeom>
          <a:solidFill>
            <a:srgbClr val="181a1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" name="Shape 1"/>
          <p:cNvSpPr/>
          <p:nvPr/>
        </p:nvSpPr>
        <p:spPr>
          <a:xfrm>
            <a:off x="0" y="0"/>
            <a:ext cx="14629680" cy="8228880"/>
          </a:xfrm>
          <a:prstGeom prst="rect">
            <a:avLst/>
          </a:prstGeom>
          <a:solidFill>
            <a:srgbClr val="11121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 type="body"/>
          </p:nvPr>
        </p:nvSpPr>
        <p:spPr>
          <a:xfrm>
            <a:off x="731520" y="1925640"/>
            <a:ext cx="13167000" cy="477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1" r:id="rId2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Shape 0"/>
          <p:cNvSpPr/>
          <p:nvPr/>
        </p:nvSpPr>
        <p:spPr>
          <a:xfrm>
            <a:off x="0" y="0"/>
            <a:ext cx="14629680" cy="8228880"/>
          </a:xfrm>
          <a:prstGeom prst="rect">
            <a:avLst/>
          </a:prstGeom>
          <a:solidFill>
            <a:srgbClr val="181a1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" name="Shape 1"/>
          <p:cNvSpPr/>
          <p:nvPr/>
        </p:nvSpPr>
        <p:spPr>
          <a:xfrm>
            <a:off x="0" y="0"/>
            <a:ext cx="14629680" cy="8228880"/>
          </a:xfrm>
          <a:prstGeom prst="rect">
            <a:avLst/>
          </a:prstGeom>
          <a:solidFill>
            <a:srgbClr val="11121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731520" y="1925640"/>
            <a:ext cx="13167000" cy="477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3" r:id="rId2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Shape 0"/>
          <p:cNvSpPr/>
          <p:nvPr/>
        </p:nvSpPr>
        <p:spPr>
          <a:xfrm>
            <a:off x="0" y="0"/>
            <a:ext cx="14629680" cy="8228880"/>
          </a:xfrm>
          <a:prstGeom prst="rect">
            <a:avLst/>
          </a:prstGeom>
          <a:solidFill>
            <a:srgbClr val="181a1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" name="Shape 1"/>
          <p:cNvSpPr/>
          <p:nvPr/>
        </p:nvSpPr>
        <p:spPr>
          <a:xfrm>
            <a:off x="0" y="0"/>
            <a:ext cx="14629680" cy="8228880"/>
          </a:xfrm>
          <a:prstGeom prst="rect">
            <a:avLst/>
          </a:prstGeom>
          <a:solidFill>
            <a:srgbClr val="11121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2"/>
          <p:cNvSpPr>
            <a:spLocks noGrp="1"/>
          </p:cNvSpPr>
          <p:nvPr>
            <p:ph type="body"/>
          </p:nvPr>
        </p:nvSpPr>
        <p:spPr>
          <a:xfrm>
            <a:off x="731520" y="1925640"/>
            <a:ext cx="13167000" cy="477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5" r:id="rId2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Shape 0"/>
          <p:cNvSpPr/>
          <p:nvPr/>
        </p:nvSpPr>
        <p:spPr>
          <a:xfrm>
            <a:off x="0" y="0"/>
            <a:ext cx="14629680" cy="8228880"/>
          </a:xfrm>
          <a:prstGeom prst="rect">
            <a:avLst/>
          </a:prstGeom>
          <a:solidFill>
            <a:srgbClr val="181a1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" name="Shape 1"/>
          <p:cNvSpPr/>
          <p:nvPr/>
        </p:nvSpPr>
        <p:spPr>
          <a:xfrm>
            <a:off x="0" y="0"/>
            <a:ext cx="14629680" cy="8228880"/>
          </a:xfrm>
          <a:prstGeom prst="rect">
            <a:avLst/>
          </a:prstGeom>
          <a:solidFill>
            <a:srgbClr val="11121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 type="body"/>
          </p:nvPr>
        </p:nvSpPr>
        <p:spPr>
          <a:xfrm>
            <a:off x="731520" y="1925640"/>
            <a:ext cx="13167000" cy="477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7" r:id="rId2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Shape 0"/>
          <p:cNvSpPr/>
          <p:nvPr/>
        </p:nvSpPr>
        <p:spPr>
          <a:xfrm>
            <a:off x="0" y="0"/>
            <a:ext cx="14629680" cy="8228880"/>
          </a:xfrm>
          <a:prstGeom prst="rect">
            <a:avLst/>
          </a:prstGeom>
          <a:solidFill>
            <a:srgbClr val="181a1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" name="Shape 1"/>
          <p:cNvSpPr/>
          <p:nvPr/>
        </p:nvSpPr>
        <p:spPr>
          <a:xfrm>
            <a:off x="0" y="0"/>
            <a:ext cx="14629680" cy="8228880"/>
          </a:xfrm>
          <a:prstGeom prst="rect">
            <a:avLst/>
          </a:prstGeom>
          <a:solidFill>
            <a:srgbClr val="11121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731520" y="1925640"/>
            <a:ext cx="13167000" cy="477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9" r:id="rId2"/>
  </p:sldLayoutIdLst>
</p:sldMaster>
</file>

<file path=ppt/slideMasters/slideMaster1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Shape 0"/>
          <p:cNvSpPr/>
          <p:nvPr/>
        </p:nvSpPr>
        <p:spPr>
          <a:xfrm>
            <a:off x="0" y="0"/>
            <a:ext cx="14629680" cy="8228880"/>
          </a:xfrm>
          <a:prstGeom prst="rect">
            <a:avLst/>
          </a:prstGeom>
          <a:solidFill>
            <a:srgbClr val="181a1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" name="Shape 1"/>
          <p:cNvSpPr/>
          <p:nvPr/>
        </p:nvSpPr>
        <p:spPr>
          <a:xfrm>
            <a:off x="0" y="0"/>
            <a:ext cx="14629680" cy="8228880"/>
          </a:xfrm>
          <a:prstGeom prst="rect">
            <a:avLst/>
          </a:prstGeom>
          <a:solidFill>
            <a:srgbClr val="11121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" name="PlaceHolder 2"/>
          <p:cNvSpPr>
            <a:spLocks noGrp="1"/>
          </p:cNvSpPr>
          <p:nvPr>
            <p:ph type="body"/>
          </p:nvPr>
        </p:nvSpPr>
        <p:spPr>
          <a:xfrm>
            <a:off x="731520" y="1925640"/>
            <a:ext cx="13167000" cy="477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1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7.xml"/><Relationship Id="rId3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image" Target="../media/image4.svg"/><Relationship Id="rId3" Type="http://schemas.openxmlformats.org/officeDocument/2006/relationships/image" Target="../media/image5.png"/><Relationship Id="rId4" Type="http://schemas.openxmlformats.org/officeDocument/2006/relationships/image" Target="../media/image6.svg"/><Relationship Id="rId5" Type="http://schemas.openxmlformats.org/officeDocument/2006/relationships/image" Target="../media/image7.png"/><Relationship Id="rId6" Type="http://schemas.openxmlformats.org/officeDocument/2006/relationships/image" Target="../media/image8.svg"/><Relationship Id="rId7" Type="http://schemas.openxmlformats.org/officeDocument/2006/relationships/image" Target="../media/image9.png"/><Relationship Id="rId8" Type="http://schemas.openxmlformats.org/officeDocument/2006/relationships/image" Target="../media/image10.svg"/><Relationship Id="rId9" Type="http://schemas.openxmlformats.org/officeDocument/2006/relationships/slideLayout" Target="../slideLayouts/slideLayout8.xml"/><Relationship Id="rId10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image" Target="../media/image12.svg"/><Relationship Id="rId3" Type="http://schemas.openxmlformats.org/officeDocument/2006/relationships/image" Target="../media/image11.png"/><Relationship Id="rId4" Type="http://schemas.openxmlformats.org/officeDocument/2006/relationships/image" Target="../media/image12.svg"/><Relationship Id="rId5" Type="http://schemas.openxmlformats.org/officeDocument/2006/relationships/image" Target="../media/image11.png"/><Relationship Id="rId6" Type="http://schemas.openxmlformats.org/officeDocument/2006/relationships/image" Target="../media/image12.svg"/><Relationship Id="rId7" Type="http://schemas.openxmlformats.org/officeDocument/2006/relationships/image" Target="../media/image11.png"/><Relationship Id="rId8" Type="http://schemas.openxmlformats.org/officeDocument/2006/relationships/image" Target="../media/image12.svg"/><Relationship Id="rId9" Type="http://schemas.openxmlformats.org/officeDocument/2006/relationships/slideLayout" Target="../slideLayouts/slideLayout9.xml"/><Relationship Id="rId10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image" Target="../media/image14.png"/><Relationship Id="rId3" Type="http://schemas.openxmlformats.org/officeDocument/2006/relationships/slideLayout" Target="../slideLayouts/slideLayout10.xml"/><Relationship Id="rId4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slideLayout" Target="../slideLayouts/slideLayout12.xml"/><Relationship Id="rId3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16.png"/><Relationship Id="rId2" Type="http://schemas.openxmlformats.org/officeDocument/2006/relationships/image" Target="../media/image17.png"/><Relationship Id="rId3" Type="http://schemas.openxmlformats.org/officeDocument/2006/relationships/image" Target="../media/image18.svg"/><Relationship Id="rId4" Type="http://schemas.openxmlformats.org/officeDocument/2006/relationships/image" Target="../media/image19.png"/><Relationship Id="rId5" Type="http://schemas.openxmlformats.org/officeDocument/2006/relationships/image" Target="../media/image20.svg"/><Relationship Id="rId6" Type="http://schemas.openxmlformats.org/officeDocument/2006/relationships/image" Target="../media/image21.png"/><Relationship Id="rId7" Type="http://schemas.openxmlformats.org/officeDocument/2006/relationships/image" Target="../media/image22.sv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23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24.png"/><Relationship Id="rId2" Type="http://schemas.openxmlformats.org/officeDocument/2006/relationships/slideLayout" Target="../slideLayouts/slideLayout4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0" name="Image 0" descr="preencoded.png"/>
          <p:cNvPicPr/>
          <p:nvPr/>
        </p:nvPicPr>
        <p:blipFill>
          <a:blip r:embed="rId1"/>
          <a:stretch/>
        </p:blipFill>
        <p:spPr>
          <a:xfrm>
            <a:off x="9144000" y="0"/>
            <a:ext cx="5485680" cy="8228880"/>
          </a:xfrm>
          <a:prstGeom prst="rect">
            <a:avLst/>
          </a:prstGeom>
          <a:ln w="0">
            <a:noFill/>
          </a:ln>
        </p:spPr>
      </p:pic>
      <p:sp>
        <p:nvSpPr>
          <p:cNvPr id="51" name="Text 0"/>
          <p:cNvSpPr/>
          <p:nvPr/>
        </p:nvSpPr>
        <p:spPr>
          <a:xfrm>
            <a:off x="863640" y="3015360"/>
            <a:ext cx="7415640" cy="122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ts val="4799"/>
              </a:lnSpc>
              <a:tabLst>
                <a:tab algn="l" pos="0"/>
              </a:tabLst>
            </a:pPr>
            <a:r>
              <a:rPr b="1" lang="en-US" sz="3850" spc="-1" strike="noStrike">
                <a:solidFill>
                  <a:srgbClr val="ffffff"/>
                </a:solidFill>
                <a:latin typeface="Montserrat Bold"/>
                <a:ea typeface="Montserrat Bold"/>
              </a:rPr>
              <a:t>Strateji Planlaşdırmada Generativ Süni İntellekt</a:t>
            </a:r>
            <a:endParaRPr b="0" lang="en-US" sz="3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" name="Text 1"/>
          <p:cNvSpPr/>
          <p:nvPr/>
        </p:nvSpPr>
        <p:spPr>
          <a:xfrm>
            <a:off x="863640" y="4566240"/>
            <a:ext cx="741564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ts val="2551"/>
              </a:lnSpc>
              <a:tabLst>
                <a:tab algn="l" pos="0"/>
              </a:tabLst>
            </a:pPr>
            <a:r>
              <a:rPr b="0" lang="en-US" sz="17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Strategiya hazırlığında "ağıllı tərəfdaş" kimi GenAI-dan istifadə — təcrübəli menecerlər üçün praktik baxış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Text 0"/>
          <p:cNvSpPr/>
          <p:nvPr/>
        </p:nvSpPr>
        <p:spPr>
          <a:xfrm>
            <a:off x="863640" y="2028240"/>
            <a:ext cx="4907880" cy="61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4799"/>
              </a:lnSpc>
              <a:tabLst>
                <a:tab algn="l" pos="0"/>
              </a:tabLst>
            </a:pPr>
            <a:r>
              <a:rPr b="1" lang="en-US" sz="3850" spc="-1" strike="noStrike">
                <a:solidFill>
                  <a:srgbClr val="ffffff"/>
                </a:solidFill>
                <a:latin typeface="Montserrat Bold"/>
                <a:ea typeface="Montserrat Bold"/>
              </a:rPr>
              <a:t>Dərsin Məqsədləri</a:t>
            </a:r>
            <a:endParaRPr b="0" lang="en-US" sz="3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" name="Text 1"/>
          <p:cNvSpPr/>
          <p:nvPr/>
        </p:nvSpPr>
        <p:spPr>
          <a:xfrm>
            <a:off x="1187640" y="3316320"/>
            <a:ext cx="1257840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ts val="2551"/>
              </a:lnSpc>
              <a:tabLst>
                <a:tab algn="l" pos="0"/>
              </a:tabLst>
            </a:pPr>
            <a:r>
              <a:rPr b="0" lang="en-US" sz="17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"Bu gün generativ süni intellektdən strateji əvəz etmək üçün deyil, strategiyanın hazırlanmasında </a:t>
            </a:r>
            <a:r>
              <a:rPr b="1" lang="en-US" sz="17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ağıllı tərəfdaş</a:t>
            </a:r>
            <a:r>
              <a:rPr b="0" lang="en-US" sz="17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 kimi necə istifadə edəcəyimizi öyrənəcəyik."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" name="Shape 2"/>
          <p:cNvSpPr/>
          <p:nvPr/>
        </p:nvSpPr>
        <p:spPr>
          <a:xfrm>
            <a:off x="863640" y="3073320"/>
            <a:ext cx="29880" cy="11329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" name="Text 3"/>
          <p:cNvSpPr/>
          <p:nvPr/>
        </p:nvSpPr>
        <p:spPr>
          <a:xfrm>
            <a:off x="863640" y="4449960"/>
            <a:ext cx="215280" cy="26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2551"/>
              </a:lnSpc>
              <a:tabLst>
                <a:tab algn="l" pos="0"/>
              </a:tabLst>
            </a:pPr>
            <a:r>
              <a:rPr b="0" lang="en-US" sz="1700" spc="-1" strike="noStrike">
                <a:solidFill>
                  <a:srgbClr val="e2e6e9"/>
                </a:solidFill>
                <a:latin typeface="Montserrat Light"/>
                <a:ea typeface="Montserrat Light"/>
              </a:rPr>
              <a:t>01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Shape 4"/>
          <p:cNvSpPr/>
          <p:nvPr/>
        </p:nvSpPr>
        <p:spPr>
          <a:xfrm>
            <a:off x="863640" y="4786560"/>
            <a:ext cx="4156200" cy="2988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-14400" bIns="-144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Text 5"/>
          <p:cNvSpPr/>
          <p:nvPr/>
        </p:nvSpPr>
        <p:spPr>
          <a:xfrm>
            <a:off x="863640" y="4955400"/>
            <a:ext cx="2453400" cy="306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2401"/>
              </a:lnSpc>
              <a:tabLst>
                <a:tab algn="l" pos="0"/>
              </a:tabLst>
            </a:pPr>
            <a:r>
              <a:rPr b="1" lang="en-US" sz="1900" spc="-1" strike="noStrike">
                <a:solidFill>
                  <a:srgbClr val="e2e6e9"/>
                </a:solidFill>
                <a:latin typeface="Montserrat Bold"/>
                <a:ea typeface="Montserrat Bold"/>
              </a:rPr>
              <a:t>GenAI-ı Tanımaq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" name="Text 6"/>
          <p:cNvSpPr/>
          <p:nvPr/>
        </p:nvSpPr>
        <p:spPr>
          <a:xfrm>
            <a:off x="863640" y="5391720"/>
            <a:ext cx="415620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ts val="2551"/>
              </a:lnSpc>
              <a:tabLst>
                <a:tab algn="l" pos="0"/>
              </a:tabLst>
            </a:pPr>
            <a:r>
              <a:rPr b="0" lang="en-US" sz="17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Generativ süni intellektin iş prinsipi və əsas imkanları ilə tanışlıq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Text 7"/>
          <p:cNvSpPr/>
          <p:nvPr/>
        </p:nvSpPr>
        <p:spPr>
          <a:xfrm>
            <a:off x="5236560" y="4449960"/>
            <a:ext cx="215280" cy="26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2551"/>
              </a:lnSpc>
              <a:tabLst>
                <a:tab algn="l" pos="0"/>
              </a:tabLst>
            </a:pPr>
            <a:r>
              <a:rPr b="0" lang="en-US" sz="1700" spc="-1" strike="noStrike">
                <a:solidFill>
                  <a:srgbClr val="e2e6e9"/>
                </a:solidFill>
                <a:latin typeface="Montserrat Light"/>
                <a:ea typeface="Montserrat Light"/>
              </a:rPr>
              <a:t>02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Shape 8"/>
          <p:cNvSpPr/>
          <p:nvPr/>
        </p:nvSpPr>
        <p:spPr>
          <a:xfrm>
            <a:off x="5236560" y="4786560"/>
            <a:ext cx="4156200" cy="2988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-14400" bIns="-144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Text 9"/>
          <p:cNvSpPr/>
          <p:nvPr/>
        </p:nvSpPr>
        <p:spPr>
          <a:xfrm>
            <a:off x="5236560" y="4955400"/>
            <a:ext cx="3741120" cy="306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2401"/>
              </a:lnSpc>
              <a:tabLst>
                <a:tab algn="l" pos="0"/>
              </a:tabLst>
            </a:pPr>
            <a:r>
              <a:rPr b="1" lang="en-US" sz="1900" spc="-1" strike="noStrike">
                <a:solidFill>
                  <a:srgbClr val="e2e6e9"/>
                </a:solidFill>
                <a:latin typeface="Montserrat Bold"/>
                <a:ea typeface="Montserrat Bold"/>
              </a:rPr>
              <a:t>Strateji Tətbiqləri Kəşf Etmək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" name="Text 10"/>
          <p:cNvSpPr/>
          <p:nvPr/>
        </p:nvSpPr>
        <p:spPr>
          <a:xfrm>
            <a:off x="5236560" y="5391720"/>
            <a:ext cx="415620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ts val="2551"/>
              </a:lnSpc>
              <a:tabLst>
                <a:tab algn="l" pos="0"/>
              </a:tabLst>
            </a:pPr>
            <a:r>
              <a:rPr b="0" lang="en-US" sz="17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SWOT, OKR, ssenari planlaşdırması kimi alətlərə inteqrasiya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Text 11"/>
          <p:cNvSpPr/>
          <p:nvPr/>
        </p:nvSpPr>
        <p:spPr>
          <a:xfrm>
            <a:off x="9609480" y="4449960"/>
            <a:ext cx="215280" cy="26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2551"/>
              </a:lnSpc>
              <a:tabLst>
                <a:tab algn="l" pos="0"/>
              </a:tabLst>
            </a:pPr>
            <a:r>
              <a:rPr b="0" lang="en-US" sz="1700" spc="-1" strike="noStrike">
                <a:solidFill>
                  <a:srgbClr val="e2e6e9"/>
                </a:solidFill>
                <a:latin typeface="Montserrat Light"/>
                <a:ea typeface="Montserrat Light"/>
              </a:rPr>
              <a:t>03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Shape 12"/>
          <p:cNvSpPr/>
          <p:nvPr/>
        </p:nvSpPr>
        <p:spPr>
          <a:xfrm>
            <a:off x="9609480" y="4786560"/>
            <a:ext cx="4156200" cy="2988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-14400" bIns="-144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Text 13"/>
          <p:cNvSpPr/>
          <p:nvPr/>
        </p:nvSpPr>
        <p:spPr>
          <a:xfrm>
            <a:off x="9609480" y="4955400"/>
            <a:ext cx="3439800" cy="306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2401"/>
              </a:lnSpc>
              <a:tabLst>
                <a:tab algn="l" pos="0"/>
              </a:tabLst>
            </a:pPr>
            <a:r>
              <a:rPr b="1" lang="en-US" sz="1900" spc="-1" strike="noStrike">
                <a:solidFill>
                  <a:srgbClr val="e2e6e9"/>
                </a:solidFill>
                <a:latin typeface="Montserrat Bold"/>
                <a:ea typeface="Montserrat Bold"/>
              </a:rPr>
              <a:t>Praktik Bacarıq Qazanmaq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" name="Text 14"/>
          <p:cNvSpPr/>
          <p:nvPr/>
        </p:nvSpPr>
        <p:spPr>
          <a:xfrm>
            <a:off x="9609480" y="5391720"/>
            <a:ext cx="415620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ts val="2551"/>
              </a:lnSpc>
              <a:tabLst>
                <a:tab algn="l" pos="0"/>
              </a:tabLst>
            </a:pPr>
            <a:r>
              <a:rPr b="0" lang="en-US" sz="17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Real iş ssenarilərini GenAI ilə həll etmək üçün praktik tapşırıqlar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8" name="Image 0" descr="preencoded.png"/>
          <p:cNvPicPr/>
          <p:nvPr/>
        </p:nvPicPr>
        <p:blipFill>
          <a:blip r:embed="rId1"/>
          <a:stretch/>
        </p:blipFill>
        <p:spPr>
          <a:xfrm>
            <a:off x="0" y="0"/>
            <a:ext cx="5485680" cy="8228880"/>
          </a:xfrm>
          <a:prstGeom prst="rect">
            <a:avLst/>
          </a:prstGeom>
          <a:ln w="0">
            <a:noFill/>
          </a:ln>
        </p:spPr>
      </p:pic>
      <p:sp>
        <p:nvSpPr>
          <p:cNvPr id="69" name="Text 0"/>
          <p:cNvSpPr/>
          <p:nvPr/>
        </p:nvSpPr>
        <p:spPr>
          <a:xfrm>
            <a:off x="6350040" y="946080"/>
            <a:ext cx="7415640" cy="122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ts val="4799"/>
              </a:lnSpc>
              <a:tabLst>
                <a:tab algn="l" pos="0"/>
              </a:tabLst>
            </a:pPr>
            <a:r>
              <a:rPr b="1" lang="en-US" sz="3850" spc="-1" strike="noStrike">
                <a:solidFill>
                  <a:srgbClr val="ffffff"/>
                </a:solidFill>
                <a:latin typeface="Montserrat Bold"/>
                <a:ea typeface="Montserrat Bold"/>
              </a:rPr>
              <a:t>Generativ Süni İntellekt Nədir?</a:t>
            </a:r>
            <a:endParaRPr b="0" lang="en-US" sz="3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" name="Text 1"/>
          <p:cNvSpPr/>
          <p:nvPr/>
        </p:nvSpPr>
        <p:spPr>
          <a:xfrm>
            <a:off x="6350040" y="2496960"/>
            <a:ext cx="7415640" cy="129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ts val="2551"/>
              </a:lnSpc>
              <a:tabLst>
                <a:tab algn="l" pos="0"/>
              </a:tabLst>
            </a:pPr>
            <a:r>
              <a:rPr b="0" lang="en-US" sz="17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Generativ süni intellekt (GenAI) — böyük həcmli məlumat topluları üzərində öyrədilmiş </a:t>
            </a:r>
            <a:r>
              <a:rPr b="1" lang="en-US" sz="17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Böyük Dil Modelləri (LLM)</a:t>
            </a:r>
            <a:r>
              <a:rPr b="0" lang="en-US" sz="17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 əsasında işləyir. Bu modellər məlumatlar arasındakı nümunələri öyrənərək yeni mətn, kod, şəkil və digər məzmun yarada bilir.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Shape 2"/>
          <p:cNvSpPr/>
          <p:nvPr/>
        </p:nvSpPr>
        <p:spPr>
          <a:xfrm>
            <a:off x="6350040" y="4035600"/>
            <a:ext cx="3599640" cy="1839240"/>
          </a:xfrm>
          <a:prstGeom prst="roundRect">
            <a:avLst>
              <a:gd name="adj" fmla="val 1761"/>
            </a:avLst>
          </a:prstGeom>
          <a:solidFill>
            <a:srgbClr val="30313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" name="Text 3"/>
          <p:cNvSpPr/>
          <p:nvPr/>
        </p:nvSpPr>
        <p:spPr>
          <a:xfrm>
            <a:off x="6566040" y="4251600"/>
            <a:ext cx="2453400" cy="306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2401"/>
              </a:lnSpc>
              <a:tabLst>
                <a:tab algn="l" pos="0"/>
              </a:tabLst>
            </a:pPr>
            <a:r>
              <a:rPr b="1" lang="en-US" sz="1900" spc="-1" strike="noStrike">
                <a:solidFill>
                  <a:srgbClr val="e2e6e9"/>
                </a:solidFill>
                <a:latin typeface="Montserrat Bold"/>
                <a:ea typeface="Montserrat Bold"/>
              </a:rPr>
              <a:t>ChatGPT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Text 4"/>
          <p:cNvSpPr/>
          <p:nvPr/>
        </p:nvSpPr>
        <p:spPr>
          <a:xfrm>
            <a:off x="6566040" y="4687920"/>
            <a:ext cx="3167640" cy="97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ts val="2551"/>
              </a:lnSpc>
              <a:tabLst>
                <a:tab algn="l" pos="0"/>
              </a:tabLst>
            </a:pPr>
            <a:r>
              <a:rPr b="0" lang="en-US" sz="17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OpenAI tərəfindən hazırlanmış, ən geniş yayılmış danışıq əsaslı AI modeli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Shape 5"/>
          <p:cNvSpPr/>
          <p:nvPr/>
        </p:nvSpPr>
        <p:spPr>
          <a:xfrm>
            <a:off x="10166400" y="4035600"/>
            <a:ext cx="3599640" cy="1839240"/>
          </a:xfrm>
          <a:prstGeom prst="roundRect">
            <a:avLst>
              <a:gd name="adj" fmla="val 1761"/>
            </a:avLst>
          </a:prstGeom>
          <a:solidFill>
            <a:srgbClr val="30313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" name="Text 6"/>
          <p:cNvSpPr/>
          <p:nvPr/>
        </p:nvSpPr>
        <p:spPr>
          <a:xfrm>
            <a:off x="10382040" y="4251600"/>
            <a:ext cx="2453400" cy="306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2401"/>
              </a:lnSpc>
              <a:tabLst>
                <a:tab algn="l" pos="0"/>
              </a:tabLst>
            </a:pPr>
            <a:r>
              <a:rPr b="1" lang="en-US" sz="1900" spc="-1" strike="noStrike">
                <a:solidFill>
                  <a:srgbClr val="e2e6e9"/>
                </a:solidFill>
                <a:latin typeface="Montserrat Bold"/>
                <a:ea typeface="Montserrat Bold"/>
              </a:rPr>
              <a:t>Claude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Text 7"/>
          <p:cNvSpPr/>
          <p:nvPr/>
        </p:nvSpPr>
        <p:spPr>
          <a:xfrm>
            <a:off x="10382040" y="4687920"/>
            <a:ext cx="316800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ts val="2551"/>
              </a:lnSpc>
              <a:tabLst>
                <a:tab algn="l" pos="0"/>
              </a:tabLst>
            </a:pPr>
            <a:r>
              <a:rPr b="0" lang="en-US" sz="17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Anthropic-in uzun kontekstli analiz və sənəd işləmədə güclü modeli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Shape 8"/>
          <p:cNvSpPr/>
          <p:nvPr/>
        </p:nvSpPr>
        <p:spPr>
          <a:xfrm>
            <a:off x="6350040" y="6091560"/>
            <a:ext cx="7415640" cy="1191240"/>
          </a:xfrm>
          <a:prstGeom prst="roundRect">
            <a:avLst>
              <a:gd name="adj" fmla="val 2718"/>
            </a:avLst>
          </a:prstGeom>
          <a:solidFill>
            <a:srgbClr val="30313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" name="Text 9"/>
          <p:cNvSpPr/>
          <p:nvPr/>
        </p:nvSpPr>
        <p:spPr>
          <a:xfrm>
            <a:off x="6566040" y="6307200"/>
            <a:ext cx="2453400" cy="306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2401"/>
              </a:lnSpc>
              <a:tabLst>
                <a:tab algn="l" pos="0"/>
              </a:tabLst>
            </a:pPr>
            <a:r>
              <a:rPr b="1" lang="en-US" sz="1900" spc="-1" strike="noStrike">
                <a:solidFill>
                  <a:srgbClr val="e2e6e9"/>
                </a:solidFill>
                <a:latin typeface="Montserrat Bold"/>
                <a:ea typeface="Montserrat Bold"/>
              </a:rPr>
              <a:t>Gemini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Text 10"/>
          <p:cNvSpPr/>
          <p:nvPr/>
        </p:nvSpPr>
        <p:spPr>
          <a:xfrm>
            <a:off x="6458040" y="6743520"/>
            <a:ext cx="6984000" cy="32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2551"/>
              </a:lnSpc>
              <a:tabLst>
                <a:tab algn="l" pos="0"/>
              </a:tabLst>
            </a:pPr>
            <a:r>
              <a:rPr b="0" lang="en-US" sz="17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Google-un çoxmodallı AI modeli — mətn, şəkil və məlumat inteqrasiyası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Text 0"/>
          <p:cNvSpPr/>
          <p:nvPr/>
        </p:nvSpPr>
        <p:spPr>
          <a:xfrm>
            <a:off x="863640" y="1036800"/>
            <a:ext cx="10258920" cy="61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4799"/>
              </a:lnSpc>
              <a:tabLst>
                <a:tab algn="l" pos="0"/>
              </a:tabLst>
            </a:pPr>
            <a:r>
              <a:rPr b="1" lang="en-US" sz="3850" spc="-1" strike="noStrike">
                <a:solidFill>
                  <a:srgbClr val="ffffff"/>
                </a:solidFill>
                <a:latin typeface="Montserrat Bold"/>
                <a:ea typeface="Montserrat Bold"/>
              </a:rPr>
              <a:t>GenAI Strategiyada Nə Üçün Faydalıdır?</a:t>
            </a:r>
            <a:endParaRPr b="0" lang="en-US" sz="3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Text 1"/>
          <p:cNvSpPr/>
          <p:nvPr/>
        </p:nvSpPr>
        <p:spPr>
          <a:xfrm>
            <a:off x="863640" y="2082240"/>
            <a:ext cx="1290204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ts val="2551"/>
              </a:lnSpc>
              <a:tabLst>
                <a:tab algn="l" pos="0"/>
              </a:tabLst>
            </a:pPr>
            <a:r>
              <a:rPr b="0" lang="en-US" sz="17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Müasir strateji planlaşdırma proseslərində GenAI dörd əsas sahədə əhəmiyyətli dəyər əlavə edir — vaxt qənaəti etməkdən tutmuş keyfiyyətli qərar dəstəyinə qədər.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82" name="Image 0" descr="preencoded.png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863640" y="2972880"/>
            <a:ext cx="539280" cy="539280"/>
          </a:xfrm>
          <a:prstGeom prst="rect">
            <a:avLst/>
          </a:prstGeom>
          <a:ln w="0">
            <a:noFill/>
          </a:ln>
        </p:spPr>
      </p:pic>
      <p:sp>
        <p:nvSpPr>
          <p:cNvPr id="83" name="Text 2"/>
          <p:cNvSpPr/>
          <p:nvPr/>
        </p:nvSpPr>
        <p:spPr>
          <a:xfrm>
            <a:off x="863640" y="3782880"/>
            <a:ext cx="4620240" cy="306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2401"/>
              </a:lnSpc>
              <a:tabLst>
                <a:tab algn="l" pos="0"/>
              </a:tabLst>
            </a:pPr>
            <a:r>
              <a:rPr b="1" lang="en-US" sz="1900" spc="-1" strike="noStrike">
                <a:solidFill>
                  <a:srgbClr val="e2e6e9"/>
                </a:solidFill>
                <a:latin typeface="Montserrat Bold"/>
                <a:ea typeface="Montserrat Bold"/>
              </a:rPr>
              <a:t>Məlumat Toplanmasını Sürətləndirir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" name="Text 3"/>
          <p:cNvSpPr/>
          <p:nvPr/>
        </p:nvSpPr>
        <p:spPr>
          <a:xfrm>
            <a:off x="863640" y="4218840"/>
            <a:ext cx="631584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ts val="2551"/>
              </a:lnSpc>
              <a:tabLst>
                <a:tab algn="l" pos="0"/>
              </a:tabLst>
            </a:pPr>
            <a:r>
              <a:rPr b="0" lang="en-US" sz="17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Saatlar ərzində toplanan bazar məlumatları, rəqib analizi və sektoral tendensiyalar dəqiqələrə sıxılır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85" name="Image 1" descr="preencoded.png"/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7450200" y="2972880"/>
            <a:ext cx="539280" cy="539280"/>
          </a:xfrm>
          <a:prstGeom prst="rect">
            <a:avLst/>
          </a:prstGeom>
          <a:ln w="0">
            <a:noFill/>
          </a:ln>
        </p:spPr>
      </p:pic>
      <p:sp>
        <p:nvSpPr>
          <p:cNvPr id="86" name="Text 4"/>
          <p:cNvSpPr/>
          <p:nvPr/>
        </p:nvSpPr>
        <p:spPr>
          <a:xfrm>
            <a:off x="7450200" y="3782880"/>
            <a:ext cx="3291480" cy="306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2401"/>
              </a:lnSpc>
              <a:tabLst>
                <a:tab algn="l" pos="0"/>
              </a:tabLst>
            </a:pPr>
            <a:r>
              <a:rPr b="1" lang="en-US" sz="1900" spc="-1" strike="noStrike">
                <a:solidFill>
                  <a:srgbClr val="e2e6e9"/>
                </a:solidFill>
                <a:latin typeface="Montserrat Bold"/>
                <a:ea typeface="Montserrat Bold"/>
              </a:rPr>
              <a:t>Alternativ Baxış Nöqtələri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" name="Text 5"/>
          <p:cNvSpPr/>
          <p:nvPr/>
        </p:nvSpPr>
        <p:spPr>
          <a:xfrm>
            <a:off x="7450200" y="4218840"/>
            <a:ext cx="631584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ts val="2551"/>
              </a:lnSpc>
              <a:tabLst>
                <a:tab algn="l" pos="0"/>
              </a:tabLst>
            </a:pPr>
            <a:r>
              <a:rPr b="0" lang="en-US" sz="17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Bir məsələyə çoxsaylı rakurslardan baxma imkanı yaradır, "qrup düşüncəsi" tələlərini azaldır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88" name="Image 2" descr="preencoded.png"/>
          <p:cNvPicPr/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/>
        </p:blipFill>
        <p:spPr>
          <a:xfrm>
            <a:off x="863640" y="5298840"/>
            <a:ext cx="539280" cy="539280"/>
          </a:xfrm>
          <a:prstGeom prst="rect">
            <a:avLst/>
          </a:prstGeom>
          <a:ln w="0">
            <a:noFill/>
          </a:ln>
        </p:spPr>
      </p:pic>
      <p:sp>
        <p:nvSpPr>
          <p:cNvPr id="89" name="Text 6"/>
          <p:cNvSpPr/>
          <p:nvPr/>
        </p:nvSpPr>
        <p:spPr>
          <a:xfrm>
            <a:off x="863640" y="6108480"/>
            <a:ext cx="3756960" cy="306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2401"/>
              </a:lnSpc>
              <a:tabLst>
                <a:tab algn="l" pos="0"/>
              </a:tabLst>
            </a:pPr>
            <a:r>
              <a:rPr b="1" lang="en-US" sz="1900" spc="-1" strike="noStrike">
                <a:solidFill>
                  <a:srgbClr val="e2e6e9"/>
                </a:solidFill>
                <a:latin typeface="Montserrat Bold"/>
                <a:ea typeface="Montserrat Bold"/>
              </a:rPr>
              <a:t>Fikirlərin Strukturlaşdırılması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" name="Text 7"/>
          <p:cNvSpPr/>
          <p:nvPr/>
        </p:nvSpPr>
        <p:spPr>
          <a:xfrm>
            <a:off x="863640" y="6544800"/>
            <a:ext cx="631584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ts val="2551"/>
              </a:lnSpc>
              <a:tabLst>
                <a:tab algn="l" pos="0"/>
              </a:tabLst>
            </a:pPr>
            <a:r>
              <a:rPr b="0" lang="en-US" sz="17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Xaotik ideyaları aydın çərçivələrə, prioritet sıralamalarına və icra planlarına çevirir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91" name="Image 3" descr="preencoded.png"/>
          <p:cNvPicPr/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/>
        </p:blipFill>
        <p:spPr>
          <a:xfrm>
            <a:off x="7450200" y="5298840"/>
            <a:ext cx="539280" cy="539280"/>
          </a:xfrm>
          <a:prstGeom prst="rect">
            <a:avLst/>
          </a:prstGeom>
          <a:ln w="0">
            <a:noFill/>
          </a:ln>
        </p:spPr>
      </p:pic>
      <p:sp>
        <p:nvSpPr>
          <p:cNvPr id="92" name="Text 8"/>
          <p:cNvSpPr/>
          <p:nvPr/>
        </p:nvSpPr>
        <p:spPr>
          <a:xfrm>
            <a:off x="7450200" y="6108480"/>
            <a:ext cx="4440600" cy="306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2401"/>
              </a:lnSpc>
              <a:tabLst>
                <a:tab algn="l" pos="0"/>
              </a:tabLst>
            </a:pPr>
            <a:r>
              <a:rPr b="1" lang="en-US" sz="1900" spc="-1" strike="noStrike">
                <a:solidFill>
                  <a:srgbClr val="e2e6e9"/>
                </a:solidFill>
                <a:latin typeface="Montserrat Bold"/>
                <a:ea typeface="Montserrat Bold"/>
              </a:rPr>
              <a:t>Gələcək Ssenarilərini Modelləşdirir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" name="Text 9"/>
          <p:cNvSpPr/>
          <p:nvPr/>
        </p:nvSpPr>
        <p:spPr>
          <a:xfrm>
            <a:off x="7450200" y="6544800"/>
            <a:ext cx="631584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ts val="2551"/>
              </a:lnSpc>
              <a:tabLst>
                <a:tab algn="l" pos="0"/>
              </a:tabLst>
            </a:pPr>
            <a:r>
              <a:rPr b="0" lang="en-US" sz="17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Müxtəlif bazar şərtlərini simulyasiya edərək hazırlıqlı qərar qəbulunu dəstəkləyir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Text 0"/>
          <p:cNvSpPr/>
          <p:nvPr/>
        </p:nvSpPr>
        <p:spPr>
          <a:xfrm>
            <a:off x="863640" y="2278080"/>
            <a:ext cx="9818640" cy="61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4799"/>
              </a:lnSpc>
              <a:tabLst>
                <a:tab algn="l" pos="0"/>
              </a:tabLst>
            </a:pPr>
            <a:r>
              <a:rPr b="1" lang="en-US" sz="3850" spc="-1" strike="noStrike">
                <a:solidFill>
                  <a:srgbClr val="ffffff"/>
                </a:solidFill>
                <a:latin typeface="Montserrat Bold"/>
                <a:ea typeface="Montserrat Bold"/>
              </a:rPr>
              <a:t>Strateji Planlaşdırmada Tipik Tətbiqlər</a:t>
            </a:r>
            <a:endParaRPr b="0" lang="en-US" sz="3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" name="Shape 1"/>
          <p:cNvSpPr/>
          <p:nvPr/>
        </p:nvSpPr>
        <p:spPr>
          <a:xfrm>
            <a:off x="708120" y="3215520"/>
            <a:ext cx="6498360" cy="2735280"/>
          </a:xfrm>
          <a:prstGeom prst="roundRect">
            <a:avLst>
              <a:gd name="adj" fmla="val 1184"/>
            </a:avLst>
          </a:prstGeom>
          <a:solidFill>
            <a:srgbClr val="1d1f2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6" name="Text 2"/>
          <p:cNvSpPr/>
          <p:nvPr/>
        </p:nvSpPr>
        <p:spPr>
          <a:xfrm>
            <a:off x="924120" y="3431160"/>
            <a:ext cx="2453400" cy="306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2401"/>
              </a:lnSpc>
              <a:tabLst>
                <a:tab algn="l" pos="0"/>
              </a:tabLst>
            </a:pPr>
            <a:r>
              <a:rPr b="1" lang="en-US" sz="1900" spc="-1" strike="noStrike">
                <a:solidFill>
                  <a:srgbClr val="ffffff"/>
                </a:solidFill>
                <a:latin typeface="Montserrat Bold"/>
                <a:ea typeface="Montserrat Bold"/>
              </a:rPr>
              <a:t>Analiz və Çərçivə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97" name="Image 0" descr="preencoded.png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1005120" y="3980880"/>
            <a:ext cx="323280" cy="323280"/>
          </a:xfrm>
          <a:prstGeom prst="rect">
            <a:avLst/>
          </a:prstGeom>
          <a:ln w="0">
            <a:noFill/>
          </a:ln>
        </p:spPr>
      </p:pic>
      <p:sp>
        <p:nvSpPr>
          <p:cNvPr id="98" name="Text 3"/>
          <p:cNvSpPr/>
          <p:nvPr/>
        </p:nvSpPr>
        <p:spPr>
          <a:xfrm>
            <a:off x="1625760" y="3980880"/>
            <a:ext cx="536508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ts val="2551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SWOT / PESTEL Təhlili</a:t>
            </a:r>
            <a:r>
              <a:rPr b="0" lang="en-US" sz="17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 — Daxili və xarici mühitin strukturlu qiymətləndirilməsi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99" name="Image 1" descr="preencoded.png"/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1005120" y="5060520"/>
            <a:ext cx="323280" cy="323280"/>
          </a:xfrm>
          <a:prstGeom prst="rect">
            <a:avLst/>
          </a:prstGeom>
          <a:ln w="0">
            <a:noFill/>
          </a:ln>
        </p:spPr>
      </p:pic>
      <p:sp>
        <p:nvSpPr>
          <p:cNvPr id="100" name="Text 4"/>
          <p:cNvSpPr/>
          <p:nvPr/>
        </p:nvSpPr>
        <p:spPr>
          <a:xfrm>
            <a:off x="1625760" y="5060520"/>
            <a:ext cx="536508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ts val="2551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Missiya, Vizyon, Dəyərlər</a:t>
            </a:r>
            <a:r>
              <a:rPr b="0" lang="en-US" sz="17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 — Təşkilatın strateji kimliyi üçün əsas sənədlər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Text 5"/>
          <p:cNvSpPr/>
          <p:nvPr/>
        </p:nvSpPr>
        <p:spPr>
          <a:xfrm>
            <a:off x="7586280" y="3431160"/>
            <a:ext cx="2978280" cy="306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2401"/>
              </a:lnSpc>
              <a:tabLst>
                <a:tab algn="l" pos="0"/>
              </a:tabLst>
            </a:pPr>
            <a:r>
              <a:rPr b="1" lang="en-US" sz="1900" spc="-1" strike="noStrike">
                <a:solidFill>
                  <a:srgbClr val="ffffff"/>
                </a:solidFill>
                <a:latin typeface="Montserrat Bold"/>
                <a:ea typeface="Montserrat Bold"/>
              </a:rPr>
              <a:t>İcra və Kommunikasiya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02" name="Image 2" descr="preencoded.png"/>
          <p:cNvPicPr/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/>
        </p:blipFill>
        <p:spPr>
          <a:xfrm>
            <a:off x="7667280" y="3980880"/>
            <a:ext cx="323280" cy="323280"/>
          </a:xfrm>
          <a:prstGeom prst="rect">
            <a:avLst/>
          </a:prstGeom>
          <a:ln w="0">
            <a:noFill/>
          </a:ln>
        </p:spPr>
      </p:pic>
      <p:sp>
        <p:nvSpPr>
          <p:cNvPr id="103" name="Text 6"/>
          <p:cNvSpPr/>
          <p:nvPr/>
        </p:nvSpPr>
        <p:spPr>
          <a:xfrm>
            <a:off x="8287920" y="3980880"/>
            <a:ext cx="54853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ts val="2551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Strateji Təşəbbüslərin İnkişafı</a:t>
            </a:r>
            <a:r>
              <a:rPr b="0" lang="en-US" sz="17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 — Prioritet layihələrin formalaşdırılması və resursların planlanması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04" name="Image 3" descr="preencoded.png"/>
          <p:cNvPicPr/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/>
        </p:blipFill>
        <p:spPr>
          <a:xfrm>
            <a:off x="7667280" y="5060520"/>
            <a:ext cx="323280" cy="323280"/>
          </a:xfrm>
          <a:prstGeom prst="rect">
            <a:avLst/>
          </a:prstGeom>
          <a:ln w="0">
            <a:noFill/>
          </a:ln>
        </p:spPr>
      </p:pic>
      <p:sp>
        <p:nvSpPr>
          <p:cNvPr id="105" name="Text 7"/>
          <p:cNvSpPr/>
          <p:nvPr/>
        </p:nvSpPr>
        <p:spPr>
          <a:xfrm>
            <a:off x="8287920" y="5060520"/>
            <a:ext cx="54853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ts val="2551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Direktorlar Şurası üçün Hesabatlar</a:t>
            </a:r>
            <a:r>
              <a:rPr b="0" lang="en-US" sz="17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 — İdarə heyəti üçün yüksək keyfiyyətli analitik material hazırlığı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6" name="Image 0" descr="preencoded.png"/>
          <p:cNvPicPr/>
          <p:nvPr/>
        </p:nvPicPr>
        <p:blipFill>
          <a:blip r:embed="rId1"/>
          <a:stretch/>
        </p:blipFill>
        <p:spPr>
          <a:xfrm>
            <a:off x="9144000" y="0"/>
            <a:ext cx="5485680" cy="8228880"/>
          </a:xfrm>
          <a:prstGeom prst="rect">
            <a:avLst/>
          </a:prstGeom>
          <a:ln w="0">
            <a:noFill/>
          </a:ln>
        </p:spPr>
      </p:pic>
      <p:sp>
        <p:nvSpPr>
          <p:cNvPr id="107" name="Text 0"/>
          <p:cNvSpPr/>
          <p:nvPr/>
        </p:nvSpPr>
        <p:spPr>
          <a:xfrm>
            <a:off x="830160" y="923760"/>
            <a:ext cx="7483320" cy="117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ts val="4601"/>
              </a:lnSpc>
              <a:tabLst>
                <a:tab algn="l" pos="0"/>
              </a:tabLst>
            </a:pPr>
            <a:r>
              <a:rPr b="1" lang="en-US" sz="3700" spc="-1" strike="noStrike">
                <a:solidFill>
                  <a:srgbClr val="ffffff"/>
                </a:solidFill>
                <a:latin typeface="Montserrat Bold"/>
                <a:ea typeface="Montserrat Bold"/>
              </a:rPr>
              <a:t>Nümunə: GenAI ilə SWOT Təhlili</a:t>
            </a:r>
            <a:endParaRPr b="0" lang="en-US" sz="3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" name="Shape 1"/>
          <p:cNvSpPr/>
          <p:nvPr/>
        </p:nvSpPr>
        <p:spPr>
          <a:xfrm>
            <a:off x="830160" y="2401920"/>
            <a:ext cx="7483320" cy="1151280"/>
          </a:xfrm>
          <a:prstGeom prst="roundRect">
            <a:avLst>
              <a:gd name="adj" fmla="val 2702"/>
            </a:avLst>
          </a:prstGeom>
          <a:solidFill>
            <a:srgbClr val="26262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09" name="Image 1" descr="preencoded.png"/>
          <p:cNvPicPr/>
          <p:nvPr/>
        </p:nvPicPr>
        <p:blipFill>
          <a:blip r:embed="rId2"/>
          <a:stretch/>
        </p:blipFill>
        <p:spPr>
          <a:xfrm>
            <a:off x="1037520" y="2692800"/>
            <a:ext cx="258480" cy="206640"/>
          </a:xfrm>
          <a:prstGeom prst="rect">
            <a:avLst/>
          </a:prstGeom>
          <a:ln w="0">
            <a:noFill/>
          </a:ln>
        </p:spPr>
      </p:pic>
      <p:sp>
        <p:nvSpPr>
          <p:cNvPr id="110" name="Text 2"/>
          <p:cNvSpPr/>
          <p:nvPr/>
        </p:nvSpPr>
        <p:spPr>
          <a:xfrm>
            <a:off x="1504080" y="2652840"/>
            <a:ext cx="6601680" cy="61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ts val="2401"/>
              </a:lnSpc>
              <a:tabLst>
                <a:tab algn="l" pos="0"/>
              </a:tabLst>
            </a:pPr>
            <a:r>
              <a:rPr b="0" lang="en-US" sz="1600" spc="-1" strike="noStrike">
                <a:solidFill>
                  <a:srgbClr val="000000"/>
                </a:solidFill>
                <a:latin typeface="Source Sans 3"/>
                <a:ea typeface="Source Sans 3"/>
              </a:rPr>
              <a:t>💡</a:t>
            </a:r>
            <a:r>
              <a:rPr b="0" lang="en-US" sz="1600" spc="-1" strike="noStrike">
                <a:solidFill>
                  <a:srgbClr val="ffffff"/>
                </a:solidFill>
                <a:latin typeface="Source Sans 3"/>
                <a:ea typeface="Source Sans 3"/>
              </a:rPr>
              <a:t> </a:t>
            </a:r>
            <a:r>
              <a:rPr b="1" lang="en-US" sz="1600" spc="-1" strike="noStrike">
                <a:solidFill>
                  <a:srgbClr val="ffffff"/>
                </a:solidFill>
                <a:latin typeface="Source Sans 3"/>
                <a:ea typeface="Source Sans 3"/>
              </a:rPr>
              <a:t>Nümayiş sorğusu:</a:t>
            </a:r>
            <a:r>
              <a:rPr b="0" lang="en-US" sz="1600" spc="-1" strike="noStrike">
                <a:solidFill>
                  <a:srgbClr val="ffffff"/>
                </a:solidFill>
                <a:latin typeface="Source Sans 3"/>
                <a:ea typeface="Source Sans 3"/>
              </a:rPr>
              <a:t> </a:t>
            </a:r>
            <a:r>
              <a:rPr b="0" i="1" lang="en-US" sz="1600" spc="-1" strike="noStrike">
                <a:solidFill>
                  <a:srgbClr val="ffffff"/>
                </a:solidFill>
                <a:latin typeface="Source Sans 3"/>
                <a:ea typeface="Source Sans 3"/>
              </a:rPr>
              <a:t>"2026-cı ildə Azərbaycanda bir EdTech şirkəti üçün SWOT təhlili aparın"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" name="Text 3"/>
          <p:cNvSpPr/>
          <p:nvPr/>
        </p:nvSpPr>
        <p:spPr>
          <a:xfrm>
            <a:off x="830160" y="3778200"/>
            <a:ext cx="7483320" cy="60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ts val="2401"/>
              </a:lnSpc>
              <a:tabLst>
                <a:tab algn="l" pos="0"/>
              </a:tabLst>
            </a:pPr>
            <a:r>
              <a:rPr b="0" lang="en-US" sz="16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Bu nümayişin məqsədi GenAI-ın real iş kontekstinə uyğunluğunu qiymətləndirməkdir. Nəticəni kritik nəzərə alın: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Shape 4"/>
          <p:cNvSpPr/>
          <p:nvPr/>
        </p:nvSpPr>
        <p:spPr>
          <a:xfrm>
            <a:off x="830160" y="4613040"/>
            <a:ext cx="2360880" cy="2692080"/>
          </a:xfrm>
          <a:prstGeom prst="roundRect">
            <a:avLst>
              <a:gd name="adj" fmla="val 1318"/>
            </a:avLst>
          </a:prstGeom>
          <a:solidFill>
            <a:srgbClr val="111213"/>
          </a:solidFill>
          <a:ln w="22860">
            <a:solidFill>
              <a:srgbClr val="494a4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3" name="Text 5"/>
          <p:cNvSpPr/>
          <p:nvPr/>
        </p:nvSpPr>
        <p:spPr>
          <a:xfrm>
            <a:off x="1060200" y="4843080"/>
            <a:ext cx="1900440" cy="59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ts val="2299"/>
              </a:lnSpc>
              <a:tabLst>
                <a:tab algn="l" pos="0"/>
              </a:tabLst>
            </a:pPr>
            <a:r>
              <a:rPr b="1" lang="en-US" sz="1850" spc="-1" strike="noStrike">
                <a:solidFill>
                  <a:srgbClr val="000000"/>
                </a:solidFill>
                <a:latin typeface="Montserrat Bold"/>
                <a:ea typeface="Montserrat Bold"/>
              </a:rPr>
              <a:t>✅</a:t>
            </a:r>
            <a:r>
              <a:rPr b="1" lang="en-US" sz="1850" spc="-1" strike="noStrike">
                <a:solidFill>
                  <a:srgbClr val="e2e6e9"/>
                </a:solidFill>
                <a:latin typeface="Montserrat Bold"/>
                <a:ea typeface="Montserrat Bold"/>
              </a:rPr>
              <a:t> </a:t>
            </a:r>
            <a:r>
              <a:rPr b="1" lang="en-US" sz="1850" spc="-1" strike="noStrike">
                <a:solidFill>
                  <a:srgbClr val="e2e6e9"/>
                </a:solidFill>
                <a:latin typeface="Montserrat Bold"/>
                <a:ea typeface="Montserrat Bold"/>
              </a:rPr>
              <a:t>Müvafiq Məqamlar</a:t>
            </a:r>
            <a:endParaRPr b="0" lang="en-US" sz="1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" name="Text 6"/>
          <p:cNvSpPr/>
          <p:nvPr/>
        </p:nvSpPr>
        <p:spPr>
          <a:xfrm>
            <a:off x="1060200" y="5559840"/>
            <a:ext cx="1900440" cy="91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ts val="2401"/>
              </a:lnSpc>
              <a:tabLst>
                <a:tab algn="l" pos="0"/>
              </a:tabLst>
            </a:pPr>
            <a:r>
              <a:rPr b="0" lang="en-US" sz="16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Hansı güclü/zəif tərəflər Azərbaycan bazarı üçün realdır?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" name="Shape 7"/>
          <p:cNvSpPr/>
          <p:nvPr/>
        </p:nvSpPr>
        <p:spPr>
          <a:xfrm>
            <a:off x="3390840" y="4613040"/>
            <a:ext cx="2361240" cy="2692080"/>
          </a:xfrm>
          <a:prstGeom prst="roundRect">
            <a:avLst>
              <a:gd name="adj" fmla="val 1318"/>
            </a:avLst>
          </a:prstGeom>
          <a:solidFill>
            <a:srgbClr val="111213"/>
          </a:solidFill>
          <a:ln w="22860">
            <a:solidFill>
              <a:srgbClr val="494a4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6" name="Text 8"/>
          <p:cNvSpPr/>
          <p:nvPr/>
        </p:nvSpPr>
        <p:spPr>
          <a:xfrm>
            <a:off x="3621240" y="4771080"/>
            <a:ext cx="1900440" cy="89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ts val="2299"/>
              </a:lnSpc>
              <a:tabLst>
                <a:tab algn="l" pos="0"/>
              </a:tabLst>
            </a:pPr>
            <a:r>
              <a:rPr b="1" lang="en-US" sz="1850" spc="-1" strike="noStrike">
                <a:solidFill>
                  <a:srgbClr val="000000"/>
                </a:solidFill>
                <a:latin typeface="Montserrat Bold"/>
                <a:ea typeface="Montserrat Bold"/>
              </a:rPr>
              <a:t>🔍</a:t>
            </a:r>
            <a:r>
              <a:rPr b="1" lang="en-US" sz="1850" spc="-1" strike="noStrike">
                <a:solidFill>
                  <a:srgbClr val="e2e6e9"/>
                </a:solidFill>
                <a:latin typeface="Montserrat Bold"/>
                <a:ea typeface="Montserrat Bold"/>
              </a:rPr>
              <a:t> </a:t>
            </a:r>
            <a:r>
              <a:rPr b="1" lang="en-US" sz="1850" spc="-1" strike="noStrike">
                <a:solidFill>
                  <a:srgbClr val="e2e6e9"/>
                </a:solidFill>
                <a:latin typeface="Montserrat Bold"/>
                <a:ea typeface="Montserrat Bold"/>
              </a:rPr>
              <a:t>Aydınlaşdırılmalı Məqamlar</a:t>
            </a:r>
            <a:endParaRPr b="0" lang="en-US" sz="1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" name="Text 9"/>
          <p:cNvSpPr/>
          <p:nvPr/>
        </p:nvSpPr>
        <p:spPr>
          <a:xfrm>
            <a:off x="3621240" y="5638680"/>
            <a:ext cx="1900440" cy="122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ts val="2401"/>
              </a:lnSpc>
              <a:tabLst>
                <a:tab algn="l" pos="0"/>
              </a:tabLst>
            </a:pPr>
            <a:r>
              <a:rPr b="0" lang="en-US" sz="16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Hansı məlumatlar ümumi, yüzeysel və ya lokal kontekstdən kənardır?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" name="Shape 10"/>
          <p:cNvSpPr/>
          <p:nvPr/>
        </p:nvSpPr>
        <p:spPr>
          <a:xfrm>
            <a:off x="5952240" y="4613040"/>
            <a:ext cx="2360880" cy="2692080"/>
          </a:xfrm>
          <a:prstGeom prst="roundRect">
            <a:avLst>
              <a:gd name="adj" fmla="val 1318"/>
            </a:avLst>
          </a:prstGeom>
          <a:solidFill>
            <a:srgbClr val="111213"/>
          </a:solidFill>
          <a:ln w="22860">
            <a:solidFill>
              <a:srgbClr val="494a4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9" name="Text 11"/>
          <p:cNvSpPr/>
          <p:nvPr/>
        </p:nvSpPr>
        <p:spPr>
          <a:xfrm>
            <a:off x="6182280" y="4843080"/>
            <a:ext cx="1900440" cy="89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ts val="2299"/>
              </a:lnSpc>
              <a:tabLst>
                <a:tab algn="l" pos="0"/>
              </a:tabLst>
            </a:pPr>
            <a:r>
              <a:rPr b="1" lang="en-US" sz="1850" spc="-1" strike="noStrike">
                <a:solidFill>
                  <a:srgbClr val="000000"/>
                </a:solidFill>
                <a:latin typeface="Montserrat Bold"/>
                <a:ea typeface="Montserrat Bold"/>
              </a:rPr>
              <a:t>➕</a:t>
            </a:r>
            <a:r>
              <a:rPr b="1" lang="en-US" sz="1850" spc="-1" strike="noStrike">
                <a:solidFill>
                  <a:srgbClr val="e2e6e9"/>
                </a:solidFill>
                <a:latin typeface="Montserrat Bold"/>
                <a:ea typeface="Montserrat Bold"/>
              </a:rPr>
              <a:t> </a:t>
            </a:r>
            <a:r>
              <a:rPr b="1" lang="en-US" sz="1850" spc="-1" strike="noStrike">
                <a:solidFill>
                  <a:srgbClr val="e2e6e9"/>
                </a:solidFill>
                <a:latin typeface="Montserrat Bold"/>
                <a:ea typeface="Montserrat Bold"/>
              </a:rPr>
              <a:t>Əlavə Edilməli Məqamlar</a:t>
            </a:r>
            <a:endParaRPr b="0" lang="en-US" sz="1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" name="Text 12"/>
          <p:cNvSpPr/>
          <p:nvPr/>
        </p:nvSpPr>
        <p:spPr>
          <a:xfrm>
            <a:off x="6182280" y="5854680"/>
            <a:ext cx="1900440" cy="91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ts val="2401"/>
              </a:lnSpc>
              <a:tabLst>
                <a:tab algn="l" pos="0"/>
              </a:tabLst>
            </a:pPr>
            <a:r>
              <a:rPr b="0" lang="en-US" sz="16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GenAI-ın buraxdığı hansı sektoral xüsusiyyətlər var?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Text 0"/>
          <p:cNvSpPr/>
          <p:nvPr/>
        </p:nvSpPr>
        <p:spPr>
          <a:xfrm>
            <a:off x="863640" y="1522800"/>
            <a:ext cx="8824320" cy="61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4799"/>
              </a:lnSpc>
              <a:tabLst>
                <a:tab algn="l" pos="0"/>
              </a:tabLst>
            </a:pPr>
            <a:r>
              <a:rPr b="1" lang="en-US" sz="3850" spc="-1" strike="noStrike">
                <a:solidFill>
                  <a:srgbClr val="ffffff"/>
                </a:solidFill>
                <a:latin typeface="Montserrat Bold"/>
                <a:ea typeface="Montserrat Bold"/>
              </a:rPr>
              <a:t>Gələcək Ssenarilərinin Yaradılması</a:t>
            </a:r>
            <a:endParaRPr b="0" lang="en-US" sz="3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" name="Text 1"/>
          <p:cNvSpPr/>
          <p:nvPr/>
        </p:nvSpPr>
        <p:spPr>
          <a:xfrm>
            <a:off x="863640" y="2568240"/>
            <a:ext cx="1290204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ts val="2551"/>
              </a:lnSpc>
              <a:tabLst>
                <a:tab algn="l" pos="0"/>
              </a:tabLst>
            </a:pPr>
            <a:r>
              <a:rPr b="0" lang="en-US" sz="17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GenAI strateji qərar qəbulçularına gələcəyin qeyri-müəyyənliyinə hazırlaşmaq üçün çoxsaylı inkişaf ssenarilərini sürətlə qurmağa imkan verir. Hər ssenari ayrı bir "gələcək dünya" kimi işlənir.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" name="Shape 2"/>
          <p:cNvSpPr/>
          <p:nvPr/>
        </p:nvSpPr>
        <p:spPr>
          <a:xfrm>
            <a:off x="863640" y="3458880"/>
            <a:ext cx="6342840" cy="1515240"/>
          </a:xfrm>
          <a:prstGeom prst="roundRect">
            <a:avLst>
              <a:gd name="adj" fmla="val 34194"/>
            </a:avLst>
          </a:prstGeom>
          <a:solidFill>
            <a:srgbClr val="30313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4" name="Text 3"/>
          <p:cNvSpPr/>
          <p:nvPr/>
        </p:nvSpPr>
        <p:spPr>
          <a:xfrm>
            <a:off x="1079640" y="3566880"/>
            <a:ext cx="2653560" cy="306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2401"/>
              </a:lnSpc>
              <a:tabLst>
                <a:tab algn="l" pos="0"/>
              </a:tabLst>
            </a:pPr>
            <a:r>
              <a:rPr b="1" lang="en-US" sz="1900" spc="-1" strike="noStrike">
                <a:solidFill>
                  <a:srgbClr val="000000"/>
                </a:solidFill>
                <a:latin typeface="Montserrat Bold"/>
                <a:ea typeface="Montserrat Bold"/>
              </a:rPr>
              <a:t>🚀</a:t>
            </a:r>
            <a:r>
              <a:rPr b="1" lang="en-US" sz="1900" spc="-1" strike="noStrike">
                <a:solidFill>
                  <a:srgbClr val="e2e6e9"/>
                </a:solidFill>
                <a:latin typeface="Montserrat Bold"/>
                <a:ea typeface="Montserrat Bold"/>
              </a:rPr>
              <a:t> </a:t>
            </a:r>
            <a:r>
              <a:rPr b="1" lang="en-US" sz="1900" spc="-1" strike="noStrike">
                <a:solidFill>
                  <a:srgbClr val="e2e6e9"/>
                </a:solidFill>
                <a:latin typeface="Montserrat Bold"/>
                <a:ea typeface="Montserrat Bold"/>
              </a:rPr>
              <a:t>Texnoloji İrəliləyiş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" name="Text 4"/>
          <p:cNvSpPr/>
          <p:nvPr/>
        </p:nvSpPr>
        <p:spPr>
          <a:xfrm>
            <a:off x="1115640" y="3859200"/>
            <a:ext cx="591084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ts val="2551"/>
              </a:lnSpc>
              <a:tabLst>
                <a:tab algn="l" pos="0"/>
              </a:tabLst>
            </a:pPr>
            <a:r>
              <a:rPr b="0" lang="en-US" sz="17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AI, avtomatlaşdırma və rəqəmsal transformasiya sektorunuzu kökündən dəyişdirirsə — hansı imkanlar yaranır?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" name="Shape 5"/>
          <p:cNvSpPr/>
          <p:nvPr/>
        </p:nvSpPr>
        <p:spPr>
          <a:xfrm>
            <a:off x="7423200" y="3458880"/>
            <a:ext cx="6342840" cy="1515240"/>
          </a:xfrm>
          <a:prstGeom prst="roundRect">
            <a:avLst>
              <a:gd name="adj" fmla="val 34194"/>
            </a:avLst>
          </a:prstGeom>
          <a:solidFill>
            <a:srgbClr val="30313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7" name="Text 6"/>
          <p:cNvSpPr/>
          <p:nvPr/>
        </p:nvSpPr>
        <p:spPr>
          <a:xfrm>
            <a:off x="7638840" y="3674880"/>
            <a:ext cx="3614760" cy="306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2401"/>
              </a:lnSpc>
              <a:tabLst>
                <a:tab algn="l" pos="0"/>
              </a:tabLst>
            </a:pPr>
            <a:r>
              <a:rPr b="1" lang="en-US" sz="1900" spc="-1" strike="noStrike">
                <a:solidFill>
                  <a:srgbClr val="000000"/>
                </a:solidFill>
                <a:latin typeface="Montserrat Bold"/>
                <a:ea typeface="Montserrat Bold"/>
              </a:rPr>
              <a:t>⚖️</a:t>
            </a:r>
            <a:r>
              <a:rPr b="1" lang="en-US" sz="1900" spc="-1" strike="noStrike">
                <a:solidFill>
                  <a:srgbClr val="e2e6e9"/>
                </a:solidFill>
                <a:latin typeface="Montserrat Bold"/>
                <a:ea typeface="Montserrat Bold"/>
              </a:rPr>
              <a:t> </a:t>
            </a:r>
            <a:r>
              <a:rPr b="1" lang="en-US" sz="1900" spc="-1" strike="noStrike">
                <a:solidFill>
                  <a:srgbClr val="e2e6e9"/>
                </a:solidFill>
                <a:latin typeface="Montserrat Bold"/>
                <a:ea typeface="Montserrat Bold"/>
              </a:rPr>
              <a:t>Tənzimləyici Dəyişikliklər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" name="Text 7"/>
          <p:cNvSpPr/>
          <p:nvPr/>
        </p:nvSpPr>
        <p:spPr>
          <a:xfrm>
            <a:off x="7638840" y="4111200"/>
            <a:ext cx="591120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ts val="2551"/>
              </a:lnSpc>
              <a:tabLst>
                <a:tab algn="l" pos="0"/>
              </a:tabLst>
            </a:pPr>
            <a:r>
              <a:rPr b="0" lang="en-US" sz="17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Yeni qanunvericilik, vergitutma siyasəti və ya tənzimləmə rejimi strategiyanıza necə təsir edir?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" name="Shape 8"/>
          <p:cNvSpPr/>
          <p:nvPr/>
        </p:nvSpPr>
        <p:spPr>
          <a:xfrm>
            <a:off x="863640" y="5190840"/>
            <a:ext cx="6342840" cy="1515240"/>
          </a:xfrm>
          <a:prstGeom prst="roundRect">
            <a:avLst>
              <a:gd name="adj" fmla="val 34194"/>
            </a:avLst>
          </a:prstGeom>
          <a:solidFill>
            <a:srgbClr val="30313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0" name="Text 9"/>
          <p:cNvSpPr/>
          <p:nvPr/>
        </p:nvSpPr>
        <p:spPr>
          <a:xfrm>
            <a:off x="1079640" y="5406480"/>
            <a:ext cx="2726280" cy="306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2401"/>
              </a:lnSpc>
              <a:tabLst>
                <a:tab algn="l" pos="0"/>
              </a:tabLst>
            </a:pPr>
            <a:r>
              <a:rPr b="1" lang="en-US" sz="1900" spc="-1" strike="noStrike">
                <a:solidFill>
                  <a:srgbClr val="000000"/>
                </a:solidFill>
                <a:latin typeface="Montserrat Bold"/>
                <a:ea typeface="Montserrat Bold"/>
              </a:rPr>
              <a:t>⚠️</a:t>
            </a:r>
            <a:r>
              <a:rPr b="1" lang="en-US" sz="1900" spc="-1" strike="noStrike">
                <a:solidFill>
                  <a:srgbClr val="e2e6e9"/>
                </a:solidFill>
                <a:latin typeface="Montserrat Bold"/>
                <a:ea typeface="Montserrat Bold"/>
              </a:rPr>
              <a:t> </a:t>
            </a:r>
            <a:r>
              <a:rPr b="1" lang="en-US" sz="1900" spc="-1" strike="noStrike">
                <a:solidFill>
                  <a:srgbClr val="e2e6e9"/>
                </a:solidFill>
                <a:latin typeface="Montserrat Bold"/>
                <a:ea typeface="Montserrat Bold"/>
              </a:rPr>
              <a:t>Böhran Ssenariləri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" name="Text 10"/>
          <p:cNvSpPr/>
          <p:nvPr/>
        </p:nvSpPr>
        <p:spPr>
          <a:xfrm>
            <a:off x="1079640" y="5842800"/>
            <a:ext cx="591084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ts val="2551"/>
              </a:lnSpc>
              <a:tabLst>
                <a:tab algn="l" pos="0"/>
              </a:tabLst>
            </a:pPr>
            <a:r>
              <a:rPr b="0" lang="en-US" sz="17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İqtisadi tənəzzül, təchizat zənciri pozulması və ya bazarın daralması halında alternativ plan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" name="Shape 11"/>
          <p:cNvSpPr/>
          <p:nvPr/>
        </p:nvSpPr>
        <p:spPr>
          <a:xfrm>
            <a:off x="7423200" y="5190840"/>
            <a:ext cx="6342840" cy="1515240"/>
          </a:xfrm>
          <a:prstGeom prst="roundRect">
            <a:avLst>
              <a:gd name="adj" fmla="val 34194"/>
            </a:avLst>
          </a:prstGeom>
          <a:solidFill>
            <a:srgbClr val="30313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3" name="Text 12"/>
          <p:cNvSpPr/>
          <p:nvPr/>
        </p:nvSpPr>
        <p:spPr>
          <a:xfrm>
            <a:off x="7638840" y="5406480"/>
            <a:ext cx="2453400" cy="306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2401"/>
              </a:lnSpc>
              <a:tabLst>
                <a:tab algn="l" pos="0"/>
              </a:tabLst>
            </a:pPr>
            <a:r>
              <a:rPr b="1" lang="en-US" sz="1900" spc="-1" strike="noStrike">
                <a:solidFill>
                  <a:srgbClr val="000000"/>
                </a:solidFill>
                <a:latin typeface="Montserrat Bold"/>
                <a:ea typeface="Montserrat Bold"/>
              </a:rPr>
              <a:t>🌱</a:t>
            </a:r>
            <a:r>
              <a:rPr b="1" lang="en-US" sz="1900" spc="-1" strike="noStrike">
                <a:solidFill>
                  <a:srgbClr val="e2e6e9"/>
                </a:solidFill>
                <a:latin typeface="Montserrat Bold"/>
                <a:ea typeface="Montserrat Bold"/>
              </a:rPr>
              <a:t> </a:t>
            </a:r>
            <a:r>
              <a:rPr b="1" lang="en-US" sz="1900" spc="-1" strike="noStrike">
                <a:solidFill>
                  <a:srgbClr val="e2e6e9"/>
                </a:solidFill>
                <a:latin typeface="Montserrat Bold"/>
                <a:ea typeface="Montserrat Bold"/>
              </a:rPr>
              <a:t>Optimal İnkişaf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" name="Text 13"/>
          <p:cNvSpPr/>
          <p:nvPr/>
        </p:nvSpPr>
        <p:spPr>
          <a:xfrm>
            <a:off x="7638840" y="5842800"/>
            <a:ext cx="591120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ts val="2551"/>
              </a:lnSpc>
              <a:tabLst>
                <a:tab algn="l" pos="0"/>
              </a:tabLst>
            </a:pPr>
            <a:r>
              <a:rPr b="0" lang="en-US" sz="17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Bütün şərtlər əlverişli olduqda — bazar payı, gəlir artımı və brendin ən yaxşı ssenarisi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5" name="Image 0" descr="preencoded.png"/>
          <p:cNvPicPr/>
          <p:nvPr/>
        </p:nvPicPr>
        <p:blipFill>
          <a:blip r:embed="rId1"/>
          <a:stretch/>
        </p:blipFill>
        <p:spPr>
          <a:xfrm>
            <a:off x="9144000" y="0"/>
            <a:ext cx="5485680" cy="8228880"/>
          </a:xfrm>
          <a:prstGeom prst="rect">
            <a:avLst/>
          </a:prstGeom>
          <a:ln w="0">
            <a:noFill/>
          </a:ln>
        </p:spPr>
      </p:pic>
      <p:sp>
        <p:nvSpPr>
          <p:cNvPr id="136" name="Text 0"/>
          <p:cNvSpPr/>
          <p:nvPr/>
        </p:nvSpPr>
        <p:spPr>
          <a:xfrm>
            <a:off x="803520" y="838080"/>
            <a:ext cx="5931360" cy="56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4450"/>
              </a:lnSpc>
              <a:tabLst>
                <a:tab algn="l" pos="0"/>
              </a:tabLst>
            </a:pPr>
            <a:r>
              <a:rPr b="1" lang="en-US" sz="3550" spc="-1" strike="noStrike">
                <a:solidFill>
                  <a:srgbClr val="ffffff"/>
                </a:solidFill>
                <a:latin typeface="Montserrat Bold"/>
                <a:ea typeface="Montserrat Bold"/>
              </a:rPr>
              <a:t>OKR / BSC ilə İnteqrasiya</a:t>
            </a:r>
            <a:endParaRPr b="0" lang="en-US" sz="35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Text 1"/>
          <p:cNvSpPr/>
          <p:nvPr/>
        </p:nvSpPr>
        <p:spPr>
          <a:xfrm>
            <a:off x="803520" y="1689120"/>
            <a:ext cx="7536240" cy="58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ts val="2251"/>
              </a:lnSpc>
              <a:tabLst>
                <a:tab algn="l" pos="0"/>
              </a:tabLst>
            </a:pPr>
            <a:r>
              <a:rPr b="0" lang="en-US" sz="1550" spc="-1" strike="noStrike">
                <a:solidFill>
                  <a:srgbClr val="e2e6e9"/>
                </a:solidFill>
                <a:latin typeface="Source Sans 3"/>
                <a:ea typeface="Source Sans 3"/>
              </a:rPr>
              <a:t>GenAI yalnız analiz alətindən daha artığını təklif edir — bazar məlumatları əsasında </a:t>
            </a:r>
            <a:r>
              <a:rPr b="1" lang="en-US" sz="1550" spc="-1" strike="noStrike">
                <a:solidFill>
                  <a:srgbClr val="e2e6e9"/>
                </a:solidFill>
                <a:latin typeface="Source Sans 3"/>
                <a:ea typeface="Source Sans 3"/>
              </a:rPr>
              <a:t>ölçülə bilən məqsədlər</a:t>
            </a:r>
            <a:r>
              <a:rPr b="0" lang="en-US" sz="1550" spc="-1" strike="noStrike">
                <a:solidFill>
                  <a:srgbClr val="e2e6e9"/>
                </a:solidFill>
                <a:latin typeface="Source Sans 3"/>
                <a:ea typeface="Source Sans 3"/>
              </a:rPr>
              <a:t> və </a:t>
            </a:r>
            <a:r>
              <a:rPr b="1" lang="en-US" sz="1550" spc="-1" strike="noStrike">
                <a:solidFill>
                  <a:srgbClr val="e2e6e9"/>
                </a:solidFill>
                <a:latin typeface="Source Sans 3"/>
                <a:ea typeface="Source Sans 3"/>
              </a:rPr>
              <a:t>əsas nəticələr</a:t>
            </a:r>
            <a:r>
              <a:rPr b="0" lang="en-US" sz="1550" spc="-1" strike="noStrike">
                <a:solidFill>
                  <a:srgbClr val="e2e6e9"/>
                </a:solidFill>
                <a:latin typeface="Source Sans 3"/>
                <a:ea typeface="Source Sans 3"/>
              </a:rPr>
              <a:t> formalaşdırmaqda bilavasitə dəstək verir.</a:t>
            </a:r>
            <a:endParaRPr b="0" lang="en-US" sz="15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" name="Text 2"/>
          <p:cNvSpPr/>
          <p:nvPr/>
        </p:nvSpPr>
        <p:spPr>
          <a:xfrm>
            <a:off x="803520" y="2667600"/>
            <a:ext cx="3522600" cy="57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ts val="2200"/>
              </a:lnSpc>
              <a:tabLst>
                <a:tab algn="l" pos="0"/>
              </a:tabLst>
            </a:pPr>
            <a:r>
              <a:rPr b="1" lang="en-US" sz="1750" spc="-1" strike="noStrike">
                <a:solidFill>
                  <a:srgbClr val="ffffff"/>
                </a:solidFill>
                <a:latin typeface="Montserrat Bold"/>
                <a:ea typeface="Montserrat Bold"/>
              </a:rPr>
              <a:t>OKR Kontekstində GenAI (</a:t>
            </a:r>
            <a:r>
              <a:rPr b="1" i="1" lang="en-US" sz="1750" spc="-1" strike="noStrike">
                <a:solidFill>
                  <a:srgbClr val="ffffff"/>
                </a:solidFill>
                <a:latin typeface="Montserrat Bold"/>
                <a:ea typeface="Montserrat Bold"/>
              </a:rPr>
              <a:t>Objectives and Key Results</a:t>
            </a:r>
            <a:r>
              <a:rPr b="1" lang="en-US" sz="1750" spc="-1" strike="noStrike">
                <a:solidFill>
                  <a:srgbClr val="ffffff"/>
                </a:solidFill>
                <a:latin typeface="Montserrat Bold"/>
                <a:ea typeface="Montserrat Bold"/>
              </a:rPr>
              <a:t>)</a:t>
            </a:r>
            <a:endParaRPr b="0" lang="en-US" sz="1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" name="Shape 3"/>
          <p:cNvSpPr/>
          <p:nvPr/>
        </p:nvSpPr>
        <p:spPr>
          <a:xfrm>
            <a:off x="803520" y="3448440"/>
            <a:ext cx="451080" cy="451080"/>
          </a:xfrm>
          <a:prstGeom prst="roundRect">
            <a:avLst>
              <a:gd name="adj" fmla="val 6668"/>
            </a:avLst>
          </a:prstGeom>
          <a:solidFill>
            <a:srgbClr val="30313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0" name="Text 4"/>
          <p:cNvSpPr/>
          <p:nvPr/>
        </p:nvSpPr>
        <p:spPr>
          <a:xfrm>
            <a:off x="892440" y="3503160"/>
            <a:ext cx="273240" cy="34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 algn="ctr">
              <a:lnSpc>
                <a:spcPts val="2149"/>
              </a:lnSpc>
              <a:tabLst>
                <a:tab algn="l" pos="0"/>
              </a:tabLst>
            </a:pPr>
            <a:r>
              <a:rPr b="1" lang="en-US" sz="2150" spc="-1" strike="noStrike">
                <a:solidFill>
                  <a:srgbClr val="e2e6e9"/>
                </a:solidFill>
                <a:latin typeface="Montserrat Bold"/>
                <a:ea typeface="Montserrat Bold"/>
              </a:rPr>
              <a:t>1</a:t>
            </a:r>
            <a:endParaRPr b="0" lang="en-US" sz="2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" name="Text 5"/>
          <p:cNvSpPr/>
          <p:nvPr/>
        </p:nvSpPr>
        <p:spPr>
          <a:xfrm>
            <a:off x="1442160" y="3379680"/>
            <a:ext cx="2883960" cy="58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ts val="2251"/>
              </a:lnSpc>
              <a:tabLst>
                <a:tab algn="l" pos="0"/>
              </a:tabLst>
            </a:pPr>
            <a:r>
              <a:rPr b="0" lang="en-US" sz="1550" spc="-1" strike="noStrike">
                <a:solidFill>
                  <a:srgbClr val="e2e6e9"/>
                </a:solidFill>
                <a:latin typeface="Source Sans 3"/>
                <a:ea typeface="Source Sans 3"/>
              </a:rPr>
              <a:t>Bazar tendensiyalarına uyğun </a:t>
            </a:r>
            <a:r>
              <a:rPr b="1" lang="en-US" sz="1550" spc="-1" strike="noStrike">
                <a:solidFill>
                  <a:srgbClr val="e2e6e9"/>
                </a:solidFill>
                <a:latin typeface="Source Sans 3"/>
                <a:ea typeface="Source Sans 3"/>
              </a:rPr>
              <a:t>Məqsəd (Objective)</a:t>
            </a:r>
            <a:r>
              <a:rPr b="0" lang="en-US" sz="1550" spc="-1" strike="noStrike">
                <a:solidFill>
                  <a:srgbClr val="e2e6e9"/>
                </a:solidFill>
                <a:latin typeface="Source Sans 3"/>
                <a:ea typeface="Source Sans 3"/>
              </a:rPr>
              <a:t> formalaşdırır</a:t>
            </a:r>
            <a:endParaRPr b="0" lang="en-US" sz="15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" name="Shape 6"/>
          <p:cNvSpPr/>
          <p:nvPr/>
        </p:nvSpPr>
        <p:spPr>
          <a:xfrm>
            <a:off x="803520" y="4479120"/>
            <a:ext cx="451080" cy="451080"/>
          </a:xfrm>
          <a:prstGeom prst="roundRect">
            <a:avLst>
              <a:gd name="adj" fmla="val 6668"/>
            </a:avLst>
          </a:prstGeom>
          <a:solidFill>
            <a:srgbClr val="30313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3" name="Text 7"/>
          <p:cNvSpPr/>
          <p:nvPr/>
        </p:nvSpPr>
        <p:spPr>
          <a:xfrm>
            <a:off x="892440" y="4533840"/>
            <a:ext cx="273240" cy="34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 algn="ctr">
              <a:lnSpc>
                <a:spcPts val="2149"/>
              </a:lnSpc>
              <a:tabLst>
                <a:tab algn="l" pos="0"/>
              </a:tabLst>
            </a:pPr>
            <a:r>
              <a:rPr b="1" lang="en-US" sz="2150" spc="-1" strike="noStrike">
                <a:solidFill>
                  <a:srgbClr val="e2e6e9"/>
                </a:solidFill>
                <a:latin typeface="Montserrat Bold"/>
                <a:ea typeface="Montserrat Bold"/>
              </a:rPr>
              <a:t>2</a:t>
            </a:r>
            <a:endParaRPr b="0" lang="en-US" sz="2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" name="Text 8"/>
          <p:cNvSpPr/>
          <p:nvPr/>
        </p:nvSpPr>
        <p:spPr>
          <a:xfrm>
            <a:off x="1442160" y="4410360"/>
            <a:ext cx="2883960" cy="58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ts val="2251"/>
              </a:lnSpc>
              <a:tabLst>
                <a:tab algn="l" pos="0"/>
              </a:tabLst>
            </a:pPr>
            <a:r>
              <a:rPr b="0" lang="en-US" sz="1550" spc="-1" strike="noStrike">
                <a:solidFill>
                  <a:srgbClr val="e2e6e9"/>
                </a:solidFill>
                <a:latin typeface="Source Sans 3"/>
                <a:ea typeface="Source Sans 3"/>
              </a:rPr>
              <a:t>KPI bazasında </a:t>
            </a:r>
            <a:r>
              <a:rPr b="1" lang="en-US" sz="1550" spc="-1" strike="noStrike">
                <a:solidFill>
                  <a:srgbClr val="e2e6e9"/>
                </a:solidFill>
                <a:latin typeface="Source Sans 3"/>
                <a:ea typeface="Source Sans 3"/>
              </a:rPr>
              <a:t>Əsas Nəticələr (Key Results)</a:t>
            </a:r>
            <a:r>
              <a:rPr b="0" lang="en-US" sz="1550" spc="-1" strike="noStrike">
                <a:solidFill>
                  <a:srgbClr val="e2e6e9"/>
                </a:solidFill>
                <a:latin typeface="Source Sans 3"/>
                <a:ea typeface="Source Sans 3"/>
              </a:rPr>
              <a:t> təklif edir</a:t>
            </a:r>
            <a:endParaRPr b="0" lang="en-US" sz="15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" name="Shape 9"/>
          <p:cNvSpPr/>
          <p:nvPr/>
        </p:nvSpPr>
        <p:spPr>
          <a:xfrm>
            <a:off x="803520" y="5509440"/>
            <a:ext cx="451080" cy="451080"/>
          </a:xfrm>
          <a:prstGeom prst="roundRect">
            <a:avLst>
              <a:gd name="adj" fmla="val 6668"/>
            </a:avLst>
          </a:prstGeom>
          <a:solidFill>
            <a:srgbClr val="30313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6" name="Text 10"/>
          <p:cNvSpPr/>
          <p:nvPr/>
        </p:nvSpPr>
        <p:spPr>
          <a:xfrm>
            <a:off x="892440" y="5564160"/>
            <a:ext cx="273240" cy="34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 algn="ctr">
              <a:lnSpc>
                <a:spcPts val="2149"/>
              </a:lnSpc>
              <a:tabLst>
                <a:tab algn="l" pos="0"/>
              </a:tabLst>
            </a:pPr>
            <a:r>
              <a:rPr b="1" lang="en-US" sz="2150" spc="-1" strike="noStrike">
                <a:solidFill>
                  <a:srgbClr val="e2e6e9"/>
                </a:solidFill>
                <a:latin typeface="Montserrat Bold"/>
                <a:ea typeface="Montserrat Bold"/>
              </a:rPr>
              <a:t>3</a:t>
            </a:r>
            <a:endParaRPr b="0" lang="en-US" sz="2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" name="Text 11"/>
          <p:cNvSpPr/>
          <p:nvPr/>
        </p:nvSpPr>
        <p:spPr>
          <a:xfrm>
            <a:off x="1442160" y="5440680"/>
            <a:ext cx="2883960" cy="58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ts val="2251"/>
              </a:lnSpc>
              <a:tabLst>
                <a:tab algn="l" pos="0"/>
              </a:tabLst>
            </a:pPr>
            <a:r>
              <a:rPr b="0" lang="en-US" sz="1550" spc="-1" strike="noStrike">
                <a:solidFill>
                  <a:srgbClr val="e2e6e9"/>
                </a:solidFill>
                <a:latin typeface="Source Sans 3"/>
                <a:ea typeface="Source Sans 3"/>
              </a:rPr>
              <a:t>Rəqib müqayisəsi ilə </a:t>
            </a:r>
            <a:r>
              <a:rPr b="1" lang="en-US" sz="1550" spc="-1" strike="noStrike">
                <a:solidFill>
                  <a:srgbClr val="e2e6e9"/>
                </a:solidFill>
                <a:latin typeface="Source Sans 3"/>
                <a:ea typeface="Source Sans 3"/>
              </a:rPr>
              <a:t>Hədəf göstəriciləri</a:t>
            </a:r>
            <a:r>
              <a:rPr b="0" lang="en-US" sz="1550" spc="-1" strike="noStrike">
                <a:solidFill>
                  <a:srgbClr val="e2e6e9"/>
                </a:solidFill>
                <a:latin typeface="Source Sans 3"/>
                <a:ea typeface="Source Sans 3"/>
              </a:rPr>
              <a:t> kalibrləyir</a:t>
            </a:r>
            <a:endParaRPr b="0" lang="en-US" sz="15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" name="Shape 12"/>
          <p:cNvSpPr/>
          <p:nvPr/>
        </p:nvSpPr>
        <p:spPr>
          <a:xfrm>
            <a:off x="4680000" y="2480760"/>
            <a:ext cx="3812040" cy="4376880"/>
          </a:xfrm>
          <a:prstGeom prst="roundRect">
            <a:avLst>
              <a:gd name="adj" fmla="val 790"/>
            </a:avLst>
          </a:prstGeom>
          <a:solidFill>
            <a:srgbClr val="1d1f2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9" name="Text 13"/>
          <p:cNvSpPr/>
          <p:nvPr/>
        </p:nvSpPr>
        <p:spPr>
          <a:xfrm>
            <a:off x="4880880" y="2667600"/>
            <a:ext cx="3410280" cy="85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ts val="2200"/>
              </a:lnSpc>
              <a:tabLst>
                <a:tab algn="l" pos="0"/>
              </a:tabLst>
            </a:pPr>
            <a:r>
              <a:rPr b="1" lang="en-US" sz="1750" spc="-1" strike="noStrike">
                <a:solidFill>
                  <a:srgbClr val="ffffff"/>
                </a:solidFill>
                <a:latin typeface="Montserrat Bold"/>
                <a:ea typeface="Montserrat Bold"/>
              </a:rPr>
              <a:t>BSC Perspektivlərində Dəstək (Balanced ScoreCard)</a:t>
            </a:r>
            <a:endParaRPr b="0" lang="en-US" sz="1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" name="Shape 14"/>
          <p:cNvSpPr/>
          <p:nvPr/>
        </p:nvSpPr>
        <p:spPr>
          <a:xfrm>
            <a:off x="4880880" y="3510360"/>
            <a:ext cx="99720" cy="99720"/>
          </a:xfrm>
          <a:prstGeom prst="roundRect">
            <a:avLst>
              <a:gd name="adj" fmla="val 455515"/>
            </a:avLst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26280" bIns="2628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" name="Text 15"/>
          <p:cNvSpPr/>
          <p:nvPr/>
        </p:nvSpPr>
        <p:spPr>
          <a:xfrm>
            <a:off x="5168160" y="3409920"/>
            <a:ext cx="3123000" cy="58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ts val="2251"/>
              </a:lnSpc>
              <a:tabLst>
                <a:tab algn="l" pos="0"/>
              </a:tabLst>
            </a:pPr>
            <a:r>
              <a:rPr b="1" lang="en-US" sz="1550" spc="-1" strike="noStrike">
                <a:solidFill>
                  <a:srgbClr val="e2e6e9"/>
                </a:solidFill>
                <a:latin typeface="Source Sans 3"/>
                <a:ea typeface="Source Sans 3"/>
              </a:rPr>
              <a:t>Maliyyə:</a:t>
            </a:r>
            <a:r>
              <a:rPr b="0" lang="en-US" sz="1550" spc="-1" strike="noStrike">
                <a:solidFill>
                  <a:srgbClr val="e2e6e9"/>
                </a:solidFill>
                <a:latin typeface="Source Sans 3"/>
                <a:ea typeface="Source Sans 3"/>
              </a:rPr>
              <a:t> Gəlir artımı, xərc optimallaşdırması hədəfləri</a:t>
            </a:r>
            <a:endParaRPr b="0" lang="en-US" sz="15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" name="Shape 16"/>
          <p:cNvSpPr/>
          <p:nvPr/>
        </p:nvSpPr>
        <p:spPr>
          <a:xfrm>
            <a:off x="4880880" y="4465440"/>
            <a:ext cx="99720" cy="99720"/>
          </a:xfrm>
          <a:prstGeom prst="roundRect">
            <a:avLst>
              <a:gd name="adj" fmla="val 455515"/>
            </a:avLst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26280" bIns="2628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" name="Text 17"/>
          <p:cNvSpPr/>
          <p:nvPr/>
        </p:nvSpPr>
        <p:spPr>
          <a:xfrm>
            <a:off x="5168160" y="4365000"/>
            <a:ext cx="3123000" cy="58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ts val="2251"/>
              </a:lnSpc>
              <a:tabLst>
                <a:tab algn="l" pos="0"/>
              </a:tabLst>
            </a:pPr>
            <a:r>
              <a:rPr b="1" lang="en-US" sz="1550" spc="-1" strike="noStrike">
                <a:solidFill>
                  <a:srgbClr val="e2e6e9"/>
                </a:solidFill>
                <a:latin typeface="Source Sans 3"/>
                <a:ea typeface="Source Sans 3"/>
              </a:rPr>
              <a:t>Müştəri:</a:t>
            </a:r>
            <a:r>
              <a:rPr b="0" lang="en-US" sz="1550" spc="-1" strike="noStrike">
                <a:solidFill>
                  <a:srgbClr val="e2e6e9"/>
                </a:solidFill>
                <a:latin typeface="Source Sans 3"/>
                <a:ea typeface="Source Sans 3"/>
              </a:rPr>
              <a:t> Məmnuniyyət və bazar payı göstəriciləri</a:t>
            </a:r>
            <a:endParaRPr b="0" lang="en-US" sz="15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" name="Shape 18"/>
          <p:cNvSpPr/>
          <p:nvPr/>
        </p:nvSpPr>
        <p:spPr>
          <a:xfrm>
            <a:off x="4880880" y="5420880"/>
            <a:ext cx="99720" cy="99720"/>
          </a:xfrm>
          <a:prstGeom prst="roundRect">
            <a:avLst>
              <a:gd name="adj" fmla="val 455515"/>
            </a:avLst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26280" bIns="2628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" name="Text 19"/>
          <p:cNvSpPr/>
          <p:nvPr/>
        </p:nvSpPr>
        <p:spPr>
          <a:xfrm>
            <a:off x="5168160" y="5320440"/>
            <a:ext cx="3123000" cy="58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ts val="2251"/>
              </a:lnSpc>
              <a:tabLst>
                <a:tab algn="l" pos="0"/>
              </a:tabLst>
            </a:pPr>
            <a:r>
              <a:rPr b="1" lang="en-US" sz="1550" spc="-1" strike="noStrike">
                <a:solidFill>
                  <a:srgbClr val="e2e6e9"/>
                </a:solidFill>
                <a:latin typeface="Source Sans 3"/>
                <a:ea typeface="Source Sans 3"/>
              </a:rPr>
              <a:t>Daxili Proseslər:</a:t>
            </a:r>
            <a:r>
              <a:rPr b="0" lang="en-US" sz="1550" spc="-1" strike="noStrike">
                <a:solidFill>
                  <a:srgbClr val="e2e6e9"/>
                </a:solidFill>
                <a:latin typeface="Source Sans 3"/>
                <a:ea typeface="Source Sans 3"/>
              </a:rPr>
              <a:t> Effektivlik və keyfiyyət metrikləri</a:t>
            </a:r>
            <a:endParaRPr b="0" lang="en-US" sz="15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" name="Shape 20"/>
          <p:cNvSpPr/>
          <p:nvPr/>
        </p:nvSpPr>
        <p:spPr>
          <a:xfrm>
            <a:off x="4880880" y="6375960"/>
            <a:ext cx="99720" cy="99720"/>
          </a:xfrm>
          <a:prstGeom prst="roundRect">
            <a:avLst>
              <a:gd name="adj" fmla="val 455515"/>
            </a:avLst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26280" bIns="2628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" name="Text 21"/>
          <p:cNvSpPr/>
          <p:nvPr/>
        </p:nvSpPr>
        <p:spPr>
          <a:xfrm>
            <a:off x="5168160" y="6275520"/>
            <a:ext cx="3123000" cy="58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ts val="2251"/>
              </a:lnSpc>
              <a:tabLst>
                <a:tab algn="l" pos="0"/>
              </a:tabLst>
            </a:pPr>
            <a:r>
              <a:rPr b="1" lang="en-US" sz="1550" spc="-1" strike="noStrike">
                <a:solidFill>
                  <a:srgbClr val="e2e6e9"/>
                </a:solidFill>
                <a:latin typeface="Source Sans 3"/>
                <a:ea typeface="Source Sans 3"/>
              </a:rPr>
              <a:t>Öyrənmə:</a:t>
            </a:r>
            <a:r>
              <a:rPr b="0" lang="en-US" sz="1550" spc="-1" strike="noStrike">
                <a:solidFill>
                  <a:srgbClr val="e2e6e9"/>
                </a:solidFill>
                <a:latin typeface="Source Sans 3"/>
                <a:ea typeface="Source Sans 3"/>
              </a:rPr>
              <a:t> İnnovasiya və kadr inkişafı hədəfləri</a:t>
            </a:r>
            <a:endParaRPr b="0" lang="en-US" sz="15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Text 0"/>
          <p:cNvSpPr/>
          <p:nvPr/>
        </p:nvSpPr>
        <p:spPr>
          <a:xfrm>
            <a:off x="863640" y="1872360"/>
            <a:ext cx="6680880" cy="61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4799"/>
              </a:lnSpc>
              <a:tabLst>
                <a:tab algn="l" pos="0"/>
              </a:tabLst>
            </a:pPr>
            <a:r>
              <a:rPr b="1" lang="en-US" sz="3850" spc="-1" strike="noStrike">
                <a:solidFill>
                  <a:srgbClr val="ffffff"/>
                </a:solidFill>
                <a:latin typeface="Montserrat Bold"/>
                <a:ea typeface="Montserrat Bold"/>
              </a:rPr>
              <a:t>Məhdudiyyətlər və Risklər</a:t>
            </a:r>
            <a:endParaRPr b="0" lang="en-US" sz="3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" name="Text 1"/>
          <p:cNvSpPr/>
          <p:nvPr/>
        </p:nvSpPr>
        <p:spPr>
          <a:xfrm>
            <a:off x="863640" y="2917800"/>
            <a:ext cx="1290204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ts val="2551"/>
              </a:lnSpc>
              <a:tabLst>
                <a:tab algn="l" pos="0"/>
              </a:tabLst>
            </a:pPr>
            <a:r>
              <a:rPr b="0" lang="en-US" sz="17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GenAI güclü bir alət olsa da, onun strateji qərar prosesindəki məhdudiyyətlərini bilmək hər menecer üçün vacibdir. Bilinçli istifadə risklərini əhəmiyyətli dərəcədə azaldır.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" name="Shape 2"/>
          <p:cNvSpPr/>
          <p:nvPr/>
        </p:nvSpPr>
        <p:spPr>
          <a:xfrm>
            <a:off x="863640" y="3808440"/>
            <a:ext cx="4156200" cy="2548080"/>
          </a:xfrm>
          <a:prstGeom prst="roundRect">
            <a:avLst>
              <a:gd name="adj" fmla="val 5740"/>
            </a:avLst>
          </a:prstGeom>
          <a:solidFill>
            <a:srgbClr val="111213"/>
          </a:solidFill>
          <a:ln w="30480">
            <a:solidFill>
              <a:srgbClr val="494a4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1" name="Shape 3"/>
          <p:cNvSpPr/>
          <p:nvPr/>
        </p:nvSpPr>
        <p:spPr>
          <a:xfrm>
            <a:off x="833400" y="3808440"/>
            <a:ext cx="121320" cy="2548080"/>
          </a:xfrm>
          <a:prstGeom prst="roundRect">
            <a:avLst>
              <a:gd name="adj" fmla="val 26572"/>
            </a:avLst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" name="Text 4"/>
          <p:cNvSpPr/>
          <p:nvPr/>
        </p:nvSpPr>
        <p:spPr>
          <a:xfrm>
            <a:off x="1201680" y="4054680"/>
            <a:ext cx="2453400" cy="306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2401"/>
              </a:lnSpc>
              <a:tabLst>
                <a:tab algn="l" pos="0"/>
              </a:tabLst>
            </a:pPr>
            <a:r>
              <a:rPr b="1" lang="en-US" sz="1900" spc="-1" strike="noStrike">
                <a:solidFill>
                  <a:srgbClr val="000000"/>
                </a:solidFill>
                <a:latin typeface="Montserrat Bold"/>
                <a:ea typeface="Montserrat Bold"/>
              </a:rPr>
              <a:t>⚠️</a:t>
            </a:r>
            <a:r>
              <a:rPr b="1" lang="en-US" sz="1900" spc="-1" strike="noStrike">
                <a:solidFill>
                  <a:srgbClr val="e2e6e9"/>
                </a:solidFill>
                <a:latin typeface="Montserrat Bold"/>
                <a:ea typeface="Montserrat Bold"/>
              </a:rPr>
              <a:t> </a:t>
            </a:r>
            <a:r>
              <a:rPr b="1" lang="en-US" sz="1900" spc="-1" strike="noStrike">
                <a:solidFill>
                  <a:srgbClr val="e2e6e9"/>
                </a:solidFill>
                <a:latin typeface="Montserrat Bold"/>
                <a:ea typeface="Montserrat Bold"/>
              </a:rPr>
              <a:t>Halüsinasiyalar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Text 5"/>
          <p:cNvSpPr/>
          <p:nvPr/>
        </p:nvSpPr>
        <p:spPr>
          <a:xfrm>
            <a:off x="1201680" y="4491000"/>
            <a:ext cx="3572280" cy="161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ts val="2551"/>
              </a:lnSpc>
              <a:tabLst>
                <a:tab algn="l" pos="0"/>
              </a:tabLst>
            </a:pPr>
            <a:r>
              <a:rPr b="0" lang="en-US" sz="17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GenAI modellər bəzən </a:t>
            </a:r>
            <a:r>
              <a:rPr b="1" lang="en-US" sz="17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uydurma faktlar, saxta statistika</a:t>
            </a:r>
            <a:r>
              <a:rPr b="0" lang="en-US" sz="17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 və ya mövcud olmayan mənbələr yarada bilər. Hər kritik məlumat müstəqil mənbələrdə yoxlanılmalıdır.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" name="Shape 6"/>
          <p:cNvSpPr/>
          <p:nvPr/>
        </p:nvSpPr>
        <p:spPr>
          <a:xfrm>
            <a:off x="5236560" y="3808440"/>
            <a:ext cx="4156200" cy="2548080"/>
          </a:xfrm>
          <a:prstGeom prst="roundRect">
            <a:avLst>
              <a:gd name="adj" fmla="val 5740"/>
            </a:avLst>
          </a:prstGeom>
          <a:solidFill>
            <a:srgbClr val="111213"/>
          </a:solidFill>
          <a:ln w="30480">
            <a:solidFill>
              <a:srgbClr val="494a4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5" name="Shape 7"/>
          <p:cNvSpPr/>
          <p:nvPr/>
        </p:nvSpPr>
        <p:spPr>
          <a:xfrm>
            <a:off x="5205960" y="3808440"/>
            <a:ext cx="121320" cy="2548080"/>
          </a:xfrm>
          <a:prstGeom prst="roundRect">
            <a:avLst>
              <a:gd name="adj" fmla="val 26572"/>
            </a:avLst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" name="Text 8"/>
          <p:cNvSpPr/>
          <p:nvPr/>
        </p:nvSpPr>
        <p:spPr>
          <a:xfrm>
            <a:off x="5574240" y="4018680"/>
            <a:ext cx="2453400" cy="306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2401"/>
              </a:lnSpc>
              <a:tabLst>
                <a:tab algn="l" pos="0"/>
              </a:tabLst>
            </a:pPr>
            <a:r>
              <a:rPr b="1" lang="en-US" sz="1900" spc="-1" strike="noStrike">
                <a:solidFill>
                  <a:srgbClr val="000000"/>
                </a:solidFill>
                <a:latin typeface="Montserrat Bold"/>
                <a:ea typeface="Montserrat Bold"/>
              </a:rPr>
              <a:t>🏢</a:t>
            </a:r>
            <a:r>
              <a:rPr b="1" lang="en-US" sz="1900" spc="-1" strike="noStrike">
                <a:solidFill>
                  <a:srgbClr val="e2e6e9"/>
                </a:solidFill>
                <a:latin typeface="Montserrat Bold"/>
                <a:ea typeface="Montserrat Bold"/>
              </a:rPr>
              <a:t> </a:t>
            </a:r>
            <a:r>
              <a:rPr b="1" lang="en-US" sz="1900" spc="-1" strike="noStrike">
                <a:solidFill>
                  <a:srgbClr val="e2e6e9"/>
                </a:solidFill>
                <a:latin typeface="Montserrat Bold"/>
                <a:ea typeface="Montserrat Bold"/>
              </a:rPr>
              <a:t>Kontekst Kəsiyi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" name="Text 9"/>
          <p:cNvSpPr/>
          <p:nvPr/>
        </p:nvSpPr>
        <p:spPr>
          <a:xfrm>
            <a:off x="5574240" y="4347000"/>
            <a:ext cx="3572280" cy="129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ts val="2551"/>
              </a:lnSpc>
              <a:tabLst>
                <a:tab algn="l" pos="0"/>
              </a:tabLst>
            </a:pPr>
            <a:r>
              <a:rPr b="0" lang="en-US" sz="17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Model şirkətinizin daxili mədəniyyəti, qeyri-rəsmi gücü, tarixçəsi və xüsusi bazar dinamikasını </a:t>
            </a:r>
            <a:r>
              <a:rPr b="1" lang="en-US" sz="17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dərindən anlamır</a:t>
            </a:r>
            <a:r>
              <a:rPr b="0" lang="en-US" sz="17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. Nəticələr ümumi xarakter daşıya bilər.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" name="Shape 10"/>
          <p:cNvSpPr/>
          <p:nvPr/>
        </p:nvSpPr>
        <p:spPr>
          <a:xfrm>
            <a:off x="9609480" y="3808440"/>
            <a:ext cx="4156200" cy="2548080"/>
          </a:xfrm>
          <a:prstGeom prst="roundRect">
            <a:avLst>
              <a:gd name="adj" fmla="val 5740"/>
            </a:avLst>
          </a:prstGeom>
          <a:solidFill>
            <a:srgbClr val="111213"/>
          </a:solidFill>
          <a:ln w="30480">
            <a:solidFill>
              <a:srgbClr val="494a4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9" name="Shape 11"/>
          <p:cNvSpPr/>
          <p:nvPr/>
        </p:nvSpPr>
        <p:spPr>
          <a:xfrm>
            <a:off x="9578880" y="3808440"/>
            <a:ext cx="121320" cy="2548080"/>
          </a:xfrm>
          <a:prstGeom prst="roundRect">
            <a:avLst>
              <a:gd name="adj" fmla="val 26572"/>
            </a:avLst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" name="Text 12"/>
          <p:cNvSpPr/>
          <p:nvPr/>
        </p:nvSpPr>
        <p:spPr>
          <a:xfrm>
            <a:off x="9947160" y="4054680"/>
            <a:ext cx="2453400" cy="306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2401"/>
              </a:lnSpc>
              <a:tabLst>
                <a:tab algn="l" pos="0"/>
              </a:tabLst>
            </a:pPr>
            <a:r>
              <a:rPr b="1" lang="en-US" sz="1900" spc="-1" strike="noStrike">
                <a:solidFill>
                  <a:srgbClr val="000000"/>
                </a:solidFill>
                <a:latin typeface="Montserrat Bold"/>
                <a:ea typeface="Montserrat Bold"/>
              </a:rPr>
              <a:t>🪞</a:t>
            </a:r>
            <a:r>
              <a:rPr b="1" lang="en-US" sz="1900" spc="-1" strike="noStrike">
                <a:solidFill>
                  <a:srgbClr val="e2e6e9"/>
                </a:solidFill>
                <a:latin typeface="Montserrat Bold"/>
                <a:ea typeface="Montserrat Bold"/>
              </a:rPr>
              <a:t> </a:t>
            </a:r>
            <a:r>
              <a:rPr b="1" lang="en-US" sz="1900" spc="-1" strike="noStrike">
                <a:solidFill>
                  <a:srgbClr val="e2e6e9"/>
                </a:solidFill>
                <a:latin typeface="Montserrat Bold"/>
                <a:ea typeface="Montserrat Bold"/>
              </a:rPr>
              <a:t>Səthilik Riski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" name="Text 13"/>
          <p:cNvSpPr/>
          <p:nvPr/>
        </p:nvSpPr>
        <p:spPr>
          <a:xfrm>
            <a:off x="9947160" y="4491000"/>
            <a:ext cx="3572280" cy="161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ts val="2551"/>
              </a:lnSpc>
              <a:tabLst>
                <a:tab algn="l" pos="0"/>
              </a:tabLst>
            </a:pPr>
            <a:r>
              <a:rPr b="0" lang="en-US" sz="17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İnsan incəliyi, intuisiya və uzunmüddətli təcrübə olmadan GenAI çıxışları </a:t>
            </a:r>
            <a:r>
              <a:rPr b="1" lang="en-US" sz="17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yüzeysel qala bilər</a:t>
            </a:r>
            <a:r>
              <a:rPr b="0" lang="en-US" sz="17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 — xüsusilə mürəkkəb, çoxölçülü strateji məsələlərdə.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2" name="Image 0" descr="preencoded.png"/>
          <p:cNvPicPr/>
          <p:nvPr/>
        </p:nvPicPr>
        <p:blipFill>
          <a:blip r:embed="rId1"/>
          <a:stretch/>
        </p:blipFill>
        <p:spPr>
          <a:xfrm>
            <a:off x="9144000" y="0"/>
            <a:ext cx="5485680" cy="8228880"/>
          </a:xfrm>
          <a:prstGeom prst="rect">
            <a:avLst/>
          </a:prstGeom>
          <a:ln w="0">
            <a:noFill/>
          </a:ln>
        </p:spPr>
      </p:pic>
      <p:sp>
        <p:nvSpPr>
          <p:cNvPr id="173" name="Text 0"/>
          <p:cNvSpPr/>
          <p:nvPr/>
        </p:nvSpPr>
        <p:spPr>
          <a:xfrm>
            <a:off x="863640" y="711000"/>
            <a:ext cx="5057280" cy="61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4799"/>
              </a:lnSpc>
              <a:tabLst>
                <a:tab algn="l" pos="0"/>
              </a:tabLst>
            </a:pPr>
            <a:r>
              <a:rPr b="1" lang="en-US" sz="3850" spc="-1" strike="noStrike">
                <a:solidFill>
                  <a:srgbClr val="ffffff"/>
                </a:solidFill>
                <a:latin typeface="Montserrat Bold"/>
                <a:ea typeface="Montserrat Bold"/>
              </a:rPr>
              <a:t>Ən Yaxşı Təcrübələr</a:t>
            </a:r>
            <a:endParaRPr b="0" lang="en-US" sz="3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" name="Text 1"/>
          <p:cNvSpPr/>
          <p:nvPr/>
        </p:nvSpPr>
        <p:spPr>
          <a:xfrm>
            <a:off x="863640" y="1648440"/>
            <a:ext cx="741564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ts val="2551"/>
              </a:lnSpc>
              <a:tabLst>
                <a:tab algn="l" pos="0"/>
              </a:tabLst>
            </a:pPr>
            <a:r>
              <a:rPr b="0" lang="en-US" sz="17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GenAI-dan maksimum strateji dəyər əldə etmək üçün aşağıdakı prinsiplər rəhbərlik kimi işlənib hazırlanmışdır: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" name="Shape 2"/>
          <p:cNvSpPr/>
          <p:nvPr/>
        </p:nvSpPr>
        <p:spPr>
          <a:xfrm>
            <a:off x="1079640" y="2863080"/>
            <a:ext cx="215280" cy="1191240"/>
          </a:xfrm>
          <a:prstGeom prst="roundRect">
            <a:avLst>
              <a:gd name="adj" fmla="val 15008"/>
            </a:avLst>
          </a:prstGeom>
          <a:solidFill>
            <a:srgbClr val="30313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6" name="Shape 3"/>
          <p:cNvSpPr/>
          <p:nvPr/>
        </p:nvSpPr>
        <p:spPr>
          <a:xfrm>
            <a:off x="863640" y="2721240"/>
            <a:ext cx="646920" cy="646920"/>
          </a:xfrm>
          <a:prstGeom prst="roundRect">
            <a:avLst>
              <a:gd name="adj" fmla="val 70575"/>
            </a:avLst>
          </a:prstGeom>
          <a:solidFill>
            <a:srgbClr val="30313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77" name="Image 1" descr="preencoded.png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1025640" y="2883240"/>
            <a:ext cx="323280" cy="323280"/>
          </a:xfrm>
          <a:prstGeom prst="rect">
            <a:avLst/>
          </a:prstGeom>
          <a:ln w="0">
            <a:noFill/>
          </a:ln>
        </p:spPr>
      </p:pic>
      <p:sp>
        <p:nvSpPr>
          <p:cNvPr id="178" name="Text 4"/>
          <p:cNvSpPr/>
          <p:nvPr/>
        </p:nvSpPr>
        <p:spPr>
          <a:xfrm>
            <a:off x="1727640" y="2755080"/>
            <a:ext cx="3149640" cy="306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2401"/>
              </a:lnSpc>
              <a:tabLst>
                <a:tab algn="l" pos="0"/>
              </a:tabLst>
            </a:pPr>
            <a:r>
              <a:rPr b="1" lang="en-US" sz="1900" spc="-1" strike="noStrike">
                <a:solidFill>
                  <a:srgbClr val="e2e6e9"/>
                </a:solidFill>
                <a:latin typeface="Montserrat Bold"/>
                <a:ea typeface="Montserrat Bold"/>
              </a:rPr>
              <a:t>Həmişə Faktları Yoxlayın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" name="Text 5"/>
          <p:cNvSpPr/>
          <p:nvPr/>
        </p:nvSpPr>
        <p:spPr>
          <a:xfrm>
            <a:off x="1727640" y="3191400"/>
            <a:ext cx="655200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ts val="2551"/>
              </a:lnSpc>
              <a:tabLst>
                <a:tab algn="l" pos="0"/>
              </a:tabLst>
            </a:pPr>
            <a:r>
              <a:rPr b="0" lang="en-US" sz="17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GenAI çıxışını heç vaxt yeganə mənbə kimi qəbul etməyin. Statistika, tarix və istinadları etibarlı mənbələrdən təsdiqləyin.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" name="Shape 6"/>
          <p:cNvSpPr/>
          <p:nvPr/>
        </p:nvSpPr>
        <p:spPr>
          <a:xfrm>
            <a:off x="1403640" y="4594680"/>
            <a:ext cx="215280" cy="1191240"/>
          </a:xfrm>
          <a:prstGeom prst="roundRect">
            <a:avLst>
              <a:gd name="adj" fmla="val 15008"/>
            </a:avLst>
          </a:prstGeom>
          <a:solidFill>
            <a:srgbClr val="30313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1" name="Shape 7"/>
          <p:cNvSpPr/>
          <p:nvPr/>
        </p:nvSpPr>
        <p:spPr>
          <a:xfrm>
            <a:off x="1187640" y="4453200"/>
            <a:ext cx="646920" cy="646920"/>
          </a:xfrm>
          <a:prstGeom prst="roundRect">
            <a:avLst>
              <a:gd name="adj" fmla="val 70575"/>
            </a:avLst>
          </a:prstGeom>
          <a:solidFill>
            <a:srgbClr val="30313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82" name="Image 2" descr="preencoded.png"/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1349640" y="4614840"/>
            <a:ext cx="323280" cy="323280"/>
          </a:xfrm>
          <a:prstGeom prst="rect">
            <a:avLst/>
          </a:prstGeom>
          <a:ln w="0">
            <a:noFill/>
          </a:ln>
        </p:spPr>
      </p:pic>
      <p:sp>
        <p:nvSpPr>
          <p:cNvPr id="183" name="Text 8"/>
          <p:cNvSpPr/>
          <p:nvPr/>
        </p:nvSpPr>
        <p:spPr>
          <a:xfrm>
            <a:off x="2051280" y="4486680"/>
            <a:ext cx="4917240" cy="306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2401"/>
              </a:lnSpc>
              <a:tabLst>
                <a:tab algn="l" pos="0"/>
              </a:tabLst>
            </a:pPr>
            <a:r>
              <a:rPr b="1" lang="en-US" sz="1900" spc="-1" strike="noStrike">
                <a:solidFill>
                  <a:srgbClr val="e2e6e9"/>
                </a:solidFill>
                <a:latin typeface="Montserrat Bold"/>
                <a:ea typeface="Montserrat Bold"/>
              </a:rPr>
              <a:t>Təkrarlanan Yanaşmadan İstifadə Edin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" name="Text 9"/>
          <p:cNvSpPr/>
          <p:nvPr/>
        </p:nvSpPr>
        <p:spPr>
          <a:xfrm>
            <a:off x="2051280" y="4923000"/>
            <a:ext cx="622800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ts val="2551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Sorğu → Nəticəni Qiymətləndir → Düzəliş et → Dəqiqləşdir</a:t>
            </a:r>
            <a:r>
              <a:rPr b="0" lang="en-US" sz="17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 dövrü ilə hər addımda keyfiyyəti artırın.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" name="Shape 10"/>
          <p:cNvSpPr/>
          <p:nvPr/>
        </p:nvSpPr>
        <p:spPr>
          <a:xfrm>
            <a:off x="1727640" y="6326640"/>
            <a:ext cx="215280" cy="1191240"/>
          </a:xfrm>
          <a:prstGeom prst="roundRect">
            <a:avLst>
              <a:gd name="adj" fmla="val 15008"/>
            </a:avLst>
          </a:prstGeom>
          <a:solidFill>
            <a:srgbClr val="30313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6" name="Shape 11"/>
          <p:cNvSpPr/>
          <p:nvPr/>
        </p:nvSpPr>
        <p:spPr>
          <a:xfrm>
            <a:off x="1511640" y="6184800"/>
            <a:ext cx="646920" cy="646920"/>
          </a:xfrm>
          <a:prstGeom prst="roundRect">
            <a:avLst>
              <a:gd name="adj" fmla="val 70575"/>
            </a:avLst>
          </a:prstGeom>
          <a:solidFill>
            <a:srgbClr val="30313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87" name="Image 3" descr="preencoded.png"/>
          <p:cNvPicPr/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/>
        </p:blipFill>
        <p:spPr>
          <a:xfrm>
            <a:off x="1673640" y="6346800"/>
            <a:ext cx="323280" cy="323280"/>
          </a:xfrm>
          <a:prstGeom prst="rect">
            <a:avLst/>
          </a:prstGeom>
          <a:ln w="0">
            <a:noFill/>
          </a:ln>
        </p:spPr>
      </p:pic>
      <p:sp>
        <p:nvSpPr>
          <p:cNvPr id="188" name="Text 12"/>
          <p:cNvSpPr/>
          <p:nvPr/>
        </p:nvSpPr>
        <p:spPr>
          <a:xfrm>
            <a:off x="2375280" y="6218640"/>
            <a:ext cx="3369600" cy="306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2401"/>
              </a:lnSpc>
              <a:tabLst>
                <a:tab algn="l" pos="0"/>
              </a:tabLst>
            </a:pPr>
            <a:r>
              <a:rPr b="1" lang="en-US" sz="1900" spc="-1" strike="noStrike">
                <a:solidFill>
                  <a:srgbClr val="e2e6e9"/>
                </a:solidFill>
                <a:latin typeface="Montserrat Bold"/>
                <a:ea typeface="Montserrat Bold"/>
              </a:rPr>
              <a:t>Ekspert Rəyi ilə Birləşdirin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" name="Text 13"/>
          <p:cNvSpPr/>
          <p:nvPr/>
        </p:nvSpPr>
        <p:spPr>
          <a:xfrm>
            <a:off x="2375280" y="6654600"/>
            <a:ext cx="590436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ts val="2551"/>
              </a:lnSpc>
              <a:tabLst>
                <a:tab algn="l" pos="0"/>
              </a:tabLst>
            </a:pPr>
            <a:r>
              <a:rPr b="0" lang="en-US" sz="1700" spc="-1" strike="noStrike">
                <a:solidFill>
                  <a:srgbClr val="e2e6e9"/>
                </a:solidFill>
                <a:latin typeface="Source Sans 3"/>
                <a:ea typeface="Source Sans 3"/>
              </a:rPr>
              <a:t>GenAI çıxışlarını sahə mütəxəssislərinin, sektoral ekspertlərin və təcrübəli menecer dəyərləndirməsi ilə gücləndin.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Text 0"/>
          <p:cNvSpPr/>
          <p:nvPr/>
        </p:nvSpPr>
        <p:spPr>
          <a:xfrm>
            <a:off x="807120" y="655560"/>
            <a:ext cx="4584960" cy="572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4501"/>
              </a:lnSpc>
              <a:tabLst>
                <a:tab algn="l" pos="0"/>
              </a:tabLst>
            </a:pPr>
            <a:r>
              <a:rPr b="1" lang="en-US" sz="3600" spc="-1" strike="noStrike">
                <a:solidFill>
                  <a:srgbClr val="ffffff"/>
                </a:solidFill>
                <a:latin typeface="Montserrat Bold"/>
                <a:ea typeface="Montserrat Bold"/>
              </a:rPr>
              <a:t>Praktik Tapşırıq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" name="Shape 1"/>
          <p:cNvSpPr/>
          <p:nvPr/>
        </p:nvSpPr>
        <p:spPr>
          <a:xfrm>
            <a:off x="807120" y="1605960"/>
            <a:ext cx="13015800" cy="1101600"/>
          </a:xfrm>
          <a:prstGeom prst="roundRect">
            <a:avLst>
              <a:gd name="adj" fmla="val 2746"/>
            </a:avLst>
          </a:prstGeom>
          <a:solidFill>
            <a:srgbClr val="26262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92" name="Image 0" descr="preencoded.png"/>
          <p:cNvPicPr/>
          <p:nvPr/>
        </p:nvPicPr>
        <p:blipFill>
          <a:blip r:embed="rId1"/>
          <a:stretch/>
        </p:blipFill>
        <p:spPr>
          <a:xfrm>
            <a:off x="1008720" y="1887120"/>
            <a:ext cx="251280" cy="200880"/>
          </a:xfrm>
          <a:prstGeom prst="rect">
            <a:avLst/>
          </a:prstGeom>
          <a:ln w="0">
            <a:noFill/>
          </a:ln>
        </p:spPr>
      </p:pic>
      <p:sp>
        <p:nvSpPr>
          <p:cNvPr id="193" name="Text 2"/>
          <p:cNvSpPr/>
          <p:nvPr/>
        </p:nvSpPr>
        <p:spPr>
          <a:xfrm>
            <a:off x="1462680" y="1844640"/>
            <a:ext cx="1215828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ts val="2299"/>
              </a:lnSpc>
              <a:tabLst>
                <a:tab algn="l" pos="0"/>
              </a:tabLst>
            </a:pPr>
            <a:r>
              <a:rPr b="0" lang="en-US" sz="1550" spc="-1" strike="noStrike">
                <a:solidFill>
                  <a:srgbClr val="000000"/>
                </a:solidFill>
                <a:latin typeface="Source Sans 3"/>
                <a:ea typeface="Source Sans 3"/>
              </a:rPr>
              <a:t>🎯</a:t>
            </a:r>
            <a:r>
              <a:rPr b="0" lang="en-US" sz="1550" spc="-1" strike="noStrike">
                <a:solidFill>
                  <a:srgbClr val="ffffff"/>
                </a:solidFill>
                <a:latin typeface="Source Sans 3"/>
                <a:ea typeface="Source Sans 3"/>
              </a:rPr>
              <a:t> </a:t>
            </a:r>
            <a:r>
              <a:rPr b="1" lang="en-US" sz="1550" spc="-1" strike="noStrike">
                <a:solidFill>
                  <a:srgbClr val="ffffff"/>
                </a:solidFill>
                <a:latin typeface="Source Sans 3"/>
                <a:ea typeface="Source Sans 3"/>
              </a:rPr>
              <a:t>Tapşırıq:</a:t>
            </a:r>
            <a:r>
              <a:rPr b="0" lang="en-US" sz="1550" spc="-1" strike="noStrike">
                <a:solidFill>
                  <a:srgbClr val="ffffff"/>
                </a:solidFill>
                <a:latin typeface="Source Sans 3"/>
                <a:ea typeface="Source Sans 3"/>
              </a:rPr>
              <a:t> </a:t>
            </a:r>
            <a:r>
              <a:rPr b="0" i="1" lang="en-US" sz="1550" spc="-1" strike="noStrike">
                <a:solidFill>
                  <a:srgbClr val="ffffff"/>
                </a:solidFill>
                <a:latin typeface="Source Sans 3"/>
                <a:ea typeface="Source Sans 3"/>
              </a:rPr>
              <a:t>"Təşkilatınızın və ya layihənizin SWOT (</a:t>
            </a:r>
            <a:r>
              <a:rPr b="0" lang="en-US" sz="1550" spc="-1" strike="noStrike">
                <a:solidFill>
                  <a:srgbClr val="ffffff"/>
                </a:solidFill>
                <a:latin typeface="Source Sans 3"/>
                <a:ea typeface="Source Sans 3"/>
              </a:rPr>
              <a:t> analysis are strengths, weaknesses, opportunities, and threats</a:t>
            </a:r>
            <a:r>
              <a:rPr b="0" i="1" lang="en-US" sz="1550" spc="-1" strike="noStrike">
                <a:solidFill>
                  <a:srgbClr val="ffffff"/>
                </a:solidFill>
                <a:latin typeface="Source Sans 3"/>
                <a:ea typeface="Source Sans 3"/>
              </a:rPr>
              <a:t>) təhlilini yaratmaq üçün GenAI-a sorğu göndərin. Onu işə salın və nəticəni təhlil edin."</a:t>
            </a:r>
            <a:endParaRPr b="0" lang="en-US" sz="15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" name="Shape 3"/>
          <p:cNvSpPr/>
          <p:nvPr/>
        </p:nvSpPr>
        <p:spPr>
          <a:xfrm>
            <a:off x="807120" y="2919960"/>
            <a:ext cx="6413040" cy="604440"/>
          </a:xfrm>
          <a:prstGeom prst="roundRect">
            <a:avLst>
              <a:gd name="adj" fmla="val 480018"/>
            </a:avLst>
          </a:prstGeom>
          <a:solidFill>
            <a:srgbClr val="30313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5" name="Text 4"/>
          <p:cNvSpPr/>
          <p:nvPr/>
        </p:nvSpPr>
        <p:spPr>
          <a:xfrm>
            <a:off x="3862800" y="3033360"/>
            <a:ext cx="302040" cy="37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2350"/>
              </a:lnSpc>
              <a:tabLst>
                <a:tab algn="l" pos="0"/>
              </a:tabLst>
            </a:pPr>
            <a:r>
              <a:rPr b="1" lang="en-US" sz="2350" spc="-1" strike="noStrike">
                <a:solidFill>
                  <a:srgbClr val="e2e6e9"/>
                </a:solidFill>
                <a:latin typeface="Montserrat Bold"/>
                <a:ea typeface="Montserrat Bold"/>
              </a:rPr>
              <a:t>1</a:t>
            </a:r>
            <a:endParaRPr b="0" lang="en-US" sz="2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" name="Text 5"/>
          <p:cNvSpPr/>
          <p:nvPr/>
        </p:nvSpPr>
        <p:spPr>
          <a:xfrm>
            <a:off x="1008720" y="3713760"/>
            <a:ext cx="2292120" cy="28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2251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e2e6e9"/>
                </a:solidFill>
                <a:latin typeface="Montserrat Bold"/>
                <a:ea typeface="Montserrat Bold"/>
              </a:rPr>
              <a:t>Sorğu Hazırlayın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" name="Text 6"/>
          <p:cNvSpPr/>
          <p:nvPr/>
        </p:nvSpPr>
        <p:spPr>
          <a:xfrm>
            <a:off x="1008720" y="4113360"/>
            <a:ext cx="6009840" cy="58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ts val="2299"/>
              </a:lnSpc>
              <a:tabLst>
                <a:tab algn="l" pos="0"/>
              </a:tabLst>
            </a:pPr>
            <a:r>
              <a:rPr b="0" lang="en-US" sz="1550" spc="-1" strike="noStrike">
                <a:solidFill>
                  <a:srgbClr val="e2e6e9"/>
                </a:solidFill>
                <a:latin typeface="Source Sans 3"/>
                <a:ea typeface="Source Sans 3"/>
              </a:rPr>
              <a:t>Şirkətinizin sektoru, ölçüsü, coğrafiyası və hədəf ili daxil olmaqla dəqiq kontekst verin</a:t>
            </a:r>
            <a:endParaRPr b="0" lang="en-US" sz="15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8" name="Shape 7"/>
          <p:cNvSpPr/>
          <p:nvPr/>
        </p:nvSpPr>
        <p:spPr>
          <a:xfrm>
            <a:off x="7409520" y="2919960"/>
            <a:ext cx="6413400" cy="604440"/>
          </a:xfrm>
          <a:prstGeom prst="roundRect">
            <a:avLst>
              <a:gd name="adj" fmla="val 480018"/>
            </a:avLst>
          </a:prstGeom>
          <a:solidFill>
            <a:srgbClr val="30313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9" name="Text 8"/>
          <p:cNvSpPr/>
          <p:nvPr/>
        </p:nvSpPr>
        <p:spPr>
          <a:xfrm>
            <a:off x="10464840" y="3033360"/>
            <a:ext cx="302040" cy="37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2350"/>
              </a:lnSpc>
              <a:tabLst>
                <a:tab algn="l" pos="0"/>
              </a:tabLst>
            </a:pPr>
            <a:r>
              <a:rPr b="1" lang="en-US" sz="2350" spc="-1" strike="noStrike">
                <a:solidFill>
                  <a:srgbClr val="e2e6e9"/>
                </a:solidFill>
                <a:latin typeface="Montserrat Bold"/>
                <a:ea typeface="Montserrat Bold"/>
              </a:rPr>
              <a:t>2</a:t>
            </a:r>
            <a:endParaRPr b="0" lang="en-US" sz="2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" name="Text 9"/>
          <p:cNvSpPr/>
          <p:nvPr/>
        </p:nvSpPr>
        <p:spPr>
          <a:xfrm>
            <a:off x="7611120" y="3713760"/>
            <a:ext cx="2292120" cy="28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2251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e2e6e9"/>
                </a:solidFill>
                <a:latin typeface="Montserrat Bold"/>
                <a:ea typeface="Montserrat Bold"/>
              </a:rPr>
              <a:t>Nəticəni Çalıştırın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" name="Text 10"/>
          <p:cNvSpPr/>
          <p:nvPr/>
        </p:nvSpPr>
        <p:spPr>
          <a:xfrm>
            <a:off x="7611120" y="4113360"/>
            <a:ext cx="6009840" cy="58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ts val="2299"/>
              </a:lnSpc>
              <a:tabLst>
                <a:tab algn="l" pos="0"/>
              </a:tabLst>
            </a:pPr>
            <a:r>
              <a:rPr b="0" lang="en-US" sz="1550" spc="-1" strike="noStrike">
                <a:solidFill>
                  <a:srgbClr val="e2e6e9"/>
                </a:solidFill>
                <a:latin typeface="Source Sans 3"/>
                <a:ea typeface="Source Sans 3"/>
              </a:rPr>
              <a:t>ChatGPT, Claude və ya Gemini-dən birini seçərək sorğunuzu göndərin və cavabı oxuyun</a:t>
            </a:r>
            <a:endParaRPr b="0" lang="en-US" sz="15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" name="Shape 11"/>
          <p:cNvSpPr/>
          <p:nvPr/>
        </p:nvSpPr>
        <p:spPr>
          <a:xfrm>
            <a:off x="807120" y="5088960"/>
            <a:ext cx="6413040" cy="604440"/>
          </a:xfrm>
          <a:prstGeom prst="roundRect">
            <a:avLst>
              <a:gd name="adj" fmla="val 480018"/>
            </a:avLst>
          </a:prstGeom>
          <a:solidFill>
            <a:srgbClr val="30313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3" name="Text 12"/>
          <p:cNvSpPr/>
          <p:nvPr/>
        </p:nvSpPr>
        <p:spPr>
          <a:xfrm>
            <a:off x="3862800" y="5202360"/>
            <a:ext cx="302040" cy="37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2350"/>
              </a:lnSpc>
              <a:tabLst>
                <a:tab algn="l" pos="0"/>
              </a:tabLst>
            </a:pPr>
            <a:r>
              <a:rPr b="1" lang="en-US" sz="2350" spc="-1" strike="noStrike">
                <a:solidFill>
                  <a:srgbClr val="e2e6e9"/>
                </a:solidFill>
                <a:latin typeface="Montserrat Bold"/>
                <a:ea typeface="Montserrat Bold"/>
              </a:rPr>
              <a:t>3</a:t>
            </a:r>
            <a:endParaRPr b="0" lang="en-US" sz="2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" name="Text 13"/>
          <p:cNvSpPr/>
          <p:nvPr/>
        </p:nvSpPr>
        <p:spPr>
          <a:xfrm>
            <a:off x="1008720" y="5882760"/>
            <a:ext cx="2292120" cy="28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2251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e2e6e9"/>
                </a:solidFill>
                <a:latin typeface="Montserrat Bold"/>
                <a:ea typeface="Montserrat Bold"/>
              </a:rPr>
              <a:t>Kritik Analiz Edin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5" name="Text 14"/>
          <p:cNvSpPr/>
          <p:nvPr/>
        </p:nvSpPr>
        <p:spPr>
          <a:xfrm>
            <a:off x="1008720" y="6282360"/>
            <a:ext cx="6009840" cy="58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ts val="2299"/>
              </a:lnSpc>
              <a:tabLst>
                <a:tab algn="l" pos="0"/>
              </a:tabLst>
            </a:pPr>
            <a:r>
              <a:rPr b="0" lang="en-US" sz="1550" spc="-1" strike="noStrike">
                <a:solidFill>
                  <a:srgbClr val="e2e6e9"/>
                </a:solidFill>
                <a:latin typeface="Source Sans 3"/>
                <a:ea typeface="Source Sans 3"/>
              </a:rPr>
              <a:t>Hansı məqamlar realdır? Hansıları yüzeyseldir? Nə əlavə etməliyik? Qrupla müzakirə edin.</a:t>
            </a:r>
            <a:endParaRPr b="0" lang="en-US" sz="15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6" name="Shape 15"/>
          <p:cNvSpPr/>
          <p:nvPr/>
        </p:nvSpPr>
        <p:spPr>
          <a:xfrm>
            <a:off x="7409520" y="5088960"/>
            <a:ext cx="6413400" cy="604440"/>
          </a:xfrm>
          <a:prstGeom prst="roundRect">
            <a:avLst>
              <a:gd name="adj" fmla="val 480018"/>
            </a:avLst>
          </a:prstGeom>
          <a:solidFill>
            <a:srgbClr val="30313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7" name="Text 16"/>
          <p:cNvSpPr/>
          <p:nvPr/>
        </p:nvSpPr>
        <p:spPr>
          <a:xfrm>
            <a:off x="10464840" y="5202360"/>
            <a:ext cx="302040" cy="37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2350"/>
              </a:lnSpc>
              <a:tabLst>
                <a:tab algn="l" pos="0"/>
              </a:tabLst>
            </a:pPr>
            <a:r>
              <a:rPr b="1" lang="en-US" sz="2350" spc="-1" strike="noStrike">
                <a:solidFill>
                  <a:srgbClr val="e2e6e9"/>
                </a:solidFill>
                <a:latin typeface="Montserrat Bold"/>
                <a:ea typeface="Montserrat Bold"/>
              </a:rPr>
              <a:t>4</a:t>
            </a:r>
            <a:endParaRPr b="0" lang="en-US" sz="2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8" name="Text 17"/>
          <p:cNvSpPr/>
          <p:nvPr/>
        </p:nvSpPr>
        <p:spPr>
          <a:xfrm>
            <a:off x="7611120" y="5882760"/>
            <a:ext cx="2292120" cy="28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2251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e2e6e9"/>
                </a:solidFill>
                <a:latin typeface="Montserrat Bold"/>
                <a:ea typeface="Montserrat Bold"/>
              </a:rPr>
              <a:t>Təkmilləşdirin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" name="Text 18"/>
          <p:cNvSpPr/>
          <p:nvPr/>
        </p:nvSpPr>
        <p:spPr>
          <a:xfrm>
            <a:off x="7611120" y="6282360"/>
            <a:ext cx="6009840" cy="58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ts val="2299"/>
              </a:lnSpc>
              <a:tabLst>
                <a:tab algn="l" pos="0"/>
              </a:tabLst>
            </a:pPr>
            <a:r>
              <a:rPr b="0" lang="en-US" sz="1550" spc="-1" strike="noStrike">
                <a:solidFill>
                  <a:srgbClr val="e2e6e9"/>
                </a:solidFill>
                <a:latin typeface="Source Sans 3"/>
                <a:ea typeface="Source Sans 3"/>
              </a:rPr>
              <a:t>Yenidən sorğu göndərərək daha dərin nəticə alın — iterasiya prosesini yaşayın</a:t>
            </a:r>
            <a:endParaRPr b="0" lang="en-US" sz="15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0" name="Text 19"/>
          <p:cNvSpPr/>
          <p:nvPr/>
        </p:nvSpPr>
        <p:spPr>
          <a:xfrm>
            <a:off x="807120" y="7281360"/>
            <a:ext cx="1301580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2299"/>
              </a:lnSpc>
              <a:tabLst>
                <a:tab algn="l" pos="0"/>
              </a:tabLst>
            </a:pPr>
            <a:r>
              <a:rPr b="0" lang="en-US" sz="1550" spc="-1" strike="noStrike">
                <a:solidFill>
                  <a:srgbClr val="e2e6e9"/>
                </a:solidFill>
                <a:latin typeface="Source Sans 3"/>
                <a:ea typeface="Source Sans 3"/>
              </a:rPr>
              <a:t>Bu tapşırıq GenAI-ın strateji planlaşdırmadakı real potensialını və məhdudiyyətlərini </a:t>
            </a:r>
            <a:r>
              <a:rPr b="1" lang="en-US" sz="1550" spc="-1" strike="noStrike">
                <a:solidFill>
                  <a:srgbClr val="e2e6e9"/>
                </a:solidFill>
                <a:latin typeface="Source Sans 3"/>
                <a:ea typeface="Source Sans 3"/>
              </a:rPr>
              <a:t>əyani şəkildə</a:t>
            </a:r>
            <a:r>
              <a:rPr b="0" lang="en-US" sz="1550" spc="-1" strike="noStrike">
                <a:solidFill>
                  <a:srgbClr val="e2e6e9"/>
                </a:solidFill>
                <a:latin typeface="Source Sans 3"/>
                <a:ea typeface="Source Sans 3"/>
              </a:rPr>
              <a:t> hiss etməyə imkan verir.</a:t>
            </a:r>
            <a:endParaRPr b="0" lang="en-US" sz="15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"/>
          <p:cNvSpPr/>
          <p:nvPr/>
        </p:nvSpPr>
        <p:spPr>
          <a:xfrm>
            <a:off x="5029200" y="84600"/>
            <a:ext cx="3150720" cy="600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en-US" sz="2950" spc="-1" strike="noStrike">
                <a:solidFill>
                  <a:srgbClr val="ffffff"/>
                </a:solidFill>
                <a:latin typeface="Montserrat Bold"/>
                <a:ea typeface="Montserrat Bold"/>
              </a:rPr>
              <a:t>Test Tapşırığı L7</a:t>
            </a:r>
            <a:endParaRPr b="0" lang="en-US" sz="295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12" name="" descr=""/>
          <p:cNvPicPr/>
          <p:nvPr/>
        </p:nvPicPr>
        <p:blipFill>
          <a:blip r:embed="rId1"/>
          <a:stretch/>
        </p:blipFill>
        <p:spPr>
          <a:xfrm>
            <a:off x="2971800" y="685800"/>
            <a:ext cx="7315200" cy="73152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3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</TotalTime>
  <Application>LibreOffice/24.2.7.2$Linux_X86_64 LibreOffice_project/420$Build-2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2026-03-27T06:10:29Z</dcterms:created>
  <dc:creator/>
  <dc:description/>
  <dc:language>en-US</dc:language>
  <cp:lastModifiedBy/>
  <dcterms:modified xsi:type="dcterms:W3CDTF">2026-03-27T19:21:00Z</dcterms:modified>
  <cp:revision>3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11</vt:i4>
  </property>
  <property fmtid="{D5CDD505-2E9C-101B-9397-08002B2CF9AE}" pid="3" name="PresentationFormat">
    <vt:lpwstr>On-screen Show (16:9)</vt:lpwstr>
  </property>
  <property fmtid="{D5CDD505-2E9C-101B-9397-08002B2CF9AE}" pid="4" name="Slides">
    <vt:i4>11</vt:i4>
  </property>
</Properties>
</file>