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4630400" cy="8229600"/>
  <p:notesSz cx="8229600" cy="14630400"/>
  <p:embeddedFontLst>
    <p:embeddedFont>
      <p:font typeface="Montserrat"/>
      <p:regular r:id="rId18"/>
    </p:embeddedFont>
    <p:embeddedFont>
      <p:font typeface="Montserrat"/>
      <p:regular r:id="rId19"/>
    </p:embeddedFont>
    <p:embeddedFont>
      <p:font typeface="Montserrat"/>
      <p:regular r:id="rId20"/>
    </p:embeddedFont>
    <p:embeddedFont>
      <p:font typeface="Montserrat"/>
      <p:regular r:id="rId21"/>
    </p:embeddedFont>
    <p:embeddedFont>
      <p:font typeface="Source Sans 3"/>
      <p:regular r:id="rId22"/>
    </p:embeddedFont>
    <p:embeddedFont>
      <p:font typeface="Source Sans 3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547223"/>
            <a:ext cx="7416403" cy="1840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Süni İntellekt Layihələrinin Qiymətləndirilməsi və Gələcək Trendlər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3798" y="4711660"/>
            <a:ext cx="74164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Müəllim: [Müəllimin Adı] · SI Layihələri və Strateji İnkişaf Kursu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63798" y="5286137"/>
            <a:ext cx="1018223" cy="388620"/>
          </a:xfrm>
          <a:prstGeom prst="roundRect">
            <a:avLst>
              <a:gd name="adj" fmla="val 6669"/>
            </a:avLst>
          </a:prstGeom>
          <a:solidFill>
            <a:srgbClr val="262626"/>
          </a:solidFill>
          <a:ln/>
        </p:spPr>
      </p:sp>
      <p:sp>
        <p:nvSpPr>
          <p:cNvPr id="6" name="Text 3"/>
          <p:cNvSpPr/>
          <p:nvPr/>
        </p:nvSpPr>
        <p:spPr>
          <a:xfrm>
            <a:off x="993338" y="5350907"/>
            <a:ext cx="759143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SON DƏRS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1989892" y="5278517"/>
            <a:ext cx="1456134" cy="403860"/>
          </a:xfrm>
          <a:prstGeom prst="roundRect">
            <a:avLst>
              <a:gd name="adj" fmla="val 6417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27052" y="5350907"/>
            <a:ext cx="1181814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STRATEGIYASI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2830" y="822484"/>
            <a:ext cx="5808345" cy="52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 Gün Nəyi Öyrənəcəyik?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732830" y="1576149"/>
            <a:ext cx="7678341" cy="507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 son dərsimizdə SI layihələrinin nəticələrini necə ölçdüyümüzü sistemli şəkildə nəzərdən keçirəcək, gələcək inkişaf istiqamətlərini araşdıracaq və kursu bütövlükdə yekunlaşdıracağıq.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2830" y="2258854"/>
            <a:ext cx="183118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2830" y="2547223"/>
            <a:ext cx="7678341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4"/>
          <p:cNvSpPr/>
          <p:nvPr/>
        </p:nvSpPr>
        <p:spPr>
          <a:xfrm>
            <a:off x="732830" y="2684502"/>
            <a:ext cx="288738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Qiymətləndirmə Metodları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2830" y="3037999"/>
            <a:ext cx="7678341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layihələrinin effektivliyini ölçmək üçün KPI və metriklər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2830" y="3584734"/>
            <a:ext cx="183118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2830" y="3873103"/>
            <a:ext cx="7678341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732830" y="4010382"/>
            <a:ext cx="3450669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Qlobal Trendlər və Əmək Bazarı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2830" y="4363879"/>
            <a:ext cx="7678341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Generativ SI, avtonom sistemlər və yeni peşələr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2830" y="4910614"/>
            <a:ext cx="183118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2830" y="5198983"/>
            <a:ext cx="7678341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/>
          <p:nvPr/>
        </p:nvSpPr>
        <p:spPr>
          <a:xfrm>
            <a:off x="732830" y="5336262"/>
            <a:ext cx="2218373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Etik və Strateji Baxış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32830" y="5689759"/>
            <a:ext cx="7678341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Məsuliyyət, şəffaflıq və uzunmüddətli inteqrasiya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32830" y="6236494"/>
            <a:ext cx="183118" cy="228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32830" y="6524863"/>
            <a:ext cx="7678341" cy="228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/>
          <p:nvPr/>
        </p:nvSpPr>
        <p:spPr>
          <a:xfrm>
            <a:off x="732830" y="6662142"/>
            <a:ext cx="2082165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Kursun Yekunu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32830" y="7015639"/>
            <a:ext cx="7678341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tapşırıq və refleksiya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064782"/>
            <a:ext cx="9002316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 Layihələrinin Qiymətləndirilməsi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3110151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Bir SI layihəsinin uğurlu sayılması üçün onun texniki keyfiyyəti ilə yanaşı, real biznes dəyəri yaratması da vacibdir. Qiymətləndirmə üç əsas ölçüdə aparılır.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4000976"/>
            <a:ext cx="4156948" cy="2163842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1079659" y="421683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⚡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Effektivlik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9659" y="4653082"/>
            <a:ext cx="3725228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Sistem istifadəçi ehtiyaclarını doğru şəkildə ödəyirmi? Tapşırıqların avtomatlaşdırılma dərəcəsi və sistemin etibarlılığı qiymətləndirilir.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36607" y="4000976"/>
            <a:ext cx="4157067" cy="2163842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5452467" y="4216837"/>
            <a:ext cx="3596997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💰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ROI (İnvestisiyadan Gəlir)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52467" y="4653082"/>
            <a:ext cx="3725347" cy="971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Layihəyə yatırılan xərclərə qarşı əldə edilən maliyyə qazancı. ROI = (Qazanc − Xərc) / Xərc × 100%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09534" y="4000976"/>
            <a:ext cx="4157067" cy="2163842"/>
          </a:xfrm>
          <a:prstGeom prst="roundRect">
            <a:avLst>
              <a:gd name="adj" fmla="val 1497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9825395" y="4216837"/>
            <a:ext cx="2926913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📈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Məhsuldarlıq Artımı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25395" y="4653082"/>
            <a:ext cx="3725347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İşçilərin və proseslərin SI tətbiqindən sonrakı çıxış gücündəki artım. Vaxt qənaəti və keyfiyyət yaxşılaşması əsas göstəricidir.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55458"/>
            <a:ext cx="5565458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KPI və Ölçü Metriklərı</a:t>
            </a:r>
            <a:endParaRPr lang="en-US" sz="3850" dirty="0"/>
          </a:p>
        </p:txBody>
      </p:sp>
      <p:sp>
        <p:nvSpPr>
          <p:cNvPr id="3" name="Shape 1"/>
          <p:cNvSpPr/>
          <p:nvPr/>
        </p:nvSpPr>
        <p:spPr>
          <a:xfrm>
            <a:off x="708184" y="2692837"/>
            <a:ext cx="6499146" cy="3781187"/>
          </a:xfrm>
          <a:prstGeom prst="roundRect">
            <a:avLst>
              <a:gd name="adj" fmla="val 857"/>
            </a:avLst>
          </a:prstGeom>
          <a:solidFill>
            <a:srgbClr val="1D1F22"/>
          </a:solidFill>
          <a:ln/>
        </p:spPr>
      </p:sp>
      <p:sp>
        <p:nvSpPr>
          <p:cNvPr id="4" name="Text 2"/>
          <p:cNvSpPr/>
          <p:nvPr/>
        </p:nvSpPr>
        <p:spPr>
          <a:xfrm>
            <a:off x="924044" y="290869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Texniki Metriklər</a:t>
            </a:r>
            <a:endParaRPr lang="en-US" sz="1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007" y="3465016"/>
            <a:ext cx="323850" cy="3238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5798" y="3458289"/>
            <a:ext cx="2506266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Dəqiqlik (Accuracy)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625798" y="3980855"/>
            <a:ext cx="536567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Modelin düzgün proqnozlar verməsinin faizi. Klassifikasiya modelləri üçün əsas göstərici.</a:t>
            </a:r>
            <a:endParaRPr lang="en-US" sz="17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007" y="5067360"/>
            <a:ext cx="323850" cy="3238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25798" y="5060633"/>
            <a:ext cx="282059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Səhv Faizi (Error Rate)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625798" y="5583198"/>
            <a:ext cx="536567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Yanlış nəticələrin ümumi nəticələrə nisbəti. Aşağı olduqca model daha etibarlıdır.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586305" y="2908697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Biznes Metriklərı</a:t>
            </a:r>
            <a:endParaRPr lang="en-US" sz="1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67268" y="3465016"/>
            <a:ext cx="323850" cy="3238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88060" y="3458289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Vaxt Qənaəti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8288060" y="3980855"/>
            <a:ext cx="5486162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Avtomatlaşdırılmış proseslərdə işçi saatlarının azalması. Orta hesabla 20–40% qənaət mümkündür.</a:t>
            </a:r>
            <a:endParaRPr lang="en-US" sz="17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7268" y="5067360"/>
            <a:ext cx="323850" cy="3238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88060" y="5060633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Xərc Azalması</a:t>
            </a:r>
            <a:endParaRPr lang="en-US" sz="1900" dirty="0"/>
          </a:p>
        </p:txBody>
      </p:sp>
      <p:sp>
        <p:nvSpPr>
          <p:cNvPr id="17" name="Text 11"/>
          <p:cNvSpPr/>
          <p:nvPr/>
        </p:nvSpPr>
        <p:spPr>
          <a:xfrm>
            <a:off x="8288060" y="5583198"/>
            <a:ext cx="5486162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Əməliyyat xərclərinin SI tətbiqindən sonra azalması. Həm insan resurslarında, həm də infrastrukturda qənaət.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892016"/>
            <a:ext cx="7416403" cy="12270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Texniki vs Biznes Göstəriciləri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50198" y="2442924"/>
            <a:ext cx="74164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Ən böyük çətinliklərdən biri texniki mükəmməlliyin həmişə biznes uğuruna çevrilməməsidir. Bu iki ölçü arasındakı fərqi anlamaq kritik əhəmiyyət daşıyır.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350198" y="3333750"/>
            <a:ext cx="7416403" cy="4003715"/>
          </a:xfrm>
          <a:prstGeom prst="roundRect">
            <a:avLst>
              <a:gd name="adj" fmla="val 809"/>
            </a:avLst>
          </a:prstGeom>
          <a:solidFill>
            <a:srgbClr val="303132"/>
          </a:solidFill>
          <a:ln/>
        </p:spPr>
      </p:sp>
      <p:sp>
        <p:nvSpPr>
          <p:cNvPr id="6" name="Shape 3"/>
          <p:cNvSpPr/>
          <p:nvPr/>
        </p:nvSpPr>
        <p:spPr>
          <a:xfrm>
            <a:off x="6350198" y="3333750"/>
            <a:ext cx="3708202" cy="2487811"/>
          </a:xfrm>
          <a:prstGeom prst="roundRect">
            <a:avLst>
              <a:gd name="adj" fmla="val 1302"/>
            </a:avLst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6566059" y="354961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Model Performansı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566059" y="3985855"/>
            <a:ext cx="3276481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Precision, Recall, F1-Score, AUC-ROC kimi texniki göstəricilər modelin statistik keyfiyyətini ölçür. Lakin bu rəqəmlər tək başına kifayət deyil.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10058400" y="3333750"/>
            <a:ext cx="3708202" cy="2487811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0" name="Shape 7"/>
          <p:cNvSpPr/>
          <p:nvPr/>
        </p:nvSpPr>
        <p:spPr>
          <a:xfrm>
            <a:off x="10058400" y="3333750"/>
            <a:ext cx="30480" cy="2487811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/>
        </p:spPr>
      </p:sp>
      <p:sp>
        <p:nvSpPr>
          <p:cNvPr id="11" name="Text 8"/>
          <p:cNvSpPr/>
          <p:nvPr/>
        </p:nvSpPr>
        <p:spPr>
          <a:xfrm>
            <a:off x="10274260" y="3549610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Biznes Nəticəsi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0274260" y="3985855"/>
            <a:ext cx="3276481" cy="1619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Müştəri məmnuniyyəti, satış artımı, risklərin azalması kimi göstəricilər SI-nin real təsirini əks etdirir. Biznes KPI-lar texniki metriklərdən üstündür.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350198" y="5821561"/>
            <a:ext cx="7416403" cy="1515904"/>
          </a:xfrm>
          <a:prstGeom prst="rect">
            <a:avLst/>
          </a:prstGeom>
          <a:solidFill>
            <a:srgbClr val="303132"/>
          </a:solidFill>
          <a:ln/>
        </p:spPr>
      </p:sp>
      <p:sp>
        <p:nvSpPr>
          <p:cNvPr id="14" name="Shape 11"/>
          <p:cNvSpPr/>
          <p:nvPr/>
        </p:nvSpPr>
        <p:spPr>
          <a:xfrm>
            <a:off x="6350198" y="5821561"/>
            <a:ext cx="7416403" cy="30480"/>
          </a:xfrm>
          <a:prstGeom prst="roundRect">
            <a:avLst>
              <a:gd name="adj" fmla="val 106288"/>
            </a:avLst>
          </a:prstGeom>
          <a:solidFill>
            <a:srgbClr val="494A4B"/>
          </a:solidFill>
          <a:ln/>
        </p:spPr>
      </p:sp>
      <p:sp>
        <p:nvSpPr>
          <p:cNvPr id="15" name="Text 12"/>
          <p:cNvSpPr/>
          <p:nvPr/>
        </p:nvSpPr>
        <p:spPr>
          <a:xfrm>
            <a:off x="6566059" y="6037421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Tarazlıq Nöqtəsi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6566059" y="6473666"/>
            <a:ext cx="6984682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Uğurlu SI layihəsi həm texniki standartları, həm də strateji iş məqsədlərini eyni zamanda ödəyir. İkisini əlaqələndirmək komandanın vəzifəsidir.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826" y="747117"/>
            <a:ext cx="4224099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Qlobal SI Trendləri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229826" y="1515070"/>
            <a:ext cx="7657148" cy="5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Süni İntellekt sənayesi sürətlə inkişaf edir. Bu trendləri izləmək həm texnoloji, həm də strateji üstünlük yaradır.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29826" y="2213610"/>
            <a:ext cx="464582" cy="46458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229826" y="2878098"/>
            <a:ext cx="211205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Generativ SI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6229826" y="3238024"/>
            <a:ext cx="7657148" cy="5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GPT, Gemini, Claude kimi böyük dil modelləri mətn, şəkil, kod və video yaradır. Kreativ sənaye, proqramlaşdırma və təhsildə inqilab edir.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9826" y="4076462"/>
            <a:ext cx="464582" cy="46458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29826" y="4740950"/>
            <a:ext cx="2116931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Avtonom Sistemlər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6229826" y="5100876"/>
            <a:ext cx="7657148" cy="5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Özünü idarə edən avtomobillər, dronlar və sənaye robotları real dünyada qərarlar qəbul edir. 2030-a qədər bazarın 500 mlrd dolları keçməsi gözlənilir.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29826" y="5939314"/>
            <a:ext cx="464582" cy="4645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29826" y="6603802"/>
            <a:ext cx="2112050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Etik Tənzimləmə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6229826" y="6963728"/>
            <a:ext cx="7657148" cy="51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AB-nin AI Act qanunu, ABŞ-ın icra sərəncamları və ISO standartları SI-nin cavabdehlik çərçivəsini formalaşdırır. Tənzimləmə qaçılmazdır.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30216" y="466130"/>
            <a:ext cx="3541157" cy="442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 və Əmək Bazarı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0216" y="1203722"/>
            <a:ext cx="5394841" cy="53948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30216" y="6725007"/>
            <a:ext cx="2734270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Bacarıqların Transformasiyası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730216" y="7058620"/>
            <a:ext cx="5394841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bir çox ənənəvi vəzifəni avtomatlaşdırır, lakin eyni zamanda tamamilə yeni iş sahələri yaradır. McKinsey hesablamalarına görə, 2030-a qədər 375 milyon işçi yeni bacarıqlara ehtiyac duyacaq.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512725" y="1189673"/>
            <a:ext cx="1770578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Yeni Peşələr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512725" y="1537335"/>
            <a:ext cx="2641163" cy="1093232"/>
          </a:xfrm>
          <a:prstGeom prst="roundRect">
            <a:avLst>
              <a:gd name="adj" fmla="val 10037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489865" y="1537335"/>
            <a:ext cx="91440" cy="1093232"/>
          </a:xfrm>
          <a:prstGeom prst="roundRect">
            <a:avLst>
              <a:gd name="adj" fmla="val 25560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/>
          <p:nvPr/>
        </p:nvSpPr>
        <p:spPr>
          <a:xfrm>
            <a:off x="7759898" y="1715929"/>
            <a:ext cx="1818203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 Etika Mütəxəssisi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59898" y="2049542"/>
            <a:ext cx="2215396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Alqoritmlərin ədalətliliyini və şəffaflığını təmin edir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266283" y="1537335"/>
            <a:ext cx="2641283" cy="1093232"/>
          </a:xfrm>
          <a:prstGeom prst="roundRect">
            <a:avLst>
              <a:gd name="adj" fmla="val 10037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43423" y="1537335"/>
            <a:ext cx="91440" cy="1093232"/>
          </a:xfrm>
          <a:prstGeom prst="roundRect">
            <a:avLst>
              <a:gd name="adj" fmla="val 25560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3457" y="1715929"/>
            <a:ext cx="1770578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Prompt Mühəndisi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10513457" y="2049542"/>
            <a:ext cx="2215515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Dil modellərindən maksimum nəticə əldə edir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512725" y="2742962"/>
            <a:ext cx="2641163" cy="1093232"/>
          </a:xfrm>
          <a:prstGeom prst="roundRect">
            <a:avLst>
              <a:gd name="adj" fmla="val 10037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89865" y="2742962"/>
            <a:ext cx="91440" cy="1093232"/>
          </a:xfrm>
          <a:prstGeom prst="roundRect">
            <a:avLst>
              <a:gd name="adj" fmla="val 25560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7759898" y="2921556"/>
            <a:ext cx="1801654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SI Məhsul Meneceri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759898" y="3255169"/>
            <a:ext cx="2215396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əsaslı məhsulların strategiyasını hazırlayır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0266283" y="2742962"/>
            <a:ext cx="2641283" cy="1093232"/>
          </a:xfrm>
          <a:prstGeom prst="roundRect">
            <a:avLst>
              <a:gd name="adj" fmla="val 10037"/>
            </a:avLst>
          </a:prstGeom>
          <a:solidFill>
            <a:srgbClr val="111213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243423" y="2742962"/>
            <a:ext cx="91440" cy="1093232"/>
          </a:xfrm>
          <a:prstGeom prst="roundRect">
            <a:avLst>
              <a:gd name="adj" fmla="val 25560"/>
            </a:avLst>
          </a:prstGeom>
          <a:solidFill>
            <a:srgbClr val="FFFFFF"/>
          </a:solidFill>
          <a:ln/>
        </p:spPr>
      </p:sp>
      <p:sp>
        <p:nvSpPr>
          <p:cNvPr id="21" name="Text 18"/>
          <p:cNvSpPr/>
          <p:nvPr/>
        </p:nvSpPr>
        <p:spPr>
          <a:xfrm>
            <a:off x="10513457" y="2921556"/>
            <a:ext cx="1770578" cy="221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MLOps Mühəndisi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0513457" y="3255169"/>
            <a:ext cx="2215515" cy="402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Maşın öyrənmə modellərinin istehsal mühitini idarə edir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18141"/>
            <a:ext cx="7345918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Etik və Hüquqi Perspektivlər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363510"/>
            <a:ext cx="1290280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sistemlərinin etik tətbiqi artıq bir seçim deyil, tənzimləyici bir tələbdir. Şirkətlər bu sahədə ciddi məsuliyyət daşıyır.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3254216"/>
            <a:ext cx="4156948" cy="2518291"/>
          </a:xfrm>
          <a:prstGeom prst="roundRect">
            <a:avLst>
              <a:gd name="adj" fmla="val 5810"/>
            </a:avLst>
          </a:prstGeom>
          <a:solidFill>
            <a:srgbClr val="111213"/>
          </a:solidFill>
          <a:ln/>
        </p:spPr>
      </p:sp>
      <p:sp>
        <p:nvSpPr>
          <p:cNvPr id="5" name="Shape 3"/>
          <p:cNvSpPr/>
          <p:nvPr/>
        </p:nvSpPr>
        <p:spPr>
          <a:xfrm>
            <a:off x="863798" y="3223736"/>
            <a:ext cx="4156948" cy="12192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2618363" y="2930366"/>
            <a:ext cx="647819" cy="647819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12673" y="3124676"/>
            <a:ext cx="259080" cy="259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0139" y="3794046"/>
            <a:ext cx="2935962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Məlumat Təhlükəsizliyi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110139" y="4230291"/>
            <a:ext cx="3664268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Fərdi məlumatların qorunması (GDPR, KVKK), şifrələmə standartları və məlumat minimizasiyası prinsipi. İstifadəçi razılığı məcburidir.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36607" y="3254216"/>
            <a:ext cx="4157067" cy="2518291"/>
          </a:xfrm>
          <a:prstGeom prst="roundRect">
            <a:avLst>
              <a:gd name="adj" fmla="val 5810"/>
            </a:avLst>
          </a:prstGeom>
          <a:solidFill>
            <a:srgbClr val="111213"/>
          </a:solidFill>
          <a:ln/>
        </p:spPr>
      </p:sp>
      <p:sp>
        <p:nvSpPr>
          <p:cNvPr id="11" name="Shape 8"/>
          <p:cNvSpPr/>
          <p:nvPr/>
        </p:nvSpPr>
        <p:spPr>
          <a:xfrm>
            <a:off x="5236607" y="3223736"/>
            <a:ext cx="4157067" cy="12192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6991171" y="2930366"/>
            <a:ext cx="647819" cy="647819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5481" y="3124676"/>
            <a:ext cx="259080" cy="2590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2947" y="379404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Məsuliyyət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5482947" y="4230291"/>
            <a:ext cx="3664387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 sisteminin verdiyi zərərli qərar üçün kim cavabdehdir? Şirkət, tərtibatçı, yoxsa istifadəçi? Hüquqi çərçivələr hələ formalaşır.</a:t>
            </a:r>
            <a:endParaRPr lang="en-US" sz="1700" dirty="0"/>
          </a:p>
        </p:txBody>
      </p:sp>
      <p:sp>
        <p:nvSpPr>
          <p:cNvPr id="16" name="Shape 12"/>
          <p:cNvSpPr/>
          <p:nvPr/>
        </p:nvSpPr>
        <p:spPr>
          <a:xfrm>
            <a:off x="9609534" y="3254216"/>
            <a:ext cx="4157067" cy="2518291"/>
          </a:xfrm>
          <a:prstGeom prst="roundRect">
            <a:avLst>
              <a:gd name="adj" fmla="val 5810"/>
            </a:avLst>
          </a:prstGeom>
          <a:solidFill>
            <a:srgbClr val="111213"/>
          </a:solidFill>
          <a:ln/>
        </p:spPr>
      </p:sp>
      <p:sp>
        <p:nvSpPr>
          <p:cNvPr id="17" name="Shape 13"/>
          <p:cNvSpPr/>
          <p:nvPr/>
        </p:nvSpPr>
        <p:spPr>
          <a:xfrm>
            <a:off x="9609534" y="3223736"/>
            <a:ext cx="4157067" cy="121920"/>
          </a:xfrm>
          <a:prstGeom prst="roundRect">
            <a:avLst>
              <a:gd name="adj" fmla="val 26572"/>
            </a:avLst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11364099" y="2930366"/>
            <a:ext cx="647819" cy="647819"/>
          </a:xfrm>
          <a:prstGeom prst="roundRect">
            <a:avLst>
              <a:gd name="adj" fmla="val 141151"/>
            </a:avLst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558409" y="3124676"/>
            <a:ext cx="259080" cy="2590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55875" y="3794046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Şəffaflıq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9855875" y="4230291"/>
            <a:ext cx="3664387" cy="1295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Explainable AI (XAI) metodları ilə modelin qərarlarını izah etmək. İstifadəçilər nə üçün belə nəticə çıxarıldığını anlamalıdır.</a:t>
            </a:r>
            <a:endParaRPr lang="en-US" sz="1700" dirty="0"/>
          </a:p>
        </p:txBody>
      </p:sp>
      <p:sp>
        <p:nvSpPr>
          <p:cNvPr id="22" name="Shape 17"/>
          <p:cNvSpPr/>
          <p:nvPr/>
        </p:nvSpPr>
        <p:spPr>
          <a:xfrm>
            <a:off x="863798" y="6015395"/>
            <a:ext cx="12902803" cy="895945"/>
          </a:xfrm>
          <a:prstGeom prst="roundRect">
            <a:avLst>
              <a:gd name="adj" fmla="val 3616"/>
            </a:avLst>
          </a:prstGeom>
          <a:solidFill>
            <a:srgbClr val="26262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659" y="6324838"/>
            <a:ext cx="269915" cy="2158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65434" y="6285190"/>
            <a:ext cx="11985308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⚖️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55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AB-nin AI Act (2024):</a:t>
            </a:r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Yüksək riskli SI sistemləri üçün məcburi şəffaflıq, insan nəzarəti və qeydiyyat tələbləri müəyyən edilmişdir.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7467" y="1191816"/>
            <a:ext cx="5930622" cy="488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Uzunmüddətli SI Strategiyası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87467" y="1885236"/>
            <a:ext cx="7769066" cy="4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SI-nin şirkətin strateji planına inteqrasiyası texnoloji bir qərar deyil, biznes liderliyi məsələsidir. Uğurlu inteqrasiya üçün dörd əsas addım var.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859393" y="2759750"/>
            <a:ext cx="171807" cy="773430"/>
          </a:xfrm>
          <a:prstGeom prst="roundRect">
            <a:avLst>
              <a:gd name="adj" fmla="val 15007"/>
            </a:avLst>
          </a:prstGeom>
          <a:solidFill>
            <a:srgbClr val="303132"/>
          </a:solidFill>
          <a:ln/>
        </p:spPr>
      </p:sp>
      <p:sp>
        <p:nvSpPr>
          <p:cNvPr id="6" name="Shape 3"/>
          <p:cNvSpPr/>
          <p:nvPr/>
        </p:nvSpPr>
        <p:spPr>
          <a:xfrm>
            <a:off x="687467" y="2646998"/>
            <a:ext cx="515660" cy="515660"/>
          </a:xfrm>
          <a:prstGeom prst="roundRect">
            <a:avLst>
              <a:gd name="adj" fmla="val 88663"/>
            </a:avLst>
          </a:prstGeom>
          <a:solidFill>
            <a:srgbClr val="30313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6412" y="2775942"/>
            <a:ext cx="257770" cy="2577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39929" y="2673787"/>
            <a:ext cx="1953220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Əsas Qoyma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339929" y="3000018"/>
            <a:ext cx="711660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Məlumat infrastrukturunu qurmaq, rəqəmsal yetkinliyi qiymətləndirmək və SI hazırlığını ölçmək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1117163" y="3927872"/>
            <a:ext cx="171807" cy="773430"/>
          </a:xfrm>
          <a:prstGeom prst="roundRect">
            <a:avLst>
              <a:gd name="adj" fmla="val 15007"/>
            </a:avLst>
          </a:prstGeom>
          <a:solidFill>
            <a:srgbClr val="303132"/>
          </a:solidFill>
          <a:ln/>
        </p:spPr>
      </p:sp>
      <p:sp>
        <p:nvSpPr>
          <p:cNvPr id="11" name="Shape 7"/>
          <p:cNvSpPr/>
          <p:nvPr/>
        </p:nvSpPr>
        <p:spPr>
          <a:xfrm>
            <a:off x="945237" y="3815120"/>
            <a:ext cx="515660" cy="515660"/>
          </a:xfrm>
          <a:prstGeom prst="roundRect">
            <a:avLst>
              <a:gd name="adj" fmla="val 88663"/>
            </a:avLst>
          </a:prstGeom>
          <a:solidFill>
            <a:srgbClr val="30313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182" y="3944064"/>
            <a:ext cx="257770" cy="25777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97700" y="3841909"/>
            <a:ext cx="1953220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Pilot Layihələr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597700" y="4168140"/>
            <a:ext cx="685883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Kiçik miqyaslı sınaqlar aparmaq, sürətli öyrənmək və uğurlu nəticələri geniş miqyasa daşımaq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1375053" y="5095994"/>
            <a:ext cx="171807" cy="773430"/>
          </a:xfrm>
          <a:prstGeom prst="roundRect">
            <a:avLst>
              <a:gd name="adj" fmla="val 15007"/>
            </a:avLst>
          </a:prstGeom>
          <a:solidFill>
            <a:srgbClr val="303132"/>
          </a:solidFill>
          <a:ln/>
        </p:spPr>
      </p:sp>
      <p:sp>
        <p:nvSpPr>
          <p:cNvPr id="16" name="Shape 11"/>
          <p:cNvSpPr/>
          <p:nvPr/>
        </p:nvSpPr>
        <p:spPr>
          <a:xfrm>
            <a:off x="1203127" y="4983242"/>
            <a:ext cx="515660" cy="515660"/>
          </a:xfrm>
          <a:prstGeom prst="roundRect">
            <a:avLst>
              <a:gd name="adj" fmla="val 88663"/>
            </a:avLst>
          </a:prstGeom>
          <a:solidFill>
            <a:srgbClr val="30313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32071" y="5112187"/>
            <a:ext cx="257770" cy="25777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55589" y="5010031"/>
            <a:ext cx="2266831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Miqyas Genişləndirmə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855589" y="5336262"/>
            <a:ext cx="660094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Uğurlu pilot layihələri şirkət miqyasında tətbiq etmək, dəyişim idarəetməsi aparmaq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1632823" y="6264116"/>
            <a:ext cx="171807" cy="773430"/>
          </a:xfrm>
          <a:prstGeom prst="roundRect">
            <a:avLst>
              <a:gd name="adj" fmla="val 15007"/>
            </a:avLst>
          </a:prstGeom>
          <a:solidFill>
            <a:srgbClr val="303132"/>
          </a:solidFill>
          <a:ln/>
        </p:spPr>
      </p:sp>
      <p:sp>
        <p:nvSpPr>
          <p:cNvPr id="21" name="Shape 15"/>
          <p:cNvSpPr/>
          <p:nvPr/>
        </p:nvSpPr>
        <p:spPr>
          <a:xfrm>
            <a:off x="1460897" y="6151364"/>
            <a:ext cx="515660" cy="515660"/>
          </a:xfrm>
          <a:prstGeom prst="roundRect">
            <a:avLst>
              <a:gd name="adj" fmla="val 88663"/>
            </a:avLst>
          </a:prstGeom>
          <a:solidFill>
            <a:srgbClr val="303132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89842" y="6280309"/>
            <a:ext cx="257770" cy="25777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2113359" y="6178153"/>
            <a:ext cx="2603302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Davamlı Optimallaşdırma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2113359" y="6504384"/>
            <a:ext cx="634317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Nəticələri izləmək, modeli yeniləmək və texnoloji trendlərə uyğunlaşmaq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996553"/>
            <a:ext cx="7417118" cy="613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8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Kursun Yekunu və Refleksiya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3798" y="2041922"/>
            <a:ext cx="12902803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Bu kurs boyunca SI-nin texniki əsaslarından praktik tətbiqinə, qiymətləndirməsindən etik məsuliyyətinə qədər geniş bir mənzərəni araşdırdıq. İndi birlikdə əsas nəticələrə baxaq.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3798" y="2932748"/>
            <a:ext cx="6343412" cy="1515904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/>
        </p:spPr>
      </p:sp>
      <p:sp>
        <p:nvSpPr>
          <p:cNvPr id="5" name="Text 3"/>
          <p:cNvSpPr/>
          <p:nvPr/>
        </p:nvSpPr>
        <p:spPr>
          <a:xfrm>
            <a:off x="1079659" y="3148608"/>
            <a:ext cx="2672001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🔬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Texniki Bacarıqlar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79659" y="3584853"/>
            <a:ext cx="591169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 qurmaq, məlumatları hazırlamaq, performansı ölçmək — bunlar SI mütəxəssisinin əsas alətkomplektidir.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3071" y="2932748"/>
            <a:ext cx="6343531" cy="1515904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/>
        </p:spPr>
      </p:sp>
      <p:sp>
        <p:nvSpPr>
          <p:cNvPr id="8" name="Text 6"/>
          <p:cNvSpPr/>
          <p:nvPr/>
        </p:nvSpPr>
        <p:spPr>
          <a:xfrm>
            <a:off x="7638931" y="3148608"/>
            <a:ext cx="2636758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📊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Biznes Düşüncəsi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638931" y="3584853"/>
            <a:ext cx="591181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Texniki həlləri biznes dəyərinə çevirmək — ROI hesablamaq, KPI müəyyən etmək, maraqlı tərəfləri inandırmaq.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63798" y="4664512"/>
            <a:ext cx="6343412" cy="1515904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/>
        </p:spPr>
      </p:sp>
      <p:sp>
        <p:nvSpPr>
          <p:cNvPr id="11" name="Text 9"/>
          <p:cNvSpPr/>
          <p:nvPr/>
        </p:nvSpPr>
        <p:spPr>
          <a:xfrm>
            <a:off x="1079659" y="4880372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🌍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Strateji Baxış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79659" y="5316617"/>
            <a:ext cx="5911691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Qlobal trendləri izləmək, əmək bazarındakı dəyişikliklərə hazırlaşmaq və etik çərçivəni anlamaq.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423071" y="4664512"/>
            <a:ext cx="6343531" cy="1515904"/>
          </a:xfrm>
          <a:prstGeom prst="roundRect">
            <a:avLst>
              <a:gd name="adj" fmla="val 34194"/>
            </a:avLst>
          </a:prstGeom>
          <a:solidFill>
            <a:srgbClr val="303132"/>
          </a:solidFill>
          <a:ln/>
        </p:spPr>
      </p:sp>
      <p:sp>
        <p:nvSpPr>
          <p:cNvPr id="14" name="Text 12"/>
          <p:cNvSpPr/>
          <p:nvPr/>
        </p:nvSpPr>
        <p:spPr>
          <a:xfrm>
            <a:off x="7638931" y="4880372"/>
            <a:ext cx="2454235" cy="3067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🤝</a:t>
            </a:r>
            <a:pPr algn="l"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Cavabdehlik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638931" y="5316617"/>
            <a:ext cx="5911810" cy="647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Şəffaf, ədalətli və insan mərkəzli SI sistemləri qurmaq — bu, texniki deyil, insani bir öhdəlikdir.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7648" y="6666190"/>
            <a:ext cx="12578953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«Süni İntellekt gələcəyi inşa etmir — bunu onu yaradan insanlar edir.»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63798" y="6423303"/>
            <a:ext cx="30480" cy="809744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5642" y="1258253"/>
            <a:ext cx="7945517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Final Tapşırığı: Kompleks SI Layihəsi Təqdimatı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6085642" y="2265402"/>
            <a:ext cx="7945517" cy="38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Kursun yekun qiymətləndirməsi olaraq hər tələbə (və ya komanda) real bir problemə tətbiq oluna bilən tam bir SI layihəsi hazırlayıb təqdim edəcək.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085642" y="2866311"/>
            <a:ext cx="3487817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Layihənin Tələb Olunan Komponentləri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85642" y="3195876"/>
            <a:ext cx="337066" cy="33706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7" name="Text 4"/>
          <p:cNvSpPr/>
          <p:nvPr/>
        </p:nvSpPr>
        <p:spPr>
          <a:xfrm>
            <a:off x="6152019" y="3236714"/>
            <a:ext cx="204192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26530" y="3247311"/>
            <a:ext cx="170235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Problem Tərifi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26530" y="3563898"/>
            <a:ext cx="3764637" cy="38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Həll ediləcək iş problemi və SI-nin bu problemə uyğunluğunun əsaslandırılması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085642" y="4151947"/>
            <a:ext cx="337066" cy="33706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1" name="Text 8"/>
          <p:cNvSpPr/>
          <p:nvPr/>
        </p:nvSpPr>
        <p:spPr>
          <a:xfrm>
            <a:off x="6152019" y="4192786"/>
            <a:ext cx="204192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26530" y="4203383"/>
            <a:ext cx="170235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Texniki Yanaşma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26530" y="4519970"/>
            <a:ext cx="3764637" cy="380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Seçilən model, məlumat strategiyası, qiymətləndirmə metrikaları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085642" y="5108019"/>
            <a:ext cx="337066" cy="33706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5" name="Text 12"/>
          <p:cNvSpPr/>
          <p:nvPr/>
        </p:nvSpPr>
        <p:spPr>
          <a:xfrm>
            <a:off x="6152019" y="5148858"/>
            <a:ext cx="204192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26530" y="5159454"/>
            <a:ext cx="170235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Biznes Təsiri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26530" y="5476042"/>
            <a:ext cx="3764637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ROI hesablaması, KPI-lar, risklərin idarə edilməsi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85642" y="5873948"/>
            <a:ext cx="337066" cy="337066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9" name="Text 16"/>
          <p:cNvSpPr/>
          <p:nvPr/>
        </p:nvSpPr>
        <p:spPr>
          <a:xfrm>
            <a:off x="6152019" y="5914787"/>
            <a:ext cx="204192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526530" y="5925383"/>
            <a:ext cx="170235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Etik Analiz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26530" y="6241971"/>
            <a:ext cx="3764637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Məlumat gizliliyi, ədalətlilik, şəffaflıq tədbirləri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10556438" y="2762488"/>
            <a:ext cx="3590092" cy="4208740"/>
          </a:xfrm>
          <a:prstGeom prst="roundRect">
            <a:avLst>
              <a:gd name="adj" fmla="val 626"/>
            </a:avLst>
          </a:prstGeom>
          <a:solidFill>
            <a:srgbClr val="1D1F22"/>
          </a:solidFill>
          <a:ln/>
        </p:spPr>
      </p:sp>
      <p:sp>
        <p:nvSpPr>
          <p:cNvPr id="23" name="Text 20"/>
          <p:cNvSpPr/>
          <p:nvPr/>
        </p:nvSpPr>
        <p:spPr>
          <a:xfrm>
            <a:off x="10706219" y="2866311"/>
            <a:ext cx="2335768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Qiymətləndirmə Meyarları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10706219" y="3195876"/>
            <a:ext cx="3290530" cy="836771"/>
          </a:xfrm>
          <a:prstGeom prst="roundRect">
            <a:avLst>
              <a:gd name="adj" fmla="val 2686"/>
            </a:avLst>
          </a:prstGeom>
          <a:solidFill>
            <a:srgbClr val="1D1F22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871240" y="3360896"/>
            <a:ext cx="170235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Texniki Dərinlik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10871240" y="3677483"/>
            <a:ext cx="2960489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 xal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10706219" y="4136469"/>
            <a:ext cx="3290530" cy="836771"/>
          </a:xfrm>
          <a:prstGeom prst="roundRect">
            <a:avLst>
              <a:gd name="adj" fmla="val 2686"/>
            </a:avLst>
          </a:prstGeom>
          <a:solidFill>
            <a:srgbClr val="1D1F22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871240" y="4301490"/>
            <a:ext cx="170235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Biznes Dəyəri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10871240" y="4618077"/>
            <a:ext cx="2960489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 xal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10706219" y="5077063"/>
            <a:ext cx="3290530" cy="836771"/>
          </a:xfrm>
          <a:prstGeom prst="roundRect">
            <a:avLst>
              <a:gd name="adj" fmla="val 2686"/>
            </a:avLst>
          </a:prstGeom>
          <a:solidFill>
            <a:srgbClr val="1D1F22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0871240" y="5242084"/>
            <a:ext cx="1702356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Etik Yanaşma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871240" y="5558671"/>
            <a:ext cx="2960489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20 xal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10706219" y="6017657"/>
            <a:ext cx="3290530" cy="836771"/>
          </a:xfrm>
          <a:prstGeom prst="roundRect">
            <a:avLst>
              <a:gd name="adj" fmla="val 2686"/>
            </a:avLst>
          </a:prstGeom>
          <a:solidFill>
            <a:srgbClr val="1D1F22"/>
          </a:solidFill>
          <a:ln w="15240">
            <a:solidFill>
              <a:srgbClr val="494A4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871240" y="6182677"/>
            <a:ext cx="2064901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2E6E9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Təqdimetmə Keyfiyyəti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10871240" y="6499265"/>
            <a:ext cx="2960489" cy="1901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2E6E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25 xal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2026-03-25T13:26:53Z</dcterms:created>
  <dcterms:modified xsi:type="dcterms:W3CDTF">2026-03-25T13:26:53Z</dcterms:modified>
</cp:coreProperties>
</file>