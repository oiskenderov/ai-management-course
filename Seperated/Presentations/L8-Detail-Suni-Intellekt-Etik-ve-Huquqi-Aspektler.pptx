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png" ContentType="image/png"/>
  <Override PartName="/ppt/media/image3.png" ContentType="image/png"/>
  <Override PartName="/ppt/media/image8.svg" ContentType="image/svg"/>
  <Override PartName="/ppt/media/image17.svg" ContentType="image/svg"/>
  <Override PartName="/ppt/media/image13.png" ContentType="image/png"/>
  <Override PartName="/ppt/media/image10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6.svg" ContentType="image/svg"/>
  <Override PartName="/ppt/media/image15.svg" ContentType="image/svg"/>
  <Override PartName="/ppt/media/image5.png" ContentType="image/png"/>
  <Override PartName="/ppt/media/image14.png" ContentType="image/png"/>
  <Override PartName="/ppt/media/image11.png" ContentType="image/png"/>
  <Override PartName="/ppt/media/image2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4.svg" ContentType="image/svg"/>
  <Override PartName="/ppt/media/image16.png" ContentType="image/png"/>
  <Override PartName="/ppt/media/image7.png" ContentType="image/png"/>
  <Override PartName="/ppt/media/image22.png" ContentType="image/png"/>
  <Override PartName="/ppt/media/image21.png" ContentType="image/png"/>
  <Override PartName="/ppt/media/image19.svg" ContentType="image/svg"/>
  <Override PartName="/ppt/media/image1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7E2026-5EDC-44D5-B076-3EC22B7D7D5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AA5E06-0606-4A83-BE7E-835A421B9DE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DF82A9-CFDD-49E9-81D4-6F4F09439FB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41CD4B-38C2-4DD3-B0A8-C0A67297C1C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308410-6249-4B30-8E85-49E370644EB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852366-AA45-4F15-9F72-BE244708663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E5980C-4B68-4C51-985C-E14D33074BF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BA7F9E-DE88-4D8F-97B8-E331151EC4A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73BC72-C0F7-42ED-9935-978006F5D07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0EDC50-FDD4-4678-B3B4-998D5DC973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D26434-3948-4DDF-8743-CADCF2A1D38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D210DC-C6EB-4C95-9D8D-C9CE22F942E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2368080"/>
            <a:ext cx="7415640" cy="12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Süni İntellekt: Etik və Hüquqi Aspektlər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3918960"/>
            <a:ext cx="7415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İntellekt texnologiyası həyatımızı kökündən dəyişdirir. Lakin bu güclü alət hansı etik məsuliyyətləri beraberinde gətirir? Bu dərsdə SI-nin insan hüquqları, sosial dəyərlər və hüquqi çərçivələrlə kəsişdiyi kritik nöqtələri birlikdə araşdıracağıq.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863640" y="5465160"/>
            <a:ext cx="964800" cy="38808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957240" y="5529960"/>
            <a:ext cx="8712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Müəllim: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1881720" y="5457600"/>
            <a:ext cx="1950120" cy="40320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1946880" y="5529960"/>
            <a:ext cx="16758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Orkhan Iskandarov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863640" y="1296000"/>
            <a:ext cx="64116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Bu Gün Nə Öyrənəcəyik?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863640" y="2341440"/>
            <a:ext cx="129020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dərsin sonunda siz SI-nin etik əsaslarını, hüquqi çərçivəsini və real dünyada qarşılaşılan problemləri dərindən anlaya biləcəksiniz.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63640" y="290808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863640" y="3244680"/>
            <a:ext cx="415620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863640" y="3413520"/>
            <a:ext cx="26607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SI Etikasının Əsasları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863640" y="3849840"/>
            <a:ext cx="41562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etikası nədir, niyə vacibdir və hansı dəyərlərə söykənir?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5236560" y="290808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5236560" y="3244680"/>
            <a:ext cx="415620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5236560" y="3413520"/>
            <a:ext cx="4156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Alqoritmik Qərəz və Məlumat Təhlükəsizliyi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5236560" y="4156560"/>
            <a:ext cx="41562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Yanlış qərarların kökündə nə dayanır, şəxsi məlumatlar necə qorunur?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9609480" y="290808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9609480" y="3244680"/>
            <a:ext cx="415620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9609480" y="3413520"/>
            <a:ext cx="25844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Hüquqi Tənzimləmə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9609480" y="3849840"/>
            <a:ext cx="41562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Milli və beynəlxalq səviyyədə SI üçün mövcud qanunlar və normalar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863640" y="518220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863640" y="5518800"/>
            <a:ext cx="634284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63640" y="5687640"/>
            <a:ext cx="29026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Korporativ Etik Siyasət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863640" y="6123600"/>
            <a:ext cx="63428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Şirkətlər daxilinde etik komitə, audit və risk idarəsi mexanizmləri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7531200" y="518220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7531200" y="5518800"/>
            <a:ext cx="634284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7567200" y="5687640"/>
            <a:ext cx="3873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Real Nümunələr və Diskussiya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7567200" y="6123600"/>
            <a:ext cx="6342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Praktiki hallar, etik problemlər və «SI-nin sərhədləri» mövzusunda fikir mübadiləsi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80" name="Text 0"/>
          <p:cNvSpPr/>
          <p:nvPr/>
        </p:nvSpPr>
        <p:spPr>
          <a:xfrm>
            <a:off x="863640" y="1276560"/>
            <a:ext cx="49078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SI Etikası Nədir?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863640" y="2214000"/>
            <a:ext cx="7415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etikası — süni intellekt sistemlərinin insan hüquqlarına, sosial dəyərlərə və ümumi rifaha uyğun şəkildə layihələndirilməsi, tətbiqi və idarə olunmasını öyrənən fəlsəfi-praktiki sahədir. Bu sahə yalnız texnologiya ilə deyil, onun insanlara, cəmiyyətə və gələcəyə təsiri ilə məşğul olur.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708120" y="3896640"/>
            <a:ext cx="3755160" cy="3199680"/>
          </a:xfrm>
          <a:prstGeom prst="roundRect">
            <a:avLst>
              <a:gd name="adj" fmla="val 1012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924120" y="3968640"/>
            <a:ext cx="2598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SI Etikasının Sualları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924120" y="4275000"/>
            <a:ext cx="3323520" cy="18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kimin maraqlarına xidmət edir?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Avtomatik qərarlar ədalətlidirmi?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Sistemin davranışı şəffafdırmı?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Zərər yarandıqda kim məsuldur?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4843080" y="393264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Niyə Vacibdir?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843080" y="4419000"/>
            <a:ext cx="34441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qərarları milyonların həyatına toxunur: kredit alıb-almamaq, iş müsahibəsindən keçmək, tibbi diaqnoz almaq. Etik olmayan SI ciddi sosial zərərlərə yol aça bilər. Bu səbəbdən etik düşüncə texniki bilikdən az əhəmiyyətli deyildir.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863640" y="659160"/>
            <a:ext cx="497736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Əsas Etik Prinsiplər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863640" y="170460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Qabaqcıl təşkilatlar — UNESCO, OECD, Avropa Komissiyası — etik SI üçün dörd fundamental prinsip müəyyənləşdirib. Bu prinsiplər SI sistemlərinin layihələndirilməsindən tutmuş idarə edilməsinə qədər hər mərhələdə tətbiq olunmalıdır.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863640" y="2595240"/>
            <a:ext cx="6342840" cy="2378880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1079640" y="2811240"/>
            <a:ext cx="646920" cy="64692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257840" y="298944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1079640" y="36748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Şəffaflıq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1079640" y="4111200"/>
            <a:ext cx="5910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sistemlərinin necə işlədiyini istifadəçilər anlamalı, qərarların səbəbləri izah edilə bilməlidir.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7423200" y="2595240"/>
            <a:ext cx="6342840" cy="2378880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7638840" y="2811240"/>
            <a:ext cx="646920" cy="64692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7040" y="298944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97" name="Text 8"/>
          <p:cNvSpPr/>
          <p:nvPr/>
        </p:nvSpPr>
        <p:spPr>
          <a:xfrm>
            <a:off x="7638840" y="36748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Ədalətlilik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7638840" y="4111200"/>
            <a:ext cx="59112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Sistem fərqli qrupları — irq, cins, yaş, sosial status üzrə — bərabər və ədalətli şəkildə qiymətləndirməlidir.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863640" y="5190840"/>
            <a:ext cx="6342840" cy="2378880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1079640" y="5406480"/>
            <a:ext cx="646920" cy="64692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57840" y="558468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102" name="Text 12"/>
          <p:cNvSpPr/>
          <p:nvPr/>
        </p:nvSpPr>
        <p:spPr>
          <a:xfrm>
            <a:off x="1079640" y="62704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Məsuliyyət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1079640" y="6706440"/>
            <a:ext cx="5910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SI-nin yarattığı hər nəticəyə görə müəyyən bir insan və ya qurum cavabdeh olmalıdır.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>
            <a:off x="7423200" y="5190840"/>
            <a:ext cx="6342840" cy="2378880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7638840" y="5406480"/>
            <a:ext cx="646920" cy="64692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17040" y="558468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107" name="Text 16"/>
          <p:cNvSpPr/>
          <p:nvPr/>
        </p:nvSpPr>
        <p:spPr>
          <a:xfrm>
            <a:off x="7638840" y="62704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Təhlükəsizlik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7638840" y="6706440"/>
            <a:ext cx="59112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Sistem fiziki, psixoloji və sosial zərər vermədən etibarlı şəkildə işləməli, riskler minimuma endirilməlidir.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10" name="Text 0"/>
          <p:cNvSpPr/>
          <p:nvPr/>
        </p:nvSpPr>
        <p:spPr>
          <a:xfrm>
            <a:off x="805680" y="810000"/>
            <a:ext cx="45774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501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Alqoritmik Qərəz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805680" y="1447920"/>
            <a:ext cx="753192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Alqoritmik qərəz (bias) — SI modelinin tarixən qeyri-bərabər, natamam və ya ədalətsiz məlumatlar üzərindən öyrənərək sistemli şəkildə yanlış qərarlar verməsi hadisəsidir. Problem texniki deyil, sosialdir: məlumatlar keçmişin bərabərsizliklərini özündə daşıyır.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805680" y="2751120"/>
            <a:ext cx="7531920" cy="1430280"/>
          </a:xfrm>
          <a:prstGeom prst="roundRect">
            <a:avLst>
              <a:gd name="adj" fmla="val 766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783000" y="2751120"/>
            <a:ext cx="90720" cy="1430280"/>
          </a:xfrm>
          <a:prstGeom prst="roundRect">
            <a:avLst>
              <a:gd name="adj" fmla="val 3304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098360" y="2975400"/>
            <a:ext cx="2386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İşə Qəbul Sistemləri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098360" y="3373920"/>
            <a:ext cx="70149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Amazon-un CV süzgəci 2018-ci ildə kişi adını qadın adına üstün tutduğu üçün ləğv edildi — model 10 illik işə qəbul tarixçəsinə əsaslanırdı.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805680" y="4369680"/>
            <a:ext cx="7531920" cy="1430280"/>
          </a:xfrm>
          <a:prstGeom prst="roundRect">
            <a:avLst>
              <a:gd name="adj" fmla="val 766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783000" y="4369680"/>
            <a:ext cx="90720" cy="1430280"/>
          </a:xfrm>
          <a:prstGeom prst="roundRect">
            <a:avLst>
              <a:gd name="adj" fmla="val 3304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1098360" y="4593960"/>
            <a:ext cx="29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Üz Tanıma Texnologiyası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1098360" y="4992840"/>
            <a:ext cx="70149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MIT araşdırması göstərdi ki, aparıcı SI sistemləri qaraçalı qadınları ağdərili kişilərdən 34% daha yüksək xəta ilə tanıyır.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805680" y="5988600"/>
            <a:ext cx="7531920" cy="1430280"/>
          </a:xfrm>
          <a:prstGeom prst="roundRect">
            <a:avLst>
              <a:gd name="adj" fmla="val 766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783000" y="5988600"/>
            <a:ext cx="90720" cy="1430280"/>
          </a:xfrm>
          <a:prstGeom prst="roundRect">
            <a:avLst>
              <a:gd name="adj" fmla="val 3304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098360" y="6212880"/>
            <a:ext cx="3091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Kredit Qiymətləndirilməsi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098360" y="6611400"/>
            <a:ext cx="70149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Apple Card alqoritmi eyni maliyyə vəziyyətinə malik qadınlara kişilərdən daha aşağı kredit limiti təklif etdi — bu, geniş ictimai tənqidə səbəb oldu.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863640" y="1247040"/>
            <a:ext cx="64288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Məlumatların Qorunması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863640" y="229248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sistemləri böyük həcmdə şəxsi məlumat toplayır, emal edir və saxlayır. Bu məlumatların qorunması həm əsas insan hüququ, həm də hüquqi öhdəlikdir. Məxfilik pozuntuları yalnız fərdi deyil, cəmiyyəti bütövlükdə zəiflədə bilər.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863640" y="339912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Əsas Risklər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863640" y="3921840"/>
            <a:ext cx="618732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Məlumat sızması və kibercinayətkarlıq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İzin alınmadan profil yaradılması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Davranış modelinin gizli analizi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Üçüncü tərəflərlə qeyri-şəffaf paylaşım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7430760" y="3183480"/>
            <a:ext cx="6498360" cy="2759760"/>
          </a:xfrm>
          <a:prstGeom prst="roundRect">
            <a:avLst>
              <a:gd name="adj" fmla="val 1387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646400" y="3399120"/>
            <a:ext cx="29872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Qoruyucu Mexanizmlər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7646400" y="3921840"/>
            <a:ext cx="606672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GDPR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Avropa İttifaqının məlumat qoruma nizamnaməsi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Məlumatın minimumlaşdırılması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yalnız lazım olan toplanır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Anonimləşdirmə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şəxsiyyəti müəyyənləşdirməməli məlumat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Razılıq prinsipi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istifadəçi hüququ və şəffaf bildiriş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863640" y="6050520"/>
            <a:ext cx="12902040" cy="1219320"/>
          </a:xfrm>
          <a:prstGeom prst="roundRect">
            <a:avLst>
              <a:gd name="adj" fmla="val 265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1079640" y="6432120"/>
            <a:ext cx="269280" cy="215280"/>
          </a:xfrm>
          <a:prstGeom prst="rect">
            <a:avLst/>
          </a:prstGeom>
          <a:ln w="0">
            <a:noFill/>
          </a:ln>
        </p:spPr>
      </p:pic>
      <p:sp>
        <p:nvSpPr>
          <p:cNvPr id="133" name="Text 8"/>
          <p:cNvSpPr/>
          <p:nvPr/>
        </p:nvSpPr>
        <p:spPr>
          <a:xfrm>
            <a:off x="1565280" y="6284160"/>
            <a:ext cx="119847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📌</a:t>
            </a:r>
            <a:r>
              <a:rPr b="0" lang="en-US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lang="en-US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Azərbaycan Respublikasının «Fərdi məlumatlar haqqında» Qanunu (2010) şəxsi məlumatların toplanması və işlənməsi üçün sahibin razılığını məcburi edir.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863640" y="753480"/>
            <a:ext cx="51721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Hüquqi Tənzimləmə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863640" y="179856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sürəti qanunvericilikdən çox irəliləyir, lakin dünya hökumətləri tənzimləmə boşluğunu bağlamaq üçün fəal addımlar atır. Hüquqi çərçivələr texnologiyanın inkişafını məhdudlaşdırmır — onu etibarlı və məsuliyyətli edir.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863640" y="4637520"/>
            <a:ext cx="12902040" cy="2988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348000" y="3989880"/>
            <a:ext cx="29880" cy="64692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3120120" y="4394520"/>
            <a:ext cx="485280" cy="4852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3215880" y="4453200"/>
            <a:ext cx="293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2136240" y="268956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2016 — GDPR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1079640" y="3125880"/>
            <a:ext cx="45666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AB məlumat qoruma nizamnaməsi. SI qərarlarını izah etmə hüququnu tanıdı.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5982480" y="4637520"/>
            <a:ext cx="29880" cy="64692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5754960" y="4394520"/>
            <a:ext cx="485280" cy="4852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5850720" y="4453200"/>
            <a:ext cx="293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4770720" y="550116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2021 — AB SI Aktı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3714120" y="5937480"/>
            <a:ext cx="45666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Avropa Komissiyası riskə əsaslanan SI tənzimləmə təklifini təqdim etdi.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8616960" y="3989880"/>
            <a:ext cx="29880" cy="64692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8389440" y="4394520"/>
            <a:ext cx="485280" cy="4852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8485200" y="4453200"/>
            <a:ext cx="293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6576840" y="2689560"/>
            <a:ext cx="411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2023 — ChatGPT Tənzimlənməsi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6348600" y="3125880"/>
            <a:ext cx="45666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İtaliya, İspaniya və digər ölkələr generativ SI üçün qaydalar hazırladı.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8"/>
          <p:cNvSpPr/>
          <p:nvPr/>
        </p:nvSpPr>
        <p:spPr>
          <a:xfrm>
            <a:off x="11251800" y="4637520"/>
            <a:ext cx="29880" cy="64692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9"/>
          <p:cNvSpPr/>
          <p:nvPr/>
        </p:nvSpPr>
        <p:spPr>
          <a:xfrm>
            <a:off x="11023920" y="4394520"/>
            <a:ext cx="485280" cy="4852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11119680" y="4453200"/>
            <a:ext cx="293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9618480" y="5501160"/>
            <a:ext cx="32965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2024 — AB SI Aktı Qəbulu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2"/>
          <p:cNvSpPr/>
          <p:nvPr/>
        </p:nvSpPr>
        <p:spPr>
          <a:xfrm>
            <a:off x="8983440" y="5937480"/>
            <a:ext cx="45666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Dünyada ilk hərtərəfli SI qanunu qüvvəyə mindi. Yüksək riskli sistemlər ciddi nəzarətə alındı.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3"/>
          <p:cNvSpPr/>
          <p:nvPr/>
        </p:nvSpPr>
        <p:spPr>
          <a:xfrm>
            <a:off x="863640" y="682848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Azərbaycanda SI ilə bağlı xüsusi qanunvericilik formalaşma mərhələsindədir; hazırda «Elektron kommersiya», «İnformasiya», «Kibertəhlükəsizlik» qanunları tətbiq olunur.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6350040" y="980640"/>
            <a:ext cx="71920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Şirkət Daxilinde Etik Siyasət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350040" y="1918080"/>
            <a:ext cx="741564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Qanunlar minimum standart müəyyən edir, lakin etik liderlik ondan çox irəli gedir. Qabaqcıl şirkətlər SI-ni yalnız texnoloji problem yox, idarəetmə məsələsi kimi qəbul edir və daxili mexanizmlər qurur.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50040" y="313272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62" name="Text 2"/>
          <p:cNvSpPr/>
          <p:nvPr/>
        </p:nvSpPr>
        <p:spPr>
          <a:xfrm>
            <a:off x="7160040" y="313272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Komitə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7160040" y="3569040"/>
            <a:ext cx="66060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Texniki, hüquqi, ictimai nümayəndələrdən ibarət müstəqil orqan. SI layihələrini etik baxımdan qiymətləndirir, tövsiyələr verir.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50040" y="464868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65" name="Text 4"/>
          <p:cNvSpPr/>
          <p:nvPr/>
        </p:nvSpPr>
        <p:spPr>
          <a:xfrm>
            <a:off x="7160040" y="46486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Daxili Audit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7160040" y="5085000"/>
            <a:ext cx="66060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Mövcud SI sistemlərinin müntəzəm yoxlanması. Qərəz, şəffaflıq, uyğunluq göstəriciləri üzrə hesabat hazırlanır.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350040" y="616464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68" name="Text 6"/>
          <p:cNvSpPr/>
          <p:nvPr/>
        </p:nvSpPr>
        <p:spPr>
          <a:xfrm>
            <a:off x="7160040" y="6164640"/>
            <a:ext cx="30729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Risk Qiymətləndirilməsi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7160040" y="6600960"/>
            <a:ext cx="66060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yeni SI tətbiqindən əvvəl potensial etik, hüquqi və sosial risklər müəyyənləşdirilir və azaldılır.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863640" y="1479240"/>
            <a:ext cx="694224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Real Dünyadan Nümunələr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863640" y="2308680"/>
            <a:ext cx="129020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Nəzəriyyə real hadisələrlə daha mənalı olur. Aşağıdakı nümunələr SI-nin etik boşluqlarının nə qədər ciddi nəticələrə yol açdığını göstərir.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863640" y="3091680"/>
            <a:ext cx="905760" cy="559440"/>
          </a:xfrm>
          <a:prstGeom prst="rect">
            <a:avLst/>
          </a:prstGeom>
          <a:ln w="0">
            <a:noFill/>
          </a:ln>
        </p:spPr>
      </p:pic>
      <p:sp>
        <p:nvSpPr>
          <p:cNvPr id="173" name="Text 2"/>
          <p:cNvSpPr/>
          <p:nvPr/>
        </p:nvSpPr>
        <p:spPr>
          <a:xfrm>
            <a:off x="2040120" y="3091680"/>
            <a:ext cx="29437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Tibbdə SI Qərəzi — ABŞ, 2019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2040120" y="3834360"/>
            <a:ext cx="2943720" cy="29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Xəstəxana idarəetmə sistemi qaraçalı xəstələrə ağdərillərdən daha az tibbi yardım tövsiyə edirdi. Səbəb: model xərclər üzərindən, sağlamlıq ehtiyacları üzərindən deyil, öyrədilmişdi.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Nəticə: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Sistem dəyişdirildi, 100 milyondan çox xəstə yenidən qiymətləndirildi.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Image 1" descr="preencoded.png"/>
          <p:cNvPicPr/>
          <p:nvPr/>
        </p:nvPicPr>
        <p:blipFill>
          <a:blip r:embed="rId2"/>
          <a:stretch/>
        </p:blipFill>
        <p:spPr>
          <a:xfrm>
            <a:off x="5254560" y="3091680"/>
            <a:ext cx="905760" cy="559440"/>
          </a:xfrm>
          <a:prstGeom prst="rect">
            <a:avLst/>
          </a:prstGeom>
          <a:ln w="0">
            <a:noFill/>
          </a:ln>
        </p:spPr>
      </p:pic>
      <p:sp>
        <p:nvSpPr>
          <p:cNvPr id="176" name="Text 4"/>
          <p:cNvSpPr/>
          <p:nvPr/>
        </p:nvSpPr>
        <p:spPr>
          <a:xfrm>
            <a:off x="6431040" y="3091680"/>
            <a:ext cx="29437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Sosial Medyada Avtomatik Senzura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6431040" y="3834360"/>
            <a:ext cx="2943720" cy="25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Facebook-un avtomatik moderasiya sistemi azlıqların dilindəki məzmunu daha çox blokladı, çünki model əsasən ingilis dilindəki data üzərindən öyrədilmişdi.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Nəticə: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Azlıq qruplarının ifadə azadlığı ciddi şəkildə məhdudlaşdı.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2" descr="preencoded.png"/>
          <p:cNvPicPr/>
          <p:nvPr/>
        </p:nvPicPr>
        <p:blipFill>
          <a:blip r:embed="rId3"/>
          <a:stretch/>
        </p:blipFill>
        <p:spPr>
          <a:xfrm>
            <a:off x="9645480" y="3091680"/>
            <a:ext cx="905760" cy="559440"/>
          </a:xfrm>
          <a:prstGeom prst="rect">
            <a:avLst/>
          </a:prstGeom>
          <a:ln w="0">
            <a:noFill/>
          </a:ln>
        </p:spPr>
      </p:pic>
      <p:sp>
        <p:nvSpPr>
          <p:cNvPr id="179" name="Text 6"/>
          <p:cNvSpPr/>
          <p:nvPr/>
        </p:nvSpPr>
        <p:spPr>
          <a:xfrm>
            <a:off x="10821960" y="3091680"/>
            <a:ext cx="29437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Avtonom Avtomobil Qəzası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0821960" y="3834360"/>
            <a:ext cx="2943720" cy="25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Uber-in sürücüsüz avtomobili 2018-ci ildə piyada ilə toqquşdu. Araşdırma göstərdi ki, sistem bəzi obyektləri düzgün kateqoriyalaşdırmırdı.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Nəticə: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İlk ölümlü avtonom avtomobil qəzası olaraq SI tənzimlənməsini sürətləndirdi.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82" name="Text 0"/>
          <p:cNvSpPr/>
          <p:nvPr/>
        </p:nvSpPr>
        <p:spPr>
          <a:xfrm>
            <a:off x="720360" y="861840"/>
            <a:ext cx="7702560" cy="10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Diskussiya: «SI-nin Sərhədləri Haradadır?»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720360" y="2110320"/>
            <a:ext cx="7702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Texnologiya bacarıqlı olduğu hər şeyi etməlidirmi? Bu sual bizim kollektiv cavab vermemiz gereken fundamental bir etik seçimdir.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720360" y="2774880"/>
            <a:ext cx="3775680" cy="1922040"/>
          </a:xfrm>
          <a:prstGeom prst="roundRect">
            <a:avLst>
              <a:gd name="adj" fmla="val 1405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1" descr="preencoded.png"/>
          <p:cNvPicPr/>
          <p:nvPr/>
        </p:nvPicPr>
        <p:blipFill>
          <a:blip r:embed="rId2"/>
          <a:stretch/>
        </p:blipFill>
        <p:spPr>
          <a:xfrm>
            <a:off x="635400" y="2689920"/>
            <a:ext cx="215280" cy="215280"/>
          </a:xfrm>
          <a:prstGeom prst="rect">
            <a:avLst/>
          </a:prstGeom>
          <a:ln w="0">
            <a:noFill/>
          </a:ln>
        </p:spPr>
      </p:pic>
      <p:pic>
        <p:nvPicPr>
          <p:cNvPr id="186" name="Image 2" descr="preencoded.png"/>
          <p:cNvPicPr/>
          <p:nvPr/>
        </p:nvPicPr>
        <p:blipFill>
          <a:blip r:embed="rId3"/>
          <a:stretch/>
        </p:blipFill>
        <p:spPr>
          <a:xfrm>
            <a:off x="4366080" y="4566600"/>
            <a:ext cx="215280" cy="215280"/>
          </a:xfrm>
          <a:prstGeom prst="rect">
            <a:avLst/>
          </a:prstGeom>
          <a:ln w="0">
            <a:noFill/>
          </a:ln>
        </p:spPr>
      </p:pic>
      <p:sp>
        <p:nvSpPr>
          <p:cNvPr id="187" name="Text 3"/>
          <p:cNvSpPr/>
          <p:nvPr/>
        </p:nvSpPr>
        <p:spPr>
          <a:xfrm>
            <a:off x="1013400" y="3067920"/>
            <a:ext cx="2566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Sərhəd 1: İnsan Ləyaqəti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1013400" y="3413520"/>
            <a:ext cx="318960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«SI insanı vasitəyə çevirə bilərmi? Sosial kredit sistemləri, davranış profilləşdirilməsi — bunlar ləyaqəti pozurmu?»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4646880" y="2774880"/>
            <a:ext cx="3775680" cy="1922040"/>
          </a:xfrm>
          <a:prstGeom prst="roundRect">
            <a:avLst>
              <a:gd name="adj" fmla="val 1405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0" name="Image 3" descr="preencoded.png"/>
          <p:cNvPicPr/>
          <p:nvPr/>
        </p:nvPicPr>
        <p:blipFill>
          <a:blip r:embed="rId4"/>
          <a:stretch/>
        </p:blipFill>
        <p:spPr>
          <a:xfrm>
            <a:off x="4561920" y="2689920"/>
            <a:ext cx="215280" cy="215280"/>
          </a:xfrm>
          <a:prstGeom prst="rect">
            <a:avLst/>
          </a:prstGeom>
          <a:ln w="0">
            <a:noFill/>
          </a:ln>
        </p:spPr>
      </p:pic>
      <p:pic>
        <p:nvPicPr>
          <p:cNvPr id="191" name="Image 4" descr="preencoded.png"/>
          <p:cNvPicPr/>
          <p:nvPr/>
        </p:nvPicPr>
        <p:blipFill>
          <a:blip r:embed="rId5"/>
          <a:stretch/>
        </p:blipFill>
        <p:spPr>
          <a:xfrm>
            <a:off x="8292600" y="4566600"/>
            <a:ext cx="215280" cy="215280"/>
          </a:xfrm>
          <a:prstGeom prst="rect">
            <a:avLst/>
          </a:prstGeom>
          <a:ln w="0">
            <a:noFill/>
          </a:ln>
        </p:spPr>
      </p:pic>
      <p:sp>
        <p:nvSpPr>
          <p:cNvPr id="192" name="Text 6"/>
          <p:cNvSpPr/>
          <p:nvPr/>
        </p:nvSpPr>
        <p:spPr>
          <a:xfrm>
            <a:off x="4939920" y="3067920"/>
            <a:ext cx="2340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Sərhəd 2: Avtonomiya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4939920" y="3413520"/>
            <a:ext cx="31899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«SI hərbi qərarları, cəza tədbirlərini, həyat-ölüm seçimlərini müstəqil edə bilərmi? İnsan nəzarəti nə zaman məcburidir?»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720360" y="4847760"/>
            <a:ext cx="7702560" cy="1426680"/>
          </a:xfrm>
          <a:prstGeom prst="roundRect">
            <a:avLst>
              <a:gd name="adj" fmla="val 1893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5" descr="preencoded.png"/>
          <p:cNvPicPr/>
          <p:nvPr/>
        </p:nvPicPr>
        <p:blipFill>
          <a:blip r:embed="rId6"/>
          <a:stretch/>
        </p:blipFill>
        <p:spPr>
          <a:xfrm>
            <a:off x="635400" y="4762800"/>
            <a:ext cx="215280" cy="215280"/>
          </a:xfrm>
          <a:prstGeom prst="rect">
            <a:avLst/>
          </a:prstGeom>
          <a:ln w="0">
            <a:noFill/>
          </a:ln>
        </p:spPr>
      </p:pic>
      <p:pic>
        <p:nvPicPr>
          <p:cNvPr id="196" name="Image 6" descr="preencoded.png"/>
          <p:cNvPicPr/>
          <p:nvPr/>
        </p:nvPicPr>
        <p:blipFill>
          <a:blip r:embed="rId7"/>
          <a:stretch/>
        </p:blipFill>
        <p:spPr>
          <a:xfrm>
            <a:off x="8292600" y="6144120"/>
            <a:ext cx="215280" cy="215280"/>
          </a:xfrm>
          <a:prstGeom prst="rect">
            <a:avLst/>
          </a:prstGeom>
          <a:ln w="0">
            <a:noFill/>
          </a:ln>
        </p:spPr>
      </p:pic>
      <p:sp>
        <p:nvSpPr>
          <p:cNvPr id="197" name="Text 9"/>
          <p:cNvSpPr/>
          <p:nvPr/>
        </p:nvSpPr>
        <p:spPr>
          <a:xfrm>
            <a:off x="1013400" y="5140800"/>
            <a:ext cx="3423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Sərhəd 3: Şəffaflıq vs İnnovasiya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1013400" y="5486760"/>
            <a:ext cx="711648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«Şirkətlər alqoritmlərini tamamilə açıqlasalar, rəqabət üstünlüklərini itirərlərmi? Bu gərginliyi necə həll etmək olar?»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720360" y="6444000"/>
            <a:ext cx="7702560" cy="922680"/>
          </a:xfrm>
          <a:prstGeom prst="roundRect">
            <a:avLst>
              <a:gd name="adj" fmla="val 292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0" name="Image 7" descr="preencoded.png"/>
          <p:cNvPicPr/>
          <p:nvPr/>
        </p:nvPicPr>
        <p:blipFill>
          <a:blip r:embed="rId8"/>
          <a:stretch/>
        </p:blipFill>
        <p:spPr>
          <a:xfrm>
            <a:off x="900360" y="6687000"/>
            <a:ext cx="224280" cy="179280"/>
          </a:xfrm>
          <a:prstGeom prst="rect">
            <a:avLst/>
          </a:prstGeom>
          <a:ln w="0">
            <a:noFill/>
          </a:ln>
        </p:spPr>
      </p:pic>
      <p:sp>
        <p:nvSpPr>
          <p:cNvPr id="201" name="Text 12"/>
          <p:cNvSpPr/>
          <p:nvPr/>
        </p:nvSpPr>
        <p:spPr>
          <a:xfrm>
            <a:off x="1305720" y="6639120"/>
            <a:ext cx="6937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💬</a:t>
            </a:r>
            <a:r>
              <a:rPr b="0" lang="en-US" sz="14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Qruplara ayrılın: hər qrup bir mövzu üçün «bəli» və «xeyr» arqumentlər hazırlasın. 10 dəqiqə sonra sinif müzakirəsi keçiririk.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795960" y="680400"/>
            <a:ext cx="45223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tabLst>
                <a:tab algn="l" pos="0"/>
              </a:tabLst>
            </a:pPr>
            <a:r>
              <a:rPr b="1" lang="en-US" sz="35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Ev Tapşırığı</a:t>
            </a:r>
            <a:endParaRPr b="0" lang="en-US" sz="3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795960" y="1612440"/>
            <a:ext cx="1303740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Növbəti dərsə qədər aşağıdakı praktiki tapşırığı tamamlayın. Bu tapşırıq nəzəri biliklərinizi real vəziyyətə tətbiq etmənizə imkan verəcək.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795960" y="2105640"/>
            <a:ext cx="6426720" cy="2277720"/>
          </a:xfrm>
          <a:prstGeom prst="roundRect">
            <a:avLst>
              <a:gd name="adj" fmla="val 1310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819000" y="2128320"/>
            <a:ext cx="6381000" cy="596160"/>
          </a:xfrm>
          <a:prstGeom prst="roundRect">
            <a:avLst>
              <a:gd name="adj" fmla="val 40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3860640" y="2240280"/>
            <a:ext cx="29772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1017720" y="2908800"/>
            <a:ext cx="22608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Şirkət Seçimi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1017720" y="3301560"/>
            <a:ext cx="598320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istifadə edən real və ya xəyali bir şirkət seçin. Şirkətin fəaliyyət sahəsini, əsas SI tətbiqini və hədəf auditoriyasını qısaca təsvir edin.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7407000" y="2105640"/>
            <a:ext cx="6426720" cy="2277720"/>
          </a:xfrm>
          <a:prstGeom prst="roundRect">
            <a:avLst>
              <a:gd name="adj" fmla="val 1310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7429680" y="2128320"/>
            <a:ext cx="6381000" cy="596160"/>
          </a:xfrm>
          <a:prstGeom prst="roundRect">
            <a:avLst>
              <a:gd name="adj" fmla="val 40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10471320" y="2240280"/>
            <a:ext cx="29772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7628760" y="2908800"/>
            <a:ext cx="24318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Kodeks Layihəsi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7628760" y="3301560"/>
            <a:ext cx="5983200" cy="85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Həmin şirkət üçün SI etik kodeksinin layihəsini hazırlayın. Kodeks dörd prinsipə — şəffaflıq, ədalətlilik, məsuliyyət, təhlükəsizlik — əsaslanmalıdır.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795960" y="4566960"/>
            <a:ext cx="6426720" cy="1990800"/>
          </a:xfrm>
          <a:prstGeom prst="roundRect">
            <a:avLst>
              <a:gd name="adj" fmla="val 1499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819000" y="4590000"/>
            <a:ext cx="6381000" cy="596160"/>
          </a:xfrm>
          <a:prstGeom prst="roundRect">
            <a:avLst>
              <a:gd name="adj" fmla="val 40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3860640" y="4701960"/>
            <a:ext cx="29772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1017720" y="5370480"/>
            <a:ext cx="22608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Risk Analizi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1017720" y="5763240"/>
            <a:ext cx="598320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Şirkətin SI sistemi üçün ən azı 3 potensial etik risk müəyyənləşdirin və hər birinə azaldıcı tədbir təklif edin.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7407000" y="4566960"/>
            <a:ext cx="6426720" cy="1990800"/>
          </a:xfrm>
          <a:prstGeom prst="roundRect">
            <a:avLst>
              <a:gd name="adj" fmla="val 1499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7429680" y="4590000"/>
            <a:ext cx="6381000" cy="596160"/>
          </a:xfrm>
          <a:prstGeom prst="roundRect">
            <a:avLst>
              <a:gd name="adj" fmla="val 40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10471320" y="4701960"/>
            <a:ext cx="29772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7628760" y="5370480"/>
            <a:ext cx="22608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Təqdimat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7628760" y="5763240"/>
            <a:ext cx="598320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Kodeksinizi növbəti dərsdə 5 dəqiqə ərzində sinifə təqdim edin. Formatı özünüz seçin: slayd, sənəd və ya xülasə cədvəl.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>
            <a:off x="795960" y="6764760"/>
            <a:ext cx="13037400" cy="783720"/>
          </a:xfrm>
          <a:prstGeom prst="roundRect">
            <a:avLst>
              <a:gd name="adj" fmla="val 3807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0" descr="preencoded.png"/>
          <p:cNvPicPr/>
          <p:nvPr/>
        </p:nvPicPr>
        <p:blipFill>
          <a:blip r:embed="rId1"/>
          <a:stretch/>
        </p:blipFill>
        <p:spPr>
          <a:xfrm>
            <a:off x="995040" y="7044840"/>
            <a:ext cx="248040" cy="198360"/>
          </a:xfrm>
          <a:prstGeom prst="rect">
            <a:avLst/>
          </a:prstGeom>
          <a:ln w="0">
            <a:noFill/>
          </a:ln>
        </p:spPr>
      </p:pic>
      <p:sp>
        <p:nvSpPr>
          <p:cNvPr id="226" name="Text 23"/>
          <p:cNvSpPr/>
          <p:nvPr/>
        </p:nvSpPr>
        <p:spPr>
          <a:xfrm>
            <a:off x="1442520" y="6997680"/>
            <a:ext cx="1219212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📚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Tövsiyə olunan mənbə: Avropa Komissiyasının «Ethics Guidelines for Trustworthy AI» sənədi (2019) — pulsuz onlayn mövcuddur.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3203640" y="685800"/>
            <a:ext cx="7275960" cy="7275960"/>
          </a:xfrm>
          <a:prstGeom prst="rect">
            <a:avLst/>
          </a:prstGeom>
          <a:ln w="0">
            <a:noFill/>
          </a:ln>
        </p:spPr>
      </p:pic>
      <p:sp>
        <p:nvSpPr>
          <p:cNvPr id="228" name=""/>
          <p:cNvSpPr/>
          <p:nvPr/>
        </p:nvSpPr>
        <p:spPr>
          <a:xfrm>
            <a:off x="5029200" y="84600"/>
            <a:ext cx="315072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L8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2026-03-25T14:49:10Z</dcterms:created>
  <dc:creator/>
  <dc:description/>
  <dc:language>en-US</dc:language>
  <cp:lastModifiedBy/>
  <dcterms:modified xsi:type="dcterms:W3CDTF">2026-03-27T19:22:01Z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