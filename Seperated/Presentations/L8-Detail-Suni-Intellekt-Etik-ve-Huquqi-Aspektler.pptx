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5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4630400" cy="82296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7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485775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62093" y="3035741"/>
            <a:ext cx="5296440" cy="287584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2873160" cy="3193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000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3747467" y="0"/>
            <a:ext cx="2873160" cy="3193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0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r>
              <a:rPr lang="en-US"/>
              <a:t>&lt;date/time&gt;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6071711"/>
            <a:ext cx="2873160" cy="3193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0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r>
              <a:rPr lang="en-US"/>
              <a:t>&lt;footer&gt;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3747467" y="6071711"/>
            <a:ext cx="2873160" cy="3193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0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3C7E2026-5EDC-44D5-B076-3EC22B7D7D5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54073" indent="-154073" algn="l" defTabSz="914400" rtl="0" eaLnBrk="1" latinLnBrk="0" hangingPunct="1">
      <a:buNone/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4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E3AA5E06-0606-4A83-BE7E-835A421B9DE1}" type="slidenum">
              <a:rPr lang="en-US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5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28DF82A9-CFDD-49E9-81D4-6F4F09439FB0}" type="slidenum">
              <a:rPr lang="en-US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6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D441CD4B-38C2-4DD3-B0A8-C0A67297C1C0}" type="slidenum">
              <a:rPr lang="en-US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7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D8308410-6249-4B30-8E85-49E370644EB8}" type="slidenum">
              <a:rPr lang="en-US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8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30852366-AA45-4F15-9F72-BE2447086637}" type="slidenum">
              <a:rPr lang="en-US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9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53E5980C-4B68-4C51-985C-E14D33074BF9}" type="slidenum">
              <a:rPr lang="en-US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0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AFBA7F9E-DE88-4D8F-97B8-E331151EC4AA}" type="slidenum">
              <a:rPr lang="en-US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11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B673BC72-C0F7-42ED-9935-978006F5D07F}" type="slidenum">
              <a:rPr lang="en-US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12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0F0EDC50-FDD4-4678-B3B4-998D5DC97361}" type="slidenum">
              <a:rPr lang="en-US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3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CAD26434-3948-4DDF-8743-CADCF2A1D380}" type="slidenum">
              <a:rPr lang="en-US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76338" y="725488"/>
            <a:ext cx="3489325" cy="196215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84200" y="2796240"/>
            <a:ext cx="4672987" cy="2287271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t">
            <a:noAutofit/>
          </a:bodyPr>
          <a:lstStyle/>
          <a:p>
            <a:endParaRPr lang="en-US" sz="13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4"/>
          </p:nvPr>
        </p:nvSpPr>
        <p:spPr>
          <a:xfrm>
            <a:off x="3309240" y="5518823"/>
            <a:ext cx="2530920" cy="290970"/>
          </a:xfrm>
          <a:prstGeom prst="rect">
            <a:avLst/>
          </a:prstGeom>
          <a:noFill/>
          <a:ln w="0">
            <a:noFill/>
          </a:ln>
        </p:spPr>
        <p:txBody>
          <a:bodyPr lIns="65224" tIns="32612" rIns="65224" bIns="32612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9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fld id="{34D210DC-C6EB-4C95-9D8D-C9CE22F942E2}" type="slidenum">
              <a:rPr lang="en-US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2368080"/>
            <a:ext cx="7415640" cy="122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Süni İntellekt: Etik və Hüquqi Aspektlər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3918960"/>
            <a:ext cx="7415640" cy="129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Süni İntellekt texnologiyası həyatımızı kökündən dəyişdirir. Lakin bu güclü alət hansı etik məsuliyyətləri beraberinde gətirir? Bu dərsdə SI-nin insan hüquqları, sosial dəyərlər və hüquqi çərçivələrlə kəsişdiyi kritik nöqtələri birlikdə araşdıracağıq.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863640" y="5465160"/>
            <a:ext cx="964800" cy="38808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957240" y="5529960"/>
            <a:ext cx="871200" cy="25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Müəllim: 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1881720" y="5457600"/>
            <a:ext cx="1950120" cy="403200"/>
          </a:xfrm>
          <a:prstGeom prst="roundRect">
            <a:avLst>
              <a:gd name="adj" fmla="val 6417"/>
            </a:avLst>
          </a:prstGeom>
          <a:noFill/>
          <a:ln w="762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1946880" y="5529960"/>
            <a:ext cx="1675800" cy="25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Orkhan Iskandarov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3640" y="1296000"/>
            <a:ext cx="641160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Bu Gün Nə Öyrənəcəyik?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863640" y="2341440"/>
            <a:ext cx="12902040" cy="32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Bu dərsin sonunda siz SI-nin etik əsaslarını, hüquqi çərçivəsini və real dünyada qarşılaşılan problemləri dərindən anlaya biləcəksiniz.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63640" y="290808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01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863640" y="324468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863640" y="3413520"/>
            <a:ext cx="266076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SI Etikasının Əsasları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863640" y="384984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etikası nədir, niyə vacibdir və hansı dəyərlərə söykənir?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236560" y="290808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02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5236560" y="324468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5236560" y="3413520"/>
            <a:ext cx="415620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Alqoritmik Qərəz və Məlumat Təhlükəsizliyi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236560" y="415656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Yanlış qərarların kökündə nə dayanır, şəxsi məlumatlar necə qorunur?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9609480" y="290808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03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9609480" y="324468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9609480" y="3413520"/>
            <a:ext cx="258444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Hüquqi Tənzimləmə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9609480" y="384984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Milli və beynəlxalq səviyyədə SI üçün mövcud qanunlar və normalar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863640" y="518220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04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863640" y="5518800"/>
            <a:ext cx="634284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63640" y="5687640"/>
            <a:ext cx="290268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Korporativ Etik Siyasət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863640" y="6123600"/>
            <a:ext cx="6342840" cy="32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Şirkətlər daxilinde etik komitə, audit və risk idarəsi mexanizmləri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7531200" y="518220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05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7531200" y="5518800"/>
            <a:ext cx="634284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7567200" y="5687640"/>
            <a:ext cx="387324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Real Nümunələr və Diskussiya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567200" y="6123600"/>
            <a:ext cx="63428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Praktiki hallar, etik problemlər və «SI-nin sərhədləri» mövzusunda fikir mübadiləsi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80" name="Text 0"/>
          <p:cNvSpPr/>
          <p:nvPr/>
        </p:nvSpPr>
        <p:spPr>
          <a:xfrm>
            <a:off x="863640" y="1276560"/>
            <a:ext cx="490788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SI Etikası Nədir?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863640" y="2214000"/>
            <a:ext cx="7415640" cy="129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etikası — süni intellekt sistemlərinin insan hüquqlarına, sosial dəyərlərə və ümumi rifaha uyğun şəkildə layihələndirilməsi, tətbiqi və idarə olunmasını öyrənən fəlsəfi-praktiki sahədir. Bu sahə yalnız texnologiya ilə deyil, onun insanlara, cəmiyyətə və gələcəyə təsiri ilə məşğul olur.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708120" y="3896640"/>
            <a:ext cx="3755160" cy="3199680"/>
          </a:xfrm>
          <a:prstGeom prst="roundRect">
            <a:avLst>
              <a:gd name="adj" fmla="val 1012"/>
            </a:avLst>
          </a:prstGeom>
          <a:solidFill>
            <a:srgbClr val="1D1F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924120" y="3968640"/>
            <a:ext cx="259848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SI Etikasının Sualları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924120" y="4275000"/>
            <a:ext cx="3323520" cy="184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kimin maraqlarına xidmət edir?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Avtomatik qərarlar ədalətlidirmi?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Sistemin davranışı şəffafdırmı?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Zərər yarandıqda kim məsuldur?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4843080" y="393264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Niyə Vacibdir?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843080" y="4419000"/>
            <a:ext cx="3444120" cy="22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qərarları milyonların həyatına toxunur: kredit alıb-almamaq, iş müsahibəsindən keçmək, tibbi diaqnoz almaq. Etik olmayan SI ciddi sosial zərərlərə yol aça bilər. Bu səbəbdən etik düşüncə texniki bilikdən az əhəmiyyətli deyildir.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863640" y="659160"/>
            <a:ext cx="497736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Əsas Etik Prinsiplər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863640" y="170460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Qabaqcıl təşkilatlar — UNESCO, OECD, Avropa Komissiyası — etik SI üçün dörd fundamental prinsip müəyyənləşdirib. Bu prinsiplər SI sistemlərinin layihələndirilməsindən tutmuş idarə edilməsinə qədər hər mərhələdə tətbiq olunmalıdır.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863640" y="2595240"/>
            <a:ext cx="634284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1079640" y="281124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257840" y="29894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92" name="Text 4"/>
          <p:cNvSpPr/>
          <p:nvPr/>
        </p:nvSpPr>
        <p:spPr>
          <a:xfrm>
            <a:off x="1079640" y="36748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Şəffaflıq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1079640" y="4111200"/>
            <a:ext cx="59108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sistemlərinin necə işlədiyini istifadəçilər anlamalı, qərarların səbəbləri izah edilə bilməlidir.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7423200" y="2595240"/>
            <a:ext cx="634284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7638840" y="281124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817040" y="29894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97" name="Text 8"/>
          <p:cNvSpPr/>
          <p:nvPr/>
        </p:nvSpPr>
        <p:spPr>
          <a:xfrm>
            <a:off x="7638840" y="36748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Ədalətlilik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7638840" y="4111200"/>
            <a:ext cx="59112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Sistem fərqli qrupları — irq, cins, yaş, sosial status üzrə — bərabər və ədalətli şəkildə qiymətləndirməlidir.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863640" y="5190840"/>
            <a:ext cx="634284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1079640" y="540648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Image 2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57840" y="558468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102" name="Text 12"/>
          <p:cNvSpPr/>
          <p:nvPr/>
        </p:nvSpPr>
        <p:spPr>
          <a:xfrm>
            <a:off x="1079640" y="62704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Məsuliyyət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1079640" y="6706440"/>
            <a:ext cx="59108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SI-nin yarattığı hər nəticəyə görə müəyyən bir insan və ya qurum cavabdeh olmalıdır.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4"/>
          <p:cNvSpPr/>
          <p:nvPr/>
        </p:nvSpPr>
        <p:spPr>
          <a:xfrm>
            <a:off x="7423200" y="5190840"/>
            <a:ext cx="6342840" cy="2378880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7638840" y="5406480"/>
            <a:ext cx="646920" cy="64692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Image 3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817040" y="558468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107" name="Text 16"/>
          <p:cNvSpPr/>
          <p:nvPr/>
        </p:nvSpPr>
        <p:spPr>
          <a:xfrm>
            <a:off x="7638840" y="62704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Təhlükəsizlik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7638840" y="6706440"/>
            <a:ext cx="59112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Sistem fiziki, psixoloji və sosial zərər vermədən etibarlı şəkildə işləməli, riskler minimuma endirilməlidir.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10" name="Text 0"/>
          <p:cNvSpPr/>
          <p:nvPr/>
        </p:nvSpPr>
        <p:spPr>
          <a:xfrm>
            <a:off x="805680" y="810000"/>
            <a:ext cx="4577400" cy="57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501"/>
              </a:lnSpc>
              <a:tabLst>
                <a:tab pos="0" algn="l"/>
              </a:tabLst>
            </a:pPr>
            <a:r>
              <a:rPr lang="en-US" sz="36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Alqoritmik Qərəz</a:t>
            </a:r>
            <a:endParaRPr lang="en-US" sz="3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805680" y="1447920"/>
            <a:ext cx="7531920" cy="87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Alqoritmik qərəz (bias) — SI modelinin tarixən qeyri-bərabər, natamam və ya ədalətsiz məlumatlar üzərindən öyrənərək sistemli şəkildə yanlış qərarlar verməsi hadisəsidir. Problem texniki deyil, sosialdir: məlumatlar keçmişin bərabərsizliklərini özündə daşıyır.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805680" y="2751120"/>
            <a:ext cx="7531920" cy="143028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783000" y="2751120"/>
            <a:ext cx="90720" cy="143028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1098360" y="2975400"/>
            <a:ext cx="2386440" cy="28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İşə Qəbul Sistemləri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1098360" y="3373920"/>
            <a:ext cx="7014960" cy="58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Amazon-un CV süzgəci 2018-ci ildə kişi adını qadın adına üstün tutduğu üçün ləğv edildi — model 10 illik işə qəbul tarixçəsinə əsaslanırdı.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805680" y="4369680"/>
            <a:ext cx="7531920" cy="143028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783000" y="4369680"/>
            <a:ext cx="90720" cy="143028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1098360" y="4593960"/>
            <a:ext cx="2942640" cy="28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Üz Tanıma Texnologiyası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1098360" y="4992840"/>
            <a:ext cx="7014960" cy="58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MIT araşdırması göstərdi ki, aparıcı SI sistemləri qaraçalı qadınları ağdərili kişilərdən 34% daha yüksək xəta ilə tanıyır.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805680" y="5988600"/>
            <a:ext cx="7531920" cy="1430280"/>
          </a:xfrm>
          <a:prstGeom prst="roundRect">
            <a:avLst>
              <a:gd name="adj" fmla="val 766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783000" y="5988600"/>
            <a:ext cx="90720" cy="1430280"/>
          </a:xfrm>
          <a:prstGeom prst="roundRect">
            <a:avLst>
              <a:gd name="adj" fmla="val 3304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1098360" y="6212880"/>
            <a:ext cx="3091680" cy="28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Kredit Qiymətləndirilməsi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1098360" y="6611400"/>
            <a:ext cx="7014960" cy="583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Apple Card alqoritmi eyni maliyyə vəziyyətinə malik qadınlara kişilərdən daha aşağı kredit limiti təklif etdi — bu, geniş ictimai tənqidə səbəb oldu.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863640" y="1247040"/>
            <a:ext cx="642888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Məlumatların Qorunması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863640" y="229248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sistemləri böyük həcmdə şəxsi məlumat toplayır, emal edir və saxlayır. Bu məlumatların qorunması həm əsas insan hüququ, həm də hüquqi öhdəlikdir. Məxfilik pozuntuları yalnız fərdi deyil, cəmiyyəti bütövlükdə zəiflədə bilər.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863640" y="339912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Əsas Risklər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863640" y="3921840"/>
            <a:ext cx="6187320" cy="152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Məlumat sızması və kibercinayətkarlıq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İzin alınmadan profil yaradılması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Davranış modelinin gizli analizi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Üçüncü tərəflərlə qeyri-şəffaf paylaşım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7430760" y="3183480"/>
            <a:ext cx="6498360" cy="2759760"/>
          </a:xfrm>
          <a:prstGeom prst="roundRect">
            <a:avLst>
              <a:gd name="adj" fmla="val 1387"/>
            </a:avLst>
          </a:prstGeom>
          <a:solidFill>
            <a:srgbClr val="1D1F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7646400" y="3399120"/>
            <a:ext cx="298728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Qoruyucu Mexanizmlər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7646400" y="3921840"/>
            <a:ext cx="6066720" cy="152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GDPR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— Avropa İttifaqının məlumat qoruma nizamnaməsi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Məlumatın minimumlaşdırılması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— yalnız lazım olan toplanır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Anonimləşdirmə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— şəxsiyyəti müəyyənləşdirməməli məlumat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Razılıq prinsipi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— istifadəçi hüququ və şəffaf bildiriş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863640" y="6050520"/>
            <a:ext cx="12902040" cy="1219320"/>
          </a:xfrm>
          <a:prstGeom prst="roundRect">
            <a:avLst>
              <a:gd name="adj" fmla="val 2656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" name="Image 0" descr="preencoded.png"/>
          <p:cNvPicPr/>
          <p:nvPr/>
        </p:nvPicPr>
        <p:blipFill>
          <a:blip r:embed="rId3"/>
          <a:stretch/>
        </p:blipFill>
        <p:spPr>
          <a:xfrm>
            <a:off x="1079640" y="6432120"/>
            <a:ext cx="269280" cy="215280"/>
          </a:xfrm>
          <a:prstGeom prst="rect">
            <a:avLst/>
          </a:prstGeom>
          <a:ln w="0">
            <a:noFill/>
          </a:ln>
        </p:spPr>
      </p:pic>
      <p:sp>
        <p:nvSpPr>
          <p:cNvPr id="133" name="Text 8"/>
          <p:cNvSpPr/>
          <p:nvPr/>
        </p:nvSpPr>
        <p:spPr>
          <a:xfrm>
            <a:off x="1565280" y="6284160"/>
            <a:ext cx="1198476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000000"/>
                </a:solidFill>
                <a:latin typeface="Source Sans 3"/>
                <a:ea typeface="Source Sans 3"/>
              </a:rPr>
              <a:t>📌</a:t>
            </a:r>
            <a:r>
              <a:rPr lang="en-US" sz="17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 Azərbaycan Respublikasının «Fərdi məlumatlar haqqında» Qanunu (2010) şəxsi məlumatların toplanması və işlənməsi üçün sahibin razılığını məcburi edir.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863640" y="753480"/>
            <a:ext cx="517212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Hüquqi Tənzimləmə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863640" y="179856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sürəti qanunvericilikdən çox irəliləyir, lakin dünya hökumətləri tənzimləmə boşluğunu bağlamaq üçün fəal addımlar atır. Hüquqi çərçivələr texnologiyanın inkişafını məhdudlaşdırmır — onu etibarlı və məsuliyyətli edir.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2"/>
          <p:cNvSpPr/>
          <p:nvPr/>
        </p:nvSpPr>
        <p:spPr>
          <a:xfrm>
            <a:off x="863640" y="4637520"/>
            <a:ext cx="12902040" cy="2988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3400" rIns="90000" bIns="-234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348000" y="3989880"/>
            <a:ext cx="29880" cy="64692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3120120" y="4394520"/>
            <a:ext cx="485280" cy="48528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3215880" y="4453200"/>
            <a:ext cx="2937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299"/>
              </a:lnSpc>
              <a:tabLst>
                <a:tab pos="0" algn="l"/>
              </a:tabLst>
            </a:pPr>
            <a:r>
              <a:rPr lang="en-US" sz="23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2136240" y="268956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2016 — GDPR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079640" y="3125880"/>
            <a:ext cx="45666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AB məlumat qoruma nizamnaməsi. SI qərarlarını izah etmə hüququnu tanıdı.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5982480" y="4637520"/>
            <a:ext cx="29880" cy="64692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5754960" y="4394520"/>
            <a:ext cx="485280" cy="48528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5850720" y="4453200"/>
            <a:ext cx="2937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299"/>
              </a:lnSpc>
              <a:tabLst>
                <a:tab pos="0" algn="l"/>
              </a:tabLst>
            </a:pPr>
            <a:r>
              <a:rPr lang="en-US" sz="23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4770720" y="550116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2021 — AB SI Aktı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3714120" y="5937480"/>
            <a:ext cx="45666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Avropa Komissiyası riskə əsaslanan SI tənzimləmə təklifini təqdim etdi.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8616960" y="3989880"/>
            <a:ext cx="29880" cy="64692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8389440" y="4394520"/>
            <a:ext cx="485280" cy="48528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8485200" y="4453200"/>
            <a:ext cx="2937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299"/>
              </a:lnSpc>
              <a:tabLst>
                <a:tab pos="0" algn="l"/>
              </a:tabLst>
            </a:pPr>
            <a:r>
              <a:rPr lang="en-US" sz="23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6576840" y="2689560"/>
            <a:ext cx="411048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2023 — ChatGPT Tənzimlənməsi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6348600" y="3125880"/>
            <a:ext cx="45666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İtaliya, İspaniya və digər ölkələr generativ SI üçün qaydalar hazırladı.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11251800" y="4637520"/>
            <a:ext cx="29880" cy="646920"/>
          </a:xfrm>
          <a:prstGeom prst="roundRect">
            <a:avLst>
              <a:gd name="adj" fmla="val 106288"/>
            </a:avLst>
          </a:prstGeom>
          <a:solidFill>
            <a:srgbClr val="494A4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19"/>
          <p:cNvSpPr/>
          <p:nvPr/>
        </p:nvSpPr>
        <p:spPr>
          <a:xfrm>
            <a:off x="11023920" y="4394520"/>
            <a:ext cx="485280" cy="485280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11119680" y="4453200"/>
            <a:ext cx="2937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299"/>
              </a:lnSpc>
              <a:tabLst>
                <a:tab pos="0" algn="l"/>
              </a:tabLst>
            </a:pPr>
            <a:r>
              <a:rPr lang="en-US" sz="23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9618480" y="5501160"/>
            <a:ext cx="329652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2024 — AB SI Aktı Qəbulu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22"/>
          <p:cNvSpPr/>
          <p:nvPr/>
        </p:nvSpPr>
        <p:spPr>
          <a:xfrm>
            <a:off x="8983440" y="5937480"/>
            <a:ext cx="45666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Dünyada ilk hərtərəfli SI qanunu qüvvəyə mindi. Yüksək riskli sistemlər ciddi nəzarətə alındı.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63640" y="682848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Azərbaycanda SI ilə bağlı xüsusi qanunvericilik formalaşma mərhələsindədir; hazırda «Elektron kommersiya», «İnformasiya», «Kibertəhlükəsizlik» qanunları tətbiq olunur.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59" name="Text 0"/>
          <p:cNvSpPr/>
          <p:nvPr/>
        </p:nvSpPr>
        <p:spPr>
          <a:xfrm>
            <a:off x="6350040" y="980640"/>
            <a:ext cx="719208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Şirkət Daxilinde Etik Siyasət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350040" y="1918080"/>
            <a:ext cx="7415640" cy="97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Qanunlar minimum standart müəyyən edir, lakin etik liderlik ondan çox irəli gedir. Qabaqcıl şirkətlər SI-ni yalnız texnoloji problem yox, idarəetmə məsələsi kimi qəbul edir və daxili mexanizmlər qurur.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50040" y="313272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162" name="Text 2"/>
          <p:cNvSpPr/>
          <p:nvPr/>
        </p:nvSpPr>
        <p:spPr>
          <a:xfrm>
            <a:off x="7160040" y="313272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Etik Komitə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7160040" y="3569040"/>
            <a:ext cx="66060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Texniki, hüquqi, ictimai nümayəndələrdən ibarət müstəqil orqan. SI layihələrini etik baxımdan qiymətləndirir, tövsiyələr verir.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Image 2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350040" y="464868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165" name="Text 4"/>
          <p:cNvSpPr/>
          <p:nvPr/>
        </p:nvSpPr>
        <p:spPr>
          <a:xfrm>
            <a:off x="7160040" y="4648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Daxili Audit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7160040" y="5085000"/>
            <a:ext cx="66060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Mövcud SI sistemlərinin müntəzəm yoxlanması. Qərəz, şəffaflıq, uyğunluq göstəriciləri üzrə hesabat hazırlanır.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Image 3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350040" y="616464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168" name="Text 6"/>
          <p:cNvSpPr/>
          <p:nvPr/>
        </p:nvSpPr>
        <p:spPr>
          <a:xfrm>
            <a:off x="7160040" y="6164640"/>
            <a:ext cx="3072960" cy="30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Risk Qiymətləndirilməsi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7160040" y="6600960"/>
            <a:ext cx="6606000" cy="64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Hər yeni SI tətbiqindən əvvəl potensial etik, hüquqi və sosial risklər müəyyənləşdirilir və azaldılır.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863640" y="1479240"/>
            <a:ext cx="694224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Real Dünyadan Nümunələr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863640" y="2308680"/>
            <a:ext cx="12902040" cy="32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Nəzəriyyə real hadisələrlə daha mənalı olur. Aşağıdakı nümunələr SI-nin etik boşluqlarının nə qədər ciddi nəticələrə yol açdığını göstərir.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Image 0" descr="preencoded.png"/>
          <p:cNvPicPr/>
          <p:nvPr/>
        </p:nvPicPr>
        <p:blipFill>
          <a:blip r:embed="rId3"/>
          <a:stretch/>
        </p:blipFill>
        <p:spPr>
          <a:xfrm>
            <a:off x="863640" y="3091680"/>
            <a:ext cx="905760" cy="559440"/>
          </a:xfrm>
          <a:prstGeom prst="rect">
            <a:avLst/>
          </a:prstGeom>
          <a:ln w="0">
            <a:noFill/>
          </a:ln>
        </p:spPr>
      </p:pic>
      <p:sp>
        <p:nvSpPr>
          <p:cNvPr id="173" name="Text 2"/>
          <p:cNvSpPr/>
          <p:nvPr/>
        </p:nvSpPr>
        <p:spPr>
          <a:xfrm>
            <a:off x="2040120" y="3091680"/>
            <a:ext cx="294372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Tibbdə SI Qərəzi — ABŞ, 2019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2040120" y="3834360"/>
            <a:ext cx="2943720" cy="29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Xəstəxana idarəetmə sistemi qaraçalı xəstələrə ağdərillərdən daha az tibbi yardım tövsiyə edirdi. Səbəb: model xərclər üzərindən, sağlamlıq ehtiyacları üzərindən deyil, öyrədilmişdi. </a:t>
            </a: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Sistem dəyişdirildi, 100 milyondan çox xəstə yenidən qiymətləndirildi.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Image 1" descr="preencoded.png"/>
          <p:cNvPicPr/>
          <p:nvPr/>
        </p:nvPicPr>
        <p:blipFill>
          <a:blip r:embed="rId4"/>
          <a:stretch/>
        </p:blipFill>
        <p:spPr>
          <a:xfrm>
            <a:off x="5254560" y="3091680"/>
            <a:ext cx="905760" cy="559440"/>
          </a:xfrm>
          <a:prstGeom prst="rect">
            <a:avLst/>
          </a:prstGeom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6431040" y="3091680"/>
            <a:ext cx="294372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Sosial Medyada Avtomatik Senzura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6431040" y="3834360"/>
            <a:ext cx="2943720" cy="259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Facebook-un avtomatik moderasiya sistemi azlıqların dilindəki məzmunu daha çox blokladı, çünki model əsasən ingilis dilindəki data üzərindən öyrədilmişdi. </a:t>
            </a: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Azlıq qruplarının ifadə azadlığı ciddi şəkildə məhdudlaşdı.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Image 2" descr="preencoded.png"/>
          <p:cNvPicPr/>
          <p:nvPr/>
        </p:nvPicPr>
        <p:blipFill>
          <a:blip r:embed="rId5"/>
          <a:stretch/>
        </p:blipFill>
        <p:spPr>
          <a:xfrm>
            <a:off x="9645480" y="3091680"/>
            <a:ext cx="905760" cy="559440"/>
          </a:xfrm>
          <a:prstGeom prst="rect">
            <a:avLst/>
          </a:prstGeom>
          <a:ln w="0">
            <a:noFill/>
          </a:ln>
        </p:spPr>
      </p:pic>
      <p:sp>
        <p:nvSpPr>
          <p:cNvPr id="179" name="Text 6"/>
          <p:cNvSpPr/>
          <p:nvPr/>
        </p:nvSpPr>
        <p:spPr>
          <a:xfrm>
            <a:off x="10821960" y="3091680"/>
            <a:ext cx="2943720" cy="61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Avtonom Avtomobil Qəzası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10821960" y="3834360"/>
            <a:ext cx="2943720" cy="259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Uber-in sürücüsüz avtomobili 2018-ci ildə piyada ilə toqquşdu. Araşdırma göstərdi ki, sistem bəzi obyektləri düzgün kateqoriyalaşdırmırdı. </a:t>
            </a:r>
            <a:r>
              <a:rPr lang="en-US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Nəticə:</a:t>
            </a: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 İlk ölümlü avtonom avtomobil qəzası olaraq SI tənzimlənməsini sürətləndirdi.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82" name="Text 0"/>
          <p:cNvSpPr/>
          <p:nvPr/>
        </p:nvSpPr>
        <p:spPr>
          <a:xfrm>
            <a:off x="720360" y="861840"/>
            <a:ext cx="7702560" cy="102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Diskussiya: «SI-nin Sərhədləri Haradadır?»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720360" y="2110320"/>
            <a:ext cx="7702560" cy="49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Texnologiya bacarıqlı olduğu hər şeyi etməlidirmi? Bu sual bizim kollektiv cavab vermemiz gereken fundamental bir etik seçimdir.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720360" y="2774880"/>
            <a:ext cx="3775680" cy="1922040"/>
          </a:xfrm>
          <a:prstGeom prst="roundRect">
            <a:avLst>
              <a:gd name="adj" fmla="val 1405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Image 1" descr="preencoded.png"/>
          <p:cNvPicPr/>
          <p:nvPr/>
        </p:nvPicPr>
        <p:blipFill>
          <a:blip r:embed="rId4"/>
          <a:stretch/>
        </p:blipFill>
        <p:spPr>
          <a:xfrm>
            <a:off x="635400" y="2689920"/>
            <a:ext cx="215280" cy="215280"/>
          </a:xfrm>
          <a:prstGeom prst="rect">
            <a:avLst/>
          </a:prstGeom>
          <a:ln w="0">
            <a:noFill/>
          </a:ln>
        </p:spPr>
      </p:pic>
      <p:pic>
        <p:nvPicPr>
          <p:cNvPr id="186" name="Image 2" descr="preencoded.png"/>
          <p:cNvPicPr/>
          <p:nvPr/>
        </p:nvPicPr>
        <p:blipFill>
          <a:blip r:embed="rId5"/>
          <a:stretch/>
        </p:blipFill>
        <p:spPr>
          <a:xfrm>
            <a:off x="4366080" y="4566600"/>
            <a:ext cx="215280" cy="215280"/>
          </a:xfrm>
          <a:prstGeom prst="rect">
            <a:avLst/>
          </a:prstGeom>
          <a:ln w="0">
            <a:noFill/>
          </a:ln>
        </p:spPr>
      </p:pic>
      <p:sp>
        <p:nvSpPr>
          <p:cNvPr id="187" name="Text 3"/>
          <p:cNvSpPr/>
          <p:nvPr/>
        </p:nvSpPr>
        <p:spPr>
          <a:xfrm>
            <a:off x="1013400" y="3067920"/>
            <a:ext cx="256680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Sərhəd 1: İnsan Ləyaqəti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1013400" y="3413520"/>
            <a:ext cx="3189600" cy="990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«SI insanı vasitəyə çevirə bilərmi? Sosial kredit sistemləri, davranış profilləşdirilməsi — bunlar ləyaqəti pozurmu?»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4646880" y="2774880"/>
            <a:ext cx="3775680" cy="1922040"/>
          </a:xfrm>
          <a:prstGeom prst="roundRect">
            <a:avLst>
              <a:gd name="adj" fmla="val 1405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Image 3" descr="preencoded.png"/>
          <p:cNvPicPr/>
          <p:nvPr/>
        </p:nvPicPr>
        <p:blipFill>
          <a:blip r:embed="rId4"/>
          <a:stretch/>
        </p:blipFill>
        <p:spPr>
          <a:xfrm>
            <a:off x="4561920" y="2689920"/>
            <a:ext cx="215280" cy="215280"/>
          </a:xfrm>
          <a:prstGeom prst="rect">
            <a:avLst/>
          </a:prstGeom>
          <a:ln w="0">
            <a:noFill/>
          </a:ln>
        </p:spPr>
      </p:pic>
      <p:pic>
        <p:nvPicPr>
          <p:cNvPr id="191" name="Image 4" descr="preencoded.png"/>
          <p:cNvPicPr/>
          <p:nvPr/>
        </p:nvPicPr>
        <p:blipFill>
          <a:blip r:embed="rId5"/>
          <a:stretch/>
        </p:blipFill>
        <p:spPr>
          <a:xfrm>
            <a:off x="8292600" y="4566600"/>
            <a:ext cx="215280" cy="215280"/>
          </a:xfrm>
          <a:prstGeom prst="rect">
            <a:avLst/>
          </a:prstGeom>
          <a:ln w="0">
            <a:noFill/>
          </a:ln>
        </p:spPr>
      </p:pic>
      <p:sp>
        <p:nvSpPr>
          <p:cNvPr id="192" name="Text 6"/>
          <p:cNvSpPr/>
          <p:nvPr/>
        </p:nvSpPr>
        <p:spPr>
          <a:xfrm>
            <a:off x="4939920" y="3067920"/>
            <a:ext cx="234072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Sərhəd 2: Avtonomiya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7"/>
          <p:cNvSpPr/>
          <p:nvPr/>
        </p:nvSpPr>
        <p:spPr>
          <a:xfrm>
            <a:off x="4939920" y="3413520"/>
            <a:ext cx="3189960" cy="74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«SI hərbi qərarları, cəza tədbirlərini, həyat-ölüm seçimlərini müstəqil edə bilərmi? İnsan nəzarəti nə zaman məcburidir?»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720360" y="4847760"/>
            <a:ext cx="7702560" cy="1426680"/>
          </a:xfrm>
          <a:prstGeom prst="roundRect">
            <a:avLst>
              <a:gd name="adj" fmla="val 1893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5" name="Image 5" descr="preencoded.png"/>
          <p:cNvPicPr/>
          <p:nvPr/>
        </p:nvPicPr>
        <p:blipFill>
          <a:blip r:embed="rId4"/>
          <a:stretch/>
        </p:blipFill>
        <p:spPr>
          <a:xfrm>
            <a:off x="635400" y="4762800"/>
            <a:ext cx="215280" cy="215280"/>
          </a:xfrm>
          <a:prstGeom prst="rect">
            <a:avLst/>
          </a:prstGeom>
          <a:ln w="0">
            <a:noFill/>
          </a:ln>
        </p:spPr>
      </p:pic>
      <p:pic>
        <p:nvPicPr>
          <p:cNvPr id="196" name="Image 6" descr="preencoded.png"/>
          <p:cNvPicPr/>
          <p:nvPr/>
        </p:nvPicPr>
        <p:blipFill>
          <a:blip r:embed="rId5"/>
          <a:stretch/>
        </p:blipFill>
        <p:spPr>
          <a:xfrm>
            <a:off x="8292600" y="6144120"/>
            <a:ext cx="215280" cy="215280"/>
          </a:xfrm>
          <a:prstGeom prst="rect">
            <a:avLst/>
          </a:prstGeom>
          <a:ln w="0">
            <a:noFill/>
          </a:ln>
        </p:spPr>
      </p:pic>
      <p:sp>
        <p:nvSpPr>
          <p:cNvPr id="197" name="Text 9"/>
          <p:cNvSpPr/>
          <p:nvPr/>
        </p:nvSpPr>
        <p:spPr>
          <a:xfrm>
            <a:off x="1013400" y="5140800"/>
            <a:ext cx="342324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Sərhəd 3: Şəffaflıq vs İnnovasiya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0"/>
          <p:cNvSpPr/>
          <p:nvPr/>
        </p:nvSpPr>
        <p:spPr>
          <a:xfrm>
            <a:off x="1013400" y="5486760"/>
            <a:ext cx="7116480" cy="49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«Şirkətlər alqoritmlərini tamamilə açıqlasalar, rəqabət üstünlüklərini itirərlərmi? Bu gərginliyi necə həll etmək olar?»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1"/>
          <p:cNvSpPr/>
          <p:nvPr/>
        </p:nvSpPr>
        <p:spPr>
          <a:xfrm>
            <a:off x="720360" y="6444000"/>
            <a:ext cx="7702560" cy="922680"/>
          </a:xfrm>
          <a:prstGeom prst="roundRect">
            <a:avLst>
              <a:gd name="adj" fmla="val 2926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0" name="Image 7" descr="preencoded.png"/>
          <p:cNvPicPr/>
          <p:nvPr/>
        </p:nvPicPr>
        <p:blipFill>
          <a:blip r:embed="rId6"/>
          <a:stretch/>
        </p:blipFill>
        <p:spPr>
          <a:xfrm>
            <a:off x="900360" y="6687000"/>
            <a:ext cx="224280" cy="179280"/>
          </a:xfrm>
          <a:prstGeom prst="rect">
            <a:avLst/>
          </a:prstGeom>
          <a:ln w="0">
            <a:noFill/>
          </a:ln>
        </p:spPr>
      </p:pic>
      <p:sp>
        <p:nvSpPr>
          <p:cNvPr id="201" name="Text 12"/>
          <p:cNvSpPr/>
          <p:nvPr/>
        </p:nvSpPr>
        <p:spPr>
          <a:xfrm>
            <a:off x="1305720" y="6639120"/>
            <a:ext cx="6937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Source Sans 3"/>
                <a:ea typeface="Source Sans 3"/>
              </a:rPr>
              <a:t>💬</a:t>
            </a:r>
            <a:r>
              <a:rPr lang="en-US" sz="14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 Qruplara ayrılın: hər qrup bir mövzu üçün «bəli» və «xeyr» arqumentlər hazırlasın. 10 dəqiqə sonra sinif müzakirəsi keçiririk.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795960" y="680400"/>
            <a:ext cx="4522320" cy="56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450"/>
              </a:lnSpc>
              <a:tabLst>
                <a:tab pos="0" algn="l"/>
              </a:tabLst>
            </a:pPr>
            <a:r>
              <a:rPr lang="en-US" sz="35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Ev Tapşırığı</a:t>
            </a:r>
            <a:endParaRPr lang="en-US" sz="3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795960" y="1612440"/>
            <a:ext cx="13037400" cy="2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Növbəti dərsə qədər aşağıdakı praktiki tapşırığı tamamlayın. Bu tapşırıq nəzəri biliklərinizi real vəziyyətə tətbiq etmənizə imkan verəcək.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"/>
          <p:cNvSpPr/>
          <p:nvPr/>
        </p:nvSpPr>
        <p:spPr>
          <a:xfrm>
            <a:off x="795960" y="2105640"/>
            <a:ext cx="6426720" cy="2277720"/>
          </a:xfrm>
          <a:prstGeom prst="roundRect">
            <a:avLst>
              <a:gd name="adj" fmla="val 1310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3"/>
          <p:cNvSpPr/>
          <p:nvPr/>
        </p:nvSpPr>
        <p:spPr>
          <a:xfrm>
            <a:off x="819000" y="2128320"/>
            <a:ext cx="6381000" cy="59616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3860640" y="2240280"/>
            <a:ext cx="29772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en-US" sz="23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lang="en-US" sz="2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1017720" y="2908800"/>
            <a:ext cx="2260800" cy="28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Şirkət Seçimi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017720" y="3301560"/>
            <a:ext cx="5983200" cy="57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istifadə edən real və ya xəyali bir şirkət seçin. Şirkətin fəaliyyət sahəsini, əsas SI tətbiqini və hədəf auditoriyasını qısaca təsvir edin.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7407000" y="2105640"/>
            <a:ext cx="6426720" cy="2277720"/>
          </a:xfrm>
          <a:prstGeom prst="roundRect">
            <a:avLst>
              <a:gd name="adj" fmla="val 1310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7429680" y="2128320"/>
            <a:ext cx="6381000" cy="59616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10471320" y="2240280"/>
            <a:ext cx="29772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en-US" sz="23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lang="en-US" sz="2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7628760" y="2908800"/>
            <a:ext cx="2431800" cy="28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Etik Kodeks Layihəsi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11"/>
          <p:cNvSpPr/>
          <p:nvPr/>
        </p:nvSpPr>
        <p:spPr>
          <a:xfrm>
            <a:off x="7628760" y="3301560"/>
            <a:ext cx="598320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Həmin şirkət üçün SI etik kodeksinin layihəsini hazırlayın. Kodeks dörd prinsipə — şəffaflıq, ədalətlilik, məsuliyyət, təhlükəsizlik — əsaslanmalıdır.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795960" y="4566960"/>
            <a:ext cx="6426720" cy="1990800"/>
          </a:xfrm>
          <a:prstGeom prst="roundRect">
            <a:avLst>
              <a:gd name="adj" fmla="val 149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13"/>
          <p:cNvSpPr/>
          <p:nvPr/>
        </p:nvSpPr>
        <p:spPr>
          <a:xfrm>
            <a:off x="819000" y="4590000"/>
            <a:ext cx="6381000" cy="59616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3860640" y="4701960"/>
            <a:ext cx="29772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en-US" sz="23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lang="en-US" sz="2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1017720" y="5370480"/>
            <a:ext cx="2260800" cy="28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Risk Analizi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1017720" y="5763240"/>
            <a:ext cx="5983200" cy="57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Şirkətin SI sistemi üçün ən azı 3 potensial etik risk müəyyənləşdirin və hər birinə azaldıcı tədbir təklif edin.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17"/>
          <p:cNvSpPr/>
          <p:nvPr/>
        </p:nvSpPr>
        <p:spPr>
          <a:xfrm>
            <a:off x="7407000" y="4566960"/>
            <a:ext cx="6426720" cy="1990800"/>
          </a:xfrm>
          <a:prstGeom prst="roundRect">
            <a:avLst>
              <a:gd name="adj" fmla="val 1499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7429680" y="4590000"/>
            <a:ext cx="6381000" cy="596160"/>
          </a:xfrm>
          <a:prstGeom prst="roundRect">
            <a:avLst>
              <a:gd name="adj" fmla="val 40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10471320" y="4701960"/>
            <a:ext cx="29772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en-US" sz="23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lang="en-US" sz="2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7628760" y="5370480"/>
            <a:ext cx="2260800" cy="28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Təqdimat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21"/>
          <p:cNvSpPr/>
          <p:nvPr/>
        </p:nvSpPr>
        <p:spPr>
          <a:xfrm>
            <a:off x="7628760" y="5763240"/>
            <a:ext cx="5983200" cy="57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Kodeksinizi növbəti dərsdə 5 dəqiqə ərzində sinifə təqdim edin. Formatı özünüz seçin: slayd, sənəd və ya xülasə cədvəl.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22"/>
          <p:cNvSpPr/>
          <p:nvPr/>
        </p:nvSpPr>
        <p:spPr>
          <a:xfrm>
            <a:off x="795960" y="6764760"/>
            <a:ext cx="13037400" cy="783720"/>
          </a:xfrm>
          <a:prstGeom prst="roundRect">
            <a:avLst>
              <a:gd name="adj" fmla="val 3807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5" name="Image 0" descr="preencoded.png"/>
          <p:cNvPicPr/>
          <p:nvPr/>
        </p:nvPicPr>
        <p:blipFill>
          <a:blip r:embed="rId3"/>
          <a:stretch/>
        </p:blipFill>
        <p:spPr>
          <a:xfrm>
            <a:off x="995040" y="7044840"/>
            <a:ext cx="248040" cy="198360"/>
          </a:xfrm>
          <a:prstGeom prst="rect">
            <a:avLst/>
          </a:prstGeom>
          <a:ln w="0">
            <a:noFill/>
          </a:ln>
        </p:spPr>
      </p:pic>
      <p:sp>
        <p:nvSpPr>
          <p:cNvPr id="226" name="Text 23"/>
          <p:cNvSpPr/>
          <p:nvPr/>
        </p:nvSpPr>
        <p:spPr>
          <a:xfrm>
            <a:off x="1442520" y="6997680"/>
            <a:ext cx="12192120" cy="2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000000"/>
                </a:solidFill>
                <a:latin typeface="Source Sans 3"/>
                <a:ea typeface="Source Sans 3"/>
              </a:rPr>
              <a:t>📚</a:t>
            </a:r>
            <a:r>
              <a:rPr lang="en-US" sz="155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 Tövsiyə olunan mənbə: Avropa Komissiyasının «Ethics Guidelines for Trustworthy AI» sənədi (2019) — pulsuz onlayn mövcuddur.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Picture 226"/>
          <p:cNvPicPr/>
          <p:nvPr/>
        </p:nvPicPr>
        <p:blipFill>
          <a:blip r:embed="rId2"/>
          <a:stretch/>
        </p:blipFill>
        <p:spPr>
          <a:xfrm>
            <a:off x="3203640" y="685800"/>
            <a:ext cx="7275960" cy="7275960"/>
          </a:xfrm>
          <a:prstGeom prst="rect">
            <a:avLst/>
          </a:prstGeom>
          <a:ln w="0">
            <a:noFill/>
          </a:ln>
        </p:spPr>
      </p:pic>
      <p:sp>
        <p:nvSpPr>
          <p:cNvPr id="228" name="Rectangle 227"/>
          <p:cNvSpPr/>
          <p:nvPr/>
        </p:nvSpPr>
        <p:spPr>
          <a:xfrm>
            <a:off x="5029200" y="84600"/>
            <a:ext cx="3494314" cy="60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9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Test </a:t>
            </a:r>
            <a:r>
              <a:rPr lang="en-US" sz="2950" b="1" strike="noStrike" spc="-1" dirty="0" err="1">
                <a:solidFill>
                  <a:srgbClr val="FFFFFF"/>
                </a:solidFill>
                <a:latin typeface="Montserrat Bold"/>
                <a:ea typeface="Montserrat Bold"/>
              </a:rPr>
              <a:t>Tapşırığı</a:t>
            </a:r>
            <a:r>
              <a:rPr lang="en-US" sz="29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 L8</a:t>
            </a:r>
            <a:endParaRPr lang="en-US" sz="295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Words>1217</Words>
  <Application>Microsoft Office PowerPoint</Application>
  <PresentationFormat>Custom</PresentationFormat>
  <Paragraphs>128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12</vt:i4>
      </vt:variant>
    </vt:vector>
  </HeadingPairs>
  <TitlesOfParts>
    <vt:vector size="31" baseType="lpstr">
      <vt:lpstr>Arial</vt:lpstr>
      <vt:lpstr>Montserrat Bold</vt:lpstr>
      <vt:lpstr>Montserrat Light</vt:lpstr>
      <vt:lpstr>Source Sans 3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Orkhan Iskandarov</cp:lastModifiedBy>
  <cp:revision>4</cp:revision>
  <cp:lastPrinted>2026-04-20T07:06:41Z</cp:lastPrinted>
  <dcterms:created xsi:type="dcterms:W3CDTF">2026-03-25T14:49:10Z</dcterms:created>
  <dcterms:modified xsi:type="dcterms:W3CDTF">2026-04-20T08:10:52Z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