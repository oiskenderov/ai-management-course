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Source Sans 3"/>
      <p:regular r:id="rId22"/>
    </p:embeddedFont>
    <p:embeddedFont>
      <p:font typeface="Source Sans 3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177302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Искусственный интеллект как инструмент инноваций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4728210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Учебное занятие · Имя преподавателя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45118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Цели занятия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674048" y="2125385"/>
            <a:ext cx="709255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«Сегодня мы рассмотрим, как искусственный интеллект помогает ускорять инновации — от генерации идей до анализа рынка и трансформации бизнес-моделей.»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50198" y="1882497"/>
            <a:ext cx="30480" cy="1457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350198" y="3583067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50198" y="3919538"/>
            <a:ext cx="3600212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350198" y="4088368"/>
            <a:ext cx="3600212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Понять природу инноваций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0198" y="4831318"/>
            <a:ext cx="3600212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Разобраться в видах и структуре инновационного процесса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166271" y="3583067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0166271" y="3919538"/>
            <a:ext cx="3600331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166271" y="4088368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Изучить роль ИИ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166271" y="4524613"/>
            <a:ext cx="360033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Узнать, как GenAI и аналитика данных усиливают инновации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50198" y="5857042"/>
            <a:ext cx="215860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350198" y="6193512"/>
            <a:ext cx="7416403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350198" y="6362343"/>
            <a:ext cx="323957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Применить на практике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350198" y="6798588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Сформулировать собственную идею продукта с использованием ИИ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6498" y="1136333"/>
            <a:ext cx="5388769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инновация?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26123" y="1954411"/>
            <a:ext cx="4237673" cy="5138738"/>
          </a:xfrm>
          <a:prstGeom prst="roundRect">
            <a:avLst>
              <a:gd name="adj" fmla="val 690"/>
            </a:avLst>
          </a:prstGeom>
          <a:solidFill>
            <a:srgbClr val="1D1F22"/>
          </a:solidFill>
          <a:ln/>
        </p:spPr>
      </p:sp>
      <p:sp>
        <p:nvSpPr>
          <p:cNvPr id="5" name="Text 2"/>
          <p:cNvSpPr/>
          <p:nvPr/>
        </p:nvSpPr>
        <p:spPr>
          <a:xfrm>
            <a:off x="6321147" y="2130504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Определение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21147" y="2583537"/>
            <a:ext cx="3847624" cy="1669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Инновация — это </a:t>
            </a:r>
            <a:pPr algn="l" indent="0" marL="0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новое решение</a:t>
            </a:r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которое создаёт реальную ценность и имеет практическое применение. Это не просто изобретение или идея — это реализованный результат, меняющий поведение людей, рынков или организаций.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21147" y="4411504"/>
            <a:ext cx="3847624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Ключевое отличие инновации от изобретения: инновация должна </a:t>
            </a:r>
            <a:pPr algn="l" indent="0" marL="0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дойти до потребителя и создать эффект</a:t>
            </a:r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06814" y="2130504"/>
            <a:ext cx="291596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условия инновации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9919" y="2611576"/>
            <a:ext cx="292537" cy="2925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40584" y="2605564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Новизна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340584" y="3058597"/>
            <a:ext cx="2517219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Решение должно быть новым для рынка или организации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9919" y="4251543"/>
            <a:ext cx="292537" cy="292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40584" y="4245531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Ценность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1340584" y="4698563"/>
            <a:ext cx="2517219" cy="834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Оно должно решать реальную проблему или создавать выгоду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9919" y="5891510"/>
            <a:ext cx="292537" cy="2925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40584" y="5885498"/>
            <a:ext cx="221622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Применимость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1340584" y="6338530"/>
            <a:ext cx="2517219" cy="556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Оно должно быть внедрено и использовано на практике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90568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Виды инноваций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735937"/>
            <a:ext cx="2390061" cy="14770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48294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Инкрементальная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919186"/>
            <a:ext cx="4120991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Постепенное улучшение существующего продукта или процесса. Снижение издержек, добавление функций, повышение качества. Пример: обновление интерфейса смартфона.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704" y="2735937"/>
            <a:ext cx="2390061" cy="14770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4704" y="448294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Радикальная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54704" y="4919186"/>
            <a:ext cx="4120991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Технологический скачок, создающий принципиально новые категории продуктов. Требует значительных инвестиций и изменяет отраслевые стандарты. Пример: появление интернета.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610" y="2735937"/>
            <a:ext cx="2390061" cy="14770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5610" y="448294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Дисруптивная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45610" y="4919186"/>
            <a:ext cx="4120991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Инновация, полностью изменяющая структуру рынка и вытесняющая устаревших игроков. Часто начинается с нижнего сегмента. Пример: стриминговые сервисы против DVD.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450" y="569357"/>
            <a:ext cx="4656177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Процесс инновации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0450" y="1412557"/>
            <a:ext cx="1314950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 первоначальной идеи до коммерческого успеха — каждый этап требует особых инструментов, компетенций и решений. ИИ способен ускорить и усилить каждый из них.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50" y="2106573"/>
            <a:ext cx="925592" cy="11107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4633" y="2291596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824633" y="2649617"/>
            <a:ext cx="1206531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Генерация и отбор концепций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50" y="3217307"/>
            <a:ext cx="925592" cy="11107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4633" y="3402330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Прототип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824633" y="3760351"/>
            <a:ext cx="1206531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Быстрое создание MVP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50" y="4328041"/>
            <a:ext cx="925592" cy="11107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4633" y="4513064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824633" y="4871085"/>
            <a:ext cx="1206531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Проверка гипотез с пользователями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50" y="5438775"/>
            <a:ext cx="925592" cy="11107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4633" y="5623798"/>
            <a:ext cx="2160151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Масштабирование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824633" y="5981819"/>
            <a:ext cx="1206531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Тиражирование успешных решений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50" y="6549509"/>
            <a:ext cx="925592" cy="11107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24633" y="6734532"/>
            <a:ext cx="2297787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Коммерциализация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824633" y="7092553"/>
            <a:ext cx="1206531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Монетизация и выход на рынок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54405"/>
            <a:ext cx="644640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ИИ для генерации идей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198" y="2107644"/>
            <a:ext cx="343138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Генеративный ИИ (GenAI)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2630210"/>
            <a:ext cx="3444716" cy="29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Инструменты на основе больших языковых моделей — ChatGPT, Gemini, Claude — позволяют проводить структурированный мозговой штурм, генерировать сотни вариантов идей за минуты и исследовать нестандартные направления, которые человек может упустить.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329505" y="2107644"/>
            <a:ext cx="280225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Аналитика и данные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329505" y="2657237"/>
            <a:ext cx="3444716" cy="1926193"/>
          </a:xfrm>
          <a:prstGeom prst="roundRect">
            <a:avLst>
              <a:gd name="adj" fmla="val 1682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10545366" y="287309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трендов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45366" y="3395663"/>
            <a:ext cx="3012996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Выявление растущих тем через Google Trends, новостные потоки и отраслевые отчёты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329505" y="4799290"/>
            <a:ext cx="3444716" cy="2232898"/>
          </a:xfrm>
          <a:prstGeom prst="roundRect">
            <a:avLst>
              <a:gd name="adj" fmla="val 1451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10545366" y="5015151"/>
            <a:ext cx="301299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Кластеризация данных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545366" y="5844421"/>
            <a:ext cx="3012996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Группировка пользовательских отзывов и запросов для поиска незакрытых потребностей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46384"/>
            <a:ext cx="785741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портфеля инноваций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591753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 все идеи одинаково ценны. ИИ помогает компаниям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приоритизировать проекты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оценивая их потенциал и риски с помощью аналитических матриц.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3698438"/>
            <a:ext cx="356770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Матрица риск–доходность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221004"/>
            <a:ext cx="3904774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Позволяет визуально распределить проекты по квадрантам: высокий риск / высокая доходность, низкий риск / низкая доходность. ИИ рассчитывает вероятности на основе исторических данных и автоматически обновляет оценки.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47548" y="3482578"/>
            <a:ext cx="4216003" cy="3200519"/>
          </a:xfrm>
          <a:prstGeom prst="roundRect">
            <a:avLst>
              <a:gd name="adj" fmla="val 1012"/>
            </a:avLst>
          </a:prstGeom>
          <a:solidFill>
            <a:srgbClr val="1D1F22"/>
          </a:solidFill>
          <a:ln/>
        </p:spPr>
      </p:sp>
      <p:sp>
        <p:nvSpPr>
          <p:cNvPr id="7" name="Text 5"/>
          <p:cNvSpPr/>
          <p:nvPr/>
        </p:nvSpPr>
        <p:spPr>
          <a:xfrm>
            <a:off x="5363408" y="3698438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BCG-матрица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63408" y="4221004"/>
            <a:ext cx="3784283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Классический инструмент распределения инновационных проектов по категориям: «звёзды», «дойные коровы», «знаки вопроса», «собаки». ИИ обеспечивает динамическую переоценку позиций в реальном времени.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42527" y="3698438"/>
            <a:ext cx="3461266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Приоритизация проектов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742527" y="4221004"/>
            <a:ext cx="4039076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Алгоритмы машинного обучения учитывают десятки параметров: ресурсы, сроки, стратегическое соответствие, конкурентную среду — и выдают ранжированный список приоритетов.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5316" y="611148"/>
            <a:ext cx="7446169" cy="120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рыночных сигналов с помощью ИИ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5316" y="2129552"/>
            <a:ext cx="424458" cy="4244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20401" y="2202418"/>
            <a:ext cx="2411849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Социальные сети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020401" y="2629019"/>
            <a:ext cx="6761083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Мониторинг упоминаний, тональности и вирусных тем в реальном времени. ИИ обрабатывает миллионы публикаций и выявляет зарождающиеся потребительские тренды ещё до того, как они станут очевидными.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5316" y="4308634"/>
            <a:ext cx="424458" cy="4244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20401" y="4381500"/>
            <a:ext cx="2411849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Отзывы клиентов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020401" y="4808101"/>
            <a:ext cx="6761083" cy="946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Анализ тональности и тематическая кластеризация тысяч отзывов на маркетплейсах, форумах и в CRM-системах. Помогает выявить «болевые точки» и незакрытые потребности аудитории.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5316" y="6172081"/>
            <a:ext cx="424458" cy="4244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020401" y="6244947"/>
            <a:ext cx="2551390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Поисковые тренды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020401" y="6671548"/>
            <a:ext cx="6761083" cy="946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Анализ запросов в Google, Яндексе и отраслевых базах данных позволяет предсказывать изменения спроса и корректировать инновационную стратегию на опережение.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827" y="1060252"/>
            <a:ext cx="7728347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Цифровая трансформация и инновации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973217" y="2446258"/>
            <a:ext cx="7462957" cy="72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ИИ способен не просто оптимизировать процессы — он может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изменить саму бизнес-модель компании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создавая принципиально новые источники ценности и конкурентные преимущества.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07827" y="2283143"/>
            <a:ext cx="22860" cy="105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906899" y="3496508"/>
            <a:ext cx="22860" cy="3672721"/>
          </a:xfrm>
          <a:prstGeom prst="roundRect">
            <a:avLst>
              <a:gd name="adj" fmla="val 116127"/>
            </a:avLst>
          </a:prstGeom>
          <a:solidFill>
            <a:srgbClr val="494A4B"/>
          </a:solidFill>
          <a:ln/>
        </p:spPr>
      </p:sp>
      <p:sp>
        <p:nvSpPr>
          <p:cNvPr id="7" name="Shape 4"/>
          <p:cNvSpPr/>
          <p:nvPr/>
        </p:nvSpPr>
        <p:spPr>
          <a:xfrm>
            <a:off x="1083112" y="3684151"/>
            <a:ext cx="530900" cy="22860"/>
          </a:xfrm>
          <a:prstGeom prst="roundRect">
            <a:avLst>
              <a:gd name="adj" fmla="val 116127"/>
            </a:avLst>
          </a:prstGeom>
          <a:solidFill>
            <a:srgbClr val="494A4B"/>
          </a:solidFill>
          <a:ln/>
        </p:spPr>
      </p:sp>
      <p:sp>
        <p:nvSpPr>
          <p:cNvPr id="8" name="Shape 5"/>
          <p:cNvSpPr/>
          <p:nvPr/>
        </p:nvSpPr>
        <p:spPr>
          <a:xfrm>
            <a:off x="707827" y="3496508"/>
            <a:ext cx="398145" cy="39814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786289" y="3544788"/>
            <a:ext cx="2412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791772" y="3557230"/>
            <a:ext cx="292810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 процессов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791772" y="3895487"/>
            <a:ext cx="6644402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Роботизация рутинных операций, снижение затрат и ошибок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83112" y="4614505"/>
            <a:ext cx="530900" cy="22860"/>
          </a:xfrm>
          <a:prstGeom prst="roundRect">
            <a:avLst>
              <a:gd name="adj" fmla="val 116127"/>
            </a:avLst>
          </a:prstGeom>
          <a:solidFill>
            <a:srgbClr val="494A4B"/>
          </a:solidFill>
          <a:ln/>
        </p:spPr>
      </p:sp>
      <p:sp>
        <p:nvSpPr>
          <p:cNvPr id="13" name="Shape 10"/>
          <p:cNvSpPr/>
          <p:nvPr/>
        </p:nvSpPr>
        <p:spPr>
          <a:xfrm>
            <a:off x="707827" y="4426863"/>
            <a:ext cx="398145" cy="39814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786289" y="4475143"/>
            <a:ext cx="2412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791772" y="4487585"/>
            <a:ext cx="2011085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Персонализация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791772" y="4825841"/>
            <a:ext cx="6644402" cy="482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Индивидуальные предложения для каждого клиента на основе поведенческих данных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83112" y="5786199"/>
            <a:ext cx="530900" cy="22860"/>
          </a:xfrm>
          <a:prstGeom prst="roundRect">
            <a:avLst>
              <a:gd name="adj" fmla="val 116127"/>
            </a:avLst>
          </a:prstGeom>
          <a:solidFill>
            <a:srgbClr val="494A4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7827" y="5598557"/>
            <a:ext cx="398145" cy="39814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9" name="Text 16"/>
          <p:cNvSpPr/>
          <p:nvPr/>
        </p:nvSpPr>
        <p:spPr>
          <a:xfrm>
            <a:off x="786289" y="5646837"/>
            <a:ext cx="2412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791772" y="5659279"/>
            <a:ext cx="2733199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Платформенные модели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791772" y="5997535"/>
            <a:ext cx="6644402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Создание экосистем, где ИИ связывает потребителей и поставщиков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083112" y="6716554"/>
            <a:ext cx="530900" cy="22860"/>
          </a:xfrm>
          <a:prstGeom prst="roundRect">
            <a:avLst>
              <a:gd name="adj" fmla="val 116127"/>
            </a:avLst>
          </a:prstGeom>
          <a:solidFill>
            <a:srgbClr val="494A4B"/>
          </a:solidFill>
          <a:ln/>
        </p:spPr>
      </p:sp>
      <p:sp>
        <p:nvSpPr>
          <p:cNvPr id="23" name="Shape 20"/>
          <p:cNvSpPr/>
          <p:nvPr/>
        </p:nvSpPr>
        <p:spPr>
          <a:xfrm>
            <a:off x="707827" y="6528911"/>
            <a:ext cx="398145" cy="398145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24" name="Text 21"/>
          <p:cNvSpPr/>
          <p:nvPr/>
        </p:nvSpPr>
        <p:spPr>
          <a:xfrm>
            <a:off x="786289" y="6577191"/>
            <a:ext cx="24122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791772" y="6589633"/>
            <a:ext cx="2470904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Новые бизнес-модели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1791772" y="6927890"/>
            <a:ext cx="6644402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Полная трансформация: от продажи продуктов к продаже результатов и подпискам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33011"/>
            <a:ext cx="7541300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Риски и этические вопросы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278380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Применение ИИ в инновациях несёт не только возможности, но и серьёзные риски, требующие осмысленного подхода и регуляторной осторожности.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169206"/>
            <a:ext cx="4156948" cy="3827383"/>
          </a:xfrm>
          <a:prstGeom prst="roundRect">
            <a:avLst>
              <a:gd name="adj" fmla="val 3823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318" y="3169206"/>
            <a:ext cx="121920" cy="3827383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01579" y="3415546"/>
            <a:ext cx="3572828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⚖️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Интеллектуальная собственность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01579" y="4158496"/>
            <a:ext cx="3572828" cy="25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Кому принадлежат идеи, сгенерированные ИИ? Правовой статус контента, созданного с участием генеративных моделей, остаётся предметом международных дискуссий. Компании должны заблаговременно выстраивать политику в области IP.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36607" y="3169206"/>
            <a:ext cx="4157067" cy="3827383"/>
          </a:xfrm>
          <a:prstGeom prst="roundRect">
            <a:avLst>
              <a:gd name="adj" fmla="val 3823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06127" y="3169206"/>
            <a:ext cx="121920" cy="3827383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574387" y="3415546"/>
            <a:ext cx="2460427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🔒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Защита данных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574387" y="3851791"/>
            <a:ext cx="3572947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ИИ-системы обучаются на данных пользователей. Необходимо строго соблюдать требования GDPR, 152-ФЗ и корпоративных стандартов приватности, чтобы не допустить утечек и нарушений доверия клиентов.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9534" y="3169206"/>
            <a:ext cx="4157067" cy="3827383"/>
          </a:xfrm>
          <a:prstGeom prst="roundRect">
            <a:avLst>
              <a:gd name="adj" fmla="val 3823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9054" y="3169206"/>
            <a:ext cx="121920" cy="3827383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947315" y="3415546"/>
            <a:ext cx="3572947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🧠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Алгоритмическая предвзятость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947315" y="4158496"/>
            <a:ext cx="3572947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Модели, обученные на исторических данных, могут воспроизводить и усиливать существующие дискриминационные паттерны. Регулярный аудит алгоритмов — обязательный элемент ответственного применения ИИ.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61484" y="1344454"/>
            <a:ext cx="1479352" cy="281583"/>
          </a:xfrm>
          <a:prstGeom prst="roundRect">
            <a:avLst>
              <a:gd name="adj" fmla="val 7193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6262688" y="1395055"/>
            <a:ext cx="1276945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ДОМАШНЕЕ ЗАДАНИЕ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161484" y="1678781"/>
            <a:ext cx="3835837" cy="47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Ваша задача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161484" y="2356009"/>
            <a:ext cx="7793831" cy="827961"/>
          </a:xfrm>
          <a:prstGeom prst="roundRect">
            <a:avLst>
              <a:gd name="adj" fmla="val 3058"/>
            </a:avLst>
          </a:prstGeom>
          <a:solidFill>
            <a:srgbClr val="2626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196" y="2579251"/>
            <a:ext cx="210860" cy="168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09767" y="2529959"/>
            <a:ext cx="7076837" cy="451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Предложите идею нового продукта или услуги с использованием искусственного интеллекта и обоснуйте, к какому типу инноваций она относится.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61484" y="3585448"/>
            <a:ext cx="3830955" cy="1383149"/>
          </a:xfrm>
          <a:prstGeom prst="roundRect">
            <a:avLst>
              <a:gd name="adj" fmla="val 7933"/>
            </a:avLst>
          </a:prstGeom>
          <a:solidFill>
            <a:srgbClr val="111213"/>
          </a:solidFill>
          <a:ln/>
        </p:spPr>
      </p:sp>
      <p:sp>
        <p:nvSpPr>
          <p:cNvPr id="10" name="Shape 6"/>
          <p:cNvSpPr/>
          <p:nvPr/>
        </p:nvSpPr>
        <p:spPr>
          <a:xfrm>
            <a:off x="6161484" y="3562588"/>
            <a:ext cx="3830955" cy="91440"/>
          </a:xfrm>
          <a:prstGeom prst="roundRect">
            <a:avLst>
              <a:gd name="adj" fmla="val 27687"/>
            </a:avLst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7823835" y="3332321"/>
            <a:ext cx="506254" cy="506254"/>
          </a:xfrm>
          <a:prstGeom prst="roundRect">
            <a:avLst>
              <a:gd name="adj" fmla="val 180621"/>
            </a:avLst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7975640" y="3458885"/>
            <a:ext cx="202525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3056" y="4007287"/>
            <a:ext cx="1917859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Опишите продукт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3056" y="4326017"/>
            <a:ext cx="3447812" cy="451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Что это за продукт? Какую проблему он решает? Кто целевая аудитория?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0124242" y="3585448"/>
            <a:ext cx="3831074" cy="1383149"/>
          </a:xfrm>
          <a:prstGeom prst="roundRect">
            <a:avLst>
              <a:gd name="adj" fmla="val 7933"/>
            </a:avLst>
          </a:prstGeom>
          <a:solidFill>
            <a:srgbClr val="111213"/>
          </a:solidFill>
          <a:ln/>
        </p:spPr>
      </p:sp>
      <p:sp>
        <p:nvSpPr>
          <p:cNvPr id="16" name="Shape 12"/>
          <p:cNvSpPr/>
          <p:nvPr/>
        </p:nvSpPr>
        <p:spPr>
          <a:xfrm>
            <a:off x="10124242" y="3562588"/>
            <a:ext cx="3831074" cy="91440"/>
          </a:xfrm>
          <a:prstGeom prst="roundRect">
            <a:avLst>
              <a:gd name="adj" fmla="val 27687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786592" y="3332321"/>
            <a:ext cx="506254" cy="506254"/>
          </a:xfrm>
          <a:prstGeom prst="roundRect">
            <a:avLst>
              <a:gd name="adj" fmla="val 180621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11938397" y="3458885"/>
            <a:ext cx="202525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0315813" y="4007287"/>
            <a:ext cx="1917859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ИИ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10315813" y="4326017"/>
            <a:ext cx="3447931" cy="451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Как именно ИИ задействован — генерация, анализ, автоматизация, персонализация?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161484" y="5353526"/>
            <a:ext cx="7793831" cy="1157645"/>
          </a:xfrm>
          <a:prstGeom prst="roundRect">
            <a:avLst>
              <a:gd name="adj" fmla="val 9479"/>
            </a:avLst>
          </a:prstGeom>
          <a:solidFill>
            <a:srgbClr val="111213"/>
          </a:solidFill>
          <a:ln/>
        </p:spPr>
      </p:sp>
      <p:sp>
        <p:nvSpPr>
          <p:cNvPr id="22" name="Shape 18"/>
          <p:cNvSpPr/>
          <p:nvPr/>
        </p:nvSpPr>
        <p:spPr>
          <a:xfrm>
            <a:off x="6161484" y="5330666"/>
            <a:ext cx="7793831" cy="91440"/>
          </a:xfrm>
          <a:prstGeom prst="roundRect">
            <a:avLst>
              <a:gd name="adj" fmla="val 27687"/>
            </a:avLst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9805273" y="5100399"/>
            <a:ext cx="506254" cy="506254"/>
          </a:xfrm>
          <a:prstGeom prst="roundRect">
            <a:avLst>
              <a:gd name="adj" fmla="val 180621"/>
            </a:avLst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9957078" y="5226963"/>
            <a:ext cx="202525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6353056" y="5775365"/>
            <a:ext cx="1917859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 инновации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353056" y="6094095"/>
            <a:ext cx="7410688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Инкрементальная, радикальная или дисруптивная? Обоснуйте свой выбор.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161484" y="6659523"/>
            <a:ext cx="7793831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Формат: 1 страница или 3–5 слайдов. Будьте готовы представить идею на следующем занятии.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2026-03-13T11:58:15Z</dcterms:created>
  <dcterms:modified xsi:type="dcterms:W3CDTF">2026-03-13T11:58:15Z</dcterms:modified>
</cp:coreProperties>
</file>