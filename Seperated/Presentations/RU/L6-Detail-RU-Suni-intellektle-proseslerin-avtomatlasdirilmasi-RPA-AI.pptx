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7.png" ContentType="image/png"/>
  <Override PartName="/ppt/media/image11.png" ContentType="image/png"/>
  <Override PartName="/ppt/media/image16.png" ContentType="image/png"/>
  <Override PartName="/ppt/media/image8.svg" ContentType="image/svg"/>
  <Override PartName="/ppt/media/image17.svg" ContentType="image/svg"/>
  <Override PartName="/ppt/media/image12.svg" ContentType="image/svg"/>
  <Override PartName="/ppt/media/image20.png" ContentType="image/png"/>
  <Override PartName="/ppt/media/image18.png" ContentType="image/png"/>
  <Override PartName="/ppt/media/image9.png" ContentType="image/png"/>
  <Override PartName="/ppt/media/image10.svg" ContentType="image/svg"/>
  <Override PartName="/ppt/media/image13.png" ContentType="image/png"/>
  <Override PartName="/ppt/media/image30.png" ContentType="image/png"/>
  <Override PartName="/ppt/media/image31.png" ContentType="image/png"/>
  <Override PartName="/ppt/media/image15.png" ContentType="image/png"/>
  <Override PartName="/ppt/media/image5.png" ContentType="image/png"/>
  <Override PartName="/ppt/media/image6.png" ContentType="image/png"/>
  <Override PartName="/ppt/media/image25.svg" ContentType="image/svg"/>
  <Override PartName="/ppt/media/image3.png" ContentType="image/png"/>
  <Override PartName="/ppt/media/image4.png" ContentType="image/png"/>
  <Override PartName="/ppt/media/image23.svg" ContentType="image/svg"/>
  <Override PartName="/ppt/media/image1.png" ContentType="image/png"/>
  <Override PartName="/ppt/media/image19.svg" ContentType="image/svg"/>
  <Override PartName="/ppt/media/image2.png" ContentType="image/png"/>
  <Override PartName="/ppt/media/image21.svg" ContentType="image/svg"/>
  <Override PartName="/ppt/media/image22.png" ContentType="image/png"/>
  <Override PartName="/ppt/media/image24.png" ContentType="image/png"/>
  <Override PartName="/ppt/media/image26.png" ContentType="image/png"/>
  <Override PartName="/ppt/media/image14.svg" ContentType="image/svg"/>
  <Override PartName="/ppt/media/image27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E450955-5945-4B48-BE4A-21CB4F78792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FE8D9C-D152-426B-8599-798638BBBA4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8F93F24-3058-4FF4-A478-79B76471E5C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E76DB68-40E3-41BD-A13D-6458FEA55FD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DA598E-472C-4369-85B7-30CB64873D7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8AC0C2-B83E-44D4-B376-9D203721ADE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7F4FB8C-6EE2-4BB3-8D2D-FAF90035C28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6E8525-7501-4408-879F-D783A0D06B5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144B24-F545-4BAC-B228-3199FB60D6F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3D271A1-2B9B-4490-B4BF-2F983939B26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EB4918-B75E-4616-B38B-FAB7EA2C7BB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9C35FE2-460F-42D5-9B0E-15C88425F63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h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x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h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x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image" Target="../media/image20.png"/><Relationship Id="rId7" Type="http://schemas.openxmlformats.org/officeDocument/2006/relationships/image" Target="../media/image21.svg"/><Relationship Id="rId8" Type="http://schemas.openxmlformats.org/officeDocument/2006/relationships/image" Target="../media/image22.png"/><Relationship Id="rId9" Type="http://schemas.openxmlformats.org/officeDocument/2006/relationships/image" Target="../media/image23.svg"/><Relationship Id="rId10" Type="http://schemas.openxmlformats.org/officeDocument/2006/relationships/image" Target="../media/image24.png"/><Relationship Id="rId11" Type="http://schemas.openxmlformats.org/officeDocument/2006/relationships/image" Target="../media/image25.svg"/><Relationship Id="rId12" Type="http://schemas.openxmlformats.org/officeDocument/2006/relationships/slideLayout" Target="../slideLayouts/slideLayout12.xml"/><Relationship Id="rId1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6350040" y="2223360"/>
            <a:ext cx="7416000" cy="18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4799"/>
              </a:lnSpc>
              <a:tabLst>
                <a:tab algn="l" pos="0"/>
              </a:tabLst>
            </a:pPr>
            <a:r xmlns:a="http://schemas.openxmlformats.org/drawingml/2006/main"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Интеллектуальная автоматизация процессов от SI: от RPA до IPA</a:t>
            </a:r>
            <a:endParaRPr xmlns:a="http://schemas.openxmlformats.org/drawingml/2006/main"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6350040" y="4387680"/>
            <a:ext cx="74160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От простой автоматизации повседневных задач до контекстно-ориентированных систем на основе искусственного интеллекта — трансформационный путь современного делового мира.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6458040" y="5602320"/>
            <a:ext cx="1993320" cy="403560"/>
          </a:xfrm>
          <a:prstGeom prst="roundRect">
            <a:avLst>
              <a:gd name="adj" fmla="val 6417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6487200" y="5675040"/>
            <a:ext cx="17190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001"/>
              </a:lnSpc>
              <a:tabLst>
                <a:tab algn="l" pos="0"/>
              </a:tabLst>
            </a:pPr>
            <a:r xmlns:a="http://schemas.openxmlformats.org/drawingml/2006/main">
              <a:rPr b="0" lang="ru" sz="13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ПРОФЕССИОНАЛЬНЫЙ КУРС ОБУЧЕНИЯ</a:t>
            </a:r>
            <a:endParaRPr xmlns:a="http://schemas.openxmlformats.org/drawingml/2006/main"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863640" y="1287360"/>
            <a:ext cx="684612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4799"/>
              </a:lnSpc>
              <a:tabLst>
                <a:tab algn="l" pos="0"/>
              </a:tabLst>
            </a:pPr>
            <a:r xmlns:a="http://schemas.openxmlformats.org/drawingml/2006/main"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Что мы сегодня узнаем?</a:t>
            </a:r>
            <a:endParaRPr xmlns:a="http://schemas.openxmlformats.org/drawingml/2006/main"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863640" y="233280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 этом уроке мы вместе исследуем путь от автоматизации повседневных задач к интеллектуальной автоматизации — к моменту, когда искусственный интеллект не просто выполняет действия, но </a:t>
            </a:r>
            <a:r xmlns:a="http://schemas.openxmlformats.org/drawingml/2006/main"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и понимает контекст </a:t>
            </a: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863640" y="3223440"/>
            <a:ext cx="215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01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863640" y="3560040"/>
            <a:ext cx="6343200" cy="30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863640" y="37288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Понимание RPA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863640" y="4165200"/>
            <a:ext cx="63432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Изучите основные принципы, преимущества и классические примеры применения роботизированной автоматизации процессов.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7423200" y="3223440"/>
            <a:ext cx="215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02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7423200" y="3560040"/>
            <a:ext cx="6343200" cy="30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7423200" y="3728880"/>
            <a:ext cx="46332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Выявление ограничений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7423200" y="4165200"/>
            <a:ext cx="63432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Понимание того, какое место занимает классический RPA и почему необходимы более эффективные решения.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863640" y="5190840"/>
            <a:ext cx="215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03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863640" y="5527080"/>
            <a:ext cx="6343200" cy="30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863640" y="569592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Переключиться на IPA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863640" y="6132240"/>
            <a:ext cx="63432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Узнайте, как технологии искусственного интеллекта в сочетании с RPA создают интеллектуальную автоматизацию процессов.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7423200" y="5190840"/>
            <a:ext cx="215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04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7423200" y="5527080"/>
            <a:ext cx="6343200" cy="30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7423200" y="569592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Практическое применение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7423200" y="6132240"/>
            <a:ext cx="63432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Анализируйте реальные бизнес-сценарии, рассчитывайте рентабельность инвестиций и предпринимайте шаги для автоматизации собственных процессов.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74" name="Text 0"/>
          <p:cNvSpPr/>
          <p:nvPr/>
        </p:nvSpPr>
        <p:spPr>
          <a:xfrm>
            <a:off x="863640" y="775440"/>
            <a:ext cx="49082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4799"/>
              </a:lnSpc>
              <a:tabLst>
                <a:tab algn="l" pos="0"/>
              </a:tabLst>
            </a:pPr>
            <a:r xmlns:a="http://schemas.openxmlformats.org/drawingml/2006/main"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Что такое RPA?</a:t>
            </a:r>
            <a:endParaRPr xmlns:a="http://schemas.openxmlformats.org/drawingml/2006/main"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863640" y="1424880"/>
            <a:ext cx="741600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Роботизированная автоматизация процессов (RPA) </a:t>
            </a: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— это технология, использующая программных «ботов» для точного воспроизведения действий человека на компьютерных интерфейсах. Боты вводят данные, копируют и вставляют, отправляют электронные письма и передают данные между системами.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863640" y="3251880"/>
            <a:ext cx="3600000" cy="2470320"/>
          </a:xfrm>
          <a:prstGeom prst="roundRect">
            <a:avLst>
              <a:gd name="adj" fmla="val 131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1079640" y="346752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📋 </a:t>
            </a: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Основано на правилах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079640" y="3903840"/>
            <a:ext cx="316800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Бот работает исключительно в соответствии с заранее определенными, четко заданными правилами. Каждый шаг точно запрограммирован.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4680000" y="3251880"/>
            <a:ext cx="3600000" cy="2470320"/>
          </a:xfrm>
          <a:prstGeom prst="roundRect">
            <a:avLst>
              <a:gd name="adj" fmla="val 131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4895640" y="3467520"/>
            <a:ext cx="316836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🖥️ </a:t>
            </a: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На уровне интерфейса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4895640" y="4210560"/>
            <a:ext cx="316836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Оно действует, «видя» элементы на экране, не вмешиваясь во внутреннюю структуру программ — подобно человеку.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8"/>
          <p:cNvSpPr/>
          <p:nvPr/>
        </p:nvSpPr>
        <p:spPr>
          <a:xfrm>
            <a:off x="863640" y="5938200"/>
            <a:ext cx="7416000" cy="1515600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1079640" y="615384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⚡ </a:t>
            </a: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Быстрое исполнение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1079640" y="6590160"/>
            <a:ext cx="69843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Оно выполняет одну и ту же задачу днем и ночью, без перерывов, без ошибок — во много раз быстрее, чем человек.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863640" y="1557000"/>
            <a:ext cx="835380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4799"/>
              </a:lnSpc>
              <a:tabLst>
                <a:tab algn="l" pos="0"/>
              </a:tabLst>
            </a:pPr>
            <a:r xmlns:a="http://schemas.openxmlformats.org/drawingml/2006/main"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Ограничения классического RPA</a:t>
            </a:r>
            <a:endParaRPr xmlns:a="http://schemas.openxmlformats.org/drawingml/2006/main"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863640" y="260244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RPA — мощный инструмент, но он не решает всех проблем. Классические RPA-боты сбиваются с толку при работе с неструктурированными данными или в неожиданных ситуациях. Эти ограничения заставляют нас искать более эффективное решение — IPA.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863640" y="3493080"/>
            <a:ext cx="4156560" cy="3179160"/>
          </a:xfrm>
          <a:prstGeom prst="roundRect">
            <a:avLst>
              <a:gd name="adj" fmla="val 4602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833400" y="3493080"/>
            <a:ext cx="121680" cy="317916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1201680" y="3703680"/>
            <a:ext cx="35726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📄 </a:t>
            </a: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Невозможно работать с неструктурированными данными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1201680" y="4338360"/>
            <a:ext cx="3572640" cy="19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Электронные письма, PDF-файлы, отсканированные формы, рукописный текст — все это «невидимо» для стандартной роботизированной автоматизации процессов (RPA). Бот может обрабатывать только структурированные, предсказуемые данные.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5236560" y="3493080"/>
            <a:ext cx="4156560" cy="3179160"/>
          </a:xfrm>
          <a:prstGeom prst="roundRect">
            <a:avLst>
              <a:gd name="adj" fmla="val 4602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7"/>
          <p:cNvSpPr/>
          <p:nvPr/>
        </p:nvSpPr>
        <p:spPr>
          <a:xfrm>
            <a:off x="5205960" y="3493080"/>
            <a:ext cx="121680" cy="317916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5574240" y="3739680"/>
            <a:ext cx="35726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🚫 </a:t>
            </a: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Неспособность принимать самостоятельные решения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5574240" y="4482360"/>
            <a:ext cx="357264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Любая ситуация, выходящая за рамки правил, останавливает бота. Исключения, аномальные данные или нестандартные сценарии требуют вмешательства человека.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0"/>
          <p:cNvSpPr/>
          <p:nvPr/>
        </p:nvSpPr>
        <p:spPr>
          <a:xfrm>
            <a:off x="9609480" y="3493080"/>
            <a:ext cx="4156560" cy="3179160"/>
          </a:xfrm>
          <a:prstGeom prst="roundRect">
            <a:avLst>
              <a:gd name="adj" fmla="val 4602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9578880" y="3493080"/>
            <a:ext cx="121680" cy="317916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9947160" y="3739680"/>
            <a:ext cx="35726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🔧 </a:t>
            </a: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Адаптируется к изменениям интерфейса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9947160" y="4482360"/>
            <a:ext cx="357264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Небольшое изменение экрана приложения — даже изменение расположения кнопки — может полностью вывести бота из строя. Затраты на обслуживание высоки.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00" name="Text 0"/>
          <p:cNvSpPr/>
          <p:nvPr/>
        </p:nvSpPr>
        <p:spPr>
          <a:xfrm>
            <a:off x="6309720" y="783720"/>
            <a:ext cx="749664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4601"/>
              </a:lnSpc>
              <a:tabLst>
                <a:tab algn="l" pos="0"/>
              </a:tabLst>
            </a:pPr>
            <a:r xmlns:a="http://schemas.openxmlformats.org/drawingml/2006/main">
              <a:rPr b="1" lang="ru" sz="36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Интеллектуальная автоматизация процессов (IPA)</a:t>
            </a:r>
            <a:endParaRPr xmlns:a="http://schemas.openxmlformats.org/drawingml/2006/main" b="0" lang="en-US" sz="3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6309720" y="2247480"/>
            <a:ext cx="749664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6350"/>
              </a:lnSpc>
              <a:tabLst>
                <a:tab algn="l" pos="0"/>
              </a:tabLst>
            </a:pPr>
            <a:r xmlns:a="http://schemas.openxmlformats.org/drawingml/2006/main">
              <a:rPr b="1" lang="ru" sz="50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RPA + Искусственный интеллект = IPA</a:t>
            </a:r>
            <a:endParaRPr xmlns:a="http://schemas.openxmlformats.org/drawingml/2006/main" b="0" lang="en-US" sz="5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6309720" y="4155840"/>
            <a:ext cx="7496640" cy="90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350"/>
              </a:lnSpc>
              <a:tabLst>
                <a:tab algn="l" pos="0"/>
              </a:tabLst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IPA сочетает в себе исполнительные возможности классической RPA с возможностями понимания искусственного интеллекта. В результате бот не просто выполняет инструкции — </a:t>
            </a:r>
            <a:r xmlns:a="http://schemas.openxmlformats.org/drawingml/2006/main">
              <a:rPr b="1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он понимает контент, принимает решения и учится с течением времени </a:t>
            </a: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.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6161760" y="5280840"/>
            <a:ext cx="3793680" cy="2262960"/>
          </a:xfrm>
          <a:prstGeom prst="roundRect">
            <a:avLst>
              <a:gd name="adj" fmla="val 1426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6367320" y="5477400"/>
            <a:ext cx="2338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299"/>
              </a:lnSpc>
              <a:tabLst>
                <a:tab algn="l" pos="0"/>
              </a:tabLst>
            </a:pPr>
            <a:r xmlns:a="http://schemas.openxmlformats.org/drawingml/2006/main">
              <a:rPr b="1" lang="ru" sz="18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Классический RPA-бот</a:t>
            </a:r>
            <a:endParaRPr xmlns:a="http://schemas.openxmlformats.org/drawingml/2006/main"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6367320" y="5965920"/>
            <a:ext cx="3381840" cy="14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Только структурированные данные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  <a:p>
            <a:pPr xmlns:a="http://schemas.openxmlformats.org/drawingml/2006/main"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 рамках установленных правил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  <a:p>
            <a:pPr xmlns:a="http://schemas.openxmlformats.org/drawingml/2006/main"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Не учится, не меняется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  <a:p>
            <a:pPr xmlns:a="http://schemas.openxmlformats.org/drawingml/2006/main"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Требуется человеческий контроль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10317240" y="5477400"/>
            <a:ext cx="2338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299"/>
              </a:lnSpc>
              <a:tabLst>
                <a:tab algn="l" pos="0"/>
              </a:tabLst>
            </a:pPr>
            <a:r xmlns:a="http://schemas.openxmlformats.org/drawingml/2006/main">
              <a:rPr b="1" lang="ru" sz="18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IPA — Интеллектуальный бот</a:t>
            </a:r>
            <a:endParaRPr xmlns:a="http://schemas.openxmlformats.org/drawingml/2006/main"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10317240" y="5965920"/>
            <a:ext cx="3497040" cy="14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Обрабатывает неструктурированные данные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  <a:p>
            <a:pPr xmlns:a="http://schemas.openxmlformats.org/drawingml/2006/main"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Принимает решения, исходя из контекста.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  <a:p>
            <a:pPr xmlns:a="http://schemas.openxmlformats.org/drawingml/2006/main"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Учится на каждом задании.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  <a:p>
            <a:pPr xmlns:a="http://schemas.openxmlformats.org/drawingml/2006/main" marL="343080" indent="-343080">
              <a:lnSpc>
                <a:spcPts val="2350"/>
              </a:lnSpc>
              <a:buClr>
                <a:srgbClr val="e2e6e9"/>
              </a:buClr>
              <a:buFont typeface="Symbol" charset="2"/>
              <a:buChar char=""/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Самоконтроль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863640" y="1641240"/>
            <a:ext cx="626328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4799"/>
              </a:lnSpc>
              <a:tabLst>
                <a:tab algn="l" pos="0"/>
              </a:tabLst>
            </a:pPr>
            <a:r xmlns:a="http://schemas.openxmlformats.org/drawingml/2006/main"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Основные технологии IPA</a:t>
            </a:r>
            <a:endParaRPr xmlns:a="http://schemas.openxmlformats.org/drawingml/2006/main"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863640" y="268668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Сила IPA заключается в технологиях искусственного интеллекта, лежащих в её основе. Эти технологии работают вместе, чтобы дать системе возможность видеть, понимать и учиться.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Image 0" descr="preencoded.png"/>
          <p:cNvPicPr/>
          <p:nvPr/>
        </p:nvPicPr>
        <p:blipFill>
          <a:blip r:embed="rId1"/>
          <a:stretch/>
        </p:blipFill>
        <p:spPr>
          <a:xfrm>
            <a:off x="863640" y="3577320"/>
            <a:ext cx="906120" cy="906120"/>
          </a:xfrm>
          <a:prstGeom prst="rect">
            <a:avLst/>
          </a:prstGeom>
          <a:ln w="0">
            <a:noFill/>
          </a:ln>
        </p:spPr>
      </p:pic>
      <p:sp>
        <p:nvSpPr>
          <p:cNvPr id="111" name="Text 2"/>
          <p:cNvSpPr/>
          <p:nvPr/>
        </p:nvSpPr>
        <p:spPr>
          <a:xfrm>
            <a:off x="2040120" y="3577320"/>
            <a:ext cx="294408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OCR + NLP — Чтение документов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2040120" y="4320360"/>
            <a:ext cx="2944080" cy="22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Оптическое распознавание символов (OCR) </a:t>
            </a: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оцифровывает текст в документах; </a:t>
            </a:r>
            <a:r xmlns:a="http://schemas.openxmlformats.org/drawingml/2006/main"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обработка естественного языка (NLP) </a:t>
            </a: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анализирует этот текст осмысленным образом. Результат: счета, договоры, электронные письма обрабатываются автоматически.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Image 1" descr="preencoded.png"/>
          <p:cNvPicPr/>
          <p:nvPr/>
        </p:nvPicPr>
        <p:blipFill>
          <a:blip r:embed="rId2"/>
          <a:stretch/>
        </p:blipFill>
        <p:spPr>
          <a:xfrm>
            <a:off x="5254560" y="3577320"/>
            <a:ext cx="906120" cy="906120"/>
          </a:xfrm>
          <a:prstGeom prst="rect">
            <a:avLst/>
          </a:prstGeom>
          <a:ln w="0">
            <a:noFill/>
          </a:ln>
        </p:spPr>
      </p:pic>
      <p:sp>
        <p:nvSpPr>
          <p:cNvPr id="114" name="Text 4"/>
          <p:cNvSpPr/>
          <p:nvPr/>
        </p:nvSpPr>
        <p:spPr>
          <a:xfrm>
            <a:off x="6431040" y="3577320"/>
            <a:ext cx="294408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Машинное обучение — Интеллектуальная классификация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6431040" y="4320360"/>
            <a:ext cx="2944080" cy="19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Модели машинного обучения автоматически классифицируют входящие запросы, документы и данные. Чем больше данных они обрабатывают, тем точнее становятся.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Image 2" descr="preencoded.png"/>
          <p:cNvPicPr/>
          <p:nvPr/>
        </p:nvPicPr>
        <p:blipFill>
          <a:blip r:embed="rId3"/>
          <a:stretch/>
        </p:blipFill>
        <p:spPr>
          <a:xfrm>
            <a:off x="9645480" y="3577320"/>
            <a:ext cx="906120" cy="906120"/>
          </a:xfrm>
          <a:prstGeom prst="rect">
            <a:avLst/>
          </a:prstGeom>
          <a:ln w="0">
            <a:noFill/>
          </a:ln>
        </p:spPr>
      </p:pic>
      <p:sp>
        <p:nvSpPr>
          <p:cNvPr id="117" name="Text 6"/>
          <p:cNvSpPr/>
          <p:nvPr/>
        </p:nvSpPr>
        <p:spPr>
          <a:xfrm>
            <a:off x="10821960" y="3577320"/>
            <a:ext cx="294408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Чат-боты — основная поддержка клиентов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10821960" y="4320360"/>
            <a:ext cx="2944080" cy="19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Чат-боты на основе обработки естественного языка первыми получают запросы клиентов, отвечают на них и при необходимости перенаправляют в нужный отдел — круглосуточное бесперебойное обслуживание.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863640" y="1684440"/>
            <a:ext cx="690336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4799"/>
              </a:lnSpc>
              <a:tabLst>
                <a:tab algn="l" pos="0"/>
              </a:tabLst>
            </a:pPr>
            <a:r xmlns:a="http://schemas.openxmlformats.org/drawingml/2006/main"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Типичные сценарии управления</a:t>
            </a:r>
            <a:endParaRPr xmlns:a="http://schemas.openxmlformats.org/drawingml/2006/main"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431640" y="2621880"/>
            <a:ext cx="12902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Технологии IPA трансформируют реальные бизнес-процессы в самых разных секторах. Приведенные ниже примеры отражают наиболее широко используемые области.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63640" y="329688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22" name="Text 2"/>
          <p:cNvSpPr/>
          <p:nvPr/>
        </p:nvSpPr>
        <p:spPr>
          <a:xfrm>
            <a:off x="1673640" y="3296880"/>
            <a:ext cx="39099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Счет-фактура и накладные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1673640" y="3733200"/>
            <a:ext cx="55062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Система считывает входящие счета-фактуры с помощью оптического распознавания символов (OCR), вводит данные в бухгалтерскую систему, проверяет соответствие требованиям и автоматически утверждает платежи, сводя ручные операции к нулю.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450200" y="329688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25" name="Text 4"/>
          <p:cNvSpPr/>
          <p:nvPr/>
        </p:nvSpPr>
        <p:spPr>
          <a:xfrm>
            <a:off x="8259840" y="3296880"/>
            <a:ext cx="30693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Наём новых сотрудников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8259840" y="3733200"/>
            <a:ext cx="550656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Она обрабатывает документы новых сотрудников, создает права доступа к системам, составляет план обучения и рассылает автоматические уведомления во все отделы.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63640" y="513684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28" name="Text 6"/>
          <p:cNvSpPr/>
          <p:nvPr/>
        </p:nvSpPr>
        <p:spPr>
          <a:xfrm>
            <a:off x="1673640" y="5136840"/>
            <a:ext cx="34423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Анализ результатов опросов клиентов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1673640" y="5573160"/>
            <a:ext cx="55062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Читает входящие электронные письма и сообщения, классифицирует их по теме и приоритету, перенаправляет в соответствующую команду и подготавливает шаблон ответа.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450200" y="513684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31" name="Text 8"/>
          <p:cNvSpPr/>
          <p:nvPr/>
        </p:nvSpPr>
        <p:spPr>
          <a:xfrm>
            <a:off x="8259840" y="5136840"/>
            <a:ext cx="30492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Нормативные отчеты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8259840" y="5573160"/>
            <a:ext cx="550656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Она собирает, интегрирует и форматирует данные из различных систем и автоматически отправляет отчеты в регулирующие органы в установленные сроки.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783360" y="538560"/>
            <a:ext cx="540000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4351"/>
              </a:lnSpc>
              <a:tabLst>
                <a:tab algn="l" pos="0"/>
              </a:tabLst>
            </a:pPr>
            <a:r xmlns:a="http://schemas.openxmlformats.org/drawingml/2006/main">
              <a:rPr b="1" lang="ru" sz="35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Гибридное проектирование процессов</a:t>
            </a:r>
            <a:endParaRPr xmlns:a="http://schemas.openxmlformats.org/drawingml/2006/main"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783360" y="1449720"/>
            <a:ext cx="130636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200"/>
              </a:lnSpc>
              <a:tabLst>
                <a:tab algn="l" pos="0"/>
              </a:tabLst>
            </a:pPr>
            <a:r xmlns:a="http://schemas.openxmlformats.org/drawingml/2006/main">
              <a:rPr b="0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Эффективные решения IPA сочетают в себе возможности бота и человеческое суждение. Пример ниже показывает, как шаг за шагом работает обработка запросов по электронной почте — полностью автоматизированная в случаях высокого уровня доверия и передаваемая человеку в подозрительных случаях.</a:t>
            </a:r>
            <a:endParaRPr xmlns:a="http://schemas.openxmlformats.org/drawingml/2006/main"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Image 0" descr="preencoded.png"/>
          <p:cNvPicPr/>
          <p:nvPr/>
        </p:nvPicPr>
        <p:blipFill>
          <a:blip r:embed="rId1"/>
          <a:stretch/>
        </p:blipFill>
        <p:spPr>
          <a:xfrm>
            <a:off x="992520" y="2209320"/>
            <a:ext cx="12645000" cy="4744800"/>
          </a:xfrm>
          <a:prstGeom prst="rect">
            <a:avLst/>
          </a:prstGeom>
          <a:ln w="0">
            <a:noFill/>
          </a:ln>
        </p:spPr>
      </p:pic>
      <p:pic>
        <p:nvPicPr>
          <p:cNvPr id="136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791800" y="3418200"/>
            <a:ext cx="652680" cy="652680"/>
          </a:xfrm>
          <a:prstGeom prst="rect">
            <a:avLst/>
          </a:prstGeom>
          <a:ln w="0">
            <a:noFill/>
          </a:ln>
        </p:spPr>
      </p:pic>
      <p:sp>
        <p:nvSpPr>
          <p:cNvPr id="137" name="Text 2"/>
          <p:cNvSpPr/>
          <p:nvPr/>
        </p:nvSpPr>
        <p:spPr>
          <a:xfrm>
            <a:off x="11209680" y="5652360"/>
            <a:ext cx="190692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 algn="ctr">
              <a:lnSpc>
                <a:spcPts val="2599"/>
              </a:lnSpc>
              <a:tabLst>
                <a:tab algn="l" pos="0"/>
              </a:tabLst>
            </a:pPr>
            <a:r xmlns:a="http://schemas.openxmlformats.org/drawingml/2006/main">
              <a:rPr b="1" lang="ru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90% ниже: Обзор</a:t>
            </a:r>
            <a:endParaRPr xmlns:a="http://schemas.openxmlformats.org/drawingml/2006/main"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400320" y="3419280"/>
            <a:ext cx="652680" cy="652680"/>
          </a:xfrm>
          <a:prstGeom prst="rect">
            <a:avLst/>
          </a:prstGeom>
          <a:ln w="0">
            <a:noFill/>
          </a:ln>
        </p:spPr>
      </p:pic>
      <p:sp>
        <p:nvSpPr>
          <p:cNvPr id="139" name="Text 3"/>
          <p:cNvSpPr/>
          <p:nvPr/>
        </p:nvSpPr>
        <p:spPr>
          <a:xfrm>
            <a:off x="8805960" y="5652360"/>
            <a:ext cx="190692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 algn="ctr">
              <a:lnSpc>
                <a:spcPts val="2599"/>
              </a:lnSpc>
              <a:tabLst>
                <a:tab algn="l" pos="0"/>
              </a:tabLst>
            </a:pPr>
            <a:r xmlns:a="http://schemas.openxmlformats.org/drawingml/2006/main">
              <a:rPr b="1" lang="ru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Более 90%: Автоматический режим</a:t>
            </a:r>
            <a:endParaRPr xmlns:a="http://schemas.openxmlformats.org/drawingml/2006/main"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009920" y="3419280"/>
            <a:ext cx="652680" cy="652680"/>
          </a:xfrm>
          <a:prstGeom prst="rect">
            <a:avLst/>
          </a:prstGeom>
          <a:ln w="0">
            <a:noFill/>
          </a:ln>
        </p:spPr>
      </p:pic>
      <p:sp>
        <p:nvSpPr>
          <p:cNvPr id="141" name="Text 4"/>
          <p:cNvSpPr/>
          <p:nvPr/>
        </p:nvSpPr>
        <p:spPr>
          <a:xfrm>
            <a:off x="6415560" y="5652360"/>
            <a:ext cx="190692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 algn="ctr">
              <a:lnSpc>
                <a:spcPts val="2599"/>
              </a:lnSpc>
              <a:tabLst>
                <a:tab algn="l" pos="0"/>
              </a:tabLst>
            </a:pPr>
            <a:r xmlns:a="http://schemas.openxmlformats.org/drawingml/2006/main">
              <a:rPr b="1" lang="ru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Показатель достоверности модели</a:t>
            </a:r>
            <a:endParaRPr xmlns:a="http://schemas.openxmlformats.org/drawingml/2006/main"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Image 4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4619160" y="3419280"/>
            <a:ext cx="652680" cy="652680"/>
          </a:xfrm>
          <a:prstGeom prst="rect">
            <a:avLst/>
          </a:prstGeom>
          <a:ln w="0">
            <a:noFill/>
          </a:ln>
        </p:spPr>
      </p:pic>
      <p:sp>
        <p:nvSpPr>
          <p:cNvPr id="143" name="Text 5"/>
          <p:cNvSpPr/>
          <p:nvPr/>
        </p:nvSpPr>
        <p:spPr>
          <a:xfrm>
            <a:off x="4024800" y="5652360"/>
            <a:ext cx="190692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 algn="ctr">
              <a:lnSpc>
                <a:spcPts val="2599"/>
              </a:lnSpc>
              <a:tabLst>
                <a:tab algn="l" pos="0"/>
              </a:tabLst>
            </a:pPr>
            <a:r xmlns:a="http://schemas.openxmlformats.org/drawingml/2006/main">
              <a:rPr b="1" lang="ru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Классификация НЛП</a:t>
            </a:r>
            <a:endParaRPr xmlns:a="http://schemas.openxmlformats.org/drawingml/2006/main"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Image 5" descr="preencoded.png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2215440" y="3419280"/>
            <a:ext cx="652680" cy="652680"/>
          </a:xfrm>
          <a:prstGeom prst="rect">
            <a:avLst/>
          </a:prstGeom>
          <a:ln w="0">
            <a:noFill/>
          </a:ln>
        </p:spPr>
      </p:pic>
      <p:sp>
        <p:nvSpPr>
          <p:cNvPr id="145" name="Text 6"/>
          <p:cNvSpPr/>
          <p:nvPr/>
        </p:nvSpPr>
        <p:spPr>
          <a:xfrm>
            <a:off x="1581840" y="5652360"/>
            <a:ext cx="190692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 algn="ctr">
              <a:lnSpc>
                <a:spcPts val="2599"/>
              </a:lnSpc>
              <a:tabLst>
                <a:tab algn="l" pos="0"/>
              </a:tabLst>
            </a:pPr>
            <a:r xmlns:a="http://schemas.openxmlformats.org/drawingml/2006/main">
              <a:rPr b="1" lang="ru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Чтение электронных писем</a:t>
            </a:r>
            <a:endParaRPr xmlns:a="http://schemas.openxmlformats.org/drawingml/2006/main"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783360" y="7154280"/>
            <a:ext cx="130636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200"/>
              </a:lnSpc>
              <a:tabLst>
                <a:tab algn="l" pos="0"/>
              </a:tabLst>
            </a:pPr>
            <a:r xmlns:a="http://schemas.openxmlformats.org/drawingml/2006/main">
              <a:rPr b="0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Эта гибридная модель обеспечивает наилучшие результаты: </a:t>
            </a:r>
            <a:r xmlns:a="http://schemas.openxmlformats.org/drawingml/2006/main">
              <a:rPr b="1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большое количество стандартных случаев </a:t>
            </a:r>
            <a:r xmlns:a="http://schemas.openxmlformats.org/drawingml/2006/main">
              <a:rPr b="0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полностью автоматизировано, а </a:t>
            </a:r>
            <a:r xmlns:a="http://schemas.openxmlformats.org/drawingml/2006/main">
              <a:rPr b="1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сложные и неопределенные случаи </a:t>
            </a:r>
            <a:r xmlns:a="http://schemas.openxmlformats.org/drawingml/2006/main">
              <a:rPr b="0" lang="ru" sz="15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передаются специалисту. В результате повышается как скорость, так и качество работы.</a:t>
            </a:r>
            <a:endParaRPr xmlns:a="http://schemas.openxmlformats.org/drawingml/2006/main"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863640" y="923040"/>
            <a:ext cx="569988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4799"/>
              </a:lnSpc>
              <a:tabLst>
                <a:tab algn="l" pos="0"/>
              </a:tabLst>
            </a:pPr>
            <a:r xmlns:a="http://schemas.openxmlformats.org/drawingml/2006/main">
              <a:rPr b="1" lang="ru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Оценка рентабельности инвестиций</a:t>
            </a:r>
            <a:endParaRPr xmlns:a="http://schemas.openxmlformats.org/drawingml/2006/main"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863640" y="196848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Для корректного расчета рентабельности инвестиций в IPA необходимо объективно учитывать как получаемую выгоду, так и реальные затраты. Успешные внедрения, как правило, окупаются в течение 6-18 месяцев.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708120" y="2859480"/>
            <a:ext cx="6498720" cy="2983680"/>
          </a:xfrm>
          <a:prstGeom prst="roundRect">
            <a:avLst>
              <a:gd name="adj" fmla="val 1086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924120" y="3075120"/>
            <a:ext cx="29660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✅ </a:t>
            </a:r>
            <a:r xmlns:a="http://schemas.openxmlformats.org/drawingml/2006/main">
              <a:rPr b="1" lang="ru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Полученные значения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924120" y="3597840"/>
            <a:ext cx="6067080" cy="21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Экономия времени: </a:t>
            </a: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сотрудники сосредотачиваются на задачах, имеющих высокую ценность.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Сокращение количества ошибок: </a:t>
            </a: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количество ошибок при ручном вводе сведено практически к нулю.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Масштабируемость: </a:t>
            </a: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способность справляться с растущей рабочей нагрузкой без привлечения дополнительного персонала.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Скорость: </a:t>
            </a: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круглосуточная бесперебойная работа, нулевое время ожидания.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7586280" y="3075120"/>
            <a:ext cx="33127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401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⚠️ </a:t>
            </a:r>
            <a:r xmlns:a="http://schemas.openxmlformats.org/drawingml/2006/main">
              <a:rPr b="1" lang="ru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Расходы, которые следует учитывать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7586280" y="3597840"/>
            <a:ext cx="6187680" cy="21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Затраты на приложение: </a:t>
            </a: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лицензия, настройка, интеграционные работы.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Постоянная поддержка: </a:t>
            </a: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обслуживание бота, обновления системы, мониторинг.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Обучение сотрудников: </a:t>
            </a: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Адаптация команды к новой модели работы.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1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Непредвиденные изменения: </a:t>
            </a:r>
            <a:r xmlns:a="http://schemas.openxmlformats.org/drawingml/2006/main">
              <a:rPr b="0" lang="ru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переконфигурация при изменении систем.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7"/>
          <p:cNvSpPr/>
          <p:nvPr/>
        </p:nvSpPr>
        <p:spPr>
          <a:xfrm>
            <a:off x="863640" y="6086520"/>
            <a:ext cx="12902400" cy="1219680"/>
          </a:xfrm>
          <a:prstGeom prst="roundRect">
            <a:avLst>
              <a:gd name="adj" fmla="val 2656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5" name="Image 0" descr="preencoded.png"/>
          <p:cNvPicPr/>
          <p:nvPr/>
        </p:nvPicPr>
        <p:blipFill>
          <a:blip r:embed="rId1"/>
          <a:stretch/>
        </p:blipFill>
        <p:spPr>
          <a:xfrm>
            <a:off x="1079640" y="6395760"/>
            <a:ext cx="269640" cy="215640"/>
          </a:xfrm>
          <a:prstGeom prst="rect">
            <a:avLst/>
          </a:prstGeom>
          <a:ln w="0">
            <a:noFill/>
          </a:ln>
        </p:spPr>
      </p:pic>
      <p:sp>
        <p:nvSpPr>
          <p:cNvPr id="156" name="Text 8"/>
          <p:cNvSpPr/>
          <p:nvPr/>
        </p:nvSpPr>
        <p:spPr>
          <a:xfrm>
            <a:off x="1565280" y="6356160"/>
            <a:ext cx="1198512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51"/>
              </a:lnSpc>
              <a:tabLst>
                <a:tab algn="l" pos="0"/>
              </a:tabLst>
            </a:pPr>
            <a:r xmlns:a="http://schemas.openxmlformats.org/drawingml/2006/main">
              <a:rPr b="0" lang="ru" sz="1700" spc="-1" strike="noStrike">
                <a:solidFill>
                  <a:srgbClr val="000000"/>
                </a:solidFill>
                <a:latin typeface="Source Sans 3"/>
                <a:ea typeface="Source Sans 3"/>
              </a:rPr>
              <a:t>💡</a:t>
            </a:r>
            <a:r xmlns:a="http://schemas.openxmlformats.org/drawingml/2006/main">
              <a:rPr b="0" lang="ru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 xmlns:a="http://schemas.openxmlformats.org/drawingml/2006/main">
              <a:rPr b="1" lang="ru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Рекомендация: </a:t>
            </a:r>
            <a:r xmlns:a="http://schemas.openxmlformats.org/drawingml/2006/main">
              <a:rPr b="0" lang="ru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Начните с пилотного проекта — полностью автоматизируйте один процесс, измерьте рентабельность инвестиций, а затем масштабируйте. Такой подход минимизирует риски.</a:t>
            </a:r>
            <a:endParaRPr xmlns:a="http://schemas.openxmlformats.org/drawingml/2006/main"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58" name="Text 0"/>
          <p:cNvSpPr/>
          <p:nvPr/>
        </p:nvSpPr>
        <p:spPr>
          <a:xfrm>
            <a:off x="6341400" y="594000"/>
            <a:ext cx="65667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4751"/>
              </a:lnSpc>
              <a:tabLst>
                <a:tab algn="l" pos="0"/>
              </a:tabLst>
            </a:pPr>
            <a:r xmlns:a="http://schemas.openxmlformats.org/drawingml/2006/main">
              <a:rPr b="1" lang="ru" sz="38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Этические и организационные аспекты</a:t>
            </a:r>
            <a:endParaRPr xmlns:a="http://schemas.openxmlformats.org/drawingml/2006/main"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6341400" y="1230840"/>
            <a:ext cx="7433280" cy="9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00"/>
              </a:lnSpc>
              <a:tabLst>
                <a:tab algn="l" pos="0"/>
              </a:tabLst>
            </a:pPr>
            <a:r xmlns:a="http://schemas.openxmlformats.org/drawingml/2006/main">
              <a:rPr b="0" lang="ru" sz="16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Какими бы мощными ни были технологии, ключевым фактором успешной реализации является баланс между ними и человеческим фактором. Если эти вопросы не будут решены своевременно, даже самое лучшее техническое решение может столкнуться с сопротивлением внутри компании.</a:t>
            </a:r>
            <a:endParaRPr xmlns:a="http://schemas.openxmlformats.org/drawingml/2006/main"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6341400" y="2714040"/>
            <a:ext cx="3610800" cy="3144600"/>
          </a:xfrm>
          <a:prstGeom prst="roundRect">
            <a:avLst>
              <a:gd name="adj" fmla="val 102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6585840" y="2958480"/>
            <a:ext cx="26758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350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😟 </a:t>
            </a: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Страх потерять работу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6585840" y="3396600"/>
            <a:ext cx="3122280" cy="15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00"/>
              </a:lnSpc>
              <a:tabLst>
                <a:tab algn="l" pos="0"/>
              </a:tabLst>
            </a:pPr>
            <a:r xmlns:a="http://schemas.openxmlformats.org/drawingml/2006/main">
              <a:rPr b="0" lang="ru" sz="16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Это вызывает наибольшее беспокойство у сотрудников. Открытое общение, прозрачность и четкое понимание того, что «боты освобождают меня», а не «боты отнимают у меня работу», имеют первостепенное значение.</a:t>
            </a:r>
            <a:endParaRPr xmlns:a="http://schemas.openxmlformats.org/drawingml/2006/main"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10164240" y="2714040"/>
            <a:ext cx="3610800" cy="3144600"/>
          </a:xfrm>
          <a:prstGeom prst="roundRect">
            <a:avLst>
              <a:gd name="adj" fmla="val 102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10408320" y="2958480"/>
            <a:ext cx="312228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350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🎓 </a:t>
            </a: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Необходимость переподготовки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10408320" y="3700440"/>
            <a:ext cx="3122280" cy="19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00"/>
              </a:lnSpc>
              <a:tabLst>
                <a:tab algn="l" pos="0"/>
              </a:tabLst>
            </a:pPr>
            <a:r xmlns:a="http://schemas.openxmlformats.org/drawingml/2006/main">
              <a:rPr b="0" lang="ru" sz="16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Автоматизация требует новых навыков: управление ботами, анализ данных, проектирование процессов. Необходимы инвестиции для оснащения команд этими навыками.</a:t>
            </a:r>
            <a:endParaRPr xmlns:a="http://schemas.openxmlformats.org/drawingml/2006/main"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6341400" y="6070680"/>
            <a:ext cx="7433280" cy="1564560"/>
          </a:xfrm>
          <a:prstGeom prst="roundRect">
            <a:avLst>
              <a:gd name="adj" fmla="val 2049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6585840" y="6314760"/>
            <a:ext cx="292896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350"/>
              </a:lnSpc>
              <a:tabLst>
                <a:tab algn="l" pos="0"/>
              </a:tabLst>
            </a:pPr>
            <a:r xmlns:a="http://schemas.openxmlformats.org/drawingml/2006/main">
              <a:rPr b="1" lang="ru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⚖️ </a:t>
            </a:r>
            <a:r xmlns:a="http://schemas.openxmlformats.org/drawingml/2006/main">
              <a:rPr b="1" lang="ru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Вопрос ответственности</a:t>
            </a:r>
            <a:endParaRPr xmlns:a="http://schemas.openxmlformats.org/drawingml/2006/main"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6585840" y="6753240"/>
            <a:ext cx="69451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500"/>
              </a:lnSpc>
              <a:tabLst>
                <a:tab algn="l" pos="0"/>
              </a:tabLst>
            </a:pPr>
            <a:r xmlns:a="http://schemas.openxmlformats.org/drawingml/2006/main">
              <a:rPr b="0" lang="ru" sz="16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Кто несёт ответственность, когда бот принимает неверное решение? Разработчик системы? Администратор? Компания? Эти вопросы необходимо прояснить до начала внедрения.</a:t>
            </a:r>
            <a:endParaRPr xmlns:a="http://schemas.openxmlformats.org/drawingml/2006/main"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820440" y="804600"/>
            <a:ext cx="466200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4550"/>
              </a:lnSpc>
              <a:tabLst>
                <a:tab algn="l" pos="0"/>
              </a:tabLst>
            </a:pPr>
            <a:r xmlns:a="http://schemas.openxmlformats.org/drawingml/2006/main">
              <a:rPr b="1" lang="ru" sz="36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Практическое задание</a:t>
            </a:r>
            <a:endParaRPr xmlns:a="http://schemas.openxmlformats.org/drawingml/2006/main" b="0" lang="en-US" sz="3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820440" y="1776960"/>
            <a:ext cx="1298880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350"/>
              </a:lnSpc>
              <a:tabLst>
                <a:tab algn="l" pos="0"/>
              </a:tabLst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Теперь пришло время применить полученные знания в своей рабочей среде. Это упражнение поможет вам развить мышление, ориентированное на автоматизацию.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1128240" y="2515320"/>
            <a:ext cx="126813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350"/>
              </a:lnSpc>
              <a:tabLst>
                <a:tab algn="l" pos="0"/>
              </a:tabLst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« </a:t>
            </a:r>
            <a:r xmlns:a="http://schemas.openxmlformats.org/drawingml/2006/main">
              <a:rPr b="1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Выберите повторяющийся процесс в вашем бизнесе. </a:t>
            </a: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Можно ли его автоматизировать? Подходит ли он для классической роботизированной автоматизации процессов (RPA) или для этого необходим искусственный интеллект (ИИ)? Какую роль будет играть ИИ?»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820440" y="2296080"/>
            <a:ext cx="22680" cy="103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Image 0" descr="preencoded.png"/>
          <p:cNvPicPr/>
          <p:nvPr/>
        </p:nvPicPr>
        <p:blipFill>
          <a:blip r:embed="rId1"/>
          <a:stretch/>
        </p:blipFill>
        <p:spPr>
          <a:xfrm>
            <a:off x="820440" y="3553560"/>
            <a:ext cx="4329360" cy="820080"/>
          </a:xfrm>
          <a:prstGeom prst="rect">
            <a:avLst/>
          </a:prstGeom>
          <a:ln w="0">
            <a:noFill/>
          </a:ln>
        </p:spPr>
      </p:pic>
      <p:sp>
        <p:nvSpPr>
          <p:cNvPr id="174" name="Text 4"/>
          <p:cNvSpPr/>
          <p:nvPr/>
        </p:nvSpPr>
        <p:spPr>
          <a:xfrm>
            <a:off x="1025640" y="4568760"/>
            <a:ext cx="275004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251"/>
              </a:lnSpc>
              <a:tabLst>
                <a:tab algn="l" pos="0"/>
              </a:tabLst>
            </a:pPr>
            <a:r xmlns:a="http://schemas.openxmlformats.org/drawingml/2006/main">
              <a:rPr b="1" lang="ru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Определите процесс</a:t>
            </a:r>
            <a:endParaRPr xmlns:a="http://schemas.openxmlformats.org/drawingml/2006/main"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1025640" y="4977000"/>
            <a:ext cx="391896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350"/>
              </a:lnSpc>
              <a:tabLst>
                <a:tab algn="l" pos="0"/>
              </a:tabLst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Выберите повторяющуюся задачу, которая будет занимать не менее 2 часов в неделю. В идеале, задачу с четкими правилами.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Image 1" descr="preencoded.png"/>
          <p:cNvPicPr/>
          <p:nvPr/>
        </p:nvPicPr>
        <p:blipFill>
          <a:blip r:embed="rId2"/>
          <a:stretch/>
        </p:blipFill>
        <p:spPr>
          <a:xfrm>
            <a:off x="5150160" y="3553560"/>
            <a:ext cx="4329360" cy="820080"/>
          </a:xfrm>
          <a:prstGeom prst="rect">
            <a:avLst/>
          </a:prstGeom>
          <a:ln w="0">
            <a:noFill/>
          </a:ln>
        </p:spPr>
      </p:pic>
      <p:sp>
        <p:nvSpPr>
          <p:cNvPr id="177" name="Text 6"/>
          <p:cNvSpPr/>
          <p:nvPr/>
        </p:nvSpPr>
        <p:spPr>
          <a:xfrm>
            <a:off x="5355360" y="4568760"/>
            <a:ext cx="30826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251"/>
              </a:lnSpc>
              <a:tabLst>
                <a:tab algn="l" pos="0"/>
              </a:tabLst>
            </a:pPr>
            <a:r xmlns:a="http://schemas.openxmlformats.org/drawingml/2006/main">
              <a:rPr b="1" lang="ru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Анализ типа данных</a:t>
            </a:r>
            <a:endParaRPr xmlns:a="http://schemas.openxmlformats.org/drawingml/2006/main"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5355360" y="4977000"/>
            <a:ext cx="3918960" cy="11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350"/>
              </a:lnSpc>
              <a:tabLst>
                <a:tab algn="l" pos="0"/>
              </a:tabLst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Работает ли этот процесс со структурированными или неструктурированными данными, такими как электронные письма, PDF-файлы, документы? Ответ на этот вопрос определяет выбор между RPA и IPA.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Image 2" descr="preencoded.png"/>
          <p:cNvPicPr/>
          <p:nvPr/>
        </p:nvPicPr>
        <p:blipFill>
          <a:blip r:embed="rId3"/>
          <a:stretch/>
        </p:blipFill>
        <p:spPr>
          <a:xfrm>
            <a:off x="9479880" y="3553560"/>
            <a:ext cx="4329360" cy="820080"/>
          </a:xfrm>
          <a:prstGeom prst="rect">
            <a:avLst/>
          </a:prstGeom>
          <a:ln w="0">
            <a:noFill/>
          </a:ln>
        </p:spPr>
      </p:pic>
      <p:sp>
        <p:nvSpPr>
          <p:cNvPr id="180" name="Text 8"/>
          <p:cNvSpPr/>
          <p:nvPr/>
        </p:nvSpPr>
        <p:spPr>
          <a:xfrm>
            <a:off x="9685080" y="4568760"/>
            <a:ext cx="318924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251"/>
              </a:lnSpc>
              <a:tabLst>
                <a:tab algn="l" pos="0"/>
              </a:tabLst>
            </a:pPr>
            <a:r xmlns:a="http://schemas.openxmlformats.org/drawingml/2006/main">
              <a:rPr b="1" lang="ru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Раскройте роль искусственного интеллекта.</a:t>
            </a:r>
            <a:endParaRPr xmlns:a="http://schemas.openxmlformats.org/drawingml/2006/main"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9685080" y="4977000"/>
            <a:ext cx="391896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xmlns:a="http://schemas.openxmlformats.org/drawingml/2006/main">
              <a:lnSpc>
                <a:spcPts val="2350"/>
              </a:lnSpc>
              <a:tabLst>
                <a:tab algn="l" pos="0"/>
              </a:tabLst>
            </a:pPr>
            <a:r xmlns:a="http://schemas.openxmlformats.org/drawingml/2006/main">
              <a:rPr b="0" lang="ru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OCR, NLP, машинное обучение, чат-боты — какие технологии сделают этот процесс умнее? Где потребуется участие человека?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0"/>
          <p:cNvSpPr/>
          <p:nvPr/>
        </p:nvSpPr>
        <p:spPr>
          <a:xfrm>
            <a:off x="820440" y="6601320"/>
            <a:ext cx="12988800" cy="823320"/>
          </a:xfrm>
          <a:prstGeom prst="roundRect">
            <a:avLst>
              <a:gd name="adj" fmla="val 3735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3" name="Image 3" descr="preencoded.png"/>
          <p:cNvPicPr/>
          <p:nvPr/>
        </p:nvPicPr>
        <p:blipFill>
          <a:blip r:embed="rId4"/>
          <a:stretch/>
        </p:blipFill>
        <p:spPr>
          <a:xfrm>
            <a:off x="1025640" y="6891480"/>
            <a:ext cx="255960" cy="204840"/>
          </a:xfrm>
          <a:prstGeom prst="rect">
            <a:avLst/>
          </a:prstGeom>
          <a:ln w="0">
            <a:noFill/>
          </a:ln>
        </p:spPr>
      </p:pic>
      <p:sp>
        <p:nvSpPr>
          <p:cNvPr id="184" name="Text 11"/>
          <p:cNvSpPr/>
          <p:nvPr/>
        </p:nvSpPr>
        <p:spPr>
          <a:xfrm>
            <a:off x="1487160" y="6847200"/>
            <a:ext cx="121172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xmlns:a="http://schemas.openxmlformats.org/drawingml/2006/main">
              <a:lnSpc>
                <a:spcPts val="2350"/>
              </a:lnSpc>
              <a:tabLst>
                <a:tab algn="l" pos="0"/>
              </a:tabLst>
            </a:pPr>
            <a:r xmlns:a="http://schemas.openxmlformats.org/drawingml/2006/main">
              <a:rPr b="0" lang="ru" sz="1600" spc="-1" strike="noStrike">
                <a:solidFill>
                  <a:srgbClr val="000000"/>
                </a:solidFill>
                <a:latin typeface="Source Sans 3"/>
                <a:ea typeface="Source Sans 3"/>
              </a:rPr>
              <a:t>📝 </a:t>
            </a:r>
            <a:r xmlns:a="http://schemas.openxmlformats.org/drawingml/2006/main">
              <a:rPr b="0" lang="ru" sz="16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Мы обсудим ваше задание на следующем уроке. Кратко опишите этапы выбранного вами процесса.</a:t>
            </a:r>
            <a:endParaRPr xmlns:a="http://schemas.openxmlformats.org/drawingml/2006/main"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2026-03-25T15:48:08Z</dcterms:created>
  <dc:creator/>
  <dc:description/>
  <dc:language>en-US</dc:language>
  <cp:lastModifiedBy/>
  <dcterms:modified xsi:type="dcterms:W3CDTF">2026-03-25T19:52:53Z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