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7.png" ContentType="image/png"/>
  <Override PartName="/ppt/media/image11.png" ContentType="image/png"/>
  <Override PartName="/ppt/media/image16.png" ContentType="image/png"/>
  <Override PartName="/ppt/media/image8.svg" ContentType="image/svg"/>
  <Override PartName="/ppt/media/image17.svg" ContentType="image/svg"/>
  <Override PartName="/ppt/media/image12.svg" ContentType="image/svg"/>
  <Override PartName="/ppt/media/image20.png" ContentType="image/png"/>
  <Override PartName="/ppt/media/image18.png" ContentType="image/png"/>
  <Override PartName="/ppt/media/image9.png" ContentType="image/png"/>
  <Override PartName="/ppt/media/image10.svg" ContentType="image/svg"/>
  <Override PartName="/ppt/media/image13.png" ContentType="image/png"/>
  <Override PartName="/ppt/media/image30.png" ContentType="image/png"/>
  <Override PartName="/ppt/media/image31.png" ContentType="image/png"/>
  <Override PartName="/ppt/media/image15.png" ContentType="image/png"/>
  <Override PartName="/ppt/media/image5.png" ContentType="image/png"/>
  <Override PartName="/ppt/media/image6.png" ContentType="image/png"/>
  <Override PartName="/ppt/media/image25.svg" ContentType="image/svg"/>
  <Override PartName="/ppt/media/image3.png" ContentType="image/png"/>
  <Override PartName="/ppt/media/image4.png" ContentType="image/png"/>
  <Override PartName="/ppt/media/image23.svg" ContentType="image/svg"/>
  <Override PartName="/ppt/media/image1.png" ContentType="image/png"/>
  <Override PartName="/ppt/media/image19.svg" ContentType="image/svg"/>
  <Override PartName="/ppt/media/image2.png" ContentType="image/png"/>
  <Override PartName="/ppt/media/image21.svg" ContentType="image/svg"/>
  <Override PartName="/ppt/media/image22.png" ContentType="image/png"/>
  <Override PartName="/ppt/media/image24.png" ContentType="image/png"/>
  <Override PartName="/ppt/media/image26.png" ContentType="image/png"/>
  <Override PartName="/ppt/media/image14.svg" ContentType="image/svg"/>
  <Override PartName="/ppt/media/image2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CC9144D-171F-4B5F-A5BB-B9C9D504CCD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28EB57-237D-48C0-B9C5-B380954667F4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4B82F5-D81D-439D-947E-A2145539EAA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9B639F-2916-48EA-8535-FC62DCF5ED6D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02CAB2-5FB0-4378-B831-96D80828686F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D85724-56C4-4A2C-839F-81D77A537BA8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9D7D9F-D0A5-4EE7-85A4-97F143B24D5F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F8B2C0-9A55-4FFA-858E-928B71FAB395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4233E5-236D-47EB-BACC-5C1B27410465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04FBA2-80D2-4B73-B22D-144681DC3A59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53E5ED-39E8-4CDC-AB80-BA550EB010CB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900194-6A33-4DB8-B88D-CD06B49B35E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Relationship Id="rId12" Type="http://schemas.openxmlformats.org/officeDocument/2006/relationships/slideLayout" Target="../slideLayouts/slideLayout12.xml"/><Relationship Id="rId1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350040" y="2223360"/>
            <a:ext cx="7415640" cy="18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Интеллектуальная автоматизация процессов от SI: от RPA до IPA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350040" y="4387680"/>
            <a:ext cx="741564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От простой автоматизации повседневных задач до контекстно-ориентированных систем на основе искусственного интеллекта — трансформационный путь современного делового мира.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6345360" y="5602320"/>
            <a:ext cx="1992960" cy="40320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487200" y="5675040"/>
            <a:ext cx="17186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ru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ПРОФЕССИОНАЛЬНЫЙ КУРС ОБУЧЕНИЯ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863640" y="1287360"/>
            <a:ext cx="684576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Что мы сегодня узнаем?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863640" y="233280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 этом уроке мы вместе исследуем путь от автоматизации повседневных задач к интеллектуальной автоматизации — к моменту, когда искусственный интеллект не просто выполняет действия, но </a:t>
            </a: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 понимает контекст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863640" y="322344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863640" y="3560040"/>
            <a:ext cx="634284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863640" y="37288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Понимание RPA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863640" y="4165200"/>
            <a:ext cx="6342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Изучите основные принципы, преимущества и классические примеры применения роботизированной автоматизации процессов.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7423200" y="322344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7423200" y="3560040"/>
            <a:ext cx="634284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7423200" y="3728880"/>
            <a:ext cx="46328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Выявление ограничений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423200" y="4165200"/>
            <a:ext cx="6342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Понимание того, какое место занимает классический RPA и почему необходимы более эффективные решения.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863640" y="519084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863640" y="5527080"/>
            <a:ext cx="634284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863640" y="569592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Переключиться на IPA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863640" y="6132240"/>
            <a:ext cx="6342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Узнайте, как технологии искусственного интеллекта в сочетании с RPA создают интеллектуальную автоматизацию процессов.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7423200" y="5190840"/>
            <a:ext cx="215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7423200" y="5527080"/>
            <a:ext cx="6342840" cy="2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7423200" y="569592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Практическое применение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423200" y="6132240"/>
            <a:ext cx="63428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Анализируйте реальные бизнес-сценарии, рассчитывайте рентабельность инвестиций и предпринимайте шаги для автоматизации собственных процессов.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74" name="Text 0"/>
          <p:cNvSpPr/>
          <p:nvPr/>
        </p:nvSpPr>
        <p:spPr>
          <a:xfrm>
            <a:off x="863640" y="775440"/>
            <a:ext cx="49078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Что такое RPA?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863640" y="1424880"/>
            <a:ext cx="7415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Роботизированная автоматизация процессов (RPA)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— это технология, использующая программных «ботов» для точного воспроизведения действий человека на компьютерных интерфейсах. Боты вводят данные, копируют и вставляют, отправляют электронные письма и передают данные между системами.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863640" y="3251880"/>
            <a:ext cx="3599640" cy="2469960"/>
          </a:xfrm>
          <a:prstGeom prst="roundRect">
            <a:avLst>
              <a:gd name="adj" fmla="val 131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079640" y="346752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📋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Основано на правилах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079640" y="3903840"/>
            <a:ext cx="3167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Бот работает исключительно в соответствии с заранее определенными, четко заданными правилами. Каждый шаг точно запрограммирован.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4680000" y="3251880"/>
            <a:ext cx="3599640" cy="2469960"/>
          </a:xfrm>
          <a:prstGeom prst="roundRect">
            <a:avLst>
              <a:gd name="adj" fmla="val 131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895640" y="3467520"/>
            <a:ext cx="31680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🖥️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На уровне интерфейса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895640" y="4210560"/>
            <a:ext cx="316800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Оно действует, «видя» элементы на экране, не вмешиваясь во внутреннюю структуру программ — подобно человеку.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863640" y="5938200"/>
            <a:ext cx="7415640" cy="1515240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1079640" y="615384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⚡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Быстрое исполнение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1079640" y="6590160"/>
            <a:ext cx="69840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Оно выполняет одну и ту же задачу днем и ночью, без перерывов, без ошибок — во много раз быстрее, чем человек.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863640" y="1557000"/>
            <a:ext cx="835344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Ограничения классического RPA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863640" y="231444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RPA — мощный инструмент, но он не решает всех проблем. Классические RPA-боты сбиваются с толку при работе с неструктурированными данными или в неожиданных ситуациях. Эти ограничения заставляют нас искать более эффективное решение — IPA.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863640" y="3493080"/>
            <a:ext cx="4156200" cy="3779640"/>
          </a:xfrm>
          <a:prstGeom prst="roundRect">
            <a:avLst>
              <a:gd name="adj" fmla="val 460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833400" y="3493080"/>
            <a:ext cx="121320" cy="31788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1201680" y="3703680"/>
            <a:ext cx="35722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📄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Невозможно работать с неструктурированными данными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1201680" y="4591440"/>
            <a:ext cx="3572280" cy="19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Электронные письма, PDF-файлы, отсканированные формы, рукописный текст — все это «невидимо» для стандартной роботизированной автоматизации процессов (RPA). Бот может обрабатывать только структурированные, предсказуемые данные.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5236560" y="3493080"/>
            <a:ext cx="4156200" cy="3779640"/>
          </a:xfrm>
          <a:prstGeom prst="roundRect">
            <a:avLst>
              <a:gd name="adj" fmla="val 460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5205960" y="3493080"/>
            <a:ext cx="121320" cy="31788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5574240" y="3739680"/>
            <a:ext cx="35722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🚫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Неспособность принимать самостоятельные решения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5574240" y="4988880"/>
            <a:ext cx="3572280" cy="16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Любая ситуация, выходящая за рамки правил, останавливает бота. Исключения, аномальные данные или нестандартные сценарии требуют вмешательства человека.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9609480" y="3493080"/>
            <a:ext cx="4156200" cy="3779640"/>
          </a:xfrm>
          <a:prstGeom prst="roundRect">
            <a:avLst>
              <a:gd name="adj" fmla="val 460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9578880" y="3493080"/>
            <a:ext cx="121320" cy="31788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9947160" y="3739680"/>
            <a:ext cx="35722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🔧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Адаптируется к изменениям интерфейса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9947160" y="4482360"/>
            <a:ext cx="357228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Небольшое изменение экрана приложения — даже изменение расположения кнопки — может полностью вывести бота из строя. Затраты на обслуживание высоки.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00" name="Text 0"/>
          <p:cNvSpPr/>
          <p:nvPr/>
        </p:nvSpPr>
        <p:spPr>
          <a:xfrm>
            <a:off x="6309720" y="783720"/>
            <a:ext cx="8095320" cy="12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ru" sz="3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Интеллектуальная автоматизация процессов (IPA)</a:t>
            </a:r>
            <a:endParaRPr b="0" lang="en-U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6309720" y="2247480"/>
            <a:ext cx="8095320" cy="11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350"/>
              </a:lnSpc>
              <a:tabLst>
                <a:tab algn="l" pos="0"/>
              </a:tabLst>
            </a:pPr>
            <a:r>
              <a:rPr b="1" lang="ru" sz="50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RPA + Искусственный интеллект = IPA</a:t>
            </a:r>
            <a:endParaRPr b="0" lang="en-US" sz="5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6309720" y="3944880"/>
            <a:ext cx="749628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IPA сочетает в себе исполнительные возможности классической RPA с возможностями понимания искусственного интеллекта. В результате бот не просто выполняет инструкции — </a:t>
            </a:r>
            <a:r>
              <a:rPr b="1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 понимает контент, принимает решения и учится с течением времени </a:t>
            </a: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6161760" y="5280840"/>
            <a:ext cx="3793320" cy="2262600"/>
          </a:xfrm>
          <a:prstGeom prst="roundRect">
            <a:avLst>
              <a:gd name="adj" fmla="val 1426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6367320" y="5477400"/>
            <a:ext cx="2338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Классический RPA-бот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6367320" y="5965920"/>
            <a:ext cx="3381480" cy="14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Только структурированные данные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 рамках установленных правил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 учится, не меняется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Требуется человеческий контроль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10317240" y="5477400"/>
            <a:ext cx="2338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IPA — Интеллектуальный бот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10317240" y="5965920"/>
            <a:ext cx="3496680" cy="14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Обрабатывает неструктурированные данные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Принимает решения, исходя из контекста.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Учится на каждом задании.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Самоконтроль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863640" y="1134720"/>
            <a:ext cx="62629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Основные технологии IPA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863640" y="192708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Сила IPA заключается в технологиях искусственного интеллекта, лежащих в её основе. Эти технологии работают вместе, чтобы дать системе возможность видеть, понимать и учиться.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863640" y="3577320"/>
            <a:ext cx="905760" cy="905760"/>
          </a:xfrm>
          <a:prstGeom prst="rect">
            <a:avLst/>
          </a:prstGeom>
          <a:ln w="0">
            <a:noFill/>
          </a:ln>
        </p:spPr>
      </p:pic>
      <p:sp>
        <p:nvSpPr>
          <p:cNvPr id="111" name="Text 2"/>
          <p:cNvSpPr/>
          <p:nvPr/>
        </p:nvSpPr>
        <p:spPr>
          <a:xfrm>
            <a:off x="2040120" y="3577320"/>
            <a:ext cx="29437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OCR + NLP — Чтение документов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2040120" y="4320360"/>
            <a:ext cx="294372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Оптическое распознавание символов (OCR)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оцифровывает текст в документах; </a:t>
            </a: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обработка естественного языка (NLP)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анализирует этот текст осмысленным образом. Результат: счета, договоры, электронные письма обрабатываются автоматически.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1" descr="preencoded.png"/>
          <p:cNvPicPr/>
          <p:nvPr/>
        </p:nvPicPr>
        <p:blipFill>
          <a:blip r:embed="rId2"/>
          <a:stretch/>
        </p:blipFill>
        <p:spPr>
          <a:xfrm>
            <a:off x="5254560" y="3577320"/>
            <a:ext cx="905760" cy="905760"/>
          </a:xfrm>
          <a:prstGeom prst="rect">
            <a:avLst/>
          </a:prstGeom>
          <a:ln w="0">
            <a:noFill/>
          </a:ln>
        </p:spPr>
      </p:pic>
      <p:sp>
        <p:nvSpPr>
          <p:cNvPr id="114" name="Text 4"/>
          <p:cNvSpPr/>
          <p:nvPr/>
        </p:nvSpPr>
        <p:spPr>
          <a:xfrm>
            <a:off x="6431040" y="3577320"/>
            <a:ext cx="29437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Машинное обучение — Интеллектуальная классификация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6431040" y="4686120"/>
            <a:ext cx="2943720" cy="19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Модели машинного обучения автоматически классифицируют входящие запросы, документы и данные. Чем больше данных они обрабатывают, тем точнее становятся.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2" descr="preencoded.png"/>
          <p:cNvPicPr/>
          <p:nvPr/>
        </p:nvPicPr>
        <p:blipFill>
          <a:blip r:embed="rId3"/>
          <a:stretch/>
        </p:blipFill>
        <p:spPr>
          <a:xfrm>
            <a:off x="9645480" y="3577320"/>
            <a:ext cx="905760" cy="905760"/>
          </a:xfrm>
          <a:prstGeom prst="rect">
            <a:avLst/>
          </a:prstGeom>
          <a:ln w="0">
            <a:noFill/>
          </a:ln>
        </p:spPr>
      </p:pic>
      <p:sp>
        <p:nvSpPr>
          <p:cNvPr id="117" name="Text 6"/>
          <p:cNvSpPr/>
          <p:nvPr/>
        </p:nvSpPr>
        <p:spPr>
          <a:xfrm>
            <a:off x="10821960" y="3577320"/>
            <a:ext cx="29437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Чат-боты — основная поддержка клиентов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10821960" y="4320360"/>
            <a:ext cx="2943720" cy="19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Чат-боты на основе обработки естественного языка первыми получают запросы клиентов, отвечают на них и при необходимости перенаправляют в нужный отдел — круглосуточное бесперебойное обслуживание.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863640" y="1684440"/>
            <a:ext cx="69030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Типичные сценарии управления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938160" y="2354760"/>
            <a:ext cx="129020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Технологии IPA трансформируют реальные бизнес-процессы в самых разных секторах.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Приведенные ниже примеры отражают наиболее широко используемые области.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3640" y="329688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22" name="Text 2"/>
          <p:cNvSpPr/>
          <p:nvPr/>
        </p:nvSpPr>
        <p:spPr>
          <a:xfrm>
            <a:off x="1673640" y="3296880"/>
            <a:ext cx="3909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Счет-фактура и накладные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1673640" y="3733200"/>
            <a:ext cx="550584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Система считывает входящие счета-фактуры с помощью оптического распознавания символов (OCR), вводит данные в бухгалтерскую систему, проверяет соответствие требованиям и автоматически утверждает платежи, сводя ручные операции к нулю.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50200" y="329688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25" name="Text 4"/>
          <p:cNvSpPr/>
          <p:nvPr/>
        </p:nvSpPr>
        <p:spPr>
          <a:xfrm>
            <a:off x="8259840" y="3296880"/>
            <a:ext cx="30690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Наём новых сотрудников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8259840" y="3733200"/>
            <a:ext cx="55062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Она обрабатывает документы новых сотрудников, создает права доступа к системам, составляет план обучения и рассылает автоматические уведомления во все отделы.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3640" y="564336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28" name="Text 6"/>
          <p:cNvSpPr/>
          <p:nvPr/>
        </p:nvSpPr>
        <p:spPr>
          <a:xfrm>
            <a:off x="1673640" y="5787360"/>
            <a:ext cx="34419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Анализ результатов опросов клиентов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1673640" y="6177960"/>
            <a:ext cx="550584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Читает входящие электронные письма и сообщения, классифицирует их по теме и приоритету, перенаправляет в соответствующую команду и подготавливает шаблон ответа.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450200" y="5643360"/>
            <a:ext cx="539280" cy="539280"/>
          </a:xfrm>
          <a:prstGeom prst="rect">
            <a:avLst/>
          </a:prstGeom>
          <a:ln w="0">
            <a:noFill/>
          </a:ln>
        </p:spPr>
      </p:pic>
      <p:sp>
        <p:nvSpPr>
          <p:cNvPr id="131" name="Text 8"/>
          <p:cNvSpPr/>
          <p:nvPr/>
        </p:nvSpPr>
        <p:spPr>
          <a:xfrm>
            <a:off x="8259840" y="5643360"/>
            <a:ext cx="30488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Нормативные отчеты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8259840" y="6248520"/>
            <a:ext cx="55062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Она собирает, интегрирует и форматирует данные из различных систем и автоматически отправляет отчеты в регулирующие органы в установленные сроки.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783360" y="538560"/>
            <a:ext cx="539964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351"/>
              </a:lnSpc>
              <a:tabLst>
                <a:tab algn="l" pos="0"/>
              </a:tabLst>
            </a:pPr>
            <a:r>
              <a:rPr b="1" lang="ru" sz="3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Гибридное проектирование процессов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783360" y="1449720"/>
            <a:ext cx="13063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Эффективные решения IPA сочетают в себе возможности бота и человеческое суждение. Пример ниже показывает, как шаг за шагом работает обработка запросов по электронной почте — полностью автоматизированная в случаях высокого уровня доверия и передаваемая человеку в подозрительных случаях.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992520" y="2209320"/>
            <a:ext cx="12644640" cy="4744440"/>
          </a:xfrm>
          <a:prstGeom prst="rect">
            <a:avLst/>
          </a:prstGeom>
          <a:ln w="0">
            <a:noFill/>
          </a:ln>
        </p:spPr>
      </p:pic>
      <p:pic>
        <p:nvPicPr>
          <p:cNvPr id="136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791800" y="3418200"/>
            <a:ext cx="652320" cy="652320"/>
          </a:xfrm>
          <a:prstGeom prst="rect">
            <a:avLst/>
          </a:prstGeom>
          <a:ln w="0">
            <a:noFill/>
          </a:ln>
        </p:spPr>
      </p:pic>
      <p:sp>
        <p:nvSpPr>
          <p:cNvPr id="137" name="Text 2"/>
          <p:cNvSpPr/>
          <p:nvPr/>
        </p:nvSpPr>
        <p:spPr>
          <a:xfrm>
            <a:off x="11209680" y="5652360"/>
            <a:ext cx="1906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99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От 90% вниз : Обзор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400320" y="3419280"/>
            <a:ext cx="652320" cy="652320"/>
          </a:xfrm>
          <a:prstGeom prst="rect">
            <a:avLst/>
          </a:prstGeom>
          <a:ln w="0">
            <a:noFill/>
          </a:ln>
        </p:spPr>
      </p:pic>
      <p:sp>
        <p:nvSpPr>
          <p:cNvPr id="139" name="Text 3"/>
          <p:cNvSpPr/>
          <p:nvPr/>
        </p:nvSpPr>
        <p:spPr>
          <a:xfrm>
            <a:off x="8805960" y="5652360"/>
            <a:ext cx="1906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99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От 90% много : Автоматический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009920" y="3419280"/>
            <a:ext cx="652320" cy="652320"/>
          </a:xfrm>
          <a:prstGeom prst="rect">
            <a:avLst/>
          </a:prstGeom>
          <a:ln w="0">
            <a:noFill/>
          </a:ln>
        </p:spPr>
      </p:pic>
      <p:sp>
        <p:nvSpPr>
          <p:cNvPr id="141" name="Text 4"/>
          <p:cNvSpPr/>
          <p:nvPr/>
        </p:nvSpPr>
        <p:spPr>
          <a:xfrm>
            <a:off x="6415560" y="5652360"/>
            <a:ext cx="2109240" cy="11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99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Модель Надежность индикатор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619160" y="3419280"/>
            <a:ext cx="652320" cy="652320"/>
          </a:xfrm>
          <a:prstGeom prst="rect">
            <a:avLst/>
          </a:prstGeom>
          <a:ln w="0">
            <a:noFill/>
          </a:ln>
        </p:spPr>
      </p:pic>
      <p:sp>
        <p:nvSpPr>
          <p:cNvPr id="143" name="Text 5"/>
          <p:cNvSpPr/>
          <p:nvPr/>
        </p:nvSpPr>
        <p:spPr>
          <a:xfrm>
            <a:off x="4024800" y="5652360"/>
            <a:ext cx="1906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99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НЛП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2599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Классификация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5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215440" y="3419280"/>
            <a:ext cx="652320" cy="652320"/>
          </a:xfrm>
          <a:prstGeom prst="rect">
            <a:avLst/>
          </a:prstGeom>
          <a:ln w="0">
            <a:noFill/>
          </a:ln>
        </p:spPr>
      </p:pic>
      <p:sp>
        <p:nvSpPr>
          <p:cNvPr id="145" name="Text 6"/>
          <p:cNvSpPr/>
          <p:nvPr/>
        </p:nvSpPr>
        <p:spPr>
          <a:xfrm>
            <a:off x="1581840" y="5652360"/>
            <a:ext cx="1906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99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Электронная почта Чтение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783360" y="7154280"/>
            <a:ext cx="13063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Эта гибридная модель является наиболее хороший результат дает : </a:t>
            </a:r>
            <a:r>
              <a:rPr b="1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высокий громоздкий , стандартный случаи</a:t>
            </a: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полностью автоматизированный , </a:t>
            </a:r>
            <a:r>
              <a:rPr b="1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сложный и неопределенный случаи</a:t>
            </a:r>
            <a:r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пока к специалисту происходит перенаправление . В результате оба скорость увеличивается , оба также качество предоставлять Это делается 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863640" y="923040"/>
            <a:ext cx="569952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99"/>
              </a:lnSpc>
              <a:tabLst>
                <a:tab algn="l" pos="0"/>
              </a:tabLst>
            </a:pPr>
            <a:r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Оценка рентабельности инвестиций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863640" y="196848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Для корректного расчета рентабельности инвестиций в IPA необходимо объективно учитывать как получаемую выгоду, так и реальные затраты. Успешные внедрения, как правило, окупаются в течение 6-18 месяцев.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708120" y="2859480"/>
            <a:ext cx="6498360" cy="3728520"/>
          </a:xfrm>
          <a:prstGeom prst="roundRect">
            <a:avLst>
              <a:gd name="adj" fmla="val 1086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924120" y="3075120"/>
            <a:ext cx="29656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✅ </a:t>
            </a: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Полученные значения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924120" y="3597840"/>
            <a:ext cx="6066720" cy="21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Экономия времени: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сотрудники сосредотачиваются на задачах, имеющих высокую ценность.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Сокращение количества ошибок: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количество ошибок при ручном вводе сведено практически к нулю.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Масштабируемость: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способность справляться с растущей рабочей нагрузкой без привлечения дополнительного персонала.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Скорость: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круглосуточная бесперебойная работа, нулевое время ожидания.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7586280" y="3075120"/>
            <a:ext cx="3312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 </a:t>
            </a:r>
            <a:r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Расходы, которые следует учитывать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7586280" y="3597840"/>
            <a:ext cx="6187320" cy="21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Затраты на приложение: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лицензия, настройка, интеграционные работы.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Постоянная поддержка: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обслуживание бота, обновления системы, мониторинг.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Обучение сотрудников: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Адаптация команды к новой модели работы.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Непредвиденные изменения: </a:t>
            </a:r>
            <a:r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переконфигурация при изменении систем.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863640" y="6789960"/>
            <a:ext cx="12902040" cy="1219320"/>
          </a:xfrm>
          <a:prstGeom prst="roundRect">
            <a:avLst>
              <a:gd name="adj" fmla="val 265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1079640" y="6930360"/>
            <a:ext cx="269280" cy="215280"/>
          </a:xfrm>
          <a:prstGeom prst="rect">
            <a:avLst/>
          </a:prstGeom>
          <a:ln w="0">
            <a:noFill/>
          </a:ln>
        </p:spPr>
      </p:pic>
      <p:sp>
        <p:nvSpPr>
          <p:cNvPr id="156" name="Text 8"/>
          <p:cNvSpPr/>
          <p:nvPr/>
        </p:nvSpPr>
        <p:spPr>
          <a:xfrm>
            <a:off x="1565280" y="6890760"/>
            <a:ext cx="119847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ru" sz="17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>
              <a:rPr b="0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1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Рекомендация: </a:t>
            </a:r>
            <a:r>
              <a:rPr b="0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Начните с пилотного проекта — полностью автоматизируйте один процесс, измерьте рентабельность инвестиций, а затем масштабируйте. Такой подход минимизирует риски.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58" name="Text 0"/>
          <p:cNvSpPr/>
          <p:nvPr/>
        </p:nvSpPr>
        <p:spPr>
          <a:xfrm>
            <a:off x="6341400" y="38880"/>
            <a:ext cx="6566400" cy="6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751"/>
              </a:lnSpc>
              <a:tabLst>
                <a:tab algn="l" pos="0"/>
              </a:tabLst>
            </a:pPr>
            <a:r>
              <a:rPr b="1" lang="ru" sz="3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Этические и организационные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1"/>
              </a:lnSpc>
              <a:tabLst>
                <a:tab algn="l" pos="0"/>
              </a:tabLst>
            </a:pPr>
            <a:r>
              <a:rPr b="1" lang="ru" sz="3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аспекты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6341400" y="1122840"/>
            <a:ext cx="7432920" cy="9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Какими бы мощными ни были технологии, ключевым фактором успешной реализации является баланс между ними и человеческим фактором. Если эти вопросы не будут решены своевременно, даже самое лучшее техническое решение может столкнуться с сопротивлением внутри компании.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6341400" y="2714040"/>
            <a:ext cx="3610440" cy="3144240"/>
          </a:xfrm>
          <a:prstGeom prst="roundRect">
            <a:avLst>
              <a:gd name="adj" fmla="val 102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6585840" y="2958480"/>
            <a:ext cx="267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😟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Страх потерять работу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6585840" y="3197160"/>
            <a:ext cx="3121920" cy="26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Это вызывает наибольшее беспокойство у сотрудников. Открытое общение, прозрачность и четкое понимание того, что «боты освобождают меня», а не «боты отнимают у меня работу», имеют первостепенное значение.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10164240" y="2714040"/>
            <a:ext cx="3610440" cy="3144240"/>
          </a:xfrm>
          <a:prstGeom prst="roundRect">
            <a:avLst>
              <a:gd name="adj" fmla="val 102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0408320" y="2958480"/>
            <a:ext cx="3121920" cy="61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🎓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Необходимость переподготовки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10408320" y="3700440"/>
            <a:ext cx="3121920" cy="19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Автоматизация требует новых навыков: управление ботами, анализ данных, проектирование процессов. Необходимы инвестиции для оснащения команд этими навыками.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6341400" y="6070680"/>
            <a:ext cx="7432920" cy="1564200"/>
          </a:xfrm>
          <a:prstGeom prst="roundRect">
            <a:avLst>
              <a:gd name="adj" fmla="val 2049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6585840" y="6314760"/>
            <a:ext cx="292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⚖️ </a:t>
            </a:r>
            <a:r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Вопрос ответственности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6585840" y="6753240"/>
            <a:ext cx="69447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Кто несёт ответственность, когда бот принимает неверное решение? Разработчик системы? Администратор? Компания? Эти вопросы необходимо прояснить до начала внедрения.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820440" y="804600"/>
            <a:ext cx="466164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550"/>
              </a:lnSpc>
              <a:tabLst>
                <a:tab algn="l" pos="0"/>
              </a:tabLst>
            </a:pPr>
            <a:r>
              <a:rPr b="1" lang="ru" sz="3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Практическое задание</a:t>
            </a:r>
            <a:endParaRPr b="0" lang="en-U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820440" y="1509840"/>
            <a:ext cx="129884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Теперь пришло время применить полученные знания в своей рабочей среде. Это упражнение поможет вам развить мышление,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ориентированное на автоматизацию.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1128240" y="2515320"/>
            <a:ext cx="1268100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« </a:t>
            </a:r>
            <a:r>
              <a:rPr b="1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Выберите повторяющийся процесс в вашем бизнесе. </a:t>
            </a: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Можно ли его автоматизировать? Подходит ли он для классической роботизированной автоматизации процессов (RPA) или для этого необходим искусственный интеллект (ИИ)? Какую роль будет играть ИИ?»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820440" y="2296080"/>
            <a:ext cx="22320" cy="1037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820440" y="3553560"/>
            <a:ext cx="4329000" cy="819720"/>
          </a:xfrm>
          <a:prstGeom prst="rect">
            <a:avLst/>
          </a:prstGeom>
          <a:ln w="0">
            <a:noFill/>
          </a:ln>
        </p:spPr>
      </p:pic>
      <p:sp>
        <p:nvSpPr>
          <p:cNvPr id="174" name="Text 4"/>
          <p:cNvSpPr/>
          <p:nvPr/>
        </p:nvSpPr>
        <p:spPr>
          <a:xfrm>
            <a:off x="1025640" y="4568760"/>
            <a:ext cx="2749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Определите процесс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1025640" y="4977000"/>
            <a:ext cx="391860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Выберите повторяющуюся задачу, которая будет занимать не менее 2 часов в неделю. В идеале, задачу с четкими правилами.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5150160" y="3553560"/>
            <a:ext cx="4329000" cy="819720"/>
          </a:xfrm>
          <a:prstGeom prst="rect">
            <a:avLst/>
          </a:prstGeom>
          <a:ln w="0">
            <a:noFill/>
          </a:ln>
        </p:spPr>
      </p:pic>
      <p:sp>
        <p:nvSpPr>
          <p:cNvPr id="177" name="Text 6"/>
          <p:cNvSpPr/>
          <p:nvPr/>
        </p:nvSpPr>
        <p:spPr>
          <a:xfrm>
            <a:off x="5355360" y="4568760"/>
            <a:ext cx="30823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Анализ типа данных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355360" y="4977000"/>
            <a:ext cx="391860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Работает ли этот процесс со структурированными или неструктурированными данными, такими как электронные письма, PDF-файлы, документы? Ответ на этот вопрос определяет выбор между RPA и IPA.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Image 2" descr="preencoded.png"/>
          <p:cNvPicPr/>
          <p:nvPr/>
        </p:nvPicPr>
        <p:blipFill>
          <a:blip r:embed="rId3"/>
          <a:stretch/>
        </p:blipFill>
        <p:spPr>
          <a:xfrm>
            <a:off x="9479880" y="3553560"/>
            <a:ext cx="4329000" cy="819720"/>
          </a:xfrm>
          <a:prstGeom prst="rect">
            <a:avLst/>
          </a:prstGeom>
          <a:ln w="0">
            <a:noFill/>
          </a:ln>
        </p:spPr>
      </p:pic>
      <p:sp>
        <p:nvSpPr>
          <p:cNvPr id="180" name="Text 8"/>
          <p:cNvSpPr/>
          <p:nvPr/>
        </p:nvSpPr>
        <p:spPr>
          <a:xfrm>
            <a:off x="9671040" y="4442040"/>
            <a:ext cx="3188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Раскройте роль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искусственного интеллекта.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9685080" y="5230080"/>
            <a:ext cx="391860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OCR, NLP, машинное обучение, чат-боты — какие технологии сделают этот процесс умнее? Где потребуется участие человека?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820440" y="6601320"/>
            <a:ext cx="12988440" cy="822960"/>
          </a:xfrm>
          <a:prstGeom prst="roundRect">
            <a:avLst>
              <a:gd name="adj" fmla="val 3735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3" descr="preencoded.png"/>
          <p:cNvPicPr/>
          <p:nvPr/>
        </p:nvPicPr>
        <p:blipFill>
          <a:blip r:embed="rId4"/>
          <a:stretch/>
        </p:blipFill>
        <p:spPr>
          <a:xfrm>
            <a:off x="1025640" y="6891480"/>
            <a:ext cx="255600" cy="204480"/>
          </a:xfrm>
          <a:prstGeom prst="rect">
            <a:avLst/>
          </a:prstGeom>
          <a:ln w="0">
            <a:noFill/>
          </a:ln>
        </p:spPr>
      </p:pic>
      <p:sp>
        <p:nvSpPr>
          <p:cNvPr id="184" name="Text 11"/>
          <p:cNvSpPr/>
          <p:nvPr/>
        </p:nvSpPr>
        <p:spPr>
          <a:xfrm>
            <a:off x="1487160" y="6847200"/>
            <a:ext cx="1211688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📝 </a:t>
            </a:r>
            <a:r>
              <a:rPr b="0" lang="ru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Мы обсудим ваше задание на следующем уроке. Кратко опишите этапы выбранного вами процесса.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1"/>
          <p:cNvSpPr/>
          <p:nvPr/>
        </p:nvSpPr>
        <p:spPr>
          <a:xfrm>
            <a:off x="-2560320" y="-17020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AZ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Application>LibreOffice/24.2.7.2$Linux_X86_64 LibreOffice_project/420$Build-2</Application>
  <AppVersion>15.0000</AppVersion>
  <Words>1307</Words>
  <Paragraphs>119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2026-03-25T15:48:08Z</dcterms:created>
  <dc:creator/>
  <dc:description/>
  <dc:language>en-US</dc:language>
  <cp:lastModifiedBy/>
  <dcterms:modified xsi:type="dcterms:W3CDTF">2026-03-30T11:02:12Z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