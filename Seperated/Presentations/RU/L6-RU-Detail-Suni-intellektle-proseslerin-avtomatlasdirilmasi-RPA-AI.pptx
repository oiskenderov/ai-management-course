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</p:sldMasterIdLst>
  <p:notesMasterIdLst>
    <p:notesMasterId r:id="rId24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4630400" cy="8229600"/>
  <p:notesSz cx="8229600" cy="14630400"/>
  <p:defaultTextStyle>
    <a:defPPr>
      <a:defRPr lang="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11"/>
  </p:normalViewPr>
  <p:slideViewPr>
    <p:cSldViewPr snapToGrid="0">
      <p:cViewPr varScale="1">
        <p:scale>
          <a:sx n="91" d="100"/>
          <a:sy n="91" d="100"/>
        </p:scale>
        <p:origin x="6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tableStyles" Target="tableStyle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move the slide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E450955-5945-4B48-BE4A-21CB4F78792B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9FE8D9C-D152-426B-8599-798638BBBA4D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8F93F24-3058-4FF4-A478-79B76471E5C1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76DB68-40E3-41BD-A13D-6458FEA55FD8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2DA598E-472C-4369-85B7-30CB64873D77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68AC0C2-B83E-44D4-B376-9D203721ADE1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7F4FB8C-6EE2-4BB3-8D2D-FAF90035C281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96E8525-7501-4408-879F-D783A0D06B59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7144B24-F545-4BAC-B228-3199FB60D6F2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3D271A1-2B9B-4490-B4BF-2F983939B26B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6EB4918-B75E-4616-B38B-FAB7EA2C7BB2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9C35FE2-460F-42D5-9B0E-15C88425F63F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svg"/><Relationship Id="rId3" Type="http://schemas.openxmlformats.org/officeDocument/2006/relationships/image" Target="../media/image15.pn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3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6350040" y="2223360"/>
            <a:ext cx="7416000" cy="184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ru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Интеллектуальная автоматизация процессов от SI: от RPA до IPA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6350040" y="4387680"/>
            <a:ext cx="741600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От простой автоматизации повседневных задач до контекстно-ориентированных систем на основе искусственного интеллекта — трансформационный путь современного делового мира.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6345496" y="5602320"/>
            <a:ext cx="1993320" cy="403560"/>
          </a:xfrm>
          <a:prstGeom prst="roundRect">
            <a:avLst>
              <a:gd name="adj" fmla="val 6417"/>
            </a:avLst>
          </a:prstGeom>
          <a:noFill/>
          <a:ln w="762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6487200" y="5675040"/>
            <a:ext cx="1719000" cy="2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ru" sz="135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ПРОФЕССИОНАЛЬНЫЙ КУРС ОБУЧЕНИЯ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863640" y="1287360"/>
            <a:ext cx="684612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ru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Что мы сегодня узнаем?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863640" y="233280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В этом уроке мы вместе исследуем путь от автоматизации повседневных задач к интеллектуальной автоматизации — к моменту, когда искусственный интеллект не просто выполняет действия, но </a:t>
            </a: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и понимает контекст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863640" y="322344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01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863640" y="3560040"/>
            <a:ext cx="634320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863640" y="372888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Понимание RPA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863640" y="4165200"/>
            <a:ext cx="63432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Изучите основные принципы, преимущества и классические примеры применения роботизированной автоматизации процессов.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7423200" y="322344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02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7423200" y="3560040"/>
            <a:ext cx="634320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7423200" y="3728880"/>
            <a:ext cx="463320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Выявление ограничений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7423200" y="4165200"/>
            <a:ext cx="63432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Понимание того, какое место занимает классический RPA и почему необходимы более эффективные решения.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863640" y="519084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03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863640" y="5527080"/>
            <a:ext cx="634320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863640" y="569592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Переключиться на IPA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863640" y="6132240"/>
            <a:ext cx="63432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Узнайте, как технологии искусственного интеллекта в сочетании с RPA создают интеллектуальную автоматизацию процессов.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7423200" y="5190840"/>
            <a:ext cx="215640" cy="26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Montserrat Light"/>
                <a:ea typeface="Montserrat Light"/>
              </a:rPr>
              <a:t>04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7423200" y="5527080"/>
            <a:ext cx="6343200" cy="302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6"/>
          <p:cNvSpPr/>
          <p:nvPr/>
        </p:nvSpPr>
        <p:spPr>
          <a:xfrm>
            <a:off x="7423200" y="569592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Практическое применение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7423200" y="6132240"/>
            <a:ext cx="63432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Анализируйте реальные бизнес-сценарии, рассчитывайте рентабельность инвестиций и предпринимайте шаги для автоматизации собственных процессов.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74" name="Text 0"/>
          <p:cNvSpPr/>
          <p:nvPr/>
        </p:nvSpPr>
        <p:spPr>
          <a:xfrm>
            <a:off x="863640" y="775440"/>
            <a:ext cx="490824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ru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Что такое RPA?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863640" y="1424880"/>
            <a:ext cx="741600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Роботизированная автоматизация процессов (RPA)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— это технология, использующая программных «ботов» для точного воспроизведения действий человека на компьютерных интерфейсах. Боты вводят данные, копируют и вставляют, отправляют электронные письма и передают данные между системами.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863640" y="3251880"/>
            <a:ext cx="3600000" cy="2470320"/>
          </a:xfrm>
          <a:prstGeom prst="roundRect">
            <a:avLst>
              <a:gd name="adj" fmla="val 1311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1079640" y="346752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📋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Основано на правилах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1079640" y="3903840"/>
            <a:ext cx="316800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Бот работает исключительно в соответствии с заранее определенными, четко заданными правилами. Каждый шаг точно запрограммирован.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5"/>
          <p:cNvSpPr/>
          <p:nvPr/>
        </p:nvSpPr>
        <p:spPr>
          <a:xfrm>
            <a:off x="4680000" y="3251880"/>
            <a:ext cx="3600000" cy="2470320"/>
          </a:xfrm>
          <a:prstGeom prst="roundRect">
            <a:avLst>
              <a:gd name="adj" fmla="val 1311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895640" y="3467520"/>
            <a:ext cx="316836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🖥️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На уровне интерфейса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4895640" y="4210560"/>
            <a:ext cx="316836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Оно действует, «видя» элементы на экране, не вмешиваясь во внутреннюю структуру программ — подобно человеку.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8"/>
          <p:cNvSpPr/>
          <p:nvPr/>
        </p:nvSpPr>
        <p:spPr>
          <a:xfrm>
            <a:off x="863640" y="5938200"/>
            <a:ext cx="7416000" cy="1515600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1079640" y="615384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⚡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Быстрое исполнение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1079640" y="6590160"/>
            <a:ext cx="698436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Оно выполняет одну и ту же задачу днем и ночью, без перерывов, без ошибок — во много раз быстрее, чем человек.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0"/>
          <p:cNvSpPr/>
          <p:nvPr/>
        </p:nvSpPr>
        <p:spPr>
          <a:xfrm>
            <a:off x="863640" y="1557000"/>
            <a:ext cx="835380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ru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Ограничения классического RPA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1"/>
          <p:cNvSpPr/>
          <p:nvPr/>
        </p:nvSpPr>
        <p:spPr>
          <a:xfrm>
            <a:off x="863640" y="260244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RPA — мощный инструмент, но он не решает всех проблем. Классические RPA-боты сбиваются с толку при работе с неструктурированными данными или в неожиданных ситуациях. Эти ограничения заставляют нас искать более эффективное решение — IPA.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2"/>
          <p:cNvSpPr/>
          <p:nvPr/>
        </p:nvSpPr>
        <p:spPr>
          <a:xfrm>
            <a:off x="863640" y="3493079"/>
            <a:ext cx="4156560" cy="3779917"/>
          </a:xfrm>
          <a:prstGeom prst="roundRect">
            <a:avLst>
              <a:gd name="adj" fmla="val 4602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Shape 3"/>
          <p:cNvSpPr/>
          <p:nvPr/>
        </p:nvSpPr>
        <p:spPr>
          <a:xfrm>
            <a:off x="833400" y="3493080"/>
            <a:ext cx="121680" cy="317916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4"/>
          <p:cNvSpPr/>
          <p:nvPr/>
        </p:nvSpPr>
        <p:spPr>
          <a:xfrm>
            <a:off x="1201680" y="3703680"/>
            <a:ext cx="357264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📄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Невозможно работать с неструктурированными данными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5"/>
          <p:cNvSpPr/>
          <p:nvPr/>
        </p:nvSpPr>
        <p:spPr>
          <a:xfrm>
            <a:off x="1201680" y="4591580"/>
            <a:ext cx="3572640" cy="194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Электронные письма, PDF-файлы, отсканированные формы, рукописный текст — все это «невидимо» для стандартной роботизированной автоматизации процессов (RPA). Бот может обрабатывать только структурированные, предсказуемые данные.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6"/>
          <p:cNvSpPr/>
          <p:nvPr/>
        </p:nvSpPr>
        <p:spPr>
          <a:xfrm>
            <a:off x="5236560" y="3493080"/>
            <a:ext cx="4156560" cy="3779916"/>
          </a:xfrm>
          <a:prstGeom prst="roundRect">
            <a:avLst>
              <a:gd name="adj" fmla="val 4602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7"/>
          <p:cNvSpPr/>
          <p:nvPr/>
        </p:nvSpPr>
        <p:spPr>
          <a:xfrm>
            <a:off x="5205960" y="3493080"/>
            <a:ext cx="121680" cy="317916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8"/>
          <p:cNvSpPr/>
          <p:nvPr/>
        </p:nvSpPr>
        <p:spPr>
          <a:xfrm>
            <a:off x="5574240" y="3739680"/>
            <a:ext cx="357264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🚫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Неспособность принимать самостоятельные решения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9"/>
          <p:cNvSpPr/>
          <p:nvPr/>
        </p:nvSpPr>
        <p:spPr>
          <a:xfrm>
            <a:off x="5574240" y="4988797"/>
            <a:ext cx="3572640" cy="161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Любая ситуация, выходящая за рамки правил, останавливает бота. Исключения, аномальные данные или нестандартные сценарии требуют вмешательства человека.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10"/>
          <p:cNvSpPr/>
          <p:nvPr/>
        </p:nvSpPr>
        <p:spPr>
          <a:xfrm>
            <a:off x="9609480" y="3493079"/>
            <a:ext cx="4156560" cy="3779915"/>
          </a:xfrm>
          <a:prstGeom prst="roundRect">
            <a:avLst>
              <a:gd name="adj" fmla="val 4602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Shape 11"/>
          <p:cNvSpPr/>
          <p:nvPr/>
        </p:nvSpPr>
        <p:spPr>
          <a:xfrm>
            <a:off x="9578880" y="3493080"/>
            <a:ext cx="121680" cy="317916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2"/>
          <p:cNvSpPr/>
          <p:nvPr/>
        </p:nvSpPr>
        <p:spPr>
          <a:xfrm>
            <a:off x="9947160" y="3739680"/>
            <a:ext cx="357264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🔧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Адаптируется к изменениям интерфейса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3"/>
          <p:cNvSpPr/>
          <p:nvPr/>
        </p:nvSpPr>
        <p:spPr>
          <a:xfrm>
            <a:off x="9947160" y="4482360"/>
            <a:ext cx="357264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Небольшое изменение экрана приложения — даже изменение расположения кнопки — может полностью вывести бота из строя. Затраты на обслуживание высоки.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Image 0" descr="preencoded.png"/>
          <p:cNvPicPr/>
          <p:nvPr/>
        </p:nvPicPr>
        <p:blipFill>
          <a:blip r:embed="rId3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00" name="Text 0"/>
          <p:cNvSpPr/>
          <p:nvPr/>
        </p:nvSpPr>
        <p:spPr>
          <a:xfrm>
            <a:off x="6309720" y="783720"/>
            <a:ext cx="8095596" cy="124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601"/>
              </a:lnSpc>
              <a:tabLst>
                <a:tab pos="0" algn="l"/>
              </a:tabLst>
            </a:pPr>
            <a:r>
              <a:rPr lang="ru" sz="365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Интеллектуальная автоматизация процессов (IPA)</a:t>
            </a:r>
            <a:endParaRPr lang="en-US" sz="36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6309719" y="2247480"/>
            <a:ext cx="8095597" cy="11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6350"/>
              </a:lnSpc>
              <a:tabLst>
                <a:tab pos="0" algn="l"/>
              </a:tabLst>
            </a:pPr>
            <a:r>
              <a:rPr lang="ru" sz="505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RPA + Искусственный интеллект = IPA</a:t>
            </a:r>
            <a:endParaRPr lang="en-US" sz="50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"/>
          <p:cNvSpPr/>
          <p:nvPr/>
        </p:nvSpPr>
        <p:spPr>
          <a:xfrm>
            <a:off x="6309720" y="3944821"/>
            <a:ext cx="7496640" cy="90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IPA сочетает в себе исполнительные возможности классической RPA с возможностями понимания искусственного интеллекта. В результате бот не просто выполняет инструкции — </a:t>
            </a:r>
            <a:r>
              <a:rPr lang="ru" sz="16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он понимает контент, принимает решения и учится с течением времени </a:t>
            </a:r>
            <a:r>
              <a:rPr lang="ru" sz="16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3"/>
          <p:cNvSpPr/>
          <p:nvPr/>
        </p:nvSpPr>
        <p:spPr>
          <a:xfrm>
            <a:off x="6161760" y="5280840"/>
            <a:ext cx="3793680" cy="2262960"/>
          </a:xfrm>
          <a:prstGeom prst="roundRect">
            <a:avLst>
              <a:gd name="adj" fmla="val 1426"/>
            </a:avLst>
          </a:prstGeom>
          <a:solidFill>
            <a:srgbClr val="1D1F2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4"/>
          <p:cNvSpPr/>
          <p:nvPr/>
        </p:nvSpPr>
        <p:spPr>
          <a:xfrm>
            <a:off x="6367320" y="5477400"/>
            <a:ext cx="233892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99"/>
              </a:lnSpc>
              <a:tabLst>
                <a:tab pos="0" algn="l"/>
              </a:tabLst>
            </a:pPr>
            <a:r>
              <a:rPr lang="ru" sz="18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Классический RPA-бот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5"/>
          <p:cNvSpPr/>
          <p:nvPr/>
        </p:nvSpPr>
        <p:spPr>
          <a:xfrm>
            <a:off x="6367320" y="5965920"/>
            <a:ext cx="3381840" cy="141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Только структурированные данные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В рамках установленных правил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Не учится, не меняется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Требуется человеческий контроль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6"/>
          <p:cNvSpPr/>
          <p:nvPr/>
        </p:nvSpPr>
        <p:spPr>
          <a:xfrm>
            <a:off x="10317240" y="5477400"/>
            <a:ext cx="233892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99"/>
              </a:lnSpc>
              <a:tabLst>
                <a:tab pos="0" algn="l"/>
              </a:tabLst>
            </a:pPr>
            <a:r>
              <a:rPr lang="ru" sz="18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IPA — Интеллектуальный бот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7"/>
          <p:cNvSpPr/>
          <p:nvPr/>
        </p:nvSpPr>
        <p:spPr>
          <a:xfrm>
            <a:off x="10317240" y="5965920"/>
            <a:ext cx="3497040" cy="141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Обрабатывает неструктурированные данные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Принимает решения, исходя из контекста.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Учится на каждом задании.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350"/>
              </a:lnSpc>
              <a:buClr>
                <a:srgbClr val="E2E6E9"/>
              </a:buClr>
              <a:buFont typeface="Symbol" charset="2"/>
              <a:buChar char=""/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Самоконтроль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863640" y="1134803"/>
            <a:ext cx="62632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ru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Основные технологии IPA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863640" y="1927021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Сила IPA заключается в технологиях искусственного интеллекта, лежащих в её основе. Эти технологии работают вместе, чтобы дать системе возможность видеть, понимать и учиться.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Image 0" descr="preencoded.png"/>
          <p:cNvPicPr/>
          <p:nvPr/>
        </p:nvPicPr>
        <p:blipFill>
          <a:blip r:embed="rId3"/>
          <a:stretch/>
        </p:blipFill>
        <p:spPr>
          <a:xfrm>
            <a:off x="863640" y="3577320"/>
            <a:ext cx="906120" cy="906120"/>
          </a:xfrm>
          <a:prstGeom prst="rect">
            <a:avLst/>
          </a:prstGeom>
          <a:ln w="0">
            <a:noFill/>
          </a:ln>
        </p:spPr>
      </p:pic>
      <p:sp>
        <p:nvSpPr>
          <p:cNvPr id="111" name="Text 2"/>
          <p:cNvSpPr/>
          <p:nvPr/>
        </p:nvSpPr>
        <p:spPr>
          <a:xfrm>
            <a:off x="2040120" y="3577320"/>
            <a:ext cx="29440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OCR + NLP — Чтение документов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3"/>
          <p:cNvSpPr/>
          <p:nvPr/>
        </p:nvSpPr>
        <p:spPr>
          <a:xfrm>
            <a:off x="2040120" y="4320360"/>
            <a:ext cx="2944080" cy="226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Оптическое распознавание символов (OCR)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оцифровывает текст в документах; </a:t>
            </a: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обработка естественного языка (NLP)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анализирует этот текст осмысленным образом. Результат: счета, договоры, электронные письма обрабатываются автоматически.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" name="Image 1" descr="preencoded.png"/>
          <p:cNvPicPr/>
          <p:nvPr/>
        </p:nvPicPr>
        <p:blipFill>
          <a:blip r:embed="rId4"/>
          <a:stretch/>
        </p:blipFill>
        <p:spPr>
          <a:xfrm>
            <a:off x="5254560" y="3577320"/>
            <a:ext cx="906120" cy="906120"/>
          </a:xfrm>
          <a:prstGeom prst="rect">
            <a:avLst/>
          </a:prstGeom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6431040" y="3577320"/>
            <a:ext cx="29440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Машинное обучение — Интеллектуальная классификация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6431040" y="4686122"/>
            <a:ext cx="2944080" cy="194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Модели машинного обучения автоматически классифицируют входящие запросы, документы и данные. Чем больше данных они обрабатывают, тем точнее становятся.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" name="Image 2" descr="preencoded.png"/>
          <p:cNvPicPr/>
          <p:nvPr/>
        </p:nvPicPr>
        <p:blipFill>
          <a:blip r:embed="rId5"/>
          <a:stretch/>
        </p:blipFill>
        <p:spPr>
          <a:xfrm>
            <a:off x="9645480" y="3577320"/>
            <a:ext cx="906120" cy="906120"/>
          </a:xfrm>
          <a:prstGeom prst="rect">
            <a:avLst/>
          </a:prstGeom>
          <a:ln w="0">
            <a:noFill/>
          </a:ln>
        </p:spPr>
      </p:pic>
      <p:sp>
        <p:nvSpPr>
          <p:cNvPr id="117" name="Text 6"/>
          <p:cNvSpPr/>
          <p:nvPr/>
        </p:nvSpPr>
        <p:spPr>
          <a:xfrm>
            <a:off x="10821960" y="3577320"/>
            <a:ext cx="29440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Чат-боты — основная поддержка клиентов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10821960" y="4320360"/>
            <a:ext cx="2944080" cy="194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Чат-боты на основе обработки естественного языка первыми получают запросы клиентов, отвечают на них и при необходимости перенаправляют в нужный отдел — круглосуточное бесперебойное обслуживание.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863640" y="1684440"/>
            <a:ext cx="690336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ru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Типичные сценарии управления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938077" y="2354590"/>
            <a:ext cx="12902400" cy="3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Технологии IPA трансформируют реальные бизнес-процессы в самых разных секторах. </a:t>
            </a:r>
            <a:endParaRPr lang="en-US" sz="1700" b="0" strike="noStrike" spc="-1" dirty="0">
              <a:solidFill>
                <a:srgbClr val="E2E6E9"/>
              </a:solidFill>
              <a:latin typeface="Source Sans 3"/>
              <a:ea typeface="Source Sans 3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Приведенные ниже примеры отражают наиболее широко используемые области.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" name="Image 0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3640" y="3296880"/>
            <a:ext cx="539640" cy="539640"/>
          </a:xfrm>
          <a:prstGeom prst="rect">
            <a:avLst/>
          </a:prstGeom>
          <a:ln w="0">
            <a:noFill/>
          </a:ln>
        </p:spPr>
      </p:pic>
      <p:sp>
        <p:nvSpPr>
          <p:cNvPr id="122" name="Text 2"/>
          <p:cNvSpPr/>
          <p:nvPr/>
        </p:nvSpPr>
        <p:spPr>
          <a:xfrm>
            <a:off x="1673640" y="3296880"/>
            <a:ext cx="39099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Счет-фактура и накладные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1673640" y="3733200"/>
            <a:ext cx="550620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Система считывает входящие счета-фактуры с помощью оптического распознавания символов (OCR), вводит данные в бухгалтерскую систему, проверяет соответствие требованиям и автоматически утверждает платежи, сводя ручные операции к нулю.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Image 1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450200" y="3296880"/>
            <a:ext cx="539640" cy="539640"/>
          </a:xfrm>
          <a:prstGeom prst="rect">
            <a:avLst/>
          </a:prstGeom>
          <a:ln w="0">
            <a:noFill/>
          </a:ln>
        </p:spPr>
      </p:pic>
      <p:sp>
        <p:nvSpPr>
          <p:cNvPr id="125" name="Text 4"/>
          <p:cNvSpPr/>
          <p:nvPr/>
        </p:nvSpPr>
        <p:spPr>
          <a:xfrm>
            <a:off x="8259840" y="3296880"/>
            <a:ext cx="30693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Наём новых сотрудников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5"/>
          <p:cNvSpPr/>
          <p:nvPr/>
        </p:nvSpPr>
        <p:spPr>
          <a:xfrm>
            <a:off x="8259840" y="3733200"/>
            <a:ext cx="550656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Она обрабатывает документы новых сотрудников, создает права доступа к системам, составляет план обучения и рассылает автоматические уведомления во все отделы.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Image 2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863640" y="5643281"/>
            <a:ext cx="539640" cy="539640"/>
          </a:xfrm>
          <a:prstGeom prst="rect">
            <a:avLst/>
          </a:prstGeom>
          <a:ln w="0">
            <a:noFill/>
          </a:ln>
        </p:spPr>
      </p:pic>
      <p:sp>
        <p:nvSpPr>
          <p:cNvPr id="128" name="Text 6"/>
          <p:cNvSpPr/>
          <p:nvPr/>
        </p:nvSpPr>
        <p:spPr>
          <a:xfrm>
            <a:off x="1673640" y="5643281"/>
            <a:ext cx="344232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Анализ результатов опросов клиентов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1673640" y="6178071"/>
            <a:ext cx="550620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Читает входящие электронные письма и сообщения, классифицирует их по теме и приоритету, перенаправляет в соответствующую команду и подготавливает шаблон ответа.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Image 3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7450200" y="5643281"/>
            <a:ext cx="539640" cy="539640"/>
          </a:xfrm>
          <a:prstGeom prst="rect">
            <a:avLst/>
          </a:prstGeom>
          <a:ln w="0">
            <a:noFill/>
          </a:ln>
        </p:spPr>
      </p:pic>
      <p:sp>
        <p:nvSpPr>
          <p:cNvPr id="131" name="Text 8"/>
          <p:cNvSpPr/>
          <p:nvPr/>
        </p:nvSpPr>
        <p:spPr>
          <a:xfrm>
            <a:off x="8259840" y="5643281"/>
            <a:ext cx="304920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Нормативные отчеты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8259840" y="6248407"/>
            <a:ext cx="550656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Она собирает, интегрирует и форматирует данные из различных систем и автоматически отправляет отчеты в регулирующие органы в установленные сроки.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783360" y="538560"/>
            <a:ext cx="5400000" cy="55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351"/>
              </a:lnSpc>
              <a:tabLst>
                <a:tab pos="0" algn="l"/>
              </a:tabLst>
            </a:pPr>
            <a:r>
              <a:rPr lang="ru" sz="35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Гибридное проектирование процессов</a:t>
            </a:r>
            <a:endParaRPr lang="en-US" sz="3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783360" y="1449720"/>
            <a:ext cx="13063680" cy="55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Эффективные решения IPA сочетают в себе возможности бота и человеческое суждение. Пример ниже показывает, как шаг за шагом работает обработка запросов по электронной почте — полностью автоматизированная в случаях высокого уровня доверия и передаваемая человеку в подозрительных случаях.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Image 0" descr="preencoded.png"/>
          <p:cNvPicPr/>
          <p:nvPr/>
        </p:nvPicPr>
        <p:blipFill>
          <a:blip r:embed="rId3"/>
          <a:stretch/>
        </p:blipFill>
        <p:spPr>
          <a:xfrm>
            <a:off x="992520" y="2209320"/>
            <a:ext cx="12645000" cy="4744800"/>
          </a:xfrm>
          <a:prstGeom prst="rect">
            <a:avLst/>
          </a:prstGeom>
          <a:ln w="0">
            <a:noFill/>
          </a:ln>
        </p:spPr>
      </p:pic>
      <p:pic>
        <p:nvPicPr>
          <p:cNvPr id="136" name="Image 1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1791800" y="3418200"/>
            <a:ext cx="652680" cy="652680"/>
          </a:xfrm>
          <a:prstGeom prst="rect">
            <a:avLst/>
          </a:prstGeom>
          <a:ln w="0">
            <a:noFill/>
          </a:ln>
        </p:spPr>
      </p:pic>
      <p:sp>
        <p:nvSpPr>
          <p:cNvPr id="137" name="Text 2"/>
          <p:cNvSpPr/>
          <p:nvPr/>
        </p:nvSpPr>
        <p:spPr>
          <a:xfrm>
            <a:off x="11209680" y="5652360"/>
            <a:ext cx="1906920" cy="66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99"/>
              </a:lnSpc>
              <a:tabLst>
                <a:tab pos="0" algn="l"/>
              </a:tabLst>
            </a:pP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От </a:t>
            </a: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90% </a:t>
            </a: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вниз </a:t>
            </a: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: </a:t>
            </a: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Обзор</a:t>
            </a:r>
            <a:endParaRPr lang="en-US" sz="21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Image 2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400320" y="3419280"/>
            <a:ext cx="652680" cy="652680"/>
          </a:xfrm>
          <a:prstGeom prst="rect">
            <a:avLst/>
          </a:prstGeom>
          <a:ln w="0">
            <a:noFill/>
          </a:ln>
        </p:spPr>
      </p:pic>
      <p:sp>
        <p:nvSpPr>
          <p:cNvPr id="139" name="Text 3"/>
          <p:cNvSpPr/>
          <p:nvPr/>
        </p:nvSpPr>
        <p:spPr>
          <a:xfrm>
            <a:off x="8805960" y="5652360"/>
            <a:ext cx="1906920" cy="66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99"/>
              </a:lnSpc>
              <a:tabLst>
                <a:tab pos="0" algn="l"/>
              </a:tabLst>
            </a:pP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От </a:t>
            </a: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90% </a:t>
            </a: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много </a:t>
            </a: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: </a:t>
            </a: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Автоматический</a:t>
            </a:r>
            <a:endParaRPr lang="en-US" sz="21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" name="Image 3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009920" y="3419280"/>
            <a:ext cx="652680" cy="652680"/>
          </a:xfrm>
          <a:prstGeom prst="rect">
            <a:avLst/>
          </a:prstGeom>
          <a:ln w="0">
            <a:noFill/>
          </a:ln>
        </p:spPr>
      </p:pic>
      <p:sp>
        <p:nvSpPr>
          <p:cNvPr id="141" name="Text 4"/>
          <p:cNvSpPr/>
          <p:nvPr/>
        </p:nvSpPr>
        <p:spPr>
          <a:xfrm>
            <a:off x="6415560" y="5652360"/>
            <a:ext cx="2109462" cy="112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99"/>
              </a:lnSpc>
              <a:tabLst>
                <a:tab pos="0" algn="l"/>
              </a:tabLst>
            </a:pP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Модель</a:t>
            </a: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lang="ru" sz="2100" b="1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Надежность</a:t>
            </a: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индикатор</a:t>
            </a:r>
            <a:endParaRPr lang="en-US" sz="21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Image 4" descr="preencoded.png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4619160" y="3419280"/>
            <a:ext cx="652680" cy="652680"/>
          </a:xfrm>
          <a:prstGeom prst="rect">
            <a:avLst/>
          </a:prstGeom>
          <a:ln w="0">
            <a:noFill/>
          </a:ln>
        </p:spPr>
      </p:pic>
      <p:sp>
        <p:nvSpPr>
          <p:cNvPr id="143" name="Text 5"/>
          <p:cNvSpPr/>
          <p:nvPr/>
        </p:nvSpPr>
        <p:spPr>
          <a:xfrm>
            <a:off x="4024800" y="5652360"/>
            <a:ext cx="1906920" cy="66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99"/>
              </a:lnSpc>
              <a:tabLst>
                <a:tab pos="0" algn="l"/>
              </a:tabLst>
            </a:pP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НЛП</a:t>
            </a:r>
          </a:p>
          <a:p>
            <a:pPr algn="ctr">
              <a:lnSpc>
                <a:spcPts val="2599"/>
              </a:lnSpc>
              <a:tabLst>
                <a:tab pos="0" algn="l"/>
              </a:tabLst>
            </a:pP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Классификация</a:t>
            </a:r>
            <a:endParaRPr lang="en-US" sz="21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4" name="Image 5" descr="preencoded.png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2215440" y="3419280"/>
            <a:ext cx="652680" cy="652680"/>
          </a:xfrm>
          <a:prstGeom prst="rect">
            <a:avLst/>
          </a:prstGeom>
          <a:ln w="0">
            <a:noFill/>
          </a:ln>
        </p:spPr>
      </p:pic>
      <p:sp>
        <p:nvSpPr>
          <p:cNvPr id="145" name="Text 6"/>
          <p:cNvSpPr/>
          <p:nvPr/>
        </p:nvSpPr>
        <p:spPr>
          <a:xfrm>
            <a:off x="1581840" y="5652360"/>
            <a:ext cx="1906920" cy="66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2599"/>
              </a:lnSpc>
              <a:tabLst>
                <a:tab pos="0" algn="l"/>
              </a:tabLst>
            </a:pPr>
            <a:r>
              <a:rPr lang="ru" sz="21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Электронная почта</a:t>
            </a:r>
            <a:r>
              <a:rPr lang="ru" sz="2100" b="1" spc="-1" dirty="0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lang="ru" sz="2100" b="1" strike="noStrike" spc="-1" dirty="0" err="1">
                <a:solidFill>
                  <a:srgbClr val="E2E6E9"/>
                </a:solidFill>
                <a:latin typeface="Montserrat Bold"/>
                <a:ea typeface="Montserrat Bold"/>
              </a:rPr>
              <a:t>Чтение</a:t>
            </a:r>
            <a:endParaRPr lang="en-US" sz="21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783360" y="7154280"/>
            <a:ext cx="13063680" cy="55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Эта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гибридная 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модель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является наиболее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хороший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результат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дает 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: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высокий</a:t>
            </a:r>
            <a:r>
              <a:rPr lang="ru" sz="15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громоздкий </a:t>
            </a:r>
            <a:r>
              <a:rPr lang="ru" sz="15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,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стандартный</a:t>
            </a:r>
            <a:r>
              <a:rPr lang="ru" sz="15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случаи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полностью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автоматизированный 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,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сложный</a:t>
            </a:r>
            <a:r>
              <a:rPr lang="ru" sz="15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и</a:t>
            </a:r>
            <a:r>
              <a:rPr lang="ru" sz="15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неопределенный</a:t>
            </a:r>
            <a:r>
              <a:rPr lang="ru" sz="15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1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случаи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пока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к специалисту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происходит перенаправление 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.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В результате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оба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скорость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увеличивается 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,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оба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также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качество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предоставлять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ru" sz="15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Это делается </a:t>
            </a:r>
            <a:r>
              <a:rPr lang="ru" sz="15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.</a:t>
            </a:r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863640" y="923040"/>
            <a:ext cx="56998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ru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Оценка рентабельности инвестиций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863640" y="196848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Для корректного расчета рентабельности инвестиций в IPA необходимо объективно учитывать как получаемую выгоду, так и реальные затраты. Успешные внедрения, как правило, окупаются в течение 6-18 месяцев.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"/>
          <p:cNvSpPr/>
          <p:nvPr/>
        </p:nvSpPr>
        <p:spPr>
          <a:xfrm>
            <a:off x="708120" y="2859479"/>
            <a:ext cx="6498720" cy="3728855"/>
          </a:xfrm>
          <a:prstGeom prst="roundRect">
            <a:avLst>
              <a:gd name="adj" fmla="val 1086"/>
            </a:avLst>
          </a:prstGeom>
          <a:solidFill>
            <a:srgbClr val="1D1F2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924120" y="3075120"/>
            <a:ext cx="296604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✅ </a:t>
            </a:r>
            <a:r>
              <a:rPr lang="ru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Полученные значения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924120" y="3597840"/>
            <a:ext cx="6067080" cy="217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Экономия времени: </a:t>
            </a: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сотрудники сосредотачиваются на задачах, имеющих высокую ценность.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Сокращение количества ошибок: </a:t>
            </a: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количество ошибок при ручном вводе сведено практически к нулю.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Масштабируемость: </a:t>
            </a: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способность справляться с растущей рабочей нагрузкой без привлечения дополнительного персонала.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Скорость: </a:t>
            </a:r>
            <a:r>
              <a:rPr lang="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круглосуточная бесперебойная работа, нулевое время ожидания.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7586280" y="3075120"/>
            <a:ext cx="331272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⚠️ </a:t>
            </a:r>
            <a:r>
              <a:rPr lang="ru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Расходы, которые следует учитывать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7586280" y="3597840"/>
            <a:ext cx="6187680" cy="217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Затраты на приложение: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лицензия, настройка, интеграционные работы.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Постоянная поддержка: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обслуживание бота, обновления системы, мониторинг.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Обучение сотрудников: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Адаптация команды к новой модели работы.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Непредвиденные изменения: </a:t>
            </a:r>
            <a:r>
              <a:rPr lang="ru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переконфигурация при изменении систем.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7"/>
          <p:cNvSpPr/>
          <p:nvPr/>
        </p:nvSpPr>
        <p:spPr>
          <a:xfrm>
            <a:off x="863640" y="6789913"/>
            <a:ext cx="12902400" cy="1219680"/>
          </a:xfrm>
          <a:prstGeom prst="roundRect">
            <a:avLst>
              <a:gd name="adj" fmla="val 2656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5" name="Image 0" descr="preencoded.png"/>
          <p:cNvPicPr/>
          <p:nvPr/>
        </p:nvPicPr>
        <p:blipFill>
          <a:blip r:embed="rId3"/>
          <a:stretch/>
        </p:blipFill>
        <p:spPr>
          <a:xfrm>
            <a:off x="1079640" y="6930336"/>
            <a:ext cx="269640" cy="215640"/>
          </a:xfrm>
          <a:prstGeom prst="rect">
            <a:avLst/>
          </a:prstGeom>
          <a:ln w="0">
            <a:noFill/>
          </a:ln>
        </p:spPr>
      </p:pic>
      <p:sp>
        <p:nvSpPr>
          <p:cNvPr id="156" name="Text 8"/>
          <p:cNvSpPr/>
          <p:nvPr/>
        </p:nvSpPr>
        <p:spPr>
          <a:xfrm>
            <a:off x="1565280" y="6890736"/>
            <a:ext cx="1198512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ru" sz="1700" b="0" strike="noStrike" spc="-1">
                <a:solidFill>
                  <a:srgbClr val="000000"/>
                </a:solidFill>
                <a:latin typeface="Source Sans 3"/>
                <a:ea typeface="Source Sans 3"/>
              </a:rPr>
              <a:t>💡</a:t>
            </a:r>
            <a:r>
              <a:rPr lang="ru" sz="170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lang="ru" sz="1700" b="1" strike="noStrike" spc="-1">
                <a:solidFill>
                  <a:srgbClr val="FFFFFF"/>
                </a:solidFill>
                <a:latin typeface="Source Sans 3"/>
                <a:ea typeface="Source Sans 3"/>
              </a:rPr>
              <a:t>Рекомендация: </a:t>
            </a:r>
            <a:r>
              <a:rPr lang="ru" sz="170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Начните с пилотного проекта — полностью автоматизируйте один процесс, измерьте рентабельность инвестиций, а затем масштабируйте. Такой подход минимизирует риски.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Image 0" descr="preencoded.png"/>
          <p:cNvPicPr/>
          <p:nvPr/>
        </p:nvPicPr>
        <p:blipFill>
          <a:blip r:embed="rId3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58" name="Text 0"/>
          <p:cNvSpPr/>
          <p:nvPr/>
        </p:nvSpPr>
        <p:spPr>
          <a:xfrm>
            <a:off x="6341400" y="38908"/>
            <a:ext cx="6566760" cy="60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51"/>
              </a:lnSpc>
              <a:tabLst>
                <a:tab pos="0" algn="l"/>
              </a:tabLst>
            </a:pPr>
            <a:r>
              <a:rPr lang="ru" sz="380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Этические и организационные </a:t>
            </a:r>
            <a:endParaRPr lang="en-US" sz="3800" b="1" strike="noStrike" spc="-1" dirty="0">
              <a:solidFill>
                <a:srgbClr val="FFFFFF"/>
              </a:solidFill>
              <a:latin typeface="Montserrat Bold"/>
              <a:ea typeface="Montserrat Bold"/>
            </a:endParaRPr>
          </a:p>
          <a:p>
            <a:pPr>
              <a:lnSpc>
                <a:spcPts val="4751"/>
              </a:lnSpc>
              <a:tabLst>
                <a:tab pos="0" algn="l"/>
              </a:tabLst>
            </a:pPr>
            <a:r>
              <a:rPr lang="ru" sz="380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аспекты</a:t>
            </a:r>
            <a:endParaRPr lang="en-US" sz="3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6341400" y="1230840"/>
            <a:ext cx="7433280" cy="95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00"/>
              </a:lnSpc>
              <a:tabLst>
                <a:tab pos="0" algn="l"/>
              </a:tabLst>
            </a:pPr>
            <a:r>
              <a:rPr lang="ru" sz="16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Какими бы мощными ни были технологии, ключевым фактором успешной реализации является баланс между ними и человеческим фактором. Если эти вопросы не будут решены своевременно, даже самое лучшее техническое решение может столкнуться с сопротивлением внутри компании.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"/>
          <p:cNvSpPr/>
          <p:nvPr/>
        </p:nvSpPr>
        <p:spPr>
          <a:xfrm>
            <a:off x="6341400" y="2714040"/>
            <a:ext cx="3610800" cy="3144600"/>
          </a:xfrm>
          <a:prstGeom prst="roundRect">
            <a:avLst>
              <a:gd name="adj" fmla="val 1020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6585840" y="2958480"/>
            <a:ext cx="2675880" cy="31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😟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Страх потерять работу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6585840" y="3396600"/>
            <a:ext cx="3122280" cy="159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00"/>
              </a:lnSpc>
              <a:tabLst>
                <a:tab pos="0" algn="l"/>
              </a:tabLst>
            </a:pPr>
            <a:r>
              <a:rPr lang="ru" sz="16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Это вызывает наибольшее беспокойство у сотрудников. Открытое общение, прозрачность и четкое понимание того, что «боты освобождают меня», а не «боты отнимают у меня работу», имеют первостепенное значение.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5"/>
          <p:cNvSpPr/>
          <p:nvPr/>
        </p:nvSpPr>
        <p:spPr>
          <a:xfrm>
            <a:off x="10164240" y="2714040"/>
            <a:ext cx="3610800" cy="3144600"/>
          </a:xfrm>
          <a:prstGeom prst="roundRect">
            <a:avLst>
              <a:gd name="adj" fmla="val 1020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10408320" y="2958480"/>
            <a:ext cx="3122280" cy="61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🎓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Необходимость переподготовки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7"/>
          <p:cNvSpPr/>
          <p:nvPr/>
        </p:nvSpPr>
        <p:spPr>
          <a:xfrm>
            <a:off x="10408320" y="3700440"/>
            <a:ext cx="3122280" cy="191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00"/>
              </a:lnSpc>
              <a:tabLst>
                <a:tab pos="0" algn="l"/>
              </a:tabLst>
            </a:pPr>
            <a:r>
              <a:rPr lang="ru" sz="16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Автоматизация требует новых навыков: управление ботами, анализ данных, проектирование процессов. Необходимы инвестиции для оснащения команд этими навыками.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8"/>
          <p:cNvSpPr/>
          <p:nvPr/>
        </p:nvSpPr>
        <p:spPr>
          <a:xfrm>
            <a:off x="6341400" y="6070680"/>
            <a:ext cx="7433280" cy="1564560"/>
          </a:xfrm>
          <a:prstGeom prst="roundRect">
            <a:avLst>
              <a:gd name="adj" fmla="val 2049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6585840" y="6314760"/>
            <a:ext cx="2928960" cy="31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9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⚖️ </a:t>
            </a:r>
            <a:r>
              <a:rPr lang="ru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Вопрос ответственности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10"/>
          <p:cNvSpPr/>
          <p:nvPr/>
        </p:nvSpPr>
        <p:spPr>
          <a:xfrm>
            <a:off x="6585840" y="6753240"/>
            <a:ext cx="6945120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00"/>
              </a:lnSpc>
              <a:tabLst>
                <a:tab pos="0" algn="l"/>
              </a:tabLst>
            </a:pPr>
            <a:r>
              <a:rPr lang="ru" sz="16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Кто несёт ответственность, когда бот принимает неверное решение? Разработчик системы? Администратор? Компания? Эти вопросы необходимо прояснить до начала внедрения.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820440" y="804600"/>
            <a:ext cx="4662000" cy="58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550"/>
              </a:lnSpc>
              <a:tabLst>
                <a:tab pos="0" algn="l"/>
              </a:tabLst>
            </a:pPr>
            <a:r>
              <a:rPr lang="ru" sz="36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Практическое задание</a:t>
            </a:r>
            <a:endParaRPr lang="en-US" sz="3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820440" y="1509671"/>
            <a:ext cx="12988800" cy="29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Теперь пришло время применить полученные знания в своей рабочей среде. Это упражнение поможет вам развить мышление, </a:t>
            </a:r>
            <a:endParaRPr lang="en-US" sz="1600" b="0" strike="noStrike" spc="-1" dirty="0">
              <a:solidFill>
                <a:srgbClr val="E2E6E9"/>
              </a:solidFill>
              <a:latin typeface="Source Sans 3"/>
              <a:ea typeface="Source Sans 3"/>
            </a:endParaRPr>
          </a:p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ориентированное на автоматизацию.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1128240" y="2515320"/>
            <a:ext cx="12681360" cy="59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« </a:t>
            </a:r>
            <a:r>
              <a:rPr lang="ru" sz="1600" b="1" strike="noStrike" spc="-1">
                <a:solidFill>
                  <a:srgbClr val="E2E6E9"/>
                </a:solidFill>
                <a:latin typeface="Source Sans 3"/>
                <a:ea typeface="Source Sans 3"/>
              </a:rPr>
              <a:t>Выберите повторяющийся процесс в вашем бизнесе. </a:t>
            </a: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Можно ли его автоматизировать? Подходит ли он для классической роботизированной автоматизации процессов (RPA) или для этого необходим искусственный интеллект (ИИ)? Какую роль будет играть ИИ?»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820440" y="2296080"/>
            <a:ext cx="22680" cy="1037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3"/>
          <a:stretch/>
        </p:blipFill>
        <p:spPr>
          <a:xfrm>
            <a:off x="820440" y="3553560"/>
            <a:ext cx="4329360" cy="820080"/>
          </a:xfrm>
          <a:prstGeom prst="rect">
            <a:avLst/>
          </a:prstGeom>
          <a:ln w="0">
            <a:noFill/>
          </a:ln>
        </p:spPr>
      </p:pic>
      <p:sp>
        <p:nvSpPr>
          <p:cNvPr id="174" name="Text 4"/>
          <p:cNvSpPr/>
          <p:nvPr/>
        </p:nvSpPr>
        <p:spPr>
          <a:xfrm>
            <a:off x="1025640" y="4568760"/>
            <a:ext cx="2750040" cy="29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ru" sz="18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Определите процесс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"/>
          <p:cNvSpPr/>
          <p:nvPr/>
        </p:nvSpPr>
        <p:spPr>
          <a:xfrm>
            <a:off x="1025640" y="4977000"/>
            <a:ext cx="3918960" cy="89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Выберите повторяющуюся задачу, которая будет занимать не менее 2 часов в неделю. В идеале, задачу с четкими правилами.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" name="Image 1" descr="preencoded.png"/>
          <p:cNvPicPr/>
          <p:nvPr/>
        </p:nvPicPr>
        <p:blipFill>
          <a:blip r:embed="rId4"/>
          <a:stretch/>
        </p:blipFill>
        <p:spPr>
          <a:xfrm>
            <a:off x="5150160" y="3553560"/>
            <a:ext cx="4329360" cy="820080"/>
          </a:xfrm>
          <a:prstGeom prst="rect">
            <a:avLst/>
          </a:prstGeom>
          <a:ln w="0">
            <a:noFill/>
          </a:ln>
        </p:spPr>
      </p:pic>
      <p:sp>
        <p:nvSpPr>
          <p:cNvPr id="177" name="Text 6"/>
          <p:cNvSpPr/>
          <p:nvPr/>
        </p:nvSpPr>
        <p:spPr>
          <a:xfrm>
            <a:off x="5355360" y="4568760"/>
            <a:ext cx="3082680" cy="29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ru" sz="18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Анализ типа данных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5355360" y="4977000"/>
            <a:ext cx="3918960" cy="119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Работает ли этот процесс со структурированными или неструктурированными данными, такими как электронные письма, PDF-файлы, документы? Ответ на этот вопрос определяет выбор между RPA и IPA.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9" name="Image 2" descr="preencoded.png"/>
          <p:cNvPicPr/>
          <p:nvPr/>
        </p:nvPicPr>
        <p:blipFill>
          <a:blip r:embed="rId5"/>
          <a:stretch/>
        </p:blipFill>
        <p:spPr>
          <a:xfrm>
            <a:off x="9479880" y="3553560"/>
            <a:ext cx="4329360" cy="820080"/>
          </a:xfrm>
          <a:prstGeom prst="rect">
            <a:avLst/>
          </a:prstGeom>
          <a:ln w="0">
            <a:noFill/>
          </a:ln>
        </p:spPr>
      </p:pic>
      <p:sp>
        <p:nvSpPr>
          <p:cNvPr id="180" name="Text 8"/>
          <p:cNvSpPr/>
          <p:nvPr/>
        </p:nvSpPr>
        <p:spPr>
          <a:xfrm>
            <a:off x="9671012" y="4442148"/>
            <a:ext cx="3189240" cy="29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ru" sz="18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Раскройте роль </a:t>
            </a:r>
            <a:endParaRPr lang="en-US" sz="1800" b="1" strike="noStrike" spc="-1" dirty="0">
              <a:solidFill>
                <a:srgbClr val="E2E6E9"/>
              </a:solidFill>
              <a:latin typeface="Montserrat Bold"/>
              <a:ea typeface="Montserrat Bold"/>
            </a:endParaRPr>
          </a:p>
          <a:p>
            <a:pPr>
              <a:lnSpc>
                <a:spcPts val="2251"/>
              </a:lnSpc>
              <a:tabLst>
                <a:tab pos="0" algn="l"/>
              </a:tabLst>
            </a:pPr>
            <a:r>
              <a:rPr lang="ru" sz="1800" b="1" strike="noStrike" spc="-1" dirty="0">
                <a:solidFill>
                  <a:srgbClr val="E2E6E9"/>
                </a:solidFill>
                <a:latin typeface="Montserrat Bold"/>
                <a:ea typeface="Montserrat Bold"/>
              </a:rPr>
              <a:t>искусственного интеллекта.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9"/>
          <p:cNvSpPr/>
          <p:nvPr/>
        </p:nvSpPr>
        <p:spPr>
          <a:xfrm>
            <a:off x="9685080" y="5230219"/>
            <a:ext cx="3918960" cy="89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OCR, NLP, машинное обучение, чат-боты — какие технологии сделают этот процесс умнее? Где потребуется участие человека?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0"/>
          <p:cNvSpPr/>
          <p:nvPr/>
        </p:nvSpPr>
        <p:spPr>
          <a:xfrm>
            <a:off x="820440" y="6601320"/>
            <a:ext cx="12988800" cy="823320"/>
          </a:xfrm>
          <a:prstGeom prst="roundRect">
            <a:avLst>
              <a:gd name="adj" fmla="val 3735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3" name="Image 3" descr="preencoded.png"/>
          <p:cNvPicPr/>
          <p:nvPr/>
        </p:nvPicPr>
        <p:blipFill>
          <a:blip r:embed="rId6"/>
          <a:stretch/>
        </p:blipFill>
        <p:spPr>
          <a:xfrm>
            <a:off x="1025640" y="6891480"/>
            <a:ext cx="255960" cy="204840"/>
          </a:xfrm>
          <a:prstGeom prst="rect">
            <a:avLst/>
          </a:prstGeom>
          <a:ln w="0">
            <a:noFill/>
          </a:ln>
        </p:spPr>
      </p:pic>
      <p:sp>
        <p:nvSpPr>
          <p:cNvPr id="184" name="Text 11"/>
          <p:cNvSpPr/>
          <p:nvPr/>
        </p:nvSpPr>
        <p:spPr>
          <a:xfrm>
            <a:off x="1487160" y="6847200"/>
            <a:ext cx="12117240" cy="29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350"/>
              </a:lnSpc>
              <a:tabLst>
                <a:tab pos="0" algn="l"/>
              </a:tabLst>
            </a:pPr>
            <a:r>
              <a:rPr lang="ru" sz="1600" b="0" strike="noStrike" spc="-1">
                <a:solidFill>
                  <a:srgbClr val="000000"/>
                </a:solidFill>
                <a:latin typeface="Source Sans 3"/>
                <a:ea typeface="Source Sans 3"/>
              </a:rPr>
              <a:t>📝 </a:t>
            </a:r>
            <a:r>
              <a:rPr lang="ru" sz="160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Мы обсудим ваше задание на следующем уроке. Кратко опишите этапы выбранного вами процесса.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871728-FE72-FC28-9AF9-D58EDDEF534D}"/>
              </a:ext>
            </a:extLst>
          </p:cNvPr>
          <p:cNvSpPr txBox="1"/>
          <p:nvPr/>
        </p:nvSpPr>
        <p:spPr>
          <a:xfrm>
            <a:off x="-2560320" y="-170219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Z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</TotalTime>
  <Words>1307</Words>
  <Application>Microsoft Macintosh PowerPoint</Application>
  <PresentationFormat>Custom</PresentationFormat>
  <Paragraphs>119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11</vt:i4>
      </vt:variant>
    </vt:vector>
  </HeadingPairs>
  <TitlesOfParts>
    <vt:vector size="32" baseType="lpstr">
      <vt:lpstr>Arial</vt:lpstr>
      <vt:lpstr>Calibri</vt:lpstr>
      <vt:lpstr>Calibri Light</vt:lpstr>
      <vt:lpstr>Montserrat Bold</vt:lpstr>
      <vt:lpstr>Montserrat Light</vt:lpstr>
      <vt:lpstr>Source Sans 3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Microsoft Office User</cp:lastModifiedBy>
  <cp:revision>9</cp:revision>
  <dcterms:created xsi:type="dcterms:W3CDTF">2026-03-25T15:48:08Z</dcterms:created>
  <dcterms:modified xsi:type="dcterms:W3CDTF">2026-03-26T13:33:27Z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