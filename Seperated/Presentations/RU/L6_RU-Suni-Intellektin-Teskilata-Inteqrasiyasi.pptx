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svg" ContentType="image/svg"/>
  <Override PartName="/ppt/media/image13.png" ContentType="image/png"/>
  <Override PartName="/ppt/media/image4.png" ContentType="image/png"/>
  <Override PartName="/ppt/media/image10.svg" ContentType="image/svg"/>
  <Override PartName="/ppt/media/image9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6.svg" ContentType="image/svg"/>
  <Override PartName="/ppt/media/image20.svg" ContentType="image/svg"/>
  <Override PartName="/ppt/media/image18.svg" ContentType="image/svg"/>
  <Override PartName="/ppt/media/image14.svg" ContentType="image/svg"/>
  <Override PartName="/ppt/media/image1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338977-6EC8-495D-A234-AD3ED4B948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A81E7F-93D6-40D4-ABC3-DEE92C6A22A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B95E4E-A499-460E-A901-F034C350B71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3C5601-10E6-4ECB-BF68-8D881B1035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2EE159-D6EA-4742-8E6B-DE1FAFC345C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350B5D-EE98-4CD7-878A-769D837452C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178483-20AB-4BC6-9F32-03163116C17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3F7408-563D-4616-838C-7515BCCE44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180797-2130-408B-B7EB-6EA8F42C7B9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E196A3-5394-460F-9925-F4159EA2D9A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D660A9-F5A5-4DF2-A313-EE2583DC74E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073BA4-EBA2-49C1-908B-C7FB954F9EF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2861640"/>
            <a:ext cx="7416000" cy="12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Интеграция искусственного интеллекта в организацию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416052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Практическое руководство по разработке правильной стратегии,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эффективной реализации и устойчивой трансформации.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350040" y="4979160"/>
            <a:ext cx="1978200" cy="38844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479640" y="5043960"/>
            <a:ext cx="1719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ПРОФЕССИОНАЛЬНЫЙ КУРС ОБУЧЕНИЯ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6" name="Text 0"/>
          <p:cNvSpPr/>
          <p:nvPr/>
        </p:nvSpPr>
        <p:spPr>
          <a:xfrm>
            <a:off x="6269040" y="807840"/>
            <a:ext cx="444708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51"/>
              </a:lnSpc>
              <a:tabLst>
                <a:tab algn="l" pos="0"/>
              </a:tabLst>
            </a:pPr>
            <a:r>
              <a:rPr b="1" lang="ru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Цели урока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6269040" y="1341360"/>
            <a:ext cx="75783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 этом уроке мы подробно обсудим, как правильно, эффективно и устойчиво интегрировать искусственный интеллект в организацию. Наша цель — объединить теорию с практическими шагами для формирования знаний и навыков, которые можно применять в реальной рабочей среде.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269040" y="2668320"/>
            <a:ext cx="7578360" cy="1055160"/>
          </a:xfrm>
          <a:prstGeom prst="roundRect">
            <a:avLst>
              <a:gd name="adj" fmla="val 278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64880" y="2863800"/>
            <a:ext cx="22233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ru" sz="17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🎯 </a:t>
            </a:r>
            <a:r>
              <a:rPr b="1" lang="ru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Стратегия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464880" y="3248280"/>
            <a:ext cx="71870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Определение путей применения системной интеграции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269040" y="3900960"/>
            <a:ext cx="7578360" cy="1055160"/>
          </a:xfrm>
          <a:prstGeom prst="roundRect">
            <a:avLst>
              <a:gd name="adj" fmla="val 278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6464880" y="4096440"/>
            <a:ext cx="22233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ru" sz="17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🔄 </a:t>
            </a:r>
            <a:r>
              <a:rPr b="1" lang="ru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Процесс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464880" y="4480920"/>
            <a:ext cx="71870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Понимание поэтапных этапов применения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6269040" y="5133600"/>
            <a:ext cx="7578360" cy="1055160"/>
          </a:xfrm>
          <a:prstGeom prst="roundRect">
            <a:avLst>
              <a:gd name="adj" fmla="val 278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6464880" y="5329080"/>
            <a:ext cx="22233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ru" sz="17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 </a:t>
            </a:r>
            <a:r>
              <a:rPr b="1" lang="ru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Риски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6464880" y="5713560"/>
            <a:ext cx="71870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Ключевые риски и управление ими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269040" y="6366240"/>
            <a:ext cx="7578360" cy="1055160"/>
          </a:xfrm>
          <a:prstGeom prst="roundRect">
            <a:avLst>
              <a:gd name="adj" fmla="val 278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6464880" y="6561720"/>
            <a:ext cx="22233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ru" sz="17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📊 </a:t>
            </a:r>
            <a:r>
              <a:rPr b="1" lang="ru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Измерение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6464880" y="6946200"/>
            <a:ext cx="71870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Оценка рентабельности инвестиций и эффективности.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863640" y="1965240"/>
            <a:ext cx="57974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Стратегии внедрения СИ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863640" y="301068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Потребности каждой организации уникальны. Выбор правильной стратегии — ключ к успеху. Три подхода, описанные ниже, будут различаться в зависимости от ваших ресурсов, допустимого уровня риска и готовности к трансформации.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1"/>
          <a:stretch/>
        </p:blipFill>
        <p:spPr>
          <a:xfrm>
            <a:off x="863640" y="3901320"/>
            <a:ext cx="1194840" cy="738360"/>
          </a:xfrm>
          <a:prstGeom prst="rect">
            <a:avLst/>
          </a:prstGeom>
          <a:ln w="0">
            <a:noFill/>
          </a:ln>
        </p:spPr>
      </p:pic>
      <p:sp>
        <p:nvSpPr>
          <p:cNvPr id="73" name="Text 2"/>
          <p:cNvSpPr/>
          <p:nvPr/>
        </p:nvSpPr>
        <p:spPr>
          <a:xfrm>
            <a:off x="2328840" y="39013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Пилотный проект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2328840" y="4337640"/>
            <a:ext cx="26557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Начинайте с малого, измеряйте результаты. Низкорисковый, ориентированный на обучение подход. Проверено в небольшом отделе или процессе.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2"/>
          <a:stretch/>
        </p:blipFill>
        <p:spPr>
          <a:xfrm>
            <a:off x="5254560" y="3901320"/>
            <a:ext cx="1194840" cy="738360"/>
          </a:xfrm>
          <a:prstGeom prst="rect">
            <a:avLst/>
          </a:prstGeom>
          <a:ln w="0">
            <a:noFill/>
          </a:ln>
        </p:spPr>
      </p:pic>
      <p:sp>
        <p:nvSpPr>
          <p:cNvPr id="76" name="Text 4"/>
          <p:cNvSpPr/>
          <p:nvPr/>
        </p:nvSpPr>
        <p:spPr>
          <a:xfrm>
            <a:off x="6719760" y="39013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Поэтапная реализация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719760" y="4337640"/>
            <a:ext cx="26557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Постепенное расширение после успешного пилотного проекта. На каждом этапе извлекаются уроки, оптимизируются ресурсы и проводится обучение сотрудников работе с системой.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3"/>
          <a:stretch/>
        </p:blipFill>
        <p:spPr>
          <a:xfrm>
            <a:off x="9645480" y="3901320"/>
            <a:ext cx="1194840" cy="738360"/>
          </a:xfrm>
          <a:prstGeom prst="rect">
            <a:avLst/>
          </a:prstGeom>
          <a:ln w="0">
            <a:noFill/>
          </a:ln>
        </p:spPr>
      </p:pic>
      <p:sp>
        <p:nvSpPr>
          <p:cNvPr id="79" name="Text 6"/>
          <p:cNvSpPr/>
          <p:nvPr/>
        </p:nvSpPr>
        <p:spPr>
          <a:xfrm>
            <a:off x="11110680" y="3901320"/>
            <a:ext cx="26557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Полномасштабная трансформация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1110680" y="4644360"/>
            <a:ext cx="26557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Процесс радикального обновления, охватывающий всю организацию. Он требует сильной поддержки со стороны руководства, значительных инвестиций и тщательной подготовки.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1031760" y="492120"/>
            <a:ext cx="398376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900"/>
              </a:lnSpc>
              <a:tabLst>
                <a:tab algn="l" pos="0"/>
              </a:tabLst>
            </a:pPr>
            <a:r>
              <a:rPr b="1" lang="ru" sz="31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Этапы применения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1031760" y="1274760"/>
            <a:ext cx="12566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Успех проекта по системной интеграции зависит от следования структурированному плану. Следующие шесть шагов служат универсальной основой для любого приложения.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1031760" y="1672920"/>
            <a:ext cx="12566520" cy="5428080"/>
          </a:xfrm>
          <a:prstGeom prst="rect">
            <a:avLst/>
          </a:prstGeom>
          <a:ln w="0">
            <a:noFill/>
          </a:ln>
        </p:spPr>
      </p:pic>
      <p:sp>
        <p:nvSpPr>
          <p:cNvPr id="84" name="Text 2"/>
          <p:cNvSpPr/>
          <p:nvPr/>
        </p:nvSpPr>
        <p:spPr>
          <a:xfrm>
            <a:off x="4030560" y="5402520"/>
            <a:ext cx="18655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Подготовьте информацию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030560" y="6116760"/>
            <a:ext cx="1865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Работы по уборке и маркировке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8821800" y="5465160"/>
            <a:ext cx="18655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Тест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8821800" y="5870520"/>
            <a:ext cx="18655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Проверки производительности и безопасности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640880" y="2162520"/>
            <a:ext cx="18655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Определите проблему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640880" y="2877120"/>
            <a:ext cx="18655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Уточните требования и цели.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11140560" y="2162520"/>
            <a:ext cx="18655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Использовать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11140560" y="2568240"/>
            <a:ext cx="1865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Интегрировать в рабочую среду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6455880" y="2162520"/>
            <a:ext cx="18655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Выбор модели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6455880" y="2568240"/>
            <a:ext cx="1865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Выберите подходящую архитектуру и алгоритм.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1031760" y="7261200"/>
            <a:ext cx="12566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Каждый этап подготавливает почву для следующего. Без четкого определения проблемы даже самая надежная модель может оказаться бесполезной. Мониторинг обеспечивает непрерывность работы приложения.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96" name="Text 0"/>
          <p:cNvSpPr/>
          <p:nvPr/>
        </p:nvSpPr>
        <p:spPr>
          <a:xfrm>
            <a:off x="6350040" y="1843560"/>
            <a:ext cx="66045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Цифровая трансформация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6674040" y="3023640"/>
            <a:ext cx="7092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Цифровая трансформация </a:t>
            </a: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— это изменение бизнес-модели, а не технологии.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6350040" y="2781000"/>
            <a:ext cx="30240" cy="1133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194520" y="4373280"/>
            <a:ext cx="3755520" cy="2228400"/>
          </a:xfrm>
          <a:prstGeom prst="roundRect">
            <a:avLst>
              <a:gd name="adj" fmla="val 145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6410520" y="43732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Недоразумение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6410520" y="4896000"/>
            <a:ext cx="33238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Приобретение новых технологий = трансформация. В действительности же технологии — это всего лишь средство, а не цель.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10329480" y="43732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Правильный подход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10329480" y="4896000"/>
            <a:ext cx="34444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Необходимо переосмыслить ценность для клиента, бизнес-процессы и модели получения дохода. Системная интеграция ускоряет эти изменения, но сама по себе не является изменением.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863640" y="1872360"/>
            <a:ext cx="771120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Управление изменениями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863640" y="25578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Самая сложная часть внедрения информационных систем — это не технологии, а люди. Сопротивление переменам, боязнь неопределенности и нехватка навыков — наиболее распространенные препятствия. Эффективное управление изменениями сглаживает этот процесс.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863640" y="3808440"/>
            <a:ext cx="4156560" cy="350676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833400" y="3808440"/>
            <a:ext cx="121680" cy="2548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201680" y="4054680"/>
            <a:ext cx="3187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👥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Вовлеченность сотрудников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201680" y="4491000"/>
            <a:ext cx="357264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Вовлекайте сотрудников в процессы принятия решений на ранних этапах. Прозрачность и коммуникация укрепляют доверие и снижают сопротивление. Сотрудники более открыты к изменениям, когда им объясняют «почему».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5236560" y="3808440"/>
            <a:ext cx="4156560" cy="350676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5205960" y="3808440"/>
            <a:ext cx="121680" cy="2548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574240" y="40546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🎓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Обучение и развитие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5574240" y="4491000"/>
            <a:ext cx="357264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Разработайте структурированные программы обучения по основам системы СИ. Все руководители отделов, а не только технические специалисты, должны знать базовые понятия.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9609480" y="3808440"/>
            <a:ext cx="4156560" cy="350676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9578880" y="3808440"/>
            <a:ext cx="121680" cy="2548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9947160" y="4054680"/>
            <a:ext cx="35726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🛡️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Снижение сопротивления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9947160" y="4797720"/>
            <a:ext cx="357264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Выслушивайте опасения открыто. Развейте страхи типа «SI отберет у меня работу», предоставив факты и информацию о перспективах переподготовки.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19" name="Text 0"/>
          <p:cNvSpPr/>
          <p:nvPr/>
        </p:nvSpPr>
        <p:spPr>
          <a:xfrm>
            <a:off x="822600" y="628920"/>
            <a:ext cx="570024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601"/>
              </a:lnSpc>
              <a:tabLst>
                <a:tab algn="l" pos="0"/>
              </a:tabLst>
            </a:pPr>
            <a:r>
              <a:rPr b="1" lang="ru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Риски проектов системной интеграции</a:t>
            </a:r>
            <a:endParaRPr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822600" y="1506960"/>
            <a:ext cx="74980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Каждый проект системной интеграции сопряжен с уникальными рисками. Выявление и управление этими рисками на ранней стадии обеспечивает долгосрочный успех проекта.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822600" y="2329920"/>
            <a:ext cx="3650760" cy="2838240"/>
          </a:xfrm>
          <a:prstGeom prst="roundRect">
            <a:avLst>
              <a:gd name="adj" fmla="val 108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1028520" y="2535480"/>
            <a:ext cx="616680" cy="616680"/>
          </a:xfrm>
          <a:prstGeom prst="roundRect">
            <a:avLst>
              <a:gd name="adj" fmla="val 148190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98080" y="270504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24" name="Text 4"/>
          <p:cNvSpPr/>
          <p:nvPr/>
        </p:nvSpPr>
        <p:spPr>
          <a:xfrm>
            <a:off x="1028520" y="3312360"/>
            <a:ext cx="2967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Качество данных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1028520" y="3578040"/>
            <a:ext cx="3239640" cy="12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Неполные, предвзятые или устаревшие данные значительно снижают точность модели. Принцип «что посеешь, то и пожнешь».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4669920" y="2329920"/>
            <a:ext cx="3651120" cy="2838240"/>
          </a:xfrm>
          <a:prstGeom prst="roundRect">
            <a:avLst>
              <a:gd name="adj" fmla="val 108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4875480" y="2535480"/>
            <a:ext cx="616680" cy="616680"/>
          </a:xfrm>
          <a:prstGeom prst="roundRect">
            <a:avLst>
              <a:gd name="adj" fmla="val 148190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45040" y="270504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4875480" y="3348360"/>
            <a:ext cx="2337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Техническая зависимость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4875480" y="3614040"/>
            <a:ext cx="3239640" cy="12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Чрезмерная зависимость от одного поставщика или платформы ограничивает долгосрочную гибкость и увеличивает затраты.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822600" y="5364360"/>
            <a:ext cx="7498080" cy="2235600"/>
          </a:xfrm>
          <a:prstGeom prst="roundRect">
            <a:avLst>
              <a:gd name="adj" fmla="val 138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1028520" y="5569920"/>
            <a:ext cx="616680" cy="616680"/>
          </a:xfrm>
          <a:prstGeom prst="roundRect">
            <a:avLst>
              <a:gd name="adj" fmla="val 148190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98080" y="573948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1028520" y="6166800"/>
            <a:ext cx="2337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Этические риски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992520" y="6504480"/>
            <a:ext cx="70869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Дискриминация, нарушения права на неприкосновенность частной жизни и отсутствие прозрачности могут иметь серьезные последствия как с юридической точки зрения, так и с точки зрения репутации.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863640" y="174960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Факторы успеха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863640" y="279504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Исследования показывают, что более 70% проектов по системной интеграции не приносят ожидаемых результатов.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Однако успешные проекты имеют ряд общих характеристик: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1187640" y="4225680"/>
            <a:ext cx="3832560" cy="21564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863640" y="4009320"/>
            <a:ext cx="647280" cy="6472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25640" y="417132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41" name="Text 4"/>
          <p:cNvSpPr/>
          <p:nvPr/>
        </p:nvSpPr>
        <p:spPr>
          <a:xfrm>
            <a:off x="1079640" y="4873320"/>
            <a:ext cx="3724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Мощная инфраструктура данных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079640" y="5616000"/>
            <a:ext cx="37249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Высококачественная, доступная и структурированная база данных — это основа всего.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5560560" y="3901680"/>
            <a:ext cx="3832560" cy="21564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5236560" y="3685680"/>
            <a:ext cx="647280" cy="6472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398560" y="384732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46" name="Text 8"/>
          <p:cNvSpPr/>
          <p:nvPr/>
        </p:nvSpPr>
        <p:spPr>
          <a:xfrm>
            <a:off x="5452560" y="45493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Четкие ключевые показатели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эффективности (KPI)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5452560" y="5273640"/>
            <a:ext cx="3724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Критерии успеха следует определить до начала реализации, а также установить измеримые показатели.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9933480" y="3577680"/>
            <a:ext cx="3832560" cy="21564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9609480" y="3361680"/>
            <a:ext cx="647280" cy="6472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71480" y="352368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51" name="Text 12"/>
          <p:cNvSpPr/>
          <p:nvPr/>
        </p:nvSpPr>
        <p:spPr>
          <a:xfrm>
            <a:off x="9825480" y="4225320"/>
            <a:ext cx="25016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Поддержка управления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9825480" y="4661640"/>
            <a:ext cx="3724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Без активной поддержки со стороны высшего руководства проекты по системной интеграции часто теряют приоритет и заходят в тупик.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174600" y="62640"/>
            <a:ext cx="63356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Оценка рентабельности инвестиций и эффективности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174600" y="524880"/>
            <a:ext cx="12927960" cy="1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Для корректного расчета рентабельности инвестиций в СИ необходимо учитывать как прямые, так и косвенные выгоды.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174600" y="788040"/>
            <a:ext cx="204840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Затраты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174600" y="1026360"/>
            <a:ext cx="3076560" cy="606240"/>
          </a:xfrm>
          <a:prstGeom prst="roundRect">
            <a:avLst>
              <a:gd name="adj" fmla="val 29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354960" y="1146600"/>
            <a:ext cx="204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Технологии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354960" y="1377720"/>
            <a:ext cx="271620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Программное обеспечение, аппаратное обеспечение, облачные сервисы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3341880" y="1026360"/>
            <a:ext cx="3076200" cy="606240"/>
          </a:xfrm>
          <a:prstGeom prst="roundRect">
            <a:avLst>
              <a:gd name="adj" fmla="val 29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3521520" y="1146600"/>
            <a:ext cx="204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Человеческие ресурсы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3521520" y="1377720"/>
            <a:ext cx="271620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Обучение, подбор персонала, консалтинг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174600" y="1693080"/>
            <a:ext cx="6243480" cy="606240"/>
          </a:xfrm>
          <a:prstGeom prst="roundRect">
            <a:avLst>
              <a:gd name="adj" fmla="val 29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354960" y="1813320"/>
            <a:ext cx="204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Интеграция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354960" y="2044440"/>
            <a:ext cx="588348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Интеграция с существующими системами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6741720" y="727920"/>
            <a:ext cx="6503040" cy="1774800"/>
          </a:xfrm>
          <a:prstGeom prst="roundRect">
            <a:avLst>
              <a:gd name="adj" fmla="val 1017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6922080" y="788040"/>
            <a:ext cx="204840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Результаты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6922080" y="1026360"/>
            <a:ext cx="3025800" cy="741600"/>
          </a:xfrm>
          <a:prstGeom prst="roundRect">
            <a:avLst>
              <a:gd name="adj" fmla="val 243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7101720" y="1146600"/>
            <a:ext cx="204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Производительность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7101720" y="1377720"/>
            <a:ext cx="26658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Ускорение процессов, автоматизация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10038600" y="1026360"/>
            <a:ext cx="3026520" cy="741600"/>
          </a:xfrm>
          <a:prstGeom prst="roundRect">
            <a:avLst>
              <a:gd name="adj" fmla="val 243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10218600" y="1146600"/>
            <a:ext cx="2048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Снижение затрат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10218600" y="1377720"/>
            <a:ext cx="2665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Оптимизация операционных затрат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6922080" y="1828800"/>
            <a:ext cx="6143040" cy="606240"/>
          </a:xfrm>
          <a:prstGeom prst="roundRect">
            <a:avLst>
              <a:gd name="adj" fmla="val 29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7101720" y="1948680"/>
            <a:ext cx="204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1" lang="ru" sz="9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Рост доходов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7101720" y="2179800"/>
            <a:ext cx="5783040" cy="1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b="0" lang="ru" sz="8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Новые возможности, удовлетворенность клиентов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174600" y="2570760"/>
            <a:ext cx="1349280" cy="324720"/>
          </a:xfrm>
          <a:prstGeom prst="roundRect">
            <a:avLst>
              <a:gd name="adj" fmla="val 4392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Image 0" descr="preencoded.png"/>
          <p:cNvPicPr/>
          <p:nvPr/>
        </p:nvPicPr>
        <p:blipFill>
          <a:blip r:embed="rId1"/>
          <a:stretch/>
        </p:blipFill>
        <p:spPr>
          <a:xfrm>
            <a:off x="332280" y="2642760"/>
            <a:ext cx="269640" cy="180000"/>
          </a:xfrm>
          <a:prstGeom prst="rect">
            <a:avLst/>
          </a:prstGeom>
          <a:ln w="0">
            <a:noFill/>
          </a:ln>
        </p:spPr>
      </p:pic>
      <p:sp>
        <p:nvSpPr>
          <p:cNvPr id="178" name="Text 24"/>
          <p:cNvSpPr/>
          <p:nvPr/>
        </p:nvSpPr>
        <p:spPr>
          <a:xfrm>
            <a:off x="693000" y="2615760"/>
            <a:ext cx="6724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b="0" lang="ru" sz="700" spc="-1" strike="noStrike">
                <a:solidFill>
                  <a:srgbClr val="e2e6e9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1-й год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5"/>
          <p:cNvSpPr/>
          <p:nvPr/>
        </p:nvSpPr>
        <p:spPr>
          <a:xfrm>
            <a:off x="1704600" y="2570760"/>
            <a:ext cx="1349280" cy="324720"/>
          </a:xfrm>
          <a:prstGeom prst="roundRect">
            <a:avLst>
              <a:gd name="adj" fmla="val 4392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mage 1" descr="preencoded.png"/>
          <p:cNvPicPr/>
          <p:nvPr/>
        </p:nvPicPr>
        <p:blipFill>
          <a:blip r:embed="rId2"/>
          <a:stretch/>
        </p:blipFill>
        <p:spPr>
          <a:xfrm>
            <a:off x="1862280" y="2642760"/>
            <a:ext cx="270000" cy="180000"/>
          </a:xfrm>
          <a:prstGeom prst="rect">
            <a:avLst/>
          </a:prstGeom>
          <a:ln w="0">
            <a:noFill/>
          </a:ln>
        </p:spPr>
      </p:pic>
      <p:sp>
        <p:nvSpPr>
          <p:cNvPr id="181" name="Text 26"/>
          <p:cNvSpPr/>
          <p:nvPr/>
        </p:nvSpPr>
        <p:spPr>
          <a:xfrm>
            <a:off x="2223000" y="2615760"/>
            <a:ext cx="6728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b="0" lang="ru" sz="700" spc="-1" strike="noStrike">
                <a:solidFill>
                  <a:srgbClr val="e2e6e9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2-й год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7"/>
          <p:cNvSpPr/>
          <p:nvPr/>
        </p:nvSpPr>
        <p:spPr>
          <a:xfrm>
            <a:off x="3234240" y="2570760"/>
            <a:ext cx="1446480" cy="324720"/>
          </a:xfrm>
          <a:prstGeom prst="roundRect">
            <a:avLst>
              <a:gd name="adj" fmla="val 4392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Image 2" descr="preencoded.png"/>
          <p:cNvPicPr/>
          <p:nvPr/>
        </p:nvPicPr>
        <p:blipFill>
          <a:blip r:embed="rId3"/>
          <a:stretch/>
        </p:blipFill>
        <p:spPr>
          <a:xfrm>
            <a:off x="3392280" y="2642760"/>
            <a:ext cx="270000" cy="180000"/>
          </a:xfrm>
          <a:prstGeom prst="rect">
            <a:avLst/>
          </a:prstGeom>
          <a:ln w="0">
            <a:noFill/>
          </a:ln>
        </p:spPr>
      </p:pic>
      <p:sp>
        <p:nvSpPr>
          <p:cNvPr id="184" name="Text 28"/>
          <p:cNvSpPr/>
          <p:nvPr/>
        </p:nvSpPr>
        <p:spPr>
          <a:xfrm>
            <a:off x="3753000" y="2615760"/>
            <a:ext cx="77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b="0" lang="ru" sz="700" spc="-1" strike="noStrike">
                <a:solidFill>
                  <a:srgbClr val="e2e6e9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</a:rPr>
              <a:t>3-й год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mage 3" descr="preencoded.png"/>
          <p:cNvPicPr/>
          <p:nvPr/>
        </p:nvPicPr>
        <p:blipFill>
          <a:blip r:embed="rId4"/>
          <a:stretch/>
        </p:blipFill>
        <p:spPr>
          <a:xfrm>
            <a:off x="264960" y="3049920"/>
            <a:ext cx="13908240" cy="495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87" name="Text 0"/>
          <p:cNvSpPr/>
          <p:nvPr/>
        </p:nvSpPr>
        <p:spPr>
          <a:xfrm>
            <a:off x="863640" y="869040"/>
            <a:ext cx="58186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Обсуждение конкретного случая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863640" y="1806480"/>
            <a:ext cx="74160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Примеры из реальной жизни позволяют применить теорию на практике. Успешные и неудачные примеры из практики дают одинаково ценные уроки.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708120" y="2913120"/>
            <a:ext cx="3755520" cy="3944880"/>
          </a:xfrm>
          <a:prstGeom prst="roundRect">
            <a:avLst>
              <a:gd name="adj" fmla="val 1012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924120" y="29131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 </a:t>
            </a: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Успешный пример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924120" y="3219840"/>
            <a:ext cx="332388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Amazon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— внедрение системной интеграции в управление цепочкой поставок. Сокращение складских расходов на 25% благодаря прогнозированию спроса. </a:t>
            </a: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Факторы успеха: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мощная инфраструктура данных, четкие ключевые показатели эффективности и полная поддержка со стороны руководства.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4843080" y="2913120"/>
            <a:ext cx="2632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❌ </a:t>
            </a: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Неудачный пример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4843080" y="3435840"/>
            <a:ext cx="344448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IBM Watson Health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— проект по диагностике рака. Некачественные медицинские данные и отсутствие участия врачей привели к закрытию проекта. </a:t>
            </a: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Вывод: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технологии — это часть решения, а не проблема.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719640" y="6932520"/>
            <a:ext cx="7416000" cy="1219680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1" descr="preencoded.png"/>
          <p:cNvPicPr/>
          <p:nvPr/>
        </p:nvPicPr>
        <p:blipFill>
          <a:blip r:embed="rId2"/>
          <a:stretch/>
        </p:blipFill>
        <p:spPr>
          <a:xfrm>
            <a:off x="1079640" y="7494120"/>
            <a:ext cx="269640" cy="215640"/>
          </a:xfrm>
          <a:prstGeom prst="rect">
            <a:avLst/>
          </a:prstGeom>
          <a:ln w="0">
            <a:noFill/>
          </a:ln>
        </p:spPr>
      </p:pic>
      <p:sp>
        <p:nvSpPr>
          <p:cNvPr id="196" name="Text 8"/>
          <p:cNvSpPr/>
          <p:nvPr/>
        </p:nvSpPr>
        <p:spPr>
          <a:xfrm>
            <a:off x="1565280" y="7058520"/>
            <a:ext cx="64987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Вопрос для обсуждения: </a:t>
            </a:r>
            <a:r>
              <a:rPr b="0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Какой отдел в вашей организации, по-видимому, наиболее готов к внедрению системной интеграции? Почему?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863640" y="108504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Домашнее задание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1187640" y="2373120"/>
            <a:ext cx="12578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Подготовьте предварительный проект плана внедрения системной интеграции для вашей компании.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863640" y="2130480"/>
            <a:ext cx="30240" cy="80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863640" y="310536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Это задание — отличная возможность применить знания, полученные на занятиях, в реальных условиях.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Ваш план должен включать следующие компоненты: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863640" y="374976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863640" y="4086360"/>
            <a:ext cx="415656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863640" y="42552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Постановка проблемы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863640" y="4691520"/>
            <a:ext cx="4156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Чётко сформулируйте бизнес-проблему, которую вы хотите решить.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5236560" y="374976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5236560" y="4086360"/>
            <a:ext cx="415656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5236560" y="4255200"/>
            <a:ext cx="3527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Оценка данных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5236560" y="4691520"/>
            <a:ext cx="4156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Опишите, какая информация доступна, а какая отсутствует.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9609480" y="374976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9609480" y="4086360"/>
            <a:ext cx="415656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9609480" y="42552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Стратегия реализации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9609480" y="4691520"/>
            <a:ext cx="4156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Пилотный, поэтапный или полномасштабный — какой вариант вы бы выбрали и почему?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863640" y="571716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7"/>
          <p:cNvSpPr/>
          <p:nvPr/>
        </p:nvSpPr>
        <p:spPr>
          <a:xfrm>
            <a:off x="863640" y="605376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863640" y="62226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Критерии успеха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863640" y="6658560"/>
            <a:ext cx="6343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Какие ключевые показатели эффективности (KPI)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будут использоваться для оценки успеха проекта?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Установите реалистичные цели.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0"/>
          <p:cNvSpPr/>
          <p:nvPr/>
        </p:nvSpPr>
        <p:spPr>
          <a:xfrm>
            <a:off x="7423200" y="571716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1"/>
          <p:cNvSpPr/>
          <p:nvPr/>
        </p:nvSpPr>
        <p:spPr>
          <a:xfrm>
            <a:off x="7423200" y="605376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7423200" y="62226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Анализ рисков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7423200" y="6658560"/>
            <a:ext cx="6343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Каковы основные ожидаемые риски и меры по их устранению?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2026-03-13T11:07:36Z</dcterms:created>
  <dc:creator/>
  <dc:description/>
  <dc:language>en-US</dc:language>
  <cp:lastModifiedBy/>
  <dcterms:modified xsi:type="dcterms:W3CDTF">2026-03-25T17:38:01Z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